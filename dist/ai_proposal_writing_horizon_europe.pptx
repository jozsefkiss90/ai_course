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4" r:id="rId8"/>
    <p:sldId id="263" r:id="rId9"/>
    <p:sldId id="260" r:id="rId10"/>
    <p:sldId id="265" r:id="rId11"/>
    <p:sldId id="272" r:id="rId12"/>
    <p:sldId id="266" r:id="rId13"/>
    <p:sldId id="267" r:id="rId14"/>
    <p:sldId id="274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1E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/>
          <p:cNvSpPr/>
          <p:nvPr/>
        </p:nvSpPr>
        <p:spPr>
          <a:xfrm>
            <a:off x="11064240" y="914400"/>
            <a:ext cx="1645920" cy="1645920"/>
          </a:xfrm>
          <a:prstGeom prst="ellipse">
            <a:avLst/>
          </a:prstGeom>
          <a:solidFill>
            <a:srgbClr val="2A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Oval 4"/>
          <p:cNvSpPr/>
          <p:nvPr/>
        </p:nvSpPr>
        <p:spPr>
          <a:xfrm>
            <a:off x="11521440" y="2103120"/>
            <a:ext cx="914400" cy="914400"/>
          </a:xfrm>
          <a:prstGeom prst="ellipse">
            <a:avLst/>
          </a:prstGeom>
          <a:solidFill>
            <a:srgbClr val="1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560320" cy="384048"/>
          </a:xfrm>
          <a:prstGeom prst="rect">
            <a:avLst/>
          </a:prstGeom>
          <a:solidFill>
            <a:srgbClr val="1F4F8F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i="0" noProof="0" dirty="0">
                <a:solidFill>
                  <a:srgbClr val="FFFFFF"/>
                </a:solidFill>
                <a:latin typeface="Calibri"/>
              </a:rPr>
              <a:t>Horizon Europe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noProof="0" dirty="0">
                <a:solidFill>
                  <a:srgbClr val="FFFFFF"/>
                </a:solidFill>
                <a:latin typeface="Calibri"/>
              </a:rPr>
              <a:t>AI-Augmented Proposal Writing for Horizon Europe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3657600" cy="1905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800" b="0" i="0" noProof="0" dirty="0">
                <a:solidFill>
                  <a:srgbClr val="4CD9C0"/>
                </a:solidFill>
                <a:latin typeface="Calibri"/>
              </a:rPr>
              <a:t>From manual drafting  →  structured AI orchestration</a:t>
            </a:r>
          </a:p>
          <a:p>
            <a:pPr>
              <a:spcBef>
                <a:spcPts val="400"/>
              </a:spcBef>
            </a:pPr>
            <a:r>
              <a:rPr lang="en-US" sz="1800" b="0" i="0" noProof="0" dirty="0">
                <a:solidFill>
                  <a:srgbClr val="4CD9C0"/>
                </a:solidFill>
                <a:latin typeface="Calibri"/>
              </a:rPr>
              <a:t>Tools: ChatGPT  ·  </a:t>
            </a:r>
            <a:r>
              <a:rPr lang="en-US" sz="1800" b="0" i="0" noProof="0" dirty="0" err="1">
                <a:solidFill>
                  <a:srgbClr val="4CD9C0"/>
                </a:solidFill>
                <a:latin typeface="Calibri"/>
              </a:rPr>
              <a:t>NotebookLM</a:t>
            </a:r>
            <a:r>
              <a:rPr lang="en-US" sz="1800" b="0" i="0" noProof="0" dirty="0">
                <a:solidFill>
                  <a:srgbClr val="4CD9C0"/>
                </a:solidFill>
                <a:latin typeface="Calibri"/>
              </a:rPr>
              <a:t>  ·  Claude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1737360" cy="411480"/>
          </a:xfrm>
          <a:prstGeom prst="rect">
            <a:avLst/>
          </a:prstGeom>
          <a:solidFill>
            <a:srgbClr val="0A7C5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i="0" noProof="0" dirty="0">
                <a:solidFill>
                  <a:srgbClr val="FFFFFF"/>
                </a:solidFill>
                <a:latin typeface="Calibri"/>
              </a:rPr>
              <a:t>ChatGPT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5029200"/>
            <a:ext cx="1737360" cy="411480"/>
          </a:xfrm>
          <a:prstGeom prst="rect">
            <a:avLst/>
          </a:prstGeom>
          <a:solidFill>
            <a:srgbClr val="1644A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i="0" noProof="0" dirty="0" err="1">
                <a:solidFill>
                  <a:srgbClr val="FFFFFF"/>
                </a:solidFill>
                <a:latin typeface="Calibri"/>
              </a:rPr>
              <a:t>NotebookLM</a:t>
            </a:r>
            <a:endParaRPr lang="en-US" sz="1300" b="1" i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3400" y="5029200"/>
            <a:ext cx="1737360" cy="411480"/>
          </a:xfrm>
          <a:prstGeom prst="rect">
            <a:avLst/>
          </a:prstGeom>
          <a:solidFill>
            <a:srgbClr val="7B3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i="0" noProof="0" dirty="0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83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>
                <a:solidFill>
                  <a:srgbClr val="8A98BA"/>
                </a:solidFill>
              </a:rPr>
              <a:t>Eötvös Loránd University |  </a:t>
            </a:r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The Problem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Why Horizon Europe proposals are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3112" cy="532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Structural complexity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Multi-part, strict template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Excellence / Impact / Implementation criteria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Call specific constraints</a:t>
            </a:r>
          </a:p>
          <a:p>
            <a:pPr lvl="1">
              <a:spcBef>
                <a:spcPts val="200"/>
              </a:spcBef>
            </a:pPr>
            <a:r>
              <a:rPr lang="en-US" sz="1600" noProof="0" dirty="0">
                <a:solidFill>
                  <a:srgbClr val="CCD6EA"/>
                </a:solidFill>
              </a:rPr>
              <a:t>Requires a joint effort</a:t>
            </a:r>
          </a:p>
          <a:p>
            <a:pPr lvl="1">
              <a:spcBef>
                <a:spcPts val="2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Fragmented inputs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Call documents &amp; annexes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Templates &amp; compliance constraints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Internal drafts and partner materials</a:t>
            </a:r>
          </a:p>
          <a:p>
            <a:pPr lvl="1">
              <a:spcBef>
                <a:spcPts val="200"/>
              </a:spcBef>
            </a:pP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Separate budget tables</a:t>
            </a: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Consistency &amp; compliance risks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Errors accumulate across a long manual process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Key insight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Most failures are structural, not conceptual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AI as a Proposal Co-Pilot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Three levels of AI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The Three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ChatGPT  —  micro-task layer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Drafting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 err="1">
                <a:solidFill>
                  <a:srgbClr val="CCD6EA"/>
                </a:solidFill>
                <a:latin typeface="Calibri"/>
              </a:rPr>
              <a:t>Summarising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Rephrasing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 err="1">
                <a:solidFill>
                  <a:srgbClr val="5BA3F5"/>
                </a:solidFill>
                <a:latin typeface="Calibri"/>
              </a:rPr>
              <a:t>NotebookLM</a:t>
            </a: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  —  knowledge layer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Document interaction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Synthesis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Claude Code  —  orchestration layer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Structured workflows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Agents</a:t>
            </a:r>
          </a:p>
          <a:p>
            <a:pPr lvl="1">
              <a:spcBef>
                <a:spcPts val="200"/>
              </a:spcBef>
            </a:pPr>
            <a:r>
              <a:rPr lang="en-US" sz="1400" noProof="0" dirty="0">
                <a:solidFill>
                  <a:srgbClr val="CCD6EA"/>
                </a:solidFill>
                <a:latin typeface="Calibri"/>
              </a:rPr>
              <a:t>Quality gates &amp; c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ompliance checks</a:t>
            </a:r>
          </a:p>
          <a:p>
            <a:pPr lvl="1">
              <a:spcBef>
                <a:spcPts val="2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93776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CCD6EA"/>
                </a:solidFill>
                <a:latin typeface="Calibri"/>
              </a:rPr>
              <a:t>From</a:t>
            </a:r>
            <a:r>
              <a:rPr lang="en-US" sz="1600" b="1" noProof="0" dirty="0">
                <a:solidFill>
                  <a:srgbClr val="CCD6EA"/>
                </a:solidFill>
              </a:rPr>
              <a:t>:  asking AI simple questions and providing basic instructions.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CCD6EA"/>
                </a:solidFill>
                <a:latin typeface="Calibri"/>
              </a:rPr>
              <a:t>To:  designing complex workflows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CCD6EA"/>
                </a:solidFill>
                <a:latin typeface="Calibri"/>
              </a:rPr>
              <a:t>How: </a:t>
            </a:r>
            <a:r>
              <a:rPr lang="en-US" sz="1600" b="1" noProof="0" dirty="0">
                <a:solidFill>
                  <a:srgbClr val="CCD6EA"/>
                </a:solidFill>
                <a:latin typeface="Calibri"/>
              </a:rPr>
              <a:t>p</a:t>
            </a:r>
            <a:r>
              <a:rPr lang="en-US" sz="1600" b="1" i="0" noProof="0" dirty="0">
                <a:solidFill>
                  <a:srgbClr val="CCD6EA"/>
                </a:solidFill>
                <a:latin typeface="Calibri"/>
              </a:rPr>
              <a:t>roposal writing become proposal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83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 noProof="0" dirty="0">
                <a:solidFill>
                  <a:srgbClr val="4CD9C0"/>
                </a:solidFill>
                <a:latin typeface="Calibri"/>
              </a:rPr>
              <a:t>Each layer is connected the previous one — use all three for maximum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Prompting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From generic prompts  →  structured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12064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noProof="0" dirty="0">
              <a:solidFill>
                <a:srgbClr val="CCD6EA"/>
              </a:solidFill>
            </a:endParaRPr>
          </a:p>
          <a:p>
            <a:r>
              <a:rPr lang="en-US" sz="1400" noProof="0" dirty="0">
                <a:solidFill>
                  <a:srgbClr val="CCD6EA"/>
                </a:solidFill>
              </a:rPr>
              <a:t>The "Garbage In, Garbage Out" (GIGO) principle states that the quality of output from any system—computing, AI, or decision-making—is directly determined by the quality of the input.</a:t>
            </a:r>
          </a:p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400" b="1" i="0" noProof="0" dirty="0">
                <a:solidFill>
                  <a:srgbClr val="FF6B6B"/>
                </a:solidFill>
                <a:latin typeface="Calibri"/>
              </a:rPr>
              <a:t>Bad prompt:</a:t>
            </a:r>
          </a:p>
          <a:p>
            <a:pPr lvl="1">
              <a:spcBef>
                <a:spcPts val="200"/>
              </a:spcBef>
            </a:pPr>
            <a:r>
              <a:rPr lang="en-US" sz="1400" b="0" i="1" noProof="0" dirty="0">
                <a:solidFill>
                  <a:srgbClr val="CCD6EA"/>
                </a:solidFill>
                <a:latin typeface="Calibri"/>
              </a:rPr>
              <a:t>"Write section X"</a:t>
            </a:r>
          </a:p>
          <a:p>
            <a:pPr>
              <a:spcBef>
                <a:spcPts val="400"/>
              </a:spcBef>
            </a:pPr>
            <a:endParaRPr lang="en-US" sz="1400" b="0" i="1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400" b="1" i="0" noProof="0" dirty="0">
                <a:solidFill>
                  <a:srgbClr val="4CD9C0"/>
                </a:solidFill>
                <a:latin typeface="Calibri"/>
              </a:rPr>
              <a:t>Better — define:</a:t>
            </a:r>
          </a:p>
          <a:p>
            <a:pPr>
              <a:spcBef>
                <a:spcPts val="400"/>
              </a:spcBef>
            </a:pPr>
            <a:r>
              <a:rPr lang="en-US" sz="1400" b="1" i="0" noProof="0" dirty="0">
                <a:solidFill>
                  <a:srgbClr val="4CD9C0"/>
                </a:solidFill>
                <a:latin typeface="Calibri"/>
              </a:rPr>
              <a:t>	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Tasks (goals, boundaries)</a:t>
            </a:r>
          </a:p>
          <a:p>
            <a:pPr lvl="1">
              <a:spcBef>
                <a:spcPts val="200"/>
              </a:spcBef>
            </a:pPr>
            <a:r>
              <a:rPr lang="en-US" sz="1400" noProof="0" dirty="0">
                <a:solidFill>
                  <a:srgbClr val="CCD6EA"/>
                </a:solidFill>
                <a:latin typeface="Calibri"/>
              </a:rPr>
              <a:t>Roles (to do what and how)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Inputs  (concept note, WPs)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Constraints  (page limit, criteria)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Output structure  (headings, KPIs)</a:t>
            </a:r>
            <a:endParaRPr lang="en-US" sz="140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80760" y="1508760"/>
            <a:ext cx="5852160" cy="3474720"/>
          </a:xfrm>
          <a:prstGeom prst="rect">
            <a:avLst/>
          </a:prstGeom>
          <a:solidFill>
            <a:srgbClr val="0C0F1E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6080760" y="1252728"/>
            <a:ext cx="1737360" cy="256032"/>
          </a:xfrm>
          <a:prstGeom prst="rect">
            <a:avLst/>
          </a:prstGeom>
          <a:solidFill>
            <a:srgbClr val="4C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i="0" noProof="0" dirty="0">
                <a:solidFill>
                  <a:srgbClr val="0C0F1E"/>
                </a:solidFill>
                <a:latin typeface="Calibri"/>
              </a:rPr>
              <a:t>Structured prompt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1618488"/>
            <a:ext cx="5522976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Role: Gannt designer</a:t>
            </a:r>
          </a:p>
          <a:p>
            <a:pPr>
              <a:spcBef>
                <a:spcPts val="100"/>
              </a:spcBef>
            </a:pPr>
            <a:endParaRPr lang="en-US" sz="1250" noProof="0" dirty="0">
              <a:solidFill>
                <a:srgbClr val="A8FFD8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Task: Create a </a:t>
            </a:r>
            <a:r>
              <a:rPr lang="en-US" sz="1250" noProof="0" dirty="0" err="1">
                <a:solidFill>
                  <a:srgbClr val="A8FFD8"/>
                </a:solidFill>
                <a:latin typeface="Courier New"/>
              </a:rPr>
              <a:t>gannt</a:t>
            </a: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 chart for the work packages.</a:t>
            </a:r>
          </a:p>
          <a:p>
            <a:pPr>
              <a:spcBef>
                <a:spcPts val="100"/>
              </a:spcBef>
            </a:pPr>
            <a:endParaRPr lang="en-US" sz="1250" noProof="0" dirty="0">
              <a:solidFill>
                <a:srgbClr val="A8FFD8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Constraints: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  - measurable KPIs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  - align with Expected Outcomes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  - include milestones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  - no WP-level detail</a:t>
            </a:r>
          </a:p>
          <a:p>
            <a:pPr>
              <a:spcBef>
                <a:spcPts val="100"/>
              </a:spcBef>
            </a:pPr>
            <a:endParaRPr lang="en-US" sz="1250" noProof="0" dirty="0">
              <a:solidFill>
                <a:srgbClr val="A8FFD8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Input: the documents in WP folder</a:t>
            </a:r>
          </a:p>
          <a:p>
            <a:pPr>
              <a:spcBef>
                <a:spcPts val="100"/>
              </a:spcBef>
            </a:pPr>
            <a:endParaRPr lang="en-US" sz="1250" noProof="0" dirty="0">
              <a:solidFill>
                <a:srgbClr val="A8FFD8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Output: structured text, max 600 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5212080"/>
            <a:ext cx="5852160" cy="502920"/>
          </a:xfrm>
          <a:prstGeom prst="rect">
            <a:avLst/>
          </a:prstGeom>
          <a:solidFill>
            <a:srgbClr val="1F4F8F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i="0" noProof="0" dirty="0">
                <a:solidFill>
                  <a:srgbClr val="FFFFFF"/>
                </a:solidFill>
                <a:latin typeface="Calibri"/>
              </a:rPr>
              <a:t>Prompt = contract, not</a:t>
            </a:r>
            <a:r>
              <a:rPr lang="hu-HU" sz="16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hu-HU" sz="1600" b="1" i="0" noProof="0" dirty="0" err="1">
                <a:solidFill>
                  <a:srgbClr val="FFFFFF"/>
                </a:solidFill>
                <a:latin typeface="Calibri"/>
              </a:rPr>
              <a:t>just</a:t>
            </a:r>
            <a:r>
              <a:rPr lang="en-US" sz="1600" b="1" i="0" noProof="0" dirty="0">
                <a:solidFill>
                  <a:srgbClr val="FFFFFF"/>
                </a:solidFill>
                <a:latin typeface="Calibri"/>
              </a:rPr>
              <a:t> instruction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Prompt Patterns &amp; Meta-Prompting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From ad-hoc prompts  →  reusable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Role-based prompting</a:t>
            </a:r>
          </a:p>
          <a:p>
            <a:pPr lvl="1">
              <a:spcBef>
                <a:spcPts val="200"/>
              </a:spcBef>
            </a:pP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"Act as a Horizon Europe evaluator"</a:t>
            </a:r>
          </a:p>
          <a:p>
            <a:pPr>
              <a:spcBef>
                <a:spcPts val="400"/>
              </a:spcBef>
            </a:pPr>
            <a:r>
              <a:rPr lang="en-US" sz="1600" b="1" noProof="0" dirty="0" err="1">
                <a:solidFill>
                  <a:srgbClr val="5BA3F5"/>
                </a:solidFill>
              </a:rPr>
              <a:t>Verfier</a:t>
            </a:r>
            <a:r>
              <a:rPr lang="en-US" sz="1600" b="1" noProof="0" dirty="0">
                <a:solidFill>
                  <a:srgbClr val="5BA3F5"/>
                </a:solidFill>
              </a:rPr>
              <a:t> prompts</a:t>
            </a:r>
          </a:p>
          <a:p>
            <a:pPr lvl="1">
              <a:spcBef>
                <a:spcPts val="200"/>
              </a:spcBef>
            </a:pPr>
            <a:r>
              <a:rPr lang="en-US" sz="1300" noProof="0" dirty="0">
                <a:solidFill>
                  <a:srgbClr val="CCD6EA"/>
                </a:solidFill>
              </a:rPr>
              <a:t>"Generate a number of additional questions about X"</a:t>
            </a:r>
          </a:p>
          <a:p>
            <a:pPr lvl="1">
              <a:spcBef>
                <a:spcPts val="200"/>
              </a:spcBef>
            </a:pPr>
            <a:r>
              <a:rPr lang="en-US" sz="1300" noProof="0" dirty="0">
                <a:solidFill>
                  <a:srgbClr val="CCD6EA"/>
                </a:solidFill>
              </a:rPr>
              <a:t>"Combine the answers to the individual questions to produce Y"</a:t>
            </a:r>
            <a:endParaRPr lang="en-US" sz="1600" b="1" noProof="0" dirty="0">
              <a:solidFill>
                <a:srgbClr val="5BA3F5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Constraint-driven prompts</a:t>
            </a:r>
          </a:p>
          <a:p>
            <a:pPr lvl="1">
              <a:spcBef>
                <a:spcPts val="200"/>
              </a:spcBef>
            </a:pP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Page limits · structure rules</a:t>
            </a:r>
          </a:p>
          <a:p>
            <a:pPr lvl="1">
              <a:spcBef>
                <a:spcPts val="200"/>
              </a:spcBef>
            </a:pP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Forbidden content (e.g. no WP detail in section X)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Input-grounded</a:t>
            </a:r>
            <a:r>
              <a:rPr lang="en-US" sz="1500" b="1" i="0" noProof="0" dirty="0">
                <a:solidFill>
                  <a:srgbClr val="5BA3F5"/>
                </a:solidFill>
                <a:latin typeface="Calibri"/>
              </a:rPr>
              <a:t> prompts</a:t>
            </a:r>
          </a:p>
          <a:p>
            <a:pPr lvl="1">
              <a:spcBef>
                <a:spcPts val="200"/>
              </a:spcBef>
            </a:pP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Provide concept note + work packages</a:t>
            </a:r>
          </a:p>
          <a:p>
            <a:pPr lvl="1">
              <a:spcBef>
                <a:spcPts val="200"/>
              </a:spcBef>
            </a:pP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Follow template patterns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Refinement prompts</a:t>
            </a:r>
          </a:p>
          <a:p>
            <a:pPr lvl="1">
              <a:spcBef>
                <a:spcPts val="200"/>
              </a:spcBef>
            </a:pPr>
            <a:r>
              <a:rPr lang="en-US" sz="1300" noProof="0" dirty="0">
                <a:solidFill>
                  <a:srgbClr val="CCD6EA"/>
                </a:solidFill>
              </a:rPr>
              <a:t>"Suggest a better version of the question to use instead"</a:t>
            </a:r>
            <a:endParaRPr lang="en-US" sz="1300" b="0" i="0" noProof="0" dirty="0">
              <a:solidFill>
                <a:srgbClr val="CCD6EA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5080" y="1508760"/>
            <a:ext cx="5577840" cy="3200400"/>
          </a:xfrm>
          <a:prstGeom prst="rect">
            <a:avLst/>
          </a:prstGeom>
          <a:solidFill>
            <a:srgbClr val="0C0F1E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6355080" y="1252728"/>
            <a:ext cx="1737360" cy="256032"/>
          </a:xfrm>
          <a:prstGeom prst="rect">
            <a:avLst/>
          </a:prstGeom>
          <a:solidFill>
            <a:srgbClr val="4C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i="0" noProof="0" dirty="0">
                <a:solidFill>
                  <a:srgbClr val="0C0F1E"/>
                </a:solidFill>
                <a:latin typeface="Calibri"/>
              </a:rPr>
              <a:t>Meta-prompting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618488"/>
            <a:ext cx="5248656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Task: Generate a reusable prompt template for Horizon Europe proposal writing 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Requirements: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Must enforce evaluator alignment (Excellence / Impact / Implementation)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Must include measurable KPIs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Must prevent WP-level detail leakage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Must define explicit input structure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Must define output format </a:t>
            </a:r>
          </a:p>
          <a:p>
            <a:pPr>
              <a:spcBef>
                <a:spcPts val="100"/>
              </a:spcBef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Output: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A reusable prompt template </a:t>
            </a:r>
          </a:p>
          <a:p>
            <a:pPr marL="285750" indent="-285750">
              <a:spcBef>
                <a:spcPts val="100"/>
              </a:spcBef>
              <a:buFontTx/>
              <a:buChar char="-"/>
            </a:pPr>
            <a:r>
              <a:rPr lang="en-US" sz="1250" noProof="0" dirty="0">
                <a:solidFill>
                  <a:srgbClr val="A8FFD8"/>
                </a:solidFill>
                <a:latin typeface="Courier New"/>
              </a:rPr>
              <a:t>With placeholders for inputs (concept, WPs, call requirements)</a:t>
            </a:r>
          </a:p>
          <a:p>
            <a:pPr>
              <a:spcBef>
                <a:spcPts val="100"/>
              </a:spcBef>
            </a:pPr>
            <a:endParaRPr lang="en-US" sz="1250" noProof="0" dirty="0">
              <a:solidFill>
                <a:srgbClr val="A8FFD8"/>
              </a:solidFill>
              <a:latin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5080" y="4892040"/>
            <a:ext cx="5577840" cy="68580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You design standards, not just 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ChatGPT: Core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Fast execution of atomic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 noProof="0" dirty="0">
                <a:solidFill>
                  <a:srgbClr val="4CD9C0"/>
                </a:solidFill>
                <a:latin typeface="Calibri"/>
              </a:rPr>
              <a:t>ChatGPT is the fast execution layer — best for contained, well-defined tasks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F04063E-2592-46B4-5B89-B4451BF25C5E}"/>
              </a:ext>
            </a:extLst>
          </p:cNvPr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2A1C46D-32F3-E652-EC31-C5CEF1C7ED0E}"/>
              </a:ext>
            </a:extLst>
          </p:cNvPr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What ChatGPT Does Well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E9AF12A1-A660-88AC-275B-1A342DE9CE6F}"/>
              </a:ext>
            </a:extLst>
          </p:cNvPr>
          <p:cNvSpPr txBox="1"/>
          <p:nvPr/>
        </p:nvSpPr>
        <p:spPr>
          <a:xfrm>
            <a:off x="685800" y="1737360"/>
            <a:ext cx="4937760" cy="155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noProof="0" dirty="0">
                <a:solidFill>
                  <a:srgbClr val="CCD6EA"/>
                </a:solidFill>
              </a:rPr>
              <a:t>Help with brainstorming</a:t>
            </a: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Drafting &amp; prototyping (e.g. concept notes</a:t>
            </a: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, summaries</a:t>
            </a: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Compliance checks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Refining prompts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7E749720-3B80-D401-98F7-06D38FBA2A29}"/>
              </a:ext>
            </a:extLst>
          </p:cNvPr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F6F21CC7-1BE3-A27F-180E-7C23E05A3C15}"/>
              </a:ext>
            </a:extLst>
          </p:cNvPr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EC40B7F-43BE-D151-33DC-BC7A090E9C78}"/>
              </a:ext>
            </a:extLst>
          </p:cNvPr>
          <p:cNvSpPr txBox="1"/>
          <p:nvPr/>
        </p:nvSpPr>
        <p:spPr>
          <a:xfrm>
            <a:off x="6382512" y="1737360"/>
            <a:ext cx="493776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Local transformations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Iterative refinement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Works best when: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 • there are no explicit constraints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 • completing repetitive tasks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 • used as part a larger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Knowledge Structuring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From documents  →  structured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3112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Build with </a:t>
            </a:r>
            <a:r>
              <a:rPr lang="en-US" sz="1900" b="1" i="0" noProof="0" dirty="0" err="1">
                <a:solidFill>
                  <a:srgbClr val="5BA3F5"/>
                </a:solidFill>
                <a:latin typeface="Calibri"/>
              </a:rPr>
              <a:t>NotebookLM</a:t>
            </a:r>
            <a:endParaRPr lang="en-US" sz="1900" b="1" i="0" noProof="0" dirty="0">
              <a:solidFill>
                <a:srgbClr val="5BA3F5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Concept maps of key themes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Requirement matrices</a:t>
            </a:r>
          </a:p>
          <a:p>
            <a:pPr lvl="1">
              <a:spcBef>
                <a:spcPts val="200"/>
              </a:spcBef>
            </a:pPr>
            <a:r>
              <a:rPr lang="hu-HU" sz="1600" b="0" i="0" noProof="0" dirty="0">
                <a:solidFill>
                  <a:srgbClr val="CCD6EA"/>
                </a:solidFill>
                <a:latin typeface="Calibri"/>
              </a:rPr>
              <a:t>Project</a:t>
            </a: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logic flows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Example output files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General Annexes</a:t>
            </a:r>
          </a:p>
          <a:p>
            <a:pPr lvl="1">
              <a:spcBef>
                <a:spcPts val="200"/>
              </a:spcBef>
            </a:pP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Work </a:t>
            </a:r>
            <a:r>
              <a:rPr lang="en-US" sz="1600" noProof="0" dirty="0" err="1">
                <a:solidFill>
                  <a:srgbClr val="CCD6EA"/>
                </a:solidFill>
                <a:latin typeface="Calibri"/>
              </a:rPr>
              <a:t>Programme</a:t>
            </a: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 documents</a:t>
            </a: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noProof="0" dirty="0">
                <a:solidFill>
                  <a:srgbClr val="CCD6EA"/>
                </a:solidFill>
              </a:rPr>
              <a:t>	Logical Framework Matri</a:t>
            </a:r>
            <a:r>
              <a:rPr lang="hu-HU" sz="1600" noProof="0" dirty="0" err="1">
                <a:solidFill>
                  <a:srgbClr val="CCD6EA"/>
                </a:solidFill>
              </a:rPr>
              <a:t>ces</a:t>
            </a:r>
            <a:endParaRPr lang="en-US" sz="1600" noProof="0" dirty="0">
              <a:solidFill>
                <a:srgbClr val="CCD6EA"/>
              </a:solidFill>
            </a:endParaRP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900" b="1" i="0" noProof="0" dirty="0">
                <a:solidFill>
                  <a:srgbClr val="5BA3F5"/>
                </a:solidFill>
                <a:latin typeface="Calibri"/>
              </a:rPr>
              <a:t>Key value</a:t>
            </a:r>
          </a:p>
          <a:p>
            <a:pPr lvl="1">
              <a:spcBef>
                <a:spcPts val="2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Turns PDFs into structured inputs for AI workflows</a:t>
            </a:r>
          </a:p>
        </p:txBody>
      </p:sp>
      <p:pic>
        <p:nvPicPr>
          <p:cNvPr id="1026" name="Picture 2" descr="NotebookLM's Mind Map: A Hidden Gem - by Craig Van Slyke">
            <a:extLst>
              <a:ext uri="{FF2B5EF4-FFF2-40B4-BE49-F238E27FC236}">
                <a16:creationId xmlns:a16="http://schemas.microsoft.com/office/drawing/2014/main" id="{C38A5E73-2F1C-3AF8-C565-03EAB9DF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870" y="1472184"/>
            <a:ext cx="5729002" cy="337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 err="1">
                <a:solidFill>
                  <a:srgbClr val="FFFFFF"/>
                </a:solidFill>
                <a:latin typeface="Calibri"/>
              </a:rPr>
              <a:t>NotebookLM</a:t>
            </a:r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: Document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Working directly with proposal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Call document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Annexes &amp; work </a:t>
            </a:r>
            <a:r>
              <a:rPr lang="en-US" sz="1600" b="0" i="0" noProof="0" dirty="0" err="1">
                <a:solidFill>
                  <a:srgbClr val="CCD6EA"/>
                </a:solidFill>
                <a:latin typeface="Calibri"/>
              </a:rPr>
              <a:t>programmes</a:t>
            </a: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Draft sections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Evaluation guidelines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937760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"What are the evaluation criteria?"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"Extract Expected Outcomes"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"</a:t>
            </a:r>
            <a:r>
              <a:rPr lang="en-US" sz="1600" b="0" i="0" noProof="0" dirty="0" err="1">
                <a:solidFill>
                  <a:srgbClr val="CCD6EA"/>
                </a:solidFill>
                <a:latin typeface="Calibri"/>
              </a:rPr>
              <a:t>Summarise</a:t>
            </a: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compliance constraints"</a:t>
            </a:r>
          </a:p>
          <a:p>
            <a:pPr>
              <a:spcBef>
                <a:spcPts val="400"/>
              </a:spcBef>
            </a:pPr>
            <a:endParaRPr lang="en-US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Functions as:</a:t>
            </a:r>
          </a:p>
          <a:p>
            <a:pPr>
              <a:spcBef>
                <a:spcPts val="400"/>
              </a:spcBef>
            </a:pPr>
            <a:r>
              <a:rPr lang="hu-HU" sz="1600" dirty="0">
                <a:solidFill>
                  <a:srgbClr val="CCD6EA"/>
                </a:solidFill>
              </a:rPr>
              <a:t>  </a:t>
            </a:r>
            <a:r>
              <a:rPr lang="en-US" sz="1600" dirty="0">
                <a:solidFill>
                  <a:srgbClr val="CCD6EA"/>
                </a:solidFill>
              </a:rPr>
              <a:t>• </a:t>
            </a:r>
            <a:r>
              <a:rPr lang="hu-HU" sz="1600" dirty="0" err="1">
                <a:solidFill>
                  <a:srgbClr val="CCD6EA"/>
                </a:solidFill>
              </a:rPr>
              <a:t>Closed</a:t>
            </a:r>
            <a:r>
              <a:rPr lang="hu-HU" sz="1600" dirty="0">
                <a:solidFill>
                  <a:srgbClr val="CCD6EA"/>
                </a:solidFill>
              </a:rPr>
              <a:t> </a:t>
            </a:r>
            <a:r>
              <a:rPr lang="hu-HU" sz="1600" dirty="0" err="1">
                <a:solidFill>
                  <a:srgbClr val="CCD6EA"/>
                </a:solidFill>
              </a:rPr>
              <a:t>workspace</a:t>
            </a:r>
            <a:endParaRPr lang="hu-HU" sz="16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hu-HU" sz="1600" b="0" i="0" noProof="0" dirty="0">
                <a:solidFill>
                  <a:srgbClr val="CCD6EA"/>
                </a:solidFill>
                <a:latin typeface="Calibri"/>
              </a:rPr>
              <a:t>  </a:t>
            </a: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• Grounded knowledge layer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  •</a:t>
            </a: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 Reducing </a:t>
            </a:r>
            <a:r>
              <a:rPr lang="en-US" sz="1600" noProof="0" dirty="0" err="1">
                <a:solidFill>
                  <a:srgbClr val="CCD6EA"/>
                </a:solidFill>
                <a:latin typeface="Calibri"/>
              </a:rPr>
              <a:t>hallucinatio</a:t>
            </a:r>
            <a:r>
              <a:rPr lang="hu-HU" sz="1600" noProof="0" dirty="0">
                <a:solidFill>
                  <a:srgbClr val="CCD6EA"/>
                </a:solidFill>
                <a:latin typeface="Calibri"/>
              </a:rPr>
              <a:t>n</a:t>
            </a:r>
            <a:r>
              <a:rPr lang="en-US" sz="1600" noProof="0" dirty="0">
                <a:solidFill>
                  <a:srgbClr val="CCD6EA"/>
                </a:solidFill>
                <a:latin typeface="Calibri"/>
              </a:rPr>
              <a:t>s</a:t>
            </a:r>
          </a:p>
          <a:p>
            <a:pPr>
              <a:spcBef>
                <a:spcPts val="400"/>
              </a:spcBef>
            </a:pPr>
            <a:r>
              <a:rPr lang="en-US" sz="1600" noProof="0" dirty="0">
                <a:solidFill>
                  <a:srgbClr val="CCD6EA"/>
                </a:solidFill>
              </a:rPr>
              <a:t>  • Free tier model</a:t>
            </a:r>
          </a:p>
          <a:p>
            <a:pPr>
              <a:spcBef>
                <a:spcPts val="400"/>
              </a:spcBef>
            </a:pPr>
            <a:endParaRPr lang="en-US" sz="160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endParaRPr lang="en-US" sz="1600" noProof="0" dirty="0">
              <a:solidFill>
                <a:srgbClr val="CCD6E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 noProof="0" dirty="0" err="1">
                <a:solidFill>
                  <a:srgbClr val="4CD9C0"/>
                </a:solidFill>
                <a:latin typeface="Calibri"/>
              </a:rPr>
              <a:t>NotebookLM</a:t>
            </a:r>
            <a:r>
              <a:rPr lang="en-US" sz="1300" b="0" i="1" noProof="0" dirty="0">
                <a:solidFill>
                  <a:srgbClr val="4CD9C0"/>
                </a:solidFill>
                <a:latin typeface="Calibri"/>
              </a:rPr>
              <a:t> stays anchored to your documents — no fabrication from general knowledge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Limitations of the Chat Model Paradigm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Why chat-style AI breaks down at </a:t>
            </a:r>
            <a:r>
              <a:rPr lang="hu-HU" sz="1500" b="0" i="1" noProof="0" dirty="0" err="1">
                <a:solidFill>
                  <a:srgbClr val="4CD9C0"/>
                </a:solidFill>
                <a:latin typeface="Calibri"/>
              </a:rPr>
              <a:t>larger</a:t>
            </a:r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 scale</a:t>
            </a:r>
            <a:r>
              <a:rPr lang="hu-HU" sz="1500" b="0" i="1" noProof="0" dirty="0">
                <a:solidFill>
                  <a:srgbClr val="4CD9C0"/>
                </a:solidFill>
                <a:latin typeface="Calibri"/>
              </a:rPr>
              <a:t> project</a:t>
            </a:r>
            <a:endParaRPr lang="en-US" sz="1500" b="0" i="1" noProof="0" dirty="0">
              <a:solidFill>
                <a:srgbClr val="4CD9C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Core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37360"/>
            <a:ext cx="4937760" cy="37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Single context window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Monolithic </a:t>
            </a:r>
            <a:r>
              <a:rPr lang="en-US" sz="1400" noProof="0" dirty="0">
                <a:solidFill>
                  <a:srgbClr val="CCD6EA"/>
                </a:solidFill>
              </a:rPr>
              <a:t>— no structural separation between 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instructions, inputs, and outputs</a:t>
            </a:r>
          </a:p>
          <a:p>
            <a:pPr lvl="1">
              <a:spcBef>
                <a:spcPts val="200"/>
              </a:spcBef>
            </a:pPr>
            <a:r>
              <a:rPr lang="en-US" sz="1400" noProof="0" dirty="0">
                <a:solidFill>
                  <a:srgbClr val="CCD6EA"/>
                </a:solidFill>
              </a:rPr>
              <a:t>Each prompt = isolated reasoning step</a:t>
            </a:r>
            <a:endParaRPr lang="hu-HU" sz="1400" noProof="0" dirty="0">
              <a:solidFill>
                <a:srgbClr val="CCD6EA"/>
              </a:solidFill>
            </a:endParaRPr>
          </a:p>
          <a:p>
            <a:pPr lvl="1">
              <a:spcBef>
                <a:spcPts val="200"/>
              </a:spcBef>
            </a:pPr>
            <a:r>
              <a:rPr lang="en-US" sz="1400" dirty="0">
                <a:solidFill>
                  <a:srgbClr val="CCD6EA"/>
                </a:solidFill>
              </a:rPr>
              <a:t>Everything the model “knows” at runtime is compressed into this one window.</a:t>
            </a:r>
            <a:endParaRPr lang="hu-HU" sz="1400" dirty="0">
              <a:solidFill>
                <a:srgbClr val="CCD6EA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600" b="1" dirty="0">
                <a:solidFill>
                  <a:srgbClr val="5BA3F5"/>
                </a:solidFill>
              </a:rPr>
              <a:t>Scaling problem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CCD6EA"/>
                </a:solidFill>
              </a:rPr>
              <a:t>	Token pressure increases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CCD6EA"/>
                </a:solidFill>
              </a:rPr>
              <a:t>	Signal-to-noise ratio drops 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CCD6EA"/>
                </a:solidFill>
              </a:rPr>
              <a:t>	Reasoning degrades non-linearly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Structural limitation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No explicit state management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No validation or enforcement layer</a:t>
            </a:r>
            <a:endParaRPr lang="hu-HU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hu-HU" sz="1400" dirty="0">
                <a:solidFill>
                  <a:srgbClr val="CCD6EA"/>
                </a:solidFill>
              </a:rPr>
              <a:t>No file </a:t>
            </a:r>
            <a:r>
              <a:rPr lang="hu-HU" sz="1400" dirty="0" err="1">
                <a:solidFill>
                  <a:srgbClr val="CCD6EA"/>
                </a:solidFill>
              </a:rPr>
              <a:t>system</a:t>
            </a:r>
            <a:r>
              <a:rPr lang="hu-HU" sz="1400" dirty="0">
                <a:solidFill>
                  <a:srgbClr val="CCD6EA"/>
                </a:solidFill>
              </a:rPr>
              <a:t> </a:t>
            </a:r>
            <a:r>
              <a:rPr lang="hu-HU" sz="1400" dirty="0" err="1">
                <a:solidFill>
                  <a:srgbClr val="CCD6EA"/>
                </a:solidFill>
              </a:rPr>
              <a:t>integration</a:t>
            </a:r>
            <a:endParaRPr lang="hu-HU" sz="140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No </a:t>
            </a:r>
            <a:r>
              <a:rPr lang="hu-HU" sz="1400" b="0" i="0" noProof="0" dirty="0" err="1">
                <a:solidFill>
                  <a:srgbClr val="CCD6EA"/>
                </a:solidFill>
                <a:latin typeface="Calibri"/>
              </a:rPr>
              <a:t>or</a:t>
            </a:r>
            <a:r>
              <a:rPr lang="hu-HU" sz="1400" b="0" i="0" noProof="0" dirty="0">
                <a:solidFill>
                  <a:srgbClr val="CCD6EA"/>
                </a:solidFill>
                <a:latin typeface="Calibri"/>
              </a:rPr>
              <a:t> limited 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workflow memory beyond chat history</a:t>
            </a:r>
            <a:endParaRPr lang="en-US" sz="1400" noProof="0" dirty="0">
              <a:solidFill>
                <a:srgbClr val="CCD6E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Failure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93776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Context drift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Loss of constraints over long interactions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e.g. page limits, evaluator criteria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Content instability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Leakage between sections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Increasing inconsistency as complexity grows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Key Insight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Chat models are </a:t>
            </a:r>
            <a:r>
              <a:rPr lang="en-US" sz="1400" b="0" i="0" noProof="0" dirty="0" err="1">
                <a:solidFill>
                  <a:srgbClr val="CCD6EA"/>
                </a:solidFill>
                <a:latin typeface="Calibri"/>
              </a:rPr>
              <a:t>optimised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 for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interaction, not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 noProof="0" dirty="0">
                <a:solidFill>
                  <a:srgbClr val="4CD9C0"/>
                </a:solidFill>
                <a:latin typeface="Calibri"/>
              </a:rPr>
              <a:t>The problem is not the model — it is the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Agent / Multi-Window Paradigm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Structured separation of context as the design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Core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310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hu-HU" sz="1600" b="1" i="0" noProof="0" dirty="0" err="1">
                <a:solidFill>
                  <a:srgbClr val="5BA3F5"/>
                </a:solidFill>
                <a:latin typeface="Calibri"/>
              </a:rPr>
              <a:t>Agents</a:t>
            </a:r>
            <a:endParaRPr lang="hu-HU" sz="1600" b="1" i="0" noProof="0" dirty="0">
              <a:solidFill>
                <a:srgbClr val="5BA3F5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hu-HU" sz="1400" dirty="0">
                <a:solidFill>
                  <a:srgbClr val="CCD6EA"/>
                </a:solidFill>
              </a:rPr>
              <a:t>  	A</a:t>
            </a:r>
            <a:r>
              <a:rPr lang="en-US" sz="1400" dirty="0">
                <a:solidFill>
                  <a:srgbClr val="CCD6EA"/>
                </a:solidFill>
              </a:rPr>
              <a:t>gents are scoped</a:t>
            </a:r>
            <a:r>
              <a:rPr lang="hu-HU" sz="1400" dirty="0">
                <a:solidFill>
                  <a:srgbClr val="CCD6EA"/>
                </a:solidFill>
              </a:rPr>
              <a:t>, prompt </a:t>
            </a:r>
            <a:r>
              <a:rPr lang="hu-HU" sz="1400" dirty="0" err="1">
                <a:solidFill>
                  <a:srgbClr val="CCD6EA"/>
                </a:solidFill>
              </a:rPr>
              <a:t>based</a:t>
            </a:r>
            <a:r>
              <a:rPr lang="en-US" sz="1400" dirty="0">
                <a:solidFill>
                  <a:srgbClr val="CCD6EA"/>
                </a:solidFill>
              </a:rPr>
              <a:t> execution units with</a:t>
            </a:r>
            <a:r>
              <a:rPr lang="hu-HU" sz="1400" dirty="0">
                <a:solidFill>
                  <a:srgbClr val="CCD6EA"/>
                </a:solidFill>
              </a:rPr>
              <a:t>   	</a:t>
            </a:r>
            <a:r>
              <a:rPr lang="hu-HU" sz="1400" dirty="0" err="1">
                <a:solidFill>
                  <a:srgbClr val="CCD6EA"/>
                </a:solidFill>
              </a:rPr>
              <a:t>memory</a:t>
            </a:r>
            <a:r>
              <a:rPr lang="hu-HU" sz="1400" dirty="0">
                <a:solidFill>
                  <a:srgbClr val="CCD6EA"/>
                </a:solidFill>
              </a:rPr>
              <a:t>,</a:t>
            </a:r>
            <a:r>
              <a:rPr lang="en-US" sz="1400" dirty="0">
                <a:solidFill>
                  <a:srgbClr val="CCD6EA"/>
                </a:solidFill>
              </a:rPr>
              <a:t> identity, capabilities,</a:t>
            </a:r>
            <a:r>
              <a:rPr lang="hu-HU" sz="1400" dirty="0">
                <a:solidFill>
                  <a:srgbClr val="CCD6EA"/>
                </a:solidFill>
              </a:rPr>
              <a:t> </a:t>
            </a:r>
            <a:r>
              <a:rPr lang="en-US" sz="1400" dirty="0">
                <a:solidFill>
                  <a:srgbClr val="CCD6EA"/>
                </a:solidFill>
              </a:rPr>
              <a:t>constraints and lifecycle</a:t>
            </a:r>
            <a:r>
              <a:rPr lang="hu-HU" sz="1400" dirty="0">
                <a:solidFill>
                  <a:srgbClr val="CCD6EA"/>
                </a:solidFill>
              </a:rPr>
              <a:t>.</a:t>
            </a:r>
            <a:endParaRPr lang="hu-HU" sz="1400" b="1" i="0" noProof="0" dirty="0">
              <a:solidFill>
                <a:srgbClr val="5BA3F5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Isolated contexts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Multiple agents, each handling one task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Coordinated through a structured workflow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No cross-contamination between </a:t>
            </a:r>
            <a:r>
              <a:rPr lang="hu-HU" sz="1400" b="0" i="0" noProof="0" dirty="0" err="1">
                <a:solidFill>
                  <a:srgbClr val="CCD6EA"/>
                </a:solidFill>
                <a:latin typeface="Calibri"/>
              </a:rPr>
              <a:t>contexts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Capabilities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Multi-step workflows (staged execution)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Validation gates between steps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Parallel processing of </a:t>
            </a:r>
            <a:r>
              <a:rPr lang="hu-HU" sz="1400" b="0" i="0" noProof="0" dirty="0">
                <a:solidFill>
                  <a:srgbClr val="CCD6EA"/>
                </a:solidFill>
                <a:latin typeface="Calibri"/>
              </a:rPr>
              <a:t>and </a:t>
            </a:r>
            <a:r>
              <a:rPr lang="hu-HU" sz="1400" b="0" i="0" noProof="0" dirty="0" err="1">
                <a:solidFill>
                  <a:srgbClr val="CCD6EA"/>
                </a:solidFill>
                <a:latin typeface="Calibri"/>
              </a:rPr>
              <a:t>execution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Reusable components — agents,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937760" cy="262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Signal quality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High signal-to-noise ratio per task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Explicit state via files and artefacts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Execution model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Deterministic pipeline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Governance rules enforced at each step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Auditable, reproducible outputs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Key Insight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The advantage is not more context —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it is structured separation of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1" noProof="0" dirty="0">
                <a:solidFill>
                  <a:srgbClr val="4CD9C0"/>
                </a:solidFill>
                <a:latin typeface="Calibri"/>
              </a:rPr>
              <a:t>This is the architectural shift from prompting to proposal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E318E-E123-DFA3-D2C5-375082E1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08E603A1-C64B-2FF2-24AA-4B2B714153BF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EE9C35-A52D-F1C4-B339-EE1D956AEC7A}"/>
              </a:ext>
            </a:extLst>
          </p:cNvPr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Workflow Architecture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16B424F-6D16-E459-322F-5397174EC0D3}"/>
              </a:ext>
            </a:extLst>
          </p:cNvPr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807FDE8-1170-A23D-C409-58DBA6FC3CA9}"/>
              </a:ext>
            </a:extLst>
          </p:cNvPr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System components of a Claude Code agentic pipeline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B8363970-07A0-D7A9-1067-EF15601EDC36}"/>
              </a:ext>
            </a:extLst>
          </p:cNvPr>
          <p:cNvSpPr/>
          <p:nvPr/>
        </p:nvSpPr>
        <p:spPr>
          <a:xfrm>
            <a:off x="5134292" y="1207008"/>
            <a:ext cx="1920240" cy="685800"/>
          </a:xfrm>
          <a:prstGeom prst="rect">
            <a:avLst/>
          </a:prstGeom>
          <a:solidFill>
            <a:srgbClr val="1F4F8F"/>
          </a:solidFill>
          <a:ln w="190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Context</a:t>
            </a:r>
          </a:p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Project Constitution </a:t>
            </a:r>
          </a:p>
        </p:txBody>
      </p:sp>
      <p:sp>
        <p:nvSpPr>
          <p:cNvPr id="18" name="Can 6">
            <a:extLst>
              <a:ext uri="{FF2B5EF4-FFF2-40B4-BE49-F238E27FC236}">
                <a16:creationId xmlns:a16="http://schemas.microsoft.com/office/drawing/2014/main" id="{0DD4ED26-3045-7868-FD90-3884612954D2}"/>
              </a:ext>
            </a:extLst>
          </p:cNvPr>
          <p:cNvSpPr/>
          <p:nvPr/>
        </p:nvSpPr>
        <p:spPr>
          <a:xfrm>
            <a:off x="6066980" y="1892808"/>
            <a:ext cx="54864" cy="411480"/>
          </a:xfrm>
          <a:prstGeom prst="can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D06E34F6-10AC-9F37-7D23-F4A911B89CCC}"/>
              </a:ext>
            </a:extLst>
          </p:cNvPr>
          <p:cNvSpPr/>
          <p:nvPr/>
        </p:nvSpPr>
        <p:spPr>
          <a:xfrm>
            <a:off x="6021260" y="2201875"/>
            <a:ext cx="146304" cy="102412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87B8EDB-21C6-4C75-F117-E8749681F484}"/>
              </a:ext>
            </a:extLst>
          </p:cNvPr>
          <p:cNvSpPr/>
          <p:nvPr/>
        </p:nvSpPr>
        <p:spPr>
          <a:xfrm>
            <a:off x="5134292" y="2304288"/>
            <a:ext cx="1920240" cy="685800"/>
          </a:xfrm>
          <a:prstGeom prst="rect">
            <a:avLst/>
          </a:prstGeom>
          <a:solidFill>
            <a:srgbClr val="23284A"/>
          </a:solidFill>
          <a:ln w="190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Orchestration Workflow</a:t>
            </a:r>
          </a:p>
          <a:p>
            <a:pPr algn="ctr"/>
            <a:r>
              <a:rPr lang="en-US" sz="1100" noProof="0" dirty="0">
                <a:solidFill>
                  <a:srgbClr val="8A98BA"/>
                </a:solidFill>
              </a:rPr>
              <a:t>rules &amp; constraints</a:t>
            </a:r>
          </a:p>
        </p:txBody>
      </p:sp>
      <p:sp>
        <p:nvSpPr>
          <p:cNvPr id="21" name="Can 9">
            <a:extLst>
              <a:ext uri="{FF2B5EF4-FFF2-40B4-BE49-F238E27FC236}">
                <a16:creationId xmlns:a16="http://schemas.microsoft.com/office/drawing/2014/main" id="{845E9AE9-1D31-EB74-59FD-29231FFAC0CE}"/>
              </a:ext>
            </a:extLst>
          </p:cNvPr>
          <p:cNvSpPr/>
          <p:nvPr/>
        </p:nvSpPr>
        <p:spPr>
          <a:xfrm>
            <a:off x="6066980" y="2990088"/>
            <a:ext cx="54864" cy="411480"/>
          </a:xfrm>
          <a:prstGeom prst="can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32940143-79C1-B59F-ACF6-95ED47F5C637}"/>
              </a:ext>
            </a:extLst>
          </p:cNvPr>
          <p:cNvSpPr/>
          <p:nvPr/>
        </p:nvSpPr>
        <p:spPr>
          <a:xfrm>
            <a:off x="6021260" y="3299155"/>
            <a:ext cx="146304" cy="102412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58FC03EA-3A05-0D30-7111-715CE5CF413C}"/>
              </a:ext>
            </a:extLst>
          </p:cNvPr>
          <p:cNvSpPr/>
          <p:nvPr/>
        </p:nvSpPr>
        <p:spPr>
          <a:xfrm>
            <a:off x="4242752" y="3401568"/>
            <a:ext cx="1920240" cy="685800"/>
          </a:xfrm>
          <a:prstGeom prst="rect">
            <a:avLst/>
          </a:prstGeom>
          <a:solidFill>
            <a:srgbClr val="23284A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Skills</a:t>
            </a:r>
          </a:p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reusable logic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9E9A7A26-4FE5-476D-5318-E9165B664A4A}"/>
              </a:ext>
            </a:extLst>
          </p:cNvPr>
          <p:cNvSpPr/>
          <p:nvPr/>
        </p:nvSpPr>
        <p:spPr>
          <a:xfrm>
            <a:off x="6208712" y="3401568"/>
            <a:ext cx="1920240" cy="685800"/>
          </a:xfrm>
          <a:prstGeom prst="rect">
            <a:avLst/>
          </a:prstGeom>
          <a:solidFill>
            <a:srgbClr val="23284A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Hooks</a:t>
            </a:r>
          </a:p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enforcement</a:t>
            </a: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17559ED4-9588-8433-4AB6-79C6FE690D20}"/>
              </a:ext>
            </a:extLst>
          </p:cNvPr>
          <p:cNvSpPr/>
          <p:nvPr/>
        </p:nvSpPr>
        <p:spPr>
          <a:xfrm>
            <a:off x="5111432" y="2990088"/>
            <a:ext cx="982980" cy="411480"/>
          </a:xfrm>
          <a:prstGeom prst="rect">
            <a:avLst/>
          </a:prstGeom>
          <a:noFill/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BC8983AA-C93A-1AE9-9E05-63ED789B8DAA}"/>
              </a:ext>
            </a:extLst>
          </p:cNvPr>
          <p:cNvSpPr/>
          <p:nvPr/>
        </p:nvSpPr>
        <p:spPr>
          <a:xfrm>
            <a:off x="6094412" y="2990088"/>
            <a:ext cx="982980" cy="411480"/>
          </a:xfrm>
          <a:prstGeom prst="rect">
            <a:avLst/>
          </a:prstGeom>
          <a:noFill/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Can 15">
            <a:extLst>
              <a:ext uri="{FF2B5EF4-FFF2-40B4-BE49-F238E27FC236}">
                <a16:creationId xmlns:a16="http://schemas.microsoft.com/office/drawing/2014/main" id="{F6FB011A-4DE7-4BD3-B6A9-639599D11C1D}"/>
              </a:ext>
            </a:extLst>
          </p:cNvPr>
          <p:cNvSpPr/>
          <p:nvPr/>
        </p:nvSpPr>
        <p:spPr>
          <a:xfrm>
            <a:off x="6066980" y="4087368"/>
            <a:ext cx="54864" cy="411480"/>
          </a:xfrm>
          <a:prstGeom prst="can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0B77EB3E-BEDF-884F-E98E-00B2B2AC8414}"/>
              </a:ext>
            </a:extLst>
          </p:cNvPr>
          <p:cNvSpPr/>
          <p:nvPr/>
        </p:nvSpPr>
        <p:spPr>
          <a:xfrm>
            <a:off x="6021260" y="4396435"/>
            <a:ext cx="146304" cy="102412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3CE3EFB9-7CF4-07FB-9B78-FC3E5BB73E2B}"/>
              </a:ext>
            </a:extLst>
          </p:cNvPr>
          <p:cNvSpPr/>
          <p:nvPr/>
        </p:nvSpPr>
        <p:spPr>
          <a:xfrm>
            <a:off x="5134292" y="4498848"/>
            <a:ext cx="1920240" cy="685800"/>
          </a:xfrm>
          <a:prstGeom prst="rect">
            <a:avLst/>
          </a:prstGeom>
          <a:solidFill>
            <a:srgbClr val="23284A"/>
          </a:solidFill>
          <a:ln w="190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Subagents</a:t>
            </a:r>
          </a:p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specialist workers</a:t>
            </a:r>
          </a:p>
        </p:txBody>
      </p:sp>
      <p:sp>
        <p:nvSpPr>
          <p:cNvPr id="30" name="Can 18">
            <a:extLst>
              <a:ext uri="{FF2B5EF4-FFF2-40B4-BE49-F238E27FC236}">
                <a16:creationId xmlns:a16="http://schemas.microsoft.com/office/drawing/2014/main" id="{E90ABC3F-48CB-33B3-D0EF-A21135A753FF}"/>
              </a:ext>
            </a:extLst>
          </p:cNvPr>
          <p:cNvSpPr/>
          <p:nvPr/>
        </p:nvSpPr>
        <p:spPr>
          <a:xfrm>
            <a:off x="6066980" y="5184648"/>
            <a:ext cx="54864" cy="411480"/>
          </a:xfrm>
          <a:prstGeom prst="can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ounded Rectangle 19">
            <a:extLst>
              <a:ext uri="{FF2B5EF4-FFF2-40B4-BE49-F238E27FC236}">
                <a16:creationId xmlns:a16="http://schemas.microsoft.com/office/drawing/2014/main" id="{B249CFA4-C3B1-4CF9-53B3-D18D9FA3111A}"/>
              </a:ext>
            </a:extLst>
          </p:cNvPr>
          <p:cNvSpPr/>
          <p:nvPr/>
        </p:nvSpPr>
        <p:spPr>
          <a:xfrm>
            <a:off x="6021260" y="5493715"/>
            <a:ext cx="146304" cy="102412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2EE76D89-68D0-0338-D785-914FEE5F8419}"/>
              </a:ext>
            </a:extLst>
          </p:cNvPr>
          <p:cNvSpPr/>
          <p:nvPr/>
        </p:nvSpPr>
        <p:spPr>
          <a:xfrm>
            <a:off x="5134292" y="5596128"/>
            <a:ext cx="1920240" cy="685800"/>
          </a:xfrm>
          <a:prstGeom prst="rect">
            <a:avLst/>
          </a:prstGeom>
          <a:solidFill>
            <a:srgbClr val="0C4020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1E4C5FC-D9BA-682D-DBF6-4397A61FEE5C}"/>
              </a:ext>
            </a:extLst>
          </p:cNvPr>
          <p:cNvSpPr txBox="1"/>
          <p:nvPr/>
        </p:nvSpPr>
        <p:spPr>
          <a:xfrm>
            <a:off x="8593074" y="5596128"/>
            <a:ext cx="3312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 noProof="0" dirty="0">
                <a:solidFill>
                  <a:srgbClr val="4CD9C0"/>
                </a:solidFill>
                <a:latin typeface="Calibri"/>
              </a:rPr>
              <a:t>Claude Code is </a:t>
            </a:r>
            <a:r>
              <a:rPr lang="hu-HU" sz="1800" i="1" dirty="0">
                <a:solidFill>
                  <a:srgbClr val="4CD9C0"/>
                </a:solidFill>
              </a:rPr>
              <a:t>a </a:t>
            </a:r>
            <a:r>
              <a:rPr lang="hu-HU" sz="1800" i="1" dirty="0" err="1">
                <a:solidFill>
                  <a:srgbClr val="4CD9C0"/>
                </a:solidFill>
              </a:rPr>
              <a:t>stateful</a:t>
            </a:r>
            <a:r>
              <a:rPr lang="hu-HU" sz="1800" i="1" dirty="0">
                <a:solidFill>
                  <a:srgbClr val="4CD9C0"/>
                </a:solidFill>
              </a:rPr>
              <a:t>, </a:t>
            </a:r>
            <a:r>
              <a:rPr lang="hu-HU" sz="1800" i="1" dirty="0" err="1">
                <a:solidFill>
                  <a:srgbClr val="4CD9C0"/>
                </a:solidFill>
              </a:rPr>
              <a:t>deterministic</a:t>
            </a:r>
            <a:r>
              <a:rPr lang="hu-HU" sz="1800" i="1" dirty="0">
                <a:solidFill>
                  <a:srgbClr val="4CD9C0"/>
                </a:solidFill>
              </a:rPr>
              <a:t>, </a:t>
            </a:r>
            <a:r>
              <a:rPr lang="hu-HU" sz="1800" i="1" dirty="0" err="1">
                <a:solidFill>
                  <a:srgbClr val="4CD9C0"/>
                </a:solidFill>
              </a:rPr>
              <a:t>execution</a:t>
            </a:r>
            <a:r>
              <a:rPr lang="hu-HU" sz="1800" i="1" dirty="0">
                <a:solidFill>
                  <a:srgbClr val="4CD9C0"/>
                </a:solidFill>
              </a:rPr>
              <a:t> </a:t>
            </a:r>
            <a:r>
              <a:rPr lang="hu-HU" sz="1800" i="1" dirty="0" err="1">
                <a:solidFill>
                  <a:srgbClr val="4CD9C0"/>
                </a:solidFill>
              </a:rPr>
              <a:t>lifecycle</a:t>
            </a:r>
            <a:r>
              <a:rPr lang="hu-HU" sz="1800" i="1" dirty="0">
                <a:solidFill>
                  <a:srgbClr val="4CD9C0"/>
                </a:solidFill>
              </a:rPr>
              <a:t> </a:t>
            </a:r>
            <a:r>
              <a:rPr lang="hu-HU" sz="1800" i="1" dirty="0" err="1">
                <a:solidFill>
                  <a:srgbClr val="4CD9C0"/>
                </a:solidFill>
              </a:rPr>
              <a:t>managment</a:t>
            </a:r>
            <a:r>
              <a:rPr lang="hu-HU" sz="1800" i="1" dirty="0">
                <a:solidFill>
                  <a:srgbClr val="4CD9C0"/>
                </a:solidFill>
              </a:rPr>
              <a:t> </a:t>
            </a:r>
            <a:r>
              <a:rPr lang="hu-HU" sz="1800" i="1" dirty="0" err="1">
                <a:solidFill>
                  <a:srgbClr val="4CD9C0"/>
                </a:solidFill>
              </a:rPr>
              <a:t>tool</a:t>
            </a:r>
            <a:r>
              <a:rPr lang="hu-HU" sz="1800" i="1" dirty="0">
                <a:solidFill>
                  <a:srgbClr val="4CD9C0"/>
                </a:solidFill>
              </a:rPr>
              <a:t>.</a:t>
            </a:r>
            <a:endParaRPr lang="en-US" sz="1800" b="0" i="1" noProof="0" dirty="0">
              <a:solidFill>
                <a:srgbClr val="4CD9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68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Claude Code: Agentic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From prompts  → 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Instead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Checking compliance by hand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Formatting iteratively</a:t>
            </a:r>
          </a:p>
          <a:p>
            <a:pPr>
              <a:spcBef>
                <a:spcPts val="400"/>
              </a:spcBef>
            </a:pPr>
            <a:r>
              <a:rPr lang="en-US" sz="1600" b="0" i="0" noProof="0" dirty="0">
                <a:solidFill>
                  <a:srgbClr val="CCD6EA"/>
                </a:solidFill>
                <a:latin typeface="Calibri"/>
              </a:rPr>
              <a:t>Re-reading requirements each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5303520" cy="4846320"/>
          </a:xfrm>
          <a:prstGeom prst="rect">
            <a:avLst/>
          </a:prstGeom>
          <a:solidFill>
            <a:srgbClr val="23284A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303520" cy="41148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You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5120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Agents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WP-</a:t>
            </a:r>
            <a:r>
              <a:rPr lang="en-US" sz="1400" b="0" i="0" noProof="0" dirty="0" err="1">
                <a:solidFill>
                  <a:srgbClr val="CCD6EA"/>
                </a:solidFill>
                <a:latin typeface="Calibri"/>
              </a:rPr>
              <a:t>dependecy</a:t>
            </a: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 mapper</a:t>
            </a:r>
          </a:p>
          <a:p>
            <a:pPr lvl="1">
              <a:spcBef>
                <a:spcPts val="200"/>
              </a:spcBef>
            </a:pPr>
            <a:r>
              <a:rPr lang="en-US" sz="1400" noProof="0" dirty="0">
                <a:solidFill>
                  <a:srgbClr val="CCD6EA"/>
                </a:solidFill>
                <a:latin typeface="Calibri"/>
              </a:rPr>
              <a:t>Gantt-designer</a:t>
            </a: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compliance-checker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cross-document-validator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Workflow stages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Validation gates between stages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Deterministic execution pipeline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5BA3F5"/>
                </a:solidFill>
                <a:latin typeface="Calibri"/>
              </a:rPr>
              <a:t>Skills &amp; Hooks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Reusable logic components</a:t>
            </a:r>
          </a:p>
          <a:p>
            <a:pPr lvl="1">
              <a:spcBef>
                <a:spcPts val="2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Enforcement rules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Workflow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Documents  →  Agents  →  Governed by Memory  →  Structured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532632" cy="640080"/>
          </a:xfrm>
          <a:prstGeom prst="rect">
            <a:avLst/>
          </a:prstGeom>
          <a:solidFill>
            <a:srgbClr val="3C4660"/>
          </a:solidFill>
          <a:ln w="15240">
            <a:solidFill>
              <a:srgbClr val="8A9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 noProof="0" dirty="0">
                <a:solidFill>
                  <a:srgbClr val="FFFFFF"/>
                </a:solidFill>
                <a:latin typeface="Calibri"/>
              </a:rPr>
              <a:t>Source Materials</a:t>
            </a:r>
          </a:p>
          <a:p>
            <a:pPr algn="ctr"/>
            <a:r>
              <a:rPr lang="en-US" sz="950" noProof="0" dirty="0">
                <a:solidFill>
                  <a:srgbClr val="8A98BA"/>
                </a:solidFill>
                <a:latin typeface="Calibri"/>
              </a:rPr>
              <a:t>Call doc · Annexes · Templates
Concept · Action Plan · WP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8160" y="1261872"/>
            <a:ext cx="3532632" cy="640080"/>
          </a:xfrm>
          <a:prstGeom prst="rect">
            <a:avLst/>
          </a:prstGeom>
          <a:solidFill>
            <a:srgbClr val="0B5552"/>
          </a:solidFill>
          <a:ln w="1524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 noProof="0" dirty="0">
                <a:solidFill>
                  <a:srgbClr val="FFFFFF"/>
                </a:solidFill>
                <a:latin typeface="Calibri"/>
              </a:rPr>
              <a:t>Project Memory</a:t>
            </a:r>
          </a:p>
          <a:p>
            <a:pPr algn="ctr"/>
            <a:r>
              <a:rPr lang="en-US" sz="950" noProof="0" dirty="0">
                <a:solidFill>
                  <a:srgbClr val="8A98BA"/>
                </a:solidFill>
                <a:latin typeface="Calibri"/>
              </a:rPr>
              <a:t>CLAUDE.md (rules, SOs, WP structure)
Agent memory (decisions &amp; recalls)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3400" y="1261872"/>
            <a:ext cx="3532632" cy="640080"/>
          </a:xfrm>
          <a:prstGeom prst="rect">
            <a:avLst/>
          </a:prstGeom>
          <a:solidFill>
            <a:srgbClr val="1C2345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 noProof="0" dirty="0">
                <a:solidFill>
                  <a:srgbClr val="FFFFFF"/>
                </a:solidFill>
                <a:latin typeface="Calibri"/>
              </a:rPr>
              <a:t>Pipeline Control</a:t>
            </a:r>
          </a:p>
          <a:p>
            <a:pPr algn="ctr"/>
            <a:r>
              <a:rPr lang="en-US" sz="950" noProof="0" dirty="0" err="1">
                <a:solidFill>
                  <a:srgbClr val="8A98BA"/>
                </a:solidFill>
                <a:latin typeface="Calibri"/>
              </a:rPr>
              <a:t>proposal_workflow.yaml</a:t>
            </a:r>
            <a:r>
              <a:rPr lang="en-US" sz="950" noProof="0" dirty="0">
                <a:solidFill>
                  <a:srgbClr val="8A98BA"/>
                </a:solidFill>
                <a:latin typeface="Calibri"/>
              </a:rPr>
              <a:t>
Settings · Skills · Hooks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1804" y="1901952"/>
            <a:ext cx="54864" cy="15544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6067044" y="1901952"/>
            <a:ext cx="54864" cy="15544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9892284" y="1901952"/>
            <a:ext cx="54864" cy="15544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02920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Call
Analysis</a:t>
            </a:r>
          </a:p>
          <a:p>
            <a:pPr algn="ctr"/>
            <a:r>
              <a:rPr lang="en-US" sz="850" noProof="0" dirty="0" err="1">
                <a:solidFill>
                  <a:srgbClr val="5BA3F5"/>
                </a:solidFill>
                <a:latin typeface="Calibri"/>
              </a:rPr>
              <a:t>call_analyzer</a:t>
            </a:r>
            <a:endParaRPr lang="en-US" sz="850" noProof="0" dirty="0">
              <a:solidFill>
                <a:srgbClr val="5BA3F5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19668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Concept
Refinement</a:t>
            </a:r>
          </a:p>
          <a:p>
            <a:pPr algn="ctr"/>
            <a:r>
              <a:rPr lang="en-US" sz="850" noProof="0" dirty="0">
                <a:solidFill>
                  <a:srgbClr val="5BA3F5"/>
                </a:solidFill>
                <a:latin typeface="Calibri"/>
              </a:rPr>
              <a:t>concept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6417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WP Design
&amp; Deps</a:t>
            </a:r>
          </a:p>
          <a:p>
            <a:pPr algn="ctr"/>
            <a:r>
              <a:rPr lang="en-US" sz="850" noProof="0" dirty="0" err="1">
                <a:solidFill>
                  <a:srgbClr val="5BA3F5"/>
                </a:solidFill>
                <a:latin typeface="Calibri"/>
              </a:rPr>
              <a:t>wp_designer</a:t>
            </a:r>
            <a:r>
              <a:rPr lang="en-US" sz="850" noProof="0" dirty="0">
                <a:solidFill>
                  <a:srgbClr val="5BA3F5"/>
                </a:solidFill>
                <a:latin typeface="Calibri"/>
              </a:rPr>
              <a:t>
wp-dep-mapper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3165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Gantt &amp;
Milestones</a:t>
            </a:r>
          </a:p>
          <a:p>
            <a:pPr algn="ctr"/>
            <a:r>
              <a:rPr lang="en-US" sz="850" noProof="0" dirty="0" err="1">
                <a:solidFill>
                  <a:srgbClr val="5BA3F5"/>
                </a:solidFill>
                <a:latin typeface="Calibri"/>
              </a:rPr>
              <a:t>gantt_designer</a:t>
            </a:r>
            <a:endParaRPr lang="en-US" sz="850" noProof="0" dirty="0">
              <a:solidFill>
                <a:srgbClr val="5BA3F5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69914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Impact
Arch.</a:t>
            </a:r>
          </a:p>
          <a:p>
            <a:pPr algn="ctr"/>
            <a:r>
              <a:rPr lang="en-US" sz="850" noProof="0" dirty="0">
                <a:solidFill>
                  <a:srgbClr val="5BA3F5"/>
                </a:solidFill>
                <a:latin typeface="Calibri"/>
              </a:rPr>
              <a:t>impact-designer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6662" y="2057400"/>
            <a:ext cx="1265872" cy="1115568"/>
          </a:xfrm>
          <a:prstGeom prst="rect">
            <a:avLst/>
          </a:prstGeom>
          <a:solidFill>
            <a:srgbClr val="1B4F8A"/>
          </a:solidFill>
          <a:ln w="1778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4CD9C0"/>
                </a:solidFill>
                <a:latin typeface="Calibri"/>
              </a:rPr>
              <a:t>✓</a:t>
            </a:r>
          </a:p>
          <a:p>
            <a:pPr algn="ctr"/>
            <a:r>
              <a:rPr lang="en-US" sz="1100" b="1" noProof="0" dirty="0" err="1">
                <a:solidFill>
                  <a:srgbClr val="FFFFFF"/>
                </a:solidFill>
                <a:latin typeface="Calibri"/>
              </a:rPr>
              <a:t>Impl</a:t>
            </a:r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.
Arch.</a:t>
            </a:r>
          </a:p>
          <a:p>
            <a:pPr algn="ctr"/>
            <a:r>
              <a:rPr lang="en-US" sz="850" noProof="0" dirty="0">
                <a:solidFill>
                  <a:srgbClr val="5BA3F5"/>
                </a:solidFill>
                <a:latin typeface="Calibri"/>
              </a:rPr>
              <a:t>implementation-architect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3411" y="2057400"/>
            <a:ext cx="1265872" cy="1115568"/>
          </a:xfrm>
          <a:prstGeom prst="rect">
            <a:avLst/>
          </a:prstGeom>
          <a:solidFill>
            <a:srgbClr val="252B42"/>
          </a:solidFill>
          <a:ln w="17780">
            <a:solidFill>
              <a:srgbClr val="8A9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◌</a:t>
            </a:r>
          </a:p>
          <a:p>
            <a:pPr algn="ctr"/>
            <a:r>
              <a:rPr lang="en-US" sz="1100" b="1" noProof="0" dirty="0">
                <a:solidFill>
                  <a:srgbClr val="8A98BA"/>
                </a:solidFill>
                <a:latin typeface="Calibri"/>
              </a:rPr>
              <a:t>Budget
Plan</a:t>
            </a:r>
          </a:p>
          <a:p>
            <a:pPr algn="ctr"/>
            <a:r>
              <a:rPr lang="en-US" sz="850" noProof="0" dirty="0" err="1">
                <a:solidFill>
                  <a:srgbClr val="353C66"/>
                </a:solidFill>
                <a:latin typeface="Calibri"/>
              </a:rPr>
              <a:t>budget_planner</a:t>
            </a:r>
            <a:endParaRPr lang="en-US" sz="850" noProof="0" dirty="0">
              <a:solidFill>
                <a:srgbClr val="353C66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420159" y="2057400"/>
            <a:ext cx="1265872" cy="1115568"/>
          </a:xfrm>
          <a:prstGeom prst="rect">
            <a:avLst/>
          </a:prstGeom>
          <a:solidFill>
            <a:srgbClr val="252B42"/>
          </a:solidFill>
          <a:ln w="17780">
            <a:solidFill>
              <a:srgbClr val="8A9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noProof="0" dirty="0">
                <a:solidFill>
                  <a:srgbClr val="8A98BA"/>
                </a:solidFill>
                <a:latin typeface="Calibri"/>
              </a:rPr>
              <a:t>◌</a:t>
            </a:r>
          </a:p>
          <a:p>
            <a:pPr algn="ctr"/>
            <a:r>
              <a:rPr lang="en-US" sz="1100" b="1" noProof="0" dirty="0">
                <a:solidFill>
                  <a:srgbClr val="8A98BA"/>
                </a:solidFill>
                <a:latin typeface="Calibri"/>
              </a:rPr>
              <a:t>Draft &amp;
Review</a:t>
            </a:r>
          </a:p>
          <a:p>
            <a:pPr algn="ctr"/>
            <a:r>
              <a:rPr lang="en-US" sz="850" noProof="0" dirty="0" err="1">
                <a:solidFill>
                  <a:srgbClr val="353C66"/>
                </a:solidFill>
                <a:latin typeface="Calibri"/>
              </a:rPr>
              <a:t>proposal_writer</a:t>
            </a:r>
            <a:r>
              <a:rPr lang="en-US" sz="850" noProof="0" dirty="0">
                <a:solidFill>
                  <a:srgbClr val="353C66"/>
                </a:solidFill>
                <a:latin typeface="Calibri"/>
              </a:rPr>
              <a:t>
reviewer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8792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3185541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4602289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6019038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/>
          <p:cNvSpPr/>
          <p:nvPr/>
        </p:nvSpPr>
        <p:spPr>
          <a:xfrm>
            <a:off x="7435786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8852535" y="2583180"/>
            <a:ext cx="150876" cy="640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/>
          <p:cNvSpPr/>
          <p:nvPr/>
        </p:nvSpPr>
        <p:spPr>
          <a:xfrm>
            <a:off x="10269283" y="2583180"/>
            <a:ext cx="150876" cy="6400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/>
          <p:cNvSpPr/>
          <p:nvPr/>
        </p:nvSpPr>
        <p:spPr>
          <a:xfrm>
            <a:off x="3830421" y="3172968"/>
            <a:ext cx="54864" cy="237744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9645639" y="3172968"/>
            <a:ext cx="54864" cy="237744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/>
          <p:cNvSpPr/>
          <p:nvPr/>
        </p:nvSpPr>
        <p:spPr>
          <a:xfrm>
            <a:off x="502920" y="3410712"/>
            <a:ext cx="5074920" cy="841248"/>
          </a:xfrm>
          <a:prstGeom prst="rect">
            <a:avLst/>
          </a:prstGeom>
          <a:solidFill>
            <a:srgbClr val="3C1D60"/>
          </a:solidFill>
          <a:ln w="15240">
            <a:solidFill>
              <a:srgbClr val="8A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Internal outputs  (output/_internal/)</a:t>
            </a:r>
          </a:p>
          <a:p>
            <a:pPr algn="ctr"/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call_requirements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compliance_constraints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evaluation_matrix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
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wp_gap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dep_map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gantt_data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governance_model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risk_register</a:t>
            </a:r>
            <a:endParaRPr lang="en-US" sz="900" noProof="0" dirty="0">
              <a:solidFill>
                <a:srgbClr val="8A98BA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0" y="3410712"/>
            <a:ext cx="5833872" cy="841248"/>
          </a:xfrm>
          <a:prstGeom prst="rect">
            <a:avLst/>
          </a:prstGeom>
          <a:solidFill>
            <a:srgbClr val="0C3E1E"/>
          </a:solidFill>
          <a:ln w="1524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 noProof="0" dirty="0">
                <a:solidFill>
                  <a:srgbClr val="FFFFFF"/>
                </a:solidFill>
                <a:latin typeface="Calibri"/>
              </a:rPr>
              <a:t>Final outputs  (output/)</a:t>
            </a:r>
          </a:p>
          <a:p>
            <a:pPr algn="ctr"/>
            <a:r>
              <a:rPr lang="en-US" sz="900" noProof="0" dirty="0">
                <a:solidFill>
                  <a:srgbClr val="8A98BA"/>
                </a:solidFill>
                <a:latin typeface="Calibri"/>
              </a:rPr>
              <a:t>concept.md · workpackages.md · 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gantt_chart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
</a:t>
            </a:r>
            <a:r>
              <a:rPr lang="en-US" sz="900" noProof="0" dirty="0" err="1">
                <a:solidFill>
                  <a:srgbClr val="8A98BA"/>
                </a:solidFill>
                <a:latin typeface="Calibri"/>
              </a:rPr>
              <a:t>impact_architecture</a:t>
            </a:r>
            <a:r>
              <a:rPr lang="en-US" sz="900" noProof="0" dirty="0">
                <a:solidFill>
                  <a:srgbClr val="8A98BA"/>
                </a:solidFill>
                <a:latin typeface="Calibri"/>
              </a:rPr>
              <a:t> · implementation.md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89120"/>
            <a:ext cx="11183112" cy="12700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/>
          <p:cNvSpPr/>
          <p:nvPr/>
        </p:nvSpPr>
        <p:spPr>
          <a:xfrm>
            <a:off x="594360" y="4544568"/>
            <a:ext cx="274320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914400" y="4526280"/>
            <a:ext cx="17794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8A98BA"/>
                </a:solidFill>
                <a:latin typeface="Calibri"/>
              </a:rPr>
              <a:t>  Agents/Phases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0982" y="4544568"/>
            <a:ext cx="274320" cy="256032"/>
          </a:xfrm>
          <a:prstGeom prst="rect">
            <a:avLst/>
          </a:prstGeom>
          <a:solidFill>
            <a:srgbClr val="252B42"/>
          </a:solidFill>
          <a:ln w="12700">
            <a:solidFill>
              <a:srgbClr val="8A9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3151022" y="4526280"/>
            <a:ext cx="17794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8A98BA"/>
                </a:solidFill>
                <a:latin typeface="Calibri"/>
              </a:rPr>
              <a:t>  Pending phase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67604" y="4544568"/>
            <a:ext cx="274320" cy="256032"/>
          </a:xfrm>
          <a:prstGeom prst="rect">
            <a:avLst/>
          </a:prstGeom>
          <a:solidFill>
            <a:srgbClr val="0B5552"/>
          </a:solidFill>
          <a:ln w="1270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5387644" y="4526280"/>
            <a:ext cx="17794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8A98BA"/>
                </a:solidFill>
                <a:latin typeface="Calibri"/>
              </a:rPr>
              <a:t>  Memory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04227" y="4544568"/>
            <a:ext cx="274320" cy="256032"/>
          </a:xfrm>
          <a:prstGeom prst="rect">
            <a:avLst/>
          </a:prstGeom>
          <a:solidFill>
            <a:srgbClr val="3C1D60"/>
          </a:solidFill>
          <a:ln w="12700">
            <a:solidFill>
              <a:srgbClr val="8A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624267" y="4526280"/>
            <a:ext cx="17794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8A98BA"/>
                </a:solidFill>
                <a:latin typeface="Calibri"/>
              </a:rPr>
              <a:t>  Internal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40849" y="4544568"/>
            <a:ext cx="274320" cy="256032"/>
          </a:xfrm>
          <a:prstGeom prst="rect">
            <a:avLst/>
          </a:prstGeom>
          <a:solidFill>
            <a:srgbClr val="0C3E1E"/>
          </a:solidFill>
          <a:ln w="1270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9860889" y="4526280"/>
            <a:ext cx="177942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8A98BA"/>
                </a:solidFill>
                <a:latin typeface="Calibri"/>
              </a:rPr>
              <a:t>  Final 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144768"/>
            <a:ext cx="11183112" cy="457200"/>
          </a:xfrm>
          <a:prstGeom prst="rect">
            <a:avLst/>
          </a:prstGeom>
          <a:solidFill>
            <a:srgbClr val="1F4F8F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 i="0" noProof="0" dirty="0">
                <a:solidFill>
                  <a:srgbClr val="FFFFFF"/>
                </a:solidFill>
                <a:latin typeface="Calibri"/>
              </a:rPr>
              <a:t>Documents transformed through agents · governed by memory · producing structured outputs across phases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FDC00395-793C-6BA3-D18B-47F21DB06501}"/>
              </a:ext>
            </a:extLst>
          </p:cNvPr>
          <p:cNvSpPr/>
          <p:nvPr/>
        </p:nvSpPr>
        <p:spPr>
          <a:xfrm rot="5400000">
            <a:off x="4158995" y="1456184"/>
            <a:ext cx="45719" cy="29260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5F0AC09D-62FA-C343-F86C-78FBA1149519}"/>
              </a:ext>
            </a:extLst>
          </p:cNvPr>
          <p:cNvSpPr/>
          <p:nvPr/>
        </p:nvSpPr>
        <p:spPr>
          <a:xfrm rot="5400000">
            <a:off x="8001666" y="1456184"/>
            <a:ext cx="45719" cy="292608"/>
          </a:xfrm>
          <a:prstGeom prst="rect">
            <a:avLst/>
          </a:prstGeom>
          <a:solidFill>
            <a:srgbClr val="353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FAA28-E67E-2B49-0FAC-0015515C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">
            <a:extLst>
              <a:ext uri="{FF2B5EF4-FFF2-40B4-BE49-F238E27FC236}">
                <a16:creationId xmlns:a16="http://schemas.microsoft.com/office/drawing/2014/main" id="{579CA9DF-466F-15B4-8DB1-A849AA1481C2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7EF023B8-F4E9-9CD0-A82D-6BE6B19250C3}"/>
              </a:ext>
            </a:extLst>
          </p:cNvPr>
          <p:cNvSpPr txBox="1"/>
          <p:nvPr/>
        </p:nvSpPr>
        <p:spPr>
          <a:xfrm>
            <a:off x="502920" y="109728"/>
            <a:ext cx="111831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noProof="0" dirty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49F1A32-B606-B85C-351E-91FFDD4CA640}"/>
              </a:ext>
            </a:extLst>
          </p:cNvPr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2805C823-253B-9C70-6DF3-B04B3376835F}"/>
              </a:ext>
            </a:extLst>
          </p:cNvPr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i="1" noProof="0" dirty="0">
                <a:solidFill>
                  <a:srgbClr val="4CD9C0"/>
                </a:solidFill>
                <a:latin typeface="Calibri"/>
              </a:rPr>
              <a:t>A</a:t>
            </a:r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gentic proposal pipelines outperform manual drafting and isolated chat interactions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239B9449-B598-D86F-06A9-6DDE064771D9}"/>
              </a:ext>
            </a:extLst>
          </p:cNvPr>
          <p:cNvSpPr/>
          <p:nvPr/>
        </p:nvSpPr>
        <p:spPr>
          <a:xfrm>
            <a:off x="502920" y="129844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00428A17-8C2A-9E4B-74F5-3BBE1ED70C06}"/>
              </a:ext>
            </a:extLst>
          </p:cNvPr>
          <p:cNvSpPr/>
          <p:nvPr/>
        </p:nvSpPr>
        <p:spPr>
          <a:xfrm>
            <a:off x="502920" y="1298448"/>
            <a:ext cx="3593592" cy="402336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Modular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BD87657D-0705-AC2A-B370-53BFD89158D9}"/>
              </a:ext>
            </a:extLst>
          </p:cNvPr>
          <p:cNvSpPr txBox="1"/>
          <p:nvPr/>
        </p:nvSpPr>
        <p:spPr>
          <a:xfrm>
            <a:off x="640080" y="179222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Each phase can be rerun independently</a:t>
            </a: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D6548AC4-0B62-ACFE-FCA4-2802942D7683}"/>
              </a:ext>
            </a:extLst>
          </p:cNvPr>
          <p:cNvSpPr/>
          <p:nvPr/>
        </p:nvSpPr>
        <p:spPr>
          <a:xfrm>
            <a:off x="4297680" y="129844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F23A54A9-ED53-3C49-A620-E6DFFD56F4FB}"/>
              </a:ext>
            </a:extLst>
          </p:cNvPr>
          <p:cNvSpPr/>
          <p:nvPr/>
        </p:nvSpPr>
        <p:spPr>
          <a:xfrm>
            <a:off x="4297680" y="1298448"/>
            <a:ext cx="3593592" cy="4023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Deterministic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ECDC5152-2312-0DFA-E1C4-ECABC223F847}"/>
              </a:ext>
            </a:extLst>
          </p:cNvPr>
          <p:cNvSpPr txBox="1"/>
          <p:nvPr/>
        </p:nvSpPr>
        <p:spPr>
          <a:xfrm>
            <a:off x="4434840" y="179222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Each agent has a fixed input / output contract</a:t>
            </a: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ED440BD4-45E7-5021-C884-EF2D69127857}"/>
              </a:ext>
            </a:extLst>
          </p:cNvPr>
          <p:cNvSpPr/>
          <p:nvPr/>
        </p:nvSpPr>
        <p:spPr>
          <a:xfrm>
            <a:off x="8092440" y="129844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9D673C52-DE8E-EA19-7B7B-D3F59DF8813E}"/>
              </a:ext>
            </a:extLst>
          </p:cNvPr>
          <p:cNvSpPr/>
          <p:nvPr/>
        </p:nvSpPr>
        <p:spPr>
          <a:xfrm>
            <a:off x="8092440" y="1298448"/>
            <a:ext cx="3593592" cy="402336"/>
          </a:xfrm>
          <a:prstGeom prst="rect">
            <a:avLst/>
          </a:prstGeom>
          <a:solidFill>
            <a:srgbClr val="7B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DBD11AB4-DA64-9249-0629-9988FE8CE0C4}"/>
              </a:ext>
            </a:extLst>
          </p:cNvPr>
          <p:cNvSpPr txBox="1"/>
          <p:nvPr/>
        </p:nvSpPr>
        <p:spPr>
          <a:xfrm>
            <a:off x="8229600" y="179222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Every step is captured through file-based artefacts</a:t>
            </a: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39A96D38-B727-29BE-AD4C-7BEEC10D4F27}"/>
              </a:ext>
            </a:extLst>
          </p:cNvPr>
          <p:cNvSpPr/>
          <p:nvPr/>
        </p:nvSpPr>
        <p:spPr>
          <a:xfrm>
            <a:off x="502920" y="299008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AB8A0359-458A-9FE9-88A2-97CA5E6A052F}"/>
              </a:ext>
            </a:extLst>
          </p:cNvPr>
          <p:cNvSpPr/>
          <p:nvPr/>
        </p:nvSpPr>
        <p:spPr>
          <a:xfrm>
            <a:off x="502920" y="2990088"/>
            <a:ext cx="3593592" cy="402336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Consistent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9B82AF01-6145-63B0-F195-1AD59CAE21C2}"/>
              </a:ext>
            </a:extLst>
          </p:cNvPr>
          <p:cNvSpPr txBox="1"/>
          <p:nvPr/>
        </p:nvSpPr>
        <p:spPr>
          <a:xfrm>
            <a:off x="640080" y="348386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Central memory in CLAUDE.md preserves key decisions</a:t>
            </a:r>
          </a:p>
        </p:txBody>
      </p:sp>
      <p:sp>
        <p:nvSpPr>
          <p:cNvPr id="46" name="Rectangle 17">
            <a:extLst>
              <a:ext uri="{FF2B5EF4-FFF2-40B4-BE49-F238E27FC236}">
                <a16:creationId xmlns:a16="http://schemas.microsoft.com/office/drawing/2014/main" id="{A868B95C-E788-EF9B-1643-5A176551C66E}"/>
              </a:ext>
            </a:extLst>
          </p:cNvPr>
          <p:cNvSpPr/>
          <p:nvPr/>
        </p:nvSpPr>
        <p:spPr>
          <a:xfrm>
            <a:off x="4297680" y="299008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 18">
            <a:extLst>
              <a:ext uri="{FF2B5EF4-FFF2-40B4-BE49-F238E27FC236}">
                <a16:creationId xmlns:a16="http://schemas.microsoft.com/office/drawing/2014/main" id="{28C4F524-6B10-1600-89E2-86DA93E0DF06}"/>
              </a:ext>
            </a:extLst>
          </p:cNvPr>
          <p:cNvSpPr/>
          <p:nvPr/>
        </p:nvSpPr>
        <p:spPr>
          <a:xfrm>
            <a:off x="4297680" y="2990088"/>
            <a:ext cx="3593592" cy="4023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Scalable</a:t>
            </a:r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E4B1AA75-98F5-2CD0-85BD-77025796815D}"/>
              </a:ext>
            </a:extLst>
          </p:cNvPr>
          <p:cNvSpPr txBox="1"/>
          <p:nvPr/>
        </p:nvSpPr>
        <p:spPr>
          <a:xfrm>
            <a:off x="4434840" y="348386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New agents can be inserted without redesigning the pipeline</a:t>
            </a:r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id="{BBD88EAB-988E-F12F-1FBC-82FC09FA1F0F}"/>
              </a:ext>
            </a:extLst>
          </p:cNvPr>
          <p:cNvSpPr/>
          <p:nvPr/>
        </p:nvSpPr>
        <p:spPr>
          <a:xfrm>
            <a:off x="8092440" y="2990088"/>
            <a:ext cx="3593592" cy="1508760"/>
          </a:xfrm>
          <a:prstGeom prst="rect">
            <a:avLst/>
          </a:prstGeom>
          <a:solidFill>
            <a:srgbClr val="23284A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 21">
            <a:extLst>
              <a:ext uri="{FF2B5EF4-FFF2-40B4-BE49-F238E27FC236}">
                <a16:creationId xmlns:a16="http://schemas.microsoft.com/office/drawing/2014/main" id="{4BFE7A5D-00EB-7E72-FD12-EBB459927540}"/>
              </a:ext>
            </a:extLst>
          </p:cNvPr>
          <p:cNvSpPr/>
          <p:nvPr/>
        </p:nvSpPr>
        <p:spPr>
          <a:xfrm>
            <a:off x="8092440" y="2990088"/>
            <a:ext cx="3593592" cy="402336"/>
          </a:xfrm>
          <a:prstGeom prst="rect">
            <a:avLst/>
          </a:prstGeom>
          <a:solidFill>
            <a:srgbClr val="4C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i="0" noProof="0" dirty="0">
                <a:solidFill>
                  <a:srgbClr val="FFFFFF"/>
                </a:solidFill>
                <a:latin typeface="Calibri"/>
              </a:rPr>
              <a:t>Resilient</a:t>
            </a:r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42DA0E1E-4072-5D27-F75A-696998B66125}"/>
              </a:ext>
            </a:extLst>
          </p:cNvPr>
          <p:cNvSpPr txBox="1"/>
          <p:nvPr/>
        </p:nvSpPr>
        <p:spPr>
          <a:xfrm>
            <a:off x="8229600" y="3483864"/>
            <a:ext cx="331927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Gating mechanisms protect the workflow at multiple points</a:t>
            </a:r>
          </a:p>
        </p:txBody>
      </p:sp>
      <p:sp>
        <p:nvSpPr>
          <p:cNvPr id="52" name="Rectangle 23">
            <a:extLst>
              <a:ext uri="{FF2B5EF4-FFF2-40B4-BE49-F238E27FC236}">
                <a16:creationId xmlns:a16="http://schemas.microsoft.com/office/drawing/2014/main" id="{7838BDFD-1658-1F11-DC2C-60393510871E}"/>
              </a:ext>
            </a:extLst>
          </p:cNvPr>
          <p:cNvSpPr/>
          <p:nvPr/>
        </p:nvSpPr>
        <p:spPr>
          <a:xfrm>
            <a:off x="502920" y="4681728"/>
            <a:ext cx="11183112" cy="868680"/>
          </a:xfrm>
          <a:prstGeom prst="rect">
            <a:avLst/>
          </a:prstGeom>
          <a:solidFill>
            <a:srgbClr val="23284A"/>
          </a:solidFill>
          <a:ln w="19050">
            <a:solidFill>
              <a:srgbClr val="7B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" name="Rectangle 24">
            <a:extLst>
              <a:ext uri="{FF2B5EF4-FFF2-40B4-BE49-F238E27FC236}">
                <a16:creationId xmlns:a16="http://schemas.microsoft.com/office/drawing/2014/main" id="{8DC43346-A199-28B9-68B0-C6F4167F1C8A}"/>
              </a:ext>
            </a:extLst>
          </p:cNvPr>
          <p:cNvSpPr/>
          <p:nvPr/>
        </p:nvSpPr>
        <p:spPr>
          <a:xfrm>
            <a:off x="502920" y="4681728"/>
            <a:ext cx="2148840" cy="868680"/>
          </a:xfrm>
          <a:prstGeom prst="rect">
            <a:avLst/>
          </a:prstGeom>
          <a:solidFill>
            <a:srgbClr val="7B5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Self-synchronizing</a:t>
            </a: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23B96482-AF7C-92D1-87F3-5C75DAE2264C}"/>
              </a:ext>
            </a:extLst>
          </p:cNvPr>
          <p:cNvSpPr txBox="1"/>
          <p:nvPr/>
        </p:nvSpPr>
        <p:spPr>
          <a:xfrm>
            <a:off x="2880360" y="4791456"/>
            <a:ext cx="87142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Updat</a:t>
            </a:r>
            <a:r>
              <a:rPr lang="en-US" sz="1300" noProof="0" dirty="0">
                <a:solidFill>
                  <a:srgbClr val="CCD6EA"/>
                </a:solidFill>
                <a:latin typeface="Calibri"/>
              </a:rPr>
              <a:t>ing the </a:t>
            </a:r>
            <a:r>
              <a:rPr lang="en-US" sz="1300" b="0" i="0" noProof="0" dirty="0">
                <a:solidFill>
                  <a:srgbClr val="CCD6EA"/>
                </a:solidFill>
                <a:latin typeface="Calibri"/>
              </a:rPr>
              <a:t>memory bank keeps docs and repository state continuously aligned — significantly reducing the risk of consistency errors and drift</a:t>
            </a:r>
          </a:p>
        </p:txBody>
      </p:sp>
      <p:sp>
        <p:nvSpPr>
          <p:cNvPr id="56" name="Szövegdoboz 55">
            <a:extLst>
              <a:ext uri="{FF2B5EF4-FFF2-40B4-BE49-F238E27FC236}">
                <a16:creationId xmlns:a16="http://schemas.microsoft.com/office/drawing/2014/main" id="{7C8B6E73-744F-FCBF-D211-1B2817558A54}"/>
              </a:ext>
            </a:extLst>
          </p:cNvPr>
          <p:cNvSpPr txBox="1"/>
          <p:nvPr/>
        </p:nvSpPr>
        <p:spPr>
          <a:xfrm>
            <a:off x="2804922" y="6018538"/>
            <a:ext cx="614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 noProof="0" dirty="0">
                <a:solidFill>
                  <a:srgbClr val="4CD9C0"/>
                </a:solidFill>
                <a:latin typeface="Calibri"/>
              </a:rPr>
              <a:t>Critical advantage: Compliance becomes systematic, not manual</a:t>
            </a:r>
          </a:p>
        </p:txBody>
      </p:sp>
    </p:spTree>
    <p:extLst>
      <p:ext uri="{BB962C8B-B14F-4D97-AF65-F5344CB8AC3E}">
        <p14:creationId xmlns:p14="http://schemas.microsoft.com/office/powerpoint/2010/main" val="332155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Integrated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1" noProof="0" dirty="0">
                <a:solidFill>
                  <a:srgbClr val="4CD9C0"/>
                </a:solidFill>
                <a:latin typeface="Calibri"/>
              </a:rPr>
              <a:t>How the tools work together in a single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1828800" cy="1280160"/>
          </a:xfrm>
          <a:prstGeom prst="rect">
            <a:avLst/>
          </a:prstGeom>
          <a:solidFill>
            <a:srgbClr val="222244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8A98BA"/>
                </a:solidFill>
                <a:latin typeface="Calibri"/>
              </a:rPr>
              <a:t>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1498" y="2377440"/>
            <a:ext cx="1828800" cy="1280160"/>
          </a:xfrm>
          <a:prstGeom prst="rect">
            <a:avLst/>
          </a:prstGeom>
          <a:solidFill>
            <a:srgbClr val="1644A8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 err="1">
                <a:solidFill>
                  <a:srgbClr val="FFFFFF"/>
                </a:solidFill>
                <a:latin typeface="Calibri"/>
              </a:rPr>
              <a:t>NotebookLM</a:t>
            </a:r>
            <a:endParaRPr lang="en-US" sz="14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80076" y="2377440"/>
            <a:ext cx="1828800" cy="1280160"/>
          </a:xfrm>
          <a:prstGeom prst="rect">
            <a:avLst/>
          </a:prstGeom>
          <a:solidFill>
            <a:srgbClr val="1F4F8F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Structured
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8654" y="2377440"/>
            <a:ext cx="1828800" cy="1280160"/>
          </a:xfrm>
          <a:prstGeom prst="rect">
            <a:avLst/>
          </a:prstGeom>
          <a:solidFill>
            <a:srgbClr val="442288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ChatGPT /
Claude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57232" y="2377440"/>
            <a:ext cx="1828800" cy="1280160"/>
          </a:xfrm>
          <a:prstGeom prst="rect">
            <a:avLst/>
          </a:prstGeom>
          <a:solidFill>
            <a:srgbClr val="0C4020"/>
          </a:solidFill>
          <a:ln w="1524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noProof="0" dirty="0">
                <a:solidFill>
                  <a:srgbClr val="FFFFFF"/>
                </a:solidFill>
                <a:latin typeface="Calibri"/>
              </a:rPr>
              <a:t>Proposal
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980944"/>
            <a:ext cx="509778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2693365" y="2916936"/>
            <a:ext cx="164592" cy="201168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4670298" y="2980944"/>
            <a:ext cx="509778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5031943" y="2916936"/>
            <a:ext cx="164592" cy="201168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7008876" y="2980944"/>
            <a:ext cx="509778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7370521" y="2916936"/>
            <a:ext cx="164592" cy="201168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9347454" y="2980944"/>
            <a:ext cx="509778" cy="73152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9709099" y="2916936"/>
            <a:ext cx="164592" cy="201168"/>
          </a:xfrm>
          <a:prstGeom prst="round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1148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source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0058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→ extract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36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→ structured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7214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→ generate / 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→ final 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Call docs
Annexes
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1498" y="4572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Q&amp;A
Synthesis
Compliance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0076" y="4572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call_requirements.md
evaluation_matrix.md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8654" y="4572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Section drafting
Agents &amp; validators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4572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noProof="0" dirty="0">
                <a:solidFill>
                  <a:srgbClr val="8A98BA"/>
                </a:solidFill>
                <a:latin typeface="Calibri"/>
              </a:rPr>
              <a:t>Excellence
Impact
Implementation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035040"/>
            <a:ext cx="11183112" cy="502920"/>
          </a:xfrm>
          <a:prstGeom prst="rect">
            <a:avLst/>
          </a:prstGeom>
          <a:solidFill>
            <a:srgbClr val="1F4F8F"/>
          </a:solidFill>
          <a:ln w="1270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 i="0" noProof="0" dirty="0">
                <a:solidFill>
                  <a:srgbClr val="FFFFFF"/>
                </a:solidFill>
                <a:latin typeface="Calibri"/>
              </a:rPr>
              <a:t>Each layer feeds the next — from raw documents to a compliance-ready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C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noProof="0" dirty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1183112" cy="2540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474720" cy="3474720"/>
          </a:xfrm>
          <a:prstGeom prst="rect">
            <a:avLst/>
          </a:prstGeom>
          <a:solidFill>
            <a:srgbClr val="23284A"/>
          </a:solidFill>
          <a:ln w="19050">
            <a:solidFill>
              <a:srgbClr val="5BA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474720" cy="41148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AI is not just a writing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314553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It is a proposal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engineering system</a:t>
            </a:r>
          </a:p>
          <a:p>
            <a:pPr>
              <a:spcBef>
                <a:spcPts val="4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Design the system,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not just the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325880"/>
            <a:ext cx="3474720" cy="3474720"/>
          </a:xfrm>
          <a:prstGeom prst="rect">
            <a:avLst/>
          </a:prstGeom>
          <a:solidFill>
            <a:srgbClr val="23284A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4224528" y="1325880"/>
            <a:ext cx="3474720" cy="411480"/>
          </a:xfrm>
          <a:prstGeom prst="rect">
            <a:avLst/>
          </a:prstGeom>
          <a:solidFill>
            <a:srgbClr val="4C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Biggest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14553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Consistency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Compliance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Speed</a:t>
            </a:r>
          </a:p>
          <a:p>
            <a:pPr>
              <a:spcBef>
                <a:spcPts val="4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All three layers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working together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1325880"/>
            <a:ext cx="3474720" cy="3474720"/>
          </a:xfrm>
          <a:prstGeom prst="rect">
            <a:avLst/>
          </a:prstGeom>
          <a:solidFill>
            <a:srgbClr val="23284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7946136" y="132588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Future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1828800"/>
            <a:ext cx="314553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0" dirty="0"/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Fully automated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proposal pipelines</a:t>
            </a:r>
          </a:p>
          <a:p>
            <a:pPr>
              <a:spcBef>
                <a:spcPts val="400"/>
              </a:spcBef>
            </a:pPr>
            <a:endParaRPr lang="en-US" sz="1400" b="0" i="0" noProof="0" dirty="0">
              <a:solidFill>
                <a:srgbClr val="CCD6EA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AI-assisted</a:t>
            </a:r>
          </a:p>
          <a:p>
            <a:pPr>
              <a:spcBef>
                <a:spcPts val="400"/>
              </a:spcBef>
            </a:pPr>
            <a:r>
              <a:rPr lang="en-US" sz="1400" b="0" i="0" noProof="0" dirty="0">
                <a:solidFill>
                  <a:srgbClr val="CCD6EA"/>
                </a:solidFill>
                <a:latin typeface="Calibri"/>
              </a:rPr>
              <a:t>evaluation 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74920"/>
            <a:ext cx="11183112" cy="731520"/>
          </a:xfrm>
          <a:prstGeom prst="rect">
            <a:avLst/>
          </a:prstGeom>
          <a:solidFill>
            <a:srgbClr val="1F4F8F"/>
          </a:solidFill>
          <a:ln w="19050">
            <a:solidFill>
              <a:srgbClr val="4C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i="0" noProof="0" dirty="0">
                <a:solidFill>
                  <a:srgbClr val="FFFFFF"/>
                </a:solidFill>
                <a:latin typeface="Calibri"/>
              </a:rPr>
              <a:t>I. The competitive edge is not using AI — it is designing how AI is used</a:t>
            </a:r>
          </a:p>
          <a:p>
            <a:pPr algn="ctr"/>
            <a:r>
              <a:rPr lang="en-US" sz="1400" b="1" noProof="0" dirty="0"/>
              <a:t>II. AI value is not “text generation” — it is controlled transformation of grounded inputs into validated content.</a:t>
            </a:r>
            <a:endParaRPr lang="en-US" sz="1400" b="1" i="0" noProof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1526</Words>
  <Application>Microsoft Office PowerPoint</Application>
  <PresentationFormat>Egyéni</PresentationFormat>
  <Paragraphs>349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Kiss József</dc:creator>
  <cp:keywords/>
  <dc:description>generated using python-pptx</dc:description>
  <cp:lastModifiedBy>Kiss József</cp:lastModifiedBy>
  <cp:revision>5</cp:revision>
  <dcterms:created xsi:type="dcterms:W3CDTF">2013-01-27T09:14:16Z</dcterms:created>
  <dcterms:modified xsi:type="dcterms:W3CDTF">2026-03-24T20:57:52Z</dcterms:modified>
  <cp:category/>
</cp:coreProperties>
</file>