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83" r:id="rId3"/>
    <p:sldId id="284" r:id="rId4"/>
    <p:sldId id="257" r:id="rId5"/>
    <p:sldId id="258" r:id="rId6"/>
    <p:sldId id="259" r:id="rId7"/>
    <p:sldId id="261" r:id="rId8"/>
    <p:sldId id="263" r:id="rId9"/>
    <p:sldId id="280" r:id="rId10"/>
    <p:sldId id="281" r:id="rId11"/>
    <p:sldId id="282" r:id="rId12"/>
    <p:sldId id="265" r:id="rId13"/>
    <p:sldId id="266" r:id="rId14"/>
    <p:sldId id="268" r:id="rId15"/>
    <p:sldId id="267" r:id="rId16"/>
    <p:sldId id="270" r:id="rId17"/>
    <p:sldId id="269" r:id="rId18"/>
    <p:sldId id="276" r:id="rId19"/>
    <p:sldId id="277" r:id="rId20"/>
    <p:sldId id="278" r:id="rId21"/>
    <p:sldId id="260" r:id="rId22"/>
    <p:sldId id="279" r:id="rId2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52" d="100"/>
          <a:sy n="52"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4807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master prompt; 00 - AGA Wiki Operations Manual.md; vault archive; guided branches 1 and 2. Snapshot reflects supplied vault archive.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slide connecting the AGA Wiki exercise to general LLM workflows.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slide connecting the AGA Wiki exercise to general LLM workflows.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master prompt; 00 - AGA Wiki Operations Manual.md; vault archive; guided branches 1 and 2. Snapshot reflects supplied vault archive.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master prompt; 00 - AGA Wiki Operations Manual.md; vault archive; guided branches 1 and 2. Snapshot reflects supplied vault archive.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master prompt; 00 - AGA Wiki Operations Manual.md; vault archive; guided branches 1 and 2. Snapshot reflects supplied vault archive.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master prompt; 00 - AGA Wiki Operations Manual.md; vault archive; guided branches 1 and 2. Snapshot reflects supplied vault archive.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master prompt; 00 - AGA Wiki Operations Manual.md; vault archive; guided branches 1 and 2. Snapshot reflects supplied vault archive.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guided branches 1 and 2 (Gemini chat transcripts); 00 - AGA Wiki Operations Manual.md. The manual sits above the flow and sets roles and handoffs; the Gemini chat coordinates implementation, with one branch per task context. Content flows NotebookLM (cited Notes) → Gems (schema + tickets → Markdown nodes) → Obsidian vault; the vault feeds review and the next ticket back to the chat and Gems.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00 - AGA Wiki Operations Manual.md (lens definitions take precedence); ops/passes/extraction_lenses_p1_p7.md (reconciled P1–P7 catalogue, query starters); guided branches 1 and 2. G1 Source Discovery takes the AGA PDF, its TOC and the Operations Manual and turns the manual's lens definitions into a source-specific plan: a locator map, a P1–P7 extraction plan and reusable query templates. NotebookLM runs scoped queries ('Within &lt;locator&gt; only: …'), saved as cited Notes. The first G2 topic analysis used the initial P1/P3 Notes for the Introduction and Articles 1–6 with only the schema skeleton; G3/G4 then drafted the schema for human ratification. Later G2 runs use the ratified schema.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master prompt; 00 - AGA Wiki Operations Manual.md; vault archive; guided branches 1 and 2. Snapshot reflects supplied vault archive.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master prompt; 00 - AGA Wiki Operations Manual.md; vault archive; guided branches 1 and 2. Snapshot reflects supplied vault archive.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master prompt; 00 - AGA Wiki Operations Manual.md; vault archive; guided branches 1 and 2. Snapshot reflects supplied vault archive.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ontological types by layer, as supplied. Layer 0 pages are operational rather than AGA claims; layers 1–4 carry the source-grounded content.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master prompt; 00 - AGA Wiki Operations Manual.md; vault archive; guided branches 1 and 2. Snapshot reflects supplied vault archive.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wiki/aga/index.md and node frontmatter in the supplied vault. Five nodes are shown; a sixth structure node, Annotations (pp. 10–11), is also present. WORK - AGA carries status: draft in its frontmatter; the other four are status: canonical. All five: layer 1, canonical_owner: source, certainty: high, ontology_version 1.0, created by G5.</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wiki/observability/Graph Health Dashboard.md (node_type: dashboard, layer 0, ticket T-L0-bootstrap-01). Twenty Dataview queries scoped FROM "wiki/aga". Read at every lint pass and every snapshot. Snapshot metrics: total nodes §1, by layer §4, orphans §7, unanchored leaves §8, unsourced factual §9, needs_review §11. Known Distinct Pairs section records Smart Connections near-duplicates confirmed distinct.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master prompt; 00 - AGA Wiki Operations Manual.md; vault archive; guided branches 1 and 2. Snapshot reflects supplied vault archive.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completed items provide source grounding, the schema and first examples of implementation. The twelve tickets plan the structural work; their existence does not mean the full spine is complete.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tasks build the structural spine. Canonical anchors create shared meanings before detailed leaf pages are populated. Budget and synthesis pages support cross-article use. Run checks throughout and take milestone snapshots at the corresponding stages, then complete a final coverage and provenance audit.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master prompt; 00 - AGA Wiki Operations Manual.md; vault archive; guided branches 1 and 2. Snapshot reflects supplied vault archive. Gem routing per manual §5: G1 (M1 source map); G2/G3/G4 (M1 schema); G5 (M2 spine, M3 anchors, M6 syntheses); G6 (M4 leaf clusters); G8 (M5 budget); G7 (lint, M7).</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master prompt; 00 - AGA Wiki Operations Manual.md; vault archive; guided branches 1 and 2. Snapshot reflects supplied vault archive.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990534" y="838068"/>
            <a:ext cx="7122700"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 · Obsidian vault</a:t>
            </a:r>
            <a:endParaRPr lang="en-US" sz="1950" dirty="0"/>
          </a:p>
        </p:txBody>
      </p:sp>
      <p:sp>
        <p:nvSpPr>
          <p:cNvPr id="3" name="Text 1"/>
          <p:cNvSpPr/>
          <p:nvPr/>
        </p:nvSpPr>
        <p:spPr>
          <a:xfrm>
            <a:off x="17035364" y="838068"/>
            <a:ext cx="338303"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01</a:t>
            </a:r>
            <a:endParaRPr lang="en-US" sz="1950" dirty="0"/>
          </a:p>
        </p:txBody>
      </p:sp>
      <p:sp>
        <p:nvSpPr>
          <p:cNvPr id="4" name="Text 2"/>
          <p:cNvSpPr/>
          <p:nvPr/>
        </p:nvSpPr>
        <p:spPr>
          <a:xfrm>
            <a:off x="990534" y="3497296"/>
            <a:ext cx="17937626" cy="429683"/>
          </a:xfrm>
          <a:prstGeom prst="rect">
            <a:avLst/>
          </a:prstGeom>
          <a:noFill/>
          <a:ln/>
        </p:spPr>
        <p:txBody>
          <a:bodyPr wrap="square" lIns="25400" tIns="25400" rIns="25400" bIns="25400" rtlCol="0" anchor="t">
            <a:normAutofit/>
          </a:bodyPr>
          <a:lstStyle/>
          <a:p>
            <a:pPr marL="0" indent="0" algn="l">
              <a:buNone/>
            </a:pPr>
            <a:r>
              <a:rPr lang="en-US" sz="2250" kern="0" spc="45" dirty="0">
                <a:solidFill>
                  <a:srgbClr val="5C4FB3"/>
                </a:solidFill>
                <a:latin typeface="Georgia" pitchFamily="34" charset="0"/>
                <a:ea typeface="Georgia" pitchFamily="34" charset="-122"/>
                <a:cs typeface="Georgia" pitchFamily="34" charset="-120"/>
              </a:rPr>
              <a:t>Presentation wireframe</a:t>
            </a:r>
            <a:endParaRPr lang="en-US" sz="2250" dirty="0"/>
          </a:p>
        </p:txBody>
      </p:sp>
      <p:sp>
        <p:nvSpPr>
          <p:cNvPr id="5" name="Text 3"/>
          <p:cNvSpPr/>
          <p:nvPr/>
        </p:nvSpPr>
        <p:spPr>
          <a:xfrm>
            <a:off x="990534" y="4155447"/>
            <a:ext cx="17937626" cy="918005"/>
          </a:xfrm>
          <a:prstGeom prst="rect">
            <a:avLst/>
          </a:prstGeom>
          <a:noFill/>
          <a:ln/>
        </p:spPr>
        <p:txBody>
          <a:bodyPr wrap="square" lIns="25400" tIns="25400" rIns="25400" bIns="25400" rtlCol="0" anchor="t">
            <a:normAutofit fontScale="55000" lnSpcReduction="20000"/>
          </a:bodyPr>
          <a:lstStyle/>
          <a:p>
            <a:pPr marL="0" indent="0" algn="l">
              <a:lnSpc>
                <a:spcPct val="96698"/>
              </a:lnSpc>
              <a:buNone/>
            </a:pPr>
            <a:r>
              <a:rPr lang="en-US" sz="6300" kern="0" spc="-63" dirty="0">
                <a:solidFill>
                  <a:srgbClr val="1F1E1C"/>
                </a:solidFill>
                <a:latin typeface="Georgia" panose="02040502050405020303" pitchFamily="18" charset="0"/>
                <a:ea typeface="Georgia" pitchFamily="34" charset="-122"/>
                <a:cs typeface="Georgia" pitchFamily="34" charset="-120"/>
              </a:rPr>
              <a:t>AGA Wiki: </a:t>
            </a:r>
            <a:r>
              <a:rPr lang="hu-HU" sz="6300" kern="0" spc="-63" dirty="0">
                <a:solidFill>
                  <a:srgbClr val="1F1E1C"/>
                </a:solidFill>
                <a:latin typeface="Georgia" panose="02040502050405020303" pitchFamily="18" charset="0"/>
                <a:ea typeface="Georgia" pitchFamily="34" charset="-122"/>
                <a:cs typeface="Georgia" pitchFamily="34" charset="-120"/>
              </a:rPr>
              <a:t>O</a:t>
            </a:r>
            <a:r>
              <a:rPr lang="en-US" sz="6300" kern="0" spc="-63" dirty="0" err="1">
                <a:solidFill>
                  <a:srgbClr val="1F1E1C"/>
                </a:solidFill>
                <a:latin typeface="Georgia" panose="02040502050405020303" pitchFamily="18" charset="0"/>
                <a:ea typeface="Georgia" pitchFamily="34" charset="-122"/>
                <a:cs typeface="Georgia" pitchFamily="34" charset="-120"/>
              </a:rPr>
              <a:t>ntology</a:t>
            </a:r>
            <a:r>
              <a:rPr lang="en-US" sz="6300" kern="0" spc="-63" dirty="0">
                <a:solidFill>
                  <a:srgbClr val="1F1E1C"/>
                </a:solidFill>
                <a:latin typeface="Georgia" panose="02040502050405020303" pitchFamily="18" charset="0"/>
                <a:ea typeface="Georgia" pitchFamily="34" charset="-122"/>
                <a:cs typeface="Georgia" pitchFamily="34" charset="-120"/>
              </a:rPr>
              <a:t> </a:t>
            </a:r>
            <a:r>
              <a:rPr lang="hu-HU" sz="6300" kern="0" spc="-63" dirty="0">
                <a:solidFill>
                  <a:srgbClr val="1F1E1C"/>
                </a:solidFill>
                <a:latin typeface="Georgia" panose="02040502050405020303" pitchFamily="18" charset="0"/>
                <a:ea typeface="Georgia" pitchFamily="34" charset="-122"/>
                <a:cs typeface="Georgia" pitchFamily="34" charset="-120"/>
              </a:rPr>
              <a:t>G</a:t>
            </a:r>
            <a:r>
              <a:rPr lang="en-US" sz="6300" kern="0" spc="-63" dirty="0" err="1">
                <a:solidFill>
                  <a:srgbClr val="1F1E1C"/>
                </a:solidFill>
                <a:latin typeface="Georgia" panose="02040502050405020303" pitchFamily="18" charset="0"/>
                <a:ea typeface="Georgia" pitchFamily="34" charset="-122"/>
                <a:cs typeface="Georgia" pitchFamily="34" charset="-120"/>
              </a:rPr>
              <a:t>overned</a:t>
            </a:r>
            <a:r>
              <a:rPr lang="en-US" sz="6300" kern="0" spc="-63" dirty="0">
                <a:solidFill>
                  <a:srgbClr val="1F1E1C"/>
                </a:solidFill>
                <a:latin typeface="Georgia" panose="02040502050405020303" pitchFamily="18" charset="0"/>
                <a:ea typeface="Georgia" pitchFamily="34" charset="-122"/>
                <a:cs typeface="Georgia" pitchFamily="34" charset="-120"/>
              </a:rPr>
              <a:t> </a:t>
            </a:r>
            <a:r>
              <a:rPr lang="hu-HU" sz="6300" kern="0" spc="-63" dirty="0">
                <a:solidFill>
                  <a:srgbClr val="1F1E1C"/>
                </a:solidFill>
                <a:latin typeface="Georgia" panose="02040502050405020303" pitchFamily="18" charset="0"/>
                <a:ea typeface="Georgia" pitchFamily="34" charset="-122"/>
                <a:cs typeface="Georgia" pitchFamily="34" charset="-120"/>
              </a:rPr>
              <a:t>W</a:t>
            </a:r>
            <a:r>
              <a:rPr lang="en-US" sz="6300" kern="0" spc="-63" dirty="0" err="1">
                <a:solidFill>
                  <a:srgbClr val="1F1E1C"/>
                </a:solidFill>
                <a:latin typeface="Georgia" panose="02040502050405020303" pitchFamily="18" charset="0"/>
                <a:ea typeface="Georgia" pitchFamily="34" charset="-122"/>
                <a:cs typeface="Georgia" pitchFamily="34" charset="-120"/>
              </a:rPr>
              <a:t>orkflow</a:t>
            </a:r>
            <a:r>
              <a:rPr lang="hu-HU" sz="6300" kern="0" spc="-63" dirty="0">
                <a:solidFill>
                  <a:srgbClr val="1F1E1C"/>
                </a:solidFill>
                <a:latin typeface="Georgia" panose="02040502050405020303" pitchFamily="18" charset="0"/>
                <a:ea typeface="Georgia" pitchFamily="34" charset="-122"/>
                <a:cs typeface="Georgia" pitchFamily="34" charset="-120"/>
              </a:rPr>
              <a:t>s and</a:t>
            </a:r>
          </a:p>
          <a:p>
            <a:pPr marL="0" indent="0" algn="l">
              <a:lnSpc>
                <a:spcPct val="96698"/>
              </a:lnSpc>
              <a:buNone/>
            </a:pPr>
            <a:r>
              <a:rPr lang="hu-HU" sz="6300" dirty="0" err="1">
                <a:latin typeface="Georgia" panose="02040502050405020303" pitchFamily="18" charset="0"/>
              </a:rPr>
              <a:t>Spec</a:t>
            </a:r>
            <a:r>
              <a:rPr lang="hu-HU" sz="6300" dirty="0">
                <a:latin typeface="Georgia" panose="02040502050405020303" pitchFamily="18" charset="0"/>
              </a:rPr>
              <a:t> </a:t>
            </a:r>
            <a:r>
              <a:rPr lang="hu-HU" sz="6300" dirty="0" err="1">
                <a:latin typeface="Georgia" panose="02040502050405020303" pitchFamily="18" charset="0"/>
              </a:rPr>
              <a:t>Driven</a:t>
            </a:r>
            <a:r>
              <a:rPr lang="hu-HU" sz="6300" dirty="0">
                <a:latin typeface="Georgia" panose="02040502050405020303" pitchFamily="18" charset="0"/>
              </a:rPr>
              <a:t> </a:t>
            </a:r>
            <a:r>
              <a:rPr lang="hu-HU" sz="6300" dirty="0" err="1">
                <a:latin typeface="Georgia" panose="02040502050405020303" pitchFamily="18" charset="0"/>
              </a:rPr>
              <a:t>Development</a:t>
            </a:r>
            <a:r>
              <a:rPr lang="hu-HU" sz="6300" dirty="0">
                <a:latin typeface="Georgia" panose="02040502050405020303" pitchFamily="18" charset="0"/>
              </a:rPr>
              <a:t>.</a:t>
            </a:r>
            <a:endParaRPr lang="en-US" sz="6300" dirty="0">
              <a:latin typeface="Georgia" panose="02040502050405020303" pitchFamily="18" charset="0"/>
            </a:endParaRPr>
          </a:p>
        </p:txBody>
      </p:sp>
      <p:sp>
        <p:nvSpPr>
          <p:cNvPr id="6" name="Text 4"/>
          <p:cNvSpPr/>
          <p:nvPr/>
        </p:nvSpPr>
        <p:spPr>
          <a:xfrm>
            <a:off x="990534" y="5301919"/>
            <a:ext cx="17937626" cy="556683"/>
          </a:xfrm>
          <a:prstGeom prst="rect">
            <a:avLst/>
          </a:prstGeom>
          <a:noFill/>
          <a:ln/>
        </p:spPr>
        <p:txBody>
          <a:bodyPr wrap="square" lIns="25400" tIns="25400" rIns="25400" bIns="25400" rtlCol="0" anchor="t">
            <a:normAutofit/>
          </a:bodyPr>
          <a:lstStyle/>
          <a:p>
            <a:pPr marL="0" indent="0" algn="l">
              <a:buNone/>
            </a:pPr>
            <a:r>
              <a:rPr lang="hu-HU" sz="3000" dirty="0">
                <a:solidFill>
                  <a:srgbClr val="3D3B37"/>
                </a:solidFill>
                <a:latin typeface="Georgia" pitchFamily="34" charset="0"/>
                <a:ea typeface="Georgia" pitchFamily="34" charset="-122"/>
                <a:cs typeface="Georgia" pitchFamily="34" charset="-120"/>
              </a:rPr>
              <a:t>G</a:t>
            </a:r>
            <a:r>
              <a:rPr lang="en-US" sz="3000" dirty="0" err="1">
                <a:solidFill>
                  <a:srgbClr val="3D3B37"/>
                </a:solidFill>
                <a:latin typeface="Georgia" pitchFamily="34" charset="0"/>
                <a:ea typeface="Georgia" pitchFamily="34" charset="-122"/>
                <a:cs typeface="Georgia" pitchFamily="34" charset="-120"/>
              </a:rPr>
              <a:t>uided</a:t>
            </a:r>
            <a:r>
              <a:rPr lang="en-US" sz="3000" dirty="0">
                <a:solidFill>
                  <a:srgbClr val="3D3B37"/>
                </a:solidFill>
                <a:latin typeface="Georgia" pitchFamily="34" charset="0"/>
                <a:ea typeface="Georgia" pitchFamily="34" charset="-122"/>
                <a:cs typeface="Georgia" pitchFamily="34" charset="-120"/>
              </a:rPr>
              <a:t> implementation in Obsidian</a:t>
            </a:r>
            <a:endParaRPr lang="en-US" sz="3000" dirty="0"/>
          </a:p>
        </p:txBody>
      </p:sp>
      <p:sp>
        <p:nvSpPr>
          <p:cNvPr id="7" name="Text 5"/>
          <p:cNvSpPr/>
          <p:nvPr/>
        </p:nvSpPr>
        <p:spPr>
          <a:xfrm>
            <a:off x="990534" y="6087070"/>
            <a:ext cx="17937626" cy="461433"/>
          </a:xfrm>
          <a:prstGeom prst="rect">
            <a:avLst/>
          </a:prstGeom>
          <a:noFill/>
          <a:ln/>
        </p:spPr>
        <p:txBody>
          <a:bodyPr wrap="square" lIns="25400" tIns="25400" rIns="25400" bIns="25400" rtlCol="0" anchor="t">
            <a:normAutofit/>
          </a:bodyPr>
          <a:lstStyle/>
          <a:p>
            <a:pPr marL="0" indent="0" algn="l">
              <a:buNone/>
            </a:pPr>
            <a:r>
              <a:rPr lang="en-US" sz="2400" dirty="0">
                <a:solidFill>
                  <a:srgbClr val="6B6964"/>
                </a:solidFill>
                <a:latin typeface="Georgia" pitchFamily="34" charset="0"/>
                <a:ea typeface="Georgia" pitchFamily="34" charset="-122"/>
                <a:cs typeface="Georgia" pitchFamily="34" charset="-120"/>
              </a:rPr>
              <a:t>NotebookLM evidence · specialised Gems · graph checks</a:t>
            </a:r>
            <a:endParaRPr lang="en-US" sz="2400" dirty="0"/>
          </a:p>
        </p:txBody>
      </p:sp>
      <p:sp>
        <p:nvSpPr>
          <p:cNvPr id="8" name="Shape 6"/>
          <p:cNvSpPr/>
          <p:nvPr/>
        </p:nvSpPr>
        <p:spPr>
          <a:xfrm>
            <a:off x="990534" y="8830965"/>
            <a:ext cx="16306933" cy="10583"/>
          </a:xfrm>
          <a:prstGeom prst="rect">
            <a:avLst/>
          </a:prstGeom>
          <a:solidFill>
            <a:srgbClr val="D3D1CA"/>
          </a:solidFill>
          <a:ln/>
        </p:spPr>
      </p:sp>
      <p:sp>
        <p:nvSpPr>
          <p:cNvPr id="9" name="Text 7"/>
          <p:cNvSpPr/>
          <p:nvPr/>
        </p:nvSpPr>
        <p:spPr>
          <a:xfrm>
            <a:off x="990534" y="9089198"/>
            <a:ext cx="16796141" cy="397834"/>
          </a:xfrm>
          <a:prstGeom prst="rect">
            <a:avLst/>
          </a:prstGeom>
          <a:noFill/>
          <a:ln/>
        </p:spPr>
        <p:txBody>
          <a:bodyPr wrap="square" lIns="25400" tIns="25400" rIns="25400" bIns="25400" rtlCol="0" anchor="t">
            <a:normAutofit/>
          </a:bodyPr>
          <a:lstStyle/>
          <a:p>
            <a:pPr marL="0" indent="0" algn="l">
              <a:buNone/>
            </a:pPr>
            <a:r>
              <a:rPr lang="en-US" sz="2100" dirty="0">
                <a:solidFill>
                  <a:srgbClr val="6B6964"/>
                </a:solidFill>
                <a:latin typeface="Georgia" pitchFamily="34" charset="0"/>
                <a:ea typeface="Georgia" pitchFamily="34" charset="-122"/>
                <a:cs typeface="Georgia" pitchFamily="34" charset="-120"/>
              </a:rPr>
              <a:t>Preparatory exercise for a later Claude Code or Codex agentic workflow</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90534" y="685767"/>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685767"/>
            <a:ext cx="338303" cy="376767"/>
          </a:xfrm>
          <a:prstGeom prst="rect">
            <a:avLst/>
          </a:prstGeom>
          <a:noFill/>
          <a:ln/>
        </p:spPr>
        <p:txBody>
          <a:bodyPr wrap="square" lIns="25400" tIns="25400" rIns="25400" bIns="25400" rtlCol="0" anchor="t">
            <a:normAutofit fontScale="92500"/>
          </a:bodyPr>
          <a:lstStyle/>
          <a:p>
            <a:pPr marL="0" indent="0" algn="l">
              <a:buNone/>
            </a:pPr>
            <a:r>
              <a:rPr lang="en-US" sz="1950" dirty="0">
                <a:solidFill>
                  <a:srgbClr val="6B6964"/>
                </a:solidFill>
                <a:latin typeface="Georgia" pitchFamily="34" charset="0"/>
                <a:ea typeface="Georgia" pitchFamily="34" charset="-122"/>
                <a:cs typeface="Georgia" pitchFamily="34" charset="-120"/>
              </a:rPr>
              <a:t>02</a:t>
            </a:r>
            <a:endParaRPr lang="en-US" sz="1950" dirty="0"/>
          </a:p>
        </p:txBody>
      </p:sp>
      <p:sp>
        <p:nvSpPr>
          <p:cNvPr id="4" name="Text 2"/>
          <p:cNvSpPr/>
          <p:nvPr/>
        </p:nvSpPr>
        <p:spPr>
          <a:xfrm>
            <a:off x="990534" y="1252968"/>
            <a:ext cx="17937626" cy="821267"/>
          </a:xfrm>
          <a:prstGeom prst="rect">
            <a:avLst/>
          </a:prstGeom>
          <a:noFill/>
          <a:ln/>
        </p:spPr>
        <p:txBody>
          <a:bodyPr wrap="square" lIns="25400" tIns="25400" rIns="25400" bIns="25400" rtlCol="0" anchor="t">
            <a:normAutofit/>
          </a:bodyPr>
          <a:lstStyle/>
          <a:p>
            <a:pPr marL="0" indent="0" algn="l">
              <a:buNone/>
            </a:pPr>
            <a:r>
              <a:rPr lang="en-US" sz="4500" dirty="0">
                <a:solidFill>
                  <a:srgbClr val="1F1E1C"/>
                </a:solidFill>
                <a:latin typeface="Georgia" pitchFamily="34" charset="0"/>
                <a:ea typeface="Georgia" pitchFamily="34" charset="-122"/>
                <a:cs typeface="Georgia" pitchFamily="34" charset="-120"/>
              </a:rPr>
              <a:t>Ontology governs meaning; specifications govern execution</a:t>
            </a:r>
            <a:endParaRPr lang="en-US" sz="4500" dirty="0"/>
          </a:p>
        </p:txBody>
      </p:sp>
      <p:sp>
        <p:nvSpPr>
          <p:cNvPr id="5" name="Text 3"/>
          <p:cNvSpPr/>
          <p:nvPr/>
        </p:nvSpPr>
        <p:spPr>
          <a:xfrm>
            <a:off x="990534" y="2264668"/>
            <a:ext cx="17937626" cy="429683"/>
          </a:xfrm>
          <a:prstGeom prst="rect">
            <a:avLst/>
          </a:prstGeom>
          <a:noFill/>
          <a:ln/>
        </p:spPr>
        <p:txBody>
          <a:bodyPr wrap="square" lIns="25400" tIns="25400" rIns="25400" bIns="25400" rtlCol="0" anchor="t">
            <a:normAutofit/>
          </a:bodyPr>
          <a:lstStyle/>
          <a:p>
            <a:pPr marL="0" indent="0" algn="l">
              <a:buNone/>
            </a:pPr>
            <a:r>
              <a:rPr lang="en-US" sz="2250" dirty="0">
                <a:solidFill>
                  <a:srgbClr val="6B6964"/>
                </a:solidFill>
                <a:latin typeface="Georgia" pitchFamily="34" charset="0"/>
                <a:ea typeface="Georgia" pitchFamily="34" charset="-122"/>
                <a:cs typeface="Georgia" pitchFamily="34" charset="-120"/>
              </a:rPr>
              <a:t>Two complementary inputs feed every LLM task.</a:t>
            </a:r>
            <a:endParaRPr lang="en-US" sz="22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0534" y="2884785"/>
            <a:ext cx="16306767" cy="5334000"/>
          </a:xfrm>
          <a:prstGeom prst="rect">
            <a:avLst/>
          </a:prstGeom>
        </p:spPr>
      </p:pic>
      <p:sp>
        <p:nvSpPr>
          <p:cNvPr id="7" name="Shape 4"/>
          <p:cNvSpPr/>
          <p:nvPr/>
        </p:nvSpPr>
        <p:spPr>
          <a:xfrm>
            <a:off x="990534" y="3265785"/>
            <a:ext cx="4191000" cy="1714500"/>
          </a:xfrm>
          <a:prstGeom prst="roundRect">
            <a:avLst>
              <a:gd name="adj" fmla="val 6667"/>
            </a:avLst>
          </a:prstGeom>
          <a:solidFill>
            <a:srgbClr val="ECE8FB"/>
          </a:solidFill>
          <a:ln w="10583">
            <a:solidFill>
              <a:srgbClr val="7B6CD9"/>
            </a:solidFill>
            <a:prstDash val="solid"/>
          </a:ln>
        </p:spPr>
      </p:sp>
      <p:sp>
        <p:nvSpPr>
          <p:cNvPr id="8" name="Text 5"/>
          <p:cNvSpPr/>
          <p:nvPr/>
        </p:nvSpPr>
        <p:spPr>
          <a:xfrm>
            <a:off x="1229651" y="3612720"/>
            <a:ext cx="4084042" cy="388508"/>
          </a:xfrm>
          <a:prstGeom prst="rect">
            <a:avLst/>
          </a:prstGeom>
          <a:noFill/>
          <a:ln/>
        </p:spPr>
        <p:txBody>
          <a:bodyPr wrap="square" lIns="25400" tIns="25400" rIns="25400" bIns="25400" rtlCol="0" anchor="t">
            <a:normAutofit fontScale="92500"/>
          </a:bodyPr>
          <a:lstStyle/>
          <a:p>
            <a:pPr marL="0" indent="0" algn="l">
              <a:lnSpc>
                <a:spcPct val="103500"/>
              </a:lnSpc>
              <a:buNone/>
            </a:pPr>
            <a:r>
              <a:rPr lang="en-US" sz="2400" dirty="0">
                <a:solidFill>
                  <a:srgbClr val="3B2D8A"/>
                </a:solidFill>
                <a:latin typeface="Georgia" pitchFamily="34" charset="0"/>
                <a:ea typeface="Georgia" pitchFamily="34" charset="-122"/>
                <a:cs typeface="Georgia" pitchFamily="34" charset="-120"/>
              </a:rPr>
              <a:t>Ontology </a:t>
            </a:r>
            <a:r>
              <a:rPr lang="en-US" sz="1650" dirty="0">
                <a:solidFill>
                  <a:srgbClr val="6B6964"/>
                </a:solidFill>
                <a:latin typeface="Georgia" pitchFamily="34" charset="0"/>
                <a:ea typeface="Georgia" pitchFamily="34" charset="-122"/>
                <a:cs typeface="Georgia" pitchFamily="34" charset="-120"/>
              </a:rPr>
              <a:t>governing model</a:t>
            </a:r>
            <a:endParaRPr lang="en-US" sz="2400" dirty="0"/>
          </a:p>
        </p:txBody>
      </p:sp>
      <p:sp>
        <p:nvSpPr>
          <p:cNvPr id="9" name="Text 6"/>
          <p:cNvSpPr/>
          <p:nvPr/>
        </p:nvSpPr>
        <p:spPr>
          <a:xfrm>
            <a:off x="1229651" y="4039196"/>
            <a:ext cx="3824149" cy="632090"/>
          </a:xfrm>
          <a:prstGeom prst="rect">
            <a:avLst/>
          </a:prstGeom>
          <a:noFill/>
          <a:ln/>
        </p:spPr>
        <p:txBody>
          <a:bodyPr wrap="square" lIns="25400" tIns="25400" rIns="25400" bIns="25400" rtlCol="0" anchor="t">
            <a:normAutofit lnSpcReduction="10000"/>
          </a:bodyPr>
          <a:lstStyle/>
          <a:p>
            <a:pPr marL="0" indent="0" algn="l">
              <a:lnSpc>
                <a:spcPct val="112320"/>
              </a:lnSpc>
              <a:buNone/>
            </a:pPr>
            <a:r>
              <a:rPr lang="en-US" sz="1800" dirty="0">
                <a:solidFill>
                  <a:srgbClr val="5C4FB3"/>
                </a:solidFill>
                <a:latin typeface="Georgia" pitchFamily="34" charset="0"/>
                <a:ea typeface="Georgia" pitchFamily="34" charset="-122"/>
                <a:cs typeface="Georgia" pitchFamily="34" charset="-120"/>
              </a:rPr>
              <a:t>node types · shared concepts · permitted relationships</a:t>
            </a:r>
            <a:endParaRPr lang="en-US" sz="1800" dirty="0"/>
          </a:p>
        </p:txBody>
      </p:sp>
      <p:sp>
        <p:nvSpPr>
          <p:cNvPr id="10" name="Shape 7"/>
          <p:cNvSpPr/>
          <p:nvPr/>
        </p:nvSpPr>
        <p:spPr>
          <a:xfrm>
            <a:off x="990534" y="5742286"/>
            <a:ext cx="4191000" cy="1905000"/>
          </a:xfrm>
          <a:prstGeom prst="roundRect">
            <a:avLst>
              <a:gd name="adj" fmla="val 6000"/>
            </a:avLst>
          </a:prstGeom>
          <a:solidFill>
            <a:srgbClr val="FFFFFF"/>
          </a:solidFill>
          <a:ln w="10583">
            <a:solidFill>
              <a:srgbClr val="CFCDC6"/>
            </a:solidFill>
            <a:prstDash val="solid"/>
          </a:ln>
        </p:spPr>
      </p:sp>
      <p:sp>
        <p:nvSpPr>
          <p:cNvPr id="11" name="Text 8"/>
          <p:cNvSpPr/>
          <p:nvPr/>
        </p:nvSpPr>
        <p:spPr>
          <a:xfrm>
            <a:off x="1229651" y="6035973"/>
            <a:ext cx="4084042" cy="388508"/>
          </a:xfrm>
          <a:prstGeom prst="rect">
            <a:avLst/>
          </a:prstGeom>
          <a:noFill/>
          <a:ln/>
        </p:spPr>
        <p:txBody>
          <a:bodyPr wrap="square" lIns="25400" tIns="25400" rIns="25400" bIns="25400" rtlCol="0" anchor="t">
            <a:normAutofit fontScale="92500"/>
          </a:bodyPr>
          <a:lstStyle/>
          <a:p>
            <a:pPr marL="0" indent="0" algn="l">
              <a:lnSpc>
                <a:spcPct val="103500"/>
              </a:lnSpc>
              <a:buNone/>
            </a:pPr>
            <a:r>
              <a:rPr lang="en-US" sz="2400" dirty="0">
                <a:solidFill>
                  <a:srgbClr val="1F1E1C"/>
                </a:solidFill>
                <a:latin typeface="Georgia" pitchFamily="34" charset="0"/>
                <a:ea typeface="Georgia" pitchFamily="34" charset="-122"/>
                <a:cs typeface="Georgia" pitchFamily="34" charset="-120"/>
              </a:rPr>
              <a:t>Specifications</a:t>
            </a:r>
            <a:endParaRPr lang="en-US" sz="2400" dirty="0"/>
          </a:p>
        </p:txBody>
      </p:sp>
      <p:sp>
        <p:nvSpPr>
          <p:cNvPr id="12" name="Text 9"/>
          <p:cNvSpPr/>
          <p:nvPr/>
        </p:nvSpPr>
        <p:spPr>
          <a:xfrm>
            <a:off x="1229651" y="6462448"/>
            <a:ext cx="3824149" cy="929084"/>
          </a:xfrm>
          <a:prstGeom prst="rect">
            <a:avLst/>
          </a:prstGeom>
          <a:noFill/>
          <a:ln/>
        </p:spPr>
        <p:txBody>
          <a:bodyPr wrap="square" lIns="25400" tIns="25400" rIns="25400" bIns="25400" rtlCol="0" anchor="t">
            <a:normAutofit/>
          </a:bodyPr>
          <a:lstStyle/>
          <a:p>
            <a:pPr marL="0" indent="0" algn="l">
              <a:lnSpc>
                <a:spcPct val="112320"/>
              </a:lnSpc>
              <a:buNone/>
            </a:pPr>
            <a:r>
              <a:rPr lang="en-US" sz="1800" dirty="0">
                <a:solidFill>
                  <a:srgbClr val="6B6964"/>
                </a:solidFill>
                <a:latin typeface="Georgia" pitchFamily="34" charset="0"/>
                <a:ea typeface="Georgia" pitchFamily="34" charset="-122"/>
                <a:cs typeface="Georgia" pitchFamily="34" charset="-120"/>
              </a:rPr>
              <a:t>required inputs · bounded scope · output format · acceptance criteria</a:t>
            </a:r>
            <a:endParaRPr lang="en-US" sz="1800" dirty="0"/>
          </a:p>
        </p:txBody>
      </p:sp>
      <p:sp>
        <p:nvSpPr>
          <p:cNvPr id="13" name="Shape 10"/>
          <p:cNvSpPr/>
          <p:nvPr/>
        </p:nvSpPr>
        <p:spPr>
          <a:xfrm>
            <a:off x="5943534" y="4599285"/>
            <a:ext cx="3143250" cy="1619250"/>
          </a:xfrm>
          <a:prstGeom prst="roundRect">
            <a:avLst>
              <a:gd name="adj" fmla="val 7059"/>
            </a:avLst>
          </a:prstGeom>
          <a:solidFill>
            <a:srgbClr val="FFFFFF"/>
          </a:solidFill>
          <a:ln w="10583">
            <a:solidFill>
              <a:srgbClr val="CFCDC6"/>
            </a:solidFill>
            <a:prstDash val="solid"/>
          </a:ln>
        </p:spPr>
      </p:sp>
      <p:sp>
        <p:nvSpPr>
          <p:cNvPr id="14" name="Text 11"/>
          <p:cNvSpPr/>
          <p:nvPr/>
        </p:nvSpPr>
        <p:spPr>
          <a:xfrm>
            <a:off x="6182651" y="5020469"/>
            <a:ext cx="2744966" cy="738915"/>
          </a:xfrm>
          <a:prstGeom prst="rect">
            <a:avLst/>
          </a:prstGeom>
          <a:noFill/>
          <a:ln/>
        </p:spPr>
        <p:txBody>
          <a:bodyPr wrap="square" lIns="25400" tIns="25400" rIns="25400" bIns="25400" rtlCol="0" anchor="t">
            <a:normAutofit/>
          </a:bodyPr>
          <a:lstStyle/>
          <a:p>
            <a:pPr marL="0" indent="0" algn="l">
              <a:lnSpc>
                <a:spcPct val="103500"/>
              </a:lnSpc>
              <a:buNone/>
            </a:pPr>
            <a:r>
              <a:rPr lang="en-US" sz="2400" dirty="0">
                <a:solidFill>
                  <a:srgbClr val="1F1E1C"/>
                </a:solidFill>
                <a:latin typeface="Georgia" pitchFamily="34" charset="0"/>
                <a:ea typeface="Georgia" pitchFamily="34" charset="-122"/>
                <a:cs typeface="Georgia" pitchFamily="34" charset="-120"/>
              </a:rPr>
              <a:t>LLM executes ticket</a:t>
            </a:r>
            <a:endParaRPr lang="en-US" sz="2400" dirty="0"/>
          </a:p>
        </p:txBody>
      </p:sp>
      <p:sp>
        <p:nvSpPr>
          <p:cNvPr id="15" name="Shape 12"/>
          <p:cNvSpPr/>
          <p:nvPr/>
        </p:nvSpPr>
        <p:spPr>
          <a:xfrm>
            <a:off x="10039285" y="4599285"/>
            <a:ext cx="2857500" cy="1619250"/>
          </a:xfrm>
          <a:prstGeom prst="roundRect">
            <a:avLst>
              <a:gd name="adj" fmla="val 7059"/>
            </a:avLst>
          </a:prstGeom>
          <a:solidFill>
            <a:srgbClr val="FFFFFF"/>
          </a:solidFill>
          <a:ln w="10583">
            <a:solidFill>
              <a:srgbClr val="CFCDC6"/>
            </a:solidFill>
            <a:prstDash val="solid"/>
          </a:ln>
        </p:spPr>
      </p:sp>
      <p:sp>
        <p:nvSpPr>
          <p:cNvPr id="16" name="Text 13"/>
          <p:cNvSpPr/>
          <p:nvPr/>
        </p:nvSpPr>
        <p:spPr>
          <a:xfrm>
            <a:off x="10278402" y="5195590"/>
            <a:ext cx="2617192" cy="388508"/>
          </a:xfrm>
          <a:prstGeom prst="rect">
            <a:avLst/>
          </a:prstGeom>
          <a:noFill/>
          <a:ln/>
        </p:spPr>
        <p:txBody>
          <a:bodyPr wrap="square" lIns="25400" tIns="25400" rIns="25400" bIns="25400" rtlCol="0" anchor="t">
            <a:normAutofit fontScale="92500"/>
          </a:bodyPr>
          <a:lstStyle/>
          <a:p>
            <a:pPr marL="0" indent="0" algn="l">
              <a:lnSpc>
                <a:spcPct val="103500"/>
              </a:lnSpc>
              <a:buNone/>
            </a:pPr>
            <a:r>
              <a:rPr lang="en-US" sz="2400" dirty="0">
                <a:solidFill>
                  <a:srgbClr val="1F1E1C"/>
                </a:solidFill>
                <a:latin typeface="Georgia" pitchFamily="34" charset="0"/>
                <a:ea typeface="Georgia" pitchFamily="34" charset="-122"/>
                <a:cs typeface="Georgia" pitchFamily="34" charset="-120"/>
              </a:rPr>
              <a:t>Validate</a:t>
            </a:r>
            <a:endParaRPr lang="en-US" sz="2400" dirty="0"/>
          </a:p>
        </p:txBody>
      </p:sp>
      <p:sp>
        <p:nvSpPr>
          <p:cNvPr id="17" name="Shape 14"/>
          <p:cNvSpPr/>
          <p:nvPr/>
        </p:nvSpPr>
        <p:spPr>
          <a:xfrm>
            <a:off x="13849285" y="4599285"/>
            <a:ext cx="3448017" cy="1619250"/>
          </a:xfrm>
          <a:prstGeom prst="roundRect">
            <a:avLst>
              <a:gd name="adj" fmla="val 7059"/>
            </a:avLst>
          </a:prstGeom>
          <a:solidFill>
            <a:srgbClr val="FBEEE6"/>
          </a:solidFill>
          <a:ln w="10583">
            <a:solidFill>
              <a:srgbClr val="C0623A"/>
            </a:solidFill>
            <a:prstDash val="solid"/>
          </a:ln>
        </p:spPr>
      </p:sp>
      <p:sp>
        <p:nvSpPr>
          <p:cNvPr id="18" name="Text 15"/>
          <p:cNvSpPr/>
          <p:nvPr/>
        </p:nvSpPr>
        <p:spPr>
          <a:xfrm>
            <a:off x="14088402" y="5195590"/>
            <a:ext cx="3266761" cy="388508"/>
          </a:xfrm>
          <a:prstGeom prst="rect">
            <a:avLst/>
          </a:prstGeom>
          <a:noFill/>
          <a:ln/>
        </p:spPr>
        <p:txBody>
          <a:bodyPr wrap="square" lIns="25400" tIns="25400" rIns="25400" bIns="25400" rtlCol="0" anchor="t">
            <a:normAutofit fontScale="92500"/>
          </a:bodyPr>
          <a:lstStyle/>
          <a:p>
            <a:pPr marL="0" indent="0" algn="l">
              <a:lnSpc>
                <a:spcPct val="103500"/>
              </a:lnSpc>
              <a:buNone/>
            </a:pPr>
            <a:r>
              <a:rPr lang="en-US" sz="2400" dirty="0">
                <a:solidFill>
                  <a:srgbClr val="8F3F1C"/>
                </a:solidFill>
                <a:latin typeface="Georgia" pitchFamily="34" charset="0"/>
                <a:ea typeface="Georgia" pitchFamily="34" charset="-122"/>
                <a:cs typeface="Georgia" pitchFamily="34" charset="-120"/>
              </a:rPr>
              <a:t>Accept or revise</a:t>
            </a:r>
            <a:endParaRPr lang="en-US" sz="2400" dirty="0"/>
          </a:p>
        </p:txBody>
      </p:sp>
      <p:sp>
        <p:nvSpPr>
          <p:cNvPr id="19" name="Text 16"/>
          <p:cNvSpPr/>
          <p:nvPr/>
        </p:nvSpPr>
        <p:spPr>
          <a:xfrm>
            <a:off x="7658034" y="6790036"/>
            <a:ext cx="8591551" cy="312274"/>
          </a:xfrm>
          <a:prstGeom prst="rect">
            <a:avLst/>
          </a:prstGeom>
          <a:noFill/>
          <a:ln/>
        </p:spPr>
        <p:txBody>
          <a:bodyPr wrap="square" lIns="25400" tIns="25400" rIns="25400" bIns="25400" rtlCol="0" anchor="t">
            <a:normAutofit lnSpcReduction="10000"/>
          </a:bodyPr>
          <a:lstStyle/>
          <a:p>
            <a:pPr marL="0" indent="0" algn="l">
              <a:lnSpc>
                <a:spcPct val="103680"/>
              </a:lnSpc>
              <a:buNone/>
            </a:pPr>
            <a:r>
              <a:rPr lang="en-US" sz="1800" dirty="0">
                <a:solidFill>
                  <a:srgbClr val="A67C0A"/>
                </a:solidFill>
                <a:latin typeface="Georgia" pitchFamily="34" charset="0"/>
                <a:ea typeface="Georgia" pitchFamily="34" charset="-122"/>
                <a:cs typeface="Georgia" pitchFamily="34" charset="-120"/>
              </a:rPr>
              <a:t>revise</a:t>
            </a:r>
            <a:endParaRPr lang="en-US" sz="1800" dirty="0"/>
          </a:p>
        </p:txBody>
      </p:sp>
      <p:sp>
        <p:nvSpPr>
          <p:cNvPr id="20" name="Text 17"/>
          <p:cNvSpPr/>
          <p:nvPr/>
        </p:nvSpPr>
        <p:spPr>
          <a:xfrm>
            <a:off x="5943534" y="7462077"/>
            <a:ext cx="1321875" cy="334433"/>
          </a:xfrm>
          <a:prstGeom prst="rect">
            <a:avLst/>
          </a:prstGeom>
          <a:noFill/>
          <a:ln/>
        </p:spPr>
        <p:txBody>
          <a:bodyPr wrap="none" lIns="25400" tIns="25400" rIns="25400" bIns="25400" rtlCol="0" anchor="t">
            <a:normAutofit/>
          </a:bodyPr>
          <a:lstStyle/>
          <a:p>
            <a:pPr marL="0" indent="0" algn="l">
              <a:buNone/>
            </a:pPr>
            <a:r>
              <a:rPr lang="en-US" sz="1650" kern="0" spc="198" dirty="0">
                <a:solidFill>
                  <a:srgbClr val="6B6964"/>
                </a:solidFill>
                <a:latin typeface="Georgia" pitchFamily="34" charset="0"/>
                <a:ea typeface="Georgia" pitchFamily="34" charset="-122"/>
                <a:cs typeface="Georgia" pitchFamily="34" charset="-120"/>
              </a:rPr>
              <a:t>AGA WIKI</a:t>
            </a:r>
            <a:endParaRPr lang="en-US" sz="1650" dirty="0"/>
          </a:p>
        </p:txBody>
      </p:sp>
      <p:sp>
        <p:nvSpPr>
          <p:cNvPr id="21" name="Text 18"/>
          <p:cNvSpPr/>
          <p:nvPr/>
        </p:nvSpPr>
        <p:spPr>
          <a:xfrm>
            <a:off x="7278523" y="7472661"/>
            <a:ext cx="1935427" cy="313267"/>
          </a:xfrm>
          <a:prstGeom prst="rect">
            <a:avLst/>
          </a:prstGeom>
          <a:noFill/>
          <a:ln/>
        </p:spPr>
        <p:txBody>
          <a:bodyPr wrap="none" lIns="25400" tIns="25400" rIns="25400" bIns="25400" rtlCol="0" anchor="t">
            <a:normAutofit/>
          </a:bodyPr>
          <a:lstStyle/>
          <a:p>
            <a:pPr marL="0" indent="0" algn="l">
              <a:buNone/>
            </a:pPr>
            <a:r>
              <a:rPr lang="en-US" sz="1650" dirty="0">
                <a:solidFill>
                  <a:srgbClr val="3D3B37"/>
                </a:solidFill>
                <a:latin typeface="Courier New" pitchFamily="34" charset="0"/>
                <a:ea typeface="Courier New" pitchFamily="34" charset="-122"/>
                <a:cs typeface="Courier New" pitchFamily="34" charset="-120"/>
              </a:rPr>
              <a:t>WIKI_SCHEMA.md</a:t>
            </a:r>
            <a:endParaRPr lang="en-US" sz="1650" dirty="0"/>
          </a:p>
        </p:txBody>
      </p:sp>
      <p:sp>
        <p:nvSpPr>
          <p:cNvPr id="22" name="Text 19"/>
          <p:cNvSpPr/>
          <p:nvPr/>
        </p:nvSpPr>
        <p:spPr>
          <a:xfrm>
            <a:off x="9171286" y="7456786"/>
            <a:ext cx="861186" cy="345017"/>
          </a:xfrm>
          <a:prstGeom prst="rect">
            <a:avLst/>
          </a:prstGeom>
          <a:noFill/>
          <a:ln/>
        </p:spPr>
        <p:txBody>
          <a:bodyPr wrap="non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 ticket</a:t>
            </a:r>
            <a:endParaRPr lang="en-US" sz="1800" dirty="0"/>
          </a:p>
        </p:txBody>
      </p:sp>
      <p:sp>
        <p:nvSpPr>
          <p:cNvPr id="23" name="Text 20"/>
          <p:cNvSpPr/>
          <p:nvPr/>
        </p:nvSpPr>
        <p:spPr>
          <a:xfrm>
            <a:off x="10089555" y="7456786"/>
            <a:ext cx="304734" cy="345017"/>
          </a:xfrm>
          <a:prstGeom prst="rect">
            <a:avLst/>
          </a:prstGeom>
          <a:noFill/>
          <a:ln/>
        </p:spPr>
        <p:txBody>
          <a:bodyPr wrap="none" lIns="25400" tIns="25400" rIns="25400" bIns="25400" rtlCol="0" anchor="t">
            <a:normAutofit/>
          </a:bodyPr>
          <a:lstStyle/>
          <a:p>
            <a:pPr marL="0" indent="0" algn="l">
              <a:buNone/>
            </a:pPr>
            <a:r>
              <a:rPr lang="en-US" sz="1800" dirty="0">
                <a:solidFill>
                  <a:srgbClr val="5C4FB3"/>
                </a:solidFill>
                <a:latin typeface="Georgia" pitchFamily="34" charset="0"/>
                <a:ea typeface="Georgia" pitchFamily="34" charset="-122"/>
                <a:cs typeface="Georgia" pitchFamily="34" charset="-120"/>
              </a:rPr>
              <a:t>→</a:t>
            </a:r>
            <a:endParaRPr lang="en-US" sz="1800" dirty="0"/>
          </a:p>
        </p:txBody>
      </p:sp>
      <p:sp>
        <p:nvSpPr>
          <p:cNvPr id="24" name="Text 21"/>
          <p:cNvSpPr/>
          <p:nvPr/>
        </p:nvSpPr>
        <p:spPr>
          <a:xfrm>
            <a:off x="10451373" y="7456786"/>
            <a:ext cx="2715601" cy="345017"/>
          </a:xfrm>
          <a:prstGeom prst="rect">
            <a:avLst/>
          </a:prstGeom>
          <a:noFill/>
          <a:ln/>
        </p:spPr>
        <p:txBody>
          <a:bodyPr wrap="non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cited Markdown nodes</a:t>
            </a:r>
            <a:endParaRPr lang="en-US" sz="1800" dirty="0"/>
          </a:p>
        </p:txBody>
      </p:sp>
      <p:sp>
        <p:nvSpPr>
          <p:cNvPr id="25" name="Text 22"/>
          <p:cNvSpPr/>
          <p:nvPr/>
        </p:nvSpPr>
        <p:spPr>
          <a:xfrm>
            <a:off x="13053385" y="7456786"/>
            <a:ext cx="304734" cy="345017"/>
          </a:xfrm>
          <a:prstGeom prst="rect">
            <a:avLst/>
          </a:prstGeom>
          <a:noFill/>
          <a:ln/>
        </p:spPr>
        <p:txBody>
          <a:bodyPr wrap="none" lIns="25400" tIns="25400" rIns="25400" bIns="25400" rtlCol="0" anchor="t">
            <a:normAutofit/>
          </a:bodyPr>
          <a:lstStyle/>
          <a:p>
            <a:pPr marL="0" indent="0" algn="l">
              <a:buNone/>
            </a:pPr>
            <a:r>
              <a:rPr lang="en-US" sz="1800" dirty="0">
                <a:solidFill>
                  <a:srgbClr val="5C4FB3"/>
                </a:solidFill>
                <a:latin typeface="Georgia" pitchFamily="34" charset="0"/>
                <a:ea typeface="Georgia" pitchFamily="34" charset="-122"/>
                <a:cs typeface="Georgia" pitchFamily="34" charset="-120"/>
              </a:rPr>
              <a:t>→</a:t>
            </a:r>
            <a:endParaRPr lang="en-US" sz="1800" dirty="0"/>
          </a:p>
        </p:txBody>
      </p:sp>
      <p:sp>
        <p:nvSpPr>
          <p:cNvPr id="26" name="Text 23"/>
          <p:cNvSpPr/>
          <p:nvPr/>
        </p:nvSpPr>
        <p:spPr>
          <a:xfrm>
            <a:off x="13415202" y="7456786"/>
            <a:ext cx="3281131" cy="345017"/>
          </a:xfrm>
          <a:prstGeom prst="rect">
            <a:avLst/>
          </a:prstGeom>
          <a:noFill/>
          <a:ln/>
        </p:spPr>
        <p:txBody>
          <a:bodyPr wrap="non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schema and citation checks</a:t>
            </a:r>
            <a:endParaRPr lang="en-US" sz="1800" dirty="0"/>
          </a:p>
        </p:txBody>
      </p:sp>
      <p:sp>
        <p:nvSpPr>
          <p:cNvPr id="27" name="Shape 24"/>
          <p:cNvSpPr/>
          <p:nvPr/>
        </p:nvSpPr>
        <p:spPr>
          <a:xfrm>
            <a:off x="990534" y="9173766"/>
            <a:ext cx="16306933" cy="10583"/>
          </a:xfrm>
          <a:prstGeom prst="rect">
            <a:avLst/>
          </a:prstGeom>
          <a:solidFill>
            <a:srgbClr val="D3D1CA"/>
          </a:solidFill>
          <a:ln/>
        </p:spPr>
      </p:sp>
      <p:sp>
        <p:nvSpPr>
          <p:cNvPr id="28" name="Text 25"/>
          <p:cNvSpPr/>
          <p:nvPr/>
        </p:nvSpPr>
        <p:spPr>
          <a:xfrm>
            <a:off x="990534" y="9393866"/>
            <a:ext cx="2733063" cy="397933"/>
          </a:xfrm>
          <a:prstGeom prst="rect">
            <a:avLst/>
          </a:prstGeom>
          <a:noFill/>
          <a:ln/>
        </p:spPr>
        <p:txBody>
          <a:bodyPr wrap="none" lIns="25400" tIns="25400" rIns="25400" bIns="25400" rtlCol="0" anchor="t">
            <a:normAutofit/>
          </a:bodyPr>
          <a:lstStyle/>
          <a:p>
            <a:pPr marL="0" indent="0" algn="l">
              <a:buNone/>
            </a:pPr>
            <a:r>
              <a:rPr lang="en-US" sz="2100" dirty="0">
                <a:solidFill>
                  <a:srgbClr val="3D3B37"/>
                </a:solidFill>
                <a:latin typeface="Georgia" pitchFamily="34" charset="0"/>
                <a:ea typeface="Georgia" pitchFamily="34" charset="-122"/>
                <a:cs typeface="Georgia" pitchFamily="34" charset="-120"/>
              </a:rPr>
              <a:t>consistent meaning</a:t>
            </a:r>
            <a:endParaRPr lang="en-US" sz="2100" dirty="0"/>
          </a:p>
        </p:txBody>
      </p:sp>
      <p:sp>
        <p:nvSpPr>
          <p:cNvPr id="29" name="Text 26"/>
          <p:cNvSpPr/>
          <p:nvPr/>
        </p:nvSpPr>
        <p:spPr>
          <a:xfrm>
            <a:off x="3646454" y="9393866"/>
            <a:ext cx="157559" cy="397933"/>
          </a:xfrm>
          <a:prstGeom prst="rect">
            <a:avLst/>
          </a:prstGeom>
          <a:noFill/>
          <a:ln/>
        </p:spPr>
        <p:txBody>
          <a:bodyPr wrap="none" lIns="25400" tIns="25400" rIns="25400" bIns="25400" rtlCol="0" anchor="t">
            <a:normAutofit/>
          </a:bodyPr>
          <a:lstStyle/>
          <a:p>
            <a:pPr marL="0" indent="0" algn="l">
              <a:buNone/>
            </a:pPr>
            <a:r>
              <a:rPr lang="en-US" sz="2100" dirty="0">
                <a:solidFill>
                  <a:srgbClr val="9A988F"/>
                </a:solidFill>
                <a:latin typeface="Georgia" pitchFamily="34" charset="0"/>
                <a:ea typeface="Georgia" pitchFamily="34" charset="-122"/>
                <a:cs typeface="Georgia" pitchFamily="34" charset="-120"/>
              </a:rPr>
              <a:t>•</a:t>
            </a:r>
            <a:endParaRPr lang="en-US" sz="2100" dirty="0"/>
          </a:p>
        </p:txBody>
      </p:sp>
      <p:sp>
        <p:nvSpPr>
          <p:cNvPr id="30" name="Text 27"/>
          <p:cNvSpPr/>
          <p:nvPr/>
        </p:nvSpPr>
        <p:spPr>
          <a:xfrm>
            <a:off x="3899132" y="9393866"/>
            <a:ext cx="2306505" cy="397933"/>
          </a:xfrm>
          <a:prstGeom prst="rect">
            <a:avLst/>
          </a:prstGeom>
          <a:noFill/>
          <a:ln/>
        </p:spPr>
        <p:txBody>
          <a:bodyPr wrap="none" lIns="25400" tIns="25400" rIns="25400" bIns="25400" rtlCol="0" anchor="t">
            <a:normAutofit/>
          </a:bodyPr>
          <a:lstStyle/>
          <a:p>
            <a:pPr marL="0" indent="0" algn="l">
              <a:buNone/>
            </a:pPr>
            <a:r>
              <a:rPr lang="en-US" sz="2100" dirty="0">
                <a:solidFill>
                  <a:srgbClr val="3D3B37"/>
                </a:solidFill>
                <a:latin typeface="Georgia" pitchFamily="34" charset="0"/>
                <a:ea typeface="Georgia" pitchFamily="34" charset="-122"/>
                <a:cs typeface="Georgia" pitchFamily="34" charset="-120"/>
              </a:rPr>
              <a:t>controlled scope</a:t>
            </a:r>
            <a:endParaRPr lang="en-US" sz="2100" dirty="0"/>
          </a:p>
        </p:txBody>
      </p:sp>
      <p:sp>
        <p:nvSpPr>
          <p:cNvPr id="31" name="Text 28"/>
          <p:cNvSpPr/>
          <p:nvPr/>
        </p:nvSpPr>
        <p:spPr>
          <a:xfrm>
            <a:off x="6167272" y="9393866"/>
            <a:ext cx="157559" cy="397933"/>
          </a:xfrm>
          <a:prstGeom prst="rect">
            <a:avLst/>
          </a:prstGeom>
          <a:noFill/>
          <a:ln/>
        </p:spPr>
        <p:txBody>
          <a:bodyPr wrap="none" lIns="25400" tIns="25400" rIns="25400" bIns="25400" rtlCol="0" anchor="t">
            <a:normAutofit/>
          </a:bodyPr>
          <a:lstStyle/>
          <a:p>
            <a:pPr marL="0" indent="0" algn="l">
              <a:buNone/>
            </a:pPr>
            <a:r>
              <a:rPr lang="en-US" sz="2100" dirty="0">
                <a:solidFill>
                  <a:srgbClr val="9A988F"/>
                </a:solidFill>
                <a:latin typeface="Georgia" pitchFamily="34" charset="0"/>
                <a:ea typeface="Georgia" pitchFamily="34" charset="-122"/>
                <a:cs typeface="Georgia" pitchFamily="34" charset="-120"/>
              </a:rPr>
              <a:t>•</a:t>
            </a:r>
            <a:endParaRPr lang="en-US" sz="2100" dirty="0"/>
          </a:p>
        </p:txBody>
      </p:sp>
      <p:sp>
        <p:nvSpPr>
          <p:cNvPr id="32" name="Text 29"/>
          <p:cNvSpPr/>
          <p:nvPr/>
        </p:nvSpPr>
        <p:spPr>
          <a:xfrm>
            <a:off x="6419949" y="9393866"/>
            <a:ext cx="2668852" cy="397933"/>
          </a:xfrm>
          <a:prstGeom prst="rect">
            <a:avLst/>
          </a:prstGeom>
          <a:noFill/>
          <a:ln/>
        </p:spPr>
        <p:txBody>
          <a:bodyPr wrap="none" lIns="25400" tIns="25400" rIns="25400" bIns="25400" rtlCol="0" anchor="t">
            <a:normAutofit/>
          </a:bodyPr>
          <a:lstStyle/>
          <a:p>
            <a:pPr marL="0" indent="0" algn="l">
              <a:buNone/>
            </a:pPr>
            <a:r>
              <a:rPr lang="en-US" sz="2100" dirty="0">
                <a:solidFill>
                  <a:srgbClr val="3D3B37"/>
                </a:solidFill>
                <a:latin typeface="Georgia" pitchFamily="34" charset="0"/>
                <a:ea typeface="Georgia" pitchFamily="34" charset="-122"/>
                <a:cs typeface="Georgia" pitchFamily="34" charset="-120"/>
              </a:rPr>
              <a:t>reviewable outputs</a:t>
            </a:r>
            <a:endParaRPr lang="en-US" sz="2100" dirty="0"/>
          </a:p>
        </p:txBody>
      </p:sp>
      <p:sp>
        <p:nvSpPr>
          <p:cNvPr id="33" name="Text 30"/>
          <p:cNvSpPr/>
          <p:nvPr/>
        </p:nvSpPr>
        <p:spPr>
          <a:xfrm>
            <a:off x="12730659" y="9446783"/>
            <a:ext cx="4566808" cy="313267"/>
          </a:xfrm>
          <a:prstGeom prst="rect">
            <a:avLst/>
          </a:prstGeom>
          <a:noFill/>
          <a:ln/>
        </p:spPr>
        <p:txBody>
          <a:bodyPr wrap="square" lIns="25400" tIns="25400" rIns="25400" bIns="25400" rtlCol="0" anchor="t">
            <a:normAutofit fontScale="92500" lnSpcReduction="10000"/>
          </a:bodyPr>
          <a:lstStyle/>
          <a:p>
            <a:pPr marL="0" indent="0" algn="r">
              <a:buNone/>
            </a:pPr>
            <a:r>
              <a:rPr lang="en-US" sz="1950" i="1" dirty="0">
                <a:solidFill>
                  <a:srgbClr val="6B6964"/>
                </a:solidFill>
                <a:latin typeface="Georgia" pitchFamily="34" charset="0"/>
                <a:ea typeface="Georgia" pitchFamily="34" charset="-122"/>
                <a:cs typeface="Georgia" pitchFamily="34" charset="-120"/>
              </a:rPr>
              <a:t>Rules become effective when checked.</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90534" y="685767"/>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685767"/>
            <a:ext cx="338303" cy="376767"/>
          </a:xfrm>
          <a:prstGeom prst="rect">
            <a:avLst/>
          </a:prstGeom>
          <a:noFill/>
          <a:ln/>
        </p:spPr>
        <p:txBody>
          <a:bodyPr wrap="square" lIns="25400" tIns="25400" rIns="25400" bIns="25400" rtlCol="0" anchor="t">
            <a:normAutofit fontScale="92500"/>
          </a:bodyPr>
          <a:lstStyle/>
          <a:p>
            <a:pPr marL="0" indent="0" algn="l">
              <a:buNone/>
            </a:pPr>
            <a:r>
              <a:rPr lang="en-US" sz="1950" dirty="0">
                <a:solidFill>
                  <a:srgbClr val="6B6964"/>
                </a:solidFill>
                <a:latin typeface="Georgia" pitchFamily="34" charset="0"/>
                <a:ea typeface="Georgia" pitchFamily="34" charset="-122"/>
                <a:cs typeface="Georgia" pitchFamily="34" charset="-120"/>
              </a:rPr>
              <a:t>03</a:t>
            </a:r>
            <a:endParaRPr lang="en-US" sz="1950" dirty="0"/>
          </a:p>
        </p:txBody>
      </p:sp>
      <p:sp>
        <p:nvSpPr>
          <p:cNvPr id="4" name="Text 2"/>
          <p:cNvSpPr/>
          <p:nvPr/>
        </p:nvSpPr>
        <p:spPr>
          <a:xfrm>
            <a:off x="990534" y="1252968"/>
            <a:ext cx="17937626" cy="821267"/>
          </a:xfrm>
          <a:prstGeom prst="rect">
            <a:avLst/>
          </a:prstGeom>
          <a:noFill/>
          <a:ln/>
        </p:spPr>
        <p:txBody>
          <a:bodyPr wrap="square" lIns="25400" tIns="25400" rIns="25400" bIns="25400" rtlCol="0" anchor="t">
            <a:normAutofit/>
          </a:bodyPr>
          <a:lstStyle/>
          <a:p>
            <a:pPr marL="0" indent="0" algn="l">
              <a:buNone/>
            </a:pPr>
            <a:r>
              <a:rPr lang="en-US" sz="4500" dirty="0">
                <a:solidFill>
                  <a:srgbClr val="1F1E1C"/>
                </a:solidFill>
                <a:latin typeface="Georgia" pitchFamily="34" charset="0"/>
                <a:ea typeface="Georgia" pitchFamily="34" charset="-122"/>
                <a:cs typeface="Georgia" pitchFamily="34" charset="-120"/>
              </a:rPr>
              <a:t>Knowledge graphs provide reusable context for LLMs</a:t>
            </a:r>
            <a:endParaRPr lang="en-US" sz="4500" dirty="0"/>
          </a:p>
        </p:txBody>
      </p:sp>
      <p:sp>
        <p:nvSpPr>
          <p:cNvPr id="5" name="Text 3"/>
          <p:cNvSpPr/>
          <p:nvPr/>
        </p:nvSpPr>
        <p:spPr>
          <a:xfrm>
            <a:off x="990534" y="2264668"/>
            <a:ext cx="17937626" cy="429683"/>
          </a:xfrm>
          <a:prstGeom prst="rect">
            <a:avLst/>
          </a:prstGeom>
          <a:noFill/>
          <a:ln/>
        </p:spPr>
        <p:txBody>
          <a:bodyPr wrap="square" lIns="25400" tIns="25400" rIns="25400" bIns="25400" rtlCol="0" anchor="t">
            <a:normAutofit/>
          </a:bodyPr>
          <a:lstStyle/>
          <a:p>
            <a:pPr marL="0" indent="0" algn="l">
              <a:buNone/>
            </a:pPr>
            <a:r>
              <a:rPr lang="en-US" sz="2250" dirty="0">
                <a:solidFill>
                  <a:srgbClr val="6B6964"/>
                </a:solidFill>
                <a:latin typeface="Georgia" pitchFamily="34" charset="0"/>
                <a:ea typeface="Georgia" pitchFamily="34" charset="-122"/>
                <a:cs typeface="Georgia" pitchFamily="34" charset="-120"/>
              </a:rPr>
              <a:t>The ontology is the governing model; the knowledge graph is its populated content.</a:t>
            </a:r>
            <a:endParaRPr lang="en-US" sz="22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0534" y="2884785"/>
            <a:ext cx="16306767" cy="5334000"/>
          </a:xfrm>
          <a:prstGeom prst="rect">
            <a:avLst/>
          </a:prstGeom>
        </p:spPr>
      </p:pic>
      <p:sp>
        <p:nvSpPr>
          <p:cNvPr id="7" name="Shape 4"/>
          <p:cNvSpPr/>
          <p:nvPr/>
        </p:nvSpPr>
        <p:spPr>
          <a:xfrm>
            <a:off x="990534" y="3265785"/>
            <a:ext cx="3143250" cy="1333500"/>
          </a:xfrm>
          <a:prstGeom prst="roundRect">
            <a:avLst>
              <a:gd name="adj" fmla="val 8571"/>
            </a:avLst>
          </a:prstGeom>
          <a:solidFill>
            <a:srgbClr val="FFFFFF"/>
          </a:solidFill>
          <a:ln w="10583">
            <a:solidFill>
              <a:srgbClr val="CFCDC6"/>
            </a:solidFill>
            <a:prstDash val="solid"/>
          </a:ln>
        </p:spPr>
      </p:sp>
      <p:sp>
        <p:nvSpPr>
          <p:cNvPr id="8" name="Text 5"/>
          <p:cNvSpPr/>
          <p:nvPr/>
        </p:nvSpPr>
        <p:spPr>
          <a:xfrm>
            <a:off x="1229651" y="3395597"/>
            <a:ext cx="2744966" cy="738915"/>
          </a:xfrm>
          <a:prstGeom prst="rect">
            <a:avLst/>
          </a:prstGeom>
          <a:noFill/>
          <a:ln/>
        </p:spPr>
        <p:txBody>
          <a:bodyPr wrap="square" lIns="25400" tIns="25400" rIns="25400" bIns="25400" rtlCol="0" anchor="t">
            <a:normAutofit/>
          </a:bodyPr>
          <a:lstStyle/>
          <a:p>
            <a:pPr marL="0" indent="0" algn="l">
              <a:lnSpc>
                <a:spcPct val="103500"/>
              </a:lnSpc>
              <a:buNone/>
            </a:pPr>
            <a:r>
              <a:rPr lang="en-US" sz="2400" dirty="0">
                <a:solidFill>
                  <a:srgbClr val="1F1E1C"/>
                </a:solidFill>
                <a:latin typeface="Georgia" pitchFamily="34" charset="0"/>
                <a:ea typeface="Georgia" pitchFamily="34" charset="-122"/>
                <a:cs typeface="Georgia" pitchFamily="34" charset="-120"/>
              </a:rPr>
              <a:t>Source documents</a:t>
            </a:r>
            <a:endParaRPr lang="en-US" sz="2400" dirty="0"/>
          </a:p>
        </p:txBody>
      </p:sp>
      <p:sp>
        <p:nvSpPr>
          <p:cNvPr id="9" name="Text 6"/>
          <p:cNvSpPr/>
          <p:nvPr/>
        </p:nvSpPr>
        <p:spPr>
          <a:xfrm>
            <a:off x="1229651" y="4172479"/>
            <a:ext cx="2931517" cy="335095"/>
          </a:xfrm>
          <a:prstGeom prst="rect">
            <a:avLst/>
          </a:prstGeom>
          <a:noFill/>
          <a:ln/>
        </p:spPr>
        <p:txBody>
          <a:bodyPr wrap="square" lIns="25400" tIns="25400" rIns="25400" bIns="25400" rtlCol="0" anchor="t">
            <a:normAutofit lnSpcReduction="10000"/>
          </a:bodyPr>
          <a:lstStyle/>
          <a:p>
            <a:pPr marL="0" indent="0" algn="l">
              <a:lnSpc>
                <a:spcPct val="112320"/>
              </a:lnSpc>
              <a:buNone/>
            </a:pPr>
            <a:r>
              <a:rPr lang="en-US" sz="1800" dirty="0">
                <a:solidFill>
                  <a:srgbClr val="6B6964"/>
                </a:solidFill>
                <a:latin typeface="Georgia" pitchFamily="34" charset="0"/>
                <a:ea typeface="Georgia" pitchFamily="34" charset="-122"/>
                <a:cs typeface="Georgia" pitchFamily="34" charset="-120"/>
              </a:rPr>
              <a:t>a collection of PDFs</a:t>
            </a:r>
            <a:endParaRPr lang="en-US" sz="1800" dirty="0"/>
          </a:p>
        </p:txBody>
      </p:sp>
      <p:sp>
        <p:nvSpPr>
          <p:cNvPr id="10" name="Shape 7"/>
          <p:cNvSpPr/>
          <p:nvPr/>
        </p:nvSpPr>
        <p:spPr>
          <a:xfrm>
            <a:off x="4800534" y="3265785"/>
            <a:ext cx="5048250" cy="1333500"/>
          </a:xfrm>
          <a:prstGeom prst="roundRect">
            <a:avLst>
              <a:gd name="adj" fmla="val 8571"/>
            </a:avLst>
          </a:prstGeom>
          <a:solidFill>
            <a:srgbClr val="ECE8FB"/>
          </a:solidFill>
          <a:ln w="10583">
            <a:solidFill>
              <a:srgbClr val="7B6CD9"/>
            </a:solidFill>
            <a:prstDash val="solid"/>
          </a:ln>
        </p:spPr>
      </p:sp>
      <p:sp>
        <p:nvSpPr>
          <p:cNvPr id="11" name="Text 8"/>
          <p:cNvSpPr/>
          <p:nvPr/>
        </p:nvSpPr>
        <p:spPr>
          <a:xfrm>
            <a:off x="5039651" y="3395597"/>
            <a:ext cx="4707116" cy="738915"/>
          </a:xfrm>
          <a:prstGeom prst="rect">
            <a:avLst/>
          </a:prstGeom>
          <a:noFill/>
          <a:ln/>
        </p:spPr>
        <p:txBody>
          <a:bodyPr wrap="square" lIns="25400" tIns="25400" rIns="25400" bIns="25400" rtlCol="0" anchor="t">
            <a:normAutofit/>
          </a:bodyPr>
          <a:lstStyle/>
          <a:p>
            <a:pPr marL="0" indent="0" algn="l">
              <a:lnSpc>
                <a:spcPct val="103500"/>
              </a:lnSpc>
              <a:buNone/>
            </a:pPr>
            <a:r>
              <a:rPr lang="en-US" sz="2400" dirty="0">
                <a:solidFill>
                  <a:srgbClr val="3B2D8A"/>
                </a:solidFill>
                <a:latin typeface="Georgia" pitchFamily="34" charset="0"/>
                <a:ea typeface="Georgia" pitchFamily="34" charset="-122"/>
                <a:cs typeface="Georgia" pitchFamily="34" charset="-120"/>
              </a:rPr>
              <a:t>Cited nodes + typed relationships</a:t>
            </a:r>
            <a:endParaRPr lang="en-US" sz="2400" dirty="0"/>
          </a:p>
        </p:txBody>
      </p:sp>
      <p:sp>
        <p:nvSpPr>
          <p:cNvPr id="12" name="Text 9"/>
          <p:cNvSpPr/>
          <p:nvPr/>
        </p:nvSpPr>
        <p:spPr>
          <a:xfrm>
            <a:off x="5039651" y="4172479"/>
            <a:ext cx="5027017" cy="335095"/>
          </a:xfrm>
          <a:prstGeom prst="rect">
            <a:avLst/>
          </a:prstGeom>
          <a:noFill/>
          <a:ln/>
        </p:spPr>
        <p:txBody>
          <a:bodyPr wrap="square" lIns="25400" tIns="25400" rIns="25400" bIns="25400" rtlCol="0" anchor="t">
            <a:normAutofit lnSpcReduction="10000"/>
          </a:bodyPr>
          <a:lstStyle/>
          <a:p>
            <a:pPr marL="0" indent="0" algn="l">
              <a:lnSpc>
                <a:spcPct val="112320"/>
              </a:lnSpc>
              <a:buNone/>
            </a:pPr>
            <a:r>
              <a:rPr lang="en-US" sz="1800" dirty="0">
                <a:solidFill>
                  <a:srgbClr val="5C4FB3"/>
                </a:solidFill>
                <a:latin typeface="Georgia" pitchFamily="34" charset="0"/>
                <a:ea typeface="Georgia" pitchFamily="34" charset="-122"/>
                <a:cs typeface="Georgia" pitchFamily="34" charset="-120"/>
              </a:rPr>
              <a:t>the connected knowledge layer</a:t>
            </a:r>
            <a:endParaRPr lang="en-US" sz="1800" dirty="0"/>
          </a:p>
        </p:txBody>
      </p:sp>
      <p:sp>
        <p:nvSpPr>
          <p:cNvPr id="13" name="Shape 10"/>
          <p:cNvSpPr/>
          <p:nvPr/>
        </p:nvSpPr>
        <p:spPr>
          <a:xfrm>
            <a:off x="10515535" y="3265785"/>
            <a:ext cx="3390801" cy="1333500"/>
          </a:xfrm>
          <a:prstGeom prst="roundRect">
            <a:avLst>
              <a:gd name="adj" fmla="val 8571"/>
            </a:avLst>
          </a:prstGeom>
          <a:solidFill>
            <a:srgbClr val="FFFFFF"/>
          </a:solidFill>
          <a:ln w="10583">
            <a:solidFill>
              <a:srgbClr val="CFCDC6"/>
            </a:solidFill>
            <a:prstDash val="solid"/>
          </a:ln>
        </p:spPr>
      </p:sp>
      <p:sp>
        <p:nvSpPr>
          <p:cNvPr id="14" name="Text 11"/>
          <p:cNvSpPr/>
          <p:nvPr/>
        </p:nvSpPr>
        <p:spPr>
          <a:xfrm>
            <a:off x="10754652" y="3544094"/>
            <a:ext cx="2999943" cy="738915"/>
          </a:xfrm>
          <a:prstGeom prst="rect">
            <a:avLst/>
          </a:prstGeom>
          <a:noFill/>
          <a:ln/>
        </p:spPr>
        <p:txBody>
          <a:bodyPr wrap="square" lIns="25400" tIns="25400" rIns="25400" bIns="25400" rtlCol="0" anchor="t">
            <a:normAutofit lnSpcReduction="10000"/>
          </a:bodyPr>
          <a:lstStyle/>
          <a:p>
            <a:pPr marL="0" indent="0" algn="l">
              <a:lnSpc>
                <a:spcPct val="103500"/>
              </a:lnSpc>
              <a:buNone/>
            </a:pPr>
            <a:r>
              <a:rPr lang="en-US" sz="2400" dirty="0">
                <a:solidFill>
                  <a:srgbClr val="1F1E1C"/>
                </a:solidFill>
                <a:latin typeface="Georgia" pitchFamily="34" charset="0"/>
                <a:ea typeface="Georgia" pitchFamily="34" charset="-122"/>
                <a:cs typeface="Georgia" pitchFamily="34" charset="-120"/>
              </a:rPr>
              <a:t>Retrieve relevant context</a:t>
            </a:r>
            <a:endParaRPr lang="en-US" sz="2400" dirty="0"/>
          </a:p>
        </p:txBody>
      </p:sp>
      <p:sp>
        <p:nvSpPr>
          <p:cNvPr id="15" name="Shape 12"/>
          <p:cNvSpPr/>
          <p:nvPr/>
        </p:nvSpPr>
        <p:spPr>
          <a:xfrm>
            <a:off x="14535051" y="3265785"/>
            <a:ext cx="2762250" cy="1333500"/>
          </a:xfrm>
          <a:prstGeom prst="roundRect">
            <a:avLst>
              <a:gd name="adj" fmla="val 8571"/>
            </a:avLst>
          </a:prstGeom>
          <a:solidFill>
            <a:srgbClr val="FBEEE6"/>
          </a:solidFill>
          <a:ln w="10583">
            <a:solidFill>
              <a:srgbClr val="C0623A"/>
            </a:solidFill>
            <a:prstDash val="solid"/>
          </a:ln>
        </p:spPr>
      </p:sp>
      <p:sp>
        <p:nvSpPr>
          <p:cNvPr id="16" name="Text 13"/>
          <p:cNvSpPr/>
          <p:nvPr/>
        </p:nvSpPr>
        <p:spPr>
          <a:xfrm>
            <a:off x="14774169" y="3719215"/>
            <a:ext cx="2512417" cy="388508"/>
          </a:xfrm>
          <a:prstGeom prst="rect">
            <a:avLst/>
          </a:prstGeom>
          <a:noFill/>
          <a:ln/>
        </p:spPr>
        <p:txBody>
          <a:bodyPr wrap="square" lIns="25400" tIns="25400" rIns="25400" bIns="25400" rtlCol="0" anchor="t">
            <a:normAutofit fontScale="92500"/>
          </a:bodyPr>
          <a:lstStyle/>
          <a:p>
            <a:pPr marL="0" indent="0" algn="l">
              <a:lnSpc>
                <a:spcPct val="103500"/>
              </a:lnSpc>
              <a:buNone/>
            </a:pPr>
            <a:r>
              <a:rPr lang="en-US" sz="2400" dirty="0">
                <a:solidFill>
                  <a:srgbClr val="8F3F1C"/>
                </a:solidFill>
                <a:latin typeface="Georgia" pitchFamily="34" charset="0"/>
                <a:ea typeface="Georgia" pitchFamily="34" charset="-122"/>
                <a:cs typeface="Georgia" pitchFamily="34" charset="-120"/>
              </a:rPr>
              <a:t>LLM task</a:t>
            </a:r>
            <a:endParaRPr lang="en-US" sz="2400" dirty="0"/>
          </a:p>
        </p:txBody>
      </p:sp>
      <p:sp>
        <p:nvSpPr>
          <p:cNvPr id="17" name="Text 14"/>
          <p:cNvSpPr/>
          <p:nvPr/>
        </p:nvSpPr>
        <p:spPr>
          <a:xfrm>
            <a:off x="7658034" y="5437353"/>
            <a:ext cx="8591551" cy="312274"/>
          </a:xfrm>
          <a:prstGeom prst="rect">
            <a:avLst/>
          </a:prstGeom>
          <a:noFill/>
          <a:ln/>
        </p:spPr>
        <p:txBody>
          <a:bodyPr wrap="square" lIns="25400" tIns="25400" rIns="25400" bIns="25400" rtlCol="0" anchor="t">
            <a:normAutofit lnSpcReduction="10000"/>
          </a:bodyPr>
          <a:lstStyle/>
          <a:p>
            <a:pPr marL="0" indent="0" algn="l">
              <a:lnSpc>
                <a:spcPct val="103680"/>
              </a:lnSpc>
              <a:buNone/>
            </a:pPr>
            <a:r>
              <a:rPr lang="en-US" sz="1800" dirty="0">
                <a:solidFill>
                  <a:srgbClr val="A67C0A"/>
                </a:solidFill>
                <a:latin typeface="Georgia" pitchFamily="34" charset="0"/>
                <a:ea typeface="Georgia" pitchFamily="34" charset="-122"/>
                <a:cs typeface="Georgia" pitchFamily="34" charset="-120"/>
              </a:rPr>
              <a:t>validated outputs → graph updates</a:t>
            </a:r>
            <a:endParaRPr lang="en-US" sz="1800" dirty="0"/>
          </a:p>
        </p:txBody>
      </p:sp>
      <p:sp>
        <p:nvSpPr>
          <p:cNvPr id="18" name="Text 15"/>
          <p:cNvSpPr/>
          <p:nvPr/>
        </p:nvSpPr>
        <p:spPr>
          <a:xfrm>
            <a:off x="990534" y="6123286"/>
            <a:ext cx="3237548" cy="970922"/>
          </a:xfrm>
          <a:prstGeom prst="rect">
            <a:avLst/>
          </a:prstGeom>
          <a:noFill/>
          <a:ln/>
        </p:spPr>
        <p:txBody>
          <a:bodyPr wrap="square" lIns="25400" tIns="25400" rIns="25400" bIns="25400" rtlCol="0" anchor="t">
            <a:normAutofit fontScale="92500" lnSpcReduction="10000"/>
          </a:bodyPr>
          <a:lstStyle/>
          <a:p>
            <a:pPr marL="0" indent="0" algn="l">
              <a:lnSpc>
                <a:spcPct val="126000"/>
              </a:lnSpc>
              <a:buNone/>
            </a:pPr>
            <a:r>
              <a:rPr lang="en-US" sz="1650" kern="0" spc="198" dirty="0">
                <a:solidFill>
                  <a:srgbClr val="6B6964"/>
                </a:solidFill>
                <a:latin typeface="Georgia" pitchFamily="34" charset="0"/>
                <a:ea typeface="Georgia" pitchFamily="34" charset="-122"/>
                <a:cs typeface="Georgia" pitchFamily="34" charset="-120"/>
              </a:rPr>
              <a:t>TRACEABILITY </a:t>
            </a:r>
            <a:r>
              <a:rPr lang="en-US" sz="1800" kern="0" spc="198" dirty="0">
                <a:solidFill>
                  <a:srgbClr val="6B6964"/>
                </a:solidFill>
                <a:latin typeface="Georgia" pitchFamily="34" charset="0"/>
                <a:ea typeface="Georgia" pitchFamily="34" charset="-122"/>
                <a:cs typeface="Georgia" pitchFamily="34" charset="-120"/>
              </a:rPr>
              <a:t>EVERY RULE POINTS BACK TO ITS SOURCE PASSAGE</a:t>
            </a:r>
            <a:endParaRPr lang="en-US" sz="1650" dirty="0"/>
          </a:p>
        </p:txBody>
      </p:sp>
      <p:sp>
        <p:nvSpPr>
          <p:cNvPr id="19" name="Shape 16"/>
          <p:cNvSpPr/>
          <p:nvPr/>
        </p:nvSpPr>
        <p:spPr>
          <a:xfrm>
            <a:off x="6324534" y="6123286"/>
            <a:ext cx="1714500" cy="514284"/>
          </a:xfrm>
          <a:prstGeom prst="roundRect">
            <a:avLst>
              <a:gd name="adj" fmla="val 50000"/>
            </a:avLst>
          </a:prstGeom>
          <a:solidFill>
            <a:srgbClr val="ECE8FB"/>
          </a:solidFill>
          <a:ln w="10583">
            <a:solidFill>
              <a:srgbClr val="7B6CD9"/>
            </a:solidFill>
            <a:prstDash val="solid"/>
          </a:ln>
        </p:spPr>
      </p:sp>
      <p:sp>
        <p:nvSpPr>
          <p:cNvPr id="20" name="Text 17"/>
          <p:cNvSpPr/>
          <p:nvPr/>
        </p:nvSpPr>
        <p:spPr>
          <a:xfrm>
            <a:off x="6297018" y="6133869"/>
            <a:ext cx="1769533" cy="531217"/>
          </a:xfrm>
          <a:prstGeom prst="rect">
            <a:avLst/>
          </a:prstGeom>
          <a:noFill/>
          <a:ln/>
        </p:spPr>
        <p:txBody>
          <a:bodyPr wrap="square" lIns="25400" tIns="25400" rIns="25400" bIns="25400" rtlCol="0" anchor="ctr">
            <a:normAutofit/>
          </a:bodyPr>
          <a:lstStyle/>
          <a:p>
            <a:pPr marL="0" indent="0" algn="ctr">
              <a:buNone/>
            </a:pPr>
            <a:r>
              <a:rPr lang="en-US" sz="1800" dirty="0">
                <a:solidFill>
                  <a:srgbClr val="3B2D8A"/>
                </a:solidFill>
                <a:latin typeface="Georgia" pitchFamily="34" charset="0"/>
                <a:ea typeface="Georgia" pitchFamily="34" charset="-122"/>
                <a:cs typeface="Georgia" pitchFamily="34" charset="-120"/>
              </a:rPr>
              <a:t>Article</a:t>
            </a:r>
            <a:endParaRPr lang="en-US" sz="1800" dirty="0"/>
          </a:p>
        </p:txBody>
      </p:sp>
      <p:sp>
        <p:nvSpPr>
          <p:cNvPr id="21" name="Shape 18"/>
          <p:cNvSpPr/>
          <p:nvPr/>
        </p:nvSpPr>
        <p:spPr>
          <a:xfrm>
            <a:off x="9658284" y="6123286"/>
            <a:ext cx="1714500" cy="514284"/>
          </a:xfrm>
          <a:prstGeom prst="roundRect">
            <a:avLst>
              <a:gd name="adj" fmla="val 50000"/>
            </a:avLst>
          </a:prstGeom>
          <a:solidFill>
            <a:srgbClr val="ECE8FB"/>
          </a:solidFill>
          <a:ln w="10583">
            <a:solidFill>
              <a:srgbClr val="7B6CD9"/>
            </a:solidFill>
            <a:prstDash val="solid"/>
          </a:ln>
        </p:spPr>
      </p:sp>
      <p:sp>
        <p:nvSpPr>
          <p:cNvPr id="22" name="Text 19"/>
          <p:cNvSpPr/>
          <p:nvPr/>
        </p:nvSpPr>
        <p:spPr>
          <a:xfrm>
            <a:off x="9630768" y="6133869"/>
            <a:ext cx="1769533" cy="531217"/>
          </a:xfrm>
          <a:prstGeom prst="rect">
            <a:avLst/>
          </a:prstGeom>
          <a:noFill/>
          <a:ln/>
        </p:spPr>
        <p:txBody>
          <a:bodyPr wrap="square" lIns="25400" tIns="25400" rIns="25400" bIns="25400" rtlCol="0" anchor="ctr">
            <a:normAutofit/>
          </a:bodyPr>
          <a:lstStyle/>
          <a:p>
            <a:pPr marL="0" indent="0" algn="ctr">
              <a:buNone/>
            </a:pPr>
            <a:r>
              <a:rPr lang="en-US" sz="1800" dirty="0">
                <a:solidFill>
                  <a:srgbClr val="3B2D8A"/>
                </a:solidFill>
                <a:latin typeface="Georgia" pitchFamily="34" charset="0"/>
                <a:ea typeface="Georgia" pitchFamily="34" charset="-122"/>
                <a:cs typeface="Georgia" pitchFamily="34" charset="-120"/>
              </a:rPr>
              <a:t>Rule</a:t>
            </a:r>
            <a:endParaRPr lang="en-US" sz="1800" dirty="0"/>
          </a:p>
        </p:txBody>
      </p:sp>
      <p:sp>
        <p:nvSpPr>
          <p:cNvPr id="23" name="Shape 20"/>
          <p:cNvSpPr/>
          <p:nvPr/>
        </p:nvSpPr>
        <p:spPr>
          <a:xfrm>
            <a:off x="12896785" y="6123286"/>
            <a:ext cx="1714500" cy="514284"/>
          </a:xfrm>
          <a:prstGeom prst="roundRect">
            <a:avLst>
              <a:gd name="adj" fmla="val 50000"/>
            </a:avLst>
          </a:prstGeom>
          <a:solidFill>
            <a:srgbClr val="ECE8FB"/>
          </a:solidFill>
          <a:ln w="10583">
            <a:solidFill>
              <a:srgbClr val="7B6CD9"/>
            </a:solidFill>
            <a:prstDash val="solid"/>
          </a:ln>
        </p:spPr>
      </p:sp>
      <p:sp>
        <p:nvSpPr>
          <p:cNvPr id="24" name="Text 21"/>
          <p:cNvSpPr/>
          <p:nvPr/>
        </p:nvSpPr>
        <p:spPr>
          <a:xfrm>
            <a:off x="12869268" y="6133869"/>
            <a:ext cx="1769533" cy="531217"/>
          </a:xfrm>
          <a:prstGeom prst="rect">
            <a:avLst/>
          </a:prstGeom>
          <a:noFill/>
          <a:ln/>
        </p:spPr>
        <p:txBody>
          <a:bodyPr wrap="square" lIns="25400" tIns="25400" rIns="25400" bIns="25400" rtlCol="0" anchor="ctr">
            <a:normAutofit/>
          </a:bodyPr>
          <a:lstStyle/>
          <a:p>
            <a:pPr marL="0" indent="0" algn="ctr">
              <a:buNone/>
            </a:pPr>
            <a:r>
              <a:rPr lang="en-US" sz="1800" dirty="0">
                <a:solidFill>
                  <a:srgbClr val="3B2D8A"/>
                </a:solidFill>
                <a:latin typeface="Georgia" pitchFamily="34" charset="0"/>
                <a:ea typeface="Georgia" pitchFamily="34" charset="-122"/>
                <a:cs typeface="Georgia" pitchFamily="34" charset="-120"/>
              </a:rPr>
              <a:t>Concept</a:t>
            </a:r>
            <a:endParaRPr lang="en-US" sz="1800" dirty="0"/>
          </a:p>
        </p:txBody>
      </p:sp>
      <p:sp>
        <p:nvSpPr>
          <p:cNvPr id="25" name="Shape 22"/>
          <p:cNvSpPr/>
          <p:nvPr/>
        </p:nvSpPr>
        <p:spPr>
          <a:xfrm>
            <a:off x="9372534" y="7361536"/>
            <a:ext cx="2286000" cy="514284"/>
          </a:xfrm>
          <a:prstGeom prst="roundRect">
            <a:avLst>
              <a:gd name="adj" fmla="val 50000"/>
            </a:avLst>
          </a:prstGeom>
          <a:solidFill>
            <a:srgbClr val="FFFFFF"/>
          </a:solidFill>
          <a:ln w="10583">
            <a:solidFill>
              <a:srgbClr val="CFCDC6"/>
            </a:solidFill>
            <a:prstDash val="solid"/>
          </a:ln>
        </p:spPr>
      </p:sp>
      <p:sp>
        <p:nvSpPr>
          <p:cNvPr id="26" name="Text 23"/>
          <p:cNvSpPr/>
          <p:nvPr/>
        </p:nvSpPr>
        <p:spPr>
          <a:xfrm>
            <a:off x="9345018" y="7372119"/>
            <a:ext cx="2341033" cy="531217"/>
          </a:xfrm>
          <a:prstGeom prst="rect">
            <a:avLst/>
          </a:prstGeom>
          <a:noFill/>
          <a:ln/>
        </p:spPr>
        <p:txBody>
          <a:bodyPr wrap="square" lIns="25400" tIns="25400" rIns="25400" bIns="25400" rtlCol="0" anchor="ctr">
            <a:normAutofit/>
          </a:bodyPr>
          <a:lstStyle/>
          <a:p>
            <a:pPr marL="0" indent="0" algn="ctr">
              <a:buNone/>
            </a:pPr>
            <a:r>
              <a:rPr lang="en-US" sz="1800" dirty="0">
                <a:solidFill>
                  <a:srgbClr val="3D3B37"/>
                </a:solidFill>
                <a:latin typeface="Georgia" pitchFamily="34" charset="0"/>
                <a:ea typeface="Georgia" pitchFamily="34" charset="-122"/>
                <a:cs typeface="Georgia" pitchFamily="34" charset="-120"/>
              </a:rPr>
              <a:t>Source passage</a:t>
            </a:r>
            <a:endParaRPr lang="en-US" sz="1800" dirty="0"/>
          </a:p>
        </p:txBody>
      </p:sp>
      <p:sp>
        <p:nvSpPr>
          <p:cNvPr id="27" name="Text 24"/>
          <p:cNvSpPr/>
          <p:nvPr/>
        </p:nvSpPr>
        <p:spPr>
          <a:xfrm>
            <a:off x="8015222" y="6085086"/>
            <a:ext cx="1571625" cy="312274"/>
          </a:xfrm>
          <a:prstGeom prst="rect">
            <a:avLst/>
          </a:prstGeom>
          <a:noFill/>
          <a:ln/>
        </p:spPr>
        <p:txBody>
          <a:bodyPr wrap="square" lIns="25400" tIns="25400" rIns="25400" bIns="25400" rtlCol="0" anchor="t">
            <a:normAutofit lnSpcReduction="10000"/>
          </a:bodyPr>
          <a:lstStyle/>
          <a:p>
            <a:pPr marL="0" indent="0" algn="ctr">
              <a:lnSpc>
                <a:spcPct val="103680"/>
              </a:lnSpc>
              <a:buNone/>
            </a:pPr>
            <a:r>
              <a:rPr lang="en-US" sz="1800" dirty="0">
                <a:solidFill>
                  <a:srgbClr val="6B6964"/>
                </a:solidFill>
                <a:latin typeface="Georgia" pitchFamily="34" charset="0"/>
                <a:ea typeface="Georgia" pitchFamily="34" charset="-122"/>
                <a:cs typeface="Georgia" pitchFamily="34" charset="-120"/>
              </a:rPr>
              <a:t>contains</a:t>
            </a:r>
            <a:endParaRPr lang="en-US" sz="1800" dirty="0"/>
          </a:p>
        </p:txBody>
      </p:sp>
      <p:sp>
        <p:nvSpPr>
          <p:cNvPr id="28" name="Text 25"/>
          <p:cNvSpPr/>
          <p:nvPr/>
        </p:nvSpPr>
        <p:spPr>
          <a:xfrm>
            <a:off x="11453747" y="6085086"/>
            <a:ext cx="1362075" cy="312274"/>
          </a:xfrm>
          <a:prstGeom prst="rect">
            <a:avLst/>
          </a:prstGeom>
          <a:noFill/>
          <a:ln/>
        </p:spPr>
        <p:txBody>
          <a:bodyPr wrap="square" lIns="25400" tIns="25400" rIns="25400" bIns="25400" rtlCol="0" anchor="t">
            <a:normAutofit lnSpcReduction="10000"/>
          </a:bodyPr>
          <a:lstStyle/>
          <a:p>
            <a:pPr marL="0" indent="0" algn="ctr">
              <a:lnSpc>
                <a:spcPct val="103680"/>
              </a:lnSpc>
              <a:buNone/>
            </a:pPr>
            <a:r>
              <a:rPr lang="en-US" sz="1800" dirty="0">
                <a:solidFill>
                  <a:srgbClr val="6B6964"/>
                </a:solidFill>
                <a:latin typeface="Georgia" pitchFamily="34" charset="0"/>
                <a:ea typeface="Georgia" pitchFamily="34" charset="-122"/>
                <a:cs typeface="Georgia" pitchFamily="34" charset="-120"/>
              </a:rPr>
              <a:t>uses</a:t>
            </a:r>
            <a:endParaRPr lang="en-US" sz="1800" dirty="0"/>
          </a:p>
        </p:txBody>
      </p:sp>
      <p:sp>
        <p:nvSpPr>
          <p:cNvPr id="29" name="Text 26"/>
          <p:cNvSpPr/>
          <p:nvPr/>
        </p:nvSpPr>
        <p:spPr>
          <a:xfrm>
            <a:off x="10629801" y="6828069"/>
            <a:ext cx="1571625" cy="312274"/>
          </a:xfrm>
          <a:prstGeom prst="rect">
            <a:avLst/>
          </a:prstGeom>
          <a:noFill/>
          <a:ln/>
        </p:spPr>
        <p:txBody>
          <a:bodyPr wrap="square" lIns="25400" tIns="25400" rIns="25400" bIns="25400" rtlCol="0" anchor="t">
            <a:normAutofit lnSpcReduction="10000"/>
          </a:bodyPr>
          <a:lstStyle/>
          <a:p>
            <a:pPr marL="0" indent="0" algn="l">
              <a:lnSpc>
                <a:spcPct val="103680"/>
              </a:lnSpc>
              <a:buNone/>
            </a:pPr>
            <a:r>
              <a:rPr lang="en-US" sz="1800" dirty="0">
                <a:solidFill>
                  <a:srgbClr val="6B6964"/>
                </a:solidFill>
                <a:latin typeface="Georgia" pitchFamily="34" charset="0"/>
                <a:ea typeface="Georgia" pitchFamily="34" charset="-122"/>
                <a:cs typeface="Georgia" pitchFamily="34" charset="-120"/>
              </a:rPr>
              <a:t>cites</a:t>
            </a:r>
            <a:endParaRPr lang="en-US" sz="1800" dirty="0"/>
          </a:p>
        </p:txBody>
      </p:sp>
      <p:sp>
        <p:nvSpPr>
          <p:cNvPr id="30" name="Shape 27"/>
          <p:cNvSpPr/>
          <p:nvPr/>
        </p:nvSpPr>
        <p:spPr>
          <a:xfrm>
            <a:off x="990534" y="8930350"/>
            <a:ext cx="16306933" cy="10583"/>
          </a:xfrm>
          <a:prstGeom prst="rect">
            <a:avLst/>
          </a:prstGeom>
          <a:solidFill>
            <a:srgbClr val="D3D1CA"/>
          </a:solidFill>
          <a:ln/>
        </p:spPr>
      </p:sp>
      <p:sp>
        <p:nvSpPr>
          <p:cNvPr id="31" name="Text 28"/>
          <p:cNvSpPr/>
          <p:nvPr/>
        </p:nvSpPr>
        <p:spPr>
          <a:xfrm>
            <a:off x="990534" y="9150450"/>
            <a:ext cx="2417101" cy="397933"/>
          </a:xfrm>
          <a:prstGeom prst="rect">
            <a:avLst/>
          </a:prstGeom>
          <a:noFill/>
          <a:ln/>
        </p:spPr>
        <p:txBody>
          <a:bodyPr wrap="none" lIns="25400" tIns="25400" rIns="25400" bIns="25400" rtlCol="0" anchor="t">
            <a:normAutofit/>
          </a:bodyPr>
          <a:lstStyle/>
          <a:p>
            <a:pPr marL="0" indent="0" algn="l">
              <a:buNone/>
            </a:pPr>
            <a:r>
              <a:rPr lang="en-US" sz="2100" dirty="0">
                <a:solidFill>
                  <a:srgbClr val="3D3B37"/>
                </a:solidFill>
                <a:latin typeface="Georgia" pitchFamily="34" charset="0"/>
                <a:ea typeface="Georgia" pitchFamily="34" charset="-122"/>
                <a:cs typeface="Georgia" pitchFamily="34" charset="-120"/>
              </a:rPr>
              <a:t>targeted retrieval</a:t>
            </a:r>
            <a:endParaRPr lang="en-US" sz="2100" dirty="0"/>
          </a:p>
        </p:txBody>
      </p:sp>
      <p:sp>
        <p:nvSpPr>
          <p:cNvPr id="32" name="Text 29"/>
          <p:cNvSpPr/>
          <p:nvPr/>
        </p:nvSpPr>
        <p:spPr>
          <a:xfrm>
            <a:off x="3359216" y="9150450"/>
            <a:ext cx="157559" cy="397933"/>
          </a:xfrm>
          <a:prstGeom prst="rect">
            <a:avLst/>
          </a:prstGeom>
          <a:noFill/>
          <a:ln/>
        </p:spPr>
        <p:txBody>
          <a:bodyPr wrap="none" lIns="25400" tIns="25400" rIns="25400" bIns="25400" rtlCol="0" anchor="t">
            <a:normAutofit/>
          </a:bodyPr>
          <a:lstStyle/>
          <a:p>
            <a:pPr marL="0" indent="0" algn="l">
              <a:buNone/>
            </a:pPr>
            <a:r>
              <a:rPr lang="en-US" sz="2100" dirty="0">
                <a:solidFill>
                  <a:srgbClr val="9A988F"/>
                </a:solidFill>
                <a:latin typeface="Georgia" pitchFamily="34" charset="0"/>
                <a:ea typeface="Georgia" pitchFamily="34" charset="-122"/>
                <a:cs typeface="Georgia" pitchFamily="34" charset="-120"/>
              </a:rPr>
              <a:t>•</a:t>
            </a:r>
            <a:endParaRPr lang="en-US" sz="2100" dirty="0"/>
          </a:p>
        </p:txBody>
      </p:sp>
      <p:sp>
        <p:nvSpPr>
          <p:cNvPr id="33" name="Text 30"/>
          <p:cNvSpPr/>
          <p:nvPr/>
        </p:nvSpPr>
        <p:spPr>
          <a:xfrm>
            <a:off x="3611893" y="9150450"/>
            <a:ext cx="2523877" cy="397933"/>
          </a:xfrm>
          <a:prstGeom prst="rect">
            <a:avLst/>
          </a:prstGeom>
          <a:noFill/>
          <a:ln/>
        </p:spPr>
        <p:txBody>
          <a:bodyPr wrap="none" lIns="25400" tIns="25400" rIns="25400" bIns="25400" rtlCol="0" anchor="t">
            <a:normAutofit/>
          </a:bodyPr>
          <a:lstStyle/>
          <a:p>
            <a:pPr marL="0" indent="0" algn="l">
              <a:buNone/>
            </a:pPr>
            <a:r>
              <a:rPr lang="en-US" sz="2100" dirty="0">
                <a:solidFill>
                  <a:srgbClr val="3D3B37"/>
                </a:solidFill>
                <a:latin typeface="Georgia" pitchFamily="34" charset="0"/>
                <a:ea typeface="Georgia" pitchFamily="34" charset="-122"/>
                <a:cs typeface="Georgia" pitchFamily="34" charset="-120"/>
              </a:rPr>
              <a:t>shared definitions</a:t>
            </a:r>
            <a:endParaRPr lang="en-US" sz="2100" dirty="0"/>
          </a:p>
        </p:txBody>
      </p:sp>
      <p:sp>
        <p:nvSpPr>
          <p:cNvPr id="34" name="Text 31"/>
          <p:cNvSpPr/>
          <p:nvPr/>
        </p:nvSpPr>
        <p:spPr>
          <a:xfrm>
            <a:off x="6077645" y="9150450"/>
            <a:ext cx="157559" cy="397933"/>
          </a:xfrm>
          <a:prstGeom prst="rect">
            <a:avLst/>
          </a:prstGeom>
          <a:noFill/>
          <a:ln/>
        </p:spPr>
        <p:txBody>
          <a:bodyPr wrap="none" lIns="25400" tIns="25400" rIns="25400" bIns="25400" rtlCol="0" anchor="t">
            <a:normAutofit/>
          </a:bodyPr>
          <a:lstStyle/>
          <a:p>
            <a:pPr marL="0" indent="0" algn="l">
              <a:buNone/>
            </a:pPr>
            <a:r>
              <a:rPr lang="en-US" sz="2100" dirty="0">
                <a:solidFill>
                  <a:srgbClr val="9A988F"/>
                </a:solidFill>
                <a:latin typeface="Georgia" pitchFamily="34" charset="0"/>
                <a:ea typeface="Georgia" pitchFamily="34" charset="-122"/>
                <a:cs typeface="Georgia" pitchFamily="34" charset="-120"/>
              </a:rPr>
              <a:t>•</a:t>
            </a:r>
            <a:endParaRPr lang="en-US" sz="2100" dirty="0"/>
          </a:p>
        </p:txBody>
      </p:sp>
      <p:sp>
        <p:nvSpPr>
          <p:cNvPr id="35" name="Text 32"/>
          <p:cNvSpPr/>
          <p:nvPr/>
        </p:nvSpPr>
        <p:spPr>
          <a:xfrm>
            <a:off x="6330322" y="9150450"/>
            <a:ext cx="2275764" cy="397933"/>
          </a:xfrm>
          <a:prstGeom prst="rect">
            <a:avLst/>
          </a:prstGeom>
          <a:noFill/>
          <a:ln/>
        </p:spPr>
        <p:txBody>
          <a:bodyPr wrap="none" lIns="25400" tIns="25400" rIns="25400" bIns="25400" rtlCol="0" anchor="t">
            <a:normAutofit/>
          </a:bodyPr>
          <a:lstStyle/>
          <a:p>
            <a:pPr marL="0" indent="0" algn="l">
              <a:buNone/>
            </a:pPr>
            <a:r>
              <a:rPr lang="en-US" sz="2100" dirty="0">
                <a:solidFill>
                  <a:srgbClr val="3D3B37"/>
                </a:solidFill>
                <a:latin typeface="Georgia" pitchFamily="34" charset="0"/>
                <a:ea typeface="Georgia" pitchFamily="34" charset="-122"/>
                <a:cs typeface="Georgia" pitchFamily="34" charset="-120"/>
              </a:rPr>
              <a:t>traceable claims</a:t>
            </a:r>
            <a:endParaRPr lang="en-US" sz="2100" dirty="0"/>
          </a:p>
        </p:txBody>
      </p:sp>
      <p:sp>
        <p:nvSpPr>
          <p:cNvPr id="36" name="Text 33"/>
          <p:cNvSpPr/>
          <p:nvPr/>
        </p:nvSpPr>
        <p:spPr>
          <a:xfrm>
            <a:off x="9841296" y="9203366"/>
            <a:ext cx="7456171" cy="588433"/>
          </a:xfrm>
          <a:prstGeom prst="rect">
            <a:avLst/>
          </a:prstGeom>
          <a:noFill/>
          <a:ln/>
        </p:spPr>
        <p:txBody>
          <a:bodyPr wrap="square" lIns="25400" tIns="25400" rIns="25400" bIns="25400" rtlCol="0" anchor="t">
            <a:normAutofit lnSpcReduction="10000"/>
          </a:bodyPr>
          <a:lstStyle/>
          <a:p>
            <a:pPr marL="0" indent="0" algn="r">
              <a:buNone/>
            </a:pPr>
            <a:r>
              <a:rPr lang="en-US" sz="1950" i="1" dirty="0">
                <a:solidFill>
                  <a:srgbClr val="6B6964"/>
                </a:solidFill>
                <a:latin typeface="Georgia" pitchFamily="34" charset="0"/>
                <a:ea typeface="Georgia" pitchFamily="34" charset="-122"/>
                <a:cs typeface="Georgia" pitchFamily="34" charset="-120"/>
              </a:rPr>
              <a:t>Persistent external knowledge becomes usable memory through retrieval and maintenance.</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990534" y="838068"/>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838068"/>
            <a:ext cx="338303" cy="376767"/>
          </a:xfrm>
          <a:prstGeom prst="rect">
            <a:avLst/>
          </a:prstGeom>
          <a:noFill/>
          <a:ln/>
        </p:spPr>
        <p:txBody>
          <a:bodyPr wrap="square" lIns="25400" tIns="25400" rIns="25400" bIns="25400" rtlCol="0" anchor="t">
            <a:normAutofit fontScale="92500"/>
          </a:bodyPr>
          <a:lstStyle/>
          <a:p>
            <a:pPr marL="0" indent="0" algn="l">
              <a:buNone/>
            </a:pPr>
            <a:r>
              <a:rPr lang="en-US" sz="1950" dirty="0">
                <a:solidFill>
                  <a:srgbClr val="6B6964"/>
                </a:solidFill>
                <a:latin typeface="Georgia" pitchFamily="34" charset="0"/>
                <a:ea typeface="Georgia" pitchFamily="34" charset="-122"/>
                <a:cs typeface="Georgia" pitchFamily="34" charset="-120"/>
              </a:rPr>
              <a:t>02</a:t>
            </a:r>
            <a:endParaRPr lang="en-US" sz="1950" dirty="0"/>
          </a:p>
        </p:txBody>
      </p:sp>
      <p:sp>
        <p:nvSpPr>
          <p:cNvPr id="4" name="Text 2"/>
          <p:cNvSpPr/>
          <p:nvPr/>
        </p:nvSpPr>
        <p:spPr>
          <a:xfrm>
            <a:off x="990534" y="1595768"/>
            <a:ext cx="17937626" cy="821267"/>
          </a:xfrm>
          <a:prstGeom prst="rect">
            <a:avLst/>
          </a:prstGeom>
          <a:noFill/>
          <a:ln/>
        </p:spPr>
        <p:txBody>
          <a:bodyPr wrap="square" lIns="25400" tIns="25400" rIns="25400" bIns="25400" rtlCol="0" anchor="t">
            <a:normAutofit/>
          </a:bodyPr>
          <a:lstStyle/>
          <a:p>
            <a:pPr marL="0" indent="0" algn="l">
              <a:buNone/>
            </a:pPr>
            <a:r>
              <a:rPr lang="en-US" sz="4500" dirty="0">
                <a:solidFill>
                  <a:srgbClr val="1F1E1C"/>
                </a:solidFill>
                <a:latin typeface="Georgia" pitchFamily="34" charset="0"/>
                <a:ea typeface="Georgia" pitchFamily="34" charset="-122"/>
                <a:cs typeface="Georgia" pitchFamily="34" charset="-120"/>
              </a:rPr>
              <a:t>Purpose and boundaries</a:t>
            </a:r>
            <a:endParaRPr lang="en-US" sz="4500" dirty="0"/>
          </a:p>
        </p:txBody>
      </p:sp>
      <p:sp>
        <p:nvSpPr>
          <p:cNvPr id="5" name="Shape 3"/>
          <p:cNvSpPr/>
          <p:nvPr/>
        </p:nvSpPr>
        <p:spPr>
          <a:xfrm>
            <a:off x="990534" y="3518628"/>
            <a:ext cx="7827202" cy="10583"/>
          </a:xfrm>
          <a:prstGeom prst="rect">
            <a:avLst/>
          </a:prstGeom>
          <a:solidFill>
            <a:srgbClr val="CFCDC6"/>
          </a:solidFill>
          <a:ln/>
        </p:spPr>
      </p:sp>
      <p:sp>
        <p:nvSpPr>
          <p:cNvPr id="6" name="Text 4"/>
          <p:cNvSpPr/>
          <p:nvPr/>
        </p:nvSpPr>
        <p:spPr>
          <a:xfrm>
            <a:off x="990534" y="3026503"/>
            <a:ext cx="8062019" cy="339725"/>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PURPOSE</a:t>
            </a:r>
            <a:endParaRPr lang="en-US" sz="1800" dirty="0"/>
          </a:p>
        </p:txBody>
      </p:sp>
      <p:sp>
        <p:nvSpPr>
          <p:cNvPr id="7" name="Shape 5"/>
          <p:cNvSpPr/>
          <p:nvPr/>
        </p:nvSpPr>
        <p:spPr>
          <a:xfrm>
            <a:off x="8817736" y="3518628"/>
            <a:ext cx="8479731" cy="10583"/>
          </a:xfrm>
          <a:prstGeom prst="rect">
            <a:avLst/>
          </a:prstGeom>
          <a:solidFill>
            <a:srgbClr val="CFCDC6"/>
          </a:solidFill>
          <a:ln/>
        </p:spPr>
      </p:sp>
      <p:sp>
        <p:nvSpPr>
          <p:cNvPr id="8" name="Text 6"/>
          <p:cNvSpPr/>
          <p:nvPr/>
        </p:nvSpPr>
        <p:spPr>
          <a:xfrm>
            <a:off x="8817736" y="3026503"/>
            <a:ext cx="8734123" cy="339725"/>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OPERATIONAL BOUNDARY</a:t>
            </a:r>
            <a:endParaRPr lang="en-US" sz="1800" dirty="0"/>
          </a:p>
        </p:txBody>
      </p:sp>
      <p:sp>
        <p:nvSpPr>
          <p:cNvPr id="9" name="Shape 7"/>
          <p:cNvSpPr/>
          <p:nvPr/>
        </p:nvSpPr>
        <p:spPr>
          <a:xfrm>
            <a:off x="990534" y="4600112"/>
            <a:ext cx="7827202" cy="10583"/>
          </a:xfrm>
          <a:prstGeom prst="rect">
            <a:avLst/>
          </a:prstGeom>
          <a:solidFill>
            <a:srgbClr val="E6E4DE"/>
          </a:solidFill>
          <a:ln/>
        </p:spPr>
      </p:sp>
      <p:sp>
        <p:nvSpPr>
          <p:cNvPr id="10" name="Text 8"/>
          <p:cNvSpPr/>
          <p:nvPr/>
        </p:nvSpPr>
        <p:spPr>
          <a:xfrm>
            <a:off x="990534" y="3853061"/>
            <a:ext cx="7681019" cy="461301"/>
          </a:xfrm>
          <a:prstGeom prst="rect">
            <a:avLst/>
          </a:prstGeom>
          <a:noFill/>
          <a:ln/>
        </p:spPr>
        <p:txBody>
          <a:bodyPr wrap="square" lIns="25400" tIns="25400" rIns="25400" bIns="25400" rtlCol="0" anchor="ctr">
            <a:normAutofit/>
          </a:bodyPr>
          <a:lstStyle/>
          <a:p>
            <a:r>
              <a:rPr lang="hu-HU" sz="2400" dirty="0" err="1">
                <a:latin typeface="Georgia" panose="02040502050405020303" pitchFamily="18" charset="0"/>
              </a:rPr>
              <a:t>From</a:t>
            </a:r>
            <a:r>
              <a:rPr lang="hu-HU" sz="2400" dirty="0">
                <a:latin typeface="Georgia" panose="02040502050405020303" pitchFamily="18" charset="0"/>
              </a:rPr>
              <a:t> </a:t>
            </a:r>
            <a:r>
              <a:rPr lang="hu-HU" sz="2400" dirty="0" err="1">
                <a:latin typeface="Georgia" panose="02040502050405020303" pitchFamily="18" charset="0"/>
              </a:rPr>
              <a:t>document</a:t>
            </a:r>
            <a:r>
              <a:rPr lang="hu-HU" sz="2400" dirty="0">
                <a:latin typeface="Georgia" panose="02040502050405020303" pitchFamily="18" charset="0"/>
              </a:rPr>
              <a:t> </a:t>
            </a:r>
            <a:r>
              <a:rPr lang="hu-HU" sz="2400" dirty="0" err="1">
                <a:latin typeface="Georgia" panose="02040502050405020303" pitchFamily="18" charset="0"/>
              </a:rPr>
              <a:t>to</a:t>
            </a:r>
            <a:r>
              <a:rPr lang="hu-HU" sz="2400" dirty="0">
                <a:latin typeface="Georgia" panose="02040502050405020303" pitchFamily="18" charset="0"/>
              </a:rPr>
              <a:t> </a:t>
            </a:r>
            <a:r>
              <a:rPr lang="hu-HU" sz="2400" dirty="0" err="1">
                <a:latin typeface="Georgia" panose="02040502050405020303" pitchFamily="18" charset="0"/>
              </a:rPr>
              <a:t>usable</a:t>
            </a:r>
            <a:r>
              <a:rPr lang="hu-HU" sz="2400" dirty="0">
                <a:latin typeface="Georgia" panose="02040502050405020303" pitchFamily="18" charset="0"/>
              </a:rPr>
              <a:t> </a:t>
            </a:r>
            <a:r>
              <a:rPr lang="hu-HU" sz="2400" dirty="0" err="1">
                <a:latin typeface="Georgia" panose="02040502050405020303" pitchFamily="18" charset="0"/>
              </a:rPr>
              <a:t>knowledge</a:t>
            </a:r>
            <a:endParaRPr lang="en-US" sz="2400" dirty="0">
              <a:latin typeface="Georgia" panose="02040502050405020303" pitchFamily="18" charset="0"/>
            </a:endParaRPr>
          </a:p>
        </p:txBody>
      </p:sp>
      <p:sp>
        <p:nvSpPr>
          <p:cNvPr id="11" name="Shape 9"/>
          <p:cNvSpPr/>
          <p:nvPr/>
        </p:nvSpPr>
        <p:spPr>
          <a:xfrm>
            <a:off x="8817736" y="4600112"/>
            <a:ext cx="8479731" cy="10583"/>
          </a:xfrm>
          <a:prstGeom prst="rect">
            <a:avLst/>
          </a:prstGeom>
          <a:solidFill>
            <a:srgbClr val="E6E4DE"/>
          </a:solidFill>
          <a:ln/>
        </p:spPr>
      </p:sp>
      <p:sp>
        <p:nvSpPr>
          <p:cNvPr id="12" name="Text 10"/>
          <p:cNvSpPr/>
          <p:nvPr/>
        </p:nvSpPr>
        <p:spPr>
          <a:xfrm>
            <a:off x="8817736" y="3853061"/>
            <a:ext cx="8734123" cy="461301"/>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One intact AGA v2.0 PDF</a:t>
            </a:r>
            <a:endParaRPr lang="en-US" sz="2400" dirty="0"/>
          </a:p>
        </p:txBody>
      </p:sp>
      <p:sp>
        <p:nvSpPr>
          <p:cNvPr id="13" name="Shape 11"/>
          <p:cNvSpPr/>
          <p:nvPr/>
        </p:nvSpPr>
        <p:spPr>
          <a:xfrm>
            <a:off x="990534" y="5681597"/>
            <a:ext cx="7827202" cy="10583"/>
          </a:xfrm>
          <a:prstGeom prst="rect">
            <a:avLst/>
          </a:prstGeom>
          <a:solidFill>
            <a:srgbClr val="E6E4DE"/>
          </a:solidFill>
          <a:ln/>
        </p:spPr>
      </p:sp>
      <p:sp>
        <p:nvSpPr>
          <p:cNvPr id="14" name="Text 12"/>
          <p:cNvSpPr/>
          <p:nvPr/>
        </p:nvSpPr>
        <p:spPr>
          <a:xfrm>
            <a:off x="990534" y="4934546"/>
            <a:ext cx="7681019" cy="461301"/>
          </a:xfrm>
          <a:prstGeom prst="rect">
            <a:avLst/>
          </a:prstGeom>
          <a:noFill/>
          <a:ln/>
        </p:spPr>
        <p:txBody>
          <a:bodyPr wrap="square" lIns="25400" tIns="25400" rIns="25400" bIns="25400" rtlCol="0" anchor="ctr">
            <a:normAutofit/>
          </a:bodyPr>
          <a:lstStyle/>
          <a:p>
            <a:r>
              <a:rPr lang="hu-HU" sz="2400" dirty="0" err="1">
                <a:latin typeface="Georgia" panose="02040502050405020303" pitchFamily="18" charset="0"/>
              </a:rPr>
              <a:t>Relationships</a:t>
            </a:r>
            <a:r>
              <a:rPr lang="hu-HU" sz="2400" dirty="0">
                <a:latin typeface="Georgia" panose="02040502050405020303" pitchFamily="18" charset="0"/>
              </a:rPr>
              <a:t> </a:t>
            </a:r>
            <a:r>
              <a:rPr lang="hu-HU" sz="2400" dirty="0" err="1">
                <a:latin typeface="Georgia" panose="02040502050405020303" pitchFamily="18" charset="0"/>
              </a:rPr>
              <a:t>carry</a:t>
            </a:r>
            <a:r>
              <a:rPr lang="hu-HU" sz="2400" dirty="0">
                <a:latin typeface="Georgia" panose="02040502050405020303" pitchFamily="18" charset="0"/>
              </a:rPr>
              <a:t> </a:t>
            </a:r>
            <a:r>
              <a:rPr lang="hu-HU" sz="2400" dirty="0" err="1">
                <a:latin typeface="Georgia" panose="02040502050405020303" pitchFamily="18" charset="0"/>
              </a:rPr>
              <a:t>the</a:t>
            </a:r>
            <a:r>
              <a:rPr lang="hu-HU" sz="2400" dirty="0">
                <a:latin typeface="Georgia" panose="02040502050405020303" pitchFamily="18" charset="0"/>
              </a:rPr>
              <a:t> </a:t>
            </a:r>
            <a:r>
              <a:rPr lang="hu-HU" sz="2400" dirty="0" err="1">
                <a:latin typeface="Georgia" panose="02040502050405020303" pitchFamily="18" charset="0"/>
              </a:rPr>
              <a:t>reasoning</a:t>
            </a:r>
            <a:r>
              <a:rPr lang="hu-HU" sz="2400" dirty="0">
                <a:latin typeface="Georgia" panose="02040502050405020303" pitchFamily="18" charset="0"/>
              </a:rPr>
              <a:t> </a:t>
            </a:r>
            <a:endParaRPr lang="en-US" sz="2400" dirty="0">
              <a:latin typeface="Georgia" panose="02040502050405020303" pitchFamily="18" charset="0"/>
            </a:endParaRPr>
          </a:p>
        </p:txBody>
      </p:sp>
      <p:sp>
        <p:nvSpPr>
          <p:cNvPr id="15" name="Shape 13"/>
          <p:cNvSpPr/>
          <p:nvPr/>
        </p:nvSpPr>
        <p:spPr>
          <a:xfrm>
            <a:off x="8817736" y="5681597"/>
            <a:ext cx="8479731" cy="10583"/>
          </a:xfrm>
          <a:prstGeom prst="rect">
            <a:avLst/>
          </a:prstGeom>
          <a:solidFill>
            <a:srgbClr val="E6E4DE"/>
          </a:solidFill>
          <a:ln/>
        </p:spPr>
      </p:sp>
      <p:sp>
        <p:nvSpPr>
          <p:cNvPr id="16" name="Text 14"/>
          <p:cNvSpPr/>
          <p:nvPr/>
        </p:nvSpPr>
        <p:spPr>
          <a:xfrm>
            <a:off x="8817736" y="4934546"/>
            <a:ext cx="8734123" cy="461301"/>
          </a:xfrm>
          <a:prstGeom prst="rect">
            <a:avLst/>
          </a:prstGeom>
          <a:noFill/>
          <a:ln/>
        </p:spPr>
        <p:txBody>
          <a:bodyPr wrap="square" lIns="25400" tIns="25400" rIns="25400" bIns="25400" rtlCol="0" anchor="ctr">
            <a:normAutofit/>
          </a:bodyPr>
          <a:lstStyle/>
          <a:p>
            <a:r>
              <a:rPr lang="en-US" sz="2400" dirty="0">
                <a:solidFill>
                  <a:srgbClr val="1F1E1C"/>
                </a:solidFill>
                <a:latin typeface="Georgia" pitchFamily="34" charset="0"/>
                <a:ea typeface="Georgia" pitchFamily="34" charset="-122"/>
                <a:cs typeface="Georgia" pitchFamily="34" charset="-120"/>
              </a:rPr>
              <a:t>Navigable legal and budget concepts</a:t>
            </a:r>
            <a:endParaRPr lang="en-US" sz="2400" dirty="0"/>
          </a:p>
        </p:txBody>
      </p:sp>
      <p:sp>
        <p:nvSpPr>
          <p:cNvPr id="17" name="Shape 15"/>
          <p:cNvSpPr/>
          <p:nvPr/>
        </p:nvSpPr>
        <p:spPr>
          <a:xfrm>
            <a:off x="990534" y="6763081"/>
            <a:ext cx="7827202" cy="10583"/>
          </a:xfrm>
          <a:prstGeom prst="rect">
            <a:avLst/>
          </a:prstGeom>
          <a:solidFill>
            <a:srgbClr val="E6E4DE"/>
          </a:solidFill>
          <a:ln/>
        </p:spPr>
      </p:sp>
      <p:sp>
        <p:nvSpPr>
          <p:cNvPr id="18" name="Text 16"/>
          <p:cNvSpPr/>
          <p:nvPr/>
        </p:nvSpPr>
        <p:spPr>
          <a:xfrm>
            <a:off x="990534" y="6016030"/>
            <a:ext cx="7681019" cy="461301"/>
          </a:xfrm>
          <a:prstGeom prst="rect">
            <a:avLst/>
          </a:prstGeom>
          <a:noFill/>
          <a:ln/>
        </p:spPr>
        <p:txBody>
          <a:bodyPr wrap="square" lIns="25400" tIns="25400" rIns="25400" bIns="25400" rtlCol="0" anchor="ctr">
            <a:normAutofit/>
          </a:bodyPr>
          <a:lstStyle/>
          <a:p>
            <a:r>
              <a:rPr lang="hu-HU" sz="2400" dirty="0" err="1">
                <a:latin typeface="Georgia" panose="02040502050405020303" pitchFamily="18" charset="0"/>
              </a:rPr>
              <a:t>Specification</a:t>
            </a:r>
            <a:r>
              <a:rPr lang="hu-HU" sz="2400" dirty="0">
                <a:latin typeface="Georgia" panose="02040502050405020303" pitchFamily="18" charset="0"/>
              </a:rPr>
              <a:t> </a:t>
            </a:r>
            <a:r>
              <a:rPr lang="hu-HU" sz="2400" dirty="0" err="1">
                <a:latin typeface="Georgia" panose="02040502050405020303" pitchFamily="18" charset="0"/>
              </a:rPr>
              <a:t>driven</a:t>
            </a:r>
            <a:r>
              <a:rPr lang="hu-HU" sz="2400" dirty="0">
                <a:latin typeface="Georgia" panose="02040502050405020303" pitchFamily="18" charset="0"/>
              </a:rPr>
              <a:t> </a:t>
            </a:r>
            <a:r>
              <a:rPr lang="hu-HU" sz="2400" dirty="0" err="1">
                <a:latin typeface="Georgia" panose="02040502050405020303" pitchFamily="18" charset="0"/>
              </a:rPr>
              <a:t>development</a:t>
            </a:r>
            <a:endParaRPr lang="en-US" sz="2400" dirty="0">
              <a:latin typeface="Georgia" panose="02040502050405020303" pitchFamily="18" charset="0"/>
            </a:endParaRPr>
          </a:p>
        </p:txBody>
      </p:sp>
      <p:sp>
        <p:nvSpPr>
          <p:cNvPr id="19" name="Shape 17"/>
          <p:cNvSpPr/>
          <p:nvPr/>
        </p:nvSpPr>
        <p:spPr>
          <a:xfrm>
            <a:off x="8817736" y="6763081"/>
            <a:ext cx="8479731" cy="10583"/>
          </a:xfrm>
          <a:prstGeom prst="rect">
            <a:avLst/>
          </a:prstGeom>
          <a:solidFill>
            <a:srgbClr val="E6E4DE"/>
          </a:solidFill>
          <a:ln/>
        </p:spPr>
      </p:sp>
      <p:sp>
        <p:nvSpPr>
          <p:cNvPr id="20" name="Text 18"/>
          <p:cNvSpPr/>
          <p:nvPr/>
        </p:nvSpPr>
        <p:spPr>
          <a:xfrm>
            <a:off x="8817736" y="6016030"/>
            <a:ext cx="8734123" cy="461301"/>
          </a:xfrm>
          <a:prstGeom prst="rect">
            <a:avLst/>
          </a:prstGeom>
          <a:noFill/>
          <a:ln/>
        </p:spPr>
        <p:txBody>
          <a:bodyPr wrap="square" lIns="25400" tIns="25400" rIns="25400" bIns="25400" rtlCol="0" anchor="ctr">
            <a:normAutofit/>
          </a:bodyPr>
          <a:lstStyle/>
          <a:p>
            <a:r>
              <a:rPr lang="en-US" sz="2400" dirty="0">
                <a:solidFill>
                  <a:srgbClr val="1F1E1C"/>
                </a:solidFill>
                <a:latin typeface="Georgia" pitchFamily="34" charset="0"/>
                <a:ea typeface="Georgia" pitchFamily="34" charset="-122"/>
                <a:cs typeface="Georgia" pitchFamily="34" charset="-120"/>
              </a:rPr>
              <a:t>Demonstrable construction process</a:t>
            </a:r>
            <a:endParaRPr lang="en-US" sz="2400" dirty="0"/>
          </a:p>
        </p:txBody>
      </p:sp>
      <p:sp>
        <p:nvSpPr>
          <p:cNvPr id="21" name="Shape 19"/>
          <p:cNvSpPr/>
          <p:nvPr/>
        </p:nvSpPr>
        <p:spPr>
          <a:xfrm>
            <a:off x="990534" y="7844566"/>
            <a:ext cx="7827202" cy="10583"/>
          </a:xfrm>
          <a:prstGeom prst="rect">
            <a:avLst/>
          </a:prstGeom>
          <a:solidFill>
            <a:srgbClr val="E6E4DE"/>
          </a:solidFill>
          <a:ln/>
        </p:spPr>
      </p:sp>
      <p:sp>
        <p:nvSpPr>
          <p:cNvPr id="22" name="Text 20"/>
          <p:cNvSpPr/>
          <p:nvPr/>
        </p:nvSpPr>
        <p:spPr>
          <a:xfrm>
            <a:off x="990534" y="7097514"/>
            <a:ext cx="7681019" cy="461301"/>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Preparation for agentic execution</a:t>
            </a:r>
            <a:endParaRPr lang="en-US" sz="2400" dirty="0"/>
          </a:p>
        </p:txBody>
      </p:sp>
      <p:sp>
        <p:nvSpPr>
          <p:cNvPr id="23" name="Shape 21"/>
          <p:cNvSpPr/>
          <p:nvPr/>
        </p:nvSpPr>
        <p:spPr>
          <a:xfrm>
            <a:off x="8817736" y="7844566"/>
            <a:ext cx="8479731" cy="10583"/>
          </a:xfrm>
          <a:prstGeom prst="rect">
            <a:avLst/>
          </a:prstGeom>
          <a:solidFill>
            <a:srgbClr val="E6E4DE"/>
          </a:solidFill>
          <a:ln/>
        </p:spPr>
      </p:sp>
      <p:sp>
        <p:nvSpPr>
          <p:cNvPr id="24" name="Text 22"/>
          <p:cNvSpPr/>
          <p:nvPr/>
        </p:nvSpPr>
        <p:spPr>
          <a:xfrm>
            <a:off x="8817736" y="7097514"/>
            <a:ext cx="8734123" cy="461301"/>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Current workflow uses NotebookLM, Gems and Obsidian</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990534" y="838068"/>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838068"/>
            <a:ext cx="338303" cy="376767"/>
          </a:xfrm>
          <a:prstGeom prst="rect">
            <a:avLst/>
          </a:prstGeom>
          <a:noFill/>
          <a:ln/>
        </p:spPr>
        <p:txBody>
          <a:bodyPr wrap="square" lIns="25400" tIns="25400" rIns="25400" bIns="25400" rtlCol="0" anchor="t">
            <a:normAutofit fontScale="92500"/>
          </a:bodyPr>
          <a:lstStyle/>
          <a:p>
            <a:pPr marL="0" indent="0" algn="l">
              <a:buNone/>
            </a:pPr>
            <a:r>
              <a:rPr lang="en-US" sz="1950" dirty="0">
                <a:solidFill>
                  <a:srgbClr val="6B6964"/>
                </a:solidFill>
                <a:latin typeface="Georgia" pitchFamily="34" charset="0"/>
                <a:ea typeface="Georgia" pitchFamily="34" charset="-122"/>
                <a:cs typeface="Georgia" pitchFamily="34" charset="-120"/>
              </a:rPr>
              <a:t>03</a:t>
            </a:r>
            <a:endParaRPr lang="en-US" sz="1950" dirty="0"/>
          </a:p>
        </p:txBody>
      </p:sp>
      <p:sp>
        <p:nvSpPr>
          <p:cNvPr id="4" name="Text 2"/>
          <p:cNvSpPr/>
          <p:nvPr/>
        </p:nvSpPr>
        <p:spPr>
          <a:xfrm>
            <a:off x="990534" y="1481501"/>
            <a:ext cx="17937626" cy="821267"/>
          </a:xfrm>
          <a:prstGeom prst="rect">
            <a:avLst/>
          </a:prstGeom>
          <a:noFill/>
          <a:ln/>
        </p:spPr>
        <p:txBody>
          <a:bodyPr wrap="square" lIns="25400" tIns="25400" rIns="25400" bIns="25400" rtlCol="0" anchor="t">
            <a:normAutofit/>
          </a:bodyPr>
          <a:lstStyle/>
          <a:p>
            <a:pPr marL="0" indent="0" algn="l">
              <a:buNone/>
            </a:pPr>
            <a:r>
              <a:rPr lang="en-US" sz="4500" dirty="0">
                <a:solidFill>
                  <a:srgbClr val="1F1E1C"/>
                </a:solidFill>
                <a:latin typeface="Georgia" pitchFamily="34" charset="0"/>
                <a:ea typeface="Georgia" pitchFamily="34" charset="-122"/>
                <a:cs typeface="Georgia" pitchFamily="34" charset="-120"/>
              </a:rPr>
              <a:t>The operations package is the playbook</a:t>
            </a:r>
            <a:endParaRPr lang="en-US" sz="4500" dirty="0"/>
          </a:p>
        </p:txBody>
      </p:sp>
      <p:sp>
        <p:nvSpPr>
          <p:cNvPr id="5" name="Text 3"/>
          <p:cNvSpPr/>
          <p:nvPr/>
        </p:nvSpPr>
        <p:spPr>
          <a:xfrm>
            <a:off x="990534" y="2569435"/>
            <a:ext cx="17937626" cy="461433"/>
          </a:xfrm>
          <a:prstGeom prst="rect">
            <a:avLst/>
          </a:prstGeom>
          <a:noFill/>
          <a:ln/>
        </p:spPr>
        <p:txBody>
          <a:bodyPr wrap="square" lIns="25400" tIns="25400" rIns="25400" bIns="25400" rtlCol="0" anchor="t">
            <a:normAutofit/>
          </a:bodyPr>
          <a:lstStyle/>
          <a:p>
            <a:pPr marL="0" indent="0" algn="l">
              <a:buNone/>
            </a:pPr>
            <a:r>
              <a:rPr lang="en-US" sz="2400" dirty="0">
                <a:solidFill>
                  <a:srgbClr val="6B6964"/>
                </a:solidFill>
                <a:latin typeface="Georgia" pitchFamily="34" charset="0"/>
                <a:ea typeface="Georgia" pitchFamily="34" charset="-122"/>
                <a:cs typeface="Georgia" pitchFamily="34" charset="-120"/>
              </a:rPr>
              <a:t>AGA_Wiki_Ops translates the master prompt into reusable instructions.</a:t>
            </a:r>
            <a:endParaRPr lang="en-US" sz="2400" dirty="0"/>
          </a:p>
        </p:txBody>
      </p:sp>
      <p:sp>
        <p:nvSpPr>
          <p:cNvPr id="6" name="Shape 4"/>
          <p:cNvSpPr/>
          <p:nvPr/>
        </p:nvSpPr>
        <p:spPr>
          <a:xfrm>
            <a:off x="990534" y="4391918"/>
            <a:ext cx="5257933" cy="3039732"/>
          </a:xfrm>
          <a:prstGeom prst="roundRect">
            <a:avLst>
              <a:gd name="adj" fmla="val 3760"/>
            </a:avLst>
          </a:prstGeom>
          <a:solidFill>
            <a:srgbClr val="FFFFFF"/>
          </a:solidFill>
          <a:ln w="10583">
            <a:solidFill>
              <a:srgbClr val="DCDAD4"/>
            </a:solidFill>
            <a:prstDash val="solid"/>
          </a:ln>
        </p:spPr>
      </p:sp>
      <p:sp>
        <p:nvSpPr>
          <p:cNvPr id="7" name="Text 5"/>
          <p:cNvSpPr/>
          <p:nvPr/>
        </p:nvSpPr>
        <p:spPr>
          <a:xfrm>
            <a:off x="1382117" y="4783502"/>
            <a:ext cx="4922242" cy="345017"/>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COMPONENT</a:t>
            </a:r>
            <a:endParaRPr lang="en-US" sz="1800" dirty="0"/>
          </a:p>
        </p:txBody>
      </p:sp>
      <p:sp>
        <p:nvSpPr>
          <p:cNvPr id="8" name="Text 6"/>
          <p:cNvSpPr/>
          <p:nvPr/>
        </p:nvSpPr>
        <p:spPr>
          <a:xfrm>
            <a:off x="1382117" y="5261736"/>
            <a:ext cx="4922242" cy="524933"/>
          </a:xfrm>
          <a:prstGeom prst="rect">
            <a:avLst/>
          </a:prstGeom>
          <a:noFill/>
          <a:ln/>
        </p:spPr>
        <p:txBody>
          <a:bodyPr wrap="square" lIns="25400" tIns="25400" rIns="25400" bIns="25400" rtlCol="0" anchor="t">
            <a:normAutofit/>
          </a:bodyPr>
          <a:lstStyle/>
          <a:p>
            <a:pPr marL="0" indent="0" algn="l">
              <a:buNone/>
            </a:pPr>
            <a:r>
              <a:rPr lang="en-US" sz="2850" dirty="0">
                <a:solidFill>
                  <a:srgbClr val="1F1E1C"/>
                </a:solidFill>
                <a:latin typeface="Georgia" pitchFamily="34" charset="0"/>
                <a:ea typeface="Georgia" pitchFamily="34" charset="-122"/>
                <a:cs typeface="Georgia" pitchFamily="34" charset="-120"/>
              </a:rPr>
              <a:t>Operations manual</a:t>
            </a:r>
            <a:endParaRPr lang="en-US" sz="2850" dirty="0"/>
          </a:p>
        </p:txBody>
      </p:sp>
      <p:sp>
        <p:nvSpPr>
          <p:cNvPr id="9" name="Text 7"/>
          <p:cNvSpPr/>
          <p:nvPr/>
        </p:nvSpPr>
        <p:spPr>
          <a:xfrm>
            <a:off x="1382117" y="5919887"/>
            <a:ext cx="4609009" cy="784886"/>
          </a:xfrm>
          <a:prstGeom prst="rect">
            <a:avLst/>
          </a:prstGeom>
          <a:noFill/>
          <a:ln/>
        </p:spPr>
        <p:txBody>
          <a:bodyPr wrap="square" lIns="25400" tIns="25400" rIns="25400" bIns="25400" rtlCol="0" anchor="t">
            <a:normAutofit lnSpcReduction="10000"/>
          </a:bodyPr>
          <a:lstStyle/>
          <a:p>
            <a:pPr marL="0" indent="0" algn="l">
              <a:lnSpc>
                <a:spcPct val="121655"/>
              </a:lnSpc>
              <a:buNone/>
            </a:pPr>
            <a:r>
              <a:rPr lang="en-US" sz="2100" dirty="0">
                <a:solidFill>
                  <a:srgbClr val="4F4D48"/>
                </a:solidFill>
                <a:latin typeface="Georgia" pitchFamily="34" charset="0"/>
                <a:ea typeface="Georgia" pitchFamily="34" charset="-122"/>
                <a:cs typeface="Georgia" pitchFamily="34" charset="-120"/>
              </a:rPr>
              <a:t>Milestones, dependencies, tool routing, stop conditions</a:t>
            </a:r>
            <a:endParaRPr lang="en-US" sz="2100" dirty="0"/>
          </a:p>
        </p:txBody>
      </p:sp>
      <p:sp>
        <p:nvSpPr>
          <p:cNvPr id="10" name="Shape 8"/>
          <p:cNvSpPr/>
          <p:nvPr/>
        </p:nvSpPr>
        <p:spPr>
          <a:xfrm>
            <a:off x="6515034" y="4391918"/>
            <a:ext cx="5257933" cy="3039732"/>
          </a:xfrm>
          <a:prstGeom prst="roundRect">
            <a:avLst>
              <a:gd name="adj" fmla="val 3760"/>
            </a:avLst>
          </a:prstGeom>
          <a:solidFill>
            <a:srgbClr val="FFFFFF"/>
          </a:solidFill>
          <a:ln w="10583">
            <a:solidFill>
              <a:srgbClr val="DCDAD4"/>
            </a:solidFill>
            <a:prstDash val="solid"/>
          </a:ln>
        </p:spPr>
      </p:sp>
      <p:sp>
        <p:nvSpPr>
          <p:cNvPr id="11" name="Text 9"/>
          <p:cNvSpPr/>
          <p:nvPr/>
        </p:nvSpPr>
        <p:spPr>
          <a:xfrm>
            <a:off x="6906617" y="4783502"/>
            <a:ext cx="4922242" cy="345017"/>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COMPONENT</a:t>
            </a:r>
            <a:endParaRPr lang="en-US" sz="1800" dirty="0"/>
          </a:p>
        </p:txBody>
      </p:sp>
      <p:sp>
        <p:nvSpPr>
          <p:cNvPr id="12" name="Text 10"/>
          <p:cNvSpPr/>
          <p:nvPr/>
        </p:nvSpPr>
        <p:spPr>
          <a:xfrm>
            <a:off x="6906617" y="5261736"/>
            <a:ext cx="4922242" cy="524933"/>
          </a:xfrm>
          <a:prstGeom prst="rect">
            <a:avLst/>
          </a:prstGeom>
          <a:noFill/>
          <a:ln/>
        </p:spPr>
        <p:txBody>
          <a:bodyPr wrap="square" lIns="25400" tIns="25400" rIns="25400" bIns="25400" rtlCol="0" anchor="t">
            <a:normAutofit/>
          </a:bodyPr>
          <a:lstStyle/>
          <a:p>
            <a:pPr marL="0" indent="0" algn="l">
              <a:buNone/>
            </a:pPr>
            <a:r>
              <a:rPr lang="en-US" sz="2850" dirty="0">
                <a:solidFill>
                  <a:srgbClr val="1F1E1C"/>
                </a:solidFill>
                <a:latin typeface="Georgia" pitchFamily="34" charset="0"/>
                <a:ea typeface="Georgia" pitchFamily="34" charset="-122"/>
                <a:cs typeface="Georgia" pitchFamily="34" charset="-120"/>
              </a:rPr>
              <a:t>G0–G9 instructions</a:t>
            </a:r>
            <a:endParaRPr lang="en-US" sz="2850" dirty="0"/>
          </a:p>
        </p:txBody>
      </p:sp>
      <p:sp>
        <p:nvSpPr>
          <p:cNvPr id="13" name="Text 11"/>
          <p:cNvSpPr/>
          <p:nvPr/>
        </p:nvSpPr>
        <p:spPr>
          <a:xfrm>
            <a:off x="6906617" y="5919887"/>
            <a:ext cx="4609009" cy="1158280"/>
          </a:xfrm>
          <a:prstGeom prst="rect">
            <a:avLst/>
          </a:prstGeom>
          <a:noFill/>
          <a:ln/>
        </p:spPr>
        <p:txBody>
          <a:bodyPr wrap="square" lIns="25400" tIns="25400" rIns="25400" bIns="25400" rtlCol="0" anchor="t">
            <a:normAutofit/>
          </a:bodyPr>
          <a:lstStyle/>
          <a:p>
            <a:pPr marL="0" indent="0" algn="l">
              <a:lnSpc>
                <a:spcPct val="121655"/>
              </a:lnSpc>
              <a:buNone/>
            </a:pPr>
            <a:r>
              <a:rPr lang="en-US" sz="2100" dirty="0">
                <a:solidFill>
                  <a:srgbClr val="4F4D48"/>
                </a:solidFill>
                <a:latin typeface="Georgia" pitchFamily="34" charset="0"/>
                <a:ea typeface="Georgia" pitchFamily="34" charset="-122"/>
                <a:cs typeface="Georgia" pitchFamily="34" charset="-120"/>
              </a:rPr>
              <a:t>Separate roles for discovery, schema, authoring and maintenance</a:t>
            </a:r>
            <a:endParaRPr lang="en-US" sz="2100" dirty="0"/>
          </a:p>
        </p:txBody>
      </p:sp>
      <p:sp>
        <p:nvSpPr>
          <p:cNvPr id="14" name="Shape 12"/>
          <p:cNvSpPr/>
          <p:nvPr/>
        </p:nvSpPr>
        <p:spPr>
          <a:xfrm>
            <a:off x="12039535" y="4391918"/>
            <a:ext cx="5257933" cy="3039732"/>
          </a:xfrm>
          <a:prstGeom prst="roundRect">
            <a:avLst>
              <a:gd name="adj" fmla="val 3760"/>
            </a:avLst>
          </a:prstGeom>
          <a:solidFill>
            <a:srgbClr val="FFFFFF"/>
          </a:solidFill>
          <a:ln w="10583">
            <a:solidFill>
              <a:srgbClr val="DCDAD4"/>
            </a:solidFill>
            <a:prstDash val="solid"/>
          </a:ln>
        </p:spPr>
      </p:sp>
      <p:sp>
        <p:nvSpPr>
          <p:cNvPr id="15" name="Text 13"/>
          <p:cNvSpPr/>
          <p:nvPr/>
        </p:nvSpPr>
        <p:spPr>
          <a:xfrm>
            <a:off x="12431118" y="4783502"/>
            <a:ext cx="4922242" cy="345017"/>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COMPONENT</a:t>
            </a:r>
            <a:endParaRPr lang="en-US" sz="1800" dirty="0"/>
          </a:p>
        </p:txBody>
      </p:sp>
      <p:sp>
        <p:nvSpPr>
          <p:cNvPr id="16" name="Text 14"/>
          <p:cNvSpPr/>
          <p:nvPr/>
        </p:nvSpPr>
        <p:spPr>
          <a:xfrm>
            <a:off x="12431118" y="5261736"/>
            <a:ext cx="4922242" cy="524933"/>
          </a:xfrm>
          <a:prstGeom prst="rect">
            <a:avLst/>
          </a:prstGeom>
          <a:noFill/>
          <a:ln/>
        </p:spPr>
        <p:txBody>
          <a:bodyPr wrap="square" lIns="25400" tIns="25400" rIns="25400" bIns="25400" rtlCol="0" anchor="t">
            <a:normAutofit/>
          </a:bodyPr>
          <a:lstStyle/>
          <a:p>
            <a:pPr marL="0" indent="0" algn="l">
              <a:buNone/>
            </a:pPr>
            <a:r>
              <a:rPr lang="en-US" sz="2850" dirty="0">
                <a:solidFill>
                  <a:srgbClr val="1F1E1C"/>
                </a:solidFill>
                <a:latin typeface="Georgia" pitchFamily="34" charset="0"/>
                <a:ea typeface="Georgia" pitchFamily="34" charset="-122"/>
                <a:cs typeface="Georgia" pitchFamily="34" charset="-120"/>
              </a:rPr>
              <a:t>Templates</a:t>
            </a:r>
            <a:endParaRPr lang="en-US" sz="2850" dirty="0"/>
          </a:p>
        </p:txBody>
      </p:sp>
      <p:sp>
        <p:nvSpPr>
          <p:cNvPr id="17" name="Text 15"/>
          <p:cNvSpPr/>
          <p:nvPr/>
        </p:nvSpPr>
        <p:spPr>
          <a:xfrm>
            <a:off x="12431118" y="5919887"/>
            <a:ext cx="4609009" cy="784886"/>
          </a:xfrm>
          <a:prstGeom prst="rect">
            <a:avLst/>
          </a:prstGeom>
          <a:noFill/>
          <a:ln/>
        </p:spPr>
        <p:txBody>
          <a:bodyPr wrap="square" lIns="25400" tIns="25400" rIns="25400" bIns="25400" rtlCol="0" anchor="t">
            <a:normAutofit lnSpcReduction="10000"/>
          </a:bodyPr>
          <a:lstStyle/>
          <a:p>
            <a:pPr marL="0" indent="0" algn="l">
              <a:lnSpc>
                <a:spcPct val="121655"/>
              </a:lnSpc>
              <a:buNone/>
            </a:pPr>
            <a:r>
              <a:rPr lang="en-US" sz="2100" dirty="0">
                <a:solidFill>
                  <a:srgbClr val="4F4D48"/>
                </a:solidFill>
                <a:latin typeface="Georgia" pitchFamily="34" charset="0"/>
                <a:ea typeface="Georgia" pitchFamily="34" charset="-122"/>
                <a:cs typeface="Georgia" pitchFamily="34" charset="-120"/>
              </a:rPr>
              <a:t>Schema skeleton, ticket, dashboard, snapshot</a:t>
            </a:r>
            <a:endParaRPr lang="en-US" sz="2100" dirty="0"/>
          </a:p>
        </p:txBody>
      </p:sp>
      <p:sp>
        <p:nvSpPr>
          <p:cNvPr id="18" name="Shape 16"/>
          <p:cNvSpPr/>
          <p:nvPr/>
        </p:nvSpPr>
        <p:spPr>
          <a:xfrm>
            <a:off x="990534" y="8830965"/>
            <a:ext cx="16306933" cy="10583"/>
          </a:xfrm>
          <a:prstGeom prst="rect">
            <a:avLst/>
          </a:prstGeom>
          <a:solidFill>
            <a:srgbClr val="D3D1CA"/>
          </a:solidFill>
          <a:ln/>
        </p:spPr>
      </p:sp>
      <p:sp>
        <p:nvSpPr>
          <p:cNvPr id="19" name="Text 17"/>
          <p:cNvSpPr/>
          <p:nvPr/>
        </p:nvSpPr>
        <p:spPr>
          <a:xfrm>
            <a:off x="990534" y="9089198"/>
            <a:ext cx="16796141" cy="397834"/>
          </a:xfrm>
          <a:prstGeom prst="rect">
            <a:avLst/>
          </a:prstGeom>
          <a:noFill/>
          <a:ln/>
        </p:spPr>
        <p:txBody>
          <a:bodyPr wrap="square" lIns="25400" tIns="25400" rIns="25400" bIns="25400" rtlCol="0" anchor="t">
            <a:normAutofit/>
          </a:bodyPr>
          <a:lstStyle/>
          <a:p>
            <a:pPr marL="0" indent="0" algn="l">
              <a:buNone/>
            </a:pPr>
            <a:r>
              <a:rPr lang="en-US" sz="2100" dirty="0">
                <a:solidFill>
                  <a:srgbClr val="6B6964"/>
                </a:solidFill>
                <a:latin typeface="Georgia" pitchFamily="34" charset="0"/>
                <a:ea typeface="Georgia" pitchFamily="34" charset="-122"/>
                <a:cs typeface="Georgia" pitchFamily="34" charset="-120"/>
              </a:rPr>
              <a:t>Operator selects the next ticket, checks evidence and commits approved files.</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990534" y="838068"/>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838068"/>
            <a:ext cx="338303" cy="376767"/>
          </a:xfrm>
          <a:prstGeom prst="rect">
            <a:avLst/>
          </a:prstGeom>
          <a:noFill/>
          <a:ln/>
        </p:spPr>
        <p:txBody>
          <a:bodyPr wrap="square" lIns="25400" tIns="25400" rIns="25400" bIns="25400" rtlCol="0" anchor="t">
            <a:normAutofit fontScale="92500"/>
          </a:bodyPr>
          <a:lstStyle/>
          <a:p>
            <a:pPr marL="0" indent="0" algn="l">
              <a:buNone/>
            </a:pPr>
            <a:r>
              <a:rPr lang="en-US" sz="1950" dirty="0">
                <a:solidFill>
                  <a:srgbClr val="6B6964"/>
                </a:solidFill>
                <a:latin typeface="Georgia" pitchFamily="34" charset="0"/>
                <a:ea typeface="Georgia" pitchFamily="34" charset="-122"/>
                <a:cs typeface="Georgia" pitchFamily="34" charset="-120"/>
              </a:rPr>
              <a:t>04</a:t>
            </a:r>
            <a:endParaRPr lang="en-US" sz="1950" dirty="0"/>
          </a:p>
        </p:txBody>
      </p:sp>
      <p:sp>
        <p:nvSpPr>
          <p:cNvPr id="4" name="Text 2"/>
          <p:cNvSpPr/>
          <p:nvPr/>
        </p:nvSpPr>
        <p:spPr>
          <a:xfrm>
            <a:off x="990534" y="1595768"/>
            <a:ext cx="17937626" cy="821267"/>
          </a:xfrm>
          <a:prstGeom prst="rect">
            <a:avLst/>
          </a:prstGeom>
          <a:noFill/>
          <a:ln/>
        </p:spPr>
        <p:txBody>
          <a:bodyPr wrap="square" lIns="25400" tIns="25400" rIns="25400" bIns="25400" rtlCol="0" anchor="t">
            <a:normAutofit/>
          </a:bodyPr>
          <a:lstStyle/>
          <a:p>
            <a:pPr marL="0" indent="0" algn="l">
              <a:buNone/>
            </a:pPr>
            <a:r>
              <a:rPr lang="en-US" sz="4500" dirty="0">
                <a:solidFill>
                  <a:srgbClr val="1F1E1C"/>
                </a:solidFill>
                <a:latin typeface="Georgia" pitchFamily="34" charset="0"/>
                <a:ea typeface="Georgia" pitchFamily="34" charset="-122"/>
                <a:cs typeface="Georgia" pitchFamily="34" charset="-120"/>
              </a:rPr>
              <a:t>The tools have distinct jobs</a:t>
            </a:r>
            <a:endParaRPr lang="en-US" sz="4500" dirty="0"/>
          </a:p>
        </p:txBody>
      </p:sp>
      <p:sp>
        <p:nvSpPr>
          <p:cNvPr id="5" name="Shape 3"/>
          <p:cNvSpPr/>
          <p:nvPr/>
        </p:nvSpPr>
        <p:spPr>
          <a:xfrm>
            <a:off x="990534" y="3404361"/>
            <a:ext cx="5870443" cy="10583"/>
          </a:xfrm>
          <a:prstGeom prst="rect">
            <a:avLst/>
          </a:prstGeom>
          <a:solidFill>
            <a:srgbClr val="CFCDC6"/>
          </a:solidFill>
          <a:ln/>
        </p:spPr>
      </p:sp>
      <p:sp>
        <p:nvSpPr>
          <p:cNvPr id="6" name="Text 4"/>
          <p:cNvSpPr/>
          <p:nvPr/>
        </p:nvSpPr>
        <p:spPr>
          <a:xfrm>
            <a:off x="990534" y="2912236"/>
            <a:ext cx="6046556" cy="339725"/>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TOOL</a:t>
            </a:r>
            <a:endParaRPr lang="en-US" sz="1800" dirty="0"/>
          </a:p>
        </p:txBody>
      </p:sp>
      <p:sp>
        <p:nvSpPr>
          <p:cNvPr id="7" name="Shape 5"/>
          <p:cNvSpPr/>
          <p:nvPr/>
        </p:nvSpPr>
        <p:spPr>
          <a:xfrm>
            <a:off x="6860977" y="3404361"/>
            <a:ext cx="10436490" cy="10583"/>
          </a:xfrm>
          <a:prstGeom prst="rect">
            <a:avLst/>
          </a:prstGeom>
          <a:solidFill>
            <a:srgbClr val="CFCDC6"/>
          </a:solidFill>
          <a:ln/>
        </p:spPr>
      </p:sp>
      <p:sp>
        <p:nvSpPr>
          <p:cNvPr id="8" name="Text 6"/>
          <p:cNvSpPr/>
          <p:nvPr/>
        </p:nvSpPr>
        <p:spPr>
          <a:xfrm>
            <a:off x="6860977" y="2912236"/>
            <a:ext cx="10749584" cy="339725"/>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WHAT IT CONTRIBUTES</a:t>
            </a:r>
            <a:endParaRPr lang="en-US" sz="1800" dirty="0"/>
          </a:p>
        </p:txBody>
      </p:sp>
      <p:sp>
        <p:nvSpPr>
          <p:cNvPr id="9" name="Shape 7"/>
          <p:cNvSpPr/>
          <p:nvPr/>
        </p:nvSpPr>
        <p:spPr>
          <a:xfrm>
            <a:off x="990534" y="5415195"/>
            <a:ext cx="5870443" cy="10583"/>
          </a:xfrm>
          <a:prstGeom prst="rect">
            <a:avLst/>
          </a:prstGeom>
          <a:solidFill>
            <a:srgbClr val="E6E4DE"/>
          </a:solidFill>
          <a:ln/>
        </p:spPr>
      </p:sp>
      <p:sp>
        <p:nvSpPr>
          <p:cNvPr id="10" name="Text 8"/>
          <p:cNvSpPr/>
          <p:nvPr/>
        </p:nvSpPr>
        <p:spPr>
          <a:xfrm>
            <a:off x="990534" y="3700694"/>
            <a:ext cx="5665556"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NotebookLM</a:t>
            </a:r>
            <a:endParaRPr lang="en-US" sz="2400" dirty="0"/>
          </a:p>
        </p:txBody>
      </p:sp>
      <p:sp>
        <p:nvSpPr>
          <p:cNvPr id="11" name="Shape 9"/>
          <p:cNvSpPr/>
          <p:nvPr/>
        </p:nvSpPr>
        <p:spPr>
          <a:xfrm>
            <a:off x="6860977" y="5415195"/>
            <a:ext cx="10436490" cy="10583"/>
          </a:xfrm>
          <a:prstGeom prst="rect">
            <a:avLst/>
          </a:prstGeom>
          <a:solidFill>
            <a:srgbClr val="E6E4DE"/>
          </a:solidFill>
          <a:ln/>
        </p:spPr>
      </p:sp>
      <p:sp>
        <p:nvSpPr>
          <p:cNvPr id="12" name="Text 10"/>
          <p:cNvSpPr/>
          <p:nvPr/>
        </p:nvSpPr>
        <p:spPr>
          <a:xfrm>
            <a:off x="6860977" y="3700694"/>
            <a:ext cx="10749584"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Scoped AGA extracts with page citations; saved Notes</a:t>
            </a:r>
            <a:endParaRPr lang="en-US" sz="2400" dirty="0"/>
          </a:p>
        </p:txBody>
      </p:sp>
      <p:sp>
        <p:nvSpPr>
          <p:cNvPr id="13" name="Shape 11"/>
          <p:cNvSpPr/>
          <p:nvPr/>
        </p:nvSpPr>
        <p:spPr>
          <a:xfrm>
            <a:off x="990534" y="6420611"/>
            <a:ext cx="5870443" cy="10583"/>
          </a:xfrm>
          <a:prstGeom prst="rect">
            <a:avLst/>
          </a:prstGeom>
          <a:solidFill>
            <a:srgbClr val="E6E4DE"/>
          </a:solidFill>
          <a:ln/>
        </p:spPr>
      </p:sp>
      <p:sp>
        <p:nvSpPr>
          <p:cNvPr id="14" name="Text 12"/>
          <p:cNvSpPr/>
          <p:nvPr/>
        </p:nvSpPr>
        <p:spPr>
          <a:xfrm>
            <a:off x="990534" y="5711528"/>
            <a:ext cx="5665556"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Gemini Gems</a:t>
            </a:r>
            <a:endParaRPr lang="en-US" sz="2400" dirty="0"/>
          </a:p>
        </p:txBody>
      </p:sp>
      <p:sp>
        <p:nvSpPr>
          <p:cNvPr id="15" name="Shape 13"/>
          <p:cNvSpPr/>
          <p:nvPr/>
        </p:nvSpPr>
        <p:spPr>
          <a:xfrm>
            <a:off x="6860977" y="6420611"/>
            <a:ext cx="10436490" cy="10583"/>
          </a:xfrm>
          <a:prstGeom prst="rect">
            <a:avLst/>
          </a:prstGeom>
          <a:solidFill>
            <a:srgbClr val="E6E4DE"/>
          </a:solidFill>
          <a:ln/>
        </p:spPr>
      </p:sp>
      <p:sp>
        <p:nvSpPr>
          <p:cNvPr id="16" name="Text 14"/>
          <p:cNvSpPr/>
          <p:nvPr/>
        </p:nvSpPr>
        <p:spPr>
          <a:xfrm>
            <a:off x="6860977" y="5711528"/>
            <a:ext cx="10749584"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Topic plan, schema, tickets, nodes and repairs</a:t>
            </a:r>
            <a:endParaRPr lang="en-US" sz="2400" dirty="0"/>
          </a:p>
        </p:txBody>
      </p:sp>
      <p:sp>
        <p:nvSpPr>
          <p:cNvPr id="17" name="Shape 15"/>
          <p:cNvSpPr/>
          <p:nvPr/>
        </p:nvSpPr>
        <p:spPr>
          <a:xfrm>
            <a:off x="990534" y="7426028"/>
            <a:ext cx="5870443" cy="10583"/>
          </a:xfrm>
          <a:prstGeom prst="rect">
            <a:avLst/>
          </a:prstGeom>
          <a:solidFill>
            <a:srgbClr val="E6E4DE"/>
          </a:solidFill>
          <a:ln/>
        </p:spPr>
      </p:sp>
      <p:sp>
        <p:nvSpPr>
          <p:cNvPr id="18" name="Text 16"/>
          <p:cNvSpPr/>
          <p:nvPr/>
        </p:nvSpPr>
        <p:spPr>
          <a:xfrm>
            <a:off x="990534" y="6716945"/>
            <a:ext cx="5665556"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Obsidian</a:t>
            </a:r>
            <a:endParaRPr lang="en-US" sz="2400" dirty="0"/>
          </a:p>
        </p:txBody>
      </p:sp>
      <p:sp>
        <p:nvSpPr>
          <p:cNvPr id="19" name="Shape 17"/>
          <p:cNvSpPr/>
          <p:nvPr/>
        </p:nvSpPr>
        <p:spPr>
          <a:xfrm>
            <a:off x="6860977" y="7426028"/>
            <a:ext cx="10436490" cy="10583"/>
          </a:xfrm>
          <a:prstGeom prst="rect">
            <a:avLst/>
          </a:prstGeom>
          <a:solidFill>
            <a:srgbClr val="E6E4DE"/>
          </a:solidFill>
          <a:ln/>
        </p:spPr>
      </p:sp>
      <p:sp>
        <p:nvSpPr>
          <p:cNvPr id="20" name="Text 18"/>
          <p:cNvSpPr/>
          <p:nvPr/>
        </p:nvSpPr>
        <p:spPr>
          <a:xfrm>
            <a:off x="6860977" y="6716945"/>
            <a:ext cx="10749584"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Files, wikilinks and graph navigation</a:t>
            </a:r>
            <a:endParaRPr lang="en-US" sz="2400" dirty="0"/>
          </a:p>
        </p:txBody>
      </p:sp>
      <p:sp>
        <p:nvSpPr>
          <p:cNvPr id="21" name="Shape 19"/>
          <p:cNvSpPr/>
          <p:nvPr/>
        </p:nvSpPr>
        <p:spPr>
          <a:xfrm>
            <a:off x="990534" y="8431444"/>
            <a:ext cx="5870443" cy="10583"/>
          </a:xfrm>
          <a:prstGeom prst="rect">
            <a:avLst/>
          </a:prstGeom>
          <a:solidFill>
            <a:srgbClr val="E6E4DE"/>
          </a:solidFill>
          <a:ln/>
        </p:spPr>
      </p:sp>
      <p:sp>
        <p:nvSpPr>
          <p:cNvPr id="22" name="Text 20"/>
          <p:cNvSpPr/>
          <p:nvPr/>
        </p:nvSpPr>
        <p:spPr>
          <a:xfrm>
            <a:off x="990534" y="7722361"/>
            <a:ext cx="5665556"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Dataview</a:t>
            </a:r>
            <a:endParaRPr lang="en-US" sz="2400" dirty="0"/>
          </a:p>
        </p:txBody>
      </p:sp>
      <p:sp>
        <p:nvSpPr>
          <p:cNvPr id="23" name="Shape 21"/>
          <p:cNvSpPr/>
          <p:nvPr/>
        </p:nvSpPr>
        <p:spPr>
          <a:xfrm>
            <a:off x="6860977" y="8431444"/>
            <a:ext cx="10436490" cy="10583"/>
          </a:xfrm>
          <a:prstGeom prst="rect">
            <a:avLst/>
          </a:prstGeom>
          <a:solidFill>
            <a:srgbClr val="E6E4DE"/>
          </a:solidFill>
          <a:ln/>
        </p:spPr>
      </p:sp>
      <p:sp>
        <p:nvSpPr>
          <p:cNvPr id="24" name="Text 22"/>
          <p:cNvSpPr/>
          <p:nvPr/>
        </p:nvSpPr>
        <p:spPr>
          <a:xfrm>
            <a:off x="6860977" y="7722361"/>
            <a:ext cx="10749584"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Schema driven coverage and health queries</a:t>
            </a:r>
            <a:endParaRPr lang="en-US" sz="2400" dirty="0"/>
          </a:p>
        </p:txBody>
      </p:sp>
      <p:sp>
        <p:nvSpPr>
          <p:cNvPr id="25" name="Shape 23"/>
          <p:cNvSpPr/>
          <p:nvPr/>
        </p:nvSpPr>
        <p:spPr>
          <a:xfrm>
            <a:off x="990534" y="9436862"/>
            <a:ext cx="5870443" cy="10583"/>
          </a:xfrm>
          <a:prstGeom prst="rect">
            <a:avLst/>
          </a:prstGeom>
          <a:solidFill>
            <a:srgbClr val="E6E4DE"/>
          </a:solidFill>
          <a:ln/>
        </p:spPr>
      </p:sp>
      <p:sp>
        <p:nvSpPr>
          <p:cNvPr id="26" name="Text 24"/>
          <p:cNvSpPr/>
          <p:nvPr/>
        </p:nvSpPr>
        <p:spPr>
          <a:xfrm>
            <a:off x="990534" y="8727778"/>
            <a:ext cx="5665556"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Smart Connections / Copilot</a:t>
            </a:r>
            <a:endParaRPr lang="en-US" sz="2400" dirty="0"/>
          </a:p>
        </p:txBody>
      </p:sp>
      <p:sp>
        <p:nvSpPr>
          <p:cNvPr id="27" name="Shape 25"/>
          <p:cNvSpPr/>
          <p:nvPr/>
        </p:nvSpPr>
        <p:spPr>
          <a:xfrm>
            <a:off x="6860977" y="9436862"/>
            <a:ext cx="10436490" cy="10583"/>
          </a:xfrm>
          <a:prstGeom prst="rect">
            <a:avLst/>
          </a:prstGeom>
          <a:solidFill>
            <a:srgbClr val="E6E4DE"/>
          </a:solidFill>
          <a:ln/>
        </p:spPr>
      </p:sp>
      <p:sp>
        <p:nvSpPr>
          <p:cNvPr id="28" name="Text 26"/>
          <p:cNvSpPr/>
          <p:nvPr/>
        </p:nvSpPr>
        <p:spPr>
          <a:xfrm>
            <a:off x="6860977" y="8727778"/>
            <a:ext cx="10749584"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Duplicate hints / vault QA and link repair</a:t>
            </a:r>
            <a:endParaRPr lang="en-US" sz="2400" dirty="0"/>
          </a:p>
        </p:txBody>
      </p:sp>
      <p:sp>
        <p:nvSpPr>
          <p:cNvPr id="30" name="Shape 7">
            <a:extLst>
              <a:ext uri="{FF2B5EF4-FFF2-40B4-BE49-F238E27FC236}">
                <a16:creationId xmlns:a16="http://schemas.microsoft.com/office/drawing/2014/main" id="{9B397547-E40F-CB51-1D0F-9C179C43D879}"/>
              </a:ext>
            </a:extLst>
          </p:cNvPr>
          <p:cNvSpPr/>
          <p:nvPr/>
        </p:nvSpPr>
        <p:spPr>
          <a:xfrm>
            <a:off x="990534" y="4366541"/>
            <a:ext cx="5870443" cy="10583"/>
          </a:xfrm>
          <a:prstGeom prst="rect">
            <a:avLst/>
          </a:prstGeom>
          <a:solidFill>
            <a:srgbClr val="E6E4DE"/>
          </a:solidFill>
          <a:ln/>
        </p:spPr>
      </p:sp>
      <p:sp>
        <p:nvSpPr>
          <p:cNvPr id="32" name="Shape 9">
            <a:extLst>
              <a:ext uri="{FF2B5EF4-FFF2-40B4-BE49-F238E27FC236}">
                <a16:creationId xmlns:a16="http://schemas.microsoft.com/office/drawing/2014/main" id="{076FF06A-F8BA-1C1C-8BAE-D3AF668982AC}"/>
              </a:ext>
            </a:extLst>
          </p:cNvPr>
          <p:cNvSpPr/>
          <p:nvPr/>
        </p:nvSpPr>
        <p:spPr>
          <a:xfrm>
            <a:off x="6860977" y="4366541"/>
            <a:ext cx="10436490" cy="10583"/>
          </a:xfrm>
          <a:prstGeom prst="rect">
            <a:avLst/>
          </a:prstGeom>
          <a:solidFill>
            <a:srgbClr val="E6E4DE"/>
          </a:solidFill>
          <a:ln/>
        </p:spPr>
      </p:sp>
      <p:sp>
        <p:nvSpPr>
          <p:cNvPr id="33" name="Szövegdoboz 32">
            <a:extLst>
              <a:ext uri="{FF2B5EF4-FFF2-40B4-BE49-F238E27FC236}">
                <a16:creationId xmlns:a16="http://schemas.microsoft.com/office/drawing/2014/main" id="{3713D2A8-6716-8404-BC35-9C3FEB87E5A8}"/>
              </a:ext>
            </a:extLst>
          </p:cNvPr>
          <p:cNvSpPr txBox="1"/>
          <p:nvPr/>
        </p:nvSpPr>
        <p:spPr>
          <a:xfrm>
            <a:off x="912122" y="4636857"/>
            <a:ext cx="2765501" cy="830997"/>
          </a:xfrm>
          <a:prstGeom prst="rect">
            <a:avLst/>
          </a:prstGeom>
          <a:noFill/>
        </p:spPr>
        <p:txBody>
          <a:bodyPr wrap="none" rtlCol="0">
            <a:spAutoFit/>
          </a:bodyPr>
          <a:lstStyle/>
          <a:p>
            <a:r>
              <a:rPr lang="hu-HU" sz="2400" dirty="0">
                <a:solidFill>
                  <a:srgbClr val="1F1E1C"/>
                </a:solidFill>
                <a:latin typeface="Georgia" panose="02040502050405020303" pitchFamily="18" charset="0"/>
                <a:ea typeface="Georgia" pitchFamily="34" charset="-122"/>
                <a:cs typeface="Georgia" pitchFamily="34" charset="-120"/>
              </a:rPr>
              <a:t>LLM chat </a:t>
            </a:r>
            <a:r>
              <a:rPr lang="hu-HU" sz="2400" dirty="0" err="1">
                <a:solidFill>
                  <a:srgbClr val="1F1E1C"/>
                </a:solidFill>
                <a:latin typeface="Georgia" panose="02040502050405020303" pitchFamily="18" charset="0"/>
                <a:ea typeface="Georgia" pitchFamily="34" charset="-122"/>
                <a:cs typeface="Georgia" pitchFamily="34" charset="-120"/>
              </a:rPr>
              <a:t>interface</a:t>
            </a:r>
            <a:endParaRPr lang="en-US" sz="2400" dirty="0">
              <a:latin typeface="Georgia" panose="02040502050405020303" pitchFamily="18" charset="0"/>
            </a:endParaRPr>
          </a:p>
          <a:p>
            <a:endParaRPr lang="hu-HU" sz="2400" dirty="0"/>
          </a:p>
        </p:txBody>
      </p:sp>
      <p:sp>
        <p:nvSpPr>
          <p:cNvPr id="36" name="Text 14">
            <a:extLst>
              <a:ext uri="{FF2B5EF4-FFF2-40B4-BE49-F238E27FC236}">
                <a16:creationId xmlns:a16="http://schemas.microsoft.com/office/drawing/2014/main" id="{83F87EF1-46D4-0F6D-9B41-21277F0248E4}"/>
              </a:ext>
            </a:extLst>
          </p:cNvPr>
          <p:cNvSpPr/>
          <p:nvPr/>
        </p:nvSpPr>
        <p:spPr>
          <a:xfrm>
            <a:off x="6860977" y="4652291"/>
            <a:ext cx="10749584" cy="461433"/>
          </a:xfrm>
          <a:prstGeom prst="rect">
            <a:avLst/>
          </a:prstGeom>
          <a:noFill/>
          <a:ln/>
        </p:spPr>
        <p:txBody>
          <a:bodyPr wrap="square" lIns="25400" tIns="25400" rIns="25400" bIns="25400" rtlCol="0" anchor="ctr">
            <a:normAutofit/>
          </a:bodyPr>
          <a:lstStyle/>
          <a:p>
            <a:pPr marL="0" indent="0" algn="l">
              <a:buNone/>
            </a:pPr>
            <a:r>
              <a:rPr lang="hu-HU" sz="2400" dirty="0" err="1">
                <a:solidFill>
                  <a:srgbClr val="3D3B37"/>
                </a:solidFill>
                <a:latin typeface="Georgia" pitchFamily="34" charset="0"/>
                <a:ea typeface="Georgia" pitchFamily="34" charset="-122"/>
                <a:cs typeface="Georgia" pitchFamily="34" charset="-120"/>
              </a:rPr>
              <a:t>Gives</a:t>
            </a:r>
            <a:r>
              <a:rPr lang="hu-HU" sz="2400" dirty="0">
                <a:solidFill>
                  <a:srgbClr val="3D3B37"/>
                </a:solidFill>
                <a:latin typeface="Georgia" pitchFamily="34" charset="0"/>
                <a:ea typeface="Georgia" pitchFamily="34" charset="-122"/>
                <a:cs typeface="Georgia" pitchFamily="34" charset="-120"/>
              </a:rPr>
              <a:t> </a:t>
            </a:r>
            <a:r>
              <a:rPr lang="hu-HU" sz="2400" dirty="0" err="1">
                <a:solidFill>
                  <a:srgbClr val="3D3B37"/>
                </a:solidFill>
                <a:latin typeface="Georgia" pitchFamily="34" charset="0"/>
                <a:ea typeface="Georgia" pitchFamily="34" charset="-122"/>
                <a:cs typeface="Georgia" pitchFamily="34" charset="-120"/>
              </a:rPr>
              <a:t>guided</a:t>
            </a:r>
            <a:r>
              <a:rPr lang="hu-HU" sz="2400" dirty="0">
                <a:solidFill>
                  <a:srgbClr val="3D3B37"/>
                </a:solidFill>
                <a:latin typeface="Georgia" pitchFamily="34" charset="0"/>
                <a:ea typeface="Georgia" pitchFamily="34" charset="-122"/>
                <a:cs typeface="Georgia" pitchFamily="34" charset="-120"/>
              </a:rPr>
              <a:t> </a:t>
            </a:r>
            <a:r>
              <a:rPr lang="hu-HU" sz="2400" dirty="0" err="1">
                <a:solidFill>
                  <a:srgbClr val="3D3B37"/>
                </a:solidFill>
                <a:latin typeface="Georgia" pitchFamily="34" charset="0"/>
                <a:ea typeface="Georgia" pitchFamily="34" charset="-122"/>
                <a:cs typeface="Georgia" pitchFamily="34" charset="-120"/>
              </a:rPr>
              <a:t>instructions</a:t>
            </a:r>
            <a:r>
              <a:rPr lang="hu-HU" sz="2400" dirty="0">
                <a:solidFill>
                  <a:srgbClr val="3D3B37"/>
                </a:solidFill>
                <a:latin typeface="Georgia" pitchFamily="34" charset="0"/>
                <a:ea typeface="Georgia" pitchFamily="34" charset="-122"/>
                <a:cs typeface="Georgia" pitchFamily="34" charset="-120"/>
              </a:rPr>
              <a:t> </a:t>
            </a:r>
            <a:r>
              <a:rPr lang="hu-HU" sz="2400" dirty="0" err="1">
                <a:solidFill>
                  <a:srgbClr val="3D3B37"/>
                </a:solidFill>
                <a:latin typeface="Georgia" pitchFamily="34" charset="0"/>
                <a:ea typeface="Georgia" pitchFamily="34" charset="-122"/>
                <a:cs typeface="Georgia" pitchFamily="34" charset="-120"/>
              </a:rPr>
              <a:t>for</a:t>
            </a:r>
            <a:r>
              <a:rPr lang="hu-HU" sz="2400" dirty="0">
                <a:solidFill>
                  <a:srgbClr val="3D3B37"/>
                </a:solidFill>
                <a:latin typeface="Georgia" pitchFamily="34" charset="0"/>
                <a:ea typeface="Georgia" pitchFamily="34" charset="-122"/>
                <a:cs typeface="Georgia" pitchFamily="34" charset="-120"/>
              </a:rPr>
              <a:t> </a:t>
            </a:r>
            <a:r>
              <a:rPr lang="hu-HU" sz="2400" dirty="0" err="1">
                <a:solidFill>
                  <a:srgbClr val="3D3B37"/>
                </a:solidFill>
                <a:latin typeface="Georgia" pitchFamily="34" charset="0"/>
                <a:ea typeface="Georgia" pitchFamily="34" charset="-122"/>
                <a:cs typeface="Georgia" pitchFamily="34" charset="-120"/>
              </a:rPr>
              <a:t>implentation</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990534" y="838068"/>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838068"/>
            <a:ext cx="338303" cy="376767"/>
          </a:xfrm>
          <a:prstGeom prst="rect">
            <a:avLst/>
          </a:prstGeom>
          <a:noFill/>
          <a:ln/>
        </p:spPr>
        <p:txBody>
          <a:bodyPr wrap="square" lIns="25400" tIns="25400" rIns="25400" bIns="25400" rtlCol="0" anchor="t">
            <a:normAutofit fontScale="92500"/>
          </a:bodyPr>
          <a:lstStyle/>
          <a:p>
            <a:pPr marL="0" indent="0" algn="l">
              <a:buNone/>
            </a:pPr>
            <a:r>
              <a:rPr lang="en-US" sz="1950" dirty="0">
                <a:solidFill>
                  <a:srgbClr val="6B6964"/>
                </a:solidFill>
                <a:latin typeface="Georgia" pitchFamily="34" charset="0"/>
                <a:ea typeface="Georgia" pitchFamily="34" charset="-122"/>
                <a:cs typeface="Georgia" pitchFamily="34" charset="-120"/>
              </a:rPr>
              <a:t>06</a:t>
            </a:r>
            <a:endParaRPr lang="en-US" sz="1950" dirty="0"/>
          </a:p>
        </p:txBody>
      </p:sp>
      <p:sp>
        <p:nvSpPr>
          <p:cNvPr id="4" name="Text 2"/>
          <p:cNvSpPr/>
          <p:nvPr/>
        </p:nvSpPr>
        <p:spPr>
          <a:xfrm>
            <a:off x="990534" y="1595768"/>
            <a:ext cx="17937626" cy="821267"/>
          </a:xfrm>
          <a:prstGeom prst="rect">
            <a:avLst/>
          </a:prstGeom>
          <a:noFill/>
          <a:ln/>
        </p:spPr>
        <p:txBody>
          <a:bodyPr wrap="square" lIns="25400" tIns="25400" rIns="25400" bIns="25400" rtlCol="0" anchor="t">
            <a:normAutofit/>
          </a:bodyPr>
          <a:lstStyle/>
          <a:p>
            <a:pPr marL="0" indent="0" algn="l">
              <a:buNone/>
            </a:pPr>
            <a:r>
              <a:rPr lang="en-US" sz="4500" dirty="0">
                <a:solidFill>
                  <a:srgbClr val="1F1E1C"/>
                </a:solidFill>
                <a:latin typeface="Georgia" pitchFamily="34" charset="0"/>
                <a:ea typeface="Georgia" pitchFamily="34" charset="-122"/>
                <a:cs typeface="Georgia" pitchFamily="34" charset="-120"/>
              </a:rPr>
              <a:t>Strategies behind the guided implementation</a:t>
            </a:r>
            <a:endParaRPr lang="en-US" sz="4500" dirty="0"/>
          </a:p>
        </p:txBody>
      </p:sp>
      <p:sp>
        <p:nvSpPr>
          <p:cNvPr id="5" name="Shape 3"/>
          <p:cNvSpPr/>
          <p:nvPr/>
        </p:nvSpPr>
        <p:spPr>
          <a:xfrm>
            <a:off x="990534" y="3404361"/>
            <a:ext cx="5870443" cy="10583"/>
          </a:xfrm>
          <a:prstGeom prst="rect">
            <a:avLst/>
          </a:prstGeom>
          <a:solidFill>
            <a:srgbClr val="CFCDC6"/>
          </a:solidFill>
          <a:ln/>
        </p:spPr>
      </p:sp>
      <p:sp>
        <p:nvSpPr>
          <p:cNvPr id="6" name="Text 4"/>
          <p:cNvSpPr/>
          <p:nvPr/>
        </p:nvSpPr>
        <p:spPr>
          <a:xfrm>
            <a:off x="990534" y="2912236"/>
            <a:ext cx="6046556" cy="339725"/>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STRATEGY</a:t>
            </a:r>
            <a:endParaRPr lang="en-US" sz="1800" dirty="0"/>
          </a:p>
        </p:txBody>
      </p:sp>
      <p:sp>
        <p:nvSpPr>
          <p:cNvPr id="7" name="Shape 5"/>
          <p:cNvSpPr/>
          <p:nvPr/>
        </p:nvSpPr>
        <p:spPr>
          <a:xfrm>
            <a:off x="6860977" y="3404361"/>
            <a:ext cx="10436490" cy="10583"/>
          </a:xfrm>
          <a:prstGeom prst="rect">
            <a:avLst/>
          </a:prstGeom>
          <a:solidFill>
            <a:srgbClr val="CFCDC6"/>
          </a:solidFill>
          <a:ln/>
        </p:spPr>
      </p:sp>
      <p:sp>
        <p:nvSpPr>
          <p:cNvPr id="8" name="Text 6"/>
          <p:cNvSpPr/>
          <p:nvPr/>
        </p:nvSpPr>
        <p:spPr>
          <a:xfrm>
            <a:off x="6860977" y="2912236"/>
            <a:ext cx="10749584" cy="339725"/>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CONTRIBUTION</a:t>
            </a:r>
            <a:endParaRPr lang="en-US" sz="1800" dirty="0"/>
          </a:p>
        </p:txBody>
      </p:sp>
      <p:sp>
        <p:nvSpPr>
          <p:cNvPr id="9" name="Shape 7"/>
          <p:cNvSpPr/>
          <p:nvPr/>
        </p:nvSpPr>
        <p:spPr>
          <a:xfrm>
            <a:off x="990534" y="4409778"/>
            <a:ext cx="5870443" cy="10583"/>
          </a:xfrm>
          <a:prstGeom prst="rect">
            <a:avLst/>
          </a:prstGeom>
          <a:solidFill>
            <a:srgbClr val="E6E4DE"/>
          </a:solidFill>
          <a:ln/>
        </p:spPr>
      </p:sp>
      <p:sp>
        <p:nvSpPr>
          <p:cNvPr id="10" name="Text 8"/>
          <p:cNvSpPr/>
          <p:nvPr/>
        </p:nvSpPr>
        <p:spPr>
          <a:xfrm>
            <a:off x="990534" y="3700694"/>
            <a:ext cx="5665556"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Master prompt</a:t>
            </a:r>
            <a:endParaRPr lang="en-US" sz="2400" dirty="0"/>
          </a:p>
        </p:txBody>
      </p:sp>
      <p:sp>
        <p:nvSpPr>
          <p:cNvPr id="11" name="Shape 9"/>
          <p:cNvSpPr/>
          <p:nvPr/>
        </p:nvSpPr>
        <p:spPr>
          <a:xfrm>
            <a:off x="6860977" y="4409778"/>
            <a:ext cx="10436490" cy="10583"/>
          </a:xfrm>
          <a:prstGeom prst="rect">
            <a:avLst/>
          </a:prstGeom>
          <a:solidFill>
            <a:srgbClr val="E6E4DE"/>
          </a:solidFill>
          <a:ln/>
        </p:spPr>
      </p:sp>
      <p:sp>
        <p:nvSpPr>
          <p:cNvPr id="12" name="Text 10"/>
          <p:cNvSpPr/>
          <p:nvPr/>
        </p:nvSpPr>
        <p:spPr>
          <a:xfrm>
            <a:off x="6860977" y="3700694"/>
            <a:ext cx="10749584"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Defines scope, tools, layers and demo milestones</a:t>
            </a:r>
            <a:endParaRPr lang="en-US" sz="2400" dirty="0"/>
          </a:p>
        </p:txBody>
      </p:sp>
      <p:sp>
        <p:nvSpPr>
          <p:cNvPr id="13" name="Shape 11"/>
          <p:cNvSpPr/>
          <p:nvPr/>
        </p:nvSpPr>
        <p:spPr>
          <a:xfrm>
            <a:off x="990534" y="5415194"/>
            <a:ext cx="5870443" cy="10583"/>
          </a:xfrm>
          <a:prstGeom prst="rect">
            <a:avLst/>
          </a:prstGeom>
          <a:solidFill>
            <a:srgbClr val="E6E4DE"/>
          </a:solidFill>
          <a:ln/>
        </p:spPr>
      </p:sp>
      <p:sp>
        <p:nvSpPr>
          <p:cNvPr id="14" name="Text 12"/>
          <p:cNvSpPr/>
          <p:nvPr/>
        </p:nvSpPr>
        <p:spPr>
          <a:xfrm>
            <a:off x="990534" y="4706111"/>
            <a:ext cx="5665556"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Conversation branches</a:t>
            </a:r>
            <a:endParaRPr lang="en-US" sz="2400" dirty="0"/>
          </a:p>
        </p:txBody>
      </p:sp>
      <p:sp>
        <p:nvSpPr>
          <p:cNvPr id="15" name="Shape 13"/>
          <p:cNvSpPr/>
          <p:nvPr/>
        </p:nvSpPr>
        <p:spPr>
          <a:xfrm>
            <a:off x="6860977" y="5415194"/>
            <a:ext cx="10436490" cy="10583"/>
          </a:xfrm>
          <a:prstGeom prst="rect">
            <a:avLst/>
          </a:prstGeom>
          <a:solidFill>
            <a:srgbClr val="E6E4DE"/>
          </a:solidFill>
          <a:ln/>
        </p:spPr>
      </p:sp>
      <p:sp>
        <p:nvSpPr>
          <p:cNvPr id="16" name="Text 14"/>
          <p:cNvSpPr/>
          <p:nvPr/>
        </p:nvSpPr>
        <p:spPr>
          <a:xfrm>
            <a:off x="6860977" y="4706111"/>
            <a:ext cx="10749584"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Resolve sequencing issues and continue from a handoff</a:t>
            </a:r>
            <a:endParaRPr lang="en-US" sz="2400" dirty="0"/>
          </a:p>
        </p:txBody>
      </p:sp>
      <p:sp>
        <p:nvSpPr>
          <p:cNvPr id="17" name="Shape 15"/>
          <p:cNvSpPr/>
          <p:nvPr/>
        </p:nvSpPr>
        <p:spPr>
          <a:xfrm>
            <a:off x="990534" y="6420611"/>
            <a:ext cx="5870443" cy="10583"/>
          </a:xfrm>
          <a:prstGeom prst="rect">
            <a:avLst/>
          </a:prstGeom>
          <a:solidFill>
            <a:srgbClr val="E6E4DE"/>
          </a:solidFill>
          <a:ln/>
        </p:spPr>
      </p:sp>
      <p:sp>
        <p:nvSpPr>
          <p:cNvPr id="18" name="Text 16"/>
          <p:cNvSpPr/>
          <p:nvPr/>
        </p:nvSpPr>
        <p:spPr>
          <a:xfrm>
            <a:off x="990534" y="5711528"/>
            <a:ext cx="5665556"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Specialised Gems</a:t>
            </a:r>
            <a:endParaRPr lang="en-US" sz="2400" dirty="0"/>
          </a:p>
        </p:txBody>
      </p:sp>
      <p:sp>
        <p:nvSpPr>
          <p:cNvPr id="19" name="Shape 17"/>
          <p:cNvSpPr/>
          <p:nvPr/>
        </p:nvSpPr>
        <p:spPr>
          <a:xfrm>
            <a:off x="6860977" y="6420611"/>
            <a:ext cx="10436490" cy="10583"/>
          </a:xfrm>
          <a:prstGeom prst="rect">
            <a:avLst/>
          </a:prstGeom>
          <a:solidFill>
            <a:srgbClr val="E6E4DE"/>
          </a:solidFill>
          <a:ln/>
        </p:spPr>
      </p:sp>
      <p:sp>
        <p:nvSpPr>
          <p:cNvPr id="20" name="Text 18"/>
          <p:cNvSpPr/>
          <p:nvPr/>
        </p:nvSpPr>
        <p:spPr>
          <a:xfrm>
            <a:off x="6860977" y="5711528"/>
            <a:ext cx="10749584"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Assign narrow responsibilities by stage</a:t>
            </a:r>
            <a:endParaRPr lang="en-US" sz="2400" dirty="0"/>
          </a:p>
        </p:txBody>
      </p:sp>
      <p:sp>
        <p:nvSpPr>
          <p:cNvPr id="21" name="Shape 19"/>
          <p:cNvSpPr/>
          <p:nvPr/>
        </p:nvSpPr>
        <p:spPr>
          <a:xfrm>
            <a:off x="990534" y="7426027"/>
            <a:ext cx="5870443" cy="10583"/>
          </a:xfrm>
          <a:prstGeom prst="rect">
            <a:avLst/>
          </a:prstGeom>
          <a:solidFill>
            <a:srgbClr val="E6E4DE"/>
          </a:solidFill>
          <a:ln/>
        </p:spPr>
      </p:sp>
      <p:sp>
        <p:nvSpPr>
          <p:cNvPr id="22" name="Text 20"/>
          <p:cNvSpPr/>
          <p:nvPr/>
        </p:nvSpPr>
        <p:spPr>
          <a:xfrm>
            <a:off x="990534" y="6716944"/>
            <a:ext cx="5665556"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Ticketing</a:t>
            </a:r>
            <a:endParaRPr lang="en-US" sz="2400" dirty="0"/>
          </a:p>
        </p:txBody>
      </p:sp>
      <p:sp>
        <p:nvSpPr>
          <p:cNvPr id="23" name="Shape 21"/>
          <p:cNvSpPr/>
          <p:nvPr/>
        </p:nvSpPr>
        <p:spPr>
          <a:xfrm>
            <a:off x="6860977" y="7426027"/>
            <a:ext cx="10436490" cy="10583"/>
          </a:xfrm>
          <a:prstGeom prst="rect">
            <a:avLst/>
          </a:prstGeom>
          <a:solidFill>
            <a:srgbClr val="E6E4DE"/>
          </a:solidFill>
          <a:ln/>
        </p:spPr>
      </p:sp>
      <p:sp>
        <p:nvSpPr>
          <p:cNvPr id="24" name="Text 22"/>
          <p:cNvSpPr/>
          <p:nvPr/>
        </p:nvSpPr>
        <p:spPr>
          <a:xfrm>
            <a:off x="6860977" y="6716944"/>
            <a:ext cx="10749584"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Bound source, node types, anchors and batch size</a:t>
            </a:r>
            <a:endParaRPr lang="en-US" sz="2400" dirty="0"/>
          </a:p>
        </p:txBody>
      </p:sp>
      <p:sp>
        <p:nvSpPr>
          <p:cNvPr id="25" name="Shape 23"/>
          <p:cNvSpPr/>
          <p:nvPr/>
        </p:nvSpPr>
        <p:spPr>
          <a:xfrm>
            <a:off x="990534" y="8431445"/>
            <a:ext cx="5870443" cy="10583"/>
          </a:xfrm>
          <a:prstGeom prst="rect">
            <a:avLst/>
          </a:prstGeom>
          <a:solidFill>
            <a:srgbClr val="E6E4DE"/>
          </a:solidFill>
          <a:ln/>
        </p:spPr>
      </p:sp>
      <p:sp>
        <p:nvSpPr>
          <p:cNvPr id="26" name="Text 24"/>
          <p:cNvSpPr/>
          <p:nvPr/>
        </p:nvSpPr>
        <p:spPr>
          <a:xfrm>
            <a:off x="990534" y="7722361"/>
            <a:ext cx="5665556"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Human ratification</a:t>
            </a:r>
            <a:endParaRPr lang="en-US" sz="2400" dirty="0"/>
          </a:p>
        </p:txBody>
      </p:sp>
      <p:sp>
        <p:nvSpPr>
          <p:cNvPr id="27" name="Shape 25"/>
          <p:cNvSpPr/>
          <p:nvPr/>
        </p:nvSpPr>
        <p:spPr>
          <a:xfrm>
            <a:off x="6860977" y="8431445"/>
            <a:ext cx="10436490" cy="10583"/>
          </a:xfrm>
          <a:prstGeom prst="rect">
            <a:avLst/>
          </a:prstGeom>
          <a:solidFill>
            <a:srgbClr val="E6E4DE"/>
          </a:solidFill>
          <a:ln/>
        </p:spPr>
      </p:sp>
      <p:sp>
        <p:nvSpPr>
          <p:cNvPr id="28" name="Text 26"/>
          <p:cNvSpPr/>
          <p:nvPr/>
        </p:nvSpPr>
        <p:spPr>
          <a:xfrm>
            <a:off x="6860977" y="7722361"/>
            <a:ext cx="10749584"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Fix schema before broad population</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990534" y="838068"/>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838068"/>
            <a:ext cx="338303" cy="376767"/>
          </a:xfrm>
          <a:prstGeom prst="rect">
            <a:avLst/>
          </a:prstGeom>
          <a:noFill/>
          <a:ln/>
        </p:spPr>
        <p:txBody>
          <a:bodyPr wrap="square" lIns="25400" tIns="25400" rIns="25400" bIns="25400" rtlCol="0" anchor="t">
            <a:normAutofit fontScale="92500"/>
          </a:bodyPr>
          <a:lstStyle/>
          <a:p>
            <a:pPr marL="0" indent="0" algn="l">
              <a:buNone/>
            </a:pPr>
            <a:r>
              <a:rPr lang="en-US" sz="1950" dirty="0">
                <a:solidFill>
                  <a:srgbClr val="6B6964"/>
                </a:solidFill>
                <a:latin typeface="Georgia" pitchFamily="34" charset="0"/>
                <a:ea typeface="Georgia" pitchFamily="34" charset="-122"/>
                <a:cs typeface="Georgia" pitchFamily="34" charset="-120"/>
              </a:rPr>
              <a:t>08</a:t>
            </a:r>
            <a:endParaRPr lang="en-US" sz="1950" dirty="0"/>
          </a:p>
        </p:txBody>
      </p:sp>
      <p:sp>
        <p:nvSpPr>
          <p:cNvPr id="4" name="Text 2"/>
          <p:cNvSpPr/>
          <p:nvPr/>
        </p:nvSpPr>
        <p:spPr>
          <a:xfrm>
            <a:off x="990534" y="1595768"/>
            <a:ext cx="17937626" cy="821267"/>
          </a:xfrm>
          <a:prstGeom prst="rect">
            <a:avLst/>
          </a:prstGeom>
          <a:noFill/>
          <a:ln/>
        </p:spPr>
        <p:txBody>
          <a:bodyPr wrap="square" lIns="25400" tIns="25400" rIns="25400" bIns="25400" rtlCol="0" anchor="t">
            <a:normAutofit/>
          </a:bodyPr>
          <a:lstStyle/>
          <a:p>
            <a:pPr marL="0" indent="0" algn="l">
              <a:buNone/>
            </a:pPr>
            <a:r>
              <a:rPr lang="en-US" sz="4500" dirty="0">
                <a:solidFill>
                  <a:srgbClr val="1F1E1C"/>
                </a:solidFill>
                <a:latin typeface="Georgia" pitchFamily="34" charset="0"/>
                <a:ea typeface="Georgia" pitchFamily="34" charset="-122"/>
                <a:cs typeface="Georgia" pitchFamily="34" charset="-120"/>
              </a:rPr>
              <a:t>A ticket carries the execution boundary</a:t>
            </a:r>
            <a:endParaRPr lang="en-US" sz="4500" dirty="0"/>
          </a:p>
        </p:txBody>
      </p:sp>
      <p:sp>
        <p:nvSpPr>
          <p:cNvPr id="5" name="Shape 3"/>
          <p:cNvSpPr/>
          <p:nvPr/>
        </p:nvSpPr>
        <p:spPr>
          <a:xfrm>
            <a:off x="990534" y="3404361"/>
            <a:ext cx="4891980" cy="10583"/>
          </a:xfrm>
          <a:prstGeom prst="rect">
            <a:avLst/>
          </a:prstGeom>
          <a:solidFill>
            <a:srgbClr val="CFCDC6"/>
          </a:solidFill>
          <a:ln/>
        </p:spPr>
      </p:sp>
      <p:sp>
        <p:nvSpPr>
          <p:cNvPr id="6" name="Text 4"/>
          <p:cNvSpPr/>
          <p:nvPr/>
        </p:nvSpPr>
        <p:spPr>
          <a:xfrm>
            <a:off x="990534" y="2912236"/>
            <a:ext cx="5038740" cy="339725"/>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TICKET FIELD</a:t>
            </a:r>
            <a:endParaRPr lang="en-US" sz="1800" dirty="0"/>
          </a:p>
        </p:txBody>
      </p:sp>
      <p:sp>
        <p:nvSpPr>
          <p:cNvPr id="7" name="Shape 5"/>
          <p:cNvSpPr/>
          <p:nvPr/>
        </p:nvSpPr>
        <p:spPr>
          <a:xfrm>
            <a:off x="5882515" y="3404361"/>
            <a:ext cx="11414952" cy="10583"/>
          </a:xfrm>
          <a:prstGeom prst="rect">
            <a:avLst/>
          </a:prstGeom>
          <a:solidFill>
            <a:srgbClr val="CFCDC6"/>
          </a:solidFill>
          <a:ln/>
        </p:spPr>
      </p:sp>
      <p:sp>
        <p:nvSpPr>
          <p:cNvPr id="8" name="Text 6"/>
          <p:cNvSpPr/>
          <p:nvPr/>
        </p:nvSpPr>
        <p:spPr>
          <a:xfrm>
            <a:off x="5882515" y="2912236"/>
            <a:ext cx="11757401" cy="339725"/>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EXAMPLE FOR A CHAPTER 1 SPINE TICKET</a:t>
            </a:r>
            <a:endParaRPr lang="en-US" sz="1800" dirty="0"/>
          </a:p>
        </p:txBody>
      </p:sp>
      <p:sp>
        <p:nvSpPr>
          <p:cNvPr id="9" name="Shape 7"/>
          <p:cNvSpPr/>
          <p:nvPr/>
        </p:nvSpPr>
        <p:spPr>
          <a:xfrm>
            <a:off x="990534" y="4409778"/>
            <a:ext cx="4891980" cy="10583"/>
          </a:xfrm>
          <a:prstGeom prst="rect">
            <a:avLst/>
          </a:prstGeom>
          <a:solidFill>
            <a:srgbClr val="E6E4DE"/>
          </a:solidFill>
          <a:ln/>
        </p:spPr>
      </p:sp>
      <p:sp>
        <p:nvSpPr>
          <p:cNvPr id="10" name="Text 8"/>
          <p:cNvSpPr/>
          <p:nvPr/>
        </p:nvSpPr>
        <p:spPr>
          <a:xfrm>
            <a:off x="990534" y="3700694"/>
            <a:ext cx="4657740"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Locator</a:t>
            </a:r>
            <a:endParaRPr lang="en-US" sz="2400" dirty="0"/>
          </a:p>
        </p:txBody>
      </p:sp>
      <p:sp>
        <p:nvSpPr>
          <p:cNvPr id="11" name="Shape 9"/>
          <p:cNvSpPr/>
          <p:nvPr/>
        </p:nvSpPr>
        <p:spPr>
          <a:xfrm>
            <a:off x="5882515" y="4409778"/>
            <a:ext cx="11414952" cy="10583"/>
          </a:xfrm>
          <a:prstGeom prst="rect">
            <a:avLst/>
          </a:prstGeom>
          <a:solidFill>
            <a:srgbClr val="E6E4DE"/>
          </a:solidFill>
          <a:ln/>
        </p:spPr>
      </p:sp>
      <p:sp>
        <p:nvSpPr>
          <p:cNvPr id="12" name="Text 10"/>
          <p:cNvSpPr/>
          <p:nvPr/>
        </p:nvSpPr>
        <p:spPr>
          <a:xfrm>
            <a:off x="5882515" y="3700694"/>
            <a:ext cx="11757401"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Chapter 1, Articles 1–2, pages 29–31</a:t>
            </a:r>
            <a:endParaRPr lang="en-US" sz="2400" dirty="0"/>
          </a:p>
        </p:txBody>
      </p:sp>
      <p:sp>
        <p:nvSpPr>
          <p:cNvPr id="13" name="Shape 11"/>
          <p:cNvSpPr/>
          <p:nvPr/>
        </p:nvSpPr>
        <p:spPr>
          <a:xfrm>
            <a:off x="990534" y="5415194"/>
            <a:ext cx="4891980" cy="10583"/>
          </a:xfrm>
          <a:prstGeom prst="rect">
            <a:avLst/>
          </a:prstGeom>
          <a:solidFill>
            <a:srgbClr val="E6E4DE"/>
          </a:solidFill>
          <a:ln/>
        </p:spPr>
      </p:sp>
      <p:sp>
        <p:nvSpPr>
          <p:cNvPr id="14" name="Text 12"/>
          <p:cNvSpPr/>
          <p:nvPr/>
        </p:nvSpPr>
        <p:spPr>
          <a:xfrm>
            <a:off x="990534" y="4706111"/>
            <a:ext cx="4657740"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Allowed output</a:t>
            </a:r>
            <a:endParaRPr lang="en-US" sz="2400" dirty="0"/>
          </a:p>
        </p:txBody>
      </p:sp>
      <p:sp>
        <p:nvSpPr>
          <p:cNvPr id="15" name="Shape 13"/>
          <p:cNvSpPr/>
          <p:nvPr/>
        </p:nvSpPr>
        <p:spPr>
          <a:xfrm>
            <a:off x="5882515" y="5415194"/>
            <a:ext cx="11414952" cy="10583"/>
          </a:xfrm>
          <a:prstGeom prst="rect">
            <a:avLst/>
          </a:prstGeom>
          <a:solidFill>
            <a:srgbClr val="E6E4DE"/>
          </a:solidFill>
          <a:ln/>
        </p:spPr>
      </p:sp>
      <p:sp>
        <p:nvSpPr>
          <p:cNvPr id="16" name="Text 14"/>
          <p:cNvSpPr/>
          <p:nvPr/>
        </p:nvSpPr>
        <p:spPr>
          <a:xfrm>
            <a:off x="5882515" y="4706111"/>
            <a:ext cx="11757401"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Chapter and article structure nodes</a:t>
            </a:r>
            <a:endParaRPr lang="en-US" sz="2400" dirty="0"/>
          </a:p>
        </p:txBody>
      </p:sp>
      <p:sp>
        <p:nvSpPr>
          <p:cNvPr id="17" name="Shape 15"/>
          <p:cNvSpPr/>
          <p:nvPr/>
        </p:nvSpPr>
        <p:spPr>
          <a:xfrm>
            <a:off x="990534" y="6420611"/>
            <a:ext cx="4891980" cy="10583"/>
          </a:xfrm>
          <a:prstGeom prst="rect">
            <a:avLst/>
          </a:prstGeom>
          <a:solidFill>
            <a:srgbClr val="E6E4DE"/>
          </a:solidFill>
          <a:ln/>
        </p:spPr>
      </p:sp>
      <p:sp>
        <p:nvSpPr>
          <p:cNvPr id="18" name="Text 16"/>
          <p:cNvSpPr/>
          <p:nvPr/>
        </p:nvSpPr>
        <p:spPr>
          <a:xfrm>
            <a:off x="990534" y="5711528"/>
            <a:ext cx="4657740"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Inputs</a:t>
            </a:r>
            <a:endParaRPr lang="en-US" sz="2400" dirty="0"/>
          </a:p>
        </p:txBody>
      </p:sp>
      <p:sp>
        <p:nvSpPr>
          <p:cNvPr id="19" name="Shape 17"/>
          <p:cNvSpPr/>
          <p:nvPr/>
        </p:nvSpPr>
        <p:spPr>
          <a:xfrm>
            <a:off x="5882515" y="6420611"/>
            <a:ext cx="11414952" cy="10583"/>
          </a:xfrm>
          <a:prstGeom prst="rect">
            <a:avLst/>
          </a:prstGeom>
          <a:solidFill>
            <a:srgbClr val="E6E4DE"/>
          </a:solidFill>
          <a:ln/>
        </p:spPr>
      </p:sp>
      <p:sp>
        <p:nvSpPr>
          <p:cNvPr id="20" name="Text 18"/>
          <p:cNvSpPr/>
          <p:nvPr/>
        </p:nvSpPr>
        <p:spPr>
          <a:xfrm>
            <a:off x="5882515" y="5711528"/>
            <a:ext cx="11757401"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Ratified schema, article map, cited NotebookLM Note</a:t>
            </a:r>
            <a:endParaRPr lang="en-US" sz="2400" dirty="0"/>
          </a:p>
        </p:txBody>
      </p:sp>
      <p:sp>
        <p:nvSpPr>
          <p:cNvPr id="21" name="Shape 19"/>
          <p:cNvSpPr/>
          <p:nvPr/>
        </p:nvSpPr>
        <p:spPr>
          <a:xfrm>
            <a:off x="990534" y="7426027"/>
            <a:ext cx="4891980" cy="10583"/>
          </a:xfrm>
          <a:prstGeom prst="rect">
            <a:avLst/>
          </a:prstGeom>
          <a:solidFill>
            <a:srgbClr val="E6E4DE"/>
          </a:solidFill>
          <a:ln/>
        </p:spPr>
      </p:sp>
      <p:sp>
        <p:nvSpPr>
          <p:cNvPr id="22" name="Text 20"/>
          <p:cNvSpPr/>
          <p:nvPr/>
        </p:nvSpPr>
        <p:spPr>
          <a:xfrm>
            <a:off x="990534" y="6716944"/>
            <a:ext cx="4657740"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Cap and output</a:t>
            </a:r>
            <a:endParaRPr lang="en-US" sz="2400" dirty="0"/>
          </a:p>
        </p:txBody>
      </p:sp>
      <p:sp>
        <p:nvSpPr>
          <p:cNvPr id="23" name="Shape 21"/>
          <p:cNvSpPr/>
          <p:nvPr/>
        </p:nvSpPr>
        <p:spPr>
          <a:xfrm>
            <a:off x="5882515" y="7426027"/>
            <a:ext cx="11414952" cy="10583"/>
          </a:xfrm>
          <a:prstGeom prst="rect">
            <a:avLst/>
          </a:prstGeom>
          <a:solidFill>
            <a:srgbClr val="E6E4DE"/>
          </a:solidFill>
          <a:ln/>
        </p:spPr>
      </p:sp>
      <p:sp>
        <p:nvSpPr>
          <p:cNvPr id="24" name="Text 22"/>
          <p:cNvSpPr/>
          <p:nvPr/>
        </p:nvSpPr>
        <p:spPr>
          <a:xfrm>
            <a:off x="5882515" y="6716944"/>
            <a:ext cx="11757401"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At most 3 nodes; paths and registry proposals</a:t>
            </a:r>
            <a:endParaRPr lang="en-US" sz="2400" dirty="0"/>
          </a:p>
        </p:txBody>
      </p:sp>
      <p:sp>
        <p:nvSpPr>
          <p:cNvPr id="25" name="Shape 23"/>
          <p:cNvSpPr/>
          <p:nvPr/>
        </p:nvSpPr>
        <p:spPr>
          <a:xfrm>
            <a:off x="990534" y="8431445"/>
            <a:ext cx="4891980" cy="10583"/>
          </a:xfrm>
          <a:prstGeom prst="rect">
            <a:avLst/>
          </a:prstGeom>
          <a:solidFill>
            <a:srgbClr val="E6E4DE"/>
          </a:solidFill>
          <a:ln/>
        </p:spPr>
      </p:sp>
      <p:sp>
        <p:nvSpPr>
          <p:cNvPr id="26" name="Text 24"/>
          <p:cNvSpPr/>
          <p:nvPr/>
        </p:nvSpPr>
        <p:spPr>
          <a:xfrm>
            <a:off x="990534" y="7722361"/>
            <a:ext cx="4657740"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Gate</a:t>
            </a:r>
            <a:endParaRPr lang="en-US" sz="2400" dirty="0"/>
          </a:p>
        </p:txBody>
      </p:sp>
      <p:sp>
        <p:nvSpPr>
          <p:cNvPr id="27" name="Shape 25"/>
          <p:cNvSpPr/>
          <p:nvPr/>
        </p:nvSpPr>
        <p:spPr>
          <a:xfrm>
            <a:off x="5882515" y="8431445"/>
            <a:ext cx="11414952" cy="10583"/>
          </a:xfrm>
          <a:prstGeom prst="rect">
            <a:avLst/>
          </a:prstGeom>
          <a:solidFill>
            <a:srgbClr val="E6E4DE"/>
          </a:solidFill>
          <a:ln/>
        </p:spPr>
      </p:sp>
      <p:sp>
        <p:nvSpPr>
          <p:cNvPr id="28" name="Text 26"/>
          <p:cNvSpPr/>
          <p:nvPr/>
        </p:nvSpPr>
        <p:spPr>
          <a:xfrm>
            <a:off x="5882515" y="7722361"/>
            <a:ext cx="11757401"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Check YAML, citations, links and status</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90534" y="685767"/>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685767"/>
            <a:ext cx="338303"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05</a:t>
            </a:r>
            <a:endParaRPr lang="en-US" sz="1950" dirty="0"/>
          </a:p>
        </p:txBody>
      </p:sp>
      <p:sp>
        <p:nvSpPr>
          <p:cNvPr id="4" name="Text 2"/>
          <p:cNvSpPr/>
          <p:nvPr/>
        </p:nvSpPr>
        <p:spPr>
          <a:xfrm>
            <a:off x="990534" y="1291001"/>
            <a:ext cx="17937626" cy="821267"/>
          </a:xfrm>
          <a:prstGeom prst="rect">
            <a:avLst/>
          </a:prstGeom>
          <a:noFill/>
          <a:ln/>
        </p:spPr>
        <p:txBody>
          <a:bodyPr wrap="square" lIns="25400" tIns="25400" rIns="25400" bIns="25400" rtlCol="0" anchor="t">
            <a:normAutofit/>
          </a:bodyPr>
          <a:lstStyle/>
          <a:p>
            <a:pPr marL="0" indent="0" algn="l">
              <a:buNone/>
            </a:pPr>
            <a:r>
              <a:rPr lang="en-US" sz="4500" dirty="0">
                <a:solidFill>
                  <a:srgbClr val="1F1E1C"/>
                </a:solidFill>
                <a:latin typeface="Georgia" pitchFamily="34" charset="0"/>
                <a:ea typeface="Georgia" pitchFamily="34" charset="-122"/>
                <a:cs typeface="Georgia" pitchFamily="34" charset="-120"/>
              </a:rPr>
              <a:t>How the AGA Wiki tools work together</a:t>
            </a:r>
            <a:endParaRPr lang="en-US" sz="45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0534" y="2340736"/>
            <a:ext cx="16306767" cy="7524751"/>
          </a:xfrm>
          <a:prstGeom prst="rect">
            <a:avLst/>
          </a:prstGeom>
        </p:spPr>
      </p:pic>
      <p:sp>
        <p:nvSpPr>
          <p:cNvPr id="6" name="Shape 3"/>
          <p:cNvSpPr/>
          <p:nvPr/>
        </p:nvSpPr>
        <p:spPr>
          <a:xfrm>
            <a:off x="1371534" y="2340736"/>
            <a:ext cx="4953000" cy="1714500"/>
          </a:xfrm>
          <a:prstGeom prst="rect">
            <a:avLst/>
          </a:prstGeom>
          <a:solidFill>
            <a:srgbClr val="FFFFFF"/>
          </a:solidFill>
          <a:ln/>
        </p:spPr>
      </p:sp>
      <p:sp>
        <p:nvSpPr>
          <p:cNvPr id="7" name="Shape 4"/>
          <p:cNvSpPr/>
          <p:nvPr/>
        </p:nvSpPr>
        <p:spPr>
          <a:xfrm>
            <a:off x="1371534" y="4044653"/>
            <a:ext cx="4953000" cy="10583"/>
          </a:xfrm>
          <a:prstGeom prst="rect">
            <a:avLst/>
          </a:prstGeom>
          <a:solidFill>
            <a:srgbClr val="CFCDC6"/>
          </a:solidFill>
          <a:ln/>
        </p:spPr>
      </p:sp>
      <p:sp>
        <p:nvSpPr>
          <p:cNvPr id="8" name="Shape 5"/>
          <p:cNvSpPr/>
          <p:nvPr/>
        </p:nvSpPr>
        <p:spPr>
          <a:xfrm>
            <a:off x="1371534" y="2340736"/>
            <a:ext cx="4953000" cy="42333"/>
          </a:xfrm>
          <a:prstGeom prst="rect">
            <a:avLst/>
          </a:prstGeom>
          <a:solidFill>
            <a:srgbClr val="C9842A"/>
          </a:solidFill>
          <a:ln/>
        </p:spPr>
      </p:sp>
      <p:sp>
        <p:nvSpPr>
          <p:cNvPr id="9" name="Shape 6"/>
          <p:cNvSpPr/>
          <p:nvPr/>
        </p:nvSpPr>
        <p:spPr>
          <a:xfrm>
            <a:off x="1371534" y="2340736"/>
            <a:ext cx="10583" cy="1714500"/>
          </a:xfrm>
          <a:prstGeom prst="rect">
            <a:avLst/>
          </a:prstGeom>
          <a:solidFill>
            <a:srgbClr val="CFCDC6"/>
          </a:solidFill>
          <a:ln/>
        </p:spPr>
      </p:sp>
      <p:sp>
        <p:nvSpPr>
          <p:cNvPr id="10" name="Shape 7"/>
          <p:cNvSpPr/>
          <p:nvPr/>
        </p:nvSpPr>
        <p:spPr>
          <a:xfrm>
            <a:off x="6313951" y="2340736"/>
            <a:ext cx="10583" cy="1714500"/>
          </a:xfrm>
          <a:prstGeom prst="rect">
            <a:avLst/>
          </a:prstGeom>
          <a:solidFill>
            <a:srgbClr val="CFCDC6"/>
          </a:solidFill>
          <a:ln/>
        </p:spPr>
      </p:sp>
      <p:sp>
        <p:nvSpPr>
          <p:cNvPr id="11" name="Text 8"/>
          <p:cNvSpPr/>
          <p:nvPr/>
        </p:nvSpPr>
        <p:spPr>
          <a:xfrm>
            <a:off x="1667867" y="2380423"/>
            <a:ext cx="4491144" cy="990600"/>
          </a:xfrm>
          <a:prstGeom prst="rect">
            <a:avLst/>
          </a:prstGeom>
          <a:noFill/>
          <a:ln/>
        </p:spPr>
        <p:txBody>
          <a:bodyPr wrap="square" lIns="25400" tIns="25400" rIns="25400" bIns="25400" rtlCol="0" anchor="t">
            <a:normAutofit/>
          </a:bodyPr>
          <a:lstStyle/>
          <a:p>
            <a:pPr marL="0" indent="0" algn="l">
              <a:buNone/>
            </a:pPr>
            <a:r>
              <a:rPr lang="en-US" sz="2700" dirty="0">
                <a:solidFill>
                  <a:srgbClr val="1F1E1C"/>
                </a:solidFill>
                <a:latin typeface="Georgia" pitchFamily="34" charset="0"/>
                <a:ea typeface="Georgia" pitchFamily="34" charset="-122"/>
                <a:cs typeface="Georgia" pitchFamily="34" charset="-120"/>
              </a:rPr>
              <a:t>AGA Wiki Operations Manual</a:t>
            </a:r>
            <a:endParaRPr lang="en-US" sz="2700" dirty="0"/>
          </a:p>
        </p:txBody>
      </p:sp>
      <p:sp>
        <p:nvSpPr>
          <p:cNvPr id="12" name="Text 9"/>
          <p:cNvSpPr/>
          <p:nvPr/>
        </p:nvSpPr>
        <p:spPr>
          <a:xfrm>
            <a:off x="1667867" y="3428173"/>
            <a:ext cx="4491144" cy="657225"/>
          </a:xfrm>
          <a:prstGeom prst="rect">
            <a:avLst/>
          </a:prstGeom>
          <a:noFill/>
          <a:ln/>
        </p:spPr>
        <p:txBody>
          <a:bodyPr wrap="square" lIns="25400" tIns="25400" rIns="25400" bIns="25400" rtlCol="0" anchor="t">
            <a:normAutofit/>
          </a:bodyPr>
          <a:lstStyle/>
          <a:p>
            <a:pPr marL="0" indent="0" algn="l">
              <a:lnSpc>
                <a:spcPct val="112500"/>
              </a:lnSpc>
              <a:buNone/>
            </a:pPr>
            <a:r>
              <a:rPr lang="en-US" sz="1875" dirty="0">
                <a:solidFill>
                  <a:srgbClr val="6B6964"/>
                </a:solidFill>
                <a:latin typeface="Georgia" pitchFamily="34" charset="0"/>
                <a:ea typeface="Georgia" pitchFamily="34" charset="-122"/>
                <a:cs typeface="Georgia" pitchFamily="34" charset="-120"/>
              </a:rPr>
              <a:t>Guides the workflow, roles and handoffs</a:t>
            </a:r>
            <a:endParaRPr lang="en-US" sz="1875" dirty="0"/>
          </a:p>
        </p:txBody>
      </p:sp>
      <p:sp>
        <p:nvSpPr>
          <p:cNvPr id="13" name="Shape 10"/>
          <p:cNvSpPr/>
          <p:nvPr/>
        </p:nvSpPr>
        <p:spPr>
          <a:xfrm>
            <a:off x="12344301" y="2340736"/>
            <a:ext cx="4953000" cy="1714500"/>
          </a:xfrm>
          <a:prstGeom prst="rect">
            <a:avLst/>
          </a:prstGeom>
          <a:solidFill>
            <a:srgbClr val="FFFFFF"/>
          </a:solidFill>
          <a:ln/>
        </p:spPr>
      </p:sp>
      <p:sp>
        <p:nvSpPr>
          <p:cNvPr id="14" name="Shape 11"/>
          <p:cNvSpPr/>
          <p:nvPr/>
        </p:nvSpPr>
        <p:spPr>
          <a:xfrm>
            <a:off x="12344301" y="4044653"/>
            <a:ext cx="4953000" cy="10583"/>
          </a:xfrm>
          <a:prstGeom prst="rect">
            <a:avLst/>
          </a:prstGeom>
          <a:solidFill>
            <a:srgbClr val="CFCDC6"/>
          </a:solidFill>
          <a:ln/>
        </p:spPr>
      </p:sp>
      <p:sp>
        <p:nvSpPr>
          <p:cNvPr id="15" name="Shape 12"/>
          <p:cNvSpPr/>
          <p:nvPr/>
        </p:nvSpPr>
        <p:spPr>
          <a:xfrm>
            <a:off x="12344301" y="2340736"/>
            <a:ext cx="4953000" cy="42333"/>
          </a:xfrm>
          <a:prstGeom prst="rect">
            <a:avLst/>
          </a:prstGeom>
          <a:solidFill>
            <a:srgbClr val="C9842A"/>
          </a:solidFill>
          <a:ln/>
        </p:spPr>
      </p:sp>
      <p:sp>
        <p:nvSpPr>
          <p:cNvPr id="16" name="Shape 13"/>
          <p:cNvSpPr/>
          <p:nvPr/>
        </p:nvSpPr>
        <p:spPr>
          <a:xfrm>
            <a:off x="12344301" y="2340736"/>
            <a:ext cx="10583" cy="1714500"/>
          </a:xfrm>
          <a:prstGeom prst="rect">
            <a:avLst/>
          </a:prstGeom>
          <a:solidFill>
            <a:srgbClr val="CFCDC6"/>
          </a:solidFill>
          <a:ln/>
        </p:spPr>
      </p:sp>
      <p:sp>
        <p:nvSpPr>
          <p:cNvPr id="17" name="Shape 14"/>
          <p:cNvSpPr/>
          <p:nvPr/>
        </p:nvSpPr>
        <p:spPr>
          <a:xfrm>
            <a:off x="17286718" y="2340736"/>
            <a:ext cx="10583" cy="1714500"/>
          </a:xfrm>
          <a:prstGeom prst="rect">
            <a:avLst/>
          </a:prstGeom>
          <a:solidFill>
            <a:srgbClr val="CFCDC6"/>
          </a:solidFill>
          <a:ln/>
        </p:spPr>
      </p:sp>
      <p:sp>
        <p:nvSpPr>
          <p:cNvPr id="18" name="Text 15"/>
          <p:cNvSpPr/>
          <p:nvPr/>
        </p:nvSpPr>
        <p:spPr>
          <a:xfrm>
            <a:off x="12640634" y="2618548"/>
            <a:ext cx="4796367" cy="514350"/>
          </a:xfrm>
          <a:prstGeom prst="rect">
            <a:avLst/>
          </a:prstGeom>
          <a:noFill/>
          <a:ln/>
        </p:spPr>
        <p:txBody>
          <a:bodyPr wrap="square" lIns="25400" tIns="25400" rIns="25400" bIns="25400" rtlCol="0" anchor="t">
            <a:normAutofit/>
          </a:bodyPr>
          <a:lstStyle/>
          <a:p>
            <a:pPr marL="0" indent="0" algn="l">
              <a:buNone/>
            </a:pPr>
            <a:r>
              <a:rPr lang="en-US" sz="2700" dirty="0">
                <a:solidFill>
                  <a:srgbClr val="1F1E1C"/>
                </a:solidFill>
                <a:latin typeface="Georgia" pitchFamily="34" charset="0"/>
                <a:ea typeface="Georgia" pitchFamily="34" charset="-122"/>
                <a:cs typeface="Georgia" pitchFamily="34" charset="-120"/>
              </a:rPr>
              <a:t>Gemini Chat </a:t>
            </a:r>
            <a:r>
              <a:rPr lang="en-US" sz="1950" dirty="0">
                <a:solidFill>
                  <a:srgbClr val="6B6964"/>
                </a:solidFill>
                <a:latin typeface="Georgia" pitchFamily="34" charset="0"/>
                <a:ea typeface="Georgia" pitchFamily="34" charset="-122"/>
                <a:cs typeface="Georgia" pitchFamily="34" charset="-120"/>
              </a:rPr>
              <a:t>(with branches)</a:t>
            </a:r>
            <a:endParaRPr lang="en-US" sz="2700" dirty="0"/>
          </a:p>
        </p:txBody>
      </p:sp>
      <p:sp>
        <p:nvSpPr>
          <p:cNvPr id="19" name="Text 16"/>
          <p:cNvSpPr/>
          <p:nvPr/>
        </p:nvSpPr>
        <p:spPr>
          <a:xfrm>
            <a:off x="12640634" y="3190048"/>
            <a:ext cx="4491144" cy="657225"/>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75" dirty="0">
                <a:solidFill>
                  <a:srgbClr val="6B6964"/>
                </a:solidFill>
                <a:latin typeface="Georgia" pitchFamily="34" charset="0"/>
                <a:ea typeface="Georgia" pitchFamily="34" charset="-122"/>
                <a:cs typeface="Georgia" pitchFamily="34" charset="-120"/>
              </a:rPr>
              <a:t>Guides implementation; one branch per task context</a:t>
            </a:r>
            <a:endParaRPr lang="en-US" sz="1875" dirty="0"/>
          </a:p>
        </p:txBody>
      </p:sp>
      <p:sp>
        <p:nvSpPr>
          <p:cNvPr id="20" name="Text 17"/>
          <p:cNvSpPr/>
          <p:nvPr/>
        </p:nvSpPr>
        <p:spPr>
          <a:xfrm>
            <a:off x="6867459" y="2836003"/>
            <a:ext cx="4819650" cy="312274"/>
          </a:xfrm>
          <a:prstGeom prst="rect">
            <a:avLst/>
          </a:prstGeom>
          <a:noFill/>
          <a:ln/>
        </p:spPr>
        <p:txBody>
          <a:bodyPr wrap="square" lIns="25400" tIns="25400" rIns="25400" bIns="25400" rtlCol="0" anchor="t">
            <a:normAutofit lnSpcReduction="10000"/>
          </a:bodyPr>
          <a:lstStyle/>
          <a:p>
            <a:pPr marL="0" indent="0" algn="ctr">
              <a:lnSpc>
                <a:spcPct val="103680"/>
              </a:lnSpc>
              <a:buNone/>
            </a:pPr>
            <a:r>
              <a:rPr lang="en-US" sz="1800" dirty="0">
                <a:solidFill>
                  <a:srgbClr val="6B6964"/>
                </a:solidFill>
                <a:latin typeface="Georgia" pitchFamily="34" charset="0"/>
                <a:ea typeface="Georgia" pitchFamily="34" charset="-122"/>
                <a:cs typeface="Georgia" pitchFamily="34" charset="-120"/>
              </a:rPr>
              <a:t>manual as reference</a:t>
            </a:r>
            <a:endParaRPr lang="en-US" sz="1800" dirty="0"/>
          </a:p>
        </p:txBody>
      </p:sp>
      <p:sp>
        <p:nvSpPr>
          <p:cNvPr id="21" name="Text 18"/>
          <p:cNvSpPr/>
          <p:nvPr/>
        </p:nvSpPr>
        <p:spPr>
          <a:xfrm>
            <a:off x="3981318" y="5102986"/>
            <a:ext cx="2305050" cy="312274"/>
          </a:xfrm>
          <a:prstGeom prst="rect">
            <a:avLst/>
          </a:prstGeom>
          <a:noFill/>
          <a:ln/>
        </p:spPr>
        <p:txBody>
          <a:bodyPr wrap="square" lIns="25400" tIns="25400" rIns="25400" bIns="25400" rtlCol="0" anchor="t">
            <a:normAutofit lnSpcReduction="10000"/>
          </a:bodyPr>
          <a:lstStyle/>
          <a:p>
            <a:pPr marL="0" indent="0" algn="l">
              <a:lnSpc>
                <a:spcPct val="103680"/>
              </a:lnSpc>
              <a:buNone/>
            </a:pPr>
            <a:r>
              <a:rPr lang="en-US" sz="1800" dirty="0">
                <a:solidFill>
                  <a:srgbClr val="6B6964"/>
                </a:solidFill>
                <a:latin typeface="Georgia" pitchFamily="34" charset="0"/>
                <a:ea typeface="Georgia" pitchFamily="34" charset="-122"/>
                <a:cs typeface="Georgia" pitchFamily="34" charset="-120"/>
              </a:rPr>
              <a:t>roles + handoffs</a:t>
            </a:r>
            <a:endParaRPr lang="en-US" sz="1800" dirty="0"/>
          </a:p>
        </p:txBody>
      </p:sp>
      <p:sp>
        <p:nvSpPr>
          <p:cNvPr id="22" name="Text 19"/>
          <p:cNvSpPr/>
          <p:nvPr/>
        </p:nvSpPr>
        <p:spPr>
          <a:xfrm>
            <a:off x="9277284" y="5579236"/>
            <a:ext cx="3143250" cy="312274"/>
          </a:xfrm>
          <a:prstGeom prst="rect">
            <a:avLst/>
          </a:prstGeom>
          <a:noFill/>
          <a:ln/>
        </p:spPr>
        <p:txBody>
          <a:bodyPr wrap="square" lIns="25400" tIns="25400" rIns="25400" bIns="25400" rtlCol="0" anchor="t">
            <a:normAutofit lnSpcReduction="10000"/>
          </a:bodyPr>
          <a:lstStyle/>
          <a:p>
            <a:pPr marL="0" indent="0" algn="l">
              <a:lnSpc>
                <a:spcPct val="103680"/>
              </a:lnSpc>
              <a:buNone/>
            </a:pPr>
            <a:r>
              <a:rPr lang="en-US" sz="1800" dirty="0">
                <a:solidFill>
                  <a:srgbClr val="6B6964"/>
                </a:solidFill>
                <a:latin typeface="Georgia" pitchFamily="34" charset="0"/>
                <a:ea typeface="Georgia" pitchFamily="34" charset="-122"/>
                <a:cs typeface="Georgia" pitchFamily="34" charset="-120"/>
              </a:rPr>
              <a:t>schema + tickets</a:t>
            </a:r>
            <a:endParaRPr lang="en-US" sz="1800" dirty="0"/>
          </a:p>
        </p:txBody>
      </p:sp>
      <p:sp>
        <p:nvSpPr>
          <p:cNvPr id="23" name="Shape 20"/>
          <p:cNvSpPr/>
          <p:nvPr/>
        </p:nvSpPr>
        <p:spPr>
          <a:xfrm>
            <a:off x="1371534" y="6341236"/>
            <a:ext cx="3810000" cy="1905000"/>
          </a:xfrm>
          <a:prstGeom prst="rect">
            <a:avLst/>
          </a:prstGeom>
          <a:solidFill>
            <a:srgbClr val="FFFFFF"/>
          </a:solidFill>
          <a:ln/>
        </p:spPr>
      </p:sp>
      <p:sp>
        <p:nvSpPr>
          <p:cNvPr id="24" name="Shape 21"/>
          <p:cNvSpPr/>
          <p:nvPr/>
        </p:nvSpPr>
        <p:spPr>
          <a:xfrm>
            <a:off x="1371534" y="8235653"/>
            <a:ext cx="3810000" cy="10583"/>
          </a:xfrm>
          <a:prstGeom prst="rect">
            <a:avLst/>
          </a:prstGeom>
          <a:solidFill>
            <a:srgbClr val="CFCDC6"/>
          </a:solidFill>
          <a:ln/>
        </p:spPr>
      </p:sp>
      <p:sp>
        <p:nvSpPr>
          <p:cNvPr id="25" name="Shape 22"/>
          <p:cNvSpPr/>
          <p:nvPr/>
        </p:nvSpPr>
        <p:spPr>
          <a:xfrm>
            <a:off x="1371534" y="6341236"/>
            <a:ext cx="3810000" cy="42333"/>
          </a:xfrm>
          <a:prstGeom prst="rect">
            <a:avLst/>
          </a:prstGeom>
          <a:solidFill>
            <a:srgbClr val="5C4FB3"/>
          </a:solidFill>
          <a:ln/>
        </p:spPr>
      </p:sp>
      <p:sp>
        <p:nvSpPr>
          <p:cNvPr id="26" name="Shape 23"/>
          <p:cNvSpPr/>
          <p:nvPr/>
        </p:nvSpPr>
        <p:spPr>
          <a:xfrm>
            <a:off x="1371534" y="6341236"/>
            <a:ext cx="10583" cy="1905000"/>
          </a:xfrm>
          <a:prstGeom prst="rect">
            <a:avLst/>
          </a:prstGeom>
          <a:solidFill>
            <a:srgbClr val="CFCDC6"/>
          </a:solidFill>
          <a:ln/>
        </p:spPr>
      </p:sp>
      <p:sp>
        <p:nvSpPr>
          <p:cNvPr id="27" name="Shape 24"/>
          <p:cNvSpPr/>
          <p:nvPr/>
        </p:nvSpPr>
        <p:spPr>
          <a:xfrm>
            <a:off x="5170951" y="6341236"/>
            <a:ext cx="10583" cy="1905000"/>
          </a:xfrm>
          <a:prstGeom prst="rect">
            <a:avLst/>
          </a:prstGeom>
          <a:solidFill>
            <a:srgbClr val="CFCDC6"/>
          </a:solidFill>
          <a:ln/>
        </p:spPr>
      </p:sp>
      <p:sp>
        <p:nvSpPr>
          <p:cNvPr id="28" name="Text 25"/>
          <p:cNvSpPr/>
          <p:nvPr/>
        </p:nvSpPr>
        <p:spPr>
          <a:xfrm>
            <a:off x="1667867" y="6714298"/>
            <a:ext cx="3539067" cy="514350"/>
          </a:xfrm>
          <a:prstGeom prst="rect">
            <a:avLst/>
          </a:prstGeom>
          <a:noFill/>
          <a:ln/>
        </p:spPr>
        <p:txBody>
          <a:bodyPr wrap="square" lIns="25400" tIns="25400" rIns="25400" bIns="25400" rtlCol="0" anchor="t">
            <a:normAutofit/>
          </a:bodyPr>
          <a:lstStyle/>
          <a:p>
            <a:pPr marL="0" indent="0" algn="l">
              <a:buNone/>
            </a:pPr>
            <a:r>
              <a:rPr lang="en-US" sz="2700" dirty="0">
                <a:solidFill>
                  <a:srgbClr val="1F1E1C"/>
                </a:solidFill>
                <a:latin typeface="Georgia" pitchFamily="34" charset="0"/>
                <a:ea typeface="Georgia" pitchFamily="34" charset="-122"/>
                <a:cs typeface="Georgia" pitchFamily="34" charset="-120"/>
              </a:rPr>
              <a:t>NotebookLM</a:t>
            </a:r>
            <a:endParaRPr lang="en-US" sz="2700" dirty="0"/>
          </a:p>
        </p:txBody>
      </p:sp>
      <p:sp>
        <p:nvSpPr>
          <p:cNvPr id="29" name="Text 26"/>
          <p:cNvSpPr/>
          <p:nvPr/>
        </p:nvSpPr>
        <p:spPr>
          <a:xfrm>
            <a:off x="1667867" y="7285798"/>
            <a:ext cx="3313854" cy="657225"/>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75" dirty="0">
                <a:solidFill>
                  <a:srgbClr val="6B6964"/>
                </a:solidFill>
                <a:latin typeface="Georgia" pitchFamily="34" charset="0"/>
                <a:ea typeface="Georgia" pitchFamily="34" charset="-122"/>
                <a:cs typeface="Georgia" pitchFamily="34" charset="-120"/>
              </a:rPr>
              <a:t>Extracts source passages into cited Notes</a:t>
            </a:r>
            <a:endParaRPr lang="en-US" sz="1875" dirty="0"/>
          </a:p>
        </p:txBody>
      </p:sp>
      <p:sp>
        <p:nvSpPr>
          <p:cNvPr id="30" name="Shape 27"/>
          <p:cNvSpPr/>
          <p:nvPr/>
        </p:nvSpPr>
        <p:spPr>
          <a:xfrm>
            <a:off x="7238835" y="6341236"/>
            <a:ext cx="3810000" cy="1905000"/>
          </a:xfrm>
          <a:prstGeom prst="rect">
            <a:avLst/>
          </a:prstGeom>
          <a:solidFill>
            <a:srgbClr val="FFFFFF"/>
          </a:solidFill>
          <a:ln/>
        </p:spPr>
      </p:sp>
      <p:sp>
        <p:nvSpPr>
          <p:cNvPr id="31" name="Shape 28"/>
          <p:cNvSpPr/>
          <p:nvPr/>
        </p:nvSpPr>
        <p:spPr>
          <a:xfrm>
            <a:off x="7238835" y="8235653"/>
            <a:ext cx="3810000" cy="10583"/>
          </a:xfrm>
          <a:prstGeom prst="rect">
            <a:avLst/>
          </a:prstGeom>
          <a:solidFill>
            <a:srgbClr val="CFCDC6"/>
          </a:solidFill>
          <a:ln/>
        </p:spPr>
      </p:sp>
      <p:sp>
        <p:nvSpPr>
          <p:cNvPr id="32" name="Shape 29"/>
          <p:cNvSpPr/>
          <p:nvPr/>
        </p:nvSpPr>
        <p:spPr>
          <a:xfrm>
            <a:off x="7238835" y="6341236"/>
            <a:ext cx="3810000" cy="42333"/>
          </a:xfrm>
          <a:prstGeom prst="rect">
            <a:avLst/>
          </a:prstGeom>
          <a:solidFill>
            <a:srgbClr val="5C4FB3"/>
          </a:solidFill>
          <a:ln/>
        </p:spPr>
      </p:sp>
      <p:sp>
        <p:nvSpPr>
          <p:cNvPr id="33" name="Shape 30"/>
          <p:cNvSpPr/>
          <p:nvPr/>
        </p:nvSpPr>
        <p:spPr>
          <a:xfrm>
            <a:off x="7238835" y="6341236"/>
            <a:ext cx="10583" cy="1905000"/>
          </a:xfrm>
          <a:prstGeom prst="rect">
            <a:avLst/>
          </a:prstGeom>
          <a:solidFill>
            <a:srgbClr val="CFCDC6"/>
          </a:solidFill>
          <a:ln/>
        </p:spPr>
      </p:sp>
      <p:sp>
        <p:nvSpPr>
          <p:cNvPr id="34" name="Shape 31"/>
          <p:cNvSpPr/>
          <p:nvPr/>
        </p:nvSpPr>
        <p:spPr>
          <a:xfrm>
            <a:off x="11038252" y="6341236"/>
            <a:ext cx="10583" cy="1905000"/>
          </a:xfrm>
          <a:prstGeom prst="rect">
            <a:avLst/>
          </a:prstGeom>
          <a:solidFill>
            <a:srgbClr val="CFCDC6"/>
          </a:solidFill>
          <a:ln/>
        </p:spPr>
      </p:sp>
      <p:sp>
        <p:nvSpPr>
          <p:cNvPr id="35" name="Text 32"/>
          <p:cNvSpPr/>
          <p:nvPr/>
        </p:nvSpPr>
        <p:spPr>
          <a:xfrm>
            <a:off x="7535169" y="6714298"/>
            <a:ext cx="3539067" cy="514350"/>
          </a:xfrm>
          <a:prstGeom prst="rect">
            <a:avLst/>
          </a:prstGeom>
          <a:noFill/>
          <a:ln/>
        </p:spPr>
        <p:txBody>
          <a:bodyPr wrap="square" lIns="25400" tIns="25400" rIns="25400" bIns="25400" rtlCol="0" anchor="t">
            <a:normAutofit/>
          </a:bodyPr>
          <a:lstStyle/>
          <a:p>
            <a:pPr marL="0" indent="0" algn="l">
              <a:buNone/>
            </a:pPr>
            <a:r>
              <a:rPr lang="en-US" sz="2700" dirty="0">
                <a:solidFill>
                  <a:srgbClr val="1F1E1C"/>
                </a:solidFill>
                <a:latin typeface="Georgia" pitchFamily="34" charset="0"/>
                <a:ea typeface="Georgia" pitchFamily="34" charset="-122"/>
                <a:cs typeface="Georgia" pitchFamily="34" charset="-120"/>
              </a:rPr>
              <a:t>Gemini Gems</a:t>
            </a:r>
            <a:endParaRPr lang="en-US" sz="2700" dirty="0"/>
          </a:p>
        </p:txBody>
      </p:sp>
      <p:sp>
        <p:nvSpPr>
          <p:cNvPr id="36" name="Text 33"/>
          <p:cNvSpPr/>
          <p:nvPr/>
        </p:nvSpPr>
        <p:spPr>
          <a:xfrm>
            <a:off x="7535169" y="7285798"/>
            <a:ext cx="3313854" cy="657225"/>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75" dirty="0">
                <a:solidFill>
                  <a:srgbClr val="6B6964"/>
                </a:solidFill>
                <a:latin typeface="Georgia" pitchFamily="34" charset="0"/>
                <a:ea typeface="Georgia" pitchFamily="34" charset="-122"/>
                <a:cs typeface="Georgia" pitchFamily="34" charset="-120"/>
              </a:rPr>
              <a:t>Use Notes, schema and tickets to draft wiki nodes</a:t>
            </a:r>
            <a:endParaRPr lang="en-US" sz="1875" dirty="0"/>
          </a:p>
        </p:txBody>
      </p:sp>
      <p:sp>
        <p:nvSpPr>
          <p:cNvPr id="37" name="Shape 34"/>
          <p:cNvSpPr/>
          <p:nvPr/>
        </p:nvSpPr>
        <p:spPr>
          <a:xfrm>
            <a:off x="13106301" y="6341236"/>
            <a:ext cx="3810000" cy="1905000"/>
          </a:xfrm>
          <a:prstGeom prst="rect">
            <a:avLst/>
          </a:prstGeom>
          <a:solidFill>
            <a:srgbClr val="FFFFFF"/>
          </a:solidFill>
          <a:ln/>
        </p:spPr>
      </p:sp>
      <p:sp>
        <p:nvSpPr>
          <p:cNvPr id="38" name="Shape 35"/>
          <p:cNvSpPr/>
          <p:nvPr/>
        </p:nvSpPr>
        <p:spPr>
          <a:xfrm>
            <a:off x="13106301" y="8235653"/>
            <a:ext cx="3810000" cy="10583"/>
          </a:xfrm>
          <a:prstGeom prst="rect">
            <a:avLst/>
          </a:prstGeom>
          <a:solidFill>
            <a:srgbClr val="CFCDC6"/>
          </a:solidFill>
          <a:ln/>
        </p:spPr>
      </p:sp>
      <p:sp>
        <p:nvSpPr>
          <p:cNvPr id="39" name="Shape 36"/>
          <p:cNvSpPr/>
          <p:nvPr/>
        </p:nvSpPr>
        <p:spPr>
          <a:xfrm>
            <a:off x="13106301" y="6341236"/>
            <a:ext cx="3810000" cy="42333"/>
          </a:xfrm>
          <a:prstGeom prst="rect">
            <a:avLst/>
          </a:prstGeom>
          <a:solidFill>
            <a:srgbClr val="5C4FB3"/>
          </a:solidFill>
          <a:ln/>
        </p:spPr>
      </p:sp>
      <p:sp>
        <p:nvSpPr>
          <p:cNvPr id="40" name="Shape 37"/>
          <p:cNvSpPr/>
          <p:nvPr/>
        </p:nvSpPr>
        <p:spPr>
          <a:xfrm>
            <a:off x="13106301" y="6341236"/>
            <a:ext cx="10583" cy="1905000"/>
          </a:xfrm>
          <a:prstGeom prst="rect">
            <a:avLst/>
          </a:prstGeom>
          <a:solidFill>
            <a:srgbClr val="CFCDC6"/>
          </a:solidFill>
          <a:ln/>
        </p:spPr>
      </p:sp>
      <p:sp>
        <p:nvSpPr>
          <p:cNvPr id="41" name="Shape 38"/>
          <p:cNvSpPr/>
          <p:nvPr/>
        </p:nvSpPr>
        <p:spPr>
          <a:xfrm>
            <a:off x="16905718" y="6341236"/>
            <a:ext cx="10583" cy="1905000"/>
          </a:xfrm>
          <a:prstGeom prst="rect">
            <a:avLst/>
          </a:prstGeom>
          <a:solidFill>
            <a:srgbClr val="CFCDC6"/>
          </a:solidFill>
          <a:ln/>
        </p:spPr>
      </p:sp>
      <p:sp>
        <p:nvSpPr>
          <p:cNvPr id="42" name="Text 39"/>
          <p:cNvSpPr/>
          <p:nvPr/>
        </p:nvSpPr>
        <p:spPr>
          <a:xfrm>
            <a:off x="13402634" y="6714298"/>
            <a:ext cx="3539067" cy="514350"/>
          </a:xfrm>
          <a:prstGeom prst="rect">
            <a:avLst/>
          </a:prstGeom>
          <a:noFill/>
          <a:ln/>
        </p:spPr>
        <p:txBody>
          <a:bodyPr wrap="square" lIns="25400" tIns="25400" rIns="25400" bIns="25400" rtlCol="0" anchor="t">
            <a:normAutofit/>
          </a:bodyPr>
          <a:lstStyle/>
          <a:p>
            <a:pPr marL="0" indent="0" algn="l">
              <a:buNone/>
            </a:pPr>
            <a:r>
              <a:rPr lang="en-US" sz="2700" dirty="0">
                <a:solidFill>
                  <a:srgbClr val="1F1E1C"/>
                </a:solidFill>
                <a:latin typeface="Georgia" pitchFamily="34" charset="0"/>
                <a:ea typeface="Georgia" pitchFamily="34" charset="-122"/>
                <a:cs typeface="Georgia" pitchFamily="34" charset="-120"/>
              </a:rPr>
              <a:t>Obsidian vault</a:t>
            </a:r>
            <a:endParaRPr lang="en-US" sz="2700" dirty="0"/>
          </a:p>
        </p:txBody>
      </p:sp>
      <p:sp>
        <p:nvSpPr>
          <p:cNvPr id="43" name="Text 40"/>
          <p:cNvSpPr/>
          <p:nvPr/>
        </p:nvSpPr>
        <p:spPr>
          <a:xfrm>
            <a:off x="13402634" y="7285798"/>
            <a:ext cx="3313854" cy="657225"/>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75" dirty="0">
                <a:solidFill>
                  <a:srgbClr val="6B6964"/>
                </a:solidFill>
                <a:latin typeface="Georgia" pitchFamily="34" charset="0"/>
                <a:ea typeface="Georgia" pitchFamily="34" charset="-122"/>
                <a:cs typeface="Georgia" pitchFamily="34" charset="-120"/>
              </a:rPr>
              <a:t>Stores, links and inspects the knowledge graph</a:t>
            </a:r>
            <a:endParaRPr lang="en-US" sz="1875" dirty="0"/>
          </a:p>
        </p:txBody>
      </p:sp>
      <p:sp>
        <p:nvSpPr>
          <p:cNvPr id="44" name="Text 41"/>
          <p:cNvSpPr/>
          <p:nvPr/>
        </p:nvSpPr>
        <p:spPr>
          <a:xfrm>
            <a:off x="5081522" y="6893554"/>
            <a:ext cx="2200275" cy="312274"/>
          </a:xfrm>
          <a:prstGeom prst="rect">
            <a:avLst/>
          </a:prstGeom>
          <a:noFill/>
          <a:ln/>
        </p:spPr>
        <p:txBody>
          <a:bodyPr wrap="square" lIns="25400" tIns="25400" rIns="25400" bIns="25400" rtlCol="0" anchor="t">
            <a:normAutofit lnSpcReduction="10000"/>
          </a:bodyPr>
          <a:lstStyle/>
          <a:p>
            <a:pPr marL="0" indent="0" algn="ctr">
              <a:lnSpc>
                <a:spcPct val="103680"/>
              </a:lnSpc>
              <a:buNone/>
            </a:pPr>
            <a:r>
              <a:rPr lang="en-US" sz="1800" dirty="0">
                <a:solidFill>
                  <a:srgbClr val="5C4FB3"/>
                </a:solidFill>
                <a:latin typeface="Georgia" pitchFamily="34" charset="0"/>
                <a:ea typeface="Georgia" pitchFamily="34" charset="-122"/>
                <a:cs typeface="Georgia" pitchFamily="34" charset="-120"/>
              </a:rPr>
              <a:t>cited Notes</a:t>
            </a:r>
            <a:endParaRPr lang="en-US" sz="1800" dirty="0"/>
          </a:p>
        </p:txBody>
      </p:sp>
      <p:sp>
        <p:nvSpPr>
          <p:cNvPr id="45" name="Text 42"/>
          <p:cNvSpPr/>
          <p:nvPr/>
        </p:nvSpPr>
        <p:spPr>
          <a:xfrm>
            <a:off x="10948822" y="6893554"/>
            <a:ext cx="2200275" cy="312274"/>
          </a:xfrm>
          <a:prstGeom prst="rect">
            <a:avLst/>
          </a:prstGeom>
          <a:noFill/>
          <a:ln/>
        </p:spPr>
        <p:txBody>
          <a:bodyPr wrap="square" lIns="25400" tIns="25400" rIns="25400" bIns="25400" rtlCol="0" anchor="t">
            <a:normAutofit lnSpcReduction="10000"/>
          </a:bodyPr>
          <a:lstStyle/>
          <a:p>
            <a:pPr marL="0" indent="0" algn="ctr">
              <a:lnSpc>
                <a:spcPct val="103680"/>
              </a:lnSpc>
              <a:buNone/>
            </a:pPr>
            <a:r>
              <a:rPr lang="en-US" sz="1800" dirty="0">
                <a:solidFill>
                  <a:srgbClr val="5C4FB3"/>
                </a:solidFill>
                <a:latin typeface="Georgia" pitchFamily="34" charset="0"/>
                <a:ea typeface="Georgia" pitchFamily="34" charset="-122"/>
                <a:cs typeface="Georgia" pitchFamily="34" charset="-120"/>
              </a:rPr>
              <a:t>Markdown nodes</a:t>
            </a:r>
            <a:endParaRPr lang="en-US" sz="1800" dirty="0"/>
          </a:p>
        </p:txBody>
      </p:sp>
      <p:sp>
        <p:nvSpPr>
          <p:cNvPr id="46" name="Text 43"/>
          <p:cNvSpPr/>
          <p:nvPr/>
        </p:nvSpPr>
        <p:spPr>
          <a:xfrm>
            <a:off x="10305985" y="9141520"/>
            <a:ext cx="4610100" cy="312274"/>
          </a:xfrm>
          <a:prstGeom prst="rect">
            <a:avLst/>
          </a:prstGeom>
          <a:noFill/>
          <a:ln/>
        </p:spPr>
        <p:txBody>
          <a:bodyPr wrap="square" lIns="25400" tIns="25400" rIns="25400" bIns="25400" rtlCol="0" anchor="t">
            <a:normAutofit lnSpcReduction="10000"/>
          </a:bodyPr>
          <a:lstStyle/>
          <a:p>
            <a:pPr marL="0" indent="0" algn="ctr">
              <a:lnSpc>
                <a:spcPct val="103680"/>
              </a:lnSpc>
              <a:buNone/>
            </a:pPr>
            <a:r>
              <a:rPr lang="en-US" sz="1800" dirty="0">
                <a:solidFill>
                  <a:srgbClr val="A67C0A"/>
                </a:solidFill>
                <a:latin typeface="Georgia" pitchFamily="34" charset="0"/>
                <a:ea typeface="Georgia" pitchFamily="34" charset="-122"/>
                <a:cs typeface="Georgia" pitchFamily="34" charset="-120"/>
              </a:rPr>
              <a:t>review + next task</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90534" y="685767"/>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685767"/>
            <a:ext cx="338303" cy="376767"/>
          </a:xfrm>
          <a:prstGeom prst="rect">
            <a:avLst/>
          </a:prstGeom>
          <a:noFill/>
          <a:ln/>
        </p:spPr>
        <p:txBody>
          <a:bodyPr wrap="square" lIns="25400" tIns="25400" rIns="25400" bIns="25400" rtlCol="0" anchor="t">
            <a:normAutofit fontScale="92500"/>
          </a:bodyPr>
          <a:lstStyle/>
          <a:p>
            <a:pPr marL="0" indent="0" algn="l">
              <a:buNone/>
            </a:pPr>
            <a:r>
              <a:rPr lang="en-US" sz="1950" dirty="0">
                <a:solidFill>
                  <a:srgbClr val="6B6964"/>
                </a:solidFill>
                <a:latin typeface="Georgia" pitchFamily="34" charset="0"/>
                <a:ea typeface="Georgia" pitchFamily="34" charset="-122"/>
                <a:cs typeface="Georgia" pitchFamily="34" charset="-120"/>
              </a:rPr>
              <a:t>08</a:t>
            </a:r>
            <a:endParaRPr lang="en-US" sz="1950" dirty="0"/>
          </a:p>
        </p:txBody>
      </p:sp>
      <p:sp>
        <p:nvSpPr>
          <p:cNvPr id="4" name="Text 2"/>
          <p:cNvSpPr/>
          <p:nvPr/>
        </p:nvSpPr>
        <p:spPr>
          <a:xfrm>
            <a:off x="990534" y="1252968"/>
            <a:ext cx="17937626" cy="821267"/>
          </a:xfrm>
          <a:prstGeom prst="rect">
            <a:avLst/>
          </a:prstGeom>
          <a:noFill/>
          <a:ln/>
        </p:spPr>
        <p:txBody>
          <a:bodyPr wrap="square" lIns="25400" tIns="25400" rIns="25400" bIns="25400" rtlCol="0" anchor="t">
            <a:normAutofit/>
          </a:bodyPr>
          <a:lstStyle/>
          <a:p>
            <a:pPr marL="0" indent="0" algn="l">
              <a:buNone/>
            </a:pPr>
            <a:r>
              <a:rPr lang="en-US" sz="4500" dirty="0">
                <a:solidFill>
                  <a:srgbClr val="1F1E1C"/>
                </a:solidFill>
                <a:latin typeface="Georgia" pitchFamily="34" charset="0"/>
                <a:ea typeface="Georgia" pitchFamily="34" charset="-122"/>
                <a:cs typeface="Georgia" pitchFamily="34" charset="-120"/>
              </a:rPr>
              <a:t>The guided branches exposed a sequencing repair</a:t>
            </a:r>
            <a:endParaRPr lang="en-US" sz="4500" dirty="0"/>
          </a:p>
        </p:txBody>
      </p:sp>
      <p:sp>
        <p:nvSpPr>
          <p:cNvPr id="5" name="Text 3"/>
          <p:cNvSpPr/>
          <p:nvPr/>
        </p:nvSpPr>
        <p:spPr>
          <a:xfrm>
            <a:off x="990534" y="2264668"/>
            <a:ext cx="17937626" cy="429683"/>
          </a:xfrm>
          <a:prstGeom prst="rect">
            <a:avLst/>
          </a:prstGeom>
          <a:noFill/>
          <a:ln/>
        </p:spPr>
        <p:txBody>
          <a:bodyPr wrap="square" lIns="25400" tIns="25400" rIns="25400" bIns="25400" rtlCol="0" anchor="t">
            <a:normAutofit/>
          </a:bodyPr>
          <a:lstStyle/>
          <a:p>
            <a:pPr marL="0" indent="0" algn="l">
              <a:buNone/>
            </a:pPr>
            <a:r>
              <a:rPr lang="en-US" sz="2250" dirty="0">
                <a:solidFill>
                  <a:srgbClr val="6B6964"/>
                </a:solidFill>
                <a:latin typeface="Georgia" pitchFamily="34" charset="0"/>
                <a:ea typeface="Georgia" pitchFamily="34" charset="-122"/>
                <a:cs typeface="Georgia" pitchFamily="34" charset="-120"/>
              </a:rPr>
              <a:t>G1 operationalises the Operations Manual's extraction lenses into a source-specific plan and reusable queries.</a:t>
            </a:r>
            <a:endParaRPr lang="en-US" sz="22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0534" y="2884785"/>
            <a:ext cx="16306767" cy="6858001"/>
          </a:xfrm>
          <a:prstGeom prst="rect">
            <a:avLst/>
          </a:prstGeom>
        </p:spPr>
      </p:pic>
      <p:sp>
        <p:nvSpPr>
          <p:cNvPr id="7" name="Shape 4"/>
          <p:cNvSpPr/>
          <p:nvPr/>
        </p:nvSpPr>
        <p:spPr>
          <a:xfrm>
            <a:off x="990534" y="4027785"/>
            <a:ext cx="1809750" cy="1619250"/>
          </a:xfrm>
          <a:prstGeom prst="roundRect">
            <a:avLst>
              <a:gd name="adj" fmla="val 7059"/>
            </a:avLst>
          </a:prstGeom>
          <a:solidFill>
            <a:srgbClr val="FFFFFF"/>
          </a:solidFill>
          <a:ln w="10583">
            <a:solidFill>
              <a:srgbClr val="CFCDC6"/>
            </a:solidFill>
            <a:prstDash val="solid"/>
          </a:ln>
        </p:spPr>
      </p:sp>
      <p:sp>
        <p:nvSpPr>
          <p:cNvPr id="8" name="Text 5"/>
          <p:cNvSpPr/>
          <p:nvPr/>
        </p:nvSpPr>
        <p:spPr>
          <a:xfrm>
            <a:off x="1172435" y="4280463"/>
            <a:ext cx="1590543" cy="344686"/>
          </a:xfrm>
          <a:prstGeom prst="rect">
            <a:avLst/>
          </a:prstGeom>
          <a:noFill/>
          <a:ln/>
        </p:spPr>
        <p:txBody>
          <a:bodyPr wrap="square" lIns="25400" tIns="25400" rIns="25400" bIns="25400" rtlCol="0" anchor="t">
            <a:normAutofit lnSpcReduction="10000"/>
          </a:bodyPr>
          <a:lstStyle/>
          <a:p>
            <a:pPr marL="0" indent="0" algn="l">
              <a:lnSpc>
                <a:spcPct val="99931"/>
              </a:lnSpc>
              <a:buNone/>
            </a:pPr>
            <a:r>
              <a:rPr lang="en-US" sz="2100" dirty="0">
                <a:solidFill>
                  <a:srgbClr val="1F1E1C"/>
                </a:solidFill>
                <a:latin typeface="Georgia" pitchFamily="34" charset="0"/>
                <a:ea typeface="Georgia" pitchFamily="34" charset="-122"/>
                <a:cs typeface="Georgia" pitchFamily="34" charset="-120"/>
              </a:rPr>
              <a:t>Inputs</a:t>
            </a:r>
            <a:endParaRPr lang="en-US" sz="2100" dirty="0"/>
          </a:p>
        </p:txBody>
      </p:sp>
      <p:sp>
        <p:nvSpPr>
          <p:cNvPr id="9" name="Text 6"/>
          <p:cNvSpPr/>
          <p:nvPr/>
        </p:nvSpPr>
        <p:spPr>
          <a:xfrm>
            <a:off x="1172435" y="4644099"/>
            <a:ext cx="1522148" cy="788194"/>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575" dirty="0">
                <a:solidFill>
                  <a:srgbClr val="6B6964"/>
                </a:solidFill>
                <a:latin typeface="Georgia" pitchFamily="34" charset="0"/>
                <a:ea typeface="Georgia" pitchFamily="34" charset="-122"/>
                <a:cs typeface="Georgia" pitchFamily="34" charset="-120"/>
              </a:rPr>
              <a:t>AGA PDF · TOC · Operations Manual</a:t>
            </a:r>
            <a:endParaRPr lang="en-US" sz="1575" dirty="0"/>
          </a:p>
        </p:txBody>
      </p:sp>
      <p:sp>
        <p:nvSpPr>
          <p:cNvPr id="10" name="Shape 7"/>
          <p:cNvSpPr/>
          <p:nvPr/>
        </p:nvSpPr>
        <p:spPr>
          <a:xfrm>
            <a:off x="3086034" y="4027785"/>
            <a:ext cx="2857500" cy="1619250"/>
          </a:xfrm>
          <a:prstGeom prst="roundRect">
            <a:avLst>
              <a:gd name="adj" fmla="val 7059"/>
            </a:avLst>
          </a:prstGeom>
          <a:solidFill>
            <a:srgbClr val="ECE8FB"/>
          </a:solidFill>
          <a:ln w="10583">
            <a:solidFill>
              <a:srgbClr val="7B6CD9"/>
            </a:solidFill>
            <a:prstDash val="solid"/>
          </a:ln>
        </p:spPr>
      </p:sp>
      <p:sp>
        <p:nvSpPr>
          <p:cNvPr id="11" name="Text 8"/>
          <p:cNvSpPr/>
          <p:nvPr/>
        </p:nvSpPr>
        <p:spPr>
          <a:xfrm>
            <a:off x="3267935" y="4280463"/>
            <a:ext cx="2743068" cy="344686"/>
          </a:xfrm>
          <a:prstGeom prst="rect">
            <a:avLst/>
          </a:prstGeom>
          <a:noFill/>
          <a:ln/>
        </p:spPr>
        <p:txBody>
          <a:bodyPr wrap="square" lIns="25400" tIns="25400" rIns="25400" bIns="25400" rtlCol="0" anchor="t">
            <a:normAutofit lnSpcReduction="10000"/>
          </a:bodyPr>
          <a:lstStyle/>
          <a:p>
            <a:pPr marL="0" indent="0" algn="l">
              <a:lnSpc>
                <a:spcPct val="99931"/>
              </a:lnSpc>
              <a:buNone/>
            </a:pPr>
            <a:r>
              <a:rPr lang="en-US" sz="2100" dirty="0">
                <a:solidFill>
                  <a:srgbClr val="3B2D8A"/>
                </a:solidFill>
                <a:latin typeface="Georgia" pitchFamily="34" charset="0"/>
                <a:ea typeface="Georgia" pitchFamily="34" charset="-122"/>
                <a:cs typeface="Georgia" pitchFamily="34" charset="-120"/>
              </a:rPr>
              <a:t>G1</a:t>
            </a:r>
            <a:endParaRPr lang="en-US" sz="2100" dirty="0"/>
          </a:p>
        </p:txBody>
      </p:sp>
      <p:sp>
        <p:nvSpPr>
          <p:cNvPr id="12" name="Text 9"/>
          <p:cNvSpPr/>
          <p:nvPr/>
        </p:nvSpPr>
        <p:spPr>
          <a:xfrm>
            <a:off x="3267935" y="4644099"/>
            <a:ext cx="2569898" cy="788194"/>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575" dirty="0">
                <a:solidFill>
                  <a:srgbClr val="5C4FB3"/>
                </a:solidFill>
                <a:latin typeface="Georgia" pitchFamily="34" charset="0"/>
                <a:ea typeface="Georgia" pitchFamily="34" charset="-122"/>
                <a:cs typeface="Georgia" pitchFamily="34" charset="-120"/>
              </a:rPr>
              <a:t>source discovery: locator map, P1–P7 extraction plan, query templates</a:t>
            </a:r>
            <a:endParaRPr lang="en-US" sz="1575" dirty="0"/>
          </a:p>
        </p:txBody>
      </p:sp>
      <p:sp>
        <p:nvSpPr>
          <p:cNvPr id="13" name="Shape 10"/>
          <p:cNvSpPr/>
          <p:nvPr/>
        </p:nvSpPr>
        <p:spPr>
          <a:xfrm>
            <a:off x="6229284" y="4027785"/>
            <a:ext cx="2047875" cy="1619250"/>
          </a:xfrm>
          <a:prstGeom prst="roundRect">
            <a:avLst>
              <a:gd name="adj" fmla="val 7059"/>
            </a:avLst>
          </a:prstGeom>
          <a:solidFill>
            <a:srgbClr val="FFFFFF"/>
          </a:solidFill>
          <a:ln w="10583">
            <a:solidFill>
              <a:srgbClr val="CFCDC6"/>
            </a:solidFill>
            <a:prstDash val="solid"/>
          </a:ln>
        </p:spPr>
      </p:sp>
      <p:sp>
        <p:nvSpPr>
          <p:cNvPr id="14" name="Text 11"/>
          <p:cNvSpPr/>
          <p:nvPr/>
        </p:nvSpPr>
        <p:spPr>
          <a:xfrm>
            <a:off x="6411185" y="4405478"/>
            <a:ext cx="1852480" cy="344686"/>
          </a:xfrm>
          <a:prstGeom prst="rect">
            <a:avLst/>
          </a:prstGeom>
          <a:noFill/>
          <a:ln/>
        </p:spPr>
        <p:txBody>
          <a:bodyPr wrap="square" lIns="25400" tIns="25400" rIns="25400" bIns="25400" rtlCol="0" anchor="t">
            <a:normAutofit lnSpcReduction="10000"/>
          </a:bodyPr>
          <a:lstStyle/>
          <a:p>
            <a:pPr marL="0" indent="0" algn="l">
              <a:lnSpc>
                <a:spcPct val="99931"/>
              </a:lnSpc>
              <a:buNone/>
            </a:pPr>
            <a:r>
              <a:rPr lang="en-US" sz="2100" dirty="0">
                <a:solidFill>
                  <a:srgbClr val="1F1E1C"/>
                </a:solidFill>
                <a:latin typeface="Georgia" pitchFamily="34" charset="0"/>
                <a:ea typeface="Georgia" pitchFamily="34" charset="-122"/>
                <a:cs typeface="Georgia" pitchFamily="34" charset="-120"/>
              </a:rPr>
              <a:t>NotebookLM</a:t>
            </a:r>
            <a:endParaRPr lang="en-US" sz="2100" dirty="0"/>
          </a:p>
        </p:txBody>
      </p:sp>
      <p:sp>
        <p:nvSpPr>
          <p:cNvPr id="15" name="Text 12"/>
          <p:cNvSpPr/>
          <p:nvPr/>
        </p:nvSpPr>
        <p:spPr>
          <a:xfrm>
            <a:off x="6411185" y="4769115"/>
            <a:ext cx="1760273" cy="538163"/>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575" dirty="0">
                <a:solidFill>
                  <a:srgbClr val="6B6964"/>
                </a:solidFill>
                <a:latin typeface="Georgia" pitchFamily="34" charset="0"/>
                <a:ea typeface="Georgia" pitchFamily="34" charset="-122"/>
                <a:cs typeface="Georgia" pitchFamily="34" charset="-120"/>
              </a:rPr>
              <a:t>scoped queries by locator</a:t>
            </a:r>
            <a:endParaRPr lang="en-US" sz="1575" dirty="0"/>
          </a:p>
        </p:txBody>
      </p:sp>
      <p:sp>
        <p:nvSpPr>
          <p:cNvPr id="16" name="Shape 13"/>
          <p:cNvSpPr/>
          <p:nvPr/>
        </p:nvSpPr>
        <p:spPr>
          <a:xfrm>
            <a:off x="8562909" y="4027785"/>
            <a:ext cx="2047875" cy="1619250"/>
          </a:xfrm>
          <a:prstGeom prst="roundRect">
            <a:avLst>
              <a:gd name="adj" fmla="val 7059"/>
            </a:avLst>
          </a:prstGeom>
          <a:solidFill>
            <a:srgbClr val="FFFFFF"/>
          </a:solidFill>
          <a:ln w="10583">
            <a:solidFill>
              <a:srgbClr val="CFCDC6"/>
            </a:solidFill>
            <a:prstDash val="solid"/>
          </a:ln>
        </p:spPr>
      </p:sp>
      <p:sp>
        <p:nvSpPr>
          <p:cNvPr id="17" name="Text 14"/>
          <p:cNvSpPr/>
          <p:nvPr/>
        </p:nvSpPr>
        <p:spPr>
          <a:xfrm>
            <a:off x="8744810" y="4405478"/>
            <a:ext cx="1852480" cy="344686"/>
          </a:xfrm>
          <a:prstGeom prst="rect">
            <a:avLst/>
          </a:prstGeom>
          <a:noFill/>
          <a:ln/>
        </p:spPr>
        <p:txBody>
          <a:bodyPr wrap="square" lIns="25400" tIns="25400" rIns="25400" bIns="25400" rtlCol="0" anchor="t">
            <a:normAutofit lnSpcReduction="10000"/>
          </a:bodyPr>
          <a:lstStyle/>
          <a:p>
            <a:pPr marL="0" indent="0" algn="l">
              <a:lnSpc>
                <a:spcPct val="99931"/>
              </a:lnSpc>
              <a:buNone/>
            </a:pPr>
            <a:r>
              <a:rPr lang="en-US" sz="2100" dirty="0">
                <a:solidFill>
                  <a:srgbClr val="1F1E1C"/>
                </a:solidFill>
                <a:latin typeface="Georgia" pitchFamily="34" charset="0"/>
                <a:ea typeface="Georgia" pitchFamily="34" charset="-122"/>
                <a:cs typeface="Georgia" pitchFamily="34" charset="-120"/>
              </a:rPr>
              <a:t>Cited Notes</a:t>
            </a:r>
            <a:endParaRPr lang="en-US" sz="2100" dirty="0"/>
          </a:p>
        </p:txBody>
      </p:sp>
      <p:sp>
        <p:nvSpPr>
          <p:cNvPr id="18" name="Text 15"/>
          <p:cNvSpPr/>
          <p:nvPr/>
        </p:nvSpPr>
        <p:spPr>
          <a:xfrm>
            <a:off x="8744810" y="4769115"/>
            <a:ext cx="1760273" cy="538163"/>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575" dirty="0">
                <a:solidFill>
                  <a:srgbClr val="6B6964"/>
                </a:solidFill>
                <a:latin typeface="Georgia" pitchFamily="34" charset="0"/>
                <a:ea typeface="Georgia" pitchFamily="34" charset="-122"/>
                <a:cs typeface="Georgia" pitchFamily="34" charset="-120"/>
              </a:rPr>
              <a:t>saved evidence packages</a:t>
            </a:r>
            <a:endParaRPr lang="en-US" sz="1575" dirty="0"/>
          </a:p>
        </p:txBody>
      </p:sp>
      <p:sp>
        <p:nvSpPr>
          <p:cNvPr id="19" name="Shape 16"/>
          <p:cNvSpPr/>
          <p:nvPr/>
        </p:nvSpPr>
        <p:spPr>
          <a:xfrm>
            <a:off x="10896535" y="4027785"/>
            <a:ext cx="2047875" cy="1619250"/>
          </a:xfrm>
          <a:prstGeom prst="roundRect">
            <a:avLst>
              <a:gd name="adj" fmla="val 7059"/>
            </a:avLst>
          </a:prstGeom>
          <a:solidFill>
            <a:srgbClr val="ECE8FB"/>
          </a:solidFill>
          <a:ln w="10583">
            <a:solidFill>
              <a:srgbClr val="7B6CD9"/>
            </a:solidFill>
            <a:prstDash val="solid"/>
          </a:ln>
        </p:spPr>
      </p:sp>
      <p:sp>
        <p:nvSpPr>
          <p:cNvPr id="20" name="Text 17"/>
          <p:cNvSpPr/>
          <p:nvPr/>
        </p:nvSpPr>
        <p:spPr>
          <a:xfrm>
            <a:off x="11078435" y="4530494"/>
            <a:ext cx="1852480" cy="344686"/>
          </a:xfrm>
          <a:prstGeom prst="rect">
            <a:avLst/>
          </a:prstGeom>
          <a:noFill/>
          <a:ln/>
        </p:spPr>
        <p:txBody>
          <a:bodyPr wrap="square" lIns="25400" tIns="25400" rIns="25400" bIns="25400" rtlCol="0" anchor="t">
            <a:normAutofit lnSpcReduction="10000"/>
          </a:bodyPr>
          <a:lstStyle/>
          <a:p>
            <a:pPr marL="0" indent="0" algn="l">
              <a:lnSpc>
                <a:spcPct val="99931"/>
              </a:lnSpc>
              <a:buNone/>
            </a:pPr>
            <a:r>
              <a:rPr lang="en-US" sz="2100" dirty="0">
                <a:solidFill>
                  <a:srgbClr val="3B2D8A"/>
                </a:solidFill>
                <a:latin typeface="Georgia" pitchFamily="34" charset="0"/>
                <a:ea typeface="Georgia" pitchFamily="34" charset="-122"/>
                <a:cs typeface="Georgia" pitchFamily="34" charset="-120"/>
              </a:rPr>
              <a:t>G2</a:t>
            </a:r>
            <a:endParaRPr lang="en-US" sz="2100" dirty="0"/>
          </a:p>
        </p:txBody>
      </p:sp>
      <p:sp>
        <p:nvSpPr>
          <p:cNvPr id="21" name="Text 18"/>
          <p:cNvSpPr/>
          <p:nvPr/>
        </p:nvSpPr>
        <p:spPr>
          <a:xfrm>
            <a:off x="11078435" y="4894130"/>
            <a:ext cx="1852480" cy="288131"/>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575" dirty="0">
                <a:solidFill>
                  <a:srgbClr val="5C4FB3"/>
                </a:solidFill>
                <a:latin typeface="Georgia" pitchFamily="34" charset="0"/>
                <a:ea typeface="Georgia" pitchFamily="34" charset="-122"/>
                <a:cs typeface="Georgia" pitchFamily="34" charset="-120"/>
              </a:rPr>
              <a:t>topic analysis</a:t>
            </a:r>
            <a:endParaRPr lang="en-US" sz="1575" dirty="0"/>
          </a:p>
        </p:txBody>
      </p:sp>
      <p:sp>
        <p:nvSpPr>
          <p:cNvPr id="22" name="Shape 19"/>
          <p:cNvSpPr/>
          <p:nvPr/>
        </p:nvSpPr>
        <p:spPr>
          <a:xfrm>
            <a:off x="13230160" y="4027785"/>
            <a:ext cx="1809750" cy="1619250"/>
          </a:xfrm>
          <a:prstGeom prst="roundRect">
            <a:avLst>
              <a:gd name="adj" fmla="val 7059"/>
            </a:avLst>
          </a:prstGeom>
          <a:solidFill>
            <a:srgbClr val="ECE8FB"/>
          </a:solidFill>
          <a:ln w="10583">
            <a:solidFill>
              <a:srgbClr val="7B6CD9"/>
            </a:solidFill>
            <a:prstDash val="solid"/>
          </a:ln>
        </p:spPr>
      </p:sp>
      <p:sp>
        <p:nvSpPr>
          <p:cNvPr id="23" name="Text 20"/>
          <p:cNvSpPr/>
          <p:nvPr/>
        </p:nvSpPr>
        <p:spPr>
          <a:xfrm>
            <a:off x="13412060" y="4530494"/>
            <a:ext cx="1590543" cy="344686"/>
          </a:xfrm>
          <a:prstGeom prst="rect">
            <a:avLst/>
          </a:prstGeom>
          <a:noFill/>
          <a:ln/>
        </p:spPr>
        <p:txBody>
          <a:bodyPr wrap="square" lIns="25400" tIns="25400" rIns="25400" bIns="25400" rtlCol="0" anchor="t">
            <a:normAutofit lnSpcReduction="10000"/>
          </a:bodyPr>
          <a:lstStyle/>
          <a:p>
            <a:pPr marL="0" indent="0" algn="l">
              <a:lnSpc>
                <a:spcPct val="99931"/>
              </a:lnSpc>
              <a:buNone/>
            </a:pPr>
            <a:r>
              <a:rPr lang="en-US" sz="2100" dirty="0">
                <a:solidFill>
                  <a:srgbClr val="3B2D8A"/>
                </a:solidFill>
                <a:latin typeface="Georgia" pitchFamily="34" charset="0"/>
                <a:ea typeface="Georgia" pitchFamily="34" charset="-122"/>
                <a:cs typeface="Georgia" pitchFamily="34" charset="-120"/>
              </a:rPr>
              <a:t>G3 / G4</a:t>
            </a:r>
            <a:endParaRPr lang="en-US" sz="2100" dirty="0"/>
          </a:p>
        </p:txBody>
      </p:sp>
      <p:sp>
        <p:nvSpPr>
          <p:cNvPr id="24" name="Text 21"/>
          <p:cNvSpPr/>
          <p:nvPr/>
        </p:nvSpPr>
        <p:spPr>
          <a:xfrm>
            <a:off x="13412060" y="4894130"/>
            <a:ext cx="1590543" cy="288131"/>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575" dirty="0">
                <a:solidFill>
                  <a:srgbClr val="5C4FB3"/>
                </a:solidFill>
                <a:latin typeface="Georgia" pitchFamily="34" charset="0"/>
                <a:ea typeface="Georgia" pitchFamily="34" charset="-122"/>
                <a:cs typeface="Georgia" pitchFamily="34" charset="-120"/>
              </a:rPr>
              <a:t>schema</a:t>
            </a:r>
            <a:endParaRPr lang="en-US" sz="1575" dirty="0"/>
          </a:p>
        </p:txBody>
      </p:sp>
      <p:sp>
        <p:nvSpPr>
          <p:cNvPr id="25" name="Shape 22"/>
          <p:cNvSpPr/>
          <p:nvPr/>
        </p:nvSpPr>
        <p:spPr>
          <a:xfrm>
            <a:off x="15325660" y="4027785"/>
            <a:ext cx="1524000" cy="1619250"/>
          </a:xfrm>
          <a:prstGeom prst="roundRect">
            <a:avLst>
              <a:gd name="adj" fmla="val 7500"/>
            </a:avLst>
          </a:prstGeom>
          <a:solidFill>
            <a:srgbClr val="FBEEE6"/>
          </a:solidFill>
          <a:ln w="10583">
            <a:solidFill>
              <a:srgbClr val="C0623A"/>
            </a:solidFill>
            <a:prstDash val="solid"/>
          </a:ln>
        </p:spPr>
      </p:sp>
      <p:sp>
        <p:nvSpPr>
          <p:cNvPr id="26" name="Text 23"/>
          <p:cNvSpPr/>
          <p:nvPr/>
        </p:nvSpPr>
        <p:spPr>
          <a:xfrm>
            <a:off x="15507560" y="4405478"/>
            <a:ext cx="1236398" cy="344686"/>
          </a:xfrm>
          <a:prstGeom prst="rect">
            <a:avLst/>
          </a:prstGeom>
          <a:noFill/>
          <a:ln/>
        </p:spPr>
        <p:txBody>
          <a:bodyPr wrap="square" lIns="25400" tIns="25400" rIns="25400" bIns="25400" rtlCol="0" anchor="t">
            <a:normAutofit lnSpcReduction="10000"/>
          </a:bodyPr>
          <a:lstStyle/>
          <a:p>
            <a:pPr marL="0" indent="0" algn="l">
              <a:lnSpc>
                <a:spcPct val="99931"/>
              </a:lnSpc>
              <a:buNone/>
            </a:pPr>
            <a:r>
              <a:rPr lang="en-US" sz="2100" dirty="0">
                <a:solidFill>
                  <a:srgbClr val="8F3F1C"/>
                </a:solidFill>
                <a:latin typeface="Georgia" pitchFamily="34" charset="0"/>
                <a:ea typeface="Georgia" pitchFamily="34" charset="-122"/>
                <a:cs typeface="Georgia" pitchFamily="34" charset="-120"/>
              </a:rPr>
              <a:t>Human</a:t>
            </a:r>
            <a:endParaRPr lang="en-US" sz="2100" dirty="0"/>
          </a:p>
        </p:txBody>
      </p:sp>
      <p:sp>
        <p:nvSpPr>
          <p:cNvPr id="27" name="Text 24"/>
          <p:cNvSpPr/>
          <p:nvPr/>
        </p:nvSpPr>
        <p:spPr>
          <a:xfrm>
            <a:off x="15507560" y="4769115"/>
            <a:ext cx="1236398" cy="538163"/>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575" dirty="0">
                <a:solidFill>
                  <a:srgbClr val="A45A37"/>
                </a:solidFill>
                <a:latin typeface="Georgia" pitchFamily="34" charset="0"/>
                <a:ea typeface="Georgia" pitchFamily="34" charset="-122"/>
                <a:cs typeface="Georgia" pitchFamily="34" charset="-120"/>
              </a:rPr>
              <a:t>ratifies schema</a:t>
            </a:r>
            <a:endParaRPr lang="en-US" sz="1575" dirty="0"/>
          </a:p>
        </p:txBody>
      </p:sp>
      <p:sp>
        <p:nvSpPr>
          <p:cNvPr id="28" name="Shape 25"/>
          <p:cNvSpPr/>
          <p:nvPr/>
        </p:nvSpPr>
        <p:spPr>
          <a:xfrm>
            <a:off x="3086034" y="6028036"/>
            <a:ext cx="2857500" cy="3238500"/>
          </a:xfrm>
          <a:prstGeom prst="roundRect">
            <a:avLst>
              <a:gd name="adj" fmla="val 4000"/>
            </a:avLst>
          </a:prstGeom>
          <a:solidFill>
            <a:srgbClr val="ECE8FB"/>
          </a:solidFill>
          <a:ln w="10583">
            <a:solidFill>
              <a:srgbClr val="7B6CD9"/>
            </a:solidFill>
            <a:prstDash val="solid"/>
          </a:ln>
        </p:spPr>
      </p:sp>
      <p:sp>
        <p:nvSpPr>
          <p:cNvPr id="29" name="Text 26"/>
          <p:cNvSpPr/>
          <p:nvPr/>
        </p:nvSpPr>
        <p:spPr>
          <a:xfrm>
            <a:off x="3267935" y="6171903"/>
            <a:ext cx="2569898" cy="588433"/>
          </a:xfrm>
          <a:prstGeom prst="rect">
            <a:avLst/>
          </a:prstGeom>
          <a:noFill/>
          <a:ln/>
        </p:spPr>
        <p:txBody>
          <a:bodyPr wrap="square" lIns="25400" tIns="25400" rIns="25400" bIns="25400" rtlCol="0" anchor="t">
            <a:normAutofit/>
          </a:bodyPr>
          <a:lstStyle/>
          <a:p>
            <a:pPr marL="0" indent="0" algn="l">
              <a:buNone/>
            </a:pPr>
            <a:r>
              <a:rPr lang="en-US" sz="1575" dirty="0">
                <a:solidFill>
                  <a:srgbClr val="5C4FB3"/>
                </a:solidFill>
                <a:latin typeface="Georgia" pitchFamily="34" charset="0"/>
                <a:ea typeface="Georgia" pitchFamily="34" charset="-122"/>
                <a:cs typeface="Georgia" pitchFamily="34" charset="-120"/>
              </a:rPr>
              <a:t>P1–P7 extraction perspectives</a:t>
            </a:r>
            <a:endParaRPr lang="en-US" sz="1575" dirty="0"/>
          </a:p>
        </p:txBody>
      </p:sp>
      <p:sp>
        <p:nvSpPr>
          <p:cNvPr id="30" name="Text 27"/>
          <p:cNvSpPr/>
          <p:nvPr/>
        </p:nvSpPr>
        <p:spPr>
          <a:xfrm>
            <a:off x="3267935" y="6788712"/>
            <a:ext cx="2743068" cy="255058"/>
          </a:xfrm>
          <a:prstGeom prst="rect">
            <a:avLst/>
          </a:prstGeom>
          <a:noFill/>
          <a:ln/>
        </p:spPr>
        <p:txBody>
          <a:bodyPr wrap="square" lIns="25400" tIns="25400" rIns="25400" bIns="25400" rtlCol="0" anchor="t">
            <a:normAutofit lnSpcReduction="10000"/>
          </a:bodyPr>
          <a:lstStyle/>
          <a:p>
            <a:pPr marL="0" indent="0" algn="l">
              <a:lnSpc>
                <a:spcPct val="102600"/>
              </a:lnSpc>
              <a:buNone/>
            </a:pPr>
            <a:r>
              <a:rPr lang="en-US" sz="1425" dirty="0">
                <a:solidFill>
                  <a:srgbClr val="3B2D8A"/>
                </a:solidFill>
                <a:latin typeface="Georgia" pitchFamily="34" charset="0"/>
                <a:ea typeface="Georgia" pitchFamily="34" charset="-122"/>
                <a:cs typeface="Georgia" pitchFamily="34" charset="-120"/>
              </a:rPr>
              <a:t>P1 Structure</a:t>
            </a:r>
            <a:endParaRPr lang="en-US" sz="1425" dirty="0"/>
          </a:p>
        </p:txBody>
      </p:sp>
      <p:sp>
        <p:nvSpPr>
          <p:cNvPr id="31" name="Text 28"/>
          <p:cNvSpPr/>
          <p:nvPr/>
        </p:nvSpPr>
        <p:spPr>
          <a:xfrm>
            <a:off x="3267935" y="7034114"/>
            <a:ext cx="2743068" cy="255058"/>
          </a:xfrm>
          <a:prstGeom prst="rect">
            <a:avLst/>
          </a:prstGeom>
          <a:noFill/>
          <a:ln/>
        </p:spPr>
        <p:txBody>
          <a:bodyPr wrap="square" lIns="25400" tIns="25400" rIns="25400" bIns="25400" rtlCol="0" anchor="t">
            <a:normAutofit lnSpcReduction="10000"/>
          </a:bodyPr>
          <a:lstStyle/>
          <a:p>
            <a:pPr marL="0" indent="0" algn="l">
              <a:lnSpc>
                <a:spcPct val="102600"/>
              </a:lnSpc>
              <a:buNone/>
            </a:pPr>
            <a:r>
              <a:rPr lang="en-US" sz="1425" dirty="0">
                <a:solidFill>
                  <a:srgbClr val="3B2D8A"/>
                </a:solidFill>
                <a:latin typeface="Georgia" pitchFamily="34" charset="0"/>
                <a:ea typeface="Georgia" pitchFamily="34" charset="-122"/>
                <a:cs typeface="Georgia" pitchFamily="34" charset="-120"/>
              </a:rPr>
              <a:t>P2 Definitions and actors</a:t>
            </a:r>
            <a:endParaRPr lang="en-US" sz="1425" dirty="0"/>
          </a:p>
        </p:txBody>
      </p:sp>
      <p:sp>
        <p:nvSpPr>
          <p:cNvPr id="32" name="Text 29"/>
          <p:cNvSpPr/>
          <p:nvPr/>
        </p:nvSpPr>
        <p:spPr>
          <a:xfrm>
            <a:off x="3267935" y="7279514"/>
            <a:ext cx="2743068" cy="255058"/>
          </a:xfrm>
          <a:prstGeom prst="rect">
            <a:avLst/>
          </a:prstGeom>
          <a:noFill/>
          <a:ln/>
        </p:spPr>
        <p:txBody>
          <a:bodyPr wrap="square" lIns="25400" tIns="25400" rIns="25400" bIns="25400" rtlCol="0" anchor="t">
            <a:normAutofit lnSpcReduction="10000"/>
          </a:bodyPr>
          <a:lstStyle/>
          <a:p>
            <a:pPr marL="0" indent="0" algn="l">
              <a:lnSpc>
                <a:spcPct val="102600"/>
              </a:lnSpc>
              <a:buNone/>
            </a:pPr>
            <a:r>
              <a:rPr lang="en-US" sz="1425" dirty="0">
                <a:solidFill>
                  <a:srgbClr val="3B2D8A"/>
                </a:solidFill>
                <a:latin typeface="Georgia" pitchFamily="34" charset="0"/>
                <a:ea typeface="Georgia" pitchFamily="34" charset="-122"/>
                <a:cs typeface="Georgia" pitchFamily="34" charset="-120"/>
              </a:rPr>
              <a:t>P3 Rules and ceilings</a:t>
            </a:r>
            <a:endParaRPr lang="en-US" sz="1425" dirty="0"/>
          </a:p>
        </p:txBody>
      </p:sp>
      <p:sp>
        <p:nvSpPr>
          <p:cNvPr id="33" name="Text 30"/>
          <p:cNvSpPr/>
          <p:nvPr/>
        </p:nvSpPr>
        <p:spPr>
          <a:xfrm>
            <a:off x="3267935" y="7524916"/>
            <a:ext cx="2569898" cy="472017"/>
          </a:xfrm>
          <a:prstGeom prst="rect">
            <a:avLst/>
          </a:prstGeom>
          <a:noFill/>
          <a:ln/>
        </p:spPr>
        <p:txBody>
          <a:bodyPr wrap="square" lIns="25400" tIns="25400" rIns="25400" bIns="25400" rtlCol="0" anchor="t">
            <a:normAutofit/>
          </a:bodyPr>
          <a:lstStyle/>
          <a:p>
            <a:pPr marL="0" indent="0" algn="l">
              <a:lnSpc>
                <a:spcPct val="102600"/>
              </a:lnSpc>
              <a:buNone/>
            </a:pPr>
            <a:r>
              <a:rPr lang="en-US" sz="1425" dirty="0">
                <a:solidFill>
                  <a:srgbClr val="3B2D8A"/>
                </a:solidFill>
                <a:latin typeface="Georgia" pitchFamily="34" charset="0"/>
                <a:ea typeface="Georgia" pitchFamily="34" charset="-122"/>
                <a:cs typeface="Georgia" pitchFamily="34" charset="-120"/>
              </a:rPr>
              <a:t>P4 Cases, examples, guidance</a:t>
            </a:r>
            <a:endParaRPr lang="en-US" sz="1425" dirty="0"/>
          </a:p>
        </p:txBody>
      </p:sp>
      <p:sp>
        <p:nvSpPr>
          <p:cNvPr id="34" name="Text 31"/>
          <p:cNvSpPr/>
          <p:nvPr/>
        </p:nvSpPr>
        <p:spPr>
          <a:xfrm>
            <a:off x="3267935" y="7987275"/>
            <a:ext cx="2743068" cy="255058"/>
          </a:xfrm>
          <a:prstGeom prst="rect">
            <a:avLst/>
          </a:prstGeom>
          <a:noFill/>
          <a:ln/>
        </p:spPr>
        <p:txBody>
          <a:bodyPr wrap="square" lIns="25400" tIns="25400" rIns="25400" bIns="25400" rtlCol="0" anchor="t">
            <a:normAutofit lnSpcReduction="10000"/>
          </a:bodyPr>
          <a:lstStyle/>
          <a:p>
            <a:pPr marL="0" indent="0" algn="l">
              <a:lnSpc>
                <a:spcPct val="102600"/>
              </a:lnSpc>
              <a:buNone/>
            </a:pPr>
            <a:r>
              <a:rPr lang="en-US" sz="1425" dirty="0">
                <a:solidFill>
                  <a:srgbClr val="3B2D8A"/>
                </a:solidFill>
                <a:latin typeface="Georgia" pitchFamily="34" charset="0"/>
                <a:ea typeface="Georgia" pitchFamily="34" charset="-122"/>
                <a:cs typeface="Georgia" pitchFamily="34" charset="-120"/>
              </a:rPr>
              <a:t>P5 Cross-references</a:t>
            </a:r>
            <a:endParaRPr lang="en-US" sz="1425" dirty="0"/>
          </a:p>
        </p:txBody>
      </p:sp>
      <p:sp>
        <p:nvSpPr>
          <p:cNvPr id="35" name="Text 32"/>
          <p:cNvSpPr/>
          <p:nvPr/>
        </p:nvSpPr>
        <p:spPr>
          <a:xfrm>
            <a:off x="3267935" y="8232676"/>
            <a:ext cx="2743068" cy="255058"/>
          </a:xfrm>
          <a:prstGeom prst="rect">
            <a:avLst/>
          </a:prstGeom>
          <a:noFill/>
          <a:ln/>
        </p:spPr>
        <p:txBody>
          <a:bodyPr wrap="square" lIns="25400" tIns="25400" rIns="25400" bIns="25400" rtlCol="0" anchor="t">
            <a:normAutofit lnSpcReduction="10000"/>
          </a:bodyPr>
          <a:lstStyle/>
          <a:p>
            <a:pPr marL="0" indent="0" algn="l">
              <a:lnSpc>
                <a:spcPct val="102600"/>
              </a:lnSpc>
              <a:buNone/>
            </a:pPr>
            <a:r>
              <a:rPr lang="en-US" sz="1425" dirty="0">
                <a:solidFill>
                  <a:srgbClr val="3B2D8A"/>
                </a:solidFill>
                <a:latin typeface="Georgia" pitchFamily="34" charset="0"/>
                <a:ea typeface="Georgia" pitchFamily="34" charset="-122"/>
                <a:cs typeface="Georgia" pitchFamily="34" charset="-120"/>
              </a:rPr>
              <a:t>P6 Budget parameters</a:t>
            </a:r>
            <a:endParaRPr lang="en-US" sz="1425" dirty="0"/>
          </a:p>
        </p:txBody>
      </p:sp>
      <p:sp>
        <p:nvSpPr>
          <p:cNvPr id="36" name="Text 33"/>
          <p:cNvSpPr/>
          <p:nvPr/>
        </p:nvSpPr>
        <p:spPr>
          <a:xfrm>
            <a:off x="3267935" y="8478077"/>
            <a:ext cx="2569898" cy="472017"/>
          </a:xfrm>
          <a:prstGeom prst="rect">
            <a:avLst/>
          </a:prstGeom>
          <a:noFill/>
          <a:ln/>
        </p:spPr>
        <p:txBody>
          <a:bodyPr wrap="square" lIns="25400" tIns="25400" rIns="25400" bIns="25400" rtlCol="0" anchor="t">
            <a:normAutofit lnSpcReduction="10000"/>
          </a:bodyPr>
          <a:lstStyle/>
          <a:p>
            <a:pPr marL="0" indent="0" algn="l">
              <a:lnSpc>
                <a:spcPct val="102600"/>
              </a:lnSpc>
              <a:buNone/>
            </a:pPr>
            <a:r>
              <a:rPr lang="en-US" sz="1425" dirty="0">
                <a:solidFill>
                  <a:srgbClr val="3B2D8A"/>
                </a:solidFill>
                <a:latin typeface="Georgia" pitchFamily="34" charset="0"/>
                <a:ea typeface="Georgia" pitchFamily="34" charset="-122"/>
                <a:cs typeface="Georgia" pitchFamily="34" charset="-120"/>
              </a:rPr>
              <a:t>P7 Negative and boundary check</a:t>
            </a:r>
            <a:endParaRPr lang="en-US" sz="1425" dirty="0"/>
          </a:p>
        </p:txBody>
      </p:sp>
      <p:sp>
        <p:nvSpPr>
          <p:cNvPr id="37" name="Shape 34"/>
          <p:cNvSpPr/>
          <p:nvPr/>
        </p:nvSpPr>
        <p:spPr>
          <a:xfrm>
            <a:off x="8562909" y="6980536"/>
            <a:ext cx="2190750" cy="1333500"/>
          </a:xfrm>
          <a:prstGeom prst="roundRect">
            <a:avLst>
              <a:gd name="adj" fmla="val 8571"/>
            </a:avLst>
          </a:prstGeom>
          <a:solidFill>
            <a:srgbClr val="FFFFFF"/>
          </a:solidFill>
          <a:ln w="10583">
            <a:solidFill>
              <a:srgbClr val="CFCDC6"/>
            </a:solidFill>
            <a:prstDash val="solid"/>
          </a:ln>
        </p:spPr>
      </p:sp>
      <p:sp>
        <p:nvSpPr>
          <p:cNvPr id="38" name="Text 35"/>
          <p:cNvSpPr/>
          <p:nvPr/>
        </p:nvSpPr>
        <p:spPr>
          <a:xfrm>
            <a:off x="8744810" y="7062225"/>
            <a:ext cx="1903148" cy="651272"/>
          </a:xfrm>
          <a:prstGeom prst="rect">
            <a:avLst/>
          </a:prstGeom>
          <a:noFill/>
          <a:ln/>
        </p:spPr>
        <p:txBody>
          <a:bodyPr wrap="square" lIns="25400" tIns="25400" rIns="25400" bIns="25400" rtlCol="0" anchor="t">
            <a:normAutofit/>
          </a:bodyPr>
          <a:lstStyle/>
          <a:p>
            <a:pPr marL="0" indent="0" algn="l">
              <a:lnSpc>
                <a:spcPct val="99931"/>
              </a:lnSpc>
              <a:buNone/>
            </a:pPr>
            <a:r>
              <a:rPr lang="en-US" sz="1725" dirty="0">
                <a:solidFill>
                  <a:srgbClr val="1F1E1C"/>
                </a:solidFill>
                <a:latin typeface="Georgia" pitchFamily="34" charset="0"/>
                <a:ea typeface="Georgia" pitchFamily="34" charset="-122"/>
                <a:cs typeface="Georgia" pitchFamily="34" charset="-120"/>
              </a:rPr>
              <a:t>Initial P1/P3 Notes</a:t>
            </a:r>
            <a:endParaRPr lang="en-US" sz="1725" dirty="0"/>
          </a:p>
        </p:txBody>
      </p:sp>
      <p:sp>
        <p:nvSpPr>
          <p:cNvPr id="39" name="Text 36"/>
          <p:cNvSpPr/>
          <p:nvPr/>
        </p:nvSpPr>
        <p:spPr>
          <a:xfrm>
            <a:off x="8744810" y="7732448"/>
            <a:ext cx="1903148" cy="538163"/>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575" dirty="0">
                <a:solidFill>
                  <a:srgbClr val="6B6964"/>
                </a:solidFill>
                <a:latin typeface="Georgia" pitchFamily="34" charset="0"/>
                <a:ea typeface="Georgia" pitchFamily="34" charset="-122"/>
                <a:cs typeface="Georgia" pitchFamily="34" charset="-120"/>
              </a:rPr>
              <a:t>Introduction, Articles 1–6</a:t>
            </a:r>
            <a:endParaRPr lang="en-US" sz="1575" dirty="0"/>
          </a:p>
        </p:txBody>
      </p:sp>
      <p:sp>
        <p:nvSpPr>
          <p:cNvPr id="40" name="Text 37"/>
          <p:cNvSpPr/>
          <p:nvPr/>
        </p:nvSpPr>
        <p:spPr>
          <a:xfrm>
            <a:off x="9705909" y="6313786"/>
            <a:ext cx="2305050" cy="278209"/>
          </a:xfrm>
          <a:prstGeom prst="rect">
            <a:avLst/>
          </a:prstGeom>
          <a:noFill/>
          <a:ln/>
        </p:spPr>
        <p:txBody>
          <a:bodyPr wrap="square" lIns="25400" tIns="25400" rIns="25400" bIns="25400" rtlCol="0" anchor="t">
            <a:normAutofit fontScale="92500" lnSpcReduction="10000"/>
          </a:bodyPr>
          <a:lstStyle/>
          <a:p>
            <a:pPr marL="0" indent="0" algn="l">
              <a:lnSpc>
                <a:spcPct val="108000"/>
              </a:lnSpc>
              <a:buNone/>
            </a:pPr>
            <a:r>
              <a:rPr lang="en-US" sz="1575" dirty="0">
                <a:solidFill>
                  <a:srgbClr val="6B6964"/>
                </a:solidFill>
                <a:latin typeface="Georgia" pitchFamily="34" charset="0"/>
                <a:ea typeface="Georgia" pitchFamily="34" charset="-122"/>
                <a:cs typeface="Georgia" pitchFamily="34" charset="-120"/>
              </a:rPr>
              <a:t>first G2 run</a:t>
            </a:r>
            <a:endParaRPr lang="en-US" sz="1575" dirty="0"/>
          </a:p>
        </p:txBody>
      </p:sp>
      <p:sp>
        <p:nvSpPr>
          <p:cNvPr id="41" name="Shape 38"/>
          <p:cNvSpPr/>
          <p:nvPr/>
        </p:nvSpPr>
        <p:spPr>
          <a:xfrm>
            <a:off x="10896535" y="6980536"/>
            <a:ext cx="2047875" cy="1333500"/>
          </a:xfrm>
          <a:prstGeom prst="roundRect">
            <a:avLst>
              <a:gd name="adj" fmla="val 8571"/>
            </a:avLst>
          </a:prstGeom>
          <a:solidFill>
            <a:srgbClr val="FFFFFF"/>
          </a:solidFill>
          <a:ln w="10583">
            <a:solidFill>
              <a:srgbClr val="D3D1CA"/>
            </a:solidFill>
            <a:prstDash val="solid"/>
          </a:ln>
        </p:spPr>
      </p:sp>
      <p:sp>
        <p:nvSpPr>
          <p:cNvPr id="42" name="Text 39"/>
          <p:cNvSpPr/>
          <p:nvPr/>
        </p:nvSpPr>
        <p:spPr>
          <a:xfrm>
            <a:off x="11078435" y="7340369"/>
            <a:ext cx="1852480" cy="344686"/>
          </a:xfrm>
          <a:prstGeom prst="rect">
            <a:avLst/>
          </a:prstGeom>
          <a:noFill/>
          <a:ln/>
        </p:spPr>
        <p:txBody>
          <a:bodyPr wrap="square" lIns="25400" tIns="25400" rIns="25400" bIns="25400" rtlCol="0" anchor="t">
            <a:normAutofit/>
          </a:bodyPr>
          <a:lstStyle/>
          <a:p>
            <a:pPr marL="0" indent="0" algn="l">
              <a:lnSpc>
                <a:spcPct val="99931"/>
              </a:lnSpc>
              <a:buNone/>
            </a:pPr>
            <a:r>
              <a:rPr lang="en-US" sz="1650" dirty="0">
                <a:solidFill>
                  <a:srgbClr val="6B6964"/>
                </a:solidFill>
                <a:latin typeface="Georgia" pitchFamily="34" charset="0"/>
                <a:ea typeface="Georgia" pitchFamily="34" charset="-122"/>
                <a:cs typeface="Georgia" pitchFamily="34" charset="-120"/>
              </a:rPr>
              <a:t>First run</a:t>
            </a:r>
            <a:endParaRPr lang="en-US" sz="1650" dirty="0"/>
          </a:p>
        </p:txBody>
      </p:sp>
      <p:sp>
        <p:nvSpPr>
          <p:cNvPr id="43" name="Text 40"/>
          <p:cNvSpPr/>
          <p:nvPr/>
        </p:nvSpPr>
        <p:spPr>
          <a:xfrm>
            <a:off x="11078435" y="7704005"/>
            <a:ext cx="1852480" cy="288131"/>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575" dirty="0">
                <a:solidFill>
                  <a:srgbClr val="6B6964"/>
                </a:solidFill>
                <a:latin typeface="Georgia" pitchFamily="34" charset="0"/>
                <a:ea typeface="Georgia" pitchFamily="34" charset="-122"/>
                <a:cs typeface="Georgia" pitchFamily="34" charset="-120"/>
              </a:rPr>
              <a:t>schema skeleton</a:t>
            </a:r>
            <a:endParaRPr lang="en-US" sz="1575" dirty="0"/>
          </a:p>
        </p:txBody>
      </p:sp>
      <p:sp>
        <p:nvSpPr>
          <p:cNvPr id="44" name="Shape 41"/>
          <p:cNvSpPr/>
          <p:nvPr/>
        </p:nvSpPr>
        <p:spPr>
          <a:xfrm>
            <a:off x="13230160" y="6980536"/>
            <a:ext cx="1905000" cy="1333500"/>
          </a:xfrm>
          <a:prstGeom prst="roundRect">
            <a:avLst>
              <a:gd name="adj" fmla="val 8571"/>
            </a:avLst>
          </a:prstGeom>
          <a:solidFill>
            <a:srgbClr val="FFFFFF"/>
          </a:solidFill>
          <a:ln w="10583">
            <a:solidFill>
              <a:srgbClr val="D3D1CA"/>
            </a:solidFill>
            <a:prstDash val="solid"/>
          </a:ln>
        </p:spPr>
      </p:sp>
      <p:sp>
        <p:nvSpPr>
          <p:cNvPr id="45" name="Text 42"/>
          <p:cNvSpPr/>
          <p:nvPr/>
        </p:nvSpPr>
        <p:spPr>
          <a:xfrm>
            <a:off x="13412060" y="7340369"/>
            <a:ext cx="1695318" cy="344686"/>
          </a:xfrm>
          <a:prstGeom prst="rect">
            <a:avLst/>
          </a:prstGeom>
          <a:noFill/>
          <a:ln/>
        </p:spPr>
        <p:txBody>
          <a:bodyPr wrap="square" lIns="25400" tIns="25400" rIns="25400" bIns="25400" rtlCol="0" anchor="t">
            <a:normAutofit/>
          </a:bodyPr>
          <a:lstStyle/>
          <a:p>
            <a:pPr marL="0" indent="0" algn="l">
              <a:lnSpc>
                <a:spcPct val="99931"/>
              </a:lnSpc>
              <a:buNone/>
            </a:pPr>
            <a:r>
              <a:rPr lang="en-US" sz="1650" dirty="0">
                <a:solidFill>
                  <a:srgbClr val="6B6964"/>
                </a:solidFill>
                <a:latin typeface="Georgia" pitchFamily="34" charset="0"/>
                <a:ea typeface="Georgia" pitchFamily="34" charset="-122"/>
                <a:cs typeface="Georgia" pitchFamily="34" charset="-120"/>
              </a:rPr>
              <a:t>Later runs</a:t>
            </a:r>
            <a:endParaRPr lang="en-US" sz="1650" dirty="0"/>
          </a:p>
        </p:txBody>
      </p:sp>
      <p:sp>
        <p:nvSpPr>
          <p:cNvPr id="46" name="Text 43"/>
          <p:cNvSpPr/>
          <p:nvPr/>
        </p:nvSpPr>
        <p:spPr>
          <a:xfrm>
            <a:off x="13412060" y="7704005"/>
            <a:ext cx="1695318" cy="288131"/>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575" dirty="0">
                <a:solidFill>
                  <a:srgbClr val="6B6964"/>
                </a:solidFill>
                <a:latin typeface="Georgia" pitchFamily="34" charset="0"/>
                <a:ea typeface="Georgia" pitchFamily="34" charset="-122"/>
                <a:cs typeface="Georgia" pitchFamily="34" charset="-120"/>
              </a:rPr>
              <a:t>ratified schema</a:t>
            </a:r>
            <a:endParaRPr lang="en-US" sz="1575" dirty="0"/>
          </a:p>
        </p:txBody>
      </p:sp>
      <p:sp>
        <p:nvSpPr>
          <p:cNvPr id="47" name="Text 44"/>
          <p:cNvSpPr/>
          <p:nvPr/>
        </p:nvSpPr>
        <p:spPr>
          <a:xfrm>
            <a:off x="16230535" y="7075786"/>
            <a:ext cx="1142967" cy="518319"/>
          </a:xfrm>
          <a:prstGeom prst="rect">
            <a:avLst/>
          </a:prstGeom>
          <a:noFill/>
          <a:ln/>
        </p:spPr>
        <p:txBody>
          <a:bodyPr wrap="square" lIns="25400" tIns="25400" rIns="25400" bIns="25400" rtlCol="0" anchor="t">
            <a:normAutofit fontScale="92500" lnSpcReduction="10000"/>
          </a:bodyPr>
          <a:lstStyle/>
          <a:p>
            <a:pPr marL="0" indent="0" algn="l">
              <a:lnSpc>
                <a:spcPct val="108000"/>
              </a:lnSpc>
              <a:buNone/>
            </a:pPr>
            <a:r>
              <a:rPr lang="en-US" sz="1575" dirty="0">
                <a:solidFill>
                  <a:srgbClr val="A67C0A"/>
                </a:solidFill>
                <a:latin typeface="Georgia" pitchFamily="34" charset="0"/>
                <a:ea typeface="Georgia" pitchFamily="34" charset="-122"/>
                <a:cs typeface="Georgia" pitchFamily="34" charset="-120"/>
              </a:rPr>
              <a:t>ratified schema</a:t>
            </a:r>
            <a:endParaRPr lang="en-US" sz="1575" dirty="0"/>
          </a:p>
        </p:txBody>
      </p:sp>
      <p:sp>
        <p:nvSpPr>
          <p:cNvPr id="48" name="Shape 45"/>
          <p:cNvSpPr/>
          <p:nvPr/>
        </p:nvSpPr>
        <p:spPr>
          <a:xfrm>
            <a:off x="6229284" y="8790286"/>
            <a:ext cx="21167" cy="695193"/>
          </a:xfrm>
          <a:prstGeom prst="rect">
            <a:avLst/>
          </a:prstGeom>
          <a:solidFill>
            <a:srgbClr val="C0623A"/>
          </a:solidFill>
          <a:ln/>
        </p:spPr>
      </p:sp>
      <p:sp>
        <p:nvSpPr>
          <p:cNvPr id="49" name="Text 46"/>
          <p:cNvSpPr/>
          <p:nvPr/>
        </p:nvSpPr>
        <p:spPr>
          <a:xfrm>
            <a:off x="6440951" y="8828386"/>
            <a:ext cx="10727320" cy="657093"/>
          </a:xfrm>
          <a:prstGeom prst="rect">
            <a:avLst/>
          </a:prstGeom>
          <a:noFill/>
          <a:ln/>
        </p:spPr>
        <p:txBody>
          <a:bodyPr wrap="square" lIns="25400" tIns="25400" rIns="25400" bIns="25400" rtlCol="0" anchor="t">
            <a:normAutofit/>
          </a:bodyPr>
          <a:lstStyle/>
          <a:p>
            <a:pPr marL="0" indent="0" algn="l">
              <a:lnSpc>
                <a:spcPct val="112500"/>
              </a:lnSpc>
              <a:buNone/>
            </a:pPr>
            <a:r>
              <a:rPr lang="en-US" sz="1875" dirty="0">
                <a:solidFill>
                  <a:srgbClr val="3D3B37"/>
                </a:solidFill>
                <a:latin typeface="Georgia" pitchFamily="34" charset="0"/>
                <a:ea typeface="Georgia" pitchFamily="34" charset="-122"/>
                <a:cs typeface="Georgia" pitchFamily="34" charset="-120"/>
              </a:rPr>
              <a:t>Initial evidence informs the schema; G2 does not need the completed schema for its first run.</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90534" y="685767"/>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685767"/>
            <a:ext cx="338303"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10</a:t>
            </a:r>
            <a:endParaRPr lang="en-US" sz="1950" dirty="0"/>
          </a:p>
        </p:txBody>
      </p:sp>
      <p:sp>
        <p:nvSpPr>
          <p:cNvPr id="4" name="Text 2"/>
          <p:cNvSpPr/>
          <p:nvPr/>
        </p:nvSpPr>
        <p:spPr>
          <a:xfrm>
            <a:off x="990534" y="1291001"/>
            <a:ext cx="17937626" cy="821267"/>
          </a:xfrm>
          <a:prstGeom prst="rect">
            <a:avLst/>
          </a:prstGeom>
          <a:noFill/>
          <a:ln/>
        </p:spPr>
        <p:txBody>
          <a:bodyPr wrap="square" lIns="25400" tIns="25400" rIns="25400" bIns="25400" rtlCol="0" anchor="t">
            <a:normAutofit/>
          </a:bodyPr>
          <a:lstStyle/>
          <a:p>
            <a:pPr marL="0" indent="0" algn="l">
              <a:buNone/>
            </a:pPr>
            <a:r>
              <a:rPr lang="en-US" sz="4500" dirty="0">
                <a:solidFill>
                  <a:srgbClr val="1F1E1C"/>
                </a:solidFill>
                <a:latin typeface="Georgia" pitchFamily="34" charset="0"/>
                <a:ea typeface="Georgia" pitchFamily="34" charset="-122"/>
                <a:cs typeface="Georgia" pitchFamily="34" charset="-120"/>
              </a:rPr>
              <a:t>The per-ticket loop</a:t>
            </a:r>
            <a:endParaRPr lang="en-US" sz="4500" dirty="0"/>
          </a:p>
        </p:txBody>
      </p:sp>
      <p:sp>
        <p:nvSpPr>
          <p:cNvPr id="5" name="Text 3"/>
          <p:cNvSpPr/>
          <p:nvPr/>
        </p:nvSpPr>
        <p:spPr>
          <a:xfrm>
            <a:off x="990534" y="3104224"/>
            <a:ext cx="1882494" cy="334433"/>
          </a:xfrm>
          <a:prstGeom prst="rect">
            <a:avLst/>
          </a:prstGeom>
          <a:noFill/>
          <a:ln/>
        </p:spPr>
        <p:txBody>
          <a:bodyPr wrap="square" lIns="25400" tIns="25400" rIns="25400" bIns="25400" rtlCol="0" anchor="t">
            <a:normAutofit/>
          </a:bodyPr>
          <a:lstStyle/>
          <a:p>
            <a:pPr marL="0" indent="0" algn="l">
              <a:buNone/>
            </a:pPr>
            <a:r>
              <a:rPr lang="en-US" sz="1650" kern="0" spc="198" dirty="0">
                <a:solidFill>
                  <a:srgbClr val="6B6964"/>
                </a:solidFill>
                <a:latin typeface="Georgia" pitchFamily="34" charset="0"/>
                <a:ea typeface="Georgia" pitchFamily="34" charset="-122"/>
                <a:cs typeface="Georgia" pitchFamily="34" charset="-120"/>
              </a:rPr>
              <a:t>INPUTS TO G0</a:t>
            </a:r>
            <a:endParaRPr lang="en-US" sz="1650" dirty="0"/>
          </a:p>
        </p:txBody>
      </p:sp>
      <p:sp>
        <p:nvSpPr>
          <p:cNvPr id="6" name="Shape 4"/>
          <p:cNvSpPr/>
          <p:nvPr/>
        </p:nvSpPr>
        <p:spPr>
          <a:xfrm>
            <a:off x="2854193" y="2939190"/>
            <a:ext cx="2266156" cy="626401"/>
          </a:xfrm>
          <a:prstGeom prst="roundRect">
            <a:avLst>
              <a:gd name="adj" fmla="val 15206"/>
            </a:avLst>
          </a:prstGeom>
          <a:solidFill>
            <a:srgbClr val="FFFFFF"/>
          </a:solidFill>
          <a:ln w="10583">
            <a:solidFill>
              <a:srgbClr val="CFCDC6"/>
            </a:solidFill>
            <a:prstDash val="solid"/>
          </a:ln>
        </p:spPr>
      </p:sp>
      <p:sp>
        <p:nvSpPr>
          <p:cNvPr id="7" name="Text 5"/>
          <p:cNvSpPr/>
          <p:nvPr/>
        </p:nvSpPr>
        <p:spPr>
          <a:xfrm>
            <a:off x="3074326" y="3083124"/>
            <a:ext cx="1902090" cy="376634"/>
          </a:xfrm>
          <a:prstGeom prst="rect">
            <a:avLst/>
          </a:prstGeom>
          <a:noFill/>
          <a:ln/>
        </p:spPr>
        <p:txBody>
          <a:bodyPr wrap="none" lIns="25400" tIns="25400" rIns="25400" bIns="25400" rtlCol="0" anchor="t">
            <a:normAutofit/>
          </a:bodyPr>
          <a:lstStyle/>
          <a:p>
            <a:pPr marL="0" indent="0" algn="l">
              <a:buNone/>
            </a:pPr>
            <a:r>
              <a:rPr lang="en-US" sz="1950" dirty="0">
                <a:solidFill>
                  <a:srgbClr val="3D3B37"/>
                </a:solidFill>
                <a:latin typeface="Georgia" pitchFamily="34" charset="0"/>
                <a:ea typeface="Georgia" pitchFamily="34" charset="-122"/>
                <a:cs typeface="Georgia" pitchFamily="34" charset="-120"/>
              </a:rPr>
              <a:t>Ticket template</a:t>
            </a:r>
            <a:endParaRPr lang="en-US" sz="1950" dirty="0"/>
          </a:p>
        </p:txBody>
      </p:sp>
      <p:sp>
        <p:nvSpPr>
          <p:cNvPr id="8" name="Shape 6"/>
          <p:cNvSpPr/>
          <p:nvPr/>
        </p:nvSpPr>
        <p:spPr>
          <a:xfrm>
            <a:off x="5272650" y="2939190"/>
            <a:ext cx="2359587" cy="626401"/>
          </a:xfrm>
          <a:prstGeom prst="roundRect">
            <a:avLst>
              <a:gd name="adj" fmla="val 15206"/>
            </a:avLst>
          </a:prstGeom>
          <a:solidFill>
            <a:srgbClr val="FFFFFF"/>
          </a:solidFill>
          <a:ln w="10583">
            <a:solidFill>
              <a:srgbClr val="CFCDC6"/>
            </a:solidFill>
            <a:prstDash val="solid"/>
          </a:ln>
        </p:spPr>
      </p:sp>
      <p:sp>
        <p:nvSpPr>
          <p:cNvPr id="9" name="Text 7"/>
          <p:cNvSpPr/>
          <p:nvPr/>
        </p:nvSpPr>
        <p:spPr>
          <a:xfrm>
            <a:off x="5492784" y="3083124"/>
            <a:ext cx="1995521" cy="376634"/>
          </a:xfrm>
          <a:prstGeom prst="rect">
            <a:avLst/>
          </a:prstGeom>
          <a:noFill/>
          <a:ln/>
        </p:spPr>
        <p:txBody>
          <a:bodyPr wrap="none" lIns="25400" tIns="25400" rIns="25400" bIns="25400" rtlCol="0" anchor="t">
            <a:normAutofit/>
          </a:bodyPr>
          <a:lstStyle/>
          <a:p>
            <a:pPr marL="0" indent="0" algn="l">
              <a:buNone/>
            </a:pPr>
            <a:r>
              <a:rPr lang="en-US" sz="1800" dirty="0">
                <a:solidFill>
                  <a:srgbClr val="3D3B37"/>
                </a:solidFill>
                <a:latin typeface="Courier New" pitchFamily="34" charset="0"/>
                <a:ea typeface="Courier New" pitchFamily="34" charset="-122"/>
                <a:cs typeface="Courier New" pitchFamily="34" charset="-120"/>
              </a:rPr>
              <a:t>WIKI_SCHEMA.md</a:t>
            </a:r>
            <a:endParaRPr lang="en-US" sz="1800" dirty="0"/>
          </a:p>
        </p:txBody>
      </p:sp>
      <p:sp>
        <p:nvSpPr>
          <p:cNvPr id="10" name="Shape 8"/>
          <p:cNvSpPr/>
          <p:nvPr/>
        </p:nvSpPr>
        <p:spPr>
          <a:xfrm>
            <a:off x="7784538" y="2939190"/>
            <a:ext cx="1822979" cy="626401"/>
          </a:xfrm>
          <a:prstGeom prst="roundRect">
            <a:avLst>
              <a:gd name="adj" fmla="val 15206"/>
            </a:avLst>
          </a:prstGeom>
          <a:solidFill>
            <a:srgbClr val="FFFFFF"/>
          </a:solidFill>
          <a:ln w="10583">
            <a:solidFill>
              <a:srgbClr val="CFCDC6"/>
            </a:solidFill>
            <a:prstDash val="solid"/>
          </a:ln>
        </p:spPr>
      </p:sp>
      <p:sp>
        <p:nvSpPr>
          <p:cNvPr id="11" name="Text 9"/>
          <p:cNvSpPr/>
          <p:nvPr/>
        </p:nvSpPr>
        <p:spPr>
          <a:xfrm>
            <a:off x="8004672" y="3083124"/>
            <a:ext cx="1458913" cy="376634"/>
          </a:xfrm>
          <a:prstGeom prst="rect">
            <a:avLst/>
          </a:prstGeom>
          <a:noFill/>
          <a:ln/>
        </p:spPr>
        <p:txBody>
          <a:bodyPr wrap="none" lIns="25400" tIns="25400" rIns="25400" bIns="25400" rtlCol="0" anchor="t">
            <a:normAutofit/>
          </a:bodyPr>
          <a:lstStyle/>
          <a:p>
            <a:pPr marL="0" indent="0" algn="l">
              <a:buNone/>
            </a:pPr>
            <a:r>
              <a:rPr lang="en-US" sz="1950" dirty="0">
                <a:solidFill>
                  <a:srgbClr val="3D3B37"/>
                </a:solidFill>
                <a:latin typeface="Georgia" pitchFamily="34" charset="0"/>
                <a:ea typeface="Georgia" pitchFamily="34" charset="-122"/>
                <a:cs typeface="Georgia" pitchFamily="34" charset="-120"/>
              </a:rPr>
              <a:t>Article map</a:t>
            </a:r>
            <a:endParaRPr lang="en-US" sz="1950" dirty="0"/>
          </a:p>
        </p:txBody>
      </p:sp>
      <p:sp>
        <p:nvSpPr>
          <p:cNvPr id="12" name="Shape 10"/>
          <p:cNvSpPr/>
          <p:nvPr/>
        </p:nvSpPr>
        <p:spPr>
          <a:xfrm>
            <a:off x="9759818" y="2939190"/>
            <a:ext cx="2516353" cy="626401"/>
          </a:xfrm>
          <a:prstGeom prst="roundRect">
            <a:avLst>
              <a:gd name="adj" fmla="val 15206"/>
            </a:avLst>
          </a:prstGeom>
          <a:solidFill>
            <a:srgbClr val="FFFFFF"/>
          </a:solidFill>
          <a:ln w="10583">
            <a:solidFill>
              <a:srgbClr val="CFCDC6"/>
            </a:solidFill>
            <a:prstDash val="solid"/>
          </a:ln>
        </p:spPr>
      </p:sp>
      <p:sp>
        <p:nvSpPr>
          <p:cNvPr id="13" name="Text 11"/>
          <p:cNvSpPr/>
          <p:nvPr/>
        </p:nvSpPr>
        <p:spPr>
          <a:xfrm>
            <a:off x="9979952" y="3083124"/>
            <a:ext cx="2152286" cy="376634"/>
          </a:xfrm>
          <a:prstGeom prst="rect">
            <a:avLst/>
          </a:prstGeom>
          <a:noFill/>
          <a:ln/>
        </p:spPr>
        <p:txBody>
          <a:bodyPr wrap="none" lIns="25400" tIns="25400" rIns="25400" bIns="25400" rtlCol="0" anchor="t">
            <a:normAutofit/>
          </a:bodyPr>
          <a:lstStyle/>
          <a:p>
            <a:pPr marL="0" indent="0" algn="l">
              <a:buNone/>
            </a:pPr>
            <a:r>
              <a:rPr lang="en-US" sz="1950" dirty="0">
                <a:solidFill>
                  <a:srgbClr val="3D3B37"/>
                </a:solidFill>
                <a:highlight>
                  <a:srgbClr val="FFFFFF"/>
                </a:highlight>
                <a:latin typeface="Georgia" pitchFamily="34" charset="0"/>
                <a:ea typeface="Georgia" pitchFamily="34" charset="-122"/>
                <a:cs typeface="Georgia" pitchFamily="34" charset="-120"/>
              </a:rPr>
              <a:t>Current </a:t>
            </a:r>
            <a:r>
              <a:rPr lang="en-US" sz="1800" dirty="0">
                <a:solidFill>
                  <a:srgbClr val="3D3B37"/>
                </a:solidFill>
                <a:latin typeface="Courier New" pitchFamily="34" charset="0"/>
                <a:ea typeface="Courier New" pitchFamily="34" charset="-122"/>
                <a:cs typeface="Courier New" pitchFamily="34" charset="-120"/>
              </a:rPr>
              <a:t>index.md</a:t>
            </a:r>
            <a:endParaRPr lang="en-US" sz="1950" dirty="0"/>
          </a:p>
        </p:txBody>
      </p:sp>
      <p:sp>
        <p:nvSpPr>
          <p:cNvPr id="14" name="Shape 12"/>
          <p:cNvSpPr/>
          <p:nvPr/>
        </p:nvSpPr>
        <p:spPr>
          <a:xfrm>
            <a:off x="3848034" y="3794125"/>
            <a:ext cx="21167" cy="457068"/>
          </a:xfrm>
          <a:prstGeom prst="rect">
            <a:avLst/>
          </a:prstGeom>
          <a:solidFill>
            <a:srgbClr val="7B6CD9"/>
          </a:solidFill>
          <a:ln/>
        </p:spPr>
      </p:sp>
      <p:sp>
        <p:nvSpPr>
          <p:cNvPr id="15" name="Shape 13"/>
          <p:cNvSpPr/>
          <p:nvPr/>
        </p:nvSpPr>
        <p:spPr>
          <a:xfrm>
            <a:off x="3802559" y="4183393"/>
            <a:ext cx="148167" cy="105833"/>
          </a:xfrm>
          <a:prstGeom prst="rect">
            <a:avLst/>
          </a:prstGeom>
          <a:solidFill>
            <a:srgbClr val="7B6CD9"/>
          </a:solidFill>
          <a:ln/>
        </p:spPr>
      </p:sp>
      <p:sp>
        <p:nvSpPr>
          <p:cNvPr id="16" name="Shape 14"/>
          <p:cNvSpPr/>
          <p:nvPr/>
        </p:nvSpPr>
        <p:spPr>
          <a:xfrm>
            <a:off x="990534" y="4441693"/>
            <a:ext cx="4397541" cy="1917568"/>
          </a:xfrm>
          <a:prstGeom prst="roundRect">
            <a:avLst>
              <a:gd name="adj" fmla="val 5961"/>
            </a:avLst>
          </a:prstGeom>
          <a:solidFill>
            <a:srgbClr val="ECE8FB"/>
          </a:solidFill>
          <a:ln w="10583">
            <a:solidFill>
              <a:srgbClr val="7B6CD9"/>
            </a:solidFill>
            <a:prstDash val="solid"/>
          </a:ln>
        </p:spPr>
      </p:sp>
      <p:sp>
        <p:nvSpPr>
          <p:cNvPr id="17" name="Text 15"/>
          <p:cNvSpPr/>
          <p:nvPr/>
        </p:nvSpPr>
        <p:spPr>
          <a:xfrm>
            <a:off x="1286867" y="4776060"/>
            <a:ext cx="4185361" cy="514350"/>
          </a:xfrm>
          <a:prstGeom prst="rect">
            <a:avLst/>
          </a:prstGeom>
          <a:noFill/>
          <a:ln/>
        </p:spPr>
        <p:txBody>
          <a:bodyPr wrap="square" lIns="25400" tIns="25400" rIns="25400" bIns="25400" rtlCol="0" anchor="t">
            <a:normAutofit/>
          </a:bodyPr>
          <a:lstStyle/>
          <a:p>
            <a:pPr marL="0" indent="0" algn="l">
              <a:buNone/>
            </a:pPr>
            <a:r>
              <a:rPr lang="en-US" sz="2700" dirty="0">
                <a:solidFill>
                  <a:srgbClr val="3B2D8A"/>
                </a:solidFill>
                <a:latin typeface="Georgia" pitchFamily="34" charset="0"/>
                <a:ea typeface="Georgia" pitchFamily="34" charset="-122"/>
                <a:cs typeface="Georgia" pitchFamily="34" charset="-120"/>
              </a:rPr>
              <a:t>G0 → bounded ticket</a:t>
            </a:r>
            <a:endParaRPr lang="en-US" sz="2700" dirty="0"/>
          </a:p>
        </p:txBody>
      </p:sp>
      <p:sp>
        <p:nvSpPr>
          <p:cNvPr id="18" name="Text 16"/>
          <p:cNvSpPr/>
          <p:nvPr/>
        </p:nvSpPr>
        <p:spPr>
          <a:xfrm>
            <a:off x="1286867" y="5347560"/>
            <a:ext cx="3919020" cy="715433"/>
          </a:xfrm>
          <a:prstGeom prst="rect">
            <a:avLst/>
          </a:prstGeom>
          <a:noFill/>
          <a:ln/>
        </p:spPr>
        <p:txBody>
          <a:bodyPr wrap="square" lIns="25400" tIns="25400" rIns="25400" bIns="25400" rtlCol="0" anchor="t">
            <a:normAutofit/>
          </a:bodyPr>
          <a:lstStyle/>
          <a:p>
            <a:pPr marL="0" indent="0" algn="l">
              <a:buNone/>
            </a:pPr>
            <a:r>
              <a:rPr lang="en-US" sz="1950" dirty="0">
                <a:solidFill>
                  <a:srgbClr val="5C4FB3"/>
                </a:solidFill>
                <a:latin typeface="Georgia" pitchFamily="34" charset="0"/>
                <a:ea typeface="Georgia" pitchFamily="34" charset="-122"/>
                <a:cs typeface="Georgia" pitchFamily="34" charset="-120"/>
              </a:rPr>
              <a:t>scope • prerequisites • query • exit criteria</a:t>
            </a:r>
            <a:endParaRPr lang="en-US" sz="1950" dirty="0"/>
          </a:p>
        </p:txBody>
      </p:sp>
      <p:sp>
        <p:nvSpPr>
          <p:cNvPr id="19" name="Text 17"/>
          <p:cNvSpPr/>
          <p:nvPr/>
        </p:nvSpPr>
        <p:spPr>
          <a:xfrm>
            <a:off x="5578575" y="5162352"/>
            <a:ext cx="419001" cy="514350"/>
          </a:xfrm>
          <a:prstGeom prst="rect">
            <a:avLst/>
          </a:prstGeom>
          <a:noFill/>
          <a:ln/>
        </p:spPr>
        <p:txBody>
          <a:bodyPr wrap="square" lIns="25400" tIns="25400" rIns="25400" bIns="25400" rtlCol="0" anchor="t">
            <a:normAutofit/>
          </a:bodyPr>
          <a:lstStyle/>
          <a:p>
            <a:pPr marL="0" indent="0" algn="l">
              <a:buNone/>
            </a:pPr>
            <a:r>
              <a:rPr lang="en-US" sz="2700" dirty="0">
                <a:solidFill>
                  <a:srgbClr val="9A988F"/>
                </a:solidFill>
                <a:latin typeface="Georgia" pitchFamily="34" charset="0"/>
                <a:ea typeface="Georgia" pitchFamily="34" charset="-122"/>
                <a:cs typeface="Georgia" pitchFamily="34" charset="-120"/>
              </a:rPr>
              <a:t>→</a:t>
            </a:r>
            <a:endParaRPr lang="en-US" sz="2700" dirty="0"/>
          </a:p>
        </p:txBody>
      </p:sp>
      <p:sp>
        <p:nvSpPr>
          <p:cNvPr id="20" name="Shape 18"/>
          <p:cNvSpPr/>
          <p:nvPr/>
        </p:nvSpPr>
        <p:spPr>
          <a:xfrm>
            <a:off x="6111875" y="4600443"/>
            <a:ext cx="3205262" cy="1600068"/>
          </a:xfrm>
          <a:prstGeom prst="roundRect">
            <a:avLst>
              <a:gd name="adj" fmla="val 7143"/>
            </a:avLst>
          </a:prstGeom>
          <a:solidFill>
            <a:srgbClr val="FFFFFF"/>
          </a:solidFill>
          <a:ln w="10583">
            <a:solidFill>
              <a:srgbClr val="DCDAD4"/>
            </a:solidFill>
            <a:prstDash val="solid"/>
          </a:ln>
        </p:spPr>
      </p:sp>
      <p:sp>
        <p:nvSpPr>
          <p:cNvPr id="21" name="Text 19"/>
          <p:cNvSpPr/>
          <p:nvPr/>
        </p:nvSpPr>
        <p:spPr>
          <a:xfrm>
            <a:off x="6446243" y="4934810"/>
            <a:ext cx="2790180" cy="514350"/>
          </a:xfrm>
          <a:prstGeom prst="rect">
            <a:avLst/>
          </a:prstGeom>
          <a:noFill/>
          <a:ln/>
        </p:spPr>
        <p:txBody>
          <a:bodyPr wrap="square" lIns="25400" tIns="25400" rIns="25400" bIns="25400" rtlCol="0" anchor="t">
            <a:normAutofit/>
          </a:bodyPr>
          <a:lstStyle/>
          <a:p>
            <a:pPr marL="0" indent="0" algn="l">
              <a:buNone/>
            </a:pPr>
            <a:r>
              <a:rPr lang="en-US" sz="2700" dirty="0">
                <a:solidFill>
                  <a:srgbClr val="1F1E1C"/>
                </a:solidFill>
                <a:latin typeface="Georgia" pitchFamily="34" charset="0"/>
                <a:ea typeface="Georgia" pitchFamily="34" charset="-122"/>
                <a:cs typeface="Georgia" pitchFamily="34" charset="-120"/>
              </a:rPr>
              <a:t>NotebookLM</a:t>
            </a:r>
            <a:endParaRPr lang="en-US" sz="2700" dirty="0"/>
          </a:p>
        </p:txBody>
      </p:sp>
      <p:sp>
        <p:nvSpPr>
          <p:cNvPr id="22" name="Text 20"/>
          <p:cNvSpPr/>
          <p:nvPr/>
        </p:nvSpPr>
        <p:spPr>
          <a:xfrm>
            <a:off x="6446243" y="5506310"/>
            <a:ext cx="2790180" cy="397933"/>
          </a:xfrm>
          <a:prstGeom prst="rect">
            <a:avLst/>
          </a:prstGeom>
          <a:noFill/>
          <a:ln/>
        </p:spPr>
        <p:txBody>
          <a:bodyPr wrap="square" lIns="25400" tIns="25400" rIns="25400" bIns="25400" rtlCol="0" anchor="t">
            <a:normAutofit/>
          </a:bodyPr>
          <a:lstStyle/>
          <a:p>
            <a:pPr marL="0" indent="0" algn="l">
              <a:buNone/>
            </a:pPr>
            <a:r>
              <a:rPr lang="en-US" sz="2100" dirty="0">
                <a:solidFill>
                  <a:srgbClr val="6B6964"/>
                </a:solidFill>
                <a:latin typeface="Georgia" pitchFamily="34" charset="0"/>
                <a:ea typeface="Georgia" pitchFamily="34" charset="-122"/>
                <a:cs typeface="Georgia" pitchFamily="34" charset="-120"/>
              </a:rPr>
              <a:t>cited Note</a:t>
            </a:r>
            <a:endParaRPr lang="en-US" sz="2100" dirty="0"/>
          </a:p>
        </p:txBody>
      </p:sp>
      <p:sp>
        <p:nvSpPr>
          <p:cNvPr id="23" name="Text 21"/>
          <p:cNvSpPr/>
          <p:nvPr/>
        </p:nvSpPr>
        <p:spPr>
          <a:xfrm>
            <a:off x="9507637" y="5162352"/>
            <a:ext cx="419001" cy="514350"/>
          </a:xfrm>
          <a:prstGeom prst="rect">
            <a:avLst/>
          </a:prstGeom>
          <a:noFill/>
          <a:ln/>
        </p:spPr>
        <p:txBody>
          <a:bodyPr wrap="square" lIns="25400" tIns="25400" rIns="25400" bIns="25400" rtlCol="0" anchor="t">
            <a:normAutofit/>
          </a:bodyPr>
          <a:lstStyle/>
          <a:p>
            <a:pPr marL="0" indent="0" algn="l">
              <a:buNone/>
            </a:pPr>
            <a:r>
              <a:rPr lang="en-US" sz="2700" dirty="0">
                <a:solidFill>
                  <a:srgbClr val="9A988F"/>
                </a:solidFill>
                <a:latin typeface="Georgia" pitchFamily="34" charset="0"/>
                <a:ea typeface="Georgia" pitchFamily="34" charset="-122"/>
                <a:cs typeface="Georgia" pitchFamily="34" charset="-120"/>
              </a:rPr>
              <a:t>→</a:t>
            </a:r>
            <a:endParaRPr lang="en-US" sz="2700" dirty="0"/>
          </a:p>
        </p:txBody>
      </p:sp>
      <p:sp>
        <p:nvSpPr>
          <p:cNvPr id="24" name="Shape 22"/>
          <p:cNvSpPr/>
          <p:nvPr/>
        </p:nvSpPr>
        <p:spPr>
          <a:xfrm>
            <a:off x="10040938" y="4600443"/>
            <a:ext cx="3205262" cy="1600068"/>
          </a:xfrm>
          <a:prstGeom prst="roundRect">
            <a:avLst>
              <a:gd name="adj" fmla="val 7143"/>
            </a:avLst>
          </a:prstGeom>
          <a:solidFill>
            <a:srgbClr val="ECE8FB"/>
          </a:solidFill>
          <a:ln w="10583">
            <a:solidFill>
              <a:srgbClr val="7B6CD9"/>
            </a:solidFill>
            <a:prstDash val="solid"/>
          </a:ln>
        </p:spPr>
      </p:sp>
      <p:sp>
        <p:nvSpPr>
          <p:cNvPr id="25" name="Text 23"/>
          <p:cNvSpPr/>
          <p:nvPr/>
        </p:nvSpPr>
        <p:spPr>
          <a:xfrm>
            <a:off x="10375305" y="4934810"/>
            <a:ext cx="2790180" cy="514350"/>
          </a:xfrm>
          <a:prstGeom prst="rect">
            <a:avLst/>
          </a:prstGeom>
          <a:noFill/>
          <a:ln/>
        </p:spPr>
        <p:txBody>
          <a:bodyPr wrap="square" lIns="25400" tIns="25400" rIns="25400" bIns="25400" rtlCol="0" anchor="t">
            <a:normAutofit/>
          </a:bodyPr>
          <a:lstStyle/>
          <a:p>
            <a:pPr marL="0" indent="0" algn="l">
              <a:buNone/>
            </a:pPr>
            <a:r>
              <a:rPr lang="en-US" sz="2700" dirty="0">
                <a:solidFill>
                  <a:srgbClr val="3B2D8A"/>
                </a:solidFill>
                <a:latin typeface="Georgia" pitchFamily="34" charset="0"/>
                <a:ea typeface="Georgia" pitchFamily="34" charset="-122"/>
                <a:cs typeface="Georgia" pitchFamily="34" charset="-120"/>
              </a:rPr>
              <a:t>G5 / G6</a:t>
            </a:r>
            <a:endParaRPr lang="en-US" sz="2700" dirty="0"/>
          </a:p>
        </p:txBody>
      </p:sp>
      <p:sp>
        <p:nvSpPr>
          <p:cNvPr id="26" name="Text 24"/>
          <p:cNvSpPr/>
          <p:nvPr/>
        </p:nvSpPr>
        <p:spPr>
          <a:xfrm>
            <a:off x="10375305" y="5506310"/>
            <a:ext cx="2790180" cy="397933"/>
          </a:xfrm>
          <a:prstGeom prst="rect">
            <a:avLst/>
          </a:prstGeom>
          <a:noFill/>
          <a:ln/>
        </p:spPr>
        <p:txBody>
          <a:bodyPr wrap="square" lIns="25400" tIns="25400" rIns="25400" bIns="25400" rtlCol="0" anchor="t">
            <a:normAutofit/>
          </a:bodyPr>
          <a:lstStyle/>
          <a:p>
            <a:pPr marL="0" indent="0" algn="l">
              <a:buNone/>
            </a:pPr>
            <a:r>
              <a:rPr lang="en-US" sz="2100" dirty="0">
                <a:solidFill>
                  <a:srgbClr val="5C4FB3"/>
                </a:solidFill>
                <a:latin typeface="Georgia" pitchFamily="34" charset="0"/>
                <a:ea typeface="Georgia" pitchFamily="34" charset="-122"/>
                <a:cs typeface="Georgia" pitchFamily="34" charset="-120"/>
              </a:rPr>
              <a:t>node files</a:t>
            </a:r>
            <a:endParaRPr lang="en-US" sz="2100" dirty="0"/>
          </a:p>
        </p:txBody>
      </p:sp>
      <p:sp>
        <p:nvSpPr>
          <p:cNvPr id="27" name="Text 25"/>
          <p:cNvSpPr/>
          <p:nvPr/>
        </p:nvSpPr>
        <p:spPr>
          <a:xfrm>
            <a:off x="13436700" y="5162352"/>
            <a:ext cx="419001" cy="514350"/>
          </a:xfrm>
          <a:prstGeom prst="rect">
            <a:avLst/>
          </a:prstGeom>
          <a:noFill/>
          <a:ln/>
        </p:spPr>
        <p:txBody>
          <a:bodyPr wrap="square" lIns="25400" tIns="25400" rIns="25400" bIns="25400" rtlCol="0" anchor="t">
            <a:normAutofit/>
          </a:bodyPr>
          <a:lstStyle/>
          <a:p>
            <a:pPr marL="0" indent="0" algn="l">
              <a:buNone/>
            </a:pPr>
            <a:r>
              <a:rPr lang="en-US" sz="2700" dirty="0">
                <a:solidFill>
                  <a:srgbClr val="9A988F"/>
                </a:solidFill>
                <a:latin typeface="Georgia" pitchFamily="34" charset="0"/>
                <a:ea typeface="Georgia" pitchFamily="34" charset="-122"/>
                <a:cs typeface="Georgia" pitchFamily="34" charset="-120"/>
              </a:rPr>
              <a:t>→</a:t>
            </a:r>
            <a:endParaRPr lang="en-US" sz="2700" dirty="0"/>
          </a:p>
        </p:txBody>
      </p:sp>
      <p:sp>
        <p:nvSpPr>
          <p:cNvPr id="28" name="Shape 26"/>
          <p:cNvSpPr/>
          <p:nvPr/>
        </p:nvSpPr>
        <p:spPr>
          <a:xfrm>
            <a:off x="13970001" y="4600443"/>
            <a:ext cx="3327466" cy="1600068"/>
          </a:xfrm>
          <a:prstGeom prst="roundRect">
            <a:avLst>
              <a:gd name="adj" fmla="val 7143"/>
            </a:avLst>
          </a:prstGeom>
          <a:solidFill>
            <a:srgbClr val="FFFFFF"/>
          </a:solidFill>
          <a:ln w="10583">
            <a:solidFill>
              <a:srgbClr val="DCDAD4"/>
            </a:solidFill>
            <a:prstDash val="solid"/>
          </a:ln>
        </p:spPr>
      </p:sp>
      <p:sp>
        <p:nvSpPr>
          <p:cNvPr id="29" name="Text 27"/>
          <p:cNvSpPr/>
          <p:nvPr/>
        </p:nvSpPr>
        <p:spPr>
          <a:xfrm>
            <a:off x="14304368" y="4934810"/>
            <a:ext cx="2924605" cy="514350"/>
          </a:xfrm>
          <a:prstGeom prst="rect">
            <a:avLst/>
          </a:prstGeom>
          <a:noFill/>
          <a:ln/>
        </p:spPr>
        <p:txBody>
          <a:bodyPr wrap="none" lIns="25400" tIns="25400" rIns="25400" bIns="25400" rtlCol="0" anchor="t">
            <a:normAutofit/>
          </a:bodyPr>
          <a:lstStyle/>
          <a:p>
            <a:pPr marL="0" indent="0" algn="l">
              <a:buNone/>
            </a:pPr>
            <a:r>
              <a:rPr lang="en-US" sz="2700" dirty="0">
                <a:solidFill>
                  <a:srgbClr val="1F1E1C"/>
                </a:solidFill>
                <a:latin typeface="Georgia" pitchFamily="34" charset="0"/>
                <a:ea typeface="Georgia" pitchFamily="34" charset="-122"/>
                <a:cs typeface="Georgia" pitchFamily="34" charset="-120"/>
              </a:rPr>
              <a:t>Obsidian checks</a:t>
            </a:r>
            <a:endParaRPr lang="en-US" sz="2700" dirty="0"/>
          </a:p>
        </p:txBody>
      </p:sp>
      <p:sp>
        <p:nvSpPr>
          <p:cNvPr id="30" name="Text 28"/>
          <p:cNvSpPr/>
          <p:nvPr/>
        </p:nvSpPr>
        <p:spPr>
          <a:xfrm>
            <a:off x="14304368" y="5506310"/>
            <a:ext cx="2924605" cy="397933"/>
          </a:xfrm>
          <a:prstGeom prst="rect">
            <a:avLst/>
          </a:prstGeom>
          <a:noFill/>
          <a:ln/>
        </p:spPr>
        <p:txBody>
          <a:bodyPr wrap="square" lIns="25400" tIns="25400" rIns="25400" bIns="25400" rtlCol="0" anchor="t">
            <a:normAutofit/>
          </a:bodyPr>
          <a:lstStyle/>
          <a:p>
            <a:pPr marL="0" indent="0" algn="l">
              <a:buNone/>
            </a:pPr>
            <a:r>
              <a:rPr lang="en-US" sz="2100" dirty="0">
                <a:solidFill>
                  <a:srgbClr val="6B6964"/>
                </a:solidFill>
                <a:latin typeface="Georgia" pitchFamily="34" charset="0"/>
                <a:ea typeface="Georgia" pitchFamily="34" charset="-122"/>
                <a:cs typeface="Georgia" pitchFamily="34" charset="-120"/>
              </a:rPr>
              <a:t>links + graph</a:t>
            </a:r>
            <a:endParaRPr lang="en-US" sz="2100" dirty="0"/>
          </a:p>
        </p:txBody>
      </p:sp>
      <p:sp>
        <p:nvSpPr>
          <p:cNvPr id="31" name="Shape 29"/>
          <p:cNvSpPr/>
          <p:nvPr/>
        </p:nvSpPr>
        <p:spPr>
          <a:xfrm>
            <a:off x="2228784" y="6359261"/>
            <a:ext cx="10583" cy="571500"/>
          </a:xfrm>
          <a:prstGeom prst="rect">
            <a:avLst/>
          </a:prstGeom>
          <a:solidFill>
            <a:srgbClr val="C08A1E"/>
          </a:solidFill>
          <a:ln/>
        </p:spPr>
      </p:sp>
      <p:sp>
        <p:nvSpPr>
          <p:cNvPr id="32" name="Shape 30"/>
          <p:cNvSpPr/>
          <p:nvPr/>
        </p:nvSpPr>
        <p:spPr>
          <a:xfrm>
            <a:off x="16048634" y="6359261"/>
            <a:ext cx="10583" cy="571500"/>
          </a:xfrm>
          <a:prstGeom prst="rect">
            <a:avLst/>
          </a:prstGeom>
          <a:solidFill>
            <a:srgbClr val="C08A1E"/>
          </a:solidFill>
          <a:ln/>
        </p:spPr>
      </p:sp>
      <p:sp>
        <p:nvSpPr>
          <p:cNvPr id="33" name="Shape 31"/>
          <p:cNvSpPr/>
          <p:nvPr/>
        </p:nvSpPr>
        <p:spPr>
          <a:xfrm>
            <a:off x="2228784" y="7349795"/>
            <a:ext cx="13830433" cy="10583"/>
          </a:xfrm>
          <a:prstGeom prst="rect">
            <a:avLst/>
          </a:prstGeom>
          <a:solidFill>
            <a:srgbClr val="C08A1E"/>
          </a:solidFill>
          <a:ln/>
        </p:spPr>
      </p:sp>
      <p:sp>
        <p:nvSpPr>
          <p:cNvPr id="34" name="Shape 32"/>
          <p:cNvSpPr/>
          <p:nvPr/>
        </p:nvSpPr>
        <p:spPr>
          <a:xfrm>
            <a:off x="2228784" y="6930761"/>
            <a:ext cx="10583" cy="429617"/>
          </a:xfrm>
          <a:prstGeom prst="rect">
            <a:avLst/>
          </a:prstGeom>
          <a:solidFill>
            <a:srgbClr val="C08A1E"/>
          </a:solidFill>
          <a:ln/>
        </p:spPr>
      </p:sp>
      <p:sp>
        <p:nvSpPr>
          <p:cNvPr id="35" name="Shape 33"/>
          <p:cNvSpPr/>
          <p:nvPr/>
        </p:nvSpPr>
        <p:spPr>
          <a:xfrm>
            <a:off x="16048633" y="6930761"/>
            <a:ext cx="10583" cy="429617"/>
          </a:xfrm>
          <a:prstGeom prst="rect">
            <a:avLst/>
          </a:prstGeom>
          <a:solidFill>
            <a:srgbClr val="C08A1E"/>
          </a:solidFill>
          <a:ln/>
        </p:spPr>
      </p:sp>
      <p:sp>
        <p:nvSpPr>
          <p:cNvPr id="36" name="Shape 34"/>
          <p:cNvSpPr/>
          <p:nvPr/>
        </p:nvSpPr>
        <p:spPr>
          <a:xfrm>
            <a:off x="7145652" y="6887435"/>
            <a:ext cx="3996697" cy="505685"/>
          </a:xfrm>
          <a:prstGeom prst="rect">
            <a:avLst/>
          </a:prstGeom>
          <a:solidFill>
            <a:srgbClr val="F6F5F2"/>
          </a:solidFill>
          <a:ln/>
        </p:spPr>
      </p:sp>
      <p:sp>
        <p:nvSpPr>
          <p:cNvPr id="37" name="Text 35"/>
          <p:cNvSpPr/>
          <p:nvPr/>
        </p:nvSpPr>
        <p:spPr>
          <a:xfrm>
            <a:off x="7374252" y="6944585"/>
            <a:ext cx="3659398" cy="429485"/>
          </a:xfrm>
          <a:prstGeom prst="rect">
            <a:avLst/>
          </a:prstGeom>
          <a:noFill/>
          <a:ln/>
        </p:spPr>
        <p:txBody>
          <a:bodyPr wrap="none" lIns="25400" tIns="25400" rIns="25400" bIns="25400" rtlCol="0" anchor="t">
            <a:normAutofit/>
          </a:bodyPr>
          <a:lstStyle/>
          <a:p>
            <a:pPr marL="0" indent="0" algn="l">
              <a:buNone/>
            </a:pPr>
            <a:r>
              <a:rPr lang="en-US" sz="2250" dirty="0">
                <a:solidFill>
                  <a:srgbClr val="7A5410"/>
                </a:solidFill>
                <a:latin typeface="Georgia" pitchFamily="34" charset="0"/>
                <a:ea typeface="Georgia" pitchFamily="34" charset="-122"/>
                <a:cs typeface="Georgia" pitchFamily="34" charset="-120"/>
              </a:rPr>
              <a:t>↺ G7 index, log and repair</a:t>
            </a:r>
            <a:endParaRPr lang="en-US" sz="2250" dirty="0"/>
          </a:p>
        </p:txBody>
      </p:sp>
      <p:sp>
        <p:nvSpPr>
          <p:cNvPr id="38" name="Shape 36"/>
          <p:cNvSpPr/>
          <p:nvPr/>
        </p:nvSpPr>
        <p:spPr>
          <a:xfrm>
            <a:off x="990534" y="8225565"/>
            <a:ext cx="16306933" cy="10583"/>
          </a:xfrm>
          <a:prstGeom prst="rect">
            <a:avLst/>
          </a:prstGeom>
          <a:solidFill>
            <a:srgbClr val="D3D1CA"/>
          </a:solidFill>
          <a:ln/>
        </p:spPr>
      </p:sp>
      <p:sp>
        <p:nvSpPr>
          <p:cNvPr id="39" name="Text 37"/>
          <p:cNvSpPr/>
          <p:nvPr/>
        </p:nvSpPr>
        <p:spPr>
          <a:xfrm>
            <a:off x="990534" y="8483700"/>
            <a:ext cx="17937626" cy="397933"/>
          </a:xfrm>
          <a:prstGeom prst="rect">
            <a:avLst/>
          </a:prstGeom>
          <a:noFill/>
          <a:ln/>
        </p:spPr>
        <p:txBody>
          <a:bodyPr wrap="square" lIns="25400" tIns="25400" rIns="25400" bIns="25400" rtlCol="0" anchor="t">
            <a:normAutofit/>
          </a:bodyPr>
          <a:lstStyle/>
          <a:p>
            <a:pPr marL="0" indent="0" algn="l">
              <a:buNone/>
            </a:pPr>
            <a:r>
              <a:rPr lang="en-US" sz="2100" dirty="0">
                <a:solidFill>
                  <a:srgbClr val="6B6964"/>
                </a:solidFill>
                <a:latin typeface="Georgia" pitchFamily="34" charset="0"/>
                <a:ea typeface="Georgia" pitchFamily="34" charset="-122"/>
                <a:cs typeface="Georgia" pitchFamily="34" charset="-120"/>
              </a:rPr>
              <a:t>Loop cadence · after every three leaf tickets: lint</a:t>
            </a:r>
            <a:endParaRPr lang="en-US" sz="2100" dirty="0"/>
          </a:p>
        </p:txBody>
      </p:sp>
      <p:sp>
        <p:nvSpPr>
          <p:cNvPr id="40" name="Text 38"/>
          <p:cNvSpPr/>
          <p:nvPr/>
        </p:nvSpPr>
        <p:spPr>
          <a:xfrm>
            <a:off x="990534" y="8938783"/>
            <a:ext cx="17937626" cy="397933"/>
          </a:xfrm>
          <a:prstGeom prst="rect">
            <a:avLst/>
          </a:prstGeom>
          <a:noFill/>
          <a:ln/>
        </p:spPr>
        <p:txBody>
          <a:bodyPr wrap="square" lIns="25400" tIns="25400" rIns="25400" bIns="25400" rtlCol="0" anchor="t">
            <a:normAutofit/>
          </a:bodyPr>
          <a:lstStyle/>
          <a:p>
            <a:pPr marL="0" indent="0" algn="l">
              <a:buNone/>
            </a:pPr>
            <a:r>
              <a:rPr lang="en-US" sz="2100" dirty="0">
                <a:solidFill>
                  <a:srgbClr val="6B6964"/>
                </a:solidFill>
                <a:latin typeface="Georgia" pitchFamily="34" charset="0"/>
                <a:ea typeface="Georgia" pitchFamily="34" charset="-122"/>
                <a:cs typeface="Georgia" pitchFamily="34" charset="-120"/>
              </a:rPr>
              <a:t>After each milestone: refresh Gem knowledge and capture a snapshot</a:t>
            </a:r>
            <a:endParaRPr lang="en-US" sz="2100" dirty="0"/>
          </a:p>
        </p:txBody>
      </p:sp>
      <p:sp>
        <p:nvSpPr>
          <p:cNvPr id="41" name="Text 39"/>
          <p:cNvSpPr/>
          <p:nvPr/>
        </p:nvSpPr>
        <p:spPr>
          <a:xfrm>
            <a:off x="990534" y="9393866"/>
            <a:ext cx="17937626" cy="397933"/>
          </a:xfrm>
          <a:prstGeom prst="rect">
            <a:avLst/>
          </a:prstGeom>
          <a:noFill/>
          <a:ln/>
        </p:spPr>
        <p:txBody>
          <a:bodyPr wrap="square" lIns="25400" tIns="25400" rIns="25400" bIns="25400" rtlCol="0" anchor="t">
            <a:normAutofit/>
          </a:bodyPr>
          <a:lstStyle/>
          <a:p>
            <a:pPr marL="0" indent="0" algn="l">
              <a:buNone/>
            </a:pPr>
            <a:r>
              <a:rPr lang="en-US" sz="2100" dirty="0">
                <a:solidFill>
                  <a:srgbClr val="6B6964"/>
                </a:solidFill>
                <a:latin typeface="Georgia" pitchFamily="34" charset="0"/>
                <a:ea typeface="Georgia" pitchFamily="34" charset="-122"/>
                <a:cs typeface="Georgia" pitchFamily="34" charset="-120"/>
              </a:rPr>
              <a:t>Next structural ticket: </a:t>
            </a:r>
            <a:r>
              <a:rPr lang="en-US" sz="1950" dirty="0">
                <a:solidFill>
                  <a:srgbClr val="3D3B37"/>
                </a:solidFill>
                <a:latin typeface="Courier New" pitchFamily="34" charset="0"/>
                <a:ea typeface="Courier New" pitchFamily="34" charset="-122"/>
                <a:cs typeface="Courier New" pitchFamily="34" charset="-120"/>
              </a:rPr>
              <a:t>T-L1-CHAP1-01</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990534" y="838068"/>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838068"/>
            <a:ext cx="338303"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10</a:t>
            </a:r>
            <a:endParaRPr lang="en-US" sz="1950" dirty="0"/>
          </a:p>
        </p:txBody>
      </p:sp>
      <p:sp>
        <p:nvSpPr>
          <p:cNvPr id="4" name="Text 2"/>
          <p:cNvSpPr/>
          <p:nvPr/>
        </p:nvSpPr>
        <p:spPr>
          <a:xfrm>
            <a:off x="990534" y="1595768"/>
            <a:ext cx="17937626" cy="821267"/>
          </a:xfrm>
          <a:prstGeom prst="rect">
            <a:avLst/>
          </a:prstGeom>
          <a:noFill/>
          <a:ln/>
        </p:spPr>
        <p:txBody>
          <a:bodyPr wrap="square" lIns="25400" tIns="25400" rIns="25400" bIns="25400" rtlCol="0" anchor="t">
            <a:normAutofit/>
          </a:bodyPr>
          <a:lstStyle/>
          <a:p>
            <a:pPr marL="0" indent="0" algn="l">
              <a:buNone/>
            </a:pPr>
            <a:r>
              <a:rPr lang="en-US" sz="4500" dirty="0">
                <a:solidFill>
                  <a:srgbClr val="1F1E1C"/>
                </a:solidFill>
                <a:latin typeface="Georgia" pitchFamily="34" charset="0"/>
                <a:ea typeface="Georgia" pitchFamily="34" charset="-122"/>
                <a:cs typeface="Georgia" pitchFamily="34" charset="-120"/>
              </a:rPr>
              <a:t>The wiki schema governs every node</a:t>
            </a:r>
            <a:endParaRPr lang="en-US" sz="4500" dirty="0"/>
          </a:p>
        </p:txBody>
      </p:sp>
      <p:sp>
        <p:nvSpPr>
          <p:cNvPr id="5" name="Shape 3"/>
          <p:cNvSpPr/>
          <p:nvPr/>
        </p:nvSpPr>
        <p:spPr>
          <a:xfrm>
            <a:off x="990534" y="3404361"/>
            <a:ext cx="5544344" cy="10583"/>
          </a:xfrm>
          <a:prstGeom prst="rect">
            <a:avLst/>
          </a:prstGeom>
          <a:solidFill>
            <a:srgbClr val="CFCDC6"/>
          </a:solidFill>
          <a:ln/>
        </p:spPr>
      </p:sp>
      <p:sp>
        <p:nvSpPr>
          <p:cNvPr id="6" name="Text 4"/>
          <p:cNvSpPr/>
          <p:nvPr/>
        </p:nvSpPr>
        <p:spPr>
          <a:xfrm>
            <a:off x="990534" y="2912236"/>
            <a:ext cx="5710674" cy="339725"/>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CONTRACT</a:t>
            </a:r>
            <a:endParaRPr lang="en-US" sz="1800" dirty="0"/>
          </a:p>
        </p:txBody>
      </p:sp>
      <p:sp>
        <p:nvSpPr>
          <p:cNvPr id="7" name="Shape 5"/>
          <p:cNvSpPr/>
          <p:nvPr/>
        </p:nvSpPr>
        <p:spPr>
          <a:xfrm>
            <a:off x="6534878" y="3404361"/>
            <a:ext cx="10762590" cy="10583"/>
          </a:xfrm>
          <a:prstGeom prst="rect">
            <a:avLst/>
          </a:prstGeom>
          <a:solidFill>
            <a:srgbClr val="CFCDC6"/>
          </a:solidFill>
          <a:ln/>
        </p:spPr>
      </p:sp>
      <p:sp>
        <p:nvSpPr>
          <p:cNvPr id="8" name="Text 6"/>
          <p:cNvSpPr/>
          <p:nvPr/>
        </p:nvSpPr>
        <p:spPr>
          <a:xfrm>
            <a:off x="6534878" y="2912236"/>
            <a:ext cx="11085467" cy="339725"/>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WHY IT MATTERS</a:t>
            </a:r>
            <a:endParaRPr lang="en-US" sz="1800" dirty="0"/>
          </a:p>
        </p:txBody>
      </p:sp>
      <p:sp>
        <p:nvSpPr>
          <p:cNvPr id="9" name="Shape 7"/>
          <p:cNvSpPr/>
          <p:nvPr/>
        </p:nvSpPr>
        <p:spPr>
          <a:xfrm>
            <a:off x="990534" y="4409778"/>
            <a:ext cx="5544344" cy="10583"/>
          </a:xfrm>
          <a:prstGeom prst="rect">
            <a:avLst/>
          </a:prstGeom>
          <a:solidFill>
            <a:srgbClr val="E6E4DE"/>
          </a:solidFill>
          <a:ln/>
        </p:spPr>
      </p:sp>
      <p:sp>
        <p:nvSpPr>
          <p:cNvPr id="10" name="Text 8"/>
          <p:cNvSpPr/>
          <p:nvPr/>
        </p:nvSpPr>
        <p:spPr>
          <a:xfrm>
            <a:off x="990534" y="3700694"/>
            <a:ext cx="5329674"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Layer + </a:t>
            </a:r>
            <a:r>
              <a:rPr lang="en-US" sz="2100" dirty="0">
                <a:solidFill>
                  <a:srgbClr val="1F1E1C"/>
                </a:solidFill>
                <a:latin typeface="Courier New" pitchFamily="34" charset="0"/>
                <a:ea typeface="Courier New" pitchFamily="34" charset="-122"/>
                <a:cs typeface="Courier New" pitchFamily="34" charset="-120"/>
              </a:rPr>
              <a:t>node_type</a:t>
            </a:r>
            <a:endParaRPr lang="en-US" sz="2400" dirty="0"/>
          </a:p>
        </p:txBody>
      </p:sp>
      <p:sp>
        <p:nvSpPr>
          <p:cNvPr id="11" name="Shape 9"/>
          <p:cNvSpPr/>
          <p:nvPr/>
        </p:nvSpPr>
        <p:spPr>
          <a:xfrm>
            <a:off x="6534878" y="4409778"/>
            <a:ext cx="10762590" cy="10583"/>
          </a:xfrm>
          <a:prstGeom prst="rect">
            <a:avLst/>
          </a:prstGeom>
          <a:solidFill>
            <a:srgbClr val="E6E4DE"/>
          </a:solidFill>
          <a:ln/>
        </p:spPr>
      </p:sp>
      <p:sp>
        <p:nvSpPr>
          <p:cNvPr id="12" name="Text 10"/>
          <p:cNvSpPr/>
          <p:nvPr/>
        </p:nvSpPr>
        <p:spPr>
          <a:xfrm>
            <a:off x="6534878" y="3700694"/>
            <a:ext cx="11085467"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Defines what each file represents and where it lives</a:t>
            </a:r>
            <a:endParaRPr lang="en-US" sz="2400" dirty="0"/>
          </a:p>
        </p:txBody>
      </p:sp>
      <p:sp>
        <p:nvSpPr>
          <p:cNvPr id="13" name="Shape 11"/>
          <p:cNvSpPr/>
          <p:nvPr/>
        </p:nvSpPr>
        <p:spPr>
          <a:xfrm>
            <a:off x="990534" y="5415194"/>
            <a:ext cx="5544344" cy="10583"/>
          </a:xfrm>
          <a:prstGeom prst="rect">
            <a:avLst/>
          </a:prstGeom>
          <a:solidFill>
            <a:srgbClr val="E6E4DE"/>
          </a:solidFill>
          <a:ln/>
        </p:spPr>
      </p:sp>
      <p:sp>
        <p:nvSpPr>
          <p:cNvPr id="14" name="Text 12"/>
          <p:cNvSpPr/>
          <p:nvPr/>
        </p:nvSpPr>
        <p:spPr>
          <a:xfrm>
            <a:off x="990534" y="4706111"/>
            <a:ext cx="5329674"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Closed enums</a:t>
            </a:r>
            <a:endParaRPr lang="en-US" sz="2400" dirty="0"/>
          </a:p>
        </p:txBody>
      </p:sp>
      <p:sp>
        <p:nvSpPr>
          <p:cNvPr id="15" name="Shape 13"/>
          <p:cNvSpPr/>
          <p:nvPr/>
        </p:nvSpPr>
        <p:spPr>
          <a:xfrm>
            <a:off x="6534878" y="5415194"/>
            <a:ext cx="10762590" cy="10583"/>
          </a:xfrm>
          <a:prstGeom prst="rect">
            <a:avLst/>
          </a:prstGeom>
          <a:solidFill>
            <a:srgbClr val="E6E4DE"/>
          </a:solidFill>
          <a:ln/>
        </p:spPr>
      </p:sp>
      <p:sp>
        <p:nvSpPr>
          <p:cNvPr id="16" name="Text 14"/>
          <p:cNvSpPr/>
          <p:nvPr/>
        </p:nvSpPr>
        <p:spPr>
          <a:xfrm>
            <a:off x="6534878" y="4706111"/>
            <a:ext cx="11085467"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Prevents new labels from drifting into the graph</a:t>
            </a:r>
            <a:endParaRPr lang="en-US" sz="2400" dirty="0"/>
          </a:p>
        </p:txBody>
      </p:sp>
      <p:sp>
        <p:nvSpPr>
          <p:cNvPr id="17" name="Shape 15"/>
          <p:cNvSpPr/>
          <p:nvPr/>
        </p:nvSpPr>
        <p:spPr>
          <a:xfrm>
            <a:off x="990534" y="6420611"/>
            <a:ext cx="5544344" cy="10583"/>
          </a:xfrm>
          <a:prstGeom prst="rect">
            <a:avLst/>
          </a:prstGeom>
          <a:solidFill>
            <a:srgbClr val="E6E4DE"/>
          </a:solidFill>
          <a:ln/>
        </p:spPr>
      </p:sp>
      <p:sp>
        <p:nvSpPr>
          <p:cNvPr id="18" name="Text 16"/>
          <p:cNvSpPr/>
          <p:nvPr/>
        </p:nvSpPr>
        <p:spPr>
          <a:xfrm>
            <a:off x="990534" y="5711528"/>
            <a:ext cx="5329674"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Relations + anchors</a:t>
            </a:r>
            <a:endParaRPr lang="en-US" sz="2400" dirty="0"/>
          </a:p>
        </p:txBody>
      </p:sp>
      <p:sp>
        <p:nvSpPr>
          <p:cNvPr id="19" name="Shape 17"/>
          <p:cNvSpPr/>
          <p:nvPr/>
        </p:nvSpPr>
        <p:spPr>
          <a:xfrm>
            <a:off x="6534878" y="6420611"/>
            <a:ext cx="10762590" cy="10583"/>
          </a:xfrm>
          <a:prstGeom prst="rect">
            <a:avLst/>
          </a:prstGeom>
          <a:solidFill>
            <a:srgbClr val="E6E4DE"/>
          </a:solidFill>
          <a:ln/>
        </p:spPr>
      </p:sp>
      <p:sp>
        <p:nvSpPr>
          <p:cNvPr id="20" name="Text 18"/>
          <p:cNvSpPr/>
          <p:nvPr/>
        </p:nvSpPr>
        <p:spPr>
          <a:xfrm>
            <a:off x="6534878" y="5711528"/>
            <a:ext cx="11085467"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Links leaf claims to shared concepts and structure</a:t>
            </a:r>
            <a:endParaRPr lang="en-US" sz="2400" dirty="0"/>
          </a:p>
        </p:txBody>
      </p:sp>
      <p:sp>
        <p:nvSpPr>
          <p:cNvPr id="21" name="Shape 19"/>
          <p:cNvSpPr/>
          <p:nvPr/>
        </p:nvSpPr>
        <p:spPr>
          <a:xfrm>
            <a:off x="990534" y="7426027"/>
            <a:ext cx="5544344" cy="10583"/>
          </a:xfrm>
          <a:prstGeom prst="rect">
            <a:avLst/>
          </a:prstGeom>
          <a:solidFill>
            <a:srgbClr val="E6E4DE"/>
          </a:solidFill>
          <a:ln/>
        </p:spPr>
      </p:sp>
      <p:sp>
        <p:nvSpPr>
          <p:cNvPr id="22" name="Text 20"/>
          <p:cNvSpPr/>
          <p:nvPr/>
        </p:nvSpPr>
        <p:spPr>
          <a:xfrm>
            <a:off x="990534" y="6716944"/>
            <a:ext cx="5329674"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Canonical ownership</a:t>
            </a:r>
            <a:endParaRPr lang="en-US" sz="2400" dirty="0"/>
          </a:p>
        </p:txBody>
      </p:sp>
      <p:sp>
        <p:nvSpPr>
          <p:cNvPr id="23" name="Shape 21"/>
          <p:cNvSpPr/>
          <p:nvPr/>
        </p:nvSpPr>
        <p:spPr>
          <a:xfrm>
            <a:off x="6534878" y="7426027"/>
            <a:ext cx="10762590" cy="10583"/>
          </a:xfrm>
          <a:prstGeom prst="rect">
            <a:avLst/>
          </a:prstGeom>
          <a:solidFill>
            <a:srgbClr val="E6E4DE"/>
          </a:solidFill>
          <a:ln/>
        </p:spPr>
      </p:sp>
      <p:sp>
        <p:nvSpPr>
          <p:cNvPr id="24" name="Text 22"/>
          <p:cNvSpPr/>
          <p:nvPr/>
        </p:nvSpPr>
        <p:spPr>
          <a:xfrm>
            <a:off x="6534878" y="6716944"/>
            <a:ext cx="11085467"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One concept has one home; change requests protect it</a:t>
            </a:r>
            <a:endParaRPr lang="en-US" sz="2400" dirty="0"/>
          </a:p>
        </p:txBody>
      </p:sp>
      <p:sp>
        <p:nvSpPr>
          <p:cNvPr id="25" name="Shape 23"/>
          <p:cNvSpPr/>
          <p:nvPr/>
        </p:nvSpPr>
        <p:spPr>
          <a:xfrm>
            <a:off x="990534" y="8431445"/>
            <a:ext cx="5544344" cy="10583"/>
          </a:xfrm>
          <a:prstGeom prst="rect">
            <a:avLst/>
          </a:prstGeom>
          <a:solidFill>
            <a:srgbClr val="E6E4DE"/>
          </a:solidFill>
          <a:ln/>
        </p:spPr>
      </p:sp>
      <p:sp>
        <p:nvSpPr>
          <p:cNvPr id="26" name="Text 24"/>
          <p:cNvSpPr/>
          <p:nvPr/>
        </p:nvSpPr>
        <p:spPr>
          <a:xfrm>
            <a:off x="990534" y="7722361"/>
            <a:ext cx="5329674"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Lint and evolution</a:t>
            </a:r>
            <a:endParaRPr lang="en-US" sz="2400" dirty="0"/>
          </a:p>
        </p:txBody>
      </p:sp>
      <p:sp>
        <p:nvSpPr>
          <p:cNvPr id="27" name="Shape 25"/>
          <p:cNvSpPr/>
          <p:nvPr/>
        </p:nvSpPr>
        <p:spPr>
          <a:xfrm>
            <a:off x="6534878" y="8431445"/>
            <a:ext cx="10762590" cy="10583"/>
          </a:xfrm>
          <a:prstGeom prst="rect">
            <a:avLst/>
          </a:prstGeom>
          <a:solidFill>
            <a:srgbClr val="E6E4DE"/>
          </a:solidFill>
          <a:ln/>
        </p:spPr>
      </p:sp>
      <p:sp>
        <p:nvSpPr>
          <p:cNvPr id="28" name="Text 26"/>
          <p:cNvSpPr/>
          <p:nvPr/>
        </p:nvSpPr>
        <p:spPr>
          <a:xfrm>
            <a:off x="6534878" y="7722361"/>
            <a:ext cx="11085467" cy="461433"/>
          </a:xfrm>
          <a:prstGeom prst="rect">
            <a:avLst/>
          </a:prstGeom>
          <a:noFill/>
          <a:ln/>
        </p:spPr>
        <p:txBody>
          <a:bodyPr wrap="square" lIns="25400" tIns="25400" rIns="25400" bIns="25400" rtlCol="0" anchor="ctr">
            <a:normAutofit/>
          </a:bodyPr>
          <a:lstStyle/>
          <a:p>
            <a:pPr marL="0" indent="0" algn="l">
              <a:buNone/>
            </a:pPr>
            <a:r>
              <a:rPr lang="en-US" sz="2400" dirty="0">
                <a:solidFill>
                  <a:srgbClr val="3D3B37"/>
                </a:solidFill>
                <a:latin typeface="Georgia" pitchFamily="34" charset="0"/>
                <a:ea typeface="Georgia" pitchFamily="34" charset="-122"/>
                <a:cs typeface="Georgia" pitchFamily="34" charset="-120"/>
              </a:rPr>
              <a:t>Detect errors and log approved schema changes</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990534" y="838068"/>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838068"/>
            <a:ext cx="338303"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11</a:t>
            </a:r>
            <a:endParaRPr lang="en-US" sz="1950" dirty="0"/>
          </a:p>
        </p:txBody>
      </p:sp>
      <p:sp>
        <p:nvSpPr>
          <p:cNvPr id="4" name="Text 2"/>
          <p:cNvSpPr/>
          <p:nvPr/>
        </p:nvSpPr>
        <p:spPr>
          <a:xfrm>
            <a:off x="990534" y="1519535"/>
            <a:ext cx="17937626" cy="821267"/>
          </a:xfrm>
          <a:prstGeom prst="rect">
            <a:avLst/>
          </a:prstGeom>
          <a:noFill/>
          <a:ln/>
        </p:spPr>
        <p:txBody>
          <a:bodyPr wrap="square" lIns="25400" tIns="25400" rIns="25400" bIns="25400" rtlCol="0" anchor="t">
            <a:normAutofit/>
          </a:bodyPr>
          <a:lstStyle/>
          <a:p>
            <a:pPr marL="0" indent="0" algn="l">
              <a:buNone/>
            </a:pPr>
            <a:r>
              <a:rPr lang="en-US" sz="4500" dirty="0">
                <a:solidFill>
                  <a:srgbClr val="1F1E1C"/>
                </a:solidFill>
                <a:latin typeface="Georgia" pitchFamily="34" charset="0"/>
                <a:ea typeface="Georgia" pitchFamily="34" charset="-122"/>
                <a:cs typeface="Georgia" pitchFamily="34" charset="-120"/>
              </a:rPr>
              <a:t>Frontmatter makes the graph queryable</a:t>
            </a:r>
            <a:endParaRPr lang="en-US" sz="4500" dirty="0"/>
          </a:p>
        </p:txBody>
      </p:sp>
      <p:sp>
        <p:nvSpPr>
          <p:cNvPr id="5" name="Shape 3"/>
          <p:cNvSpPr/>
          <p:nvPr/>
        </p:nvSpPr>
        <p:spPr>
          <a:xfrm>
            <a:off x="990534" y="3208404"/>
            <a:ext cx="7848699" cy="4716694"/>
          </a:xfrm>
          <a:prstGeom prst="roundRect">
            <a:avLst>
              <a:gd name="adj" fmla="val 2423"/>
            </a:avLst>
          </a:prstGeom>
          <a:solidFill>
            <a:srgbClr val="FFFFFF"/>
          </a:solidFill>
          <a:ln w="10583">
            <a:solidFill>
              <a:srgbClr val="DCDAD4"/>
            </a:solidFill>
            <a:prstDash val="solid"/>
          </a:ln>
        </p:spPr>
      </p:sp>
      <p:sp>
        <p:nvSpPr>
          <p:cNvPr id="6" name="Text 4"/>
          <p:cNvSpPr/>
          <p:nvPr/>
        </p:nvSpPr>
        <p:spPr>
          <a:xfrm>
            <a:off x="1420217" y="3599987"/>
            <a:ext cx="7224794" cy="3971628"/>
          </a:xfrm>
          <a:prstGeom prst="rect">
            <a:avLst/>
          </a:prstGeom>
          <a:noFill/>
          <a:ln/>
        </p:spPr>
        <p:txBody>
          <a:bodyPr wrap="square" lIns="25400" tIns="25400" rIns="25400" bIns="25400" rtlCol="0" anchor="t">
            <a:normAutofit/>
          </a:bodyPr>
          <a:lstStyle/>
          <a:p>
            <a:pPr marL="0" indent="0" algn="l">
              <a:lnSpc>
                <a:spcPct val="153000"/>
              </a:lnSpc>
              <a:buNone/>
            </a:pPr>
            <a:r>
              <a:rPr lang="en-US" sz="2025" dirty="0">
                <a:solidFill>
                  <a:srgbClr val="9A988F"/>
                </a:solidFill>
                <a:latin typeface="Courier New" pitchFamily="34" charset="0"/>
                <a:ea typeface="Courier New" pitchFamily="34" charset="-122"/>
                <a:cs typeface="Courier New" pitchFamily="34" charset="-120"/>
              </a:rPr>
              <a:t>---</a:t>
            </a:r>
            <a:r>
              <a:rPr lang="en-US" sz="2025" dirty="0">
                <a:solidFill>
                  <a:srgbClr val="5C4FB3"/>
                </a:solidFill>
                <a:latin typeface="Courier New" pitchFamily="34" charset="0"/>
                <a:ea typeface="Courier New" pitchFamily="34" charset="-122"/>
                <a:cs typeface="Courier New" pitchFamily="34" charset="-120"/>
              </a:rPr>
              <a:t>id</a:t>
            </a:r>
            <a:r>
              <a:rPr lang="en-US" sz="2025" dirty="0">
                <a:solidFill>
                  <a:srgbClr val="3D3B37"/>
                </a:solidFill>
                <a:highlight>
                  <a:srgbClr val="FFFFFF"/>
                </a:highlight>
                <a:latin typeface="Courier New" pitchFamily="34" charset="0"/>
                <a:ea typeface="Courier New" pitchFamily="34" charset="-122"/>
                <a:cs typeface="Courier New" pitchFamily="34" charset="-120"/>
              </a:rPr>
              <a:t>: "daily-rate-rule" </a:t>
            </a:r>
            <a:r>
              <a:rPr lang="en-US" sz="2025" dirty="0">
                <a:solidFill>
                  <a:srgbClr val="5C4FB3"/>
                </a:solidFill>
                <a:latin typeface="Courier New" pitchFamily="34" charset="0"/>
                <a:ea typeface="Courier New" pitchFamily="34" charset="-122"/>
                <a:cs typeface="Courier New" pitchFamily="34" charset="-120"/>
              </a:rPr>
              <a:t>node_type</a:t>
            </a:r>
            <a:r>
              <a:rPr lang="en-US" sz="2025" dirty="0">
                <a:solidFill>
                  <a:srgbClr val="3D3B37"/>
                </a:solidFill>
                <a:highlight>
                  <a:srgbClr val="FFFFFF"/>
                </a:highlight>
                <a:latin typeface="Courier New" pitchFamily="34" charset="0"/>
                <a:ea typeface="Courier New" pitchFamily="34" charset="-122"/>
                <a:cs typeface="Courier New" pitchFamily="34" charset="-120"/>
              </a:rPr>
              <a:t>: rule </a:t>
            </a:r>
            <a:r>
              <a:rPr lang="en-US" sz="2025" dirty="0">
                <a:solidFill>
                  <a:srgbClr val="5C4FB3"/>
                </a:solidFill>
                <a:latin typeface="Courier New" pitchFamily="34" charset="0"/>
                <a:ea typeface="Courier New" pitchFamily="34" charset="-122"/>
                <a:cs typeface="Courier New" pitchFamily="34" charset="-120"/>
              </a:rPr>
              <a:t>layer</a:t>
            </a:r>
            <a:r>
              <a:rPr lang="en-US" sz="2025" dirty="0">
                <a:solidFill>
                  <a:srgbClr val="3D3B37"/>
                </a:solidFill>
                <a:highlight>
                  <a:srgbClr val="FFFFFF"/>
                </a:highlight>
                <a:latin typeface="Courier New" pitchFamily="34" charset="0"/>
                <a:ea typeface="Courier New" pitchFamily="34" charset="-122"/>
                <a:cs typeface="Courier New" pitchFamily="34" charset="-120"/>
              </a:rPr>
              <a:t>: 3 </a:t>
            </a:r>
            <a:r>
              <a:rPr lang="en-US" sz="2025" dirty="0">
                <a:solidFill>
                  <a:srgbClr val="5C4FB3"/>
                </a:solidFill>
                <a:latin typeface="Courier New" pitchFamily="34" charset="0"/>
                <a:ea typeface="Courier New" pitchFamily="34" charset="-122"/>
                <a:cs typeface="Courier New" pitchFamily="34" charset="-120"/>
              </a:rPr>
              <a:t>article</a:t>
            </a:r>
            <a:r>
              <a:rPr lang="en-US" sz="2025" dirty="0">
                <a:solidFill>
                  <a:srgbClr val="3D3B37"/>
                </a:solidFill>
                <a:highlight>
                  <a:srgbClr val="FFFFFF"/>
                </a:highlight>
                <a:latin typeface="Courier New" pitchFamily="34" charset="0"/>
                <a:ea typeface="Courier New" pitchFamily="34" charset="-122"/>
                <a:cs typeface="Courier New" pitchFamily="34" charset="-120"/>
              </a:rPr>
              <a:t>: "6.2.A.1" </a:t>
            </a:r>
            <a:r>
              <a:rPr lang="en-US" sz="2025" dirty="0">
                <a:solidFill>
                  <a:srgbClr val="5C4FB3"/>
                </a:solidFill>
                <a:latin typeface="Courier New" pitchFamily="34" charset="0"/>
                <a:ea typeface="Courier New" pitchFamily="34" charset="-122"/>
                <a:cs typeface="Courier New" pitchFamily="34" charset="-120"/>
              </a:rPr>
              <a:t>page_start</a:t>
            </a:r>
            <a:r>
              <a:rPr lang="en-US" sz="2025" dirty="0">
                <a:solidFill>
                  <a:srgbClr val="3D3B37"/>
                </a:solidFill>
                <a:highlight>
                  <a:srgbClr val="FFFFFF"/>
                </a:highlight>
                <a:latin typeface="Courier New" pitchFamily="34" charset="0"/>
                <a:ea typeface="Courier New" pitchFamily="34" charset="-122"/>
                <a:cs typeface="Courier New" pitchFamily="34" charset="-120"/>
              </a:rPr>
              <a:t>: 62 </a:t>
            </a:r>
            <a:r>
              <a:rPr lang="en-US" sz="2025" dirty="0">
                <a:solidFill>
                  <a:srgbClr val="5C4FB3"/>
                </a:solidFill>
                <a:latin typeface="Courier New" pitchFamily="34" charset="0"/>
                <a:ea typeface="Courier New" pitchFamily="34" charset="-122"/>
                <a:cs typeface="Courier New" pitchFamily="34" charset="-120"/>
              </a:rPr>
              <a:t>page_end</a:t>
            </a:r>
            <a:r>
              <a:rPr lang="en-US" sz="2025" dirty="0">
                <a:solidFill>
                  <a:srgbClr val="3D3B37"/>
                </a:solidFill>
                <a:highlight>
                  <a:srgbClr val="FFFFFF"/>
                </a:highlight>
                <a:latin typeface="Courier New" pitchFamily="34" charset="0"/>
                <a:ea typeface="Courier New" pitchFamily="34" charset="-122"/>
                <a:cs typeface="Courier New" pitchFamily="34" charset="-120"/>
              </a:rPr>
              <a:t>: 75 </a:t>
            </a:r>
            <a:r>
              <a:rPr lang="en-US" sz="2025" dirty="0">
                <a:solidFill>
                  <a:srgbClr val="5C4FB3"/>
                </a:solidFill>
                <a:latin typeface="Courier New" pitchFamily="34" charset="0"/>
                <a:ea typeface="Courier New" pitchFamily="34" charset="-122"/>
                <a:cs typeface="Courier New" pitchFamily="34" charset="-120"/>
              </a:rPr>
              <a:t>source_refs</a:t>
            </a:r>
            <a:r>
              <a:rPr lang="en-US" sz="2025" dirty="0">
                <a:solidFill>
                  <a:srgbClr val="3D3B37"/>
                </a:solidFill>
                <a:highlight>
                  <a:srgbClr val="FFFFFF"/>
                </a:highlight>
                <a:latin typeface="Courier New" pitchFamily="34" charset="0"/>
                <a:ea typeface="Courier New" pitchFamily="34" charset="-122"/>
                <a:cs typeface="Courier New" pitchFamily="34" charset="-120"/>
              </a:rPr>
              <a:t>: ["Art … | p. … | quoted text"] </a:t>
            </a:r>
            <a:r>
              <a:rPr lang="en-US" sz="2025" dirty="0">
                <a:solidFill>
                  <a:srgbClr val="5C4FB3"/>
                </a:solidFill>
                <a:latin typeface="Courier New" pitchFamily="34" charset="0"/>
                <a:ea typeface="Courier New" pitchFamily="34" charset="-122"/>
                <a:cs typeface="Courier New" pitchFamily="34" charset="-120"/>
              </a:rPr>
              <a:t>anchors</a:t>
            </a:r>
            <a:r>
              <a:rPr lang="en-US" sz="2025" dirty="0">
                <a:solidFill>
                  <a:srgbClr val="3D3B37"/>
                </a:solidFill>
                <a:highlight>
                  <a:srgbClr val="FFFFFF"/>
                </a:highlight>
                <a:latin typeface="Courier New" pitchFamily="34" charset="0"/>
                <a:ea typeface="Courier New" pitchFamily="34" charset="-122"/>
                <a:cs typeface="Courier New" pitchFamily="34" charset="-120"/>
              </a:rPr>
              <a:t>: ["[[Daily Rate]]"] </a:t>
            </a:r>
            <a:r>
              <a:rPr lang="en-US" sz="2025" dirty="0">
                <a:solidFill>
                  <a:srgbClr val="9A988F"/>
                </a:solidFill>
                <a:latin typeface="Courier New" pitchFamily="34" charset="0"/>
                <a:ea typeface="Courier New" pitchFamily="34" charset="-122"/>
                <a:cs typeface="Courier New" pitchFamily="34" charset="-120"/>
              </a:rPr>
              <a:t>---</a:t>
            </a:r>
            <a:endParaRPr lang="en-US" sz="2025" dirty="0"/>
          </a:p>
        </p:txBody>
      </p:sp>
      <p:sp>
        <p:nvSpPr>
          <p:cNvPr id="7" name="Text 5"/>
          <p:cNvSpPr/>
          <p:nvPr/>
        </p:nvSpPr>
        <p:spPr>
          <a:xfrm>
            <a:off x="9448767" y="3812150"/>
            <a:ext cx="8633569" cy="345017"/>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THE SCHEMA REQUIRES</a:t>
            </a:r>
            <a:endParaRPr lang="en-US" sz="1800" dirty="0"/>
          </a:p>
        </p:txBody>
      </p:sp>
      <p:sp>
        <p:nvSpPr>
          <p:cNvPr id="8" name="Text 6"/>
          <p:cNvSpPr/>
          <p:nvPr/>
        </p:nvSpPr>
        <p:spPr>
          <a:xfrm>
            <a:off x="9448767" y="4366617"/>
            <a:ext cx="169300" cy="461433"/>
          </a:xfrm>
          <a:prstGeom prst="rect">
            <a:avLst/>
          </a:prstGeom>
          <a:noFill/>
          <a:ln/>
        </p:spPr>
        <p:txBody>
          <a:bodyPr wrap="square" lIns="25400" tIns="25400" rIns="25400" bIns="25400" rtlCol="0" anchor="t">
            <a:normAutofit/>
          </a:bodyPr>
          <a:lstStyle/>
          <a:p>
            <a:pPr marL="0" indent="0" algn="l">
              <a:buNone/>
            </a:pPr>
            <a:r>
              <a:rPr lang="en-US" sz="2400" dirty="0">
                <a:solidFill>
                  <a:srgbClr val="7B6CD9"/>
                </a:solidFill>
                <a:latin typeface="Georgia" pitchFamily="34" charset="0"/>
                <a:ea typeface="Georgia" pitchFamily="34" charset="-122"/>
                <a:cs typeface="Georgia" pitchFamily="34" charset="-120"/>
              </a:rPr>
              <a:t>•</a:t>
            </a:r>
            <a:endParaRPr lang="en-US" sz="2400" dirty="0"/>
          </a:p>
        </p:txBody>
      </p:sp>
      <p:sp>
        <p:nvSpPr>
          <p:cNvPr id="9" name="Text 7"/>
          <p:cNvSpPr/>
          <p:nvPr/>
        </p:nvSpPr>
        <p:spPr>
          <a:xfrm>
            <a:off x="9713186" y="4366617"/>
            <a:ext cx="4689403" cy="461433"/>
          </a:xfrm>
          <a:prstGeom prst="rect">
            <a:avLst/>
          </a:prstGeom>
          <a:noFill/>
          <a:ln/>
        </p:spPr>
        <p:txBody>
          <a:bodyPr wrap="square" lIns="0" tIns="0" rIns="0" bIns="0" rtlCol="0" anchor="t">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flat YAML and fixed field names</a:t>
            </a:r>
            <a:endParaRPr lang="en-US" sz="2400" dirty="0"/>
          </a:p>
        </p:txBody>
      </p:sp>
      <p:sp>
        <p:nvSpPr>
          <p:cNvPr id="10" name="Text 8"/>
          <p:cNvSpPr/>
          <p:nvPr/>
        </p:nvSpPr>
        <p:spPr>
          <a:xfrm>
            <a:off x="9448767" y="4999468"/>
            <a:ext cx="169300" cy="461433"/>
          </a:xfrm>
          <a:prstGeom prst="rect">
            <a:avLst/>
          </a:prstGeom>
          <a:noFill/>
          <a:ln/>
        </p:spPr>
        <p:txBody>
          <a:bodyPr wrap="square" lIns="25400" tIns="25400" rIns="25400" bIns="25400" rtlCol="0" anchor="t">
            <a:normAutofit/>
          </a:bodyPr>
          <a:lstStyle/>
          <a:p>
            <a:pPr marL="0" indent="0" algn="l">
              <a:buNone/>
            </a:pPr>
            <a:r>
              <a:rPr lang="en-US" sz="2400" dirty="0">
                <a:solidFill>
                  <a:srgbClr val="7B6CD9"/>
                </a:solidFill>
                <a:latin typeface="Georgia" pitchFamily="34" charset="0"/>
                <a:ea typeface="Georgia" pitchFamily="34" charset="-122"/>
                <a:cs typeface="Georgia" pitchFamily="34" charset="-120"/>
              </a:rPr>
              <a:t>•</a:t>
            </a:r>
            <a:endParaRPr lang="en-US" sz="2400" dirty="0"/>
          </a:p>
        </p:txBody>
      </p:sp>
      <p:sp>
        <p:nvSpPr>
          <p:cNvPr id="11" name="Text 9"/>
          <p:cNvSpPr/>
          <p:nvPr/>
        </p:nvSpPr>
        <p:spPr>
          <a:xfrm>
            <a:off x="9713186" y="4999468"/>
            <a:ext cx="4659084" cy="461433"/>
          </a:xfrm>
          <a:prstGeom prst="rect">
            <a:avLst/>
          </a:prstGeom>
          <a:noFill/>
          <a:ln/>
        </p:spPr>
        <p:txBody>
          <a:bodyPr wrap="square" lIns="0" tIns="0" rIns="0" bIns="0" rtlCol="0" anchor="t">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page-specific source references</a:t>
            </a:r>
            <a:endParaRPr lang="en-US" sz="2400" dirty="0"/>
          </a:p>
        </p:txBody>
      </p:sp>
      <p:sp>
        <p:nvSpPr>
          <p:cNvPr id="12" name="Text 10"/>
          <p:cNvSpPr/>
          <p:nvPr/>
        </p:nvSpPr>
        <p:spPr>
          <a:xfrm>
            <a:off x="9448767" y="5632318"/>
            <a:ext cx="169300" cy="461433"/>
          </a:xfrm>
          <a:prstGeom prst="rect">
            <a:avLst/>
          </a:prstGeom>
          <a:noFill/>
          <a:ln/>
        </p:spPr>
        <p:txBody>
          <a:bodyPr wrap="square" lIns="25400" tIns="25400" rIns="25400" bIns="25400" rtlCol="0" anchor="t">
            <a:normAutofit/>
          </a:bodyPr>
          <a:lstStyle/>
          <a:p>
            <a:pPr marL="0" indent="0" algn="l">
              <a:buNone/>
            </a:pPr>
            <a:r>
              <a:rPr lang="en-US" sz="2400" dirty="0">
                <a:solidFill>
                  <a:srgbClr val="7B6CD9"/>
                </a:solidFill>
                <a:latin typeface="Georgia" pitchFamily="34" charset="0"/>
                <a:ea typeface="Georgia" pitchFamily="34" charset="-122"/>
                <a:cs typeface="Georgia" pitchFamily="34" charset="-120"/>
              </a:rPr>
              <a:t>•</a:t>
            </a:r>
            <a:endParaRPr lang="en-US" sz="2400" dirty="0"/>
          </a:p>
        </p:txBody>
      </p:sp>
      <p:sp>
        <p:nvSpPr>
          <p:cNvPr id="13" name="Text 11"/>
          <p:cNvSpPr/>
          <p:nvPr/>
        </p:nvSpPr>
        <p:spPr>
          <a:xfrm>
            <a:off x="9713186" y="5632318"/>
            <a:ext cx="5110787" cy="461433"/>
          </a:xfrm>
          <a:prstGeom prst="rect">
            <a:avLst/>
          </a:prstGeom>
          <a:noFill/>
          <a:ln/>
        </p:spPr>
        <p:txBody>
          <a:bodyPr wrap="square" lIns="0" tIns="0" rIns="0" bIns="0" rtlCol="0" anchor="t">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typed links and canonical anchors</a:t>
            </a:r>
            <a:endParaRPr lang="en-US" sz="2400" dirty="0"/>
          </a:p>
        </p:txBody>
      </p:sp>
      <p:sp>
        <p:nvSpPr>
          <p:cNvPr id="14" name="Text 12"/>
          <p:cNvSpPr/>
          <p:nvPr/>
        </p:nvSpPr>
        <p:spPr>
          <a:xfrm>
            <a:off x="9448767" y="6265168"/>
            <a:ext cx="169300" cy="461433"/>
          </a:xfrm>
          <a:prstGeom prst="rect">
            <a:avLst/>
          </a:prstGeom>
          <a:noFill/>
          <a:ln/>
        </p:spPr>
        <p:txBody>
          <a:bodyPr wrap="square" lIns="25400" tIns="25400" rIns="25400" bIns="25400" rtlCol="0" anchor="t">
            <a:normAutofit/>
          </a:bodyPr>
          <a:lstStyle/>
          <a:p>
            <a:pPr marL="0" indent="0" algn="l">
              <a:buNone/>
            </a:pPr>
            <a:r>
              <a:rPr lang="en-US" sz="2400" dirty="0">
                <a:solidFill>
                  <a:srgbClr val="7B6CD9"/>
                </a:solidFill>
                <a:latin typeface="Georgia" pitchFamily="34" charset="0"/>
                <a:ea typeface="Georgia" pitchFamily="34" charset="-122"/>
                <a:cs typeface="Georgia" pitchFamily="34" charset="-120"/>
              </a:rPr>
              <a:t>•</a:t>
            </a:r>
            <a:endParaRPr lang="en-US" sz="2400" dirty="0"/>
          </a:p>
        </p:txBody>
      </p:sp>
      <p:sp>
        <p:nvSpPr>
          <p:cNvPr id="15" name="Text 13"/>
          <p:cNvSpPr/>
          <p:nvPr/>
        </p:nvSpPr>
        <p:spPr>
          <a:xfrm>
            <a:off x="9713186" y="6265168"/>
            <a:ext cx="4793130" cy="461433"/>
          </a:xfrm>
          <a:prstGeom prst="rect">
            <a:avLst/>
          </a:prstGeom>
          <a:noFill/>
          <a:ln/>
        </p:spPr>
        <p:txBody>
          <a:bodyPr wrap="square" lIns="0" tIns="0" rIns="0" bIns="0" rtlCol="0" anchor="t">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valid status, certainty and scope</a:t>
            </a:r>
            <a:endParaRPr lang="en-US" sz="2400" dirty="0"/>
          </a:p>
        </p:txBody>
      </p:sp>
      <p:sp>
        <p:nvSpPr>
          <p:cNvPr id="16" name="Text 14"/>
          <p:cNvSpPr/>
          <p:nvPr/>
        </p:nvSpPr>
        <p:spPr>
          <a:xfrm>
            <a:off x="9448767" y="6898018"/>
            <a:ext cx="169300" cy="461433"/>
          </a:xfrm>
          <a:prstGeom prst="rect">
            <a:avLst/>
          </a:prstGeom>
          <a:noFill/>
          <a:ln/>
        </p:spPr>
        <p:txBody>
          <a:bodyPr wrap="square" lIns="25400" tIns="25400" rIns="25400" bIns="25400" rtlCol="0" anchor="t">
            <a:normAutofit/>
          </a:bodyPr>
          <a:lstStyle/>
          <a:p>
            <a:pPr marL="0" indent="0" algn="l">
              <a:buNone/>
            </a:pPr>
            <a:r>
              <a:rPr lang="en-US" sz="2400" dirty="0">
                <a:solidFill>
                  <a:srgbClr val="7B6CD9"/>
                </a:solidFill>
                <a:latin typeface="Georgia" pitchFamily="34" charset="0"/>
                <a:ea typeface="Georgia" pitchFamily="34" charset="-122"/>
                <a:cs typeface="Georgia" pitchFamily="34" charset="-120"/>
              </a:rPr>
              <a:t>•</a:t>
            </a:r>
            <a:endParaRPr lang="en-US" sz="2400" dirty="0"/>
          </a:p>
        </p:txBody>
      </p:sp>
      <p:sp>
        <p:nvSpPr>
          <p:cNvPr id="17" name="Text 15"/>
          <p:cNvSpPr/>
          <p:nvPr/>
        </p:nvSpPr>
        <p:spPr>
          <a:xfrm>
            <a:off x="9713186" y="6898018"/>
            <a:ext cx="4200738" cy="461433"/>
          </a:xfrm>
          <a:prstGeom prst="rect">
            <a:avLst/>
          </a:prstGeom>
          <a:noFill/>
          <a:ln/>
        </p:spPr>
        <p:txBody>
          <a:bodyPr wrap="square" lIns="0" tIns="0" rIns="0" bIns="0" rtlCol="0" anchor="t">
            <a:normAutofit/>
          </a:bodyPr>
          <a:lstStyle/>
          <a:p>
            <a:pPr marL="0" indent="0" algn="l">
              <a:buNone/>
            </a:pPr>
            <a:r>
              <a:rPr lang="en-US" sz="2400" dirty="0">
                <a:solidFill>
                  <a:srgbClr val="1F1E1C"/>
                </a:solidFill>
                <a:latin typeface="Georgia" pitchFamily="34" charset="0"/>
                <a:ea typeface="Georgia" pitchFamily="34" charset="-122"/>
                <a:cs typeface="Georgia" pitchFamily="34" charset="-120"/>
              </a:rPr>
              <a:t>Dataview-compatible values</a:t>
            </a:r>
            <a:endParaRPr lang="en-US" sz="2400" dirty="0"/>
          </a:p>
        </p:txBody>
      </p:sp>
      <p:sp>
        <p:nvSpPr>
          <p:cNvPr id="18" name="Shape 16"/>
          <p:cNvSpPr/>
          <p:nvPr/>
        </p:nvSpPr>
        <p:spPr>
          <a:xfrm>
            <a:off x="990534" y="8830965"/>
            <a:ext cx="16306933" cy="10583"/>
          </a:xfrm>
          <a:prstGeom prst="rect">
            <a:avLst/>
          </a:prstGeom>
          <a:solidFill>
            <a:srgbClr val="D3D1CA"/>
          </a:solidFill>
          <a:ln/>
        </p:spPr>
      </p:sp>
      <p:sp>
        <p:nvSpPr>
          <p:cNvPr id="19" name="Text 17"/>
          <p:cNvSpPr/>
          <p:nvPr/>
        </p:nvSpPr>
        <p:spPr>
          <a:xfrm>
            <a:off x="990534" y="9089198"/>
            <a:ext cx="16796141" cy="397834"/>
          </a:xfrm>
          <a:prstGeom prst="rect">
            <a:avLst/>
          </a:prstGeom>
          <a:noFill/>
          <a:ln/>
        </p:spPr>
        <p:txBody>
          <a:bodyPr wrap="square" lIns="25400" tIns="25400" rIns="25400" bIns="25400" rtlCol="0" anchor="t">
            <a:normAutofit/>
          </a:bodyPr>
          <a:lstStyle/>
          <a:p>
            <a:pPr marL="0" indent="0" algn="l">
              <a:buNone/>
            </a:pPr>
            <a:r>
              <a:rPr lang="en-US" sz="2100" dirty="0">
                <a:solidFill>
                  <a:srgbClr val="6B6964"/>
                </a:solidFill>
                <a:latin typeface="Georgia" pitchFamily="34" charset="0"/>
                <a:ea typeface="Georgia" pitchFamily="34" charset="-122"/>
                <a:cs typeface="Georgia" pitchFamily="34" charset="-120"/>
              </a:rPr>
              <a:t>Illustrative field subset; source wording must be verified before a factual node is used.</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990534" y="685767"/>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685767"/>
            <a:ext cx="338303"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13</a:t>
            </a:r>
            <a:endParaRPr lang="en-US" sz="1950" dirty="0"/>
          </a:p>
        </p:txBody>
      </p:sp>
      <p:sp>
        <p:nvSpPr>
          <p:cNvPr id="4" name="Text 2"/>
          <p:cNvSpPr/>
          <p:nvPr/>
        </p:nvSpPr>
        <p:spPr>
          <a:xfrm>
            <a:off x="990534" y="1367234"/>
            <a:ext cx="17937626" cy="768350"/>
          </a:xfrm>
          <a:prstGeom prst="rect">
            <a:avLst/>
          </a:prstGeom>
          <a:noFill/>
          <a:ln/>
        </p:spPr>
        <p:txBody>
          <a:bodyPr wrap="square" lIns="25400" tIns="25400" rIns="25400" bIns="25400" rtlCol="0" anchor="t">
            <a:normAutofit/>
          </a:bodyPr>
          <a:lstStyle/>
          <a:p>
            <a:pPr marL="0" indent="0" algn="l">
              <a:buNone/>
            </a:pPr>
            <a:r>
              <a:rPr lang="en-US" sz="4200" dirty="0">
                <a:solidFill>
                  <a:srgbClr val="1F1E1C"/>
                </a:solidFill>
                <a:latin typeface="Georgia" pitchFamily="34" charset="0"/>
                <a:ea typeface="Georgia" pitchFamily="34" charset="-122"/>
                <a:cs typeface="Georgia" pitchFamily="34" charset="-120"/>
              </a:rPr>
              <a:t>The wiki’s basic ontological types</a:t>
            </a:r>
            <a:endParaRPr lang="en-US" sz="4200" dirty="0"/>
          </a:p>
        </p:txBody>
      </p:sp>
      <p:sp>
        <p:nvSpPr>
          <p:cNvPr id="5" name="Shape 3"/>
          <p:cNvSpPr/>
          <p:nvPr/>
        </p:nvSpPr>
        <p:spPr>
          <a:xfrm>
            <a:off x="990534" y="2913228"/>
            <a:ext cx="4239783" cy="10583"/>
          </a:xfrm>
          <a:prstGeom prst="rect">
            <a:avLst/>
          </a:prstGeom>
          <a:solidFill>
            <a:srgbClr val="CFCDC6"/>
          </a:solidFill>
          <a:ln/>
        </p:spPr>
      </p:sp>
      <p:sp>
        <p:nvSpPr>
          <p:cNvPr id="6" name="Text 4"/>
          <p:cNvSpPr/>
          <p:nvPr/>
        </p:nvSpPr>
        <p:spPr>
          <a:xfrm>
            <a:off x="990534" y="2440285"/>
            <a:ext cx="4366976" cy="339593"/>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LAYER</a:t>
            </a:r>
            <a:endParaRPr lang="en-US" sz="1800" dirty="0"/>
          </a:p>
        </p:txBody>
      </p:sp>
      <p:sp>
        <p:nvSpPr>
          <p:cNvPr id="7" name="Shape 5"/>
          <p:cNvSpPr/>
          <p:nvPr/>
        </p:nvSpPr>
        <p:spPr>
          <a:xfrm>
            <a:off x="5230317" y="2913228"/>
            <a:ext cx="4565882" cy="10583"/>
          </a:xfrm>
          <a:prstGeom prst="rect">
            <a:avLst/>
          </a:prstGeom>
          <a:solidFill>
            <a:srgbClr val="CFCDC6"/>
          </a:solidFill>
          <a:ln/>
        </p:spPr>
      </p:sp>
      <p:sp>
        <p:nvSpPr>
          <p:cNvPr id="8" name="Text 6"/>
          <p:cNvSpPr/>
          <p:nvPr/>
        </p:nvSpPr>
        <p:spPr>
          <a:xfrm>
            <a:off x="5230317" y="2440285"/>
            <a:ext cx="4702858" cy="339593"/>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TYPES</a:t>
            </a:r>
            <a:endParaRPr lang="en-US" sz="1800" dirty="0"/>
          </a:p>
        </p:txBody>
      </p:sp>
      <p:sp>
        <p:nvSpPr>
          <p:cNvPr id="9" name="Shape 7"/>
          <p:cNvSpPr/>
          <p:nvPr/>
        </p:nvSpPr>
        <p:spPr>
          <a:xfrm>
            <a:off x="9796199" y="2913228"/>
            <a:ext cx="7501269" cy="10583"/>
          </a:xfrm>
          <a:prstGeom prst="rect">
            <a:avLst/>
          </a:prstGeom>
          <a:solidFill>
            <a:srgbClr val="CFCDC6"/>
          </a:solidFill>
          <a:ln/>
        </p:spPr>
      </p:sp>
      <p:sp>
        <p:nvSpPr>
          <p:cNvPr id="10" name="Text 8"/>
          <p:cNvSpPr/>
          <p:nvPr/>
        </p:nvSpPr>
        <p:spPr>
          <a:xfrm>
            <a:off x="9796199" y="2440285"/>
            <a:ext cx="7726307" cy="339593"/>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ROLE</a:t>
            </a:r>
            <a:endParaRPr lang="en-US" sz="1800" dirty="0"/>
          </a:p>
        </p:txBody>
      </p:sp>
      <p:sp>
        <p:nvSpPr>
          <p:cNvPr id="11" name="Shape 9"/>
          <p:cNvSpPr/>
          <p:nvPr/>
        </p:nvSpPr>
        <p:spPr>
          <a:xfrm>
            <a:off x="990534" y="4342143"/>
            <a:ext cx="4239783" cy="10583"/>
          </a:xfrm>
          <a:prstGeom prst="rect">
            <a:avLst/>
          </a:prstGeom>
          <a:solidFill>
            <a:srgbClr val="E6E4DE"/>
          </a:solidFill>
          <a:ln/>
        </p:spPr>
      </p:sp>
      <p:sp>
        <p:nvSpPr>
          <p:cNvPr id="12" name="Text 10"/>
          <p:cNvSpPr/>
          <p:nvPr/>
        </p:nvSpPr>
        <p:spPr>
          <a:xfrm>
            <a:off x="990534" y="3171461"/>
            <a:ext cx="4062176" cy="961132"/>
          </a:xfrm>
          <a:prstGeom prst="rect">
            <a:avLst/>
          </a:prstGeom>
          <a:noFill/>
          <a:ln/>
        </p:spPr>
        <p:txBody>
          <a:bodyPr wrap="none" lIns="25400" tIns="25400" rIns="25400" bIns="25400" rtlCol="0" anchor="t">
            <a:normAutofit/>
          </a:bodyPr>
          <a:lstStyle/>
          <a:p>
            <a:pPr marL="0" indent="0" algn="l">
              <a:buNone/>
            </a:pPr>
            <a:r>
              <a:rPr lang="en-US" sz="2250" dirty="0">
                <a:solidFill>
                  <a:srgbClr val="5C4FB3"/>
                </a:solidFill>
                <a:latin typeface="Georgia" pitchFamily="34" charset="0"/>
                <a:ea typeface="Georgia" pitchFamily="34" charset="-122"/>
                <a:cs typeface="Georgia" pitchFamily="34" charset="-120"/>
              </a:rPr>
              <a:t>0 </a:t>
            </a:r>
            <a:r>
              <a:rPr lang="en-US" sz="2250" dirty="0">
                <a:solidFill>
                  <a:srgbClr val="1F1E1C"/>
                </a:solidFill>
                <a:latin typeface="Georgia" pitchFamily="34" charset="0"/>
                <a:ea typeface="Georgia" pitchFamily="34" charset="-122"/>
                <a:cs typeface="Georgia" pitchFamily="34" charset="-120"/>
              </a:rPr>
              <a:t>Governance</a:t>
            </a:r>
            <a:endParaRPr lang="en-US" sz="2250" dirty="0"/>
          </a:p>
        </p:txBody>
      </p:sp>
      <p:sp>
        <p:nvSpPr>
          <p:cNvPr id="13" name="Shape 11"/>
          <p:cNvSpPr/>
          <p:nvPr/>
        </p:nvSpPr>
        <p:spPr>
          <a:xfrm>
            <a:off x="5230317" y="4342143"/>
            <a:ext cx="4565882" cy="10583"/>
          </a:xfrm>
          <a:prstGeom prst="rect">
            <a:avLst/>
          </a:prstGeom>
          <a:solidFill>
            <a:srgbClr val="E6E4DE"/>
          </a:solidFill>
          <a:ln/>
        </p:spPr>
      </p:sp>
      <p:sp>
        <p:nvSpPr>
          <p:cNvPr id="14" name="Text 12"/>
          <p:cNvSpPr/>
          <p:nvPr/>
        </p:nvSpPr>
        <p:spPr>
          <a:xfrm>
            <a:off x="5230317" y="3171461"/>
            <a:ext cx="4398058" cy="961132"/>
          </a:xfrm>
          <a:prstGeom prst="rect">
            <a:avLst/>
          </a:prstGeom>
          <a:noFill/>
          <a:ln/>
        </p:spPr>
        <p:txBody>
          <a:bodyPr wrap="square" lIns="25400" tIns="25400" rIns="25400" bIns="25400" rtlCol="0" anchor="t">
            <a:normAutofit/>
          </a:bodyPr>
          <a:lstStyle/>
          <a:p>
            <a:pPr marL="0" indent="0" algn="l">
              <a:lnSpc>
                <a:spcPct val="121655"/>
              </a:lnSpc>
              <a:buNone/>
            </a:pPr>
            <a:r>
              <a:rPr lang="en-US" sz="2100" dirty="0">
                <a:solidFill>
                  <a:srgbClr val="3D3B37"/>
                </a:solidFill>
                <a:latin typeface="Georgia" pitchFamily="34" charset="0"/>
                <a:ea typeface="Georgia" pitchFamily="34" charset="-122"/>
                <a:cs typeface="Georgia" pitchFamily="34" charset="-120"/>
              </a:rPr>
              <a:t>Schema, dashboard, index, log</a:t>
            </a:r>
            <a:endParaRPr lang="en-US" sz="2100" dirty="0"/>
          </a:p>
        </p:txBody>
      </p:sp>
      <p:sp>
        <p:nvSpPr>
          <p:cNvPr id="15" name="Shape 13"/>
          <p:cNvSpPr/>
          <p:nvPr/>
        </p:nvSpPr>
        <p:spPr>
          <a:xfrm>
            <a:off x="9796199" y="4342143"/>
            <a:ext cx="7501269" cy="10583"/>
          </a:xfrm>
          <a:prstGeom prst="rect">
            <a:avLst/>
          </a:prstGeom>
          <a:solidFill>
            <a:srgbClr val="E6E4DE"/>
          </a:solidFill>
          <a:ln/>
        </p:spPr>
      </p:sp>
      <p:sp>
        <p:nvSpPr>
          <p:cNvPr id="16" name="Text 14"/>
          <p:cNvSpPr/>
          <p:nvPr/>
        </p:nvSpPr>
        <p:spPr>
          <a:xfrm>
            <a:off x="9796199" y="3171461"/>
            <a:ext cx="7726307" cy="961132"/>
          </a:xfrm>
          <a:prstGeom prst="rect">
            <a:avLst/>
          </a:prstGeom>
          <a:noFill/>
          <a:ln/>
        </p:spPr>
        <p:txBody>
          <a:bodyPr wrap="square" lIns="25400" tIns="25400" rIns="25400" bIns="25400" rtlCol="0" anchor="t">
            <a:normAutofit/>
          </a:bodyPr>
          <a:lstStyle/>
          <a:p>
            <a:pPr marL="0" indent="0" algn="l">
              <a:lnSpc>
                <a:spcPct val="126000"/>
              </a:lnSpc>
              <a:buNone/>
            </a:pPr>
            <a:r>
              <a:rPr lang="en-US" sz="2025" dirty="0">
                <a:solidFill>
                  <a:srgbClr val="4F4D48"/>
                </a:solidFill>
                <a:latin typeface="Georgia" pitchFamily="34" charset="0"/>
                <a:ea typeface="Georgia" pitchFamily="34" charset="-122"/>
                <a:cs typeface="Georgia" pitchFamily="34" charset="-120"/>
              </a:rPr>
              <a:t>Define and monitor the wiki’s construction; these are operational pages rather than AGA claims.</a:t>
            </a:r>
            <a:endParaRPr lang="en-US" sz="2025" dirty="0"/>
          </a:p>
        </p:txBody>
      </p:sp>
      <p:sp>
        <p:nvSpPr>
          <p:cNvPr id="17" name="Shape 15"/>
          <p:cNvSpPr/>
          <p:nvPr/>
        </p:nvSpPr>
        <p:spPr>
          <a:xfrm>
            <a:off x="990534" y="5802313"/>
            <a:ext cx="4239783" cy="10583"/>
          </a:xfrm>
          <a:prstGeom prst="rect">
            <a:avLst/>
          </a:prstGeom>
          <a:solidFill>
            <a:srgbClr val="E6E4DE"/>
          </a:solidFill>
          <a:ln/>
        </p:spPr>
      </p:sp>
      <p:sp>
        <p:nvSpPr>
          <p:cNvPr id="18" name="Text 16"/>
          <p:cNvSpPr/>
          <p:nvPr/>
        </p:nvSpPr>
        <p:spPr>
          <a:xfrm>
            <a:off x="990534" y="4600377"/>
            <a:ext cx="4062176" cy="992386"/>
          </a:xfrm>
          <a:prstGeom prst="rect">
            <a:avLst/>
          </a:prstGeom>
          <a:noFill/>
          <a:ln/>
        </p:spPr>
        <p:txBody>
          <a:bodyPr wrap="none" lIns="25400" tIns="25400" rIns="25400" bIns="25400" rtlCol="0" anchor="t">
            <a:normAutofit/>
          </a:bodyPr>
          <a:lstStyle/>
          <a:p>
            <a:pPr marL="0" indent="0" algn="l">
              <a:buNone/>
            </a:pPr>
            <a:r>
              <a:rPr lang="en-US" sz="2250" dirty="0">
                <a:solidFill>
                  <a:srgbClr val="5C4FB3"/>
                </a:solidFill>
                <a:latin typeface="Georgia" pitchFamily="34" charset="0"/>
                <a:ea typeface="Georgia" pitchFamily="34" charset="-122"/>
                <a:cs typeface="Georgia" pitchFamily="34" charset="-120"/>
              </a:rPr>
              <a:t>1 </a:t>
            </a:r>
            <a:r>
              <a:rPr lang="en-US" sz="2250" dirty="0">
                <a:solidFill>
                  <a:srgbClr val="1F1E1C"/>
                </a:solidFill>
                <a:latin typeface="Georgia" pitchFamily="34" charset="0"/>
                <a:ea typeface="Georgia" pitchFamily="34" charset="-122"/>
                <a:cs typeface="Georgia" pitchFamily="34" charset="-120"/>
              </a:rPr>
              <a:t>Source and structure</a:t>
            </a:r>
            <a:endParaRPr lang="en-US" sz="2250" dirty="0"/>
          </a:p>
        </p:txBody>
      </p:sp>
      <p:sp>
        <p:nvSpPr>
          <p:cNvPr id="19" name="Shape 17"/>
          <p:cNvSpPr/>
          <p:nvPr/>
        </p:nvSpPr>
        <p:spPr>
          <a:xfrm>
            <a:off x="5230317" y="5802313"/>
            <a:ext cx="4565882" cy="10583"/>
          </a:xfrm>
          <a:prstGeom prst="rect">
            <a:avLst/>
          </a:prstGeom>
          <a:solidFill>
            <a:srgbClr val="E6E4DE"/>
          </a:solidFill>
          <a:ln/>
        </p:spPr>
      </p:sp>
      <p:sp>
        <p:nvSpPr>
          <p:cNvPr id="20" name="Text 18"/>
          <p:cNvSpPr/>
          <p:nvPr/>
        </p:nvSpPr>
        <p:spPr>
          <a:xfrm>
            <a:off x="5230317" y="4600377"/>
            <a:ext cx="4398058" cy="992386"/>
          </a:xfrm>
          <a:prstGeom prst="rect">
            <a:avLst/>
          </a:prstGeom>
          <a:noFill/>
          <a:ln/>
        </p:spPr>
        <p:txBody>
          <a:bodyPr wrap="square" lIns="25400" tIns="25400" rIns="25400" bIns="25400" rtlCol="0" anchor="t">
            <a:normAutofit/>
          </a:bodyPr>
          <a:lstStyle/>
          <a:p>
            <a:pPr marL="0" indent="0" algn="l">
              <a:lnSpc>
                <a:spcPct val="121655"/>
              </a:lnSpc>
              <a:buNone/>
            </a:pPr>
            <a:r>
              <a:rPr lang="en-US" sz="2100" dirty="0">
                <a:solidFill>
                  <a:srgbClr val="3D3B37"/>
                </a:solidFill>
                <a:latin typeface="Georgia" pitchFamily="34" charset="0"/>
                <a:ea typeface="Georgia" pitchFamily="34" charset="-122"/>
                <a:cs typeface="Georgia" pitchFamily="34" charset="-120"/>
              </a:rPr>
              <a:t>Source, work, chapter, article, section</a:t>
            </a:r>
            <a:endParaRPr lang="en-US" sz="2100" dirty="0"/>
          </a:p>
        </p:txBody>
      </p:sp>
      <p:sp>
        <p:nvSpPr>
          <p:cNvPr id="21" name="Shape 19"/>
          <p:cNvSpPr/>
          <p:nvPr/>
        </p:nvSpPr>
        <p:spPr>
          <a:xfrm>
            <a:off x="9796199" y="5802313"/>
            <a:ext cx="7501269" cy="10583"/>
          </a:xfrm>
          <a:prstGeom prst="rect">
            <a:avLst/>
          </a:prstGeom>
          <a:solidFill>
            <a:srgbClr val="E6E4DE"/>
          </a:solidFill>
          <a:ln/>
        </p:spPr>
      </p:sp>
      <p:sp>
        <p:nvSpPr>
          <p:cNvPr id="22" name="Text 20"/>
          <p:cNvSpPr/>
          <p:nvPr/>
        </p:nvSpPr>
        <p:spPr>
          <a:xfrm>
            <a:off x="9796199" y="4600377"/>
            <a:ext cx="7726307" cy="992386"/>
          </a:xfrm>
          <a:prstGeom prst="rect">
            <a:avLst/>
          </a:prstGeom>
          <a:noFill/>
          <a:ln/>
        </p:spPr>
        <p:txBody>
          <a:bodyPr wrap="square" lIns="25400" tIns="25400" rIns="25400" bIns="25400" rtlCol="0" anchor="t">
            <a:normAutofit/>
          </a:bodyPr>
          <a:lstStyle/>
          <a:p>
            <a:pPr marL="0" indent="0" algn="l">
              <a:lnSpc>
                <a:spcPct val="126000"/>
              </a:lnSpc>
              <a:buNone/>
            </a:pPr>
            <a:r>
              <a:rPr lang="en-US" sz="2025" dirty="0">
                <a:solidFill>
                  <a:srgbClr val="4F4D48"/>
                </a:solidFill>
                <a:latin typeface="Georgia" pitchFamily="34" charset="0"/>
                <a:ea typeface="Georgia" pitchFamily="34" charset="-122"/>
                <a:cs typeface="Georgia" pitchFamily="34" charset="-120"/>
              </a:rPr>
              <a:t>Identify the authoritative document and give each provision a place in its hierarchy.</a:t>
            </a:r>
            <a:endParaRPr lang="en-US" sz="2025" dirty="0"/>
          </a:p>
        </p:txBody>
      </p:sp>
      <p:sp>
        <p:nvSpPr>
          <p:cNvPr id="23" name="Shape 21"/>
          <p:cNvSpPr/>
          <p:nvPr/>
        </p:nvSpPr>
        <p:spPr>
          <a:xfrm>
            <a:off x="990534" y="6848409"/>
            <a:ext cx="4239783" cy="10583"/>
          </a:xfrm>
          <a:prstGeom prst="rect">
            <a:avLst/>
          </a:prstGeom>
          <a:solidFill>
            <a:srgbClr val="E6E4DE"/>
          </a:solidFill>
          <a:ln/>
        </p:spPr>
      </p:sp>
      <p:sp>
        <p:nvSpPr>
          <p:cNvPr id="24" name="Text 22"/>
          <p:cNvSpPr/>
          <p:nvPr/>
        </p:nvSpPr>
        <p:spPr>
          <a:xfrm>
            <a:off x="990534" y="6060546"/>
            <a:ext cx="4062176" cy="578313"/>
          </a:xfrm>
          <a:prstGeom prst="rect">
            <a:avLst/>
          </a:prstGeom>
          <a:noFill/>
          <a:ln/>
        </p:spPr>
        <p:txBody>
          <a:bodyPr wrap="none" lIns="25400" tIns="25400" rIns="25400" bIns="25400" rtlCol="0" anchor="t">
            <a:normAutofit/>
          </a:bodyPr>
          <a:lstStyle/>
          <a:p>
            <a:pPr marL="0" indent="0" algn="l">
              <a:buNone/>
            </a:pPr>
            <a:r>
              <a:rPr lang="en-US" sz="2250" dirty="0">
                <a:solidFill>
                  <a:srgbClr val="5C4FB3"/>
                </a:solidFill>
                <a:latin typeface="Georgia" pitchFamily="34" charset="0"/>
                <a:ea typeface="Georgia" pitchFamily="34" charset="-122"/>
                <a:cs typeface="Georgia" pitchFamily="34" charset="-120"/>
              </a:rPr>
              <a:t>2 </a:t>
            </a:r>
            <a:r>
              <a:rPr lang="en-US" sz="2250" dirty="0">
                <a:solidFill>
                  <a:srgbClr val="1F1E1C"/>
                </a:solidFill>
                <a:latin typeface="Georgia" pitchFamily="34" charset="0"/>
                <a:ea typeface="Georgia" pitchFamily="34" charset="-122"/>
                <a:cs typeface="Georgia" pitchFamily="34" charset="-120"/>
              </a:rPr>
              <a:t>Shared anchors</a:t>
            </a:r>
            <a:endParaRPr lang="en-US" sz="2250" dirty="0"/>
          </a:p>
        </p:txBody>
      </p:sp>
      <p:sp>
        <p:nvSpPr>
          <p:cNvPr id="25" name="Shape 23"/>
          <p:cNvSpPr/>
          <p:nvPr/>
        </p:nvSpPr>
        <p:spPr>
          <a:xfrm>
            <a:off x="5230317" y="6848409"/>
            <a:ext cx="4565882" cy="10583"/>
          </a:xfrm>
          <a:prstGeom prst="rect">
            <a:avLst/>
          </a:prstGeom>
          <a:solidFill>
            <a:srgbClr val="E6E4DE"/>
          </a:solidFill>
          <a:ln/>
        </p:spPr>
      </p:sp>
      <p:sp>
        <p:nvSpPr>
          <p:cNvPr id="26" name="Text 24"/>
          <p:cNvSpPr/>
          <p:nvPr/>
        </p:nvSpPr>
        <p:spPr>
          <a:xfrm>
            <a:off x="5230317" y="6060546"/>
            <a:ext cx="4398058" cy="578313"/>
          </a:xfrm>
          <a:prstGeom prst="rect">
            <a:avLst/>
          </a:prstGeom>
          <a:noFill/>
          <a:ln/>
        </p:spPr>
        <p:txBody>
          <a:bodyPr wrap="square" lIns="25400" tIns="25400" rIns="25400" bIns="25400" rtlCol="0" anchor="t">
            <a:normAutofit/>
          </a:bodyPr>
          <a:lstStyle/>
          <a:p>
            <a:pPr marL="0" indent="0" algn="l">
              <a:lnSpc>
                <a:spcPct val="121655"/>
              </a:lnSpc>
              <a:buNone/>
            </a:pPr>
            <a:r>
              <a:rPr lang="en-US" sz="2100" dirty="0">
                <a:solidFill>
                  <a:srgbClr val="3D3B37"/>
                </a:solidFill>
                <a:latin typeface="Georgia" pitchFamily="34" charset="0"/>
                <a:ea typeface="Georgia" pitchFamily="34" charset="-122"/>
                <a:cs typeface="Georgia" pitchFamily="34" charset="-120"/>
              </a:rPr>
              <a:t>Actor, definition, concept</a:t>
            </a:r>
            <a:endParaRPr lang="en-US" sz="2100" dirty="0"/>
          </a:p>
        </p:txBody>
      </p:sp>
      <p:sp>
        <p:nvSpPr>
          <p:cNvPr id="27" name="Shape 25"/>
          <p:cNvSpPr/>
          <p:nvPr/>
        </p:nvSpPr>
        <p:spPr>
          <a:xfrm>
            <a:off x="9796199" y="6848409"/>
            <a:ext cx="7501269" cy="10583"/>
          </a:xfrm>
          <a:prstGeom prst="rect">
            <a:avLst/>
          </a:prstGeom>
          <a:solidFill>
            <a:srgbClr val="E6E4DE"/>
          </a:solidFill>
          <a:ln/>
        </p:spPr>
      </p:sp>
      <p:sp>
        <p:nvSpPr>
          <p:cNvPr id="28" name="Text 26"/>
          <p:cNvSpPr/>
          <p:nvPr/>
        </p:nvSpPr>
        <p:spPr>
          <a:xfrm>
            <a:off x="9796199" y="6060546"/>
            <a:ext cx="7726307" cy="578313"/>
          </a:xfrm>
          <a:prstGeom prst="rect">
            <a:avLst/>
          </a:prstGeom>
          <a:noFill/>
          <a:ln/>
        </p:spPr>
        <p:txBody>
          <a:bodyPr wrap="square" lIns="25400" tIns="25400" rIns="25400" bIns="25400" rtlCol="0" anchor="t">
            <a:normAutofit/>
          </a:bodyPr>
          <a:lstStyle/>
          <a:p>
            <a:pPr marL="0" indent="0" algn="l">
              <a:lnSpc>
                <a:spcPct val="126000"/>
              </a:lnSpc>
              <a:buNone/>
            </a:pPr>
            <a:r>
              <a:rPr lang="en-US" sz="2025" dirty="0">
                <a:solidFill>
                  <a:srgbClr val="4F4D48"/>
                </a:solidFill>
                <a:latin typeface="Georgia" pitchFamily="34" charset="0"/>
                <a:ea typeface="Georgia" pitchFamily="34" charset="-122"/>
                <a:cs typeface="Georgia" pitchFamily="34" charset="-120"/>
              </a:rPr>
              <a:t>Give recurring entities and terms one canonical meaning.</a:t>
            </a:r>
            <a:endParaRPr lang="en-US" sz="2025" dirty="0"/>
          </a:p>
        </p:txBody>
      </p:sp>
      <p:sp>
        <p:nvSpPr>
          <p:cNvPr id="29" name="Shape 27"/>
          <p:cNvSpPr/>
          <p:nvPr/>
        </p:nvSpPr>
        <p:spPr>
          <a:xfrm>
            <a:off x="990534" y="8308578"/>
            <a:ext cx="4239783" cy="10583"/>
          </a:xfrm>
          <a:prstGeom prst="rect">
            <a:avLst/>
          </a:prstGeom>
          <a:solidFill>
            <a:srgbClr val="E6E4DE"/>
          </a:solidFill>
          <a:ln/>
        </p:spPr>
      </p:sp>
      <p:sp>
        <p:nvSpPr>
          <p:cNvPr id="30" name="Text 28"/>
          <p:cNvSpPr/>
          <p:nvPr/>
        </p:nvSpPr>
        <p:spPr>
          <a:xfrm>
            <a:off x="990534" y="7106642"/>
            <a:ext cx="4062176" cy="992386"/>
          </a:xfrm>
          <a:prstGeom prst="rect">
            <a:avLst/>
          </a:prstGeom>
          <a:noFill/>
          <a:ln/>
        </p:spPr>
        <p:txBody>
          <a:bodyPr wrap="none" lIns="25400" tIns="25400" rIns="25400" bIns="25400" rtlCol="0" anchor="t">
            <a:normAutofit/>
          </a:bodyPr>
          <a:lstStyle/>
          <a:p>
            <a:pPr marL="0" indent="0" algn="l">
              <a:buNone/>
            </a:pPr>
            <a:r>
              <a:rPr lang="en-US" sz="2250" dirty="0">
                <a:solidFill>
                  <a:srgbClr val="5C4FB3"/>
                </a:solidFill>
                <a:latin typeface="Georgia" pitchFamily="34" charset="0"/>
                <a:ea typeface="Georgia" pitchFamily="34" charset="-122"/>
                <a:cs typeface="Georgia" pitchFamily="34" charset="-120"/>
              </a:rPr>
              <a:t>3 </a:t>
            </a:r>
            <a:r>
              <a:rPr lang="en-US" sz="2250" dirty="0">
                <a:solidFill>
                  <a:srgbClr val="1F1E1C"/>
                </a:solidFill>
                <a:latin typeface="Georgia" pitchFamily="34" charset="0"/>
                <a:ea typeface="Georgia" pitchFamily="34" charset="-122"/>
                <a:cs typeface="Georgia" pitchFamily="34" charset="-120"/>
              </a:rPr>
              <a:t>Specific knowledge</a:t>
            </a:r>
            <a:endParaRPr lang="en-US" sz="2250" dirty="0"/>
          </a:p>
        </p:txBody>
      </p:sp>
      <p:sp>
        <p:nvSpPr>
          <p:cNvPr id="31" name="Shape 29"/>
          <p:cNvSpPr/>
          <p:nvPr/>
        </p:nvSpPr>
        <p:spPr>
          <a:xfrm>
            <a:off x="5230317" y="8308578"/>
            <a:ext cx="4565882" cy="10583"/>
          </a:xfrm>
          <a:prstGeom prst="rect">
            <a:avLst/>
          </a:prstGeom>
          <a:solidFill>
            <a:srgbClr val="E6E4DE"/>
          </a:solidFill>
          <a:ln/>
        </p:spPr>
      </p:sp>
      <p:sp>
        <p:nvSpPr>
          <p:cNvPr id="32" name="Text 30"/>
          <p:cNvSpPr/>
          <p:nvPr/>
        </p:nvSpPr>
        <p:spPr>
          <a:xfrm>
            <a:off x="5230317" y="7106642"/>
            <a:ext cx="4398058" cy="992386"/>
          </a:xfrm>
          <a:prstGeom prst="rect">
            <a:avLst/>
          </a:prstGeom>
          <a:noFill/>
          <a:ln/>
        </p:spPr>
        <p:txBody>
          <a:bodyPr wrap="square" lIns="25400" tIns="25400" rIns="25400" bIns="25400" rtlCol="0" anchor="t">
            <a:normAutofit/>
          </a:bodyPr>
          <a:lstStyle/>
          <a:p>
            <a:pPr marL="0" indent="0" algn="l">
              <a:lnSpc>
                <a:spcPct val="121655"/>
              </a:lnSpc>
              <a:buNone/>
            </a:pPr>
            <a:r>
              <a:rPr lang="en-US" sz="2100" dirty="0">
                <a:solidFill>
                  <a:srgbClr val="3D3B37"/>
                </a:solidFill>
                <a:latin typeface="Georgia" pitchFamily="34" charset="0"/>
                <a:ea typeface="Georgia" pitchFamily="34" charset="-122"/>
                <a:cs typeface="Georgia" pitchFamily="34" charset="-120"/>
              </a:rPr>
              <a:t>Rule, procedure, case, example, warning</a:t>
            </a:r>
            <a:endParaRPr lang="en-US" sz="2100" dirty="0"/>
          </a:p>
        </p:txBody>
      </p:sp>
      <p:sp>
        <p:nvSpPr>
          <p:cNvPr id="33" name="Shape 31"/>
          <p:cNvSpPr/>
          <p:nvPr/>
        </p:nvSpPr>
        <p:spPr>
          <a:xfrm>
            <a:off x="9796199" y="8308578"/>
            <a:ext cx="7501269" cy="10583"/>
          </a:xfrm>
          <a:prstGeom prst="rect">
            <a:avLst/>
          </a:prstGeom>
          <a:solidFill>
            <a:srgbClr val="E6E4DE"/>
          </a:solidFill>
          <a:ln/>
        </p:spPr>
      </p:sp>
      <p:sp>
        <p:nvSpPr>
          <p:cNvPr id="34" name="Text 32"/>
          <p:cNvSpPr/>
          <p:nvPr/>
        </p:nvSpPr>
        <p:spPr>
          <a:xfrm>
            <a:off x="9796199" y="7106642"/>
            <a:ext cx="7726307" cy="992386"/>
          </a:xfrm>
          <a:prstGeom prst="rect">
            <a:avLst/>
          </a:prstGeom>
          <a:noFill/>
          <a:ln/>
        </p:spPr>
        <p:txBody>
          <a:bodyPr wrap="square" lIns="25400" tIns="25400" rIns="25400" bIns="25400" rtlCol="0" anchor="t">
            <a:normAutofit/>
          </a:bodyPr>
          <a:lstStyle/>
          <a:p>
            <a:pPr marL="0" indent="0" algn="l">
              <a:lnSpc>
                <a:spcPct val="126000"/>
              </a:lnSpc>
              <a:buNone/>
            </a:pPr>
            <a:r>
              <a:rPr lang="en-US" sz="2025" dirty="0">
                <a:solidFill>
                  <a:srgbClr val="4F4D48"/>
                </a:solidFill>
                <a:latin typeface="Georgia" pitchFamily="34" charset="0"/>
                <a:ea typeface="Georgia" pitchFamily="34" charset="-122"/>
                <a:cs typeface="Georgia" pitchFamily="34" charset="-120"/>
              </a:rPr>
              <a:t>Record bounded, cited claims and illustrations connected to provisions and anchors.</a:t>
            </a:r>
            <a:endParaRPr lang="en-US" sz="2025" dirty="0"/>
          </a:p>
        </p:txBody>
      </p:sp>
      <p:sp>
        <p:nvSpPr>
          <p:cNvPr id="35" name="Shape 33"/>
          <p:cNvSpPr/>
          <p:nvPr/>
        </p:nvSpPr>
        <p:spPr>
          <a:xfrm>
            <a:off x="990534" y="9737825"/>
            <a:ext cx="4239783" cy="10583"/>
          </a:xfrm>
          <a:prstGeom prst="rect">
            <a:avLst/>
          </a:prstGeom>
          <a:solidFill>
            <a:srgbClr val="E6E4DE"/>
          </a:solidFill>
          <a:ln/>
        </p:spPr>
      </p:sp>
      <p:sp>
        <p:nvSpPr>
          <p:cNvPr id="36" name="Text 34"/>
          <p:cNvSpPr/>
          <p:nvPr/>
        </p:nvSpPr>
        <p:spPr>
          <a:xfrm>
            <a:off x="990534" y="8566812"/>
            <a:ext cx="4062176" cy="961463"/>
          </a:xfrm>
          <a:prstGeom prst="rect">
            <a:avLst/>
          </a:prstGeom>
          <a:noFill/>
          <a:ln/>
        </p:spPr>
        <p:txBody>
          <a:bodyPr wrap="none" lIns="25400" tIns="25400" rIns="25400" bIns="25400" rtlCol="0" anchor="t">
            <a:normAutofit/>
          </a:bodyPr>
          <a:lstStyle/>
          <a:p>
            <a:pPr marL="0" indent="0" algn="l">
              <a:buNone/>
            </a:pPr>
            <a:r>
              <a:rPr lang="en-US" sz="2250" dirty="0">
                <a:solidFill>
                  <a:srgbClr val="5C4FB3"/>
                </a:solidFill>
                <a:latin typeface="Georgia" pitchFamily="34" charset="0"/>
                <a:ea typeface="Georgia" pitchFamily="34" charset="-122"/>
                <a:cs typeface="Georgia" pitchFamily="34" charset="-120"/>
              </a:rPr>
              <a:t>4 </a:t>
            </a:r>
            <a:r>
              <a:rPr lang="en-US" sz="2250" dirty="0">
                <a:solidFill>
                  <a:srgbClr val="1F1E1C"/>
                </a:solidFill>
                <a:latin typeface="Georgia" pitchFamily="34" charset="0"/>
                <a:ea typeface="Georgia" pitchFamily="34" charset="-122"/>
                <a:cs typeface="Georgia" pitchFamily="34" charset="-120"/>
              </a:rPr>
              <a:t>Combined knowledge</a:t>
            </a:r>
            <a:endParaRPr lang="en-US" sz="2250" dirty="0"/>
          </a:p>
        </p:txBody>
      </p:sp>
      <p:sp>
        <p:nvSpPr>
          <p:cNvPr id="37" name="Shape 35"/>
          <p:cNvSpPr/>
          <p:nvPr/>
        </p:nvSpPr>
        <p:spPr>
          <a:xfrm>
            <a:off x="5230317" y="9737825"/>
            <a:ext cx="4565882" cy="10583"/>
          </a:xfrm>
          <a:prstGeom prst="rect">
            <a:avLst/>
          </a:prstGeom>
          <a:solidFill>
            <a:srgbClr val="E6E4DE"/>
          </a:solidFill>
          <a:ln/>
        </p:spPr>
      </p:sp>
      <p:sp>
        <p:nvSpPr>
          <p:cNvPr id="38" name="Text 36"/>
          <p:cNvSpPr/>
          <p:nvPr/>
        </p:nvSpPr>
        <p:spPr>
          <a:xfrm>
            <a:off x="5230317" y="8566812"/>
            <a:ext cx="4398058" cy="961463"/>
          </a:xfrm>
          <a:prstGeom prst="rect">
            <a:avLst/>
          </a:prstGeom>
          <a:noFill/>
          <a:ln/>
        </p:spPr>
        <p:txBody>
          <a:bodyPr wrap="square" lIns="25400" tIns="25400" rIns="25400" bIns="25400" rtlCol="0" anchor="t">
            <a:normAutofit/>
          </a:bodyPr>
          <a:lstStyle/>
          <a:p>
            <a:pPr marL="0" indent="0" algn="l">
              <a:lnSpc>
                <a:spcPct val="121655"/>
              </a:lnSpc>
              <a:buNone/>
            </a:pPr>
            <a:r>
              <a:rPr lang="en-US" sz="2100" dirty="0">
                <a:solidFill>
                  <a:srgbClr val="3D3B37"/>
                </a:solidFill>
                <a:latin typeface="Georgia" pitchFamily="34" charset="0"/>
                <a:ea typeface="Georgia" pitchFamily="34" charset="-122"/>
                <a:cs typeface="Georgia" pitchFamily="34" charset="-120"/>
              </a:rPr>
              <a:t>Budget model, synthesis</a:t>
            </a:r>
            <a:endParaRPr lang="en-US" sz="2100" dirty="0"/>
          </a:p>
        </p:txBody>
      </p:sp>
      <p:sp>
        <p:nvSpPr>
          <p:cNvPr id="39" name="Shape 37"/>
          <p:cNvSpPr/>
          <p:nvPr/>
        </p:nvSpPr>
        <p:spPr>
          <a:xfrm>
            <a:off x="9796199" y="9737825"/>
            <a:ext cx="7501269" cy="10583"/>
          </a:xfrm>
          <a:prstGeom prst="rect">
            <a:avLst/>
          </a:prstGeom>
          <a:solidFill>
            <a:srgbClr val="E6E4DE"/>
          </a:solidFill>
          <a:ln/>
        </p:spPr>
      </p:sp>
      <p:sp>
        <p:nvSpPr>
          <p:cNvPr id="40" name="Text 38"/>
          <p:cNvSpPr/>
          <p:nvPr/>
        </p:nvSpPr>
        <p:spPr>
          <a:xfrm>
            <a:off x="9796199" y="8566812"/>
            <a:ext cx="7726307" cy="961463"/>
          </a:xfrm>
          <a:prstGeom prst="rect">
            <a:avLst/>
          </a:prstGeom>
          <a:noFill/>
          <a:ln/>
        </p:spPr>
        <p:txBody>
          <a:bodyPr wrap="square" lIns="25400" tIns="25400" rIns="25400" bIns="25400" rtlCol="0" anchor="t">
            <a:normAutofit/>
          </a:bodyPr>
          <a:lstStyle/>
          <a:p>
            <a:pPr marL="0" indent="0" algn="l">
              <a:lnSpc>
                <a:spcPct val="126000"/>
              </a:lnSpc>
              <a:buNone/>
            </a:pPr>
            <a:r>
              <a:rPr lang="en-US" sz="2025" dirty="0">
                <a:solidFill>
                  <a:srgbClr val="4F4D48"/>
                </a:solidFill>
                <a:latin typeface="Georgia" pitchFamily="34" charset="0"/>
                <a:ea typeface="Georgia" pitchFamily="34" charset="-122"/>
                <a:cs typeface="Georgia" pitchFamily="34" charset="-120"/>
              </a:rPr>
              <a:t>Bring several provisions together to answer a practical question.</a:t>
            </a:r>
            <a:endParaRPr lang="en-US" sz="20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990534" y="838068"/>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838068"/>
            <a:ext cx="338303"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12</a:t>
            </a:r>
            <a:endParaRPr lang="en-US" sz="1950" dirty="0"/>
          </a:p>
        </p:txBody>
      </p:sp>
      <p:sp>
        <p:nvSpPr>
          <p:cNvPr id="4" name="Text 2"/>
          <p:cNvSpPr/>
          <p:nvPr/>
        </p:nvSpPr>
        <p:spPr>
          <a:xfrm>
            <a:off x="990534" y="1519535"/>
            <a:ext cx="17937626" cy="821267"/>
          </a:xfrm>
          <a:prstGeom prst="rect">
            <a:avLst/>
          </a:prstGeom>
          <a:noFill/>
          <a:ln/>
        </p:spPr>
        <p:txBody>
          <a:bodyPr wrap="square" lIns="25400" tIns="25400" rIns="25400" bIns="25400" rtlCol="0" anchor="t">
            <a:normAutofit/>
          </a:bodyPr>
          <a:lstStyle/>
          <a:p>
            <a:pPr marL="0" indent="0" algn="l">
              <a:buNone/>
            </a:pPr>
            <a:r>
              <a:rPr lang="en-US" sz="4500" dirty="0">
                <a:solidFill>
                  <a:srgbClr val="1F1E1C"/>
                </a:solidFill>
                <a:latin typeface="Georgia" pitchFamily="34" charset="0"/>
                <a:ea typeface="Georgia" pitchFamily="34" charset="-122"/>
                <a:cs typeface="Georgia" pitchFamily="34" charset="-120"/>
              </a:rPr>
              <a:t>Wiki structure: layers and directories</a:t>
            </a:r>
            <a:endParaRPr lang="en-US" sz="4500" dirty="0"/>
          </a:p>
        </p:txBody>
      </p:sp>
      <p:sp>
        <p:nvSpPr>
          <p:cNvPr id="5" name="Shape 3"/>
          <p:cNvSpPr/>
          <p:nvPr/>
        </p:nvSpPr>
        <p:spPr>
          <a:xfrm>
            <a:off x="990534" y="3137628"/>
            <a:ext cx="5544344" cy="10583"/>
          </a:xfrm>
          <a:prstGeom prst="rect">
            <a:avLst/>
          </a:prstGeom>
          <a:solidFill>
            <a:srgbClr val="CFCDC6"/>
          </a:solidFill>
          <a:ln/>
        </p:spPr>
      </p:sp>
      <p:sp>
        <p:nvSpPr>
          <p:cNvPr id="6" name="Text 4"/>
          <p:cNvSpPr/>
          <p:nvPr/>
        </p:nvSpPr>
        <p:spPr>
          <a:xfrm>
            <a:off x="990534" y="2645503"/>
            <a:ext cx="5710674" cy="339725"/>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LAYER</a:t>
            </a:r>
            <a:endParaRPr lang="en-US" sz="1800" dirty="0"/>
          </a:p>
        </p:txBody>
      </p:sp>
      <p:sp>
        <p:nvSpPr>
          <p:cNvPr id="7" name="Shape 5"/>
          <p:cNvSpPr/>
          <p:nvPr/>
        </p:nvSpPr>
        <p:spPr>
          <a:xfrm>
            <a:off x="6534878" y="3137628"/>
            <a:ext cx="10762590" cy="10583"/>
          </a:xfrm>
          <a:prstGeom prst="rect">
            <a:avLst/>
          </a:prstGeom>
          <a:solidFill>
            <a:srgbClr val="CFCDC6"/>
          </a:solidFill>
          <a:ln/>
        </p:spPr>
      </p:sp>
      <p:sp>
        <p:nvSpPr>
          <p:cNvPr id="8" name="Text 6"/>
          <p:cNvSpPr/>
          <p:nvPr/>
        </p:nvSpPr>
        <p:spPr>
          <a:xfrm>
            <a:off x="6534878" y="2645503"/>
            <a:ext cx="11085467" cy="339725"/>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DIRECTORIES AND EXAMPLES</a:t>
            </a:r>
            <a:endParaRPr lang="en-US" sz="1800" dirty="0"/>
          </a:p>
        </p:txBody>
      </p:sp>
      <p:sp>
        <p:nvSpPr>
          <p:cNvPr id="9" name="Shape 7"/>
          <p:cNvSpPr/>
          <p:nvPr/>
        </p:nvSpPr>
        <p:spPr>
          <a:xfrm>
            <a:off x="990534" y="4204560"/>
            <a:ext cx="5544344" cy="10583"/>
          </a:xfrm>
          <a:prstGeom prst="rect">
            <a:avLst/>
          </a:prstGeom>
          <a:solidFill>
            <a:srgbClr val="E6E4DE"/>
          </a:solidFill>
          <a:ln/>
        </p:spPr>
      </p:sp>
      <p:sp>
        <p:nvSpPr>
          <p:cNvPr id="10" name="Text 8"/>
          <p:cNvSpPr/>
          <p:nvPr/>
        </p:nvSpPr>
        <p:spPr>
          <a:xfrm>
            <a:off x="990534" y="3414911"/>
            <a:ext cx="5329674" cy="561049"/>
          </a:xfrm>
          <a:prstGeom prst="rect">
            <a:avLst/>
          </a:prstGeom>
          <a:noFill/>
          <a:ln/>
        </p:spPr>
        <p:txBody>
          <a:bodyPr wrap="square" lIns="25400" tIns="25400" rIns="25400" bIns="25400" rtlCol="0" anchor="ctr">
            <a:normAutofit/>
          </a:bodyPr>
          <a:lstStyle/>
          <a:p>
            <a:pPr marL="0" indent="0" algn="l">
              <a:buNone/>
            </a:pPr>
            <a:r>
              <a:rPr lang="en-US" sz="2400" dirty="0">
                <a:solidFill>
                  <a:srgbClr val="6B6964"/>
                </a:solidFill>
                <a:latin typeface="Georgia" pitchFamily="34" charset="0"/>
                <a:ea typeface="Georgia" pitchFamily="34" charset="-122"/>
                <a:cs typeface="Georgia" pitchFamily="34" charset="-120"/>
              </a:rPr>
              <a:t>0 </a:t>
            </a:r>
            <a:r>
              <a:rPr lang="en-US" sz="2400" dirty="0">
                <a:solidFill>
                  <a:srgbClr val="1F1E1C"/>
                </a:solidFill>
                <a:latin typeface="Georgia" pitchFamily="34" charset="0"/>
                <a:ea typeface="Georgia" pitchFamily="34" charset="-122"/>
                <a:cs typeface="Georgia" pitchFamily="34" charset="-120"/>
              </a:rPr>
              <a:t>Governance</a:t>
            </a:r>
            <a:endParaRPr lang="en-US" sz="2400" dirty="0"/>
          </a:p>
        </p:txBody>
      </p:sp>
      <p:sp>
        <p:nvSpPr>
          <p:cNvPr id="11" name="Shape 9"/>
          <p:cNvSpPr/>
          <p:nvPr/>
        </p:nvSpPr>
        <p:spPr>
          <a:xfrm>
            <a:off x="6534878" y="4204560"/>
            <a:ext cx="10762590" cy="10583"/>
          </a:xfrm>
          <a:prstGeom prst="rect">
            <a:avLst/>
          </a:prstGeom>
          <a:solidFill>
            <a:srgbClr val="E6E4DE"/>
          </a:solidFill>
          <a:ln/>
        </p:spPr>
      </p:sp>
      <p:sp>
        <p:nvSpPr>
          <p:cNvPr id="12" name="Text 10"/>
          <p:cNvSpPr/>
          <p:nvPr/>
        </p:nvSpPr>
        <p:spPr>
          <a:xfrm>
            <a:off x="6534878" y="3414911"/>
            <a:ext cx="11085467" cy="561049"/>
          </a:xfrm>
          <a:prstGeom prst="rect">
            <a:avLst/>
          </a:prstGeom>
          <a:noFill/>
          <a:ln/>
        </p:spPr>
        <p:txBody>
          <a:bodyPr wrap="square" lIns="25400" tIns="25400" rIns="25400" bIns="25400" rtlCol="0" anchor="ctr">
            <a:normAutofit/>
          </a:bodyPr>
          <a:lstStyle/>
          <a:p>
            <a:pPr marL="0" indent="0" algn="l">
              <a:buNone/>
            </a:pPr>
            <a:r>
              <a:rPr lang="en-US" sz="2025" dirty="0">
                <a:solidFill>
                  <a:srgbClr val="3D3B37"/>
                </a:solidFill>
                <a:latin typeface="Courier New" pitchFamily="34" charset="0"/>
                <a:ea typeface="Courier New" pitchFamily="34" charset="-122"/>
                <a:cs typeface="Courier New" pitchFamily="34" charset="-120"/>
              </a:rPr>
              <a:t>WIKI_SCHEMA.md, index.md, log.md, dashboard</a:t>
            </a:r>
            <a:endParaRPr lang="en-US" sz="2025" dirty="0"/>
          </a:p>
        </p:txBody>
      </p:sp>
      <p:sp>
        <p:nvSpPr>
          <p:cNvPr id="13" name="Shape 11"/>
          <p:cNvSpPr/>
          <p:nvPr/>
        </p:nvSpPr>
        <p:spPr>
          <a:xfrm>
            <a:off x="990534" y="5271492"/>
            <a:ext cx="5544344" cy="10583"/>
          </a:xfrm>
          <a:prstGeom prst="rect">
            <a:avLst/>
          </a:prstGeom>
          <a:solidFill>
            <a:srgbClr val="E6E4DE"/>
          </a:solidFill>
          <a:ln/>
        </p:spPr>
      </p:sp>
      <p:sp>
        <p:nvSpPr>
          <p:cNvPr id="14" name="Text 12"/>
          <p:cNvSpPr/>
          <p:nvPr/>
        </p:nvSpPr>
        <p:spPr>
          <a:xfrm>
            <a:off x="990534" y="4481843"/>
            <a:ext cx="5329674" cy="561049"/>
          </a:xfrm>
          <a:prstGeom prst="rect">
            <a:avLst/>
          </a:prstGeom>
          <a:noFill/>
          <a:ln/>
        </p:spPr>
        <p:txBody>
          <a:bodyPr wrap="square" lIns="25400" tIns="25400" rIns="25400" bIns="25400" rtlCol="0" anchor="ctr">
            <a:normAutofit/>
          </a:bodyPr>
          <a:lstStyle/>
          <a:p>
            <a:pPr marL="0" indent="0" algn="l">
              <a:buNone/>
            </a:pPr>
            <a:r>
              <a:rPr lang="en-US" sz="2400" dirty="0">
                <a:solidFill>
                  <a:srgbClr val="6B6964"/>
                </a:solidFill>
                <a:latin typeface="Georgia" pitchFamily="34" charset="0"/>
                <a:ea typeface="Georgia" pitchFamily="34" charset="-122"/>
                <a:cs typeface="Georgia" pitchFamily="34" charset="-120"/>
              </a:rPr>
              <a:t>1 </a:t>
            </a:r>
            <a:r>
              <a:rPr lang="en-US" sz="2400" dirty="0">
                <a:solidFill>
                  <a:srgbClr val="1F1E1C"/>
                </a:solidFill>
                <a:latin typeface="Georgia" pitchFamily="34" charset="0"/>
                <a:ea typeface="Georgia" pitchFamily="34" charset="-122"/>
                <a:cs typeface="Georgia" pitchFamily="34" charset="-120"/>
              </a:rPr>
              <a:t>Source / spine</a:t>
            </a:r>
            <a:endParaRPr lang="en-US" sz="2400" dirty="0"/>
          </a:p>
        </p:txBody>
      </p:sp>
      <p:sp>
        <p:nvSpPr>
          <p:cNvPr id="15" name="Shape 13"/>
          <p:cNvSpPr/>
          <p:nvPr/>
        </p:nvSpPr>
        <p:spPr>
          <a:xfrm>
            <a:off x="6534878" y="5271492"/>
            <a:ext cx="10762590" cy="10583"/>
          </a:xfrm>
          <a:prstGeom prst="rect">
            <a:avLst/>
          </a:prstGeom>
          <a:solidFill>
            <a:srgbClr val="E6E4DE"/>
          </a:solidFill>
          <a:ln/>
        </p:spPr>
      </p:sp>
      <p:sp>
        <p:nvSpPr>
          <p:cNvPr id="16" name="Text 14"/>
          <p:cNvSpPr/>
          <p:nvPr/>
        </p:nvSpPr>
        <p:spPr>
          <a:xfrm>
            <a:off x="6534878" y="4481843"/>
            <a:ext cx="11085467" cy="561049"/>
          </a:xfrm>
          <a:prstGeom prst="rect">
            <a:avLst/>
          </a:prstGeom>
          <a:noFill/>
          <a:ln/>
        </p:spPr>
        <p:txBody>
          <a:bodyPr wrap="square" lIns="25400" tIns="25400" rIns="25400" bIns="25400" rtlCol="0" anchor="ctr">
            <a:normAutofit/>
          </a:bodyPr>
          <a:lstStyle/>
          <a:p>
            <a:pPr marL="0" indent="0" algn="l">
              <a:buNone/>
            </a:pPr>
            <a:r>
              <a:rPr lang="en-US" sz="2025" dirty="0">
                <a:solidFill>
                  <a:srgbClr val="3D3B37"/>
                </a:solidFill>
                <a:latin typeface="Courier New" pitchFamily="34" charset="0"/>
                <a:ea typeface="Courier New" pitchFamily="34" charset="-122"/>
                <a:cs typeface="Courier New" pitchFamily="34" charset="-120"/>
              </a:rPr>
              <a:t>sources/, structure/ (work, chapter, article, section)</a:t>
            </a:r>
            <a:endParaRPr lang="en-US" sz="2025" dirty="0"/>
          </a:p>
        </p:txBody>
      </p:sp>
      <p:sp>
        <p:nvSpPr>
          <p:cNvPr id="17" name="Shape 15"/>
          <p:cNvSpPr/>
          <p:nvPr/>
        </p:nvSpPr>
        <p:spPr>
          <a:xfrm>
            <a:off x="990534" y="6338425"/>
            <a:ext cx="5544344" cy="10583"/>
          </a:xfrm>
          <a:prstGeom prst="rect">
            <a:avLst/>
          </a:prstGeom>
          <a:solidFill>
            <a:srgbClr val="E6E4DE"/>
          </a:solidFill>
          <a:ln/>
        </p:spPr>
      </p:sp>
      <p:sp>
        <p:nvSpPr>
          <p:cNvPr id="18" name="Text 16"/>
          <p:cNvSpPr/>
          <p:nvPr/>
        </p:nvSpPr>
        <p:spPr>
          <a:xfrm>
            <a:off x="990534" y="5548776"/>
            <a:ext cx="5329674" cy="561049"/>
          </a:xfrm>
          <a:prstGeom prst="rect">
            <a:avLst/>
          </a:prstGeom>
          <a:noFill/>
          <a:ln/>
        </p:spPr>
        <p:txBody>
          <a:bodyPr wrap="square" lIns="25400" tIns="25400" rIns="25400" bIns="25400" rtlCol="0" anchor="ctr">
            <a:normAutofit/>
          </a:bodyPr>
          <a:lstStyle/>
          <a:p>
            <a:pPr marL="0" indent="0" algn="l">
              <a:buNone/>
            </a:pPr>
            <a:r>
              <a:rPr lang="en-US" sz="2400" dirty="0">
                <a:solidFill>
                  <a:srgbClr val="6B6964"/>
                </a:solidFill>
                <a:latin typeface="Georgia" pitchFamily="34" charset="0"/>
                <a:ea typeface="Georgia" pitchFamily="34" charset="-122"/>
                <a:cs typeface="Georgia" pitchFamily="34" charset="-120"/>
              </a:rPr>
              <a:t>2 </a:t>
            </a:r>
            <a:r>
              <a:rPr lang="en-US" sz="2400" dirty="0">
                <a:solidFill>
                  <a:srgbClr val="1F1E1C"/>
                </a:solidFill>
                <a:latin typeface="Georgia" pitchFamily="34" charset="0"/>
                <a:ea typeface="Georgia" pitchFamily="34" charset="-122"/>
                <a:cs typeface="Georgia" pitchFamily="34" charset="-120"/>
              </a:rPr>
              <a:t>Canonical anchors</a:t>
            </a:r>
            <a:endParaRPr lang="en-US" sz="2400" dirty="0"/>
          </a:p>
        </p:txBody>
      </p:sp>
      <p:sp>
        <p:nvSpPr>
          <p:cNvPr id="19" name="Shape 17"/>
          <p:cNvSpPr/>
          <p:nvPr/>
        </p:nvSpPr>
        <p:spPr>
          <a:xfrm>
            <a:off x="6534878" y="6338425"/>
            <a:ext cx="10762590" cy="10583"/>
          </a:xfrm>
          <a:prstGeom prst="rect">
            <a:avLst/>
          </a:prstGeom>
          <a:solidFill>
            <a:srgbClr val="E6E4DE"/>
          </a:solidFill>
          <a:ln/>
        </p:spPr>
      </p:sp>
      <p:sp>
        <p:nvSpPr>
          <p:cNvPr id="20" name="Text 18"/>
          <p:cNvSpPr/>
          <p:nvPr/>
        </p:nvSpPr>
        <p:spPr>
          <a:xfrm>
            <a:off x="6534878" y="5548776"/>
            <a:ext cx="11085467" cy="561049"/>
          </a:xfrm>
          <a:prstGeom prst="rect">
            <a:avLst/>
          </a:prstGeom>
          <a:noFill/>
          <a:ln/>
        </p:spPr>
        <p:txBody>
          <a:bodyPr wrap="square" lIns="25400" tIns="25400" rIns="25400" bIns="25400" rtlCol="0" anchor="ctr">
            <a:normAutofit/>
          </a:bodyPr>
          <a:lstStyle/>
          <a:p>
            <a:pPr marL="0" indent="0" algn="l">
              <a:buNone/>
            </a:pPr>
            <a:r>
              <a:rPr lang="en-US" sz="2025" dirty="0">
                <a:solidFill>
                  <a:srgbClr val="3D3B37"/>
                </a:solidFill>
                <a:latin typeface="Courier New" pitchFamily="34" charset="0"/>
                <a:ea typeface="Courier New" pitchFamily="34" charset="-122"/>
                <a:cs typeface="Courier New" pitchFamily="34" charset="-120"/>
              </a:rPr>
              <a:t>actors/, concepts/, definitions/</a:t>
            </a:r>
            <a:endParaRPr lang="en-US" sz="2025" dirty="0"/>
          </a:p>
        </p:txBody>
      </p:sp>
      <p:sp>
        <p:nvSpPr>
          <p:cNvPr id="21" name="Shape 19"/>
          <p:cNvSpPr/>
          <p:nvPr/>
        </p:nvSpPr>
        <p:spPr>
          <a:xfrm>
            <a:off x="990534" y="7405357"/>
            <a:ext cx="5544344" cy="10583"/>
          </a:xfrm>
          <a:prstGeom prst="rect">
            <a:avLst/>
          </a:prstGeom>
          <a:solidFill>
            <a:srgbClr val="E6E4DE"/>
          </a:solidFill>
          <a:ln/>
        </p:spPr>
      </p:sp>
      <p:sp>
        <p:nvSpPr>
          <p:cNvPr id="22" name="Text 20"/>
          <p:cNvSpPr/>
          <p:nvPr/>
        </p:nvSpPr>
        <p:spPr>
          <a:xfrm>
            <a:off x="990534" y="6615708"/>
            <a:ext cx="5329674" cy="561049"/>
          </a:xfrm>
          <a:prstGeom prst="rect">
            <a:avLst/>
          </a:prstGeom>
          <a:noFill/>
          <a:ln/>
        </p:spPr>
        <p:txBody>
          <a:bodyPr wrap="square" lIns="25400" tIns="25400" rIns="25400" bIns="25400" rtlCol="0" anchor="ctr">
            <a:normAutofit/>
          </a:bodyPr>
          <a:lstStyle/>
          <a:p>
            <a:pPr marL="0" indent="0" algn="l">
              <a:buNone/>
            </a:pPr>
            <a:r>
              <a:rPr lang="en-US" sz="2400" dirty="0">
                <a:solidFill>
                  <a:srgbClr val="6B6964"/>
                </a:solidFill>
                <a:latin typeface="Georgia" pitchFamily="34" charset="0"/>
                <a:ea typeface="Georgia" pitchFamily="34" charset="-122"/>
                <a:cs typeface="Georgia" pitchFamily="34" charset="-120"/>
              </a:rPr>
              <a:t>3 </a:t>
            </a:r>
            <a:r>
              <a:rPr lang="en-US" sz="2400" dirty="0">
                <a:solidFill>
                  <a:srgbClr val="1F1E1C"/>
                </a:solidFill>
                <a:latin typeface="Georgia" pitchFamily="34" charset="0"/>
                <a:ea typeface="Georgia" pitchFamily="34" charset="-122"/>
                <a:cs typeface="Georgia" pitchFamily="34" charset="-120"/>
              </a:rPr>
              <a:t>Atomic leaves</a:t>
            </a:r>
            <a:endParaRPr lang="en-US" sz="2400" dirty="0"/>
          </a:p>
        </p:txBody>
      </p:sp>
      <p:sp>
        <p:nvSpPr>
          <p:cNvPr id="23" name="Shape 21"/>
          <p:cNvSpPr/>
          <p:nvPr/>
        </p:nvSpPr>
        <p:spPr>
          <a:xfrm>
            <a:off x="6534878" y="7405357"/>
            <a:ext cx="10762590" cy="10583"/>
          </a:xfrm>
          <a:prstGeom prst="rect">
            <a:avLst/>
          </a:prstGeom>
          <a:solidFill>
            <a:srgbClr val="E6E4DE"/>
          </a:solidFill>
          <a:ln/>
        </p:spPr>
      </p:sp>
      <p:sp>
        <p:nvSpPr>
          <p:cNvPr id="24" name="Text 22"/>
          <p:cNvSpPr/>
          <p:nvPr/>
        </p:nvSpPr>
        <p:spPr>
          <a:xfrm>
            <a:off x="6534878" y="6615708"/>
            <a:ext cx="11085467" cy="561049"/>
          </a:xfrm>
          <a:prstGeom prst="rect">
            <a:avLst/>
          </a:prstGeom>
          <a:noFill/>
          <a:ln/>
        </p:spPr>
        <p:txBody>
          <a:bodyPr wrap="square" lIns="25400" tIns="25400" rIns="25400" bIns="25400" rtlCol="0" anchor="ctr">
            <a:normAutofit/>
          </a:bodyPr>
          <a:lstStyle/>
          <a:p>
            <a:pPr marL="0" indent="0" algn="l">
              <a:buNone/>
            </a:pPr>
            <a:r>
              <a:rPr lang="en-US" sz="2025" dirty="0">
                <a:solidFill>
                  <a:srgbClr val="3D3B37"/>
                </a:solidFill>
                <a:latin typeface="Courier New" pitchFamily="34" charset="0"/>
                <a:ea typeface="Courier New" pitchFamily="34" charset="-122"/>
                <a:cs typeface="Courier New" pitchFamily="34" charset="-120"/>
              </a:rPr>
              <a:t>rules/, procedures/, cases/, examples/, warnings/</a:t>
            </a:r>
            <a:endParaRPr lang="en-US" sz="2025" dirty="0"/>
          </a:p>
        </p:txBody>
      </p:sp>
      <p:sp>
        <p:nvSpPr>
          <p:cNvPr id="25" name="Shape 23"/>
          <p:cNvSpPr/>
          <p:nvPr/>
        </p:nvSpPr>
        <p:spPr>
          <a:xfrm>
            <a:off x="990534" y="8472289"/>
            <a:ext cx="5544344" cy="10583"/>
          </a:xfrm>
          <a:prstGeom prst="rect">
            <a:avLst/>
          </a:prstGeom>
          <a:solidFill>
            <a:srgbClr val="E6E4DE"/>
          </a:solidFill>
          <a:ln/>
        </p:spPr>
      </p:sp>
      <p:sp>
        <p:nvSpPr>
          <p:cNvPr id="26" name="Text 24"/>
          <p:cNvSpPr/>
          <p:nvPr/>
        </p:nvSpPr>
        <p:spPr>
          <a:xfrm>
            <a:off x="990534" y="7682640"/>
            <a:ext cx="5329674" cy="561049"/>
          </a:xfrm>
          <a:prstGeom prst="rect">
            <a:avLst/>
          </a:prstGeom>
          <a:noFill/>
          <a:ln/>
        </p:spPr>
        <p:txBody>
          <a:bodyPr wrap="square" lIns="25400" tIns="25400" rIns="25400" bIns="25400" rtlCol="0" anchor="ctr">
            <a:normAutofit/>
          </a:bodyPr>
          <a:lstStyle/>
          <a:p>
            <a:pPr marL="0" indent="0" algn="l">
              <a:buNone/>
            </a:pPr>
            <a:r>
              <a:rPr lang="en-US" sz="2400" dirty="0">
                <a:solidFill>
                  <a:srgbClr val="6B6964"/>
                </a:solidFill>
                <a:latin typeface="Georgia" pitchFamily="34" charset="0"/>
                <a:ea typeface="Georgia" pitchFamily="34" charset="-122"/>
                <a:cs typeface="Georgia" pitchFamily="34" charset="-120"/>
              </a:rPr>
              <a:t>4 </a:t>
            </a:r>
            <a:r>
              <a:rPr lang="en-US" sz="2400" dirty="0">
                <a:solidFill>
                  <a:srgbClr val="1F1E1C"/>
                </a:solidFill>
                <a:latin typeface="Georgia" pitchFamily="34" charset="0"/>
                <a:ea typeface="Georgia" pitchFamily="34" charset="-122"/>
                <a:cs typeface="Georgia" pitchFamily="34" charset="-120"/>
              </a:rPr>
              <a:t>Cross article</a:t>
            </a:r>
            <a:endParaRPr lang="en-US" sz="2400" dirty="0"/>
          </a:p>
        </p:txBody>
      </p:sp>
      <p:sp>
        <p:nvSpPr>
          <p:cNvPr id="27" name="Shape 25"/>
          <p:cNvSpPr/>
          <p:nvPr/>
        </p:nvSpPr>
        <p:spPr>
          <a:xfrm>
            <a:off x="6534878" y="8472289"/>
            <a:ext cx="10762590" cy="10583"/>
          </a:xfrm>
          <a:prstGeom prst="rect">
            <a:avLst/>
          </a:prstGeom>
          <a:solidFill>
            <a:srgbClr val="E6E4DE"/>
          </a:solidFill>
          <a:ln/>
        </p:spPr>
      </p:sp>
      <p:sp>
        <p:nvSpPr>
          <p:cNvPr id="28" name="Text 26"/>
          <p:cNvSpPr/>
          <p:nvPr/>
        </p:nvSpPr>
        <p:spPr>
          <a:xfrm>
            <a:off x="6534878" y="7682640"/>
            <a:ext cx="11085467" cy="561049"/>
          </a:xfrm>
          <a:prstGeom prst="rect">
            <a:avLst/>
          </a:prstGeom>
          <a:noFill/>
          <a:ln/>
        </p:spPr>
        <p:txBody>
          <a:bodyPr wrap="square" lIns="25400" tIns="25400" rIns="25400" bIns="25400" rtlCol="0" anchor="ctr">
            <a:normAutofit/>
          </a:bodyPr>
          <a:lstStyle/>
          <a:p>
            <a:pPr marL="0" indent="0" algn="l">
              <a:buNone/>
            </a:pPr>
            <a:r>
              <a:rPr lang="en-US" sz="2025" dirty="0">
                <a:solidFill>
                  <a:srgbClr val="3D3B37"/>
                </a:solidFill>
                <a:latin typeface="Courier New" pitchFamily="34" charset="0"/>
                <a:ea typeface="Courier New" pitchFamily="34" charset="-122"/>
                <a:cs typeface="Courier New" pitchFamily="34" charset="-120"/>
              </a:rPr>
              <a:t>budget/, syntheses/</a:t>
            </a:r>
            <a:endParaRPr lang="en-US" sz="2025" dirty="0"/>
          </a:p>
        </p:txBody>
      </p:sp>
      <p:sp>
        <p:nvSpPr>
          <p:cNvPr id="29" name="Shape 27"/>
          <p:cNvSpPr/>
          <p:nvPr/>
        </p:nvSpPr>
        <p:spPr>
          <a:xfrm>
            <a:off x="990534" y="8830965"/>
            <a:ext cx="16306933" cy="10583"/>
          </a:xfrm>
          <a:prstGeom prst="rect">
            <a:avLst/>
          </a:prstGeom>
          <a:solidFill>
            <a:srgbClr val="D3D1CA"/>
          </a:solidFill>
          <a:ln/>
        </p:spPr>
      </p:sp>
      <p:sp>
        <p:nvSpPr>
          <p:cNvPr id="30" name="Text 28"/>
          <p:cNvSpPr/>
          <p:nvPr/>
        </p:nvSpPr>
        <p:spPr>
          <a:xfrm>
            <a:off x="990534" y="9089198"/>
            <a:ext cx="16796141" cy="397834"/>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Courier New" pitchFamily="34" charset="0"/>
                <a:ea typeface="Courier New" pitchFamily="34" charset="-122"/>
                <a:cs typeface="Courier New" pitchFamily="34" charset="-120"/>
              </a:rPr>
              <a:t>raw/ </a:t>
            </a:r>
            <a:r>
              <a:rPr lang="en-US" sz="2100" dirty="0">
                <a:solidFill>
                  <a:srgbClr val="6B6964"/>
                </a:solidFill>
                <a:latin typeface="Georgia" pitchFamily="34" charset="0"/>
                <a:ea typeface="Georgia" pitchFamily="34" charset="-122"/>
                <a:cs typeface="Georgia" pitchFamily="34" charset="-120"/>
              </a:rPr>
              <a:t>holds the intact PDF; </a:t>
            </a:r>
            <a:r>
              <a:rPr lang="en-US" sz="1950" dirty="0">
                <a:solidFill>
                  <a:srgbClr val="6B6964"/>
                </a:solidFill>
                <a:latin typeface="Courier New" pitchFamily="34" charset="0"/>
                <a:ea typeface="Courier New" pitchFamily="34" charset="-122"/>
                <a:cs typeface="Courier New" pitchFamily="34" charset="-120"/>
              </a:rPr>
              <a:t>ops/ </a:t>
            </a:r>
            <a:r>
              <a:rPr lang="en-US" sz="2100" dirty="0">
                <a:solidFill>
                  <a:srgbClr val="6B6964"/>
                </a:solidFill>
                <a:latin typeface="Georgia" pitchFamily="34" charset="0"/>
                <a:ea typeface="Georgia" pitchFamily="34" charset="-122"/>
                <a:cs typeface="Georgia" pitchFamily="34" charset="-120"/>
              </a:rPr>
              <a:t>holds passes, tickets and snapshots.</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990534" y="533301"/>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533301"/>
            <a:ext cx="338303"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15</a:t>
            </a:r>
            <a:endParaRPr lang="en-US" sz="1950" dirty="0"/>
          </a:p>
        </p:txBody>
      </p:sp>
      <p:sp>
        <p:nvSpPr>
          <p:cNvPr id="4" name="Text 2"/>
          <p:cNvSpPr/>
          <p:nvPr/>
        </p:nvSpPr>
        <p:spPr>
          <a:xfrm>
            <a:off x="990534" y="1100501"/>
            <a:ext cx="17937626" cy="715433"/>
          </a:xfrm>
          <a:prstGeom prst="rect">
            <a:avLst/>
          </a:prstGeom>
          <a:noFill/>
          <a:ln/>
        </p:spPr>
        <p:txBody>
          <a:bodyPr wrap="square" lIns="25400" tIns="25400" rIns="25400" bIns="25400" rtlCol="0" anchor="t">
            <a:normAutofit/>
          </a:bodyPr>
          <a:lstStyle/>
          <a:p>
            <a:pPr marL="0" indent="0" algn="l">
              <a:buNone/>
            </a:pPr>
            <a:r>
              <a:rPr lang="en-US" sz="3900" dirty="0">
                <a:solidFill>
                  <a:srgbClr val="1F1E1C"/>
                </a:solidFill>
                <a:latin typeface="Georgia" pitchFamily="34" charset="0"/>
                <a:ea typeface="Georgia" pitchFamily="34" charset="-122"/>
                <a:cs typeface="Georgia" pitchFamily="34" charset="-120"/>
              </a:rPr>
              <a:t>The first five wiki documents</a:t>
            </a:r>
            <a:endParaRPr lang="en-US" sz="3900" dirty="0"/>
          </a:p>
        </p:txBody>
      </p:sp>
      <p:sp>
        <p:nvSpPr>
          <p:cNvPr id="5" name="Text 3"/>
          <p:cNvSpPr/>
          <p:nvPr/>
        </p:nvSpPr>
        <p:spPr>
          <a:xfrm>
            <a:off x="990534" y="1834886"/>
            <a:ext cx="17937626" cy="429683"/>
          </a:xfrm>
          <a:prstGeom prst="rect">
            <a:avLst/>
          </a:prstGeom>
          <a:noFill/>
          <a:ln/>
        </p:spPr>
        <p:txBody>
          <a:bodyPr wrap="square" lIns="25400" tIns="25400" rIns="25400" bIns="25400" rtlCol="0" anchor="t">
            <a:normAutofit/>
          </a:bodyPr>
          <a:lstStyle/>
          <a:p>
            <a:pPr marL="0" indent="0" algn="l">
              <a:buNone/>
            </a:pPr>
            <a:r>
              <a:rPr lang="en-US" sz="2250" dirty="0">
                <a:solidFill>
                  <a:srgbClr val="6B6964"/>
                </a:solidFill>
                <a:latin typeface="Georgia" pitchFamily="34" charset="0"/>
                <a:ea typeface="Georgia" pitchFamily="34" charset="-122"/>
                <a:cs typeface="Georgia" pitchFamily="34" charset="-120"/>
              </a:rPr>
              <a:t>The ratified schema and the first layer 1 nodes present in the supplied vault</a:t>
            </a:r>
            <a:endParaRPr lang="en-US" sz="2250" dirty="0"/>
          </a:p>
        </p:txBody>
      </p:sp>
      <p:sp>
        <p:nvSpPr>
          <p:cNvPr id="6" name="Shape 4"/>
          <p:cNvSpPr/>
          <p:nvPr/>
        </p:nvSpPr>
        <p:spPr>
          <a:xfrm>
            <a:off x="990534" y="2908929"/>
            <a:ext cx="652198" cy="10583"/>
          </a:xfrm>
          <a:prstGeom prst="rect">
            <a:avLst/>
          </a:prstGeom>
          <a:solidFill>
            <a:srgbClr val="CFCDC6"/>
          </a:solidFill>
          <a:ln/>
        </p:spPr>
      </p:sp>
      <p:sp>
        <p:nvSpPr>
          <p:cNvPr id="7" name="Text 5"/>
          <p:cNvSpPr/>
          <p:nvPr/>
        </p:nvSpPr>
        <p:spPr>
          <a:xfrm>
            <a:off x="990534" y="2455003"/>
            <a:ext cx="728398" cy="339626"/>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a:t>
            </a:r>
            <a:endParaRPr lang="en-US" sz="1800" dirty="0"/>
          </a:p>
        </p:txBody>
      </p:sp>
      <p:sp>
        <p:nvSpPr>
          <p:cNvPr id="8" name="Shape 6"/>
          <p:cNvSpPr/>
          <p:nvPr/>
        </p:nvSpPr>
        <p:spPr>
          <a:xfrm>
            <a:off x="1642732" y="2908929"/>
            <a:ext cx="4239783" cy="10583"/>
          </a:xfrm>
          <a:prstGeom prst="rect">
            <a:avLst/>
          </a:prstGeom>
          <a:solidFill>
            <a:srgbClr val="CFCDC6"/>
          </a:solidFill>
          <a:ln/>
        </p:spPr>
      </p:sp>
      <p:sp>
        <p:nvSpPr>
          <p:cNvPr id="9" name="Text 7"/>
          <p:cNvSpPr/>
          <p:nvPr/>
        </p:nvSpPr>
        <p:spPr>
          <a:xfrm>
            <a:off x="1642732" y="2455003"/>
            <a:ext cx="4366976" cy="339626"/>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DOCUMENT</a:t>
            </a:r>
            <a:endParaRPr lang="en-US" sz="1800" dirty="0"/>
          </a:p>
        </p:txBody>
      </p:sp>
      <p:sp>
        <p:nvSpPr>
          <p:cNvPr id="10" name="Shape 8"/>
          <p:cNvSpPr/>
          <p:nvPr/>
        </p:nvSpPr>
        <p:spPr>
          <a:xfrm>
            <a:off x="5882515" y="2908929"/>
            <a:ext cx="1304892" cy="10583"/>
          </a:xfrm>
          <a:prstGeom prst="rect">
            <a:avLst/>
          </a:prstGeom>
          <a:solidFill>
            <a:srgbClr val="CFCDC6"/>
          </a:solidFill>
          <a:ln/>
        </p:spPr>
      </p:sp>
      <p:sp>
        <p:nvSpPr>
          <p:cNvPr id="11" name="Text 9"/>
          <p:cNvSpPr/>
          <p:nvPr/>
        </p:nvSpPr>
        <p:spPr>
          <a:xfrm>
            <a:off x="5882515" y="2455003"/>
            <a:ext cx="1381092" cy="339626"/>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TYPE</a:t>
            </a:r>
            <a:endParaRPr lang="en-US" sz="1800" dirty="0"/>
          </a:p>
        </p:txBody>
      </p:sp>
      <p:sp>
        <p:nvSpPr>
          <p:cNvPr id="12" name="Shape 10"/>
          <p:cNvSpPr/>
          <p:nvPr/>
        </p:nvSpPr>
        <p:spPr>
          <a:xfrm>
            <a:off x="7187407" y="2908929"/>
            <a:ext cx="1521354" cy="10583"/>
          </a:xfrm>
          <a:prstGeom prst="rect">
            <a:avLst/>
          </a:prstGeom>
          <a:solidFill>
            <a:srgbClr val="CFCDC6"/>
          </a:solidFill>
          <a:ln/>
        </p:spPr>
      </p:sp>
      <p:sp>
        <p:nvSpPr>
          <p:cNvPr id="13" name="Text 11"/>
          <p:cNvSpPr/>
          <p:nvPr/>
        </p:nvSpPr>
        <p:spPr>
          <a:xfrm>
            <a:off x="7187407" y="2455003"/>
            <a:ext cx="1597554" cy="339626"/>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PAGES</a:t>
            </a:r>
            <a:endParaRPr lang="en-US" sz="1800" dirty="0"/>
          </a:p>
        </p:txBody>
      </p:sp>
      <p:sp>
        <p:nvSpPr>
          <p:cNvPr id="14" name="Shape 12"/>
          <p:cNvSpPr/>
          <p:nvPr/>
        </p:nvSpPr>
        <p:spPr>
          <a:xfrm>
            <a:off x="8708761" y="2908929"/>
            <a:ext cx="2445908" cy="10583"/>
          </a:xfrm>
          <a:prstGeom prst="rect">
            <a:avLst/>
          </a:prstGeom>
          <a:solidFill>
            <a:srgbClr val="CFCDC6"/>
          </a:solidFill>
          <a:ln/>
        </p:spPr>
      </p:sp>
      <p:sp>
        <p:nvSpPr>
          <p:cNvPr id="15" name="Text 13"/>
          <p:cNvSpPr/>
          <p:nvPr/>
        </p:nvSpPr>
        <p:spPr>
          <a:xfrm>
            <a:off x="8708761" y="2455003"/>
            <a:ext cx="2522108" cy="339626"/>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STATUS · TICKET</a:t>
            </a:r>
            <a:endParaRPr lang="en-US" sz="1800" dirty="0"/>
          </a:p>
        </p:txBody>
      </p:sp>
      <p:sp>
        <p:nvSpPr>
          <p:cNvPr id="16" name="Shape 14"/>
          <p:cNvSpPr/>
          <p:nvPr/>
        </p:nvSpPr>
        <p:spPr>
          <a:xfrm>
            <a:off x="11154668" y="2908929"/>
            <a:ext cx="6142798" cy="10583"/>
          </a:xfrm>
          <a:prstGeom prst="rect">
            <a:avLst/>
          </a:prstGeom>
          <a:solidFill>
            <a:srgbClr val="CFCDC6"/>
          </a:solidFill>
          <a:ln/>
        </p:spPr>
      </p:sp>
      <p:sp>
        <p:nvSpPr>
          <p:cNvPr id="17" name="Text 15"/>
          <p:cNvSpPr/>
          <p:nvPr/>
        </p:nvSpPr>
        <p:spPr>
          <a:xfrm>
            <a:off x="11154668" y="2455003"/>
            <a:ext cx="6327082" cy="339626"/>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ROLE IN THE GRAPH</a:t>
            </a:r>
            <a:endParaRPr lang="en-US" sz="1800" dirty="0"/>
          </a:p>
        </p:txBody>
      </p:sp>
      <p:sp>
        <p:nvSpPr>
          <p:cNvPr id="18" name="Shape 16"/>
          <p:cNvSpPr/>
          <p:nvPr/>
        </p:nvSpPr>
        <p:spPr>
          <a:xfrm>
            <a:off x="990534" y="4254996"/>
            <a:ext cx="652198" cy="10583"/>
          </a:xfrm>
          <a:prstGeom prst="rect">
            <a:avLst/>
          </a:prstGeom>
          <a:solidFill>
            <a:srgbClr val="E6E4DE"/>
          </a:solidFill>
          <a:ln/>
        </p:spPr>
      </p:sp>
      <p:sp>
        <p:nvSpPr>
          <p:cNvPr id="19" name="Text 17"/>
          <p:cNvSpPr/>
          <p:nvPr/>
        </p:nvSpPr>
        <p:spPr>
          <a:xfrm>
            <a:off x="990534" y="3052862"/>
            <a:ext cx="499798" cy="1106885"/>
          </a:xfrm>
          <a:prstGeom prst="rect">
            <a:avLst/>
          </a:prstGeom>
          <a:noFill/>
          <a:ln/>
        </p:spPr>
        <p:txBody>
          <a:bodyPr wrap="square" lIns="25400" tIns="25400" rIns="25400" bIns="25400" rtlCol="0" anchor="t">
            <a:normAutofit/>
          </a:bodyPr>
          <a:lstStyle/>
          <a:p>
            <a:pPr marL="0" indent="0" algn="l">
              <a:buNone/>
            </a:pPr>
            <a:r>
              <a:rPr lang="en-US" sz="1950" dirty="0">
                <a:solidFill>
                  <a:srgbClr val="5C4FB3"/>
                </a:solidFill>
                <a:latin typeface="Georgia" pitchFamily="34" charset="0"/>
                <a:ea typeface="Georgia" pitchFamily="34" charset="-122"/>
                <a:cs typeface="Georgia" pitchFamily="34" charset="-120"/>
              </a:rPr>
              <a:t>1</a:t>
            </a:r>
            <a:endParaRPr lang="en-US" sz="1950" dirty="0"/>
          </a:p>
        </p:txBody>
      </p:sp>
      <p:sp>
        <p:nvSpPr>
          <p:cNvPr id="20" name="Shape 18"/>
          <p:cNvSpPr/>
          <p:nvPr/>
        </p:nvSpPr>
        <p:spPr>
          <a:xfrm>
            <a:off x="1642732" y="4254996"/>
            <a:ext cx="4239783" cy="10583"/>
          </a:xfrm>
          <a:prstGeom prst="rect">
            <a:avLst/>
          </a:prstGeom>
          <a:solidFill>
            <a:srgbClr val="E6E4DE"/>
          </a:solidFill>
          <a:ln/>
        </p:spPr>
      </p:sp>
      <p:sp>
        <p:nvSpPr>
          <p:cNvPr id="21" name="Text 19"/>
          <p:cNvSpPr/>
          <p:nvPr/>
        </p:nvSpPr>
        <p:spPr>
          <a:xfrm>
            <a:off x="1642732" y="3058087"/>
            <a:ext cx="4328518" cy="429683"/>
          </a:xfrm>
          <a:prstGeom prst="rect">
            <a:avLst/>
          </a:prstGeom>
          <a:noFill/>
          <a:ln/>
        </p:spPr>
        <p:txBody>
          <a:bodyPr wrap="square" lIns="25400" tIns="25400" rIns="25400" bIns="25400" rtlCol="0" anchor="t">
            <a:normAutofit/>
          </a:bodyPr>
          <a:lstStyle/>
          <a:p>
            <a:pPr marL="0" indent="0" algn="l">
              <a:buNone/>
            </a:pPr>
            <a:r>
              <a:rPr lang="en-US" sz="2250" dirty="0">
                <a:solidFill>
                  <a:srgbClr val="1F1E1C"/>
                </a:solidFill>
                <a:latin typeface="Georgia" pitchFamily="34" charset="0"/>
                <a:ea typeface="Georgia" pitchFamily="34" charset="-122"/>
                <a:cs typeface="Georgia" pitchFamily="34" charset="-120"/>
              </a:rPr>
              <a:t>WIKI_SCHEMA</a:t>
            </a:r>
            <a:endParaRPr lang="en-US" sz="2250" dirty="0"/>
          </a:p>
        </p:txBody>
      </p:sp>
      <p:sp>
        <p:nvSpPr>
          <p:cNvPr id="22" name="Text 20"/>
          <p:cNvSpPr/>
          <p:nvPr/>
        </p:nvSpPr>
        <p:spPr>
          <a:xfrm>
            <a:off x="1642732" y="3506721"/>
            <a:ext cx="4328518"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Courier New" pitchFamily="34" charset="0"/>
                <a:ea typeface="Courier New" pitchFamily="34" charset="-122"/>
                <a:cs typeface="Courier New" pitchFamily="34" charset="-120"/>
              </a:rPr>
              <a:t>wiki/aga/</a:t>
            </a:r>
            <a:endParaRPr lang="en-US" sz="1800" dirty="0"/>
          </a:p>
        </p:txBody>
      </p:sp>
      <p:sp>
        <p:nvSpPr>
          <p:cNvPr id="23" name="Shape 21"/>
          <p:cNvSpPr/>
          <p:nvPr/>
        </p:nvSpPr>
        <p:spPr>
          <a:xfrm>
            <a:off x="5882515" y="4254996"/>
            <a:ext cx="1304892" cy="10583"/>
          </a:xfrm>
          <a:prstGeom prst="rect">
            <a:avLst/>
          </a:prstGeom>
          <a:solidFill>
            <a:srgbClr val="E6E4DE"/>
          </a:solidFill>
          <a:ln/>
        </p:spPr>
      </p:sp>
      <p:sp>
        <p:nvSpPr>
          <p:cNvPr id="24" name="Text 22"/>
          <p:cNvSpPr/>
          <p:nvPr/>
        </p:nvSpPr>
        <p:spPr>
          <a:xfrm>
            <a:off x="5882515" y="3052862"/>
            <a:ext cx="1076292" cy="1106885"/>
          </a:xfrm>
          <a:prstGeom prst="rect">
            <a:avLst/>
          </a:prstGeom>
          <a:noFill/>
          <a:ln/>
        </p:spPr>
        <p:txBody>
          <a:bodyPr wrap="square" lIns="25400" tIns="25400" rIns="25400" bIns="25400" rtlCol="0" anchor="t">
            <a:normAutofit/>
          </a:bodyPr>
          <a:lstStyle/>
          <a:p>
            <a:pPr marL="0" indent="0" algn="l">
              <a:buNone/>
            </a:pPr>
            <a:r>
              <a:rPr lang="en-US" sz="1875" dirty="0">
                <a:solidFill>
                  <a:srgbClr val="3D3B37"/>
                </a:solidFill>
                <a:latin typeface="Courier New" pitchFamily="34" charset="0"/>
                <a:ea typeface="Courier New" pitchFamily="34" charset="-122"/>
                <a:cs typeface="Courier New" pitchFamily="34" charset="-120"/>
              </a:rPr>
              <a:t>schema </a:t>
            </a:r>
            <a:r>
              <a:rPr lang="en-US" sz="1875" dirty="0">
                <a:solidFill>
                  <a:srgbClr val="6B6964"/>
                </a:solidFill>
                <a:latin typeface="Courier New" pitchFamily="34" charset="0"/>
                <a:ea typeface="Courier New" pitchFamily="34" charset="-122"/>
                <a:cs typeface="Courier New" pitchFamily="34" charset="-120"/>
              </a:rPr>
              <a:t>layer 0</a:t>
            </a:r>
            <a:endParaRPr lang="en-US" sz="1875" dirty="0"/>
          </a:p>
        </p:txBody>
      </p:sp>
      <p:sp>
        <p:nvSpPr>
          <p:cNvPr id="25" name="Shape 23"/>
          <p:cNvSpPr/>
          <p:nvPr/>
        </p:nvSpPr>
        <p:spPr>
          <a:xfrm>
            <a:off x="7187407" y="4254996"/>
            <a:ext cx="1521354" cy="10583"/>
          </a:xfrm>
          <a:prstGeom prst="rect">
            <a:avLst/>
          </a:prstGeom>
          <a:solidFill>
            <a:srgbClr val="E6E4DE"/>
          </a:solidFill>
          <a:ln/>
        </p:spPr>
      </p:sp>
      <p:sp>
        <p:nvSpPr>
          <p:cNvPr id="26" name="Text 24"/>
          <p:cNvSpPr/>
          <p:nvPr/>
        </p:nvSpPr>
        <p:spPr>
          <a:xfrm>
            <a:off x="7187407" y="3052862"/>
            <a:ext cx="1292754" cy="1106885"/>
          </a:xfrm>
          <a:prstGeom prst="rect">
            <a:avLst/>
          </a:prstGeom>
          <a:noFill/>
          <a:ln/>
        </p:spPr>
        <p:txBody>
          <a:bodyPr wrap="none" lIns="25400" tIns="25400" rIns="25400" bIns="25400" rtlCol="0" anchor="t">
            <a:normAutofit/>
          </a:bodyPr>
          <a:lstStyle/>
          <a:p>
            <a:pPr marL="0" indent="0" algn="l">
              <a:buNone/>
            </a:pPr>
            <a:r>
              <a:rPr lang="en-US" sz="1950" dirty="0">
                <a:solidFill>
                  <a:srgbClr val="3D3B37"/>
                </a:solidFill>
                <a:latin typeface="Georgia" pitchFamily="34" charset="0"/>
                <a:ea typeface="Georgia" pitchFamily="34" charset="-122"/>
                <a:cs typeface="Georgia" pitchFamily="34" charset="-120"/>
              </a:rPr>
              <a:t>—</a:t>
            </a:r>
            <a:endParaRPr lang="en-US" sz="1950" dirty="0"/>
          </a:p>
        </p:txBody>
      </p:sp>
      <p:sp>
        <p:nvSpPr>
          <p:cNvPr id="27" name="Shape 25"/>
          <p:cNvSpPr/>
          <p:nvPr/>
        </p:nvSpPr>
        <p:spPr>
          <a:xfrm>
            <a:off x="8708761" y="4254996"/>
            <a:ext cx="2445908" cy="10583"/>
          </a:xfrm>
          <a:prstGeom prst="rect">
            <a:avLst/>
          </a:prstGeom>
          <a:solidFill>
            <a:srgbClr val="E6E4DE"/>
          </a:solidFill>
          <a:ln/>
        </p:spPr>
      </p:sp>
      <p:sp>
        <p:nvSpPr>
          <p:cNvPr id="28" name="Text 26"/>
          <p:cNvSpPr/>
          <p:nvPr/>
        </p:nvSpPr>
        <p:spPr>
          <a:xfrm>
            <a:off x="8708761" y="3052862"/>
            <a:ext cx="2217308" cy="1106885"/>
          </a:xfrm>
          <a:prstGeom prst="rect">
            <a:avLst/>
          </a:prstGeom>
          <a:noFill/>
          <a:ln/>
        </p:spPr>
        <p:txBody>
          <a:bodyPr wrap="square" lIns="25400" tIns="25400" rIns="25400" bIns="25400" rtlCol="0" anchor="t">
            <a:normAutofit/>
          </a:bodyPr>
          <a:lstStyle/>
          <a:p>
            <a:pPr marL="0" indent="0" algn="l">
              <a:buNone/>
            </a:pPr>
            <a:r>
              <a:rPr lang="en-US" sz="1875" dirty="0">
                <a:solidFill>
                  <a:srgbClr val="3B2D8A"/>
                </a:solidFill>
                <a:latin typeface="Courier New" pitchFamily="34" charset="0"/>
                <a:ea typeface="Courier New" pitchFamily="34" charset="-122"/>
                <a:cs typeface="Courier New" pitchFamily="34" charset="-120"/>
              </a:rPr>
              <a:t>ratified </a:t>
            </a:r>
            <a:r>
              <a:rPr lang="en-US" sz="1875" dirty="0">
                <a:solidFill>
                  <a:srgbClr val="6B6964"/>
                </a:solidFill>
                <a:latin typeface="Courier New" pitchFamily="34" charset="0"/>
                <a:ea typeface="Courier New" pitchFamily="34" charset="-122"/>
                <a:cs typeface="Courier New" pitchFamily="34" charset="-120"/>
              </a:rPr>
              <a:t>v1.0</a:t>
            </a:r>
            <a:endParaRPr lang="en-US" sz="1875" dirty="0"/>
          </a:p>
        </p:txBody>
      </p:sp>
      <p:sp>
        <p:nvSpPr>
          <p:cNvPr id="29" name="Shape 27"/>
          <p:cNvSpPr/>
          <p:nvPr/>
        </p:nvSpPr>
        <p:spPr>
          <a:xfrm>
            <a:off x="11154668" y="4254996"/>
            <a:ext cx="6142798" cy="10583"/>
          </a:xfrm>
          <a:prstGeom prst="rect">
            <a:avLst/>
          </a:prstGeom>
          <a:solidFill>
            <a:srgbClr val="E6E4DE"/>
          </a:solidFill>
          <a:ln/>
        </p:spPr>
      </p:sp>
      <p:sp>
        <p:nvSpPr>
          <p:cNvPr id="30" name="Text 28"/>
          <p:cNvSpPr/>
          <p:nvPr/>
        </p:nvSpPr>
        <p:spPr>
          <a:xfrm>
            <a:off x="11154668" y="3052862"/>
            <a:ext cx="6327082" cy="1106885"/>
          </a:xfrm>
          <a:prstGeom prst="rect">
            <a:avLst/>
          </a:prstGeom>
          <a:noFill/>
          <a:ln/>
        </p:spPr>
        <p:txBody>
          <a:bodyPr wrap="square" lIns="25400" tIns="25400" rIns="25400" bIns="25400" rtlCol="0" anchor="t">
            <a:normAutofit/>
          </a:bodyPr>
          <a:lstStyle/>
          <a:p>
            <a:pPr marL="0" indent="0" algn="l">
              <a:lnSpc>
                <a:spcPct val="116827"/>
              </a:lnSpc>
              <a:buNone/>
            </a:pPr>
            <a:r>
              <a:rPr lang="en-US" sz="1875" dirty="0">
                <a:solidFill>
                  <a:srgbClr val="4F4D48"/>
                </a:solidFill>
                <a:latin typeface="Georgia" pitchFamily="34" charset="0"/>
                <a:ea typeface="Georgia" pitchFamily="34" charset="-122"/>
                <a:cs typeface="Georgia" pitchFamily="34" charset="-120"/>
              </a:rPr>
              <a:t>Governs every write to wiki/aga: directory bindings, layers, closed enums, frontmatter contract, lint checks. No frontmatter itself.</a:t>
            </a:r>
            <a:endParaRPr lang="en-US" sz="1875" dirty="0"/>
          </a:p>
        </p:txBody>
      </p:sp>
      <p:sp>
        <p:nvSpPr>
          <p:cNvPr id="31" name="Shape 29"/>
          <p:cNvSpPr/>
          <p:nvPr/>
        </p:nvSpPr>
        <p:spPr>
          <a:xfrm>
            <a:off x="990534" y="5363105"/>
            <a:ext cx="652198" cy="10583"/>
          </a:xfrm>
          <a:prstGeom prst="rect">
            <a:avLst/>
          </a:prstGeom>
          <a:solidFill>
            <a:srgbClr val="E6E4DE"/>
          </a:solidFill>
          <a:ln/>
        </p:spPr>
      </p:sp>
      <p:sp>
        <p:nvSpPr>
          <p:cNvPr id="32" name="Text 30"/>
          <p:cNvSpPr/>
          <p:nvPr/>
        </p:nvSpPr>
        <p:spPr>
          <a:xfrm>
            <a:off x="990534" y="4398930"/>
            <a:ext cx="499798" cy="868925"/>
          </a:xfrm>
          <a:prstGeom prst="rect">
            <a:avLst/>
          </a:prstGeom>
          <a:noFill/>
          <a:ln/>
        </p:spPr>
        <p:txBody>
          <a:bodyPr wrap="square" lIns="25400" tIns="25400" rIns="25400" bIns="25400" rtlCol="0" anchor="t">
            <a:normAutofit/>
          </a:bodyPr>
          <a:lstStyle/>
          <a:p>
            <a:pPr marL="0" indent="0" algn="l">
              <a:buNone/>
            </a:pPr>
            <a:r>
              <a:rPr lang="en-US" sz="1950" dirty="0">
                <a:solidFill>
                  <a:srgbClr val="5C4FB3"/>
                </a:solidFill>
                <a:latin typeface="Georgia" pitchFamily="34" charset="0"/>
                <a:ea typeface="Georgia" pitchFamily="34" charset="-122"/>
                <a:cs typeface="Georgia" pitchFamily="34" charset="-120"/>
              </a:rPr>
              <a:t>2</a:t>
            </a:r>
            <a:endParaRPr lang="en-US" sz="1950" dirty="0"/>
          </a:p>
        </p:txBody>
      </p:sp>
      <p:sp>
        <p:nvSpPr>
          <p:cNvPr id="33" name="Shape 31"/>
          <p:cNvSpPr/>
          <p:nvPr/>
        </p:nvSpPr>
        <p:spPr>
          <a:xfrm>
            <a:off x="1642732" y="5363105"/>
            <a:ext cx="4239783" cy="10583"/>
          </a:xfrm>
          <a:prstGeom prst="rect">
            <a:avLst/>
          </a:prstGeom>
          <a:solidFill>
            <a:srgbClr val="E6E4DE"/>
          </a:solidFill>
          <a:ln/>
        </p:spPr>
      </p:sp>
      <p:sp>
        <p:nvSpPr>
          <p:cNvPr id="34" name="Text 32"/>
          <p:cNvSpPr/>
          <p:nvPr/>
        </p:nvSpPr>
        <p:spPr>
          <a:xfrm>
            <a:off x="1642732" y="4404155"/>
            <a:ext cx="4328518" cy="429683"/>
          </a:xfrm>
          <a:prstGeom prst="rect">
            <a:avLst/>
          </a:prstGeom>
          <a:noFill/>
          <a:ln/>
        </p:spPr>
        <p:txBody>
          <a:bodyPr wrap="square" lIns="25400" tIns="25400" rIns="25400" bIns="25400" rtlCol="0" anchor="t">
            <a:normAutofit/>
          </a:bodyPr>
          <a:lstStyle/>
          <a:p>
            <a:pPr marL="0" indent="0" algn="l">
              <a:buNone/>
            </a:pPr>
            <a:r>
              <a:rPr lang="en-US" sz="2250" dirty="0">
                <a:solidFill>
                  <a:srgbClr val="1F1E1C"/>
                </a:solidFill>
                <a:latin typeface="Georgia" pitchFamily="34" charset="0"/>
                <a:ea typeface="Georgia" pitchFamily="34" charset="-122"/>
                <a:cs typeface="Georgia" pitchFamily="34" charset="-120"/>
              </a:rPr>
              <a:t>SRC - AGA V2.0</a:t>
            </a:r>
            <a:endParaRPr lang="en-US" sz="2250" dirty="0"/>
          </a:p>
        </p:txBody>
      </p:sp>
      <p:sp>
        <p:nvSpPr>
          <p:cNvPr id="35" name="Text 33"/>
          <p:cNvSpPr/>
          <p:nvPr/>
        </p:nvSpPr>
        <p:spPr>
          <a:xfrm>
            <a:off x="1642732" y="4852789"/>
            <a:ext cx="4328518"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Courier New" pitchFamily="34" charset="0"/>
                <a:ea typeface="Courier New" pitchFamily="34" charset="-122"/>
                <a:cs typeface="Courier New" pitchFamily="34" charset="-120"/>
              </a:rPr>
              <a:t>wiki/aga/sources/</a:t>
            </a:r>
            <a:endParaRPr lang="en-US" sz="1800" dirty="0"/>
          </a:p>
        </p:txBody>
      </p:sp>
      <p:sp>
        <p:nvSpPr>
          <p:cNvPr id="36" name="Shape 34"/>
          <p:cNvSpPr/>
          <p:nvPr/>
        </p:nvSpPr>
        <p:spPr>
          <a:xfrm>
            <a:off x="5882515" y="5363105"/>
            <a:ext cx="1304892" cy="10583"/>
          </a:xfrm>
          <a:prstGeom prst="rect">
            <a:avLst/>
          </a:prstGeom>
          <a:solidFill>
            <a:srgbClr val="E6E4DE"/>
          </a:solidFill>
          <a:ln/>
        </p:spPr>
      </p:sp>
      <p:sp>
        <p:nvSpPr>
          <p:cNvPr id="37" name="Text 35"/>
          <p:cNvSpPr/>
          <p:nvPr/>
        </p:nvSpPr>
        <p:spPr>
          <a:xfrm>
            <a:off x="5882515" y="4398930"/>
            <a:ext cx="1076292" cy="868925"/>
          </a:xfrm>
          <a:prstGeom prst="rect">
            <a:avLst/>
          </a:prstGeom>
          <a:noFill/>
          <a:ln/>
        </p:spPr>
        <p:txBody>
          <a:bodyPr wrap="square" lIns="25400" tIns="25400" rIns="25400" bIns="25400" rtlCol="0" anchor="t">
            <a:normAutofit/>
          </a:bodyPr>
          <a:lstStyle/>
          <a:p>
            <a:pPr marL="0" indent="0" algn="l">
              <a:buNone/>
            </a:pPr>
            <a:r>
              <a:rPr lang="en-US" sz="1875" dirty="0">
                <a:solidFill>
                  <a:srgbClr val="3D3B37"/>
                </a:solidFill>
                <a:latin typeface="Courier New" pitchFamily="34" charset="0"/>
                <a:ea typeface="Courier New" pitchFamily="34" charset="-122"/>
                <a:cs typeface="Courier New" pitchFamily="34" charset="-120"/>
              </a:rPr>
              <a:t>source</a:t>
            </a:r>
            <a:endParaRPr lang="en-US" sz="1875" dirty="0"/>
          </a:p>
        </p:txBody>
      </p:sp>
      <p:sp>
        <p:nvSpPr>
          <p:cNvPr id="38" name="Shape 36"/>
          <p:cNvSpPr/>
          <p:nvPr/>
        </p:nvSpPr>
        <p:spPr>
          <a:xfrm>
            <a:off x="7187407" y="5363105"/>
            <a:ext cx="1521354" cy="10583"/>
          </a:xfrm>
          <a:prstGeom prst="rect">
            <a:avLst/>
          </a:prstGeom>
          <a:solidFill>
            <a:srgbClr val="E6E4DE"/>
          </a:solidFill>
          <a:ln/>
        </p:spPr>
      </p:sp>
      <p:sp>
        <p:nvSpPr>
          <p:cNvPr id="39" name="Text 37"/>
          <p:cNvSpPr/>
          <p:nvPr/>
        </p:nvSpPr>
        <p:spPr>
          <a:xfrm>
            <a:off x="7187407" y="4398930"/>
            <a:ext cx="1292754" cy="868925"/>
          </a:xfrm>
          <a:prstGeom prst="rect">
            <a:avLst/>
          </a:prstGeom>
          <a:noFill/>
          <a:ln/>
        </p:spPr>
        <p:txBody>
          <a:bodyPr wrap="none" lIns="25400" tIns="25400" rIns="25400" bIns="25400" rtlCol="0" anchor="t">
            <a:normAutofit/>
          </a:bodyPr>
          <a:lstStyle/>
          <a:p>
            <a:pPr marL="0" indent="0" algn="l">
              <a:buNone/>
            </a:pPr>
            <a:r>
              <a:rPr lang="en-US" sz="1950" dirty="0">
                <a:solidFill>
                  <a:srgbClr val="3D3B37"/>
                </a:solidFill>
                <a:latin typeface="Georgia" pitchFamily="34" charset="0"/>
                <a:ea typeface="Georgia" pitchFamily="34" charset="-122"/>
                <a:cs typeface="Georgia" pitchFamily="34" charset="-120"/>
              </a:rPr>
              <a:t>pp. 1–431</a:t>
            </a:r>
            <a:endParaRPr lang="en-US" sz="1950" dirty="0"/>
          </a:p>
        </p:txBody>
      </p:sp>
      <p:sp>
        <p:nvSpPr>
          <p:cNvPr id="40" name="Shape 38"/>
          <p:cNvSpPr/>
          <p:nvPr/>
        </p:nvSpPr>
        <p:spPr>
          <a:xfrm>
            <a:off x="8708761" y="5363105"/>
            <a:ext cx="2445908" cy="10583"/>
          </a:xfrm>
          <a:prstGeom prst="rect">
            <a:avLst/>
          </a:prstGeom>
          <a:solidFill>
            <a:srgbClr val="E6E4DE"/>
          </a:solidFill>
          <a:ln/>
        </p:spPr>
      </p:sp>
      <p:sp>
        <p:nvSpPr>
          <p:cNvPr id="41" name="Text 39"/>
          <p:cNvSpPr/>
          <p:nvPr/>
        </p:nvSpPr>
        <p:spPr>
          <a:xfrm>
            <a:off x="8708761" y="4398930"/>
            <a:ext cx="2217308" cy="868925"/>
          </a:xfrm>
          <a:prstGeom prst="rect">
            <a:avLst/>
          </a:prstGeom>
          <a:noFill/>
          <a:ln/>
        </p:spPr>
        <p:txBody>
          <a:bodyPr wrap="square" lIns="25400" tIns="25400" rIns="25400" bIns="25400" rtlCol="0" anchor="t">
            <a:normAutofit/>
          </a:bodyPr>
          <a:lstStyle/>
          <a:p>
            <a:pPr marL="0" indent="0" algn="l">
              <a:buNone/>
            </a:pPr>
            <a:r>
              <a:rPr lang="en-US" sz="1875" dirty="0">
                <a:solidFill>
                  <a:srgbClr val="3B2D8A"/>
                </a:solidFill>
                <a:latin typeface="Courier New" pitchFamily="34" charset="0"/>
                <a:ea typeface="Courier New" pitchFamily="34" charset="-122"/>
                <a:cs typeface="Courier New" pitchFamily="34" charset="-120"/>
              </a:rPr>
              <a:t>canonical </a:t>
            </a:r>
            <a:r>
              <a:rPr lang="en-US" sz="1875" dirty="0">
                <a:solidFill>
                  <a:srgbClr val="6B6964"/>
                </a:solidFill>
                <a:latin typeface="Courier New" pitchFamily="34" charset="0"/>
                <a:ea typeface="Courier New" pitchFamily="34" charset="-122"/>
                <a:cs typeface="Courier New" pitchFamily="34" charset="-120"/>
              </a:rPr>
              <a:t>T-L1-SRC-01</a:t>
            </a:r>
            <a:endParaRPr lang="en-US" sz="1875" dirty="0"/>
          </a:p>
        </p:txBody>
      </p:sp>
      <p:sp>
        <p:nvSpPr>
          <p:cNvPr id="42" name="Shape 40"/>
          <p:cNvSpPr/>
          <p:nvPr/>
        </p:nvSpPr>
        <p:spPr>
          <a:xfrm>
            <a:off x="11154668" y="5363105"/>
            <a:ext cx="6142798" cy="10583"/>
          </a:xfrm>
          <a:prstGeom prst="rect">
            <a:avLst/>
          </a:prstGeom>
          <a:solidFill>
            <a:srgbClr val="E6E4DE"/>
          </a:solidFill>
          <a:ln/>
        </p:spPr>
      </p:sp>
      <p:sp>
        <p:nvSpPr>
          <p:cNvPr id="43" name="Text 41"/>
          <p:cNvSpPr/>
          <p:nvPr/>
        </p:nvSpPr>
        <p:spPr>
          <a:xfrm>
            <a:off x="11154668" y="4398930"/>
            <a:ext cx="6327082" cy="868925"/>
          </a:xfrm>
          <a:prstGeom prst="rect">
            <a:avLst/>
          </a:prstGeom>
          <a:noFill/>
          <a:ln/>
        </p:spPr>
        <p:txBody>
          <a:bodyPr wrap="square" lIns="25400" tIns="25400" rIns="25400" bIns="25400" rtlCol="0" anchor="t">
            <a:normAutofit/>
          </a:bodyPr>
          <a:lstStyle/>
          <a:p>
            <a:pPr marL="0" indent="0" algn="l">
              <a:lnSpc>
                <a:spcPct val="116827"/>
              </a:lnSpc>
              <a:buNone/>
            </a:pPr>
            <a:r>
              <a:rPr lang="en-US" sz="1875" dirty="0">
                <a:solidFill>
                  <a:srgbClr val="4F4D48"/>
                </a:solidFill>
                <a:latin typeface="Georgia" pitchFamily="34" charset="0"/>
                <a:ea typeface="Georgia" pitchFamily="34" charset="-122"/>
                <a:cs typeface="Georgia" pitchFamily="34" charset="-120"/>
              </a:rPr>
              <a:t>Provenance root: bibliographic data and reading conventions for the single intact PDF.</a:t>
            </a:r>
            <a:endParaRPr lang="en-US" sz="1875" dirty="0"/>
          </a:p>
        </p:txBody>
      </p:sp>
      <p:sp>
        <p:nvSpPr>
          <p:cNvPr id="44" name="Shape 42"/>
          <p:cNvSpPr/>
          <p:nvPr/>
        </p:nvSpPr>
        <p:spPr>
          <a:xfrm>
            <a:off x="990534" y="6471213"/>
            <a:ext cx="652198" cy="10583"/>
          </a:xfrm>
          <a:prstGeom prst="rect">
            <a:avLst/>
          </a:prstGeom>
          <a:solidFill>
            <a:srgbClr val="E6E4DE"/>
          </a:solidFill>
          <a:ln/>
        </p:spPr>
      </p:sp>
      <p:sp>
        <p:nvSpPr>
          <p:cNvPr id="45" name="Text 43"/>
          <p:cNvSpPr/>
          <p:nvPr/>
        </p:nvSpPr>
        <p:spPr>
          <a:xfrm>
            <a:off x="990534" y="5507038"/>
            <a:ext cx="499798" cy="868925"/>
          </a:xfrm>
          <a:prstGeom prst="rect">
            <a:avLst/>
          </a:prstGeom>
          <a:noFill/>
          <a:ln/>
        </p:spPr>
        <p:txBody>
          <a:bodyPr wrap="square" lIns="25400" tIns="25400" rIns="25400" bIns="25400" rtlCol="0" anchor="t">
            <a:normAutofit/>
          </a:bodyPr>
          <a:lstStyle/>
          <a:p>
            <a:pPr marL="0" indent="0" algn="l">
              <a:buNone/>
            </a:pPr>
            <a:r>
              <a:rPr lang="en-US" sz="1950" dirty="0">
                <a:solidFill>
                  <a:srgbClr val="5C4FB3"/>
                </a:solidFill>
                <a:latin typeface="Georgia" pitchFamily="34" charset="0"/>
                <a:ea typeface="Georgia" pitchFamily="34" charset="-122"/>
                <a:cs typeface="Georgia" pitchFamily="34" charset="-120"/>
              </a:rPr>
              <a:t>3</a:t>
            </a:r>
            <a:endParaRPr lang="en-US" sz="1950" dirty="0"/>
          </a:p>
        </p:txBody>
      </p:sp>
      <p:sp>
        <p:nvSpPr>
          <p:cNvPr id="46" name="Shape 44"/>
          <p:cNvSpPr/>
          <p:nvPr/>
        </p:nvSpPr>
        <p:spPr>
          <a:xfrm>
            <a:off x="1642732" y="6471213"/>
            <a:ext cx="4239783" cy="10583"/>
          </a:xfrm>
          <a:prstGeom prst="rect">
            <a:avLst/>
          </a:prstGeom>
          <a:solidFill>
            <a:srgbClr val="E6E4DE"/>
          </a:solidFill>
          <a:ln/>
        </p:spPr>
      </p:sp>
      <p:sp>
        <p:nvSpPr>
          <p:cNvPr id="47" name="Text 45"/>
          <p:cNvSpPr/>
          <p:nvPr/>
        </p:nvSpPr>
        <p:spPr>
          <a:xfrm>
            <a:off x="1642732" y="5512264"/>
            <a:ext cx="4328518" cy="429683"/>
          </a:xfrm>
          <a:prstGeom prst="rect">
            <a:avLst/>
          </a:prstGeom>
          <a:noFill/>
          <a:ln/>
        </p:spPr>
        <p:txBody>
          <a:bodyPr wrap="square" lIns="25400" tIns="25400" rIns="25400" bIns="25400" rtlCol="0" anchor="t">
            <a:normAutofit/>
          </a:bodyPr>
          <a:lstStyle/>
          <a:p>
            <a:pPr marL="0" indent="0" algn="l">
              <a:buNone/>
            </a:pPr>
            <a:r>
              <a:rPr lang="en-US" sz="2250" dirty="0">
                <a:solidFill>
                  <a:srgbClr val="1F1E1C"/>
                </a:solidFill>
                <a:latin typeface="Georgia" pitchFamily="34" charset="0"/>
                <a:ea typeface="Georgia" pitchFamily="34" charset="-122"/>
                <a:cs typeface="Georgia" pitchFamily="34" charset="-120"/>
              </a:rPr>
              <a:t>WORK - AGA</a:t>
            </a:r>
            <a:endParaRPr lang="en-US" sz="2250" dirty="0"/>
          </a:p>
        </p:txBody>
      </p:sp>
      <p:sp>
        <p:nvSpPr>
          <p:cNvPr id="48" name="Text 46"/>
          <p:cNvSpPr/>
          <p:nvPr/>
        </p:nvSpPr>
        <p:spPr>
          <a:xfrm>
            <a:off x="1642732" y="5960897"/>
            <a:ext cx="4328518"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Courier New" pitchFamily="34" charset="0"/>
                <a:ea typeface="Courier New" pitchFamily="34" charset="-122"/>
                <a:cs typeface="Courier New" pitchFamily="34" charset="-120"/>
              </a:rPr>
              <a:t>wiki/aga/structure/</a:t>
            </a:r>
            <a:endParaRPr lang="en-US" sz="1800" dirty="0"/>
          </a:p>
        </p:txBody>
      </p:sp>
      <p:sp>
        <p:nvSpPr>
          <p:cNvPr id="49" name="Shape 47"/>
          <p:cNvSpPr/>
          <p:nvPr/>
        </p:nvSpPr>
        <p:spPr>
          <a:xfrm>
            <a:off x="5882515" y="6471213"/>
            <a:ext cx="1304892" cy="10583"/>
          </a:xfrm>
          <a:prstGeom prst="rect">
            <a:avLst/>
          </a:prstGeom>
          <a:solidFill>
            <a:srgbClr val="E6E4DE"/>
          </a:solidFill>
          <a:ln/>
        </p:spPr>
      </p:sp>
      <p:sp>
        <p:nvSpPr>
          <p:cNvPr id="50" name="Text 48"/>
          <p:cNvSpPr/>
          <p:nvPr/>
        </p:nvSpPr>
        <p:spPr>
          <a:xfrm>
            <a:off x="5882515" y="5507038"/>
            <a:ext cx="1076292" cy="868925"/>
          </a:xfrm>
          <a:prstGeom prst="rect">
            <a:avLst/>
          </a:prstGeom>
          <a:noFill/>
          <a:ln/>
        </p:spPr>
        <p:txBody>
          <a:bodyPr wrap="square" lIns="25400" tIns="25400" rIns="25400" bIns="25400" rtlCol="0" anchor="t">
            <a:normAutofit/>
          </a:bodyPr>
          <a:lstStyle/>
          <a:p>
            <a:pPr marL="0" indent="0" algn="l">
              <a:buNone/>
            </a:pPr>
            <a:r>
              <a:rPr lang="en-US" sz="1875" dirty="0">
                <a:solidFill>
                  <a:srgbClr val="3D3B37"/>
                </a:solidFill>
                <a:latin typeface="Courier New" pitchFamily="34" charset="0"/>
                <a:ea typeface="Courier New" pitchFamily="34" charset="-122"/>
                <a:cs typeface="Courier New" pitchFamily="34" charset="-120"/>
              </a:rPr>
              <a:t>work</a:t>
            </a:r>
            <a:endParaRPr lang="en-US" sz="1875" dirty="0"/>
          </a:p>
        </p:txBody>
      </p:sp>
      <p:sp>
        <p:nvSpPr>
          <p:cNvPr id="51" name="Shape 49"/>
          <p:cNvSpPr/>
          <p:nvPr/>
        </p:nvSpPr>
        <p:spPr>
          <a:xfrm>
            <a:off x="7187407" y="6471213"/>
            <a:ext cx="1521354" cy="10583"/>
          </a:xfrm>
          <a:prstGeom prst="rect">
            <a:avLst/>
          </a:prstGeom>
          <a:solidFill>
            <a:srgbClr val="E6E4DE"/>
          </a:solidFill>
          <a:ln/>
        </p:spPr>
      </p:sp>
      <p:sp>
        <p:nvSpPr>
          <p:cNvPr id="52" name="Text 50"/>
          <p:cNvSpPr/>
          <p:nvPr/>
        </p:nvSpPr>
        <p:spPr>
          <a:xfrm>
            <a:off x="7187407" y="5507038"/>
            <a:ext cx="1292754" cy="868925"/>
          </a:xfrm>
          <a:prstGeom prst="rect">
            <a:avLst/>
          </a:prstGeom>
          <a:noFill/>
          <a:ln/>
        </p:spPr>
        <p:txBody>
          <a:bodyPr wrap="none" lIns="25400" tIns="25400" rIns="25400" bIns="25400" rtlCol="0" anchor="t">
            <a:normAutofit/>
          </a:bodyPr>
          <a:lstStyle/>
          <a:p>
            <a:pPr marL="0" indent="0" algn="l">
              <a:buNone/>
            </a:pPr>
            <a:r>
              <a:rPr lang="en-US" sz="1950" dirty="0">
                <a:solidFill>
                  <a:srgbClr val="3D3B37"/>
                </a:solidFill>
                <a:latin typeface="Georgia" pitchFamily="34" charset="0"/>
                <a:ea typeface="Georgia" pitchFamily="34" charset="-122"/>
                <a:cs typeface="Georgia" pitchFamily="34" charset="-120"/>
              </a:rPr>
              <a:t>pp. 10–431</a:t>
            </a:r>
            <a:endParaRPr lang="en-US" sz="1950" dirty="0"/>
          </a:p>
        </p:txBody>
      </p:sp>
      <p:sp>
        <p:nvSpPr>
          <p:cNvPr id="53" name="Shape 51"/>
          <p:cNvSpPr/>
          <p:nvPr/>
        </p:nvSpPr>
        <p:spPr>
          <a:xfrm>
            <a:off x="8708761" y="6471213"/>
            <a:ext cx="2445908" cy="10583"/>
          </a:xfrm>
          <a:prstGeom prst="rect">
            <a:avLst/>
          </a:prstGeom>
          <a:solidFill>
            <a:srgbClr val="E6E4DE"/>
          </a:solidFill>
          <a:ln/>
        </p:spPr>
      </p:sp>
      <p:sp>
        <p:nvSpPr>
          <p:cNvPr id="54" name="Text 52"/>
          <p:cNvSpPr/>
          <p:nvPr/>
        </p:nvSpPr>
        <p:spPr>
          <a:xfrm>
            <a:off x="8708761" y="5507038"/>
            <a:ext cx="2217308" cy="868925"/>
          </a:xfrm>
          <a:prstGeom prst="rect">
            <a:avLst/>
          </a:prstGeom>
          <a:noFill/>
          <a:ln/>
        </p:spPr>
        <p:txBody>
          <a:bodyPr wrap="square" lIns="25400" tIns="25400" rIns="25400" bIns="25400" rtlCol="0" anchor="t">
            <a:normAutofit/>
          </a:bodyPr>
          <a:lstStyle/>
          <a:p>
            <a:pPr marL="0" indent="0" algn="l">
              <a:buNone/>
            </a:pPr>
            <a:r>
              <a:rPr lang="en-US" sz="1875" dirty="0">
                <a:solidFill>
                  <a:srgbClr val="7A5410"/>
                </a:solidFill>
                <a:latin typeface="Courier New" pitchFamily="34" charset="0"/>
                <a:ea typeface="Courier New" pitchFamily="34" charset="-122"/>
                <a:cs typeface="Courier New" pitchFamily="34" charset="-120"/>
              </a:rPr>
              <a:t>draft </a:t>
            </a:r>
            <a:r>
              <a:rPr lang="en-US" sz="1875" dirty="0">
                <a:solidFill>
                  <a:srgbClr val="6B6964"/>
                </a:solidFill>
                <a:latin typeface="Courier New" pitchFamily="34" charset="0"/>
                <a:ea typeface="Courier New" pitchFamily="34" charset="-122"/>
                <a:cs typeface="Courier New" pitchFamily="34" charset="-120"/>
              </a:rPr>
              <a:t>T-L1-WORK-01</a:t>
            </a:r>
            <a:endParaRPr lang="en-US" sz="1875" dirty="0"/>
          </a:p>
        </p:txBody>
      </p:sp>
      <p:sp>
        <p:nvSpPr>
          <p:cNvPr id="55" name="Shape 53"/>
          <p:cNvSpPr/>
          <p:nvPr/>
        </p:nvSpPr>
        <p:spPr>
          <a:xfrm>
            <a:off x="11154668" y="6471213"/>
            <a:ext cx="6142798" cy="10583"/>
          </a:xfrm>
          <a:prstGeom prst="rect">
            <a:avLst/>
          </a:prstGeom>
          <a:solidFill>
            <a:srgbClr val="E6E4DE"/>
          </a:solidFill>
          <a:ln/>
        </p:spPr>
      </p:sp>
      <p:sp>
        <p:nvSpPr>
          <p:cNvPr id="56" name="Text 54"/>
          <p:cNvSpPr/>
          <p:nvPr/>
        </p:nvSpPr>
        <p:spPr>
          <a:xfrm>
            <a:off x="11154668" y="5507038"/>
            <a:ext cx="6327082" cy="868925"/>
          </a:xfrm>
          <a:prstGeom prst="rect">
            <a:avLst/>
          </a:prstGeom>
          <a:noFill/>
          <a:ln/>
        </p:spPr>
        <p:txBody>
          <a:bodyPr wrap="square" lIns="25400" tIns="25400" rIns="25400" bIns="25400" rtlCol="0" anchor="t">
            <a:normAutofit/>
          </a:bodyPr>
          <a:lstStyle/>
          <a:p>
            <a:pPr marL="0" indent="0" algn="l">
              <a:lnSpc>
                <a:spcPct val="116827"/>
              </a:lnSpc>
              <a:buNone/>
            </a:pPr>
            <a:r>
              <a:rPr lang="en-US" sz="1875" dirty="0">
                <a:solidFill>
                  <a:srgbClr val="4F4D48"/>
                </a:solidFill>
                <a:latin typeface="Georgia" pitchFamily="34" charset="0"/>
                <a:ea typeface="Georgia" pitchFamily="34" charset="-122"/>
                <a:cs typeface="Georgia" pitchFamily="34" charset="-120"/>
              </a:rPr>
              <a:t>Structural spine: parent of Introduction, Preamble and Data Sheet; chapter links follow their tickets.</a:t>
            </a:r>
            <a:endParaRPr lang="en-US" sz="1875" dirty="0"/>
          </a:p>
        </p:txBody>
      </p:sp>
      <p:sp>
        <p:nvSpPr>
          <p:cNvPr id="57" name="Shape 55"/>
          <p:cNvSpPr/>
          <p:nvPr/>
        </p:nvSpPr>
        <p:spPr>
          <a:xfrm>
            <a:off x="990534" y="7579320"/>
            <a:ext cx="652198" cy="10583"/>
          </a:xfrm>
          <a:prstGeom prst="rect">
            <a:avLst/>
          </a:prstGeom>
          <a:solidFill>
            <a:srgbClr val="E6E4DE"/>
          </a:solidFill>
          <a:ln/>
        </p:spPr>
      </p:sp>
      <p:sp>
        <p:nvSpPr>
          <p:cNvPr id="58" name="Text 56"/>
          <p:cNvSpPr/>
          <p:nvPr/>
        </p:nvSpPr>
        <p:spPr>
          <a:xfrm>
            <a:off x="990534" y="6615146"/>
            <a:ext cx="499798" cy="868925"/>
          </a:xfrm>
          <a:prstGeom prst="rect">
            <a:avLst/>
          </a:prstGeom>
          <a:noFill/>
          <a:ln/>
        </p:spPr>
        <p:txBody>
          <a:bodyPr wrap="square" lIns="25400" tIns="25400" rIns="25400" bIns="25400" rtlCol="0" anchor="t">
            <a:normAutofit/>
          </a:bodyPr>
          <a:lstStyle/>
          <a:p>
            <a:pPr marL="0" indent="0" algn="l">
              <a:buNone/>
            </a:pPr>
            <a:r>
              <a:rPr lang="en-US" sz="1950" dirty="0">
                <a:solidFill>
                  <a:srgbClr val="5C4FB3"/>
                </a:solidFill>
                <a:latin typeface="Georgia" pitchFamily="34" charset="0"/>
                <a:ea typeface="Georgia" pitchFamily="34" charset="-122"/>
                <a:cs typeface="Georgia" pitchFamily="34" charset="-120"/>
              </a:rPr>
              <a:t>4</a:t>
            </a:r>
            <a:endParaRPr lang="en-US" sz="1950" dirty="0"/>
          </a:p>
        </p:txBody>
      </p:sp>
      <p:sp>
        <p:nvSpPr>
          <p:cNvPr id="59" name="Shape 57"/>
          <p:cNvSpPr/>
          <p:nvPr/>
        </p:nvSpPr>
        <p:spPr>
          <a:xfrm>
            <a:off x="1642732" y="7579320"/>
            <a:ext cx="4239783" cy="10583"/>
          </a:xfrm>
          <a:prstGeom prst="rect">
            <a:avLst/>
          </a:prstGeom>
          <a:solidFill>
            <a:srgbClr val="E6E4DE"/>
          </a:solidFill>
          <a:ln/>
        </p:spPr>
      </p:sp>
      <p:sp>
        <p:nvSpPr>
          <p:cNvPr id="60" name="Text 58"/>
          <p:cNvSpPr/>
          <p:nvPr/>
        </p:nvSpPr>
        <p:spPr>
          <a:xfrm>
            <a:off x="1642732" y="6620371"/>
            <a:ext cx="4328518" cy="429683"/>
          </a:xfrm>
          <a:prstGeom prst="rect">
            <a:avLst/>
          </a:prstGeom>
          <a:noFill/>
          <a:ln/>
        </p:spPr>
        <p:txBody>
          <a:bodyPr wrap="square" lIns="25400" tIns="25400" rIns="25400" bIns="25400" rtlCol="0" anchor="t">
            <a:normAutofit/>
          </a:bodyPr>
          <a:lstStyle/>
          <a:p>
            <a:pPr marL="0" indent="0" algn="l">
              <a:buNone/>
            </a:pPr>
            <a:r>
              <a:rPr lang="en-US" sz="2250" dirty="0">
                <a:solidFill>
                  <a:srgbClr val="1F1E1C"/>
                </a:solidFill>
                <a:latin typeface="Georgia" pitchFamily="34" charset="0"/>
                <a:ea typeface="Georgia" pitchFamily="34" charset="-122"/>
                <a:cs typeface="Georgia" pitchFamily="34" charset="-120"/>
              </a:rPr>
              <a:t>Introduction</a:t>
            </a:r>
            <a:endParaRPr lang="en-US" sz="2250" dirty="0"/>
          </a:p>
        </p:txBody>
      </p:sp>
      <p:sp>
        <p:nvSpPr>
          <p:cNvPr id="61" name="Text 59"/>
          <p:cNvSpPr/>
          <p:nvPr/>
        </p:nvSpPr>
        <p:spPr>
          <a:xfrm>
            <a:off x="1642732" y="7069006"/>
            <a:ext cx="4328518"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Courier New" pitchFamily="34" charset="0"/>
                <a:ea typeface="Courier New" pitchFamily="34" charset="-122"/>
                <a:cs typeface="Courier New" pitchFamily="34" charset="-120"/>
              </a:rPr>
              <a:t>wiki/aga/structure/</a:t>
            </a:r>
            <a:endParaRPr lang="en-US" sz="1800" dirty="0"/>
          </a:p>
        </p:txBody>
      </p:sp>
      <p:sp>
        <p:nvSpPr>
          <p:cNvPr id="62" name="Shape 60"/>
          <p:cNvSpPr/>
          <p:nvPr/>
        </p:nvSpPr>
        <p:spPr>
          <a:xfrm>
            <a:off x="5882515" y="7579320"/>
            <a:ext cx="1304892" cy="10583"/>
          </a:xfrm>
          <a:prstGeom prst="rect">
            <a:avLst/>
          </a:prstGeom>
          <a:solidFill>
            <a:srgbClr val="E6E4DE"/>
          </a:solidFill>
          <a:ln/>
        </p:spPr>
      </p:sp>
      <p:sp>
        <p:nvSpPr>
          <p:cNvPr id="63" name="Text 61"/>
          <p:cNvSpPr/>
          <p:nvPr/>
        </p:nvSpPr>
        <p:spPr>
          <a:xfrm>
            <a:off x="5882515" y="6615146"/>
            <a:ext cx="1076292" cy="868925"/>
          </a:xfrm>
          <a:prstGeom prst="rect">
            <a:avLst/>
          </a:prstGeom>
          <a:noFill/>
          <a:ln/>
        </p:spPr>
        <p:txBody>
          <a:bodyPr wrap="square" lIns="25400" tIns="25400" rIns="25400" bIns="25400" rtlCol="0" anchor="t">
            <a:normAutofit/>
          </a:bodyPr>
          <a:lstStyle/>
          <a:p>
            <a:pPr marL="0" indent="0" algn="l">
              <a:buNone/>
            </a:pPr>
            <a:r>
              <a:rPr lang="en-US" sz="1875" dirty="0">
                <a:solidFill>
                  <a:srgbClr val="3D3B37"/>
                </a:solidFill>
                <a:latin typeface="Courier New" pitchFamily="34" charset="0"/>
                <a:ea typeface="Courier New" pitchFamily="34" charset="-122"/>
                <a:cs typeface="Courier New" pitchFamily="34" charset="-120"/>
              </a:rPr>
              <a:t>section</a:t>
            </a:r>
            <a:endParaRPr lang="en-US" sz="1875" dirty="0"/>
          </a:p>
        </p:txBody>
      </p:sp>
      <p:sp>
        <p:nvSpPr>
          <p:cNvPr id="64" name="Shape 62"/>
          <p:cNvSpPr/>
          <p:nvPr/>
        </p:nvSpPr>
        <p:spPr>
          <a:xfrm>
            <a:off x="7187407" y="7579320"/>
            <a:ext cx="1521354" cy="10583"/>
          </a:xfrm>
          <a:prstGeom prst="rect">
            <a:avLst/>
          </a:prstGeom>
          <a:solidFill>
            <a:srgbClr val="E6E4DE"/>
          </a:solidFill>
          <a:ln/>
        </p:spPr>
      </p:sp>
      <p:sp>
        <p:nvSpPr>
          <p:cNvPr id="65" name="Text 63"/>
          <p:cNvSpPr/>
          <p:nvPr/>
        </p:nvSpPr>
        <p:spPr>
          <a:xfrm>
            <a:off x="7187407" y="6615146"/>
            <a:ext cx="1292754" cy="868925"/>
          </a:xfrm>
          <a:prstGeom prst="rect">
            <a:avLst/>
          </a:prstGeom>
          <a:noFill/>
          <a:ln/>
        </p:spPr>
        <p:txBody>
          <a:bodyPr wrap="none" lIns="25400" tIns="25400" rIns="25400" bIns="25400" rtlCol="0" anchor="t">
            <a:normAutofit/>
          </a:bodyPr>
          <a:lstStyle/>
          <a:p>
            <a:pPr marL="0" indent="0" algn="l">
              <a:buNone/>
            </a:pPr>
            <a:r>
              <a:rPr lang="en-US" sz="1950" dirty="0">
                <a:solidFill>
                  <a:srgbClr val="3D3B37"/>
                </a:solidFill>
                <a:latin typeface="Georgia" pitchFamily="34" charset="0"/>
                <a:ea typeface="Georgia" pitchFamily="34" charset="-122"/>
                <a:cs typeface="Georgia" pitchFamily="34" charset="-120"/>
              </a:rPr>
              <a:t>pp. 10–16</a:t>
            </a:r>
            <a:endParaRPr lang="en-US" sz="1950" dirty="0"/>
          </a:p>
        </p:txBody>
      </p:sp>
      <p:sp>
        <p:nvSpPr>
          <p:cNvPr id="66" name="Shape 64"/>
          <p:cNvSpPr/>
          <p:nvPr/>
        </p:nvSpPr>
        <p:spPr>
          <a:xfrm>
            <a:off x="8708761" y="7579320"/>
            <a:ext cx="2445908" cy="10583"/>
          </a:xfrm>
          <a:prstGeom prst="rect">
            <a:avLst/>
          </a:prstGeom>
          <a:solidFill>
            <a:srgbClr val="E6E4DE"/>
          </a:solidFill>
          <a:ln/>
        </p:spPr>
      </p:sp>
      <p:sp>
        <p:nvSpPr>
          <p:cNvPr id="67" name="Text 65"/>
          <p:cNvSpPr/>
          <p:nvPr/>
        </p:nvSpPr>
        <p:spPr>
          <a:xfrm>
            <a:off x="8708761" y="6615146"/>
            <a:ext cx="2217308" cy="868925"/>
          </a:xfrm>
          <a:prstGeom prst="rect">
            <a:avLst/>
          </a:prstGeom>
          <a:noFill/>
          <a:ln/>
        </p:spPr>
        <p:txBody>
          <a:bodyPr wrap="square" lIns="25400" tIns="25400" rIns="25400" bIns="25400" rtlCol="0" anchor="t">
            <a:normAutofit/>
          </a:bodyPr>
          <a:lstStyle/>
          <a:p>
            <a:pPr marL="0" indent="0" algn="l">
              <a:buNone/>
            </a:pPr>
            <a:r>
              <a:rPr lang="en-US" sz="1875" dirty="0">
                <a:solidFill>
                  <a:srgbClr val="3B2D8A"/>
                </a:solidFill>
                <a:latin typeface="Courier New" pitchFamily="34" charset="0"/>
                <a:ea typeface="Courier New" pitchFamily="34" charset="-122"/>
                <a:cs typeface="Courier New" pitchFamily="34" charset="-120"/>
              </a:rPr>
              <a:t>canonical </a:t>
            </a:r>
            <a:r>
              <a:rPr lang="en-US" sz="1875" dirty="0">
                <a:solidFill>
                  <a:srgbClr val="6B6964"/>
                </a:solidFill>
                <a:latin typeface="Courier New" pitchFamily="34" charset="0"/>
                <a:ea typeface="Courier New" pitchFamily="34" charset="-122"/>
                <a:cs typeface="Courier New" pitchFamily="34" charset="-120"/>
              </a:rPr>
              <a:t>T-L1-INTRO-01</a:t>
            </a:r>
            <a:endParaRPr lang="en-US" sz="1875" dirty="0"/>
          </a:p>
        </p:txBody>
      </p:sp>
      <p:sp>
        <p:nvSpPr>
          <p:cNvPr id="68" name="Shape 66"/>
          <p:cNvSpPr/>
          <p:nvPr/>
        </p:nvSpPr>
        <p:spPr>
          <a:xfrm>
            <a:off x="11154668" y="7579320"/>
            <a:ext cx="6142798" cy="10583"/>
          </a:xfrm>
          <a:prstGeom prst="rect">
            <a:avLst/>
          </a:prstGeom>
          <a:solidFill>
            <a:srgbClr val="E6E4DE"/>
          </a:solidFill>
          <a:ln/>
        </p:spPr>
      </p:sp>
      <p:sp>
        <p:nvSpPr>
          <p:cNvPr id="69" name="Text 67"/>
          <p:cNvSpPr/>
          <p:nvPr/>
        </p:nvSpPr>
        <p:spPr>
          <a:xfrm>
            <a:off x="11154668" y="6615146"/>
            <a:ext cx="6327082" cy="868925"/>
          </a:xfrm>
          <a:prstGeom prst="rect">
            <a:avLst/>
          </a:prstGeom>
          <a:noFill/>
          <a:ln/>
        </p:spPr>
        <p:txBody>
          <a:bodyPr wrap="square" lIns="25400" tIns="25400" rIns="25400" bIns="25400" rtlCol="0" anchor="t">
            <a:normAutofit/>
          </a:bodyPr>
          <a:lstStyle/>
          <a:p>
            <a:pPr marL="0" indent="0" algn="l">
              <a:lnSpc>
                <a:spcPct val="116827"/>
              </a:lnSpc>
              <a:buNone/>
            </a:pPr>
            <a:r>
              <a:rPr lang="en-US" sz="1875" dirty="0">
                <a:solidFill>
                  <a:srgbClr val="4F4D48"/>
                </a:solidFill>
                <a:latin typeface="Georgia" pitchFamily="34" charset="0"/>
                <a:ea typeface="Georgia" pitchFamily="34" charset="-122"/>
                <a:cs typeface="Georgia" pitchFamily="34" charset="-120"/>
              </a:rPr>
              <a:t>Legal setting, participant roles and AGA conventions before article-level navigation.</a:t>
            </a:r>
            <a:endParaRPr lang="en-US" sz="1875" dirty="0"/>
          </a:p>
        </p:txBody>
      </p:sp>
      <p:sp>
        <p:nvSpPr>
          <p:cNvPr id="70" name="Shape 68"/>
          <p:cNvSpPr/>
          <p:nvPr/>
        </p:nvSpPr>
        <p:spPr>
          <a:xfrm>
            <a:off x="990534" y="8688090"/>
            <a:ext cx="652198" cy="10583"/>
          </a:xfrm>
          <a:prstGeom prst="rect">
            <a:avLst/>
          </a:prstGeom>
          <a:solidFill>
            <a:srgbClr val="E6E4DE"/>
          </a:solidFill>
          <a:ln/>
        </p:spPr>
      </p:sp>
      <p:sp>
        <p:nvSpPr>
          <p:cNvPr id="71" name="Text 69"/>
          <p:cNvSpPr/>
          <p:nvPr/>
        </p:nvSpPr>
        <p:spPr>
          <a:xfrm>
            <a:off x="990534" y="7723254"/>
            <a:ext cx="499798" cy="869586"/>
          </a:xfrm>
          <a:prstGeom prst="rect">
            <a:avLst/>
          </a:prstGeom>
          <a:noFill/>
          <a:ln/>
        </p:spPr>
        <p:txBody>
          <a:bodyPr wrap="square" lIns="25400" tIns="25400" rIns="25400" bIns="25400" rtlCol="0" anchor="t">
            <a:normAutofit/>
          </a:bodyPr>
          <a:lstStyle/>
          <a:p>
            <a:pPr marL="0" indent="0" algn="l">
              <a:buNone/>
            </a:pPr>
            <a:r>
              <a:rPr lang="en-US" sz="1950" dirty="0">
                <a:solidFill>
                  <a:srgbClr val="5C4FB3"/>
                </a:solidFill>
                <a:latin typeface="Georgia" pitchFamily="34" charset="0"/>
                <a:ea typeface="Georgia" pitchFamily="34" charset="-122"/>
                <a:cs typeface="Georgia" pitchFamily="34" charset="-120"/>
              </a:rPr>
              <a:t>5</a:t>
            </a:r>
            <a:endParaRPr lang="en-US" sz="1950" dirty="0"/>
          </a:p>
        </p:txBody>
      </p:sp>
      <p:sp>
        <p:nvSpPr>
          <p:cNvPr id="72" name="Shape 70"/>
          <p:cNvSpPr/>
          <p:nvPr/>
        </p:nvSpPr>
        <p:spPr>
          <a:xfrm>
            <a:off x="1642732" y="8688090"/>
            <a:ext cx="4239783" cy="10583"/>
          </a:xfrm>
          <a:prstGeom prst="rect">
            <a:avLst/>
          </a:prstGeom>
          <a:solidFill>
            <a:srgbClr val="E6E4DE"/>
          </a:solidFill>
          <a:ln/>
        </p:spPr>
      </p:sp>
      <p:sp>
        <p:nvSpPr>
          <p:cNvPr id="73" name="Text 71"/>
          <p:cNvSpPr/>
          <p:nvPr/>
        </p:nvSpPr>
        <p:spPr>
          <a:xfrm>
            <a:off x="1642732" y="7728479"/>
            <a:ext cx="4328518" cy="429683"/>
          </a:xfrm>
          <a:prstGeom prst="rect">
            <a:avLst/>
          </a:prstGeom>
          <a:noFill/>
          <a:ln/>
        </p:spPr>
        <p:txBody>
          <a:bodyPr wrap="square" lIns="25400" tIns="25400" rIns="25400" bIns="25400" rtlCol="0" anchor="t">
            <a:normAutofit/>
          </a:bodyPr>
          <a:lstStyle/>
          <a:p>
            <a:pPr marL="0" indent="0" algn="l">
              <a:buNone/>
            </a:pPr>
            <a:r>
              <a:rPr lang="en-US" sz="2250" dirty="0">
                <a:solidFill>
                  <a:srgbClr val="1F1E1C"/>
                </a:solidFill>
                <a:latin typeface="Georgia" pitchFamily="34" charset="0"/>
                <a:ea typeface="Georgia" pitchFamily="34" charset="-122"/>
                <a:cs typeface="Georgia" pitchFamily="34" charset="-120"/>
              </a:rPr>
              <a:t>Preamble</a:t>
            </a:r>
            <a:endParaRPr lang="en-US" sz="2250" dirty="0"/>
          </a:p>
        </p:txBody>
      </p:sp>
      <p:sp>
        <p:nvSpPr>
          <p:cNvPr id="74" name="Text 72"/>
          <p:cNvSpPr/>
          <p:nvPr/>
        </p:nvSpPr>
        <p:spPr>
          <a:xfrm>
            <a:off x="1642732" y="8177114"/>
            <a:ext cx="4328518"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Courier New" pitchFamily="34" charset="0"/>
                <a:ea typeface="Courier New" pitchFamily="34" charset="-122"/>
                <a:cs typeface="Courier New" pitchFamily="34" charset="-120"/>
              </a:rPr>
              <a:t>wiki/aga/structure/</a:t>
            </a:r>
            <a:endParaRPr lang="en-US" sz="1800" dirty="0"/>
          </a:p>
        </p:txBody>
      </p:sp>
      <p:sp>
        <p:nvSpPr>
          <p:cNvPr id="75" name="Shape 73"/>
          <p:cNvSpPr/>
          <p:nvPr/>
        </p:nvSpPr>
        <p:spPr>
          <a:xfrm>
            <a:off x="5882515" y="8688090"/>
            <a:ext cx="1304892" cy="10583"/>
          </a:xfrm>
          <a:prstGeom prst="rect">
            <a:avLst/>
          </a:prstGeom>
          <a:solidFill>
            <a:srgbClr val="E6E4DE"/>
          </a:solidFill>
          <a:ln/>
        </p:spPr>
      </p:sp>
      <p:sp>
        <p:nvSpPr>
          <p:cNvPr id="76" name="Text 74"/>
          <p:cNvSpPr/>
          <p:nvPr/>
        </p:nvSpPr>
        <p:spPr>
          <a:xfrm>
            <a:off x="5882515" y="7723254"/>
            <a:ext cx="1076292" cy="869586"/>
          </a:xfrm>
          <a:prstGeom prst="rect">
            <a:avLst/>
          </a:prstGeom>
          <a:noFill/>
          <a:ln/>
        </p:spPr>
        <p:txBody>
          <a:bodyPr wrap="square" lIns="25400" tIns="25400" rIns="25400" bIns="25400" rtlCol="0" anchor="t">
            <a:normAutofit/>
          </a:bodyPr>
          <a:lstStyle/>
          <a:p>
            <a:pPr marL="0" indent="0" algn="l">
              <a:buNone/>
            </a:pPr>
            <a:r>
              <a:rPr lang="en-US" sz="1875" dirty="0">
                <a:solidFill>
                  <a:srgbClr val="3D3B37"/>
                </a:solidFill>
                <a:latin typeface="Courier New" pitchFamily="34" charset="0"/>
                <a:ea typeface="Courier New" pitchFamily="34" charset="-122"/>
                <a:cs typeface="Courier New" pitchFamily="34" charset="-120"/>
              </a:rPr>
              <a:t>section</a:t>
            </a:r>
            <a:endParaRPr lang="en-US" sz="1875" dirty="0"/>
          </a:p>
        </p:txBody>
      </p:sp>
      <p:sp>
        <p:nvSpPr>
          <p:cNvPr id="77" name="Shape 75"/>
          <p:cNvSpPr/>
          <p:nvPr/>
        </p:nvSpPr>
        <p:spPr>
          <a:xfrm>
            <a:off x="7187407" y="8688090"/>
            <a:ext cx="1521354" cy="10583"/>
          </a:xfrm>
          <a:prstGeom prst="rect">
            <a:avLst/>
          </a:prstGeom>
          <a:solidFill>
            <a:srgbClr val="E6E4DE"/>
          </a:solidFill>
          <a:ln/>
        </p:spPr>
      </p:sp>
      <p:sp>
        <p:nvSpPr>
          <p:cNvPr id="78" name="Text 76"/>
          <p:cNvSpPr/>
          <p:nvPr/>
        </p:nvSpPr>
        <p:spPr>
          <a:xfrm>
            <a:off x="7187407" y="7723254"/>
            <a:ext cx="1292754" cy="869586"/>
          </a:xfrm>
          <a:prstGeom prst="rect">
            <a:avLst/>
          </a:prstGeom>
          <a:noFill/>
          <a:ln/>
        </p:spPr>
        <p:txBody>
          <a:bodyPr wrap="none" lIns="25400" tIns="25400" rIns="25400" bIns="25400" rtlCol="0" anchor="t">
            <a:normAutofit/>
          </a:bodyPr>
          <a:lstStyle/>
          <a:p>
            <a:pPr marL="0" indent="0" algn="l">
              <a:buNone/>
            </a:pPr>
            <a:r>
              <a:rPr lang="en-US" sz="1950" dirty="0">
                <a:solidFill>
                  <a:srgbClr val="3D3B37"/>
                </a:solidFill>
                <a:latin typeface="Georgia" pitchFamily="34" charset="0"/>
                <a:ea typeface="Georgia" pitchFamily="34" charset="-122"/>
                <a:cs typeface="Georgia" pitchFamily="34" charset="-120"/>
              </a:rPr>
              <a:t>pp. 17–20</a:t>
            </a:r>
            <a:endParaRPr lang="en-US" sz="1950" dirty="0"/>
          </a:p>
        </p:txBody>
      </p:sp>
      <p:sp>
        <p:nvSpPr>
          <p:cNvPr id="79" name="Shape 77"/>
          <p:cNvSpPr/>
          <p:nvPr/>
        </p:nvSpPr>
        <p:spPr>
          <a:xfrm>
            <a:off x="8708761" y="8688090"/>
            <a:ext cx="2445908" cy="10583"/>
          </a:xfrm>
          <a:prstGeom prst="rect">
            <a:avLst/>
          </a:prstGeom>
          <a:solidFill>
            <a:srgbClr val="E6E4DE"/>
          </a:solidFill>
          <a:ln/>
        </p:spPr>
      </p:sp>
      <p:sp>
        <p:nvSpPr>
          <p:cNvPr id="80" name="Text 78"/>
          <p:cNvSpPr/>
          <p:nvPr/>
        </p:nvSpPr>
        <p:spPr>
          <a:xfrm>
            <a:off x="8708761" y="7723254"/>
            <a:ext cx="2217308" cy="869586"/>
          </a:xfrm>
          <a:prstGeom prst="rect">
            <a:avLst/>
          </a:prstGeom>
          <a:noFill/>
          <a:ln/>
        </p:spPr>
        <p:txBody>
          <a:bodyPr wrap="square" lIns="25400" tIns="25400" rIns="25400" bIns="25400" rtlCol="0" anchor="t">
            <a:normAutofit/>
          </a:bodyPr>
          <a:lstStyle/>
          <a:p>
            <a:pPr marL="0" indent="0" algn="l">
              <a:buNone/>
            </a:pPr>
            <a:r>
              <a:rPr lang="en-US" sz="1875" dirty="0">
                <a:solidFill>
                  <a:srgbClr val="3B2D8A"/>
                </a:solidFill>
                <a:latin typeface="Courier New" pitchFamily="34" charset="0"/>
                <a:ea typeface="Courier New" pitchFamily="34" charset="-122"/>
                <a:cs typeface="Courier New" pitchFamily="34" charset="-120"/>
              </a:rPr>
              <a:t>canonical </a:t>
            </a:r>
            <a:r>
              <a:rPr lang="en-US" sz="1875" dirty="0">
                <a:solidFill>
                  <a:srgbClr val="6B6964"/>
                </a:solidFill>
                <a:latin typeface="Courier New" pitchFamily="34" charset="0"/>
                <a:ea typeface="Courier New" pitchFamily="34" charset="-122"/>
                <a:cs typeface="Courier New" pitchFamily="34" charset="-120"/>
              </a:rPr>
              <a:t>T-L1-INTRO-01</a:t>
            </a:r>
            <a:endParaRPr lang="en-US" sz="1875" dirty="0"/>
          </a:p>
        </p:txBody>
      </p:sp>
      <p:sp>
        <p:nvSpPr>
          <p:cNvPr id="81" name="Shape 79"/>
          <p:cNvSpPr/>
          <p:nvPr/>
        </p:nvSpPr>
        <p:spPr>
          <a:xfrm>
            <a:off x="11154668" y="8688090"/>
            <a:ext cx="6142798" cy="10583"/>
          </a:xfrm>
          <a:prstGeom prst="rect">
            <a:avLst/>
          </a:prstGeom>
          <a:solidFill>
            <a:srgbClr val="E6E4DE"/>
          </a:solidFill>
          <a:ln/>
        </p:spPr>
      </p:sp>
      <p:sp>
        <p:nvSpPr>
          <p:cNvPr id="82" name="Text 80"/>
          <p:cNvSpPr/>
          <p:nvPr/>
        </p:nvSpPr>
        <p:spPr>
          <a:xfrm>
            <a:off x="11154668" y="7723254"/>
            <a:ext cx="6327082" cy="869586"/>
          </a:xfrm>
          <a:prstGeom prst="rect">
            <a:avLst/>
          </a:prstGeom>
          <a:noFill/>
          <a:ln/>
        </p:spPr>
        <p:txBody>
          <a:bodyPr wrap="square" lIns="25400" tIns="25400" rIns="25400" bIns="25400" rtlCol="0" anchor="t">
            <a:normAutofit/>
          </a:bodyPr>
          <a:lstStyle/>
          <a:p>
            <a:pPr marL="0" indent="0" algn="l">
              <a:lnSpc>
                <a:spcPct val="116827"/>
              </a:lnSpc>
              <a:buNone/>
            </a:pPr>
            <a:r>
              <a:rPr lang="en-US" sz="1875" dirty="0">
                <a:solidFill>
                  <a:srgbClr val="4F4D48"/>
                </a:solidFill>
                <a:latin typeface="Georgia" pitchFamily="34" charset="0"/>
                <a:ea typeface="Georgia" pitchFamily="34" charset="-122"/>
                <a:cs typeface="Georgia" pitchFamily="34" charset="-120"/>
              </a:rPr>
              <a:t>Contracting parties and the binding components and annexes of the agreement.</a:t>
            </a:r>
            <a:endParaRPr lang="en-US" sz="1875" dirty="0"/>
          </a:p>
        </p:txBody>
      </p:sp>
      <p:sp>
        <p:nvSpPr>
          <p:cNvPr id="83" name="Shape 81"/>
          <p:cNvSpPr/>
          <p:nvPr/>
        </p:nvSpPr>
        <p:spPr>
          <a:xfrm>
            <a:off x="990534" y="8932499"/>
            <a:ext cx="16306933" cy="10583"/>
          </a:xfrm>
          <a:prstGeom prst="rect">
            <a:avLst/>
          </a:prstGeom>
          <a:solidFill>
            <a:srgbClr val="D3D1CA"/>
          </a:solidFill>
          <a:ln/>
        </p:spPr>
      </p:sp>
      <p:sp>
        <p:nvSpPr>
          <p:cNvPr id="84" name="Text 82"/>
          <p:cNvSpPr/>
          <p:nvPr/>
        </p:nvSpPr>
        <p:spPr>
          <a:xfrm>
            <a:off x="990534" y="9152632"/>
            <a:ext cx="16796141" cy="715400"/>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Data Sheet (pp. 21–28) and Annotations (pp. 10–11) structure nodes are also present. The schema is covered on slides 10–11; the four nodes on the following slides.</a:t>
            </a:r>
            <a:endParaRPr lang="en-US" sz="1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990534" y="609534"/>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609534"/>
            <a:ext cx="338303"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14</a:t>
            </a:r>
            <a:endParaRPr lang="en-US" sz="1950" dirty="0"/>
          </a:p>
        </p:txBody>
      </p:sp>
      <p:sp>
        <p:nvSpPr>
          <p:cNvPr id="4" name="Text 2"/>
          <p:cNvSpPr/>
          <p:nvPr/>
        </p:nvSpPr>
        <p:spPr>
          <a:xfrm>
            <a:off x="990534" y="1138701"/>
            <a:ext cx="17937626" cy="768350"/>
          </a:xfrm>
          <a:prstGeom prst="rect">
            <a:avLst/>
          </a:prstGeom>
          <a:noFill/>
          <a:ln/>
        </p:spPr>
        <p:txBody>
          <a:bodyPr wrap="square" lIns="25400" tIns="25400" rIns="25400" bIns="25400" rtlCol="0" anchor="t">
            <a:normAutofit/>
          </a:bodyPr>
          <a:lstStyle/>
          <a:p>
            <a:pPr marL="0" indent="0" algn="l">
              <a:buNone/>
            </a:pPr>
            <a:r>
              <a:rPr lang="en-US" sz="4200" dirty="0">
                <a:solidFill>
                  <a:srgbClr val="1F1E1C"/>
                </a:solidFill>
                <a:latin typeface="Georgia" pitchFamily="34" charset="0"/>
                <a:ea typeface="Georgia" pitchFamily="34" charset="-122"/>
                <a:cs typeface="Georgia" pitchFamily="34" charset="-120"/>
              </a:rPr>
              <a:t>The Graph Health Dashboard makes the vault inspectable</a:t>
            </a:r>
            <a:endParaRPr lang="en-US" sz="4200" dirty="0"/>
          </a:p>
        </p:txBody>
      </p:sp>
      <p:sp>
        <p:nvSpPr>
          <p:cNvPr id="5" name="Text 3"/>
          <p:cNvSpPr/>
          <p:nvPr/>
        </p:nvSpPr>
        <p:spPr>
          <a:xfrm>
            <a:off x="990534" y="1983218"/>
            <a:ext cx="17937626" cy="429683"/>
          </a:xfrm>
          <a:prstGeom prst="rect">
            <a:avLst/>
          </a:prstGeom>
          <a:noFill/>
          <a:ln/>
        </p:spPr>
        <p:txBody>
          <a:bodyPr wrap="square" lIns="25400" tIns="25400" rIns="25400" bIns="25400" rtlCol="0" anchor="t">
            <a:normAutofit/>
          </a:bodyPr>
          <a:lstStyle/>
          <a:p>
            <a:pPr marL="0" indent="0" algn="l">
              <a:buNone/>
            </a:pPr>
            <a:r>
              <a:rPr lang="en-US" sz="2250" dirty="0">
                <a:solidFill>
                  <a:srgbClr val="6B6964"/>
                </a:solidFill>
                <a:latin typeface="Georgia" pitchFamily="34" charset="0"/>
                <a:ea typeface="Georgia" pitchFamily="34" charset="-122"/>
                <a:cs typeface="Georgia" pitchFamily="34" charset="-120"/>
              </a:rPr>
              <a:t>Observability node · </a:t>
            </a:r>
            <a:r>
              <a:rPr lang="en-US" sz="2025" dirty="0">
                <a:solidFill>
                  <a:srgbClr val="6B6964"/>
                </a:solidFill>
                <a:latin typeface="Courier New" pitchFamily="34" charset="0"/>
                <a:ea typeface="Courier New" pitchFamily="34" charset="-122"/>
                <a:cs typeface="Courier New" pitchFamily="34" charset="-120"/>
              </a:rPr>
              <a:t>wiki/observability/Graph Health Dashboard.md </a:t>
            </a:r>
            <a:r>
              <a:rPr lang="en-US" sz="2250" dirty="0">
                <a:solidFill>
                  <a:srgbClr val="6B6964"/>
                </a:solidFill>
                <a:latin typeface="Georgia" pitchFamily="34" charset="0"/>
                <a:ea typeface="Georgia" pitchFamily="34" charset="-122"/>
                <a:cs typeface="Georgia" pitchFamily="34" charset="-120"/>
              </a:rPr>
              <a:t>· 20 Dataview queries scoped </a:t>
            </a:r>
            <a:r>
              <a:rPr lang="en-US" sz="2025" dirty="0">
                <a:solidFill>
                  <a:srgbClr val="6B6964"/>
                </a:solidFill>
                <a:latin typeface="Courier New" pitchFamily="34" charset="0"/>
                <a:ea typeface="Courier New" pitchFamily="34" charset="-122"/>
                <a:cs typeface="Courier New" pitchFamily="34" charset="-120"/>
              </a:rPr>
              <a:t>FROM "wiki/aga"</a:t>
            </a:r>
            <a:endParaRPr lang="en-US" sz="2250" dirty="0"/>
          </a:p>
        </p:txBody>
      </p:sp>
      <p:sp>
        <p:nvSpPr>
          <p:cNvPr id="6" name="Shape 4"/>
          <p:cNvSpPr/>
          <p:nvPr/>
        </p:nvSpPr>
        <p:spPr>
          <a:xfrm>
            <a:off x="990534" y="3391628"/>
            <a:ext cx="7886734" cy="10583"/>
          </a:xfrm>
          <a:prstGeom prst="rect">
            <a:avLst/>
          </a:prstGeom>
          <a:solidFill>
            <a:srgbClr val="CFCDC6"/>
          </a:solidFill>
          <a:ln/>
        </p:spPr>
      </p:sp>
      <p:sp>
        <p:nvSpPr>
          <p:cNvPr id="7" name="Text 5"/>
          <p:cNvSpPr/>
          <p:nvPr/>
        </p:nvSpPr>
        <p:spPr>
          <a:xfrm>
            <a:off x="990534" y="2951427"/>
            <a:ext cx="8123336" cy="344951"/>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PROGRESS AND COVERAGE</a:t>
            </a:r>
            <a:endParaRPr lang="en-US" sz="1800" dirty="0"/>
          </a:p>
        </p:txBody>
      </p:sp>
      <p:sp>
        <p:nvSpPr>
          <p:cNvPr id="8" name="Shape 6"/>
          <p:cNvSpPr/>
          <p:nvPr/>
        </p:nvSpPr>
        <p:spPr>
          <a:xfrm>
            <a:off x="990534" y="4113279"/>
            <a:ext cx="7886734" cy="10583"/>
          </a:xfrm>
          <a:prstGeom prst="rect">
            <a:avLst/>
          </a:prstGeom>
          <a:solidFill>
            <a:srgbClr val="E6E4DE"/>
          </a:solidFill>
          <a:ln/>
        </p:spPr>
      </p:sp>
      <p:sp>
        <p:nvSpPr>
          <p:cNvPr id="9" name="Text 7"/>
          <p:cNvSpPr/>
          <p:nvPr/>
        </p:nvSpPr>
        <p:spPr>
          <a:xfrm>
            <a:off x="990534" y="3614870"/>
            <a:ext cx="609501"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Courier New" pitchFamily="34" charset="0"/>
                <a:ea typeface="Courier New" pitchFamily="34" charset="-122"/>
                <a:cs typeface="Courier New" pitchFamily="34" charset="-120"/>
              </a:rPr>
              <a:t>§1</a:t>
            </a:r>
            <a:endParaRPr lang="en-US" sz="1800" dirty="0"/>
          </a:p>
        </p:txBody>
      </p:sp>
      <p:sp>
        <p:nvSpPr>
          <p:cNvPr id="10" name="Text 8"/>
          <p:cNvSpPr/>
          <p:nvPr/>
        </p:nvSpPr>
        <p:spPr>
          <a:xfrm>
            <a:off x="1676135" y="3583120"/>
            <a:ext cx="3876857" cy="387350"/>
          </a:xfrm>
          <a:prstGeom prst="rect">
            <a:avLst/>
          </a:prstGeom>
          <a:noFill/>
          <a:ln/>
        </p:spPr>
        <p:txBody>
          <a:bodyPr wrap="square" lIns="25400" tIns="25400" rIns="25400" bIns="25400" rtlCol="0" anchor="t">
            <a:normAutofit/>
          </a:bodyPr>
          <a:lstStyle/>
          <a:p>
            <a:pPr marL="0" indent="0" algn="l">
              <a:buNone/>
            </a:pPr>
            <a:r>
              <a:rPr lang="en-US" sz="2025" dirty="0">
                <a:solidFill>
                  <a:srgbClr val="1F1E1C"/>
                </a:solidFill>
                <a:latin typeface="Georgia" pitchFamily="34" charset="0"/>
                <a:ea typeface="Georgia" pitchFamily="34" charset="-122"/>
                <a:cs typeface="Georgia" pitchFamily="34" charset="-120"/>
              </a:rPr>
              <a:t>Node inventory</a:t>
            </a:r>
            <a:endParaRPr lang="en-US" sz="2025" dirty="0"/>
          </a:p>
        </p:txBody>
      </p:sp>
      <p:sp>
        <p:nvSpPr>
          <p:cNvPr id="11" name="Text 9"/>
          <p:cNvSpPr/>
          <p:nvPr/>
        </p:nvSpPr>
        <p:spPr>
          <a:xfrm>
            <a:off x="5352852" y="3614870"/>
            <a:ext cx="3876857" cy="345017"/>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type · layer · status · certainty</a:t>
            </a:r>
            <a:endParaRPr lang="en-US" sz="1800" dirty="0"/>
          </a:p>
        </p:txBody>
      </p:sp>
      <p:sp>
        <p:nvSpPr>
          <p:cNvPr id="12" name="Shape 10"/>
          <p:cNvSpPr/>
          <p:nvPr/>
        </p:nvSpPr>
        <p:spPr>
          <a:xfrm>
            <a:off x="990534" y="4834930"/>
            <a:ext cx="7886734" cy="10583"/>
          </a:xfrm>
          <a:prstGeom prst="rect">
            <a:avLst/>
          </a:prstGeom>
          <a:solidFill>
            <a:srgbClr val="E6E4DE"/>
          </a:solidFill>
          <a:ln/>
        </p:spPr>
      </p:sp>
      <p:sp>
        <p:nvSpPr>
          <p:cNvPr id="13" name="Text 11"/>
          <p:cNvSpPr/>
          <p:nvPr/>
        </p:nvSpPr>
        <p:spPr>
          <a:xfrm>
            <a:off x="990534" y="4336521"/>
            <a:ext cx="609501"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Courier New" pitchFamily="34" charset="0"/>
                <a:ea typeface="Courier New" pitchFamily="34" charset="-122"/>
                <a:cs typeface="Courier New" pitchFamily="34" charset="-120"/>
              </a:rPr>
              <a:t>§4</a:t>
            </a:r>
            <a:endParaRPr lang="en-US" sz="1800" dirty="0"/>
          </a:p>
        </p:txBody>
      </p:sp>
      <p:sp>
        <p:nvSpPr>
          <p:cNvPr id="14" name="Text 12"/>
          <p:cNvSpPr/>
          <p:nvPr/>
        </p:nvSpPr>
        <p:spPr>
          <a:xfrm>
            <a:off x="1676135" y="4304771"/>
            <a:ext cx="3876857" cy="387350"/>
          </a:xfrm>
          <a:prstGeom prst="rect">
            <a:avLst/>
          </a:prstGeom>
          <a:noFill/>
          <a:ln/>
        </p:spPr>
        <p:txBody>
          <a:bodyPr wrap="square" lIns="25400" tIns="25400" rIns="25400" bIns="25400" rtlCol="0" anchor="t">
            <a:normAutofit/>
          </a:bodyPr>
          <a:lstStyle/>
          <a:p>
            <a:pPr marL="0" indent="0" algn="l">
              <a:buNone/>
            </a:pPr>
            <a:r>
              <a:rPr lang="en-US" sz="2025" dirty="0">
                <a:solidFill>
                  <a:srgbClr val="1F1E1C"/>
                </a:solidFill>
                <a:latin typeface="Georgia" pitchFamily="34" charset="0"/>
                <a:ea typeface="Georgia" pitchFamily="34" charset="-122"/>
                <a:cs typeface="Georgia" pitchFamily="34" charset="-120"/>
              </a:rPr>
              <a:t>Layer distribution</a:t>
            </a:r>
            <a:endParaRPr lang="en-US" sz="2025" dirty="0"/>
          </a:p>
        </p:txBody>
      </p:sp>
      <p:sp>
        <p:nvSpPr>
          <p:cNvPr id="15" name="Text 13"/>
          <p:cNvSpPr/>
          <p:nvPr/>
        </p:nvSpPr>
        <p:spPr>
          <a:xfrm>
            <a:off x="5352852" y="4336521"/>
            <a:ext cx="3876857" cy="345017"/>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population progress</a:t>
            </a:r>
            <a:endParaRPr lang="en-US" sz="1800" dirty="0"/>
          </a:p>
        </p:txBody>
      </p:sp>
      <p:sp>
        <p:nvSpPr>
          <p:cNvPr id="16" name="Shape 14"/>
          <p:cNvSpPr/>
          <p:nvPr/>
        </p:nvSpPr>
        <p:spPr>
          <a:xfrm>
            <a:off x="990534" y="5556581"/>
            <a:ext cx="7886734" cy="10583"/>
          </a:xfrm>
          <a:prstGeom prst="rect">
            <a:avLst/>
          </a:prstGeom>
          <a:solidFill>
            <a:srgbClr val="E6E4DE"/>
          </a:solidFill>
          <a:ln/>
        </p:spPr>
      </p:sp>
      <p:sp>
        <p:nvSpPr>
          <p:cNvPr id="17" name="Text 15"/>
          <p:cNvSpPr/>
          <p:nvPr/>
        </p:nvSpPr>
        <p:spPr>
          <a:xfrm>
            <a:off x="990534" y="5058172"/>
            <a:ext cx="609501"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Courier New" pitchFamily="34" charset="0"/>
                <a:ea typeface="Courier New" pitchFamily="34" charset="-122"/>
                <a:cs typeface="Courier New" pitchFamily="34" charset="-120"/>
              </a:rPr>
              <a:t>§13</a:t>
            </a:r>
            <a:endParaRPr lang="en-US" sz="1800" dirty="0"/>
          </a:p>
        </p:txBody>
      </p:sp>
      <p:sp>
        <p:nvSpPr>
          <p:cNvPr id="18" name="Text 16"/>
          <p:cNvSpPr/>
          <p:nvPr/>
        </p:nvSpPr>
        <p:spPr>
          <a:xfrm>
            <a:off x="1676135" y="5026422"/>
            <a:ext cx="3876857" cy="387350"/>
          </a:xfrm>
          <a:prstGeom prst="rect">
            <a:avLst/>
          </a:prstGeom>
          <a:noFill/>
          <a:ln/>
        </p:spPr>
        <p:txBody>
          <a:bodyPr wrap="square" lIns="25400" tIns="25400" rIns="25400" bIns="25400" rtlCol="0" anchor="t">
            <a:normAutofit/>
          </a:bodyPr>
          <a:lstStyle/>
          <a:p>
            <a:pPr marL="0" indent="0" algn="l">
              <a:buNone/>
            </a:pPr>
            <a:r>
              <a:rPr lang="en-US" sz="2025" dirty="0">
                <a:solidFill>
                  <a:srgbClr val="1F1E1C"/>
                </a:solidFill>
                <a:latin typeface="Georgia" pitchFamily="34" charset="0"/>
                <a:ea typeface="Georgia" pitchFamily="34" charset="-122"/>
                <a:cs typeface="Georgia" pitchFamily="34" charset="-120"/>
              </a:rPr>
              <a:t>Structure coverage</a:t>
            </a:r>
            <a:endParaRPr lang="en-US" sz="2025" dirty="0"/>
          </a:p>
        </p:txBody>
      </p:sp>
      <p:sp>
        <p:nvSpPr>
          <p:cNvPr id="19" name="Text 17"/>
          <p:cNvSpPr/>
          <p:nvPr/>
        </p:nvSpPr>
        <p:spPr>
          <a:xfrm>
            <a:off x="5352852" y="5058172"/>
            <a:ext cx="3876857" cy="345017"/>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articles present</a:t>
            </a:r>
            <a:endParaRPr lang="en-US" sz="1800" dirty="0"/>
          </a:p>
        </p:txBody>
      </p:sp>
      <p:sp>
        <p:nvSpPr>
          <p:cNvPr id="20" name="Shape 18"/>
          <p:cNvSpPr/>
          <p:nvPr/>
        </p:nvSpPr>
        <p:spPr>
          <a:xfrm>
            <a:off x="990534" y="6278232"/>
            <a:ext cx="7886734" cy="10583"/>
          </a:xfrm>
          <a:prstGeom prst="rect">
            <a:avLst/>
          </a:prstGeom>
          <a:solidFill>
            <a:srgbClr val="E6E4DE"/>
          </a:solidFill>
          <a:ln/>
        </p:spPr>
      </p:sp>
      <p:sp>
        <p:nvSpPr>
          <p:cNvPr id="21" name="Text 19"/>
          <p:cNvSpPr/>
          <p:nvPr/>
        </p:nvSpPr>
        <p:spPr>
          <a:xfrm>
            <a:off x="990534" y="5779823"/>
            <a:ext cx="609501"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Courier New" pitchFamily="34" charset="0"/>
                <a:ea typeface="Courier New" pitchFamily="34" charset="-122"/>
                <a:cs typeface="Courier New" pitchFamily="34" charset="-120"/>
              </a:rPr>
              <a:t>§14</a:t>
            </a:r>
            <a:endParaRPr lang="en-US" sz="1800" dirty="0"/>
          </a:p>
        </p:txBody>
      </p:sp>
      <p:sp>
        <p:nvSpPr>
          <p:cNvPr id="22" name="Text 20"/>
          <p:cNvSpPr/>
          <p:nvPr/>
        </p:nvSpPr>
        <p:spPr>
          <a:xfrm>
            <a:off x="1676135" y="5748073"/>
            <a:ext cx="3876857" cy="387350"/>
          </a:xfrm>
          <a:prstGeom prst="rect">
            <a:avLst/>
          </a:prstGeom>
          <a:noFill/>
          <a:ln/>
        </p:spPr>
        <p:txBody>
          <a:bodyPr wrap="square" lIns="25400" tIns="25400" rIns="25400" bIns="25400" rtlCol="0" anchor="t">
            <a:normAutofit/>
          </a:bodyPr>
          <a:lstStyle/>
          <a:p>
            <a:pPr marL="0" indent="0" algn="l">
              <a:buNone/>
            </a:pPr>
            <a:r>
              <a:rPr lang="en-US" sz="2025" dirty="0">
                <a:solidFill>
                  <a:srgbClr val="1F1E1C"/>
                </a:solidFill>
                <a:latin typeface="Georgia" pitchFamily="34" charset="0"/>
                <a:ea typeface="Georgia" pitchFamily="34" charset="-122"/>
                <a:cs typeface="Georgia" pitchFamily="34" charset="-120"/>
              </a:rPr>
              <a:t>Coverage by article</a:t>
            </a:r>
            <a:endParaRPr lang="en-US" sz="2025" dirty="0"/>
          </a:p>
        </p:txBody>
      </p:sp>
      <p:sp>
        <p:nvSpPr>
          <p:cNvPr id="23" name="Text 21"/>
          <p:cNvSpPr/>
          <p:nvPr/>
        </p:nvSpPr>
        <p:spPr>
          <a:xfrm>
            <a:off x="5352852" y="5779823"/>
            <a:ext cx="3876857" cy="345017"/>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leaf count per article</a:t>
            </a:r>
            <a:endParaRPr lang="en-US" sz="1800" dirty="0"/>
          </a:p>
        </p:txBody>
      </p:sp>
      <p:sp>
        <p:nvSpPr>
          <p:cNvPr id="24" name="Shape 22"/>
          <p:cNvSpPr/>
          <p:nvPr/>
        </p:nvSpPr>
        <p:spPr>
          <a:xfrm>
            <a:off x="990534" y="7296217"/>
            <a:ext cx="7886734" cy="10583"/>
          </a:xfrm>
          <a:prstGeom prst="rect">
            <a:avLst/>
          </a:prstGeom>
          <a:solidFill>
            <a:srgbClr val="E6E4DE"/>
          </a:solidFill>
          <a:ln/>
        </p:spPr>
      </p:sp>
      <p:sp>
        <p:nvSpPr>
          <p:cNvPr id="25" name="Text 23"/>
          <p:cNvSpPr/>
          <p:nvPr/>
        </p:nvSpPr>
        <p:spPr>
          <a:xfrm>
            <a:off x="990534" y="6501474"/>
            <a:ext cx="609501"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Courier New" pitchFamily="34" charset="0"/>
                <a:ea typeface="Courier New" pitchFamily="34" charset="-122"/>
                <a:cs typeface="Courier New" pitchFamily="34" charset="-120"/>
              </a:rPr>
              <a:t>§17</a:t>
            </a:r>
            <a:endParaRPr lang="en-US" sz="1800" dirty="0"/>
          </a:p>
        </p:txBody>
      </p:sp>
      <p:sp>
        <p:nvSpPr>
          <p:cNvPr id="26" name="Text 24"/>
          <p:cNvSpPr/>
          <p:nvPr/>
        </p:nvSpPr>
        <p:spPr>
          <a:xfrm>
            <a:off x="1676135" y="6469724"/>
            <a:ext cx="3876857" cy="387350"/>
          </a:xfrm>
          <a:prstGeom prst="rect">
            <a:avLst/>
          </a:prstGeom>
          <a:noFill/>
          <a:ln/>
        </p:spPr>
        <p:txBody>
          <a:bodyPr wrap="square" lIns="25400" tIns="25400" rIns="25400" bIns="25400" rtlCol="0" anchor="t">
            <a:normAutofit/>
          </a:bodyPr>
          <a:lstStyle/>
          <a:p>
            <a:pPr marL="0" indent="0" algn="l">
              <a:buNone/>
            </a:pPr>
            <a:r>
              <a:rPr lang="en-US" sz="2025" dirty="0">
                <a:solidFill>
                  <a:srgbClr val="1F1E1C"/>
                </a:solidFill>
                <a:latin typeface="Georgia" pitchFamily="34" charset="0"/>
                <a:ea typeface="Georgia" pitchFamily="34" charset="-122"/>
                <a:cs typeface="Georgia" pitchFamily="34" charset="-120"/>
              </a:rPr>
              <a:t>Budget rule inventory</a:t>
            </a:r>
            <a:endParaRPr lang="en-US" sz="2025" dirty="0"/>
          </a:p>
        </p:txBody>
      </p:sp>
      <p:sp>
        <p:nvSpPr>
          <p:cNvPr id="27" name="Text 25"/>
          <p:cNvSpPr/>
          <p:nvPr/>
        </p:nvSpPr>
        <p:spPr>
          <a:xfrm>
            <a:off x="5352852" y="6501474"/>
            <a:ext cx="3630148" cy="651933"/>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HE scope, budget_relevance high</a:t>
            </a:r>
            <a:endParaRPr lang="en-US" sz="1800" dirty="0"/>
          </a:p>
        </p:txBody>
      </p:sp>
      <p:sp>
        <p:nvSpPr>
          <p:cNvPr id="28" name="Shape 26"/>
          <p:cNvSpPr/>
          <p:nvPr/>
        </p:nvSpPr>
        <p:spPr>
          <a:xfrm>
            <a:off x="990534" y="8017868"/>
            <a:ext cx="7886734" cy="10583"/>
          </a:xfrm>
          <a:prstGeom prst="rect">
            <a:avLst/>
          </a:prstGeom>
          <a:solidFill>
            <a:srgbClr val="E6E4DE"/>
          </a:solidFill>
          <a:ln/>
        </p:spPr>
      </p:sp>
      <p:sp>
        <p:nvSpPr>
          <p:cNvPr id="29" name="Text 27"/>
          <p:cNvSpPr/>
          <p:nvPr/>
        </p:nvSpPr>
        <p:spPr>
          <a:xfrm>
            <a:off x="990534" y="7519458"/>
            <a:ext cx="609501"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Courier New" pitchFamily="34" charset="0"/>
                <a:ea typeface="Courier New" pitchFamily="34" charset="-122"/>
                <a:cs typeface="Courier New" pitchFamily="34" charset="-120"/>
              </a:rPr>
              <a:t>§18</a:t>
            </a:r>
            <a:endParaRPr lang="en-US" sz="1800" dirty="0"/>
          </a:p>
        </p:txBody>
      </p:sp>
      <p:sp>
        <p:nvSpPr>
          <p:cNvPr id="30" name="Text 28"/>
          <p:cNvSpPr/>
          <p:nvPr/>
        </p:nvSpPr>
        <p:spPr>
          <a:xfrm>
            <a:off x="1676135" y="7487709"/>
            <a:ext cx="3876857" cy="387350"/>
          </a:xfrm>
          <a:prstGeom prst="rect">
            <a:avLst/>
          </a:prstGeom>
          <a:noFill/>
          <a:ln/>
        </p:spPr>
        <p:txBody>
          <a:bodyPr wrap="square" lIns="25400" tIns="25400" rIns="25400" bIns="25400" rtlCol="0" anchor="t">
            <a:normAutofit/>
          </a:bodyPr>
          <a:lstStyle/>
          <a:p>
            <a:pPr marL="0" indent="0" algn="l">
              <a:buNone/>
            </a:pPr>
            <a:r>
              <a:rPr lang="en-US" sz="2025" dirty="0">
                <a:solidFill>
                  <a:srgbClr val="1F1E1C"/>
                </a:solidFill>
                <a:latin typeface="Georgia" pitchFamily="34" charset="0"/>
                <a:ea typeface="Georgia" pitchFamily="34" charset="-122"/>
                <a:cs typeface="Georgia" pitchFamily="34" charset="-120"/>
              </a:rPr>
              <a:t>Tickets ingested</a:t>
            </a:r>
            <a:endParaRPr lang="en-US" sz="2025" dirty="0"/>
          </a:p>
        </p:txBody>
      </p:sp>
      <p:sp>
        <p:nvSpPr>
          <p:cNvPr id="31" name="Text 29"/>
          <p:cNvSpPr/>
          <p:nvPr/>
        </p:nvSpPr>
        <p:spPr>
          <a:xfrm>
            <a:off x="5352852" y="7519458"/>
            <a:ext cx="3876857" cy="345017"/>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nodes per ticket_id</a:t>
            </a:r>
            <a:endParaRPr lang="en-US" sz="1800" dirty="0"/>
          </a:p>
        </p:txBody>
      </p:sp>
      <p:sp>
        <p:nvSpPr>
          <p:cNvPr id="32" name="Shape 30"/>
          <p:cNvSpPr/>
          <p:nvPr/>
        </p:nvSpPr>
        <p:spPr>
          <a:xfrm>
            <a:off x="9410568" y="3391628"/>
            <a:ext cx="7886899" cy="10583"/>
          </a:xfrm>
          <a:prstGeom prst="rect">
            <a:avLst/>
          </a:prstGeom>
          <a:solidFill>
            <a:srgbClr val="CFCDC6"/>
          </a:solidFill>
          <a:ln/>
        </p:spPr>
      </p:sp>
      <p:sp>
        <p:nvSpPr>
          <p:cNvPr id="33" name="Text 31"/>
          <p:cNvSpPr/>
          <p:nvPr/>
        </p:nvSpPr>
        <p:spPr>
          <a:xfrm>
            <a:off x="9410568" y="2951427"/>
            <a:ext cx="8123506" cy="344951"/>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LINT CHECKS (MUST READ ZERO)</a:t>
            </a:r>
            <a:endParaRPr lang="en-US" sz="1800" dirty="0"/>
          </a:p>
        </p:txBody>
      </p:sp>
      <p:sp>
        <p:nvSpPr>
          <p:cNvPr id="34" name="Shape 32"/>
          <p:cNvSpPr/>
          <p:nvPr/>
        </p:nvSpPr>
        <p:spPr>
          <a:xfrm>
            <a:off x="9410568" y="4113279"/>
            <a:ext cx="7886899" cy="10583"/>
          </a:xfrm>
          <a:prstGeom prst="rect">
            <a:avLst/>
          </a:prstGeom>
          <a:solidFill>
            <a:srgbClr val="E6E4DE"/>
          </a:solidFill>
          <a:ln/>
        </p:spPr>
      </p:sp>
      <p:sp>
        <p:nvSpPr>
          <p:cNvPr id="35" name="Text 33"/>
          <p:cNvSpPr/>
          <p:nvPr/>
        </p:nvSpPr>
        <p:spPr>
          <a:xfrm>
            <a:off x="9410568" y="3614870"/>
            <a:ext cx="609501"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Courier New" pitchFamily="34" charset="0"/>
                <a:ea typeface="Courier New" pitchFamily="34" charset="-122"/>
                <a:cs typeface="Courier New" pitchFamily="34" charset="-120"/>
              </a:rPr>
              <a:t>§2</a:t>
            </a:r>
            <a:endParaRPr lang="en-US" sz="1800" dirty="0"/>
          </a:p>
        </p:txBody>
      </p:sp>
      <p:sp>
        <p:nvSpPr>
          <p:cNvPr id="36" name="Text 34"/>
          <p:cNvSpPr/>
          <p:nvPr/>
        </p:nvSpPr>
        <p:spPr>
          <a:xfrm>
            <a:off x="10096170" y="3583120"/>
            <a:ext cx="3876857" cy="387350"/>
          </a:xfrm>
          <a:prstGeom prst="rect">
            <a:avLst/>
          </a:prstGeom>
          <a:noFill/>
          <a:ln/>
        </p:spPr>
        <p:txBody>
          <a:bodyPr wrap="square" lIns="25400" tIns="25400" rIns="25400" bIns="25400" rtlCol="0" anchor="t">
            <a:normAutofit/>
          </a:bodyPr>
          <a:lstStyle/>
          <a:p>
            <a:pPr marL="0" indent="0" algn="l">
              <a:buNone/>
            </a:pPr>
            <a:r>
              <a:rPr lang="en-US" sz="2025" dirty="0">
                <a:solidFill>
                  <a:srgbClr val="1F1E1C"/>
                </a:solidFill>
                <a:latin typeface="Georgia" pitchFamily="34" charset="0"/>
                <a:ea typeface="Georgia" pitchFamily="34" charset="-122"/>
                <a:cs typeface="Georgia" pitchFamily="34" charset="-120"/>
              </a:rPr>
              <a:t>Missing frontmatter</a:t>
            </a:r>
            <a:endParaRPr lang="en-US" sz="2025" dirty="0"/>
          </a:p>
        </p:txBody>
      </p:sp>
      <p:sp>
        <p:nvSpPr>
          <p:cNvPr id="37" name="Text 35"/>
          <p:cNvSpPr/>
          <p:nvPr/>
        </p:nvSpPr>
        <p:spPr>
          <a:xfrm>
            <a:off x="13772886" y="3614870"/>
            <a:ext cx="3877039" cy="345017"/>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node_type = null</a:t>
            </a:r>
            <a:endParaRPr lang="en-US" sz="1800" dirty="0"/>
          </a:p>
        </p:txBody>
      </p:sp>
      <p:sp>
        <p:nvSpPr>
          <p:cNvPr id="38" name="Shape 36"/>
          <p:cNvSpPr/>
          <p:nvPr/>
        </p:nvSpPr>
        <p:spPr>
          <a:xfrm>
            <a:off x="9410568" y="4834930"/>
            <a:ext cx="7886899" cy="10583"/>
          </a:xfrm>
          <a:prstGeom prst="rect">
            <a:avLst/>
          </a:prstGeom>
          <a:solidFill>
            <a:srgbClr val="E6E4DE"/>
          </a:solidFill>
          <a:ln/>
        </p:spPr>
      </p:sp>
      <p:sp>
        <p:nvSpPr>
          <p:cNvPr id="39" name="Text 37"/>
          <p:cNvSpPr/>
          <p:nvPr/>
        </p:nvSpPr>
        <p:spPr>
          <a:xfrm>
            <a:off x="9410568" y="4336521"/>
            <a:ext cx="609501"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Courier New" pitchFamily="34" charset="0"/>
                <a:ea typeface="Courier New" pitchFamily="34" charset="-122"/>
                <a:cs typeface="Courier New" pitchFamily="34" charset="-120"/>
              </a:rPr>
              <a:t>§7</a:t>
            </a:r>
            <a:endParaRPr lang="en-US" sz="1800" dirty="0"/>
          </a:p>
        </p:txBody>
      </p:sp>
      <p:sp>
        <p:nvSpPr>
          <p:cNvPr id="40" name="Text 38"/>
          <p:cNvSpPr/>
          <p:nvPr/>
        </p:nvSpPr>
        <p:spPr>
          <a:xfrm>
            <a:off x="10096170" y="4304771"/>
            <a:ext cx="3876857" cy="387350"/>
          </a:xfrm>
          <a:prstGeom prst="rect">
            <a:avLst/>
          </a:prstGeom>
          <a:noFill/>
          <a:ln/>
        </p:spPr>
        <p:txBody>
          <a:bodyPr wrap="square" lIns="25400" tIns="25400" rIns="25400" bIns="25400" rtlCol="0" anchor="t">
            <a:normAutofit/>
          </a:bodyPr>
          <a:lstStyle/>
          <a:p>
            <a:pPr marL="0" indent="0" algn="l">
              <a:buNone/>
            </a:pPr>
            <a:r>
              <a:rPr lang="en-US" sz="2025" dirty="0">
                <a:solidFill>
                  <a:srgbClr val="1F1E1C"/>
                </a:solidFill>
                <a:latin typeface="Georgia" pitchFamily="34" charset="0"/>
                <a:ea typeface="Georgia" pitchFamily="34" charset="-122"/>
                <a:cs typeface="Georgia" pitchFamily="34" charset="-120"/>
              </a:rPr>
              <a:t>Orphans</a:t>
            </a:r>
            <a:endParaRPr lang="en-US" sz="2025" dirty="0"/>
          </a:p>
        </p:txBody>
      </p:sp>
      <p:sp>
        <p:nvSpPr>
          <p:cNvPr id="41" name="Text 39"/>
          <p:cNvSpPr/>
          <p:nvPr/>
        </p:nvSpPr>
        <p:spPr>
          <a:xfrm>
            <a:off x="13772886" y="4336521"/>
            <a:ext cx="3877039" cy="345017"/>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0 inbound links</a:t>
            </a:r>
            <a:endParaRPr lang="en-US" sz="1800" dirty="0"/>
          </a:p>
        </p:txBody>
      </p:sp>
      <p:sp>
        <p:nvSpPr>
          <p:cNvPr id="42" name="Shape 40"/>
          <p:cNvSpPr/>
          <p:nvPr/>
        </p:nvSpPr>
        <p:spPr>
          <a:xfrm>
            <a:off x="9410568" y="5556581"/>
            <a:ext cx="7886899" cy="10583"/>
          </a:xfrm>
          <a:prstGeom prst="rect">
            <a:avLst/>
          </a:prstGeom>
          <a:solidFill>
            <a:srgbClr val="E6E4DE"/>
          </a:solidFill>
          <a:ln/>
        </p:spPr>
      </p:sp>
      <p:sp>
        <p:nvSpPr>
          <p:cNvPr id="43" name="Text 41"/>
          <p:cNvSpPr/>
          <p:nvPr/>
        </p:nvSpPr>
        <p:spPr>
          <a:xfrm>
            <a:off x="9410568" y="5058172"/>
            <a:ext cx="609501"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Courier New" pitchFamily="34" charset="0"/>
                <a:ea typeface="Courier New" pitchFamily="34" charset="-122"/>
                <a:cs typeface="Courier New" pitchFamily="34" charset="-120"/>
              </a:rPr>
              <a:t>§8</a:t>
            </a:r>
            <a:endParaRPr lang="en-US" sz="1800" dirty="0"/>
          </a:p>
        </p:txBody>
      </p:sp>
      <p:sp>
        <p:nvSpPr>
          <p:cNvPr id="44" name="Text 42"/>
          <p:cNvSpPr/>
          <p:nvPr/>
        </p:nvSpPr>
        <p:spPr>
          <a:xfrm>
            <a:off x="10096170" y="5026422"/>
            <a:ext cx="3876857" cy="387350"/>
          </a:xfrm>
          <a:prstGeom prst="rect">
            <a:avLst/>
          </a:prstGeom>
          <a:noFill/>
          <a:ln/>
        </p:spPr>
        <p:txBody>
          <a:bodyPr wrap="square" lIns="25400" tIns="25400" rIns="25400" bIns="25400" rtlCol="0" anchor="t">
            <a:normAutofit/>
          </a:bodyPr>
          <a:lstStyle/>
          <a:p>
            <a:pPr marL="0" indent="0" algn="l">
              <a:buNone/>
            </a:pPr>
            <a:r>
              <a:rPr lang="en-US" sz="2025" dirty="0">
                <a:solidFill>
                  <a:srgbClr val="1F1E1C"/>
                </a:solidFill>
                <a:latin typeface="Georgia" pitchFamily="34" charset="0"/>
                <a:ea typeface="Georgia" pitchFamily="34" charset="-122"/>
                <a:cs typeface="Georgia" pitchFamily="34" charset="-120"/>
              </a:rPr>
              <a:t>Leaves without anchors</a:t>
            </a:r>
            <a:endParaRPr lang="en-US" sz="2025" dirty="0"/>
          </a:p>
        </p:txBody>
      </p:sp>
      <p:sp>
        <p:nvSpPr>
          <p:cNvPr id="45" name="Text 43"/>
          <p:cNvSpPr/>
          <p:nvPr/>
        </p:nvSpPr>
        <p:spPr>
          <a:xfrm>
            <a:off x="13772886" y="5058172"/>
            <a:ext cx="3877039" cy="345017"/>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layer 3 must have ≥1</a:t>
            </a:r>
            <a:endParaRPr lang="en-US" sz="1800" dirty="0"/>
          </a:p>
        </p:txBody>
      </p:sp>
      <p:sp>
        <p:nvSpPr>
          <p:cNvPr id="46" name="Shape 44"/>
          <p:cNvSpPr/>
          <p:nvPr/>
        </p:nvSpPr>
        <p:spPr>
          <a:xfrm>
            <a:off x="9410568" y="6627482"/>
            <a:ext cx="7886899" cy="10583"/>
          </a:xfrm>
          <a:prstGeom prst="rect">
            <a:avLst/>
          </a:prstGeom>
          <a:solidFill>
            <a:srgbClr val="E6E4DE"/>
          </a:solidFill>
          <a:ln/>
        </p:spPr>
      </p:sp>
      <p:sp>
        <p:nvSpPr>
          <p:cNvPr id="47" name="Text 45"/>
          <p:cNvSpPr/>
          <p:nvPr/>
        </p:nvSpPr>
        <p:spPr>
          <a:xfrm>
            <a:off x="9410568" y="5779823"/>
            <a:ext cx="609501"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Courier New" pitchFamily="34" charset="0"/>
                <a:ea typeface="Courier New" pitchFamily="34" charset="-122"/>
                <a:cs typeface="Courier New" pitchFamily="34" charset="-120"/>
              </a:rPr>
              <a:t>§9</a:t>
            </a:r>
            <a:endParaRPr lang="en-US" sz="1800" dirty="0"/>
          </a:p>
        </p:txBody>
      </p:sp>
      <p:sp>
        <p:nvSpPr>
          <p:cNvPr id="48" name="Text 46"/>
          <p:cNvSpPr/>
          <p:nvPr/>
        </p:nvSpPr>
        <p:spPr>
          <a:xfrm>
            <a:off x="10096170" y="5748073"/>
            <a:ext cx="3630148" cy="736600"/>
          </a:xfrm>
          <a:prstGeom prst="rect">
            <a:avLst/>
          </a:prstGeom>
          <a:noFill/>
          <a:ln/>
        </p:spPr>
        <p:txBody>
          <a:bodyPr wrap="square" lIns="25400" tIns="25400" rIns="25400" bIns="25400" rtlCol="0" anchor="t">
            <a:normAutofit/>
          </a:bodyPr>
          <a:lstStyle/>
          <a:p>
            <a:pPr marL="0" indent="0" algn="l">
              <a:buNone/>
            </a:pPr>
            <a:r>
              <a:rPr lang="en-US" sz="2025" dirty="0">
                <a:solidFill>
                  <a:srgbClr val="1F1E1C"/>
                </a:solidFill>
                <a:latin typeface="Georgia" pitchFamily="34" charset="0"/>
                <a:ea typeface="Georgia" pitchFamily="34" charset="-122"/>
                <a:cs typeface="Georgia" pitchFamily="34" charset="-120"/>
              </a:rPr>
              <a:t>Factual nodes without source_refs</a:t>
            </a:r>
            <a:endParaRPr lang="en-US" sz="2025" dirty="0"/>
          </a:p>
        </p:txBody>
      </p:sp>
      <p:sp>
        <p:nvSpPr>
          <p:cNvPr id="49" name="Text 47"/>
          <p:cNvSpPr/>
          <p:nvPr/>
        </p:nvSpPr>
        <p:spPr>
          <a:xfrm>
            <a:off x="13772886" y="5779823"/>
            <a:ext cx="3877039" cy="345017"/>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canonical_owner = source</a:t>
            </a:r>
            <a:endParaRPr lang="en-US" sz="1800" dirty="0"/>
          </a:p>
        </p:txBody>
      </p:sp>
      <p:sp>
        <p:nvSpPr>
          <p:cNvPr id="50" name="Shape 48"/>
          <p:cNvSpPr/>
          <p:nvPr/>
        </p:nvSpPr>
        <p:spPr>
          <a:xfrm>
            <a:off x="9410568" y="7349133"/>
            <a:ext cx="7886899" cy="10583"/>
          </a:xfrm>
          <a:prstGeom prst="rect">
            <a:avLst/>
          </a:prstGeom>
          <a:solidFill>
            <a:srgbClr val="E6E4DE"/>
          </a:solidFill>
          <a:ln/>
        </p:spPr>
      </p:sp>
      <p:sp>
        <p:nvSpPr>
          <p:cNvPr id="51" name="Text 49"/>
          <p:cNvSpPr/>
          <p:nvPr/>
        </p:nvSpPr>
        <p:spPr>
          <a:xfrm>
            <a:off x="9410568" y="6850724"/>
            <a:ext cx="609501"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Courier New" pitchFamily="34" charset="0"/>
                <a:ea typeface="Courier New" pitchFamily="34" charset="-122"/>
                <a:cs typeface="Courier New" pitchFamily="34" charset="-120"/>
              </a:rPr>
              <a:t>§11</a:t>
            </a:r>
            <a:endParaRPr lang="en-US" sz="1800" dirty="0"/>
          </a:p>
        </p:txBody>
      </p:sp>
      <p:sp>
        <p:nvSpPr>
          <p:cNvPr id="52" name="Text 50"/>
          <p:cNvSpPr/>
          <p:nvPr/>
        </p:nvSpPr>
        <p:spPr>
          <a:xfrm>
            <a:off x="10096170" y="6818974"/>
            <a:ext cx="3876857" cy="387350"/>
          </a:xfrm>
          <a:prstGeom prst="rect">
            <a:avLst/>
          </a:prstGeom>
          <a:noFill/>
          <a:ln/>
        </p:spPr>
        <p:txBody>
          <a:bodyPr wrap="square" lIns="25400" tIns="25400" rIns="25400" bIns="25400" rtlCol="0" anchor="t">
            <a:normAutofit/>
          </a:bodyPr>
          <a:lstStyle/>
          <a:p>
            <a:pPr marL="0" indent="0" algn="l">
              <a:buNone/>
            </a:pPr>
            <a:r>
              <a:rPr lang="en-US" sz="2025" dirty="0">
                <a:solidFill>
                  <a:srgbClr val="1F1E1C"/>
                </a:solidFill>
                <a:latin typeface="Georgia" pitchFamily="34" charset="0"/>
                <a:ea typeface="Georgia" pitchFamily="34" charset="-122"/>
                <a:cs typeface="Georgia" pitchFamily="34" charset="-120"/>
              </a:rPr>
              <a:t>Needs review / low certainty</a:t>
            </a:r>
            <a:endParaRPr lang="en-US" sz="2025" dirty="0"/>
          </a:p>
        </p:txBody>
      </p:sp>
      <p:sp>
        <p:nvSpPr>
          <p:cNvPr id="53" name="Text 51"/>
          <p:cNvSpPr/>
          <p:nvPr/>
        </p:nvSpPr>
        <p:spPr>
          <a:xfrm>
            <a:off x="13772886" y="6850724"/>
            <a:ext cx="3877039" cy="345017"/>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by ticket_id</a:t>
            </a:r>
            <a:endParaRPr lang="en-US" sz="1800" dirty="0"/>
          </a:p>
        </p:txBody>
      </p:sp>
      <p:sp>
        <p:nvSpPr>
          <p:cNvPr id="54" name="Shape 52"/>
          <p:cNvSpPr/>
          <p:nvPr/>
        </p:nvSpPr>
        <p:spPr>
          <a:xfrm>
            <a:off x="9410568" y="8070784"/>
            <a:ext cx="7886899" cy="10583"/>
          </a:xfrm>
          <a:prstGeom prst="rect">
            <a:avLst/>
          </a:prstGeom>
          <a:solidFill>
            <a:srgbClr val="E6E4DE"/>
          </a:solidFill>
          <a:ln/>
        </p:spPr>
      </p:sp>
      <p:sp>
        <p:nvSpPr>
          <p:cNvPr id="55" name="Text 53"/>
          <p:cNvSpPr/>
          <p:nvPr/>
        </p:nvSpPr>
        <p:spPr>
          <a:xfrm>
            <a:off x="9410568" y="7572376"/>
            <a:ext cx="609501" cy="334433"/>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Courier New" pitchFamily="34" charset="0"/>
                <a:ea typeface="Courier New" pitchFamily="34" charset="-122"/>
                <a:cs typeface="Courier New" pitchFamily="34" charset="-120"/>
              </a:rPr>
              <a:t>§15</a:t>
            </a:r>
            <a:endParaRPr lang="en-US" sz="1800" dirty="0"/>
          </a:p>
        </p:txBody>
      </p:sp>
      <p:sp>
        <p:nvSpPr>
          <p:cNvPr id="56" name="Text 54"/>
          <p:cNvSpPr/>
          <p:nvPr/>
        </p:nvSpPr>
        <p:spPr>
          <a:xfrm>
            <a:off x="10096170" y="7540625"/>
            <a:ext cx="3876857" cy="387350"/>
          </a:xfrm>
          <a:prstGeom prst="rect">
            <a:avLst/>
          </a:prstGeom>
          <a:noFill/>
          <a:ln/>
        </p:spPr>
        <p:txBody>
          <a:bodyPr wrap="square" lIns="25400" tIns="25400" rIns="25400" bIns="25400" rtlCol="0" anchor="t">
            <a:normAutofit/>
          </a:bodyPr>
          <a:lstStyle/>
          <a:p>
            <a:pPr marL="0" indent="0" algn="l">
              <a:buNone/>
            </a:pPr>
            <a:r>
              <a:rPr lang="en-US" sz="2025" dirty="0">
                <a:solidFill>
                  <a:srgbClr val="1F1E1C"/>
                </a:solidFill>
                <a:latin typeface="Georgia" pitchFamily="34" charset="0"/>
                <a:ea typeface="Georgia" pitchFamily="34" charset="-122"/>
                <a:cs typeface="Georgia" pitchFamily="34" charset="-120"/>
              </a:rPr>
              <a:t>Programme scope missing</a:t>
            </a:r>
            <a:endParaRPr lang="en-US" sz="2025" dirty="0"/>
          </a:p>
        </p:txBody>
      </p:sp>
      <p:sp>
        <p:nvSpPr>
          <p:cNvPr id="57" name="Text 55"/>
          <p:cNvSpPr/>
          <p:nvPr/>
        </p:nvSpPr>
        <p:spPr>
          <a:xfrm>
            <a:off x="13772886" y="7572376"/>
            <a:ext cx="3877039" cy="345017"/>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programme_scope empty</a:t>
            </a:r>
            <a:endParaRPr lang="en-US" sz="1800" dirty="0"/>
          </a:p>
        </p:txBody>
      </p:sp>
      <p:sp>
        <p:nvSpPr>
          <p:cNvPr id="58" name="Shape 56"/>
          <p:cNvSpPr/>
          <p:nvPr/>
        </p:nvSpPr>
        <p:spPr>
          <a:xfrm>
            <a:off x="990534" y="8657994"/>
            <a:ext cx="8020183" cy="1095706"/>
          </a:xfrm>
          <a:prstGeom prst="roundRect">
            <a:avLst>
              <a:gd name="adj" fmla="val 10432"/>
            </a:avLst>
          </a:prstGeom>
          <a:solidFill>
            <a:srgbClr val="ECE8FB"/>
          </a:solidFill>
          <a:ln w="10583">
            <a:solidFill>
              <a:srgbClr val="7B6CD9"/>
            </a:solidFill>
            <a:prstDash val="solid"/>
          </a:ln>
        </p:spPr>
      </p:sp>
      <p:sp>
        <p:nvSpPr>
          <p:cNvPr id="59" name="Text 57"/>
          <p:cNvSpPr/>
          <p:nvPr/>
        </p:nvSpPr>
        <p:spPr>
          <a:xfrm>
            <a:off x="1286867" y="8859077"/>
            <a:ext cx="7668121" cy="731639"/>
          </a:xfrm>
          <a:prstGeom prst="rect">
            <a:avLst/>
          </a:prstGeom>
          <a:noFill/>
          <a:ln/>
        </p:spPr>
        <p:txBody>
          <a:bodyPr wrap="square" lIns="25400" tIns="25400" rIns="25400" bIns="25400" rtlCol="0" anchor="t">
            <a:normAutofit lnSpcReduction="10000"/>
          </a:bodyPr>
          <a:lstStyle/>
          <a:p>
            <a:pPr marL="0" indent="0" algn="l">
              <a:lnSpc>
                <a:spcPct val="126000"/>
              </a:lnSpc>
              <a:buNone/>
            </a:pPr>
            <a:r>
              <a:rPr lang="en-US" sz="1950" dirty="0">
                <a:solidFill>
                  <a:srgbClr val="3B2D8A"/>
                </a:solidFill>
                <a:latin typeface="Georgia" pitchFamily="34" charset="0"/>
                <a:ea typeface="Georgia" pitchFamily="34" charset="-122"/>
                <a:cs typeface="Georgia" pitchFamily="34" charset="-120"/>
              </a:rPr>
              <a:t>Read at every G7 lint pass and every snapshot; snapshot metrics copy §1, §4, §7, §8, §9 and §11.</a:t>
            </a:r>
            <a:endParaRPr lang="en-US" sz="1950" dirty="0"/>
          </a:p>
        </p:txBody>
      </p:sp>
      <p:sp>
        <p:nvSpPr>
          <p:cNvPr id="60" name="Shape 58"/>
          <p:cNvSpPr/>
          <p:nvPr/>
        </p:nvSpPr>
        <p:spPr>
          <a:xfrm>
            <a:off x="9277284" y="8657994"/>
            <a:ext cx="8020183" cy="1095706"/>
          </a:xfrm>
          <a:prstGeom prst="roundRect">
            <a:avLst>
              <a:gd name="adj" fmla="val 10432"/>
            </a:avLst>
          </a:prstGeom>
          <a:solidFill>
            <a:srgbClr val="FFFFFF"/>
          </a:solidFill>
          <a:ln w="10583">
            <a:solidFill>
              <a:srgbClr val="DCDAD4"/>
            </a:solidFill>
            <a:prstDash val="solid"/>
          </a:ln>
        </p:spPr>
      </p:sp>
      <p:sp>
        <p:nvSpPr>
          <p:cNvPr id="61" name="Text 59"/>
          <p:cNvSpPr/>
          <p:nvPr/>
        </p:nvSpPr>
        <p:spPr>
          <a:xfrm>
            <a:off x="9573618" y="8859077"/>
            <a:ext cx="7668121" cy="731639"/>
          </a:xfrm>
          <a:prstGeom prst="rect">
            <a:avLst/>
          </a:prstGeom>
          <a:noFill/>
          <a:ln/>
        </p:spPr>
        <p:txBody>
          <a:bodyPr wrap="square" lIns="25400" tIns="25400" rIns="25400" bIns="25400" rtlCol="0" anchor="t">
            <a:normAutofit lnSpcReduction="10000"/>
          </a:bodyPr>
          <a:lstStyle/>
          <a:p>
            <a:pPr marL="0" indent="0" algn="l">
              <a:lnSpc>
                <a:spcPct val="126000"/>
              </a:lnSpc>
              <a:buNone/>
            </a:pPr>
            <a:r>
              <a:rPr lang="en-US" sz="1950" dirty="0">
                <a:solidFill>
                  <a:srgbClr val="3D3B37"/>
                </a:solidFill>
                <a:latin typeface="Georgia" pitchFamily="34" charset="0"/>
                <a:ea typeface="Georgia" pitchFamily="34" charset="-122"/>
                <a:cs typeface="Georgia" pitchFamily="34" charset="-120"/>
              </a:rPr>
              <a:t>Known Distinct Pairs: pages flagged by Smart Connections as near-duplicates but confirmed distinct.</a:t>
            </a:r>
            <a:endParaRPr lang="en-US" sz="1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990534" y="838068"/>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838068"/>
            <a:ext cx="338303"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21</a:t>
            </a:r>
            <a:endParaRPr lang="en-US" sz="1950" dirty="0"/>
          </a:p>
        </p:txBody>
      </p:sp>
      <p:sp>
        <p:nvSpPr>
          <p:cNvPr id="4" name="Text 2"/>
          <p:cNvSpPr/>
          <p:nvPr/>
        </p:nvSpPr>
        <p:spPr>
          <a:xfrm>
            <a:off x="990534" y="1595768"/>
            <a:ext cx="17937626" cy="821267"/>
          </a:xfrm>
          <a:prstGeom prst="rect">
            <a:avLst/>
          </a:prstGeom>
          <a:noFill/>
          <a:ln/>
        </p:spPr>
        <p:txBody>
          <a:bodyPr wrap="square" lIns="25400" tIns="25400" rIns="25400" bIns="25400" rtlCol="0" anchor="t">
            <a:normAutofit/>
          </a:bodyPr>
          <a:lstStyle/>
          <a:p>
            <a:pPr marL="0" indent="0" algn="l">
              <a:buNone/>
            </a:pPr>
            <a:r>
              <a:rPr lang="en-US" sz="4500" dirty="0">
                <a:solidFill>
                  <a:srgbClr val="1F1E1C"/>
                </a:solidFill>
                <a:latin typeface="Georgia" pitchFamily="34" charset="0"/>
                <a:ea typeface="Georgia" pitchFamily="34" charset="-122"/>
                <a:cs typeface="Georgia" pitchFamily="34" charset="-120"/>
              </a:rPr>
              <a:t>Milestones and evidence</a:t>
            </a:r>
            <a:endParaRPr lang="en-US" sz="4500" dirty="0"/>
          </a:p>
        </p:txBody>
      </p:sp>
      <p:sp>
        <p:nvSpPr>
          <p:cNvPr id="5" name="Shape 3"/>
          <p:cNvSpPr/>
          <p:nvPr/>
        </p:nvSpPr>
        <p:spPr>
          <a:xfrm>
            <a:off x="990534" y="3404361"/>
            <a:ext cx="3913518" cy="10583"/>
          </a:xfrm>
          <a:prstGeom prst="rect">
            <a:avLst/>
          </a:prstGeom>
          <a:solidFill>
            <a:srgbClr val="CFCDC6"/>
          </a:solidFill>
          <a:ln/>
        </p:spPr>
      </p:sp>
      <p:sp>
        <p:nvSpPr>
          <p:cNvPr id="6" name="Text 4"/>
          <p:cNvSpPr/>
          <p:nvPr/>
        </p:nvSpPr>
        <p:spPr>
          <a:xfrm>
            <a:off x="990534" y="2912236"/>
            <a:ext cx="4030924" cy="339725"/>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MILESTONE</a:t>
            </a:r>
            <a:endParaRPr lang="en-US" sz="1800" dirty="0"/>
          </a:p>
        </p:txBody>
      </p:sp>
      <p:sp>
        <p:nvSpPr>
          <p:cNvPr id="7" name="Shape 5"/>
          <p:cNvSpPr/>
          <p:nvPr/>
        </p:nvSpPr>
        <p:spPr>
          <a:xfrm>
            <a:off x="4904052" y="3404361"/>
            <a:ext cx="5870443" cy="10583"/>
          </a:xfrm>
          <a:prstGeom prst="rect">
            <a:avLst/>
          </a:prstGeom>
          <a:solidFill>
            <a:srgbClr val="CFCDC6"/>
          </a:solidFill>
          <a:ln/>
        </p:spPr>
      </p:sp>
      <p:sp>
        <p:nvSpPr>
          <p:cNvPr id="8" name="Text 6"/>
          <p:cNvSpPr/>
          <p:nvPr/>
        </p:nvSpPr>
        <p:spPr>
          <a:xfrm>
            <a:off x="4904052" y="2912236"/>
            <a:ext cx="6046556" cy="339725"/>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EXPECTED EXIT</a:t>
            </a:r>
            <a:endParaRPr lang="en-US" sz="1800" dirty="0"/>
          </a:p>
        </p:txBody>
      </p:sp>
      <p:sp>
        <p:nvSpPr>
          <p:cNvPr id="9" name="Shape 7"/>
          <p:cNvSpPr/>
          <p:nvPr/>
        </p:nvSpPr>
        <p:spPr>
          <a:xfrm>
            <a:off x="10774496" y="3404361"/>
            <a:ext cx="6522972" cy="10583"/>
          </a:xfrm>
          <a:prstGeom prst="rect">
            <a:avLst/>
          </a:prstGeom>
          <a:solidFill>
            <a:srgbClr val="CFCDC6"/>
          </a:solidFill>
          <a:ln/>
        </p:spPr>
      </p:sp>
      <p:sp>
        <p:nvSpPr>
          <p:cNvPr id="10" name="Text 8"/>
          <p:cNvSpPr/>
          <p:nvPr/>
        </p:nvSpPr>
        <p:spPr>
          <a:xfrm>
            <a:off x="10774496" y="2912236"/>
            <a:ext cx="6718661" cy="339725"/>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SUPPLIED EVIDENCE</a:t>
            </a:r>
            <a:endParaRPr lang="en-US" sz="1800" dirty="0"/>
          </a:p>
        </p:txBody>
      </p:sp>
      <p:sp>
        <p:nvSpPr>
          <p:cNvPr id="11" name="Shape 9"/>
          <p:cNvSpPr/>
          <p:nvPr/>
        </p:nvSpPr>
        <p:spPr>
          <a:xfrm>
            <a:off x="990534" y="4378028"/>
            <a:ext cx="3913518" cy="10583"/>
          </a:xfrm>
          <a:prstGeom prst="rect">
            <a:avLst/>
          </a:prstGeom>
          <a:solidFill>
            <a:srgbClr val="E6E4DE"/>
          </a:solidFill>
          <a:ln/>
        </p:spPr>
      </p:sp>
      <p:sp>
        <p:nvSpPr>
          <p:cNvPr id="12" name="Text 10"/>
          <p:cNvSpPr/>
          <p:nvPr/>
        </p:nvSpPr>
        <p:spPr>
          <a:xfrm>
            <a:off x="990534" y="3700694"/>
            <a:ext cx="3649924" cy="429683"/>
          </a:xfrm>
          <a:prstGeom prst="rect">
            <a:avLst/>
          </a:prstGeom>
          <a:noFill/>
          <a:ln/>
        </p:spPr>
        <p:txBody>
          <a:bodyPr wrap="square" lIns="25400" tIns="25400" rIns="25400" bIns="25400" rtlCol="0" anchor="ctr">
            <a:normAutofit/>
          </a:bodyPr>
          <a:lstStyle/>
          <a:p>
            <a:pPr marL="0" indent="0" algn="l">
              <a:buNone/>
            </a:pPr>
            <a:r>
              <a:rPr lang="en-US" sz="2250" dirty="0">
                <a:solidFill>
                  <a:srgbClr val="1F1E1C"/>
                </a:solidFill>
                <a:latin typeface="Georgia" pitchFamily="34" charset="0"/>
                <a:ea typeface="Georgia" pitchFamily="34" charset="-122"/>
                <a:cs typeface="Georgia" pitchFamily="34" charset="-120"/>
              </a:rPr>
              <a:t>M0 Bootstrap</a:t>
            </a:r>
            <a:endParaRPr lang="en-US" sz="2250" dirty="0"/>
          </a:p>
        </p:txBody>
      </p:sp>
      <p:sp>
        <p:nvSpPr>
          <p:cNvPr id="13" name="Shape 11"/>
          <p:cNvSpPr/>
          <p:nvPr/>
        </p:nvSpPr>
        <p:spPr>
          <a:xfrm>
            <a:off x="4904052" y="4378028"/>
            <a:ext cx="5870443" cy="10583"/>
          </a:xfrm>
          <a:prstGeom prst="rect">
            <a:avLst/>
          </a:prstGeom>
          <a:solidFill>
            <a:srgbClr val="E6E4DE"/>
          </a:solidFill>
          <a:ln/>
        </p:spPr>
      </p:sp>
      <p:sp>
        <p:nvSpPr>
          <p:cNvPr id="14" name="Text 12"/>
          <p:cNvSpPr/>
          <p:nvPr/>
        </p:nvSpPr>
        <p:spPr>
          <a:xfrm>
            <a:off x="4904052" y="3700694"/>
            <a:ext cx="5665556" cy="429683"/>
          </a:xfrm>
          <a:prstGeom prst="rect">
            <a:avLst/>
          </a:prstGeom>
          <a:noFill/>
          <a:ln/>
        </p:spPr>
        <p:txBody>
          <a:bodyPr wrap="square" lIns="25400" tIns="25400" rIns="25400" bIns="25400" rtlCol="0" anchor="ctr">
            <a:normAutofit/>
          </a:bodyPr>
          <a:lstStyle/>
          <a:p>
            <a:pPr marL="0" indent="0" algn="l">
              <a:buNone/>
            </a:pPr>
            <a:r>
              <a:rPr lang="en-US" sz="2250" dirty="0">
                <a:solidFill>
                  <a:srgbClr val="3D3B37"/>
                </a:solidFill>
                <a:latin typeface="Georgia" pitchFamily="34" charset="0"/>
                <a:ea typeface="Georgia" pitchFamily="34" charset="-122"/>
                <a:cs typeface="Georgia" pitchFamily="34" charset="-120"/>
              </a:rPr>
              <a:t>PDF, plugins, Notes, dashboard</a:t>
            </a:r>
            <a:endParaRPr lang="en-US" sz="2250" dirty="0"/>
          </a:p>
        </p:txBody>
      </p:sp>
      <p:sp>
        <p:nvSpPr>
          <p:cNvPr id="15" name="Shape 13"/>
          <p:cNvSpPr/>
          <p:nvPr/>
        </p:nvSpPr>
        <p:spPr>
          <a:xfrm>
            <a:off x="10774496" y="4378028"/>
            <a:ext cx="6522972" cy="10583"/>
          </a:xfrm>
          <a:prstGeom prst="rect">
            <a:avLst/>
          </a:prstGeom>
          <a:solidFill>
            <a:srgbClr val="E6E4DE"/>
          </a:solidFill>
          <a:ln/>
        </p:spPr>
      </p:sp>
      <p:sp>
        <p:nvSpPr>
          <p:cNvPr id="16" name="Text 14"/>
          <p:cNvSpPr/>
          <p:nvPr/>
        </p:nvSpPr>
        <p:spPr>
          <a:xfrm>
            <a:off x="10774496" y="3700694"/>
            <a:ext cx="6718661" cy="429683"/>
          </a:xfrm>
          <a:prstGeom prst="rect">
            <a:avLst/>
          </a:prstGeom>
          <a:noFill/>
          <a:ln/>
        </p:spPr>
        <p:txBody>
          <a:bodyPr wrap="square" lIns="25400" tIns="25400" rIns="25400" bIns="25400" rtlCol="0" anchor="ctr">
            <a:normAutofit/>
          </a:bodyPr>
          <a:lstStyle/>
          <a:p>
            <a:pPr marL="0" indent="0" algn="l">
              <a:buNone/>
            </a:pPr>
            <a:r>
              <a:rPr lang="en-US" sz="2250" dirty="0">
                <a:solidFill>
                  <a:srgbClr val="7A5410"/>
                </a:solidFill>
                <a:latin typeface="Georgia" pitchFamily="34" charset="0"/>
                <a:ea typeface="Georgia" pitchFamily="34" charset="-122"/>
                <a:cs typeface="Georgia" pitchFamily="34" charset="-120"/>
              </a:rPr>
              <a:t>Setup reported; no S0 snapshot</a:t>
            </a:r>
            <a:endParaRPr lang="en-US" sz="2250" dirty="0"/>
          </a:p>
        </p:txBody>
      </p:sp>
      <p:sp>
        <p:nvSpPr>
          <p:cNvPr id="17" name="Shape 15"/>
          <p:cNvSpPr/>
          <p:nvPr/>
        </p:nvSpPr>
        <p:spPr>
          <a:xfrm>
            <a:off x="990534" y="5351694"/>
            <a:ext cx="3913518" cy="10583"/>
          </a:xfrm>
          <a:prstGeom prst="rect">
            <a:avLst/>
          </a:prstGeom>
          <a:solidFill>
            <a:srgbClr val="E6E4DE"/>
          </a:solidFill>
          <a:ln/>
        </p:spPr>
      </p:sp>
      <p:sp>
        <p:nvSpPr>
          <p:cNvPr id="18" name="Text 16"/>
          <p:cNvSpPr/>
          <p:nvPr/>
        </p:nvSpPr>
        <p:spPr>
          <a:xfrm>
            <a:off x="990534" y="4674361"/>
            <a:ext cx="3649924" cy="429683"/>
          </a:xfrm>
          <a:prstGeom prst="rect">
            <a:avLst/>
          </a:prstGeom>
          <a:noFill/>
          <a:ln/>
        </p:spPr>
        <p:txBody>
          <a:bodyPr wrap="square" lIns="25400" tIns="25400" rIns="25400" bIns="25400" rtlCol="0" anchor="ctr">
            <a:normAutofit/>
          </a:bodyPr>
          <a:lstStyle/>
          <a:p>
            <a:pPr marL="0" indent="0" algn="l">
              <a:buNone/>
            </a:pPr>
            <a:r>
              <a:rPr lang="en-US" sz="2250" dirty="0">
                <a:solidFill>
                  <a:srgbClr val="1F1E1C"/>
                </a:solidFill>
                <a:latin typeface="Georgia" pitchFamily="34" charset="0"/>
                <a:ea typeface="Georgia" pitchFamily="34" charset="-122"/>
                <a:cs typeface="Georgia" pitchFamily="34" charset="-120"/>
              </a:rPr>
              <a:t>M1 Schema</a:t>
            </a:r>
            <a:endParaRPr lang="en-US" sz="2250" dirty="0"/>
          </a:p>
        </p:txBody>
      </p:sp>
      <p:sp>
        <p:nvSpPr>
          <p:cNvPr id="19" name="Shape 17"/>
          <p:cNvSpPr/>
          <p:nvPr/>
        </p:nvSpPr>
        <p:spPr>
          <a:xfrm>
            <a:off x="4904052" y="5351694"/>
            <a:ext cx="5870443" cy="10583"/>
          </a:xfrm>
          <a:prstGeom prst="rect">
            <a:avLst/>
          </a:prstGeom>
          <a:solidFill>
            <a:srgbClr val="E6E4DE"/>
          </a:solidFill>
          <a:ln/>
        </p:spPr>
      </p:sp>
      <p:sp>
        <p:nvSpPr>
          <p:cNvPr id="20" name="Text 18"/>
          <p:cNvSpPr/>
          <p:nvPr/>
        </p:nvSpPr>
        <p:spPr>
          <a:xfrm>
            <a:off x="4904052" y="4674361"/>
            <a:ext cx="5665556" cy="429683"/>
          </a:xfrm>
          <a:prstGeom prst="rect">
            <a:avLst/>
          </a:prstGeom>
          <a:noFill/>
          <a:ln/>
        </p:spPr>
        <p:txBody>
          <a:bodyPr wrap="square" lIns="25400" tIns="25400" rIns="25400" bIns="25400" rtlCol="0" anchor="ctr">
            <a:normAutofit/>
          </a:bodyPr>
          <a:lstStyle/>
          <a:p>
            <a:pPr marL="0" indent="0" algn="l">
              <a:buNone/>
            </a:pPr>
            <a:r>
              <a:rPr lang="en-US" sz="2250" dirty="0">
                <a:solidFill>
                  <a:srgbClr val="3D3B37"/>
                </a:solidFill>
                <a:latin typeface="Georgia" pitchFamily="34" charset="0"/>
                <a:ea typeface="Georgia" pitchFamily="34" charset="-122"/>
                <a:cs typeface="Georgia" pitchFamily="34" charset="-120"/>
              </a:rPr>
              <a:t>Ratified schema and G4 check</a:t>
            </a:r>
            <a:endParaRPr lang="en-US" sz="2250" dirty="0"/>
          </a:p>
        </p:txBody>
      </p:sp>
      <p:sp>
        <p:nvSpPr>
          <p:cNvPr id="21" name="Shape 19"/>
          <p:cNvSpPr/>
          <p:nvPr/>
        </p:nvSpPr>
        <p:spPr>
          <a:xfrm>
            <a:off x="10774496" y="5351694"/>
            <a:ext cx="6522972" cy="10583"/>
          </a:xfrm>
          <a:prstGeom prst="rect">
            <a:avLst/>
          </a:prstGeom>
          <a:solidFill>
            <a:srgbClr val="E6E4DE"/>
          </a:solidFill>
          <a:ln/>
        </p:spPr>
      </p:sp>
      <p:sp>
        <p:nvSpPr>
          <p:cNvPr id="22" name="Text 20"/>
          <p:cNvSpPr/>
          <p:nvPr/>
        </p:nvSpPr>
        <p:spPr>
          <a:xfrm>
            <a:off x="10774496" y="4674361"/>
            <a:ext cx="6718661" cy="429683"/>
          </a:xfrm>
          <a:prstGeom prst="rect">
            <a:avLst/>
          </a:prstGeom>
          <a:noFill/>
          <a:ln/>
        </p:spPr>
        <p:txBody>
          <a:bodyPr wrap="square" lIns="25400" tIns="25400" rIns="25400" bIns="25400" rtlCol="0" anchor="ctr">
            <a:normAutofit/>
          </a:bodyPr>
          <a:lstStyle/>
          <a:p>
            <a:pPr marL="0" indent="0" algn="l">
              <a:buNone/>
            </a:pPr>
            <a:r>
              <a:rPr lang="en-US" sz="2250" dirty="0">
                <a:solidFill>
                  <a:srgbClr val="7A5410"/>
                </a:solidFill>
                <a:latin typeface="Georgia" pitchFamily="34" charset="0"/>
                <a:ea typeface="Georgia" pitchFamily="34" charset="-122"/>
                <a:cs typeface="Georgia" pitchFamily="34" charset="-120"/>
              </a:rPr>
              <a:t>Schema v1.0 logged; G4/S1 unverified</a:t>
            </a:r>
            <a:endParaRPr lang="en-US" sz="2250" dirty="0"/>
          </a:p>
        </p:txBody>
      </p:sp>
      <p:sp>
        <p:nvSpPr>
          <p:cNvPr id="23" name="Shape 21"/>
          <p:cNvSpPr/>
          <p:nvPr/>
        </p:nvSpPr>
        <p:spPr>
          <a:xfrm>
            <a:off x="990534" y="6325361"/>
            <a:ext cx="3913518" cy="10583"/>
          </a:xfrm>
          <a:prstGeom prst="rect">
            <a:avLst/>
          </a:prstGeom>
          <a:solidFill>
            <a:srgbClr val="E6E4DE"/>
          </a:solidFill>
          <a:ln/>
        </p:spPr>
      </p:sp>
      <p:sp>
        <p:nvSpPr>
          <p:cNvPr id="24" name="Text 22"/>
          <p:cNvSpPr/>
          <p:nvPr/>
        </p:nvSpPr>
        <p:spPr>
          <a:xfrm>
            <a:off x="990534" y="5648027"/>
            <a:ext cx="3649924" cy="429683"/>
          </a:xfrm>
          <a:prstGeom prst="rect">
            <a:avLst/>
          </a:prstGeom>
          <a:noFill/>
          <a:ln/>
        </p:spPr>
        <p:txBody>
          <a:bodyPr wrap="square" lIns="25400" tIns="25400" rIns="25400" bIns="25400" rtlCol="0" anchor="ctr">
            <a:normAutofit/>
          </a:bodyPr>
          <a:lstStyle/>
          <a:p>
            <a:pPr marL="0" indent="0" algn="l">
              <a:buNone/>
            </a:pPr>
            <a:r>
              <a:rPr lang="en-US" sz="2250" dirty="0">
                <a:solidFill>
                  <a:srgbClr val="1F1E1C"/>
                </a:solidFill>
                <a:latin typeface="Georgia" pitchFamily="34" charset="0"/>
                <a:ea typeface="Georgia" pitchFamily="34" charset="-122"/>
                <a:cs typeface="Georgia" pitchFamily="34" charset="-120"/>
              </a:rPr>
              <a:t>M2 Spine</a:t>
            </a:r>
            <a:endParaRPr lang="en-US" sz="2250" dirty="0"/>
          </a:p>
        </p:txBody>
      </p:sp>
      <p:sp>
        <p:nvSpPr>
          <p:cNvPr id="25" name="Shape 23"/>
          <p:cNvSpPr/>
          <p:nvPr/>
        </p:nvSpPr>
        <p:spPr>
          <a:xfrm>
            <a:off x="4904052" y="6325361"/>
            <a:ext cx="5870443" cy="10583"/>
          </a:xfrm>
          <a:prstGeom prst="rect">
            <a:avLst/>
          </a:prstGeom>
          <a:solidFill>
            <a:srgbClr val="E6E4DE"/>
          </a:solidFill>
          <a:ln/>
        </p:spPr>
      </p:sp>
      <p:sp>
        <p:nvSpPr>
          <p:cNvPr id="26" name="Text 24"/>
          <p:cNvSpPr/>
          <p:nvPr/>
        </p:nvSpPr>
        <p:spPr>
          <a:xfrm>
            <a:off x="4904052" y="5648027"/>
            <a:ext cx="5665556" cy="429683"/>
          </a:xfrm>
          <a:prstGeom prst="rect">
            <a:avLst/>
          </a:prstGeom>
          <a:noFill/>
          <a:ln/>
        </p:spPr>
        <p:txBody>
          <a:bodyPr wrap="square" lIns="25400" tIns="25400" rIns="25400" bIns="25400" rtlCol="0" anchor="ctr">
            <a:normAutofit/>
          </a:bodyPr>
          <a:lstStyle/>
          <a:p>
            <a:pPr marL="0" indent="0" algn="l">
              <a:buNone/>
            </a:pPr>
            <a:r>
              <a:rPr lang="en-US" sz="2250" dirty="0">
                <a:solidFill>
                  <a:srgbClr val="3D3B37"/>
                </a:solidFill>
                <a:latin typeface="Georgia" pitchFamily="34" charset="0"/>
                <a:ea typeface="Georgia" pitchFamily="34" charset="-122"/>
                <a:cs typeface="Georgia" pitchFamily="34" charset="-120"/>
              </a:rPr>
              <a:t>44 article nodes and S2</a:t>
            </a:r>
            <a:endParaRPr lang="en-US" sz="2250" dirty="0"/>
          </a:p>
        </p:txBody>
      </p:sp>
      <p:sp>
        <p:nvSpPr>
          <p:cNvPr id="27" name="Shape 25"/>
          <p:cNvSpPr/>
          <p:nvPr/>
        </p:nvSpPr>
        <p:spPr>
          <a:xfrm>
            <a:off x="10774496" y="6325361"/>
            <a:ext cx="6522972" cy="10583"/>
          </a:xfrm>
          <a:prstGeom prst="rect">
            <a:avLst/>
          </a:prstGeom>
          <a:solidFill>
            <a:srgbClr val="E6E4DE"/>
          </a:solidFill>
          <a:ln/>
        </p:spPr>
      </p:sp>
      <p:sp>
        <p:nvSpPr>
          <p:cNvPr id="28" name="Text 26"/>
          <p:cNvSpPr/>
          <p:nvPr/>
        </p:nvSpPr>
        <p:spPr>
          <a:xfrm>
            <a:off x="10774496" y="5648027"/>
            <a:ext cx="6718661" cy="429683"/>
          </a:xfrm>
          <a:prstGeom prst="rect">
            <a:avLst/>
          </a:prstGeom>
          <a:noFill/>
          <a:ln/>
        </p:spPr>
        <p:txBody>
          <a:bodyPr wrap="square" lIns="25400" tIns="25400" rIns="25400" bIns="25400" rtlCol="0" anchor="ctr">
            <a:normAutofit/>
          </a:bodyPr>
          <a:lstStyle/>
          <a:p>
            <a:pPr marL="0" indent="0" algn="l">
              <a:buNone/>
            </a:pPr>
            <a:r>
              <a:rPr lang="en-US" sz="2250" dirty="0">
                <a:solidFill>
                  <a:srgbClr val="7A5410"/>
                </a:solidFill>
                <a:latin typeface="Georgia" pitchFamily="34" charset="0"/>
                <a:ea typeface="Georgia" pitchFamily="34" charset="-122"/>
                <a:cs typeface="Georgia" pitchFamily="34" charset="-120"/>
              </a:rPr>
              <a:t>Six knowledge nodes; spine incomplete</a:t>
            </a:r>
            <a:endParaRPr lang="en-US" sz="2250" dirty="0"/>
          </a:p>
        </p:txBody>
      </p:sp>
      <p:sp>
        <p:nvSpPr>
          <p:cNvPr id="29" name="Shape 27"/>
          <p:cNvSpPr/>
          <p:nvPr/>
        </p:nvSpPr>
        <p:spPr>
          <a:xfrm>
            <a:off x="990534" y="7299027"/>
            <a:ext cx="3913518" cy="10583"/>
          </a:xfrm>
          <a:prstGeom prst="rect">
            <a:avLst/>
          </a:prstGeom>
          <a:solidFill>
            <a:srgbClr val="E6E4DE"/>
          </a:solidFill>
          <a:ln/>
        </p:spPr>
      </p:sp>
      <p:sp>
        <p:nvSpPr>
          <p:cNvPr id="30" name="Text 28"/>
          <p:cNvSpPr/>
          <p:nvPr/>
        </p:nvSpPr>
        <p:spPr>
          <a:xfrm>
            <a:off x="990534" y="6621694"/>
            <a:ext cx="3649924" cy="429683"/>
          </a:xfrm>
          <a:prstGeom prst="rect">
            <a:avLst/>
          </a:prstGeom>
          <a:noFill/>
          <a:ln/>
        </p:spPr>
        <p:txBody>
          <a:bodyPr wrap="square" lIns="25400" tIns="25400" rIns="25400" bIns="25400" rtlCol="0" anchor="ctr">
            <a:normAutofit/>
          </a:bodyPr>
          <a:lstStyle/>
          <a:p>
            <a:pPr marL="0" indent="0" algn="l">
              <a:buNone/>
            </a:pPr>
            <a:r>
              <a:rPr lang="en-US" sz="2250" dirty="0">
                <a:solidFill>
                  <a:srgbClr val="1F1E1C"/>
                </a:solidFill>
                <a:latin typeface="Georgia" pitchFamily="34" charset="0"/>
                <a:ea typeface="Georgia" pitchFamily="34" charset="-122"/>
                <a:cs typeface="Georgia" pitchFamily="34" charset="-120"/>
              </a:rPr>
              <a:t>M3–M4 Graph</a:t>
            </a:r>
            <a:endParaRPr lang="en-US" sz="2250" dirty="0"/>
          </a:p>
        </p:txBody>
      </p:sp>
      <p:sp>
        <p:nvSpPr>
          <p:cNvPr id="31" name="Shape 29"/>
          <p:cNvSpPr/>
          <p:nvPr/>
        </p:nvSpPr>
        <p:spPr>
          <a:xfrm>
            <a:off x="4904052" y="7299027"/>
            <a:ext cx="5870443" cy="10583"/>
          </a:xfrm>
          <a:prstGeom prst="rect">
            <a:avLst/>
          </a:prstGeom>
          <a:solidFill>
            <a:srgbClr val="E6E4DE"/>
          </a:solidFill>
          <a:ln/>
        </p:spPr>
      </p:sp>
      <p:sp>
        <p:nvSpPr>
          <p:cNvPr id="32" name="Text 30"/>
          <p:cNvSpPr/>
          <p:nvPr/>
        </p:nvSpPr>
        <p:spPr>
          <a:xfrm>
            <a:off x="4904052" y="6621694"/>
            <a:ext cx="5665556" cy="429683"/>
          </a:xfrm>
          <a:prstGeom prst="rect">
            <a:avLst/>
          </a:prstGeom>
          <a:noFill/>
          <a:ln/>
        </p:spPr>
        <p:txBody>
          <a:bodyPr wrap="square" lIns="25400" tIns="25400" rIns="25400" bIns="25400" rtlCol="0" anchor="ctr">
            <a:normAutofit/>
          </a:bodyPr>
          <a:lstStyle/>
          <a:p>
            <a:pPr marL="0" indent="0" algn="l">
              <a:buNone/>
            </a:pPr>
            <a:r>
              <a:rPr lang="en-US" sz="2250" dirty="0">
                <a:solidFill>
                  <a:srgbClr val="3D3B37"/>
                </a:solidFill>
                <a:latin typeface="Georgia" pitchFamily="34" charset="0"/>
                <a:ea typeface="Georgia" pitchFamily="34" charset="-122"/>
                <a:cs typeface="Georgia" pitchFamily="34" charset="-120"/>
              </a:rPr>
              <a:t>Anchors then bounded leaves</a:t>
            </a:r>
            <a:endParaRPr lang="en-US" sz="2250" dirty="0"/>
          </a:p>
        </p:txBody>
      </p:sp>
      <p:sp>
        <p:nvSpPr>
          <p:cNvPr id="33" name="Shape 31"/>
          <p:cNvSpPr/>
          <p:nvPr/>
        </p:nvSpPr>
        <p:spPr>
          <a:xfrm>
            <a:off x="10774496" y="7299027"/>
            <a:ext cx="6522972" cy="10583"/>
          </a:xfrm>
          <a:prstGeom prst="rect">
            <a:avLst/>
          </a:prstGeom>
          <a:solidFill>
            <a:srgbClr val="E6E4DE"/>
          </a:solidFill>
          <a:ln/>
        </p:spPr>
      </p:sp>
      <p:sp>
        <p:nvSpPr>
          <p:cNvPr id="34" name="Text 32"/>
          <p:cNvSpPr/>
          <p:nvPr/>
        </p:nvSpPr>
        <p:spPr>
          <a:xfrm>
            <a:off x="10774496" y="6621694"/>
            <a:ext cx="6718661" cy="429683"/>
          </a:xfrm>
          <a:prstGeom prst="rect">
            <a:avLst/>
          </a:prstGeom>
          <a:noFill/>
          <a:ln/>
        </p:spPr>
        <p:txBody>
          <a:bodyPr wrap="square" lIns="25400" tIns="25400" rIns="25400" bIns="25400" rtlCol="0" anchor="ctr">
            <a:normAutofit/>
          </a:bodyPr>
          <a:lstStyle/>
          <a:p>
            <a:pPr marL="0" indent="0" algn="l">
              <a:buNone/>
            </a:pPr>
            <a:r>
              <a:rPr lang="en-US" sz="2250" dirty="0">
                <a:solidFill>
                  <a:srgbClr val="6B6964"/>
                </a:solidFill>
                <a:latin typeface="Georgia" pitchFamily="34" charset="0"/>
                <a:ea typeface="Georgia" pitchFamily="34" charset="-122"/>
                <a:cs typeface="Georgia" pitchFamily="34" charset="-120"/>
              </a:rPr>
              <a:t>Planned; no such nodes in archive</a:t>
            </a:r>
            <a:endParaRPr lang="en-US" sz="2250" dirty="0"/>
          </a:p>
        </p:txBody>
      </p:sp>
      <p:sp>
        <p:nvSpPr>
          <p:cNvPr id="35" name="Shape 33"/>
          <p:cNvSpPr/>
          <p:nvPr/>
        </p:nvSpPr>
        <p:spPr>
          <a:xfrm>
            <a:off x="990534" y="8272694"/>
            <a:ext cx="3913518" cy="10583"/>
          </a:xfrm>
          <a:prstGeom prst="rect">
            <a:avLst/>
          </a:prstGeom>
          <a:solidFill>
            <a:srgbClr val="E6E4DE"/>
          </a:solidFill>
          <a:ln/>
        </p:spPr>
      </p:sp>
      <p:sp>
        <p:nvSpPr>
          <p:cNvPr id="36" name="Text 34"/>
          <p:cNvSpPr/>
          <p:nvPr/>
        </p:nvSpPr>
        <p:spPr>
          <a:xfrm>
            <a:off x="990534" y="7595361"/>
            <a:ext cx="3649924" cy="429683"/>
          </a:xfrm>
          <a:prstGeom prst="rect">
            <a:avLst/>
          </a:prstGeom>
          <a:noFill/>
          <a:ln/>
        </p:spPr>
        <p:txBody>
          <a:bodyPr wrap="square" lIns="25400" tIns="25400" rIns="25400" bIns="25400" rtlCol="0" anchor="ctr">
            <a:normAutofit/>
          </a:bodyPr>
          <a:lstStyle/>
          <a:p>
            <a:pPr marL="0" indent="0" algn="l">
              <a:buNone/>
            </a:pPr>
            <a:r>
              <a:rPr lang="en-US" sz="2250" dirty="0">
                <a:solidFill>
                  <a:srgbClr val="1F1E1C"/>
                </a:solidFill>
                <a:latin typeface="Georgia" pitchFamily="34" charset="0"/>
                <a:ea typeface="Georgia" pitchFamily="34" charset="-122"/>
                <a:cs typeface="Georgia" pitchFamily="34" charset="-120"/>
              </a:rPr>
              <a:t>M5–M7 Finish</a:t>
            </a:r>
            <a:endParaRPr lang="en-US" sz="2250" dirty="0"/>
          </a:p>
        </p:txBody>
      </p:sp>
      <p:sp>
        <p:nvSpPr>
          <p:cNvPr id="37" name="Shape 35"/>
          <p:cNvSpPr/>
          <p:nvPr/>
        </p:nvSpPr>
        <p:spPr>
          <a:xfrm>
            <a:off x="4904052" y="8272694"/>
            <a:ext cx="5870443" cy="10583"/>
          </a:xfrm>
          <a:prstGeom prst="rect">
            <a:avLst/>
          </a:prstGeom>
          <a:solidFill>
            <a:srgbClr val="E6E4DE"/>
          </a:solidFill>
          <a:ln/>
        </p:spPr>
      </p:sp>
      <p:sp>
        <p:nvSpPr>
          <p:cNvPr id="38" name="Text 36"/>
          <p:cNvSpPr/>
          <p:nvPr/>
        </p:nvSpPr>
        <p:spPr>
          <a:xfrm>
            <a:off x="4904052" y="7595361"/>
            <a:ext cx="5665556" cy="429683"/>
          </a:xfrm>
          <a:prstGeom prst="rect">
            <a:avLst/>
          </a:prstGeom>
          <a:noFill/>
          <a:ln/>
        </p:spPr>
        <p:txBody>
          <a:bodyPr wrap="square" lIns="25400" tIns="25400" rIns="25400" bIns="25400" rtlCol="0" anchor="ctr">
            <a:normAutofit/>
          </a:bodyPr>
          <a:lstStyle/>
          <a:p>
            <a:pPr marL="0" indent="0" algn="l">
              <a:buNone/>
            </a:pPr>
            <a:r>
              <a:rPr lang="en-US" sz="2250" dirty="0">
                <a:solidFill>
                  <a:srgbClr val="3D3B37"/>
                </a:solidFill>
                <a:latin typeface="Georgia" pitchFamily="34" charset="0"/>
                <a:ea typeface="Georgia" pitchFamily="34" charset="-122"/>
                <a:cs typeface="Georgia" pitchFamily="34" charset="-120"/>
              </a:rPr>
              <a:t>Budget, synthesis, full lint</a:t>
            </a:r>
            <a:endParaRPr lang="en-US" sz="2250" dirty="0"/>
          </a:p>
        </p:txBody>
      </p:sp>
      <p:sp>
        <p:nvSpPr>
          <p:cNvPr id="39" name="Shape 37"/>
          <p:cNvSpPr/>
          <p:nvPr/>
        </p:nvSpPr>
        <p:spPr>
          <a:xfrm>
            <a:off x="10774496" y="8272694"/>
            <a:ext cx="6522972" cy="10583"/>
          </a:xfrm>
          <a:prstGeom prst="rect">
            <a:avLst/>
          </a:prstGeom>
          <a:solidFill>
            <a:srgbClr val="E6E4DE"/>
          </a:solidFill>
          <a:ln/>
        </p:spPr>
      </p:sp>
      <p:sp>
        <p:nvSpPr>
          <p:cNvPr id="40" name="Text 38"/>
          <p:cNvSpPr/>
          <p:nvPr/>
        </p:nvSpPr>
        <p:spPr>
          <a:xfrm>
            <a:off x="10774496" y="7595361"/>
            <a:ext cx="6718661" cy="429683"/>
          </a:xfrm>
          <a:prstGeom prst="rect">
            <a:avLst/>
          </a:prstGeom>
          <a:noFill/>
          <a:ln/>
        </p:spPr>
        <p:txBody>
          <a:bodyPr wrap="square" lIns="25400" tIns="25400" rIns="25400" bIns="25400" rtlCol="0" anchor="ctr">
            <a:normAutofit/>
          </a:bodyPr>
          <a:lstStyle/>
          <a:p>
            <a:pPr marL="0" indent="0" algn="l">
              <a:buNone/>
            </a:pPr>
            <a:r>
              <a:rPr lang="en-US" sz="2250" dirty="0">
                <a:solidFill>
                  <a:srgbClr val="6B6964"/>
                </a:solidFill>
                <a:latin typeface="Georgia" pitchFamily="34" charset="0"/>
                <a:ea typeface="Georgia" pitchFamily="34" charset="-122"/>
                <a:cs typeface="Georgia" pitchFamily="34" charset="-120"/>
              </a:rPr>
              <a:t>Planned; no S5–S7 snapshots</a:t>
            </a:r>
            <a:endParaRPr lang="en-US" sz="2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990534" y="685767"/>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685767"/>
            <a:ext cx="338303"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22</a:t>
            </a:r>
            <a:endParaRPr lang="en-US" sz="1950" dirty="0"/>
          </a:p>
        </p:txBody>
      </p:sp>
      <p:sp>
        <p:nvSpPr>
          <p:cNvPr id="4" name="Text 2"/>
          <p:cNvSpPr/>
          <p:nvPr/>
        </p:nvSpPr>
        <p:spPr>
          <a:xfrm>
            <a:off x="990534" y="1291001"/>
            <a:ext cx="17937626" cy="768350"/>
          </a:xfrm>
          <a:prstGeom prst="rect">
            <a:avLst/>
          </a:prstGeom>
          <a:noFill/>
          <a:ln/>
        </p:spPr>
        <p:txBody>
          <a:bodyPr wrap="square" lIns="25400" tIns="25400" rIns="25400" bIns="25400" rtlCol="0" anchor="t">
            <a:normAutofit/>
          </a:bodyPr>
          <a:lstStyle/>
          <a:p>
            <a:pPr marL="0" indent="0" algn="l">
              <a:buNone/>
            </a:pPr>
            <a:r>
              <a:rPr lang="en-US" sz="4200" dirty="0">
                <a:solidFill>
                  <a:srgbClr val="1F1E1C"/>
                </a:solidFill>
                <a:latin typeface="Georgia" pitchFamily="34" charset="0"/>
                <a:ea typeface="Georgia" pitchFamily="34" charset="-122"/>
                <a:cs typeface="Georgia" pitchFamily="34" charset="-120"/>
              </a:rPr>
              <a:t>Completed in the supplied vault</a:t>
            </a:r>
            <a:endParaRPr lang="en-US" sz="4200" dirty="0"/>
          </a:p>
        </p:txBody>
      </p:sp>
      <p:sp>
        <p:nvSpPr>
          <p:cNvPr id="5" name="Shape 3"/>
          <p:cNvSpPr/>
          <p:nvPr/>
        </p:nvSpPr>
        <p:spPr>
          <a:xfrm>
            <a:off x="990534" y="2724216"/>
            <a:ext cx="3587419" cy="10583"/>
          </a:xfrm>
          <a:prstGeom prst="rect">
            <a:avLst/>
          </a:prstGeom>
          <a:solidFill>
            <a:srgbClr val="CFCDC6"/>
          </a:solidFill>
          <a:ln/>
        </p:spPr>
      </p:sp>
      <p:sp>
        <p:nvSpPr>
          <p:cNvPr id="6" name="Text 4"/>
          <p:cNvSpPr/>
          <p:nvPr/>
        </p:nvSpPr>
        <p:spPr>
          <a:xfrm>
            <a:off x="990534" y="2287819"/>
            <a:ext cx="3695042" cy="341147"/>
          </a:xfrm>
          <a:prstGeom prst="rect">
            <a:avLst/>
          </a:prstGeom>
          <a:noFill/>
          <a:ln/>
        </p:spPr>
        <p:txBody>
          <a:bodyPr wrap="square" lIns="25400" tIns="25400" rIns="25400" bIns="25400" rtlCol="0" anchor="ctr">
            <a:normAutofit lnSpcReduction="10000"/>
          </a:bodyPr>
          <a:lstStyle/>
          <a:p>
            <a:pPr marL="0" indent="0" algn="l">
              <a:lnSpc>
                <a:spcPct val="116640"/>
              </a:lnSpc>
              <a:buNone/>
            </a:pPr>
            <a:r>
              <a:rPr lang="en-US" sz="1800" kern="0" spc="216" dirty="0">
                <a:solidFill>
                  <a:srgbClr val="6B6964"/>
                </a:solidFill>
                <a:latin typeface="Georgia" pitchFamily="34" charset="0"/>
                <a:ea typeface="Georgia" pitchFamily="34" charset="-122"/>
                <a:cs typeface="Georgia" pitchFamily="34" charset="-120"/>
              </a:rPr>
              <a:t>ENTRY</a:t>
            </a:r>
            <a:endParaRPr lang="en-US" sz="1800" dirty="0"/>
          </a:p>
        </p:txBody>
      </p:sp>
      <p:sp>
        <p:nvSpPr>
          <p:cNvPr id="7" name="Shape 5"/>
          <p:cNvSpPr/>
          <p:nvPr/>
        </p:nvSpPr>
        <p:spPr>
          <a:xfrm>
            <a:off x="4577953" y="2724216"/>
            <a:ext cx="4891980" cy="10583"/>
          </a:xfrm>
          <a:prstGeom prst="rect">
            <a:avLst/>
          </a:prstGeom>
          <a:solidFill>
            <a:srgbClr val="CFCDC6"/>
          </a:solidFill>
          <a:ln/>
        </p:spPr>
      </p:sp>
      <p:sp>
        <p:nvSpPr>
          <p:cNvPr id="8" name="Text 6"/>
          <p:cNvSpPr/>
          <p:nvPr/>
        </p:nvSpPr>
        <p:spPr>
          <a:xfrm>
            <a:off x="4577953" y="2287819"/>
            <a:ext cx="5038740" cy="341147"/>
          </a:xfrm>
          <a:prstGeom prst="rect">
            <a:avLst/>
          </a:prstGeom>
          <a:noFill/>
          <a:ln/>
        </p:spPr>
        <p:txBody>
          <a:bodyPr wrap="square" lIns="25400" tIns="25400" rIns="25400" bIns="25400" rtlCol="0" anchor="ctr">
            <a:normAutofit lnSpcReduction="10000"/>
          </a:bodyPr>
          <a:lstStyle/>
          <a:p>
            <a:pPr marL="0" indent="0" algn="l">
              <a:lnSpc>
                <a:spcPct val="116640"/>
              </a:lnSpc>
              <a:buNone/>
            </a:pPr>
            <a:r>
              <a:rPr lang="en-US" sz="1800" kern="0" spc="216" dirty="0">
                <a:solidFill>
                  <a:srgbClr val="6B6964"/>
                </a:solidFill>
                <a:latin typeface="Georgia" pitchFamily="34" charset="0"/>
                <a:ea typeface="Georgia" pitchFamily="34" charset="-122"/>
                <a:cs typeface="Georgia" pitchFamily="34" charset="-120"/>
              </a:rPr>
              <a:t>WHAT IT INCLUDES</a:t>
            </a:r>
            <a:endParaRPr lang="en-US" sz="1800" dirty="0"/>
          </a:p>
        </p:txBody>
      </p:sp>
      <p:sp>
        <p:nvSpPr>
          <p:cNvPr id="9" name="Shape 7"/>
          <p:cNvSpPr/>
          <p:nvPr/>
        </p:nvSpPr>
        <p:spPr>
          <a:xfrm>
            <a:off x="9469934" y="2724216"/>
            <a:ext cx="7827533" cy="10583"/>
          </a:xfrm>
          <a:prstGeom prst="rect">
            <a:avLst/>
          </a:prstGeom>
          <a:solidFill>
            <a:srgbClr val="CFCDC6"/>
          </a:solidFill>
          <a:ln/>
        </p:spPr>
      </p:sp>
      <p:sp>
        <p:nvSpPr>
          <p:cNvPr id="10" name="Text 8"/>
          <p:cNvSpPr/>
          <p:nvPr/>
        </p:nvSpPr>
        <p:spPr>
          <a:xfrm>
            <a:off x="9469934" y="2287819"/>
            <a:ext cx="8062359" cy="341147"/>
          </a:xfrm>
          <a:prstGeom prst="rect">
            <a:avLst/>
          </a:prstGeom>
          <a:noFill/>
          <a:ln/>
        </p:spPr>
        <p:txBody>
          <a:bodyPr wrap="square" lIns="25400" tIns="25400" rIns="25400" bIns="25400" rtlCol="0" anchor="ctr">
            <a:normAutofit lnSpcReduction="10000"/>
          </a:bodyPr>
          <a:lstStyle/>
          <a:p>
            <a:pPr marL="0" indent="0" algn="l">
              <a:lnSpc>
                <a:spcPct val="116640"/>
              </a:lnSpc>
              <a:buNone/>
            </a:pPr>
            <a:r>
              <a:rPr lang="en-US" sz="1800" kern="0" spc="216" dirty="0">
                <a:solidFill>
                  <a:srgbClr val="6B6964"/>
                </a:solidFill>
                <a:latin typeface="Georgia" pitchFamily="34" charset="0"/>
                <a:ea typeface="Georgia" pitchFamily="34" charset="-122"/>
                <a:cs typeface="Georgia" pitchFamily="34" charset="-120"/>
              </a:rPr>
              <a:t>WHY IT MATTERS</a:t>
            </a:r>
            <a:endParaRPr lang="en-US" sz="1800" dirty="0"/>
          </a:p>
        </p:txBody>
      </p:sp>
      <p:sp>
        <p:nvSpPr>
          <p:cNvPr id="11" name="Shape 9"/>
          <p:cNvSpPr/>
          <p:nvPr/>
        </p:nvSpPr>
        <p:spPr>
          <a:xfrm>
            <a:off x="990534" y="3926582"/>
            <a:ext cx="3587419" cy="10583"/>
          </a:xfrm>
          <a:prstGeom prst="rect">
            <a:avLst/>
          </a:prstGeom>
          <a:solidFill>
            <a:srgbClr val="E6E4DE"/>
          </a:solidFill>
          <a:ln/>
        </p:spPr>
      </p:sp>
      <p:sp>
        <p:nvSpPr>
          <p:cNvPr id="12" name="Text 10"/>
          <p:cNvSpPr/>
          <p:nvPr/>
        </p:nvSpPr>
        <p:spPr>
          <a:xfrm>
            <a:off x="990534" y="2868150"/>
            <a:ext cx="3390242" cy="963183"/>
          </a:xfrm>
          <a:prstGeom prst="rect">
            <a:avLst/>
          </a:prstGeom>
          <a:noFill/>
          <a:ln/>
        </p:spPr>
        <p:txBody>
          <a:bodyPr wrap="square" lIns="25400" tIns="25400" rIns="25400" bIns="25400" rtlCol="0" anchor="t">
            <a:normAutofit/>
          </a:bodyPr>
          <a:lstStyle/>
          <a:p>
            <a:pPr marL="0" indent="0" algn="l">
              <a:lnSpc>
                <a:spcPct val="116827"/>
              </a:lnSpc>
              <a:buNone/>
            </a:pPr>
            <a:r>
              <a:rPr lang="en-US" sz="1875" dirty="0">
                <a:solidFill>
                  <a:srgbClr val="1F1E1C"/>
                </a:solidFill>
                <a:latin typeface="Georgia" pitchFamily="34" charset="0"/>
                <a:ea typeface="Georgia" pitchFamily="34" charset="-122"/>
                <a:cs typeface="Georgia" pitchFamily="34" charset="-120"/>
              </a:rPr>
              <a:t>AGA PDF, TOC and G1 locator material</a:t>
            </a:r>
            <a:endParaRPr lang="en-US" sz="1875" dirty="0"/>
          </a:p>
        </p:txBody>
      </p:sp>
      <p:sp>
        <p:nvSpPr>
          <p:cNvPr id="13" name="Shape 11"/>
          <p:cNvSpPr/>
          <p:nvPr/>
        </p:nvSpPr>
        <p:spPr>
          <a:xfrm>
            <a:off x="4577953" y="3926582"/>
            <a:ext cx="4891980" cy="10583"/>
          </a:xfrm>
          <a:prstGeom prst="rect">
            <a:avLst/>
          </a:prstGeom>
          <a:solidFill>
            <a:srgbClr val="E6E4DE"/>
          </a:solidFill>
          <a:ln/>
        </p:spPr>
      </p:sp>
      <p:sp>
        <p:nvSpPr>
          <p:cNvPr id="14" name="Text 12"/>
          <p:cNvSpPr/>
          <p:nvPr/>
        </p:nvSpPr>
        <p:spPr>
          <a:xfrm>
            <a:off x="4577953" y="2868150"/>
            <a:ext cx="4733940" cy="963183"/>
          </a:xfrm>
          <a:prstGeom prst="rect">
            <a:avLst/>
          </a:prstGeom>
          <a:noFill/>
          <a:ln/>
        </p:spPr>
        <p:txBody>
          <a:bodyPr wrap="square" lIns="25400" tIns="25400" rIns="25400" bIns="25400" rtlCol="0" anchor="t">
            <a:normAutofit lnSpcReduction="10000"/>
          </a:bodyPr>
          <a:lstStyle/>
          <a:p>
            <a:pPr marL="0" indent="0" algn="l">
              <a:lnSpc>
                <a:spcPct val="116640"/>
              </a:lnSpc>
              <a:buNone/>
            </a:pPr>
            <a:r>
              <a:rPr lang="en-US" sz="1800" dirty="0">
                <a:solidFill>
                  <a:srgbClr val="3D3B37"/>
                </a:solidFill>
                <a:latin typeface="Georgia" pitchFamily="34" charset="0"/>
                <a:ea typeface="Georgia" pitchFamily="34" charset="-122"/>
                <a:cs typeface="Georgia" pitchFamily="34" charset="-120"/>
              </a:rPr>
              <a:t>The source agreement, its table of contents, and material for locating relevant articles and passages.</a:t>
            </a:r>
            <a:endParaRPr lang="en-US" sz="1800" dirty="0"/>
          </a:p>
        </p:txBody>
      </p:sp>
      <p:sp>
        <p:nvSpPr>
          <p:cNvPr id="15" name="Shape 13"/>
          <p:cNvSpPr/>
          <p:nvPr/>
        </p:nvSpPr>
        <p:spPr>
          <a:xfrm>
            <a:off x="9469934" y="3926582"/>
            <a:ext cx="7827533" cy="10583"/>
          </a:xfrm>
          <a:prstGeom prst="rect">
            <a:avLst/>
          </a:prstGeom>
          <a:solidFill>
            <a:srgbClr val="E6E4DE"/>
          </a:solidFill>
          <a:ln/>
        </p:spPr>
      </p:sp>
      <p:sp>
        <p:nvSpPr>
          <p:cNvPr id="16" name="Text 14"/>
          <p:cNvSpPr/>
          <p:nvPr/>
        </p:nvSpPr>
        <p:spPr>
          <a:xfrm>
            <a:off x="9469934" y="2868150"/>
            <a:ext cx="8062359" cy="963183"/>
          </a:xfrm>
          <a:prstGeom prst="rect">
            <a:avLst/>
          </a:prstGeom>
          <a:noFill/>
          <a:ln/>
        </p:spPr>
        <p:txBody>
          <a:bodyPr wrap="square" lIns="25400" tIns="25400" rIns="25400" bIns="25400" rtlCol="0" anchor="t">
            <a:normAutofit lnSpcReduction="10000"/>
          </a:bodyPr>
          <a:lstStyle/>
          <a:p>
            <a:pPr marL="0" indent="0" algn="l">
              <a:lnSpc>
                <a:spcPct val="116640"/>
              </a:lnSpc>
              <a:buNone/>
            </a:pPr>
            <a:r>
              <a:rPr lang="en-US" sz="1800" dirty="0">
                <a:solidFill>
                  <a:srgbClr val="4F4D48"/>
                </a:solidFill>
                <a:latin typeface="Georgia" pitchFamily="34" charset="0"/>
                <a:ea typeface="Georgia" pitchFamily="34" charset="-122"/>
                <a:cs typeface="Georgia" pitchFamily="34" charset="-120"/>
              </a:rPr>
              <a:t>This gives each extraction task a defined place to look. The TOC maps the document’s structure; the locator material helps turn a broad question into a bounded, source-grounded task.</a:t>
            </a:r>
            <a:endParaRPr lang="en-US" sz="1800" dirty="0"/>
          </a:p>
        </p:txBody>
      </p:sp>
      <p:sp>
        <p:nvSpPr>
          <p:cNvPr id="17" name="Shape 15"/>
          <p:cNvSpPr/>
          <p:nvPr/>
        </p:nvSpPr>
        <p:spPr>
          <a:xfrm>
            <a:off x="990534" y="5128948"/>
            <a:ext cx="3587419" cy="10583"/>
          </a:xfrm>
          <a:prstGeom prst="rect">
            <a:avLst/>
          </a:prstGeom>
          <a:solidFill>
            <a:srgbClr val="E6E4DE"/>
          </a:solidFill>
          <a:ln/>
        </p:spPr>
      </p:sp>
      <p:sp>
        <p:nvSpPr>
          <p:cNvPr id="18" name="Text 16"/>
          <p:cNvSpPr/>
          <p:nvPr/>
        </p:nvSpPr>
        <p:spPr>
          <a:xfrm>
            <a:off x="990534" y="4070515"/>
            <a:ext cx="3390242" cy="963183"/>
          </a:xfrm>
          <a:prstGeom prst="rect">
            <a:avLst/>
          </a:prstGeom>
          <a:noFill/>
          <a:ln/>
        </p:spPr>
        <p:txBody>
          <a:bodyPr wrap="square" lIns="25400" tIns="25400" rIns="25400" bIns="25400" rtlCol="0" anchor="t">
            <a:normAutofit/>
          </a:bodyPr>
          <a:lstStyle/>
          <a:p>
            <a:pPr marL="0" indent="0" algn="l">
              <a:lnSpc>
                <a:spcPct val="116827"/>
              </a:lnSpc>
              <a:buNone/>
            </a:pPr>
            <a:r>
              <a:rPr lang="en-US" sz="1875" dirty="0">
                <a:solidFill>
                  <a:srgbClr val="1F1E1C"/>
                </a:solidFill>
                <a:latin typeface="Georgia" pitchFamily="34" charset="0"/>
                <a:ea typeface="Georgia" pitchFamily="34" charset="-122"/>
                <a:cs typeface="Georgia" pitchFamily="34" charset="-120"/>
              </a:rPr>
              <a:t>Schema v1.0 and twelve L1 tickets</a:t>
            </a:r>
            <a:endParaRPr lang="en-US" sz="1875" dirty="0"/>
          </a:p>
        </p:txBody>
      </p:sp>
      <p:sp>
        <p:nvSpPr>
          <p:cNvPr id="19" name="Shape 17"/>
          <p:cNvSpPr/>
          <p:nvPr/>
        </p:nvSpPr>
        <p:spPr>
          <a:xfrm>
            <a:off x="4577953" y="5128948"/>
            <a:ext cx="4891980" cy="10583"/>
          </a:xfrm>
          <a:prstGeom prst="rect">
            <a:avLst/>
          </a:prstGeom>
          <a:solidFill>
            <a:srgbClr val="E6E4DE"/>
          </a:solidFill>
          <a:ln/>
        </p:spPr>
      </p:sp>
      <p:sp>
        <p:nvSpPr>
          <p:cNvPr id="20" name="Text 18"/>
          <p:cNvSpPr/>
          <p:nvPr/>
        </p:nvSpPr>
        <p:spPr>
          <a:xfrm>
            <a:off x="4577953" y="4070515"/>
            <a:ext cx="4733940" cy="963183"/>
          </a:xfrm>
          <a:prstGeom prst="rect">
            <a:avLst/>
          </a:prstGeom>
          <a:noFill/>
          <a:ln/>
        </p:spPr>
        <p:txBody>
          <a:bodyPr wrap="square" lIns="25400" tIns="25400" rIns="25400" bIns="25400" rtlCol="0" anchor="t">
            <a:normAutofit lnSpcReduction="10000"/>
          </a:bodyPr>
          <a:lstStyle/>
          <a:p>
            <a:pPr marL="0" indent="0" algn="l">
              <a:lnSpc>
                <a:spcPct val="116640"/>
              </a:lnSpc>
              <a:buNone/>
            </a:pPr>
            <a:r>
              <a:rPr lang="en-US" sz="1800" dirty="0">
                <a:solidFill>
                  <a:srgbClr val="3D3B37"/>
                </a:solidFill>
                <a:latin typeface="Georgia" pitchFamily="34" charset="0"/>
                <a:ea typeface="Georgia" pitchFamily="34" charset="-122"/>
                <a:cs typeface="Georgia" pitchFamily="34" charset="-120"/>
              </a:rPr>
              <a:t>The ratified rules for node types, frontmatter and relationships, plus tickets for building the structural layer.</a:t>
            </a:r>
            <a:endParaRPr lang="en-US" sz="1800" dirty="0"/>
          </a:p>
        </p:txBody>
      </p:sp>
      <p:sp>
        <p:nvSpPr>
          <p:cNvPr id="21" name="Shape 19"/>
          <p:cNvSpPr/>
          <p:nvPr/>
        </p:nvSpPr>
        <p:spPr>
          <a:xfrm>
            <a:off x="9469934" y="5128948"/>
            <a:ext cx="7827533" cy="10583"/>
          </a:xfrm>
          <a:prstGeom prst="rect">
            <a:avLst/>
          </a:prstGeom>
          <a:solidFill>
            <a:srgbClr val="E6E4DE"/>
          </a:solidFill>
          <a:ln/>
        </p:spPr>
      </p:sp>
      <p:sp>
        <p:nvSpPr>
          <p:cNvPr id="22" name="Text 20"/>
          <p:cNvSpPr/>
          <p:nvPr/>
        </p:nvSpPr>
        <p:spPr>
          <a:xfrm>
            <a:off x="9469934" y="4070515"/>
            <a:ext cx="8062359" cy="963183"/>
          </a:xfrm>
          <a:prstGeom prst="rect">
            <a:avLst/>
          </a:prstGeom>
          <a:noFill/>
          <a:ln/>
        </p:spPr>
        <p:txBody>
          <a:bodyPr wrap="square" lIns="25400" tIns="25400" rIns="25400" bIns="25400" rtlCol="0" anchor="t">
            <a:normAutofit lnSpcReduction="10000"/>
          </a:bodyPr>
          <a:lstStyle/>
          <a:p>
            <a:pPr marL="0" indent="0" algn="l">
              <a:lnSpc>
                <a:spcPct val="116640"/>
              </a:lnSpc>
              <a:buNone/>
            </a:pPr>
            <a:r>
              <a:rPr lang="en-US" sz="1800" dirty="0">
                <a:solidFill>
                  <a:srgbClr val="4F4D48"/>
                </a:solidFill>
                <a:latin typeface="Georgia" pitchFamily="34" charset="0"/>
                <a:ea typeface="Georgia" pitchFamily="34" charset="-122"/>
                <a:cs typeface="Georgia" pitchFamily="34" charset="-120"/>
              </a:rPr>
              <a:t>The schema gives pages a consistent meaning and format. The tickets divide a large build into reviewable units. A ticket records intended work; its presence does not mean its nodes have been created.</a:t>
            </a:r>
            <a:endParaRPr lang="en-US" sz="1800" dirty="0"/>
          </a:p>
        </p:txBody>
      </p:sp>
      <p:sp>
        <p:nvSpPr>
          <p:cNvPr id="23" name="Shape 21"/>
          <p:cNvSpPr/>
          <p:nvPr/>
        </p:nvSpPr>
        <p:spPr>
          <a:xfrm>
            <a:off x="990534" y="6331314"/>
            <a:ext cx="3587419" cy="10583"/>
          </a:xfrm>
          <a:prstGeom prst="rect">
            <a:avLst/>
          </a:prstGeom>
          <a:solidFill>
            <a:srgbClr val="E6E4DE"/>
          </a:solidFill>
          <a:ln/>
        </p:spPr>
      </p:sp>
      <p:sp>
        <p:nvSpPr>
          <p:cNvPr id="24" name="Text 22"/>
          <p:cNvSpPr/>
          <p:nvPr/>
        </p:nvSpPr>
        <p:spPr>
          <a:xfrm>
            <a:off x="990534" y="5272882"/>
            <a:ext cx="3390242" cy="963183"/>
          </a:xfrm>
          <a:prstGeom prst="rect">
            <a:avLst/>
          </a:prstGeom>
          <a:noFill/>
          <a:ln/>
        </p:spPr>
        <p:txBody>
          <a:bodyPr wrap="square" lIns="25400" tIns="25400" rIns="25400" bIns="25400" rtlCol="0" anchor="t">
            <a:normAutofit/>
          </a:bodyPr>
          <a:lstStyle/>
          <a:p>
            <a:pPr marL="0" indent="0" algn="l">
              <a:lnSpc>
                <a:spcPct val="116827"/>
              </a:lnSpc>
              <a:buNone/>
            </a:pPr>
            <a:r>
              <a:rPr lang="en-US" sz="1875" dirty="0">
                <a:solidFill>
                  <a:srgbClr val="1F1E1C"/>
                </a:solidFill>
                <a:latin typeface="Georgia" pitchFamily="34" charset="0"/>
                <a:ea typeface="Georgia" pitchFamily="34" charset="-122"/>
                <a:cs typeface="Georgia" pitchFamily="34" charset="-120"/>
              </a:rPr>
              <a:t>Source, work and four introduction pages</a:t>
            </a:r>
            <a:endParaRPr lang="en-US" sz="1875" dirty="0"/>
          </a:p>
        </p:txBody>
      </p:sp>
      <p:sp>
        <p:nvSpPr>
          <p:cNvPr id="25" name="Shape 23"/>
          <p:cNvSpPr/>
          <p:nvPr/>
        </p:nvSpPr>
        <p:spPr>
          <a:xfrm>
            <a:off x="4577953" y="6331314"/>
            <a:ext cx="4891980" cy="10583"/>
          </a:xfrm>
          <a:prstGeom prst="rect">
            <a:avLst/>
          </a:prstGeom>
          <a:solidFill>
            <a:srgbClr val="E6E4DE"/>
          </a:solidFill>
          <a:ln/>
        </p:spPr>
      </p:sp>
      <p:sp>
        <p:nvSpPr>
          <p:cNvPr id="26" name="Text 24"/>
          <p:cNvSpPr/>
          <p:nvPr/>
        </p:nvSpPr>
        <p:spPr>
          <a:xfrm>
            <a:off x="4577953" y="5272882"/>
            <a:ext cx="4733940" cy="963183"/>
          </a:xfrm>
          <a:prstGeom prst="rect">
            <a:avLst/>
          </a:prstGeom>
          <a:noFill/>
          <a:ln/>
        </p:spPr>
        <p:txBody>
          <a:bodyPr wrap="square" lIns="25400" tIns="25400" rIns="25400" bIns="25400" rtlCol="0" anchor="t">
            <a:normAutofit/>
          </a:bodyPr>
          <a:lstStyle/>
          <a:p>
            <a:pPr marL="0" indent="0" algn="l">
              <a:lnSpc>
                <a:spcPct val="116640"/>
              </a:lnSpc>
              <a:buNone/>
            </a:pPr>
            <a:r>
              <a:rPr lang="en-US" sz="1800" dirty="0">
                <a:solidFill>
                  <a:srgbClr val="3D3B37"/>
                </a:solidFill>
                <a:latin typeface="Georgia" pitchFamily="34" charset="0"/>
                <a:ea typeface="Georgia" pitchFamily="34" charset="-122"/>
                <a:cs typeface="Georgia" pitchFamily="34" charset="-120"/>
              </a:rPr>
              <a:t>The first six wiki knowledge nodes.</a:t>
            </a:r>
            <a:endParaRPr lang="en-US" sz="1800" dirty="0"/>
          </a:p>
        </p:txBody>
      </p:sp>
      <p:sp>
        <p:nvSpPr>
          <p:cNvPr id="27" name="Shape 25"/>
          <p:cNvSpPr/>
          <p:nvPr/>
        </p:nvSpPr>
        <p:spPr>
          <a:xfrm>
            <a:off x="9469934" y="6331314"/>
            <a:ext cx="7827533" cy="10583"/>
          </a:xfrm>
          <a:prstGeom prst="rect">
            <a:avLst/>
          </a:prstGeom>
          <a:solidFill>
            <a:srgbClr val="E6E4DE"/>
          </a:solidFill>
          <a:ln/>
        </p:spPr>
      </p:sp>
      <p:sp>
        <p:nvSpPr>
          <p:cNvPr id="28" name="Text 26"/>
          <p:cNvSpPr/>
          <p:nvPr/>
        </p:nvSpPr>
        <p:spPr>
          <a:xfrm>
            <a:off x="9469934" y="5272882"/>
            <a:ext cx="8062359" cy="963183"/>
          </a:xfrm>
          <a:prstGeom prst="rect">
            <a:avLst/>
          </a:prstGeom>
          <a:noFill/>
          <a:ln/>
        </p:spPr>
        <p:txBody>
          <a:bodyPr wrap="square" lIns="25400" tIns="25400" rIns="25400" bIns="25400" rtlCol="0" anchor="t">
            <a:normAutofit lnSpcReduction="10000"/>
          </a:bodyPr>
          <a:lstStyle/>
          <a:p>
            <a:pPr marL="0" indent="0" algn="l">
              <a:lnSpc>
                <a:spcPct val="116640"/>
              </a:lnSpc>
              <a:buNone/>
            </a:pPr>
            <a:r>
              <a:rPr lang="en-US" sz="1800" dirty="0">
                <a:solidFill>
                  <a:srgbClr val="4F4D48"/>
                </a:solidFill>
                <a:latin typeface="Georgia" pitchFamily="34" charset="0"/>
                <a:ea typeface="Georgia" pitchFamily="34" charset="-122"/>
                <a:cs typeface="Georgia" pitchFamily="34" charset="-120"/>
              </a:rPr>
              <a:t>These establish the provenance page, the page representing the AGA as a work, and its introductory structure. They also provide concrete examples for constructing subsequent nodes under the schema.</a:t>
            </a:r>
            <a:endParaRPr lang="en-US" sz="1800" dirty="0"/>
          </a:p>
        </p:txBody>
      </p:sp>
      <p:sp>
        <p:nvSpPr>
          <p:cNvPr id="29" name="Shape 27"/>
          <p:cNvSpPr/>
          <p:nvPr/>
        </p:nvSpPr>
        <p:spPr>
          <a:xfrm>
            <a:off x="990534" y="7842085"/>
            <a:ext cx="3587419" cy="10583"/>
          </a:xfrm>
          <a:prstGeom prst="rect">
            <a:avLst/>
          </a:prstGeom>
          <a:solidFill>
            <a:srgbClr val="E6E4DE"/>
          </a:solidFill>
          <a:ln/>
        </p:spPr>
      </p:sp>
      <p:sp>
        <p:nvSpPr>
          <p:cNvPr id="30" name="Text 28"/>
          <p:cNvSpPr/>
          <p:nvPr/>
        </p:nvSpPr>
        <p:spPr>
          <a:xfrm>
            <a:off x="990534" y="6475247"/>
            <a:ext cx="3390242" cy="1271588"/>
          </a:xfrm>
          <a:prstGeom prst="rect">
            <a:avLst/>
          </a:prstGeom>
          <a:noFill/>
          <a:ln/>
        </p:spPr>
        <p:txBody>
          <a:bodyPr wrap="square" lIns="25400" tIns="25400" rIns="25400" bIns="25400" rtlCol="0" anchor="t">
            <a:normAutofit/>
          </a:bodyPr>
          <a:lstStyle/>
          <a:p>
            <a:pPr marL="0" indent="0" algn="l">
              <a:lnSpc>
                <a:spcPct val="116827"/>
              </a:lnSpc>
              <a:buNone/>
            </a:pPr>
            <a:r>
              <a:rPr lang="en-US" sz="1875" dirty="0">
                <a:solidFill>
                  <a:srgbClr val="1F1E1C"/>
                </a:solidFill>
                <a:latin typeface="Georgia" pitchFamily="34" charset="0"/>
                <a:ea typeface="Georgia" pitchFamily="34" charset="-122"/>
                <a:cs typeface="Georgia" pitchFamily="34" charset="-120"/>
              </a:rPr>
              <a:t>Dashboard, index and log</a:t>
            </a:r>
            <a:endParaRPr lang="en-US" sz="1875" dirty="0"/>
          </a:p>
        </p:txBody>
      </p:sp>
      <p:sp>
        <p:nvSpPr>
          <p:cNvPr id="31" name="Shape 29"/>
          <p:cNvSpPr/>
          <p:nvPr/>
        </p:nvSpPr>
        <p:spPr>
          <a:xfrm>
            <a:off x="4577953" y="7842085"/>
            <a:ext cx="4891980" cy="10583"/>
          </a:xfrm>
          <a:prstGeom prst="rect">
            <a:avLst/>
          </a:prstGeom>
          <a:solidFill>
            <a:srgbClr val="E6E4DE"/>
          </a:solidFill>
          <a:ln/>
        </p:spPr>
      </p:sp>
      <p:sp>
        <p:nvSpPr>
          <p:cNvPr id="32" name="Text 30"/>
          <p:cNvSpPr/>
          <p:nvPr/>
        </p:nvSpPr>
        <p:spPr>
          <a:xfrm>
            <a:off x="4577953" y="6475247"/>
            <a:ext cx="4733940" cy="1271588"/>
          </a:xfrm>
          <a:prstGeom prst="rect">
            <a:avLst/>
          </a:prstGeom>
          <a:noFill/>
          <a:ln/>
        </p:spPr>
        <p:txBody>
          <a:bodyPr wrap="square" lIns="25400" tIns="25400" rIns="25400" bIns="25400" rtlCol="0" anchor="t">
            <a:normAutofit/>
          </a:bodyPr>
          <a:lstStyle/>
          <a:p>
            <a:pPr marL="0" indent="0" algn="l">
              <a:lnSpc>
                <a:spcPct val="116640"/>
              </a:lnSpc>
              <a:buNone/>
            </a:pPr>
            <a:r>
              <a:rPr lang="en-US" sz="1800" dirty="0">
                <a:solidFill>
                  <a:srgbClr val="3D3B37"/>
                </a:solidFill>
                <a:latin typeface="Georgia" pitchFamily="34" charset="0"/>
                <a:ea typeface="Georgia" pitchFamily="34" charset="-122"/>
                <a:cs typeface="Georgia" pitchFamily="34" charset="-120"/>
              </a:rPr>
              <a:t>Views and records for finding nodes and following implementation progress.</a:t>
            </a:r>
            <a:endParaRPr lang="en-US" sz="1800" dirty="0"/>
          </a:p>
        </p:txBody>
      </p:sp>
      <p:sp>
        <p:nvSpPr>
          <p:cNvPr id="33" name="Shape 31"/>
          <p:cNvSpPr/>
          <p:nvPr/>
        </p:nvSpPr>
        <p:spPr>
          <a:xfrm>
            <a:off x="9469934" y="7842085"/>
            <a:ext cx="7827533" cy="10583"/>
          </a:xfrm>
          <a:prstGeom prst="rect">
            <a:avLst/>
          </a:prstGeom>
          <a:solidFill>
            <a:srgbClr val="E6E4DE"/>
          </a:solidFill>
          <a:ln/>
        </p:spPr>
      </p:sp>
      <p:sp>
        <p:nvSpPr>
          <p:cNvPr id="34" name="Text 32"/>
          <p:cNvSpPr/>
          <p:nvPr/>
        </p:nvSpPr>
        <p:spPr>
          <a:xfrm>
            <a:off x="9469934" y="6475247"/>
            <a:ext cx="8062359" cy="1271588"/>
          </a:xfrm>
          <a:prstGeom prst="rect">
            <a:avLst/>
          </a:prstGeom>
          <a:noFill/>
          <a:ln/>
        </p:spPr>
        <p:txBody>
          <a:bodyPr wrap="square" lIns="25400" tIns="25400" rIns="25400" bIns="25400" rtlCol="0" anchor="t">
            <a:normAutofit/>
          </a:bodyPr>
          <a:lstStyle/>
          <a:p>
            <a:pPr marL="0" indent="0" algn="l">
              <a:lnSpc>
                <a:spcPct val="116640"/>
              </a:lnSpc>
              <a:buNone/>
            </a:pPr>
            <a:r>
              <a:rPr lang="en-US" sz="1800" dirty="0">
                <a:solidFill>
                  <a:srgbClr val="4F4D48"/>
                </a:solidFill>
                <a:latin typeface="Georgia" pitchFamily="34" charset="0"/>
                <a:ea typeface="Georgia" pitchFamily="34" charset="-122"/>
                <a:cs typeface="Georgia" pitchFamily="34" charset="-120"/>
              </a:rPr>
              <a:t>They make the growing vault inspectable. The index supports navigation, the log records what happened, and the dashboard surfaces existing graph data. Their existence alone does not prove complete article coverage.</a:t>
            </a:r>
            <a:endParaRPr lang="en-US" sz="1800" dirty="0"/>
          </a:p>
        </p:txBody>
      </p:sp>
      <p:sp>
        <p:nvSpPr>
          <p:cNvPr id="35" name="Shape 33"/>
          <p:cNvSpPr/>
          <p:nvPr/>
        </p:nvSpPr>
        <p:spPr>
          <a:xfrm>
            <a:off x="990534" y="9044451"/>
            <a:ext cx="3587419" cy="10583"/>
          </a:xfrm>
          <a:prstGeom prst="rect">
            <a:avLst/>
          </a:prstGeom>
          <a:solidFill>
            <a:srgbClr val="E6E4DE"/>
          </a:solidFill>
          <a:ln/>
        </p:spPr>
      </p:sp>
      <p:sp>
        <p:nvSpPr>
          <p:cNvPr id="36" name="Text 34"/>
          <p:cNvSpPr/>
          <p:nvPr/>
        </p:nvSpPr>
        <p:spPr>
          <a:xfrm>
            <a:off x="990534" y="7986018"/>
            <a:ext cx="3390242" cy="963183"/>
          </a:xfrm>
          <a:prstGeom prst="rect">
            <a:avLst/>
          </a:prstGeom>
          <a:noFill/>
          <a:ln/>
        </p:spPr>
        <p:txBody>
          <a:bodyPr wrap="square" lIns="25400" tIns="25400" rIns="25400" bIns="25400" rtlCol="0" anchor="t">
            <a:normAutofit/>
          </a:bodyPr>
          <a:lstStyle/>
          <a:p>
            <a:pPr marL="0" indent="0" algn="l">
              <a:lnSpc>
                <a:spcPct val="116827"/>
              </a:lnSpc>
              <a:buNone/>
            </a:pPr>
            <a:r>
              <a:rPr lang="en-US" sz="1875" dirty="0">
                <a:solidFill>
                  <a:srgbClr val="1F1E1C"/>
                </a:solidFill>
                <a:latin typeface="Georgia" pitchFamily="34" charset="0"/>
                <a:ea typeface="Georgia" pitchFamily="34" charset="-122"/>
                <a:cs typeface="Georgia" pitchFamily="34" charset="-120"/>
              </a:rPr>
              <a:t>Milestone plan and registries</a:t>
            </a:r>
            <a:endParaRPr lang="en-US" sz="1875" dirty="0"/>
          </a:p>
        </p:txBody>
      </p:sp>
      <p:sp>
        <p:nvSpPr>
          <p:cNvPr id="37" name="Shape 35"/>
          <p:cNvSpPr/>
          <p:nvPr/>
        </p:nvSpPr>
        <p:spPr>
          <a:xfrm>
            <a:off x="4577953" y="9044451"/>
            <a:ext cx="4891980" cy="10583"/>
          </a:xfrm>
          <a:prstGeom prst="rect">
            <a:avLst/>
          </a:prstGeom>
          <a:solidFill>
            <a:srgbClr val="E6E4DE"/>
          </a:solidFill>
          <a:ln/>
        </p:spPr>
      </p:sp>
      <p:sp>
        <p:nvSpPr>
          <p:cNvPr id="38" name="Text 36"/>
          <p:cNvSpPr/>
          <p:nvPr/>
        </p:nvSpPr>
        <p:spPr>
          <a:xfrm>
            <a:off x="4577953" y="7986018"/>
            <a:ext cx="4733940" cy="963183"/>
          </a:xfrm>
          <a:prstGeom prst="rect">
            <a:avLst/>
          </a:prstGeom>
          <a:noFill/>
          <a:ln/>
        </p:spPr>
        <p:txBody>
          <a:bodyPr wrap="square" lIns="25400" tIns="25400" rIns="25400" bIns="25400" rtlCol="0" anchor="t">
            <a:normAutofit/>
          </a:bodyPr>
          <a:lstStyle/>
          <a:p>
            <a:pPr marL="0" indent="0" algn="l">
              <a:lnSpc>
                <a:spcPct val="116640"/>
              </a:lnSpc>
              <a:buNone/>
            </a:pPr>
            <a:r>
              <a:rPr lang="en-US" sz="1800" dirty="0">
                <a:solidFill>
                  <a:srgbClr val="3D3B37"/>
                </a:solidFill>
                <a:latin typeface="Georgia" pitchFamily="34" charset="0"/>
                <a:ea typeface="Georgia" pitchFamily="34" charset="-122"/>
                <a:cs typeface="Georgia" pitchFamily="34" charset="-120"/>
              </a:rPr>
              <a:t>The planned sequence and records used to coordinate wiki creation.</a:t>
            </a:r>
            <a:endParaRPr lang="en-US" sz="1800" dirty="0"/>
          </a:p>
        </p:txBody>
      </p:sp>
      <p:sp>
        <p:nvSpPr>
          <p:cNvPr id="39" name="Shape 37"/>
          <p:cNvSpPr/>
          <p:nvPr/>
        </p:nvSpPr>
        <p:spPr>
          <a:xfrm>
            <a:off x="9469934" y="9044451"/>
            <a:ext cx="7827533" cy="10583"/>
          </a:xfrm>
          <a:prstGeom prst="rect">
            <a:avLst/>
          </a:prstGeom>
          <a:solidFill>
            <a:srgbClr val="E6E4DE"/>
          </a:solidFill>
          <a:ln/>
        </p:spPr>
      </p:sp>
      <p:sp>
        <p:nvSpPr>
          <p:cNvPr id="40" name="Text 38"/>
          <p:cNvSpPr/>
          <p:nvPr/>
        </p:nvSpPr>
        <p:spPr>
          <a:xfrm>
            <a:off x="9469934" y="7986018"/>
            <a:ext cx="8062359" cy="963183"/>
          </a:xfrm>
          <a:prstGeom prst="rect">
            <a:avLst/>
          </a:prstGeom>
          <a:noFill/>
          <a:ln/>
        </p:spPr>
        <p:txBody>
          <a:bodyPr wrap="square" lIns="25400" tIns="25400" rIns="25400" bIns="25400" rtlCol="0" anchor="t">
            <a:normAutofit lnSpcReduction="10000"/>
          </a:bodyPr>
          <a:lstStyle/>
          <a:p>
            <a:pPr marL="0" indent="0" algn="l">
              <a:lnSpc>
                <a:spcPct val="116640"/>
              </a:lnSpc>
              <a:buNone/>
            </a:pPr>
            <a:r>
              <a:rPr lang="en-US" sz="1800" dirty="0">
                <a:solidFill>
                  <a:srgbClr val="4F4D48"/>
                </a:solidFill>
                <a:latin typeface="Georgia" pitchFamily="34" charset="0"/>
                <a:ea typeface="Georgia" pitchFamily="34" charset="-122"/>
                <a:cs typeface="Georgia" pitchFamily="34" charset="-120"/>
              </a:rPr>
              <a:t>These preserve the workflow’s state and decisions across sessions. They help a human—or a later agentic implementation—identify the next bounded task and assess whether a milestone is ready to close.</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990534" y="685767"/>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685767"/>
            <a:ext cx="338303"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23</a:t>
            </a:r>
            <a:endParaRPr lang="en-US" sz="1950" dirty="0"/>
          </a:p>
        </p:txBody>
      </p:sp>
      <p:sp>
        <p:nvSpPr>
          <p:cNvPr id="4" name="Text 2"/>
          <p:cNvSpPr/>
          <p:nvPr/>
        </p:nvSpPr>
        <p:spPr>
          <a:xfrm>
            <a:off x="990534" y="1291001"/>
            <a:ext cx="17937626" cy="768350"/>
          </a:xfrm>
          <a:prstGeom prst="rect">
            <a:avLst/>
          </a:prstGeom>
          <a:noFill/>
          <a:ln/>
        </p:spPr>
        <p:txBody>
          <a:bodyPr wrap="square" lIns="25400" tIns="25400" rIns="25400" bIns="25400" rtlCol="0" anchor="t">
            <a:normAutofit/>
          </a:bodyPr>
          <a:lstStyle/>
          <a:p>
            <a:pPr marL="0" indent="0" algn="l">
              <a:buNone/>
            </a:pPr>
            <a:r>
              <a:rPr lang="en-US" sz="4200" dirty="0">
                <a:solidFill>
                  <a:srgbClr val="1F1E1C"/>
                </a:solidFill>
                <a:latin typeface="Georgia" pitchFamily="34" charset="0"/>
                <a:ea typeface="Georgia" pitchFamily="34" charset="-122"/>
                <a:cs typeface="Georgia" pitchFamily="34" charset="-120"/>
              </a:rPr>
              <a:t>Remaining work, in priority order</a:t>
            </a:r>
            <a:endParaRPr lang="en-US" sz="4200" dirty="0"/>
          </a:p>
        </p:txBody>
      </p:sp>
      <p:sp>
        <p:nvSpPr>
          <p:cNvPr id="5" name="Shape 3"/>
          <p:cNvSpPr/>
          <p:nvPr/>
        </p:nvSpPr>
        <p:spPr>
          <a:xfrm>
            <a:off x="990534" y="2724216"/>
            <a:ext cx="1301915" cy="10583"/>
          </a:xfrm>
          <a:prstGeom prst="rect">
            <a:avLst/>
          </a:prstGeom>
          <a:solidFill>
            <a:srgbClr val="CFCDC6"/>
          </a:solidFill>
          <a:ln/>
        </p:spPr>
      </p:sp>
      <p:sp>
        <p:nvSpPr>
          <p:cNvPr id="6" name="Text 4"/>
          <p:cNvSpPr/>
          <p:nvPr/>
        </p:nvSpPr>
        <p:spPr>
          <a:xfrm>
            <a:off x="990534" y="2287819"/>
            <a:ext cx="1378115" cy="341147"/>
          </a:xfrm>
          <a:prstGeom prst="rect">
            <a:avLst/>
          </a:prstGeom>
          <a:noFill/>
          <a:ln/>
        </p:spPr>
        <p:txBody>
          <a:bodyPr wrap="square" lIns="25400" tIns="25400" rIns="25400" bIns="25400" rtlCol="0" anchor="ctr">
            <a:normAutofit lnSpcReduction="10000"/>
          </a:bodyPr>
          <a:lstStyle/>
          <a:p>
            <a:pPr marL="0" indent="0" algn="l">
              <a:lnSpc>
                <a:spcPct val="116640"/>
              </a:lnSpc>
              <a:buNone/>
            </a:pPr>
            <a:r>
              <a:rPr lang="en-US" sz="1800" kern="0" spc="216" dirty="0">
                <a:solidFill>
                  <a:srgbClr val="6B6964"/>
                </a:solidFill>
                <a:latin typeface="Georgia" pitchFamily="34" charset="0"/>
                <a:ea typeface="Georgia" pitchFamily="34" charset="-122"/>
                <a:cs typeface="Georgia" pitchFamily="34" charset="-120"/>
              </a:rPr>
              <a:t>PRIORITY</a:t>
            </a:r>
            <a:endParaRPr lang="en-US" sz="1800" dirty="0"/>
          </a:p>
        </p:txBody>
      </p:sp>
      <p:sp>
        <p:nvSpPr>
          <p:cNvPr id="7" name="Shape 5"/>
          <p:cNvSpPr/>
          <p:nvPr/>
        </p:nvSpPr>
        <p:spPr>
          <a:xfrm>
            <a:off x="2292449" y="2724216"/>
            <a:ext cx="4565882" cy="10583"/>
          </a:xfrm>
          <a:prstGeom prst="rect">
            <a:avLst/>
          </a:prstGeom>
          <a:solidFill>
            <a:srgbClr val="CFCDC6"/>
          </a:solidFill>
          <a:ln/>
        </p:spPr>
      </p:sp>
      <p:sp>
        <p:nvSpPr>
          <p:cNvPr id="8" name="Text 6"/>
          <p:cNvSpPr/>
          <p:nvPr/>
        </p:nvSpPr>
        <p:spPr>
          <a:xfrm>
            <a:off x="2292449" y="2287819"/>
            <a:ext cx="4702858" cy="341147"/>
          </a:xfrm>
          <a:prstGeom prst="rect">
            <a:avLst/>
          </a:prstGeom>
          <a:noFill/>
          <a:ln/>
        </p:spPr>
        <p:txBody>
          <a:bodyPr wrap="square" lIns="25400" tIns="25400" rIns="25400" bIns="25400" rtlCol="0" anchor="ctr">
            <a:normAutofit lnSpcReduction="10000"/>
          </a:bodyPr>
          <a:lstStyle/>
          <a:p>
            <a:pPr marL="0" indent="0" algn="l">
              <a:lnSpc>
                <a:spcPct val="116640"/>
              </a:lnSpc>
              <a:buNone/>
            </a:pPr>
            <a:r>
              <a:rPr lang="en-US" sz="1800" kern="0" spc="216" dirty="0">
                <a:solidFill>
                  <a:srgbClr val="6B6964"/>
                </a:solidFill>
                <a:latin typeface="Georgia" pitchFamily="34" charset="0"/>
                <a:ea typeface="Georgia" pitchFamily="34" charset="-122"/>
                <a:cs typeface="Georgia" pitchFamily="34" charset="-120"/>
              </a:rPr>
              <a:t>TASK</a:t>
            </a:r>
            <a:endParaRPr lang="en-US" sz="1800" dirty="0"/>
          </a:p>
        </p:txBody>
      </p:sp>
      <p:sp>
        <p:nvSpPr>
          <p:cNvPr id="9" name="Shape 7"/>
          <p:cNvSpPr/>
          <p:nvPr/>
        </p:nvSpPr>
        <p:spPr>
          <a:xfrm>
            <a:off x="6858331" y="2724216"/>
            <a:ext cx="10439136" cy="10583"/>
          </a:xfrm>
          <a:prstGeom prst="rect">
            <a:avLst/>
          </a:prstGeom>
          <a:solidFill>
            <a:srgbClr val="CFCDC6"/>
          </a:solidFill>
          <a:ln/>
        </p:spPr>
      </p:sp>
      <p:sp>
        <p:nvSpPr>
          <p:cNvPr id="10" name="Text 8"/>
          <p:cNvSpPr/>
          <p:nvPr/>
        </p:nvSpPr>
        <p:spPr>
          <a:xfrm>
            <a:off x="6858331" y="2287819"/>
            <a:ext cx="10752310" cy="341147"/>
          </a:xfrm>
          <a:prstGeom prst="rect">
            <a:avLst/>
          </a:prstGeom>
          <a:noFill/>
          <a:ln/>
        </p:spPr>
        <p:txBody>
          <a:bodyPr wrap="square" lIns="25400" tIns="25400" rIns="25400" bIns="25400" rtlCol="0" anchor="ctr">
            <a:normAutofit lnSpcReduction="10000"/>
          </a:bodyPr>
          <a:lstStyle/>
          <a:p>
            <a:pPr marL="0" indent="0" algn="l">
              <a:lnSpc>
                <a:spcPct val="116640"/>
              </a:lnSpc>
              <a:buNone/>
            </a:pPr>
            <a:r>
              <a:rPr lang="en-US" sz="1800" kern="0" spc="216" dirty="0">
                <a:solidFill>
                  <a:srgbClr val="6B6964"/>
                </a:solidFill>
                <a:latin typeface="Georgia" pitchFamily="34" charset="0"/>
                <a:ea typeface="Georgia" pitchFamily="34" charset="-122"/>
                <a:cs typeface="Georgia" pitchFamily="34" charset="-120"/>
              </a:rPr>
              <a:t>SCOPE AND IMPORTANCE</a:t>
            </a:r>
            <a:endParaRPr lang="en-US" sz="1800" dirty="0"/>
          </a:p>
        </p:txBody>
      </p:sp>
      <p:sp>
        <p:nvSpPr>
          <p:cNvPr id="11" name="Shape 9"/>
          <p:cNvSpPr/>
          <p:nvPr/>
        </p:nvSpPr>
        <p:spPr>
          <a:xfrm>
            <a:off x="990534" y="3625123"/>
            <a:ext cx="1301915" cy="10583"/>
          </a:xfrm>
          <a:prstGeom prst="rect">
            <a:avLst/>
          </a:prstGeom>
          <a:solidFill>
            <a:srgbClr val="E6E4DE"/>
          </a:solidFill>
          <a:ln/>
        </p:spPr>
      </p:sp>
      <p:sp>
        <p:nvSpPr>
          <p:cNvPr id="12" name="Text 10"/>
          <p:cNvSpPr/>
          <p:nvPr/>
        </p:nvSpPr>
        <p:spPr>
          <a:xfrm>
            <a:off x="990534" y="2858625"/>
            <a:ext cx="1378115" cy="680773"/>
          </a:xfrm>
          <a:prstGeom prst="rect">
            <a:avLst/>
          </a:prstGeom>
          <a:noFill/>
          <a:ln/>
        </p:spPr>
        <p:txBody>
          <a:bodyPr wrap="square" lIns="25400" tIns="25400" rIns="25400" bIns="25400" rtlCol="0" anchor="t">
            <a:normAutofit/>
          </a:bodyPr>
          <a:lstStyle/>
          <a:p>
            <a:pPr marL="0" indent="0" algn="l">
              <a:lnSpc>
                <a:spcPct val="121500"/>
              </a:lnSpc>
              <a:buNone/>
            </a:pPr>
            <a:r>
              <a:rPr lang="en-US" sz="1950" dirty="0">
                <a:solidFill>
                  <a:srgbClr val="5C4FB3"/>
                </a:solidFill>
                <a:latin typeface="Georgia" pitchFamily="34" charset="0"/>
                <a:ea typeface="Georgia" pitchFamily="34" charset="-122"/>
                <a:cs typeface="Georgia" pitchFamily="34" charset="-120"/>
              </a:rPr>
              <a:t>1</a:t>
            </a:r>
            <a:endParaRPr lang="en-US" sz="1950" dirty="0"/>
          </a:p>
        </p:txBody>
      </p:sp>
      <p:sp>
        <p:nvSpPr>
          <p:cNvPr id="13" name="Shape 11"/>
          <p:cNvSpPr/>
          <p:nvPr/>
        </p:nvSpPr>
        <p:spPr>
          <a:xfrm>
            <a:off x="2292449" y="3625123"/>
            <a:ext cx="4565882" cy="10583"/>
          </a:xfrm>
          <a:prstGeom prst="rect">
            <a:avLst/>
          </a:prstGeom>
          <a:solidFill>
            <a:srgbClr val="E6E4DE"/>
          </a:solidFill>
          <a:ln/>
        </p:spPr>
      </p:sp>
      <p:sp>
        <p:nvSpPr>
          <p:cNvPr id="14" name="Text 12"/>
          <p:cNvSpPr/>
          <p:nvPr/>
        </p:nvSpPr>
        <p:spPr>
          <a:xfrm>
            <a:off x="2292449" y="2858625"/>
            <a:ext cx="4398058" cy="680773"/>
          </a:xfrm>
          <a:prstGeom prst="rect">
            <a:avLst/>
          </a:prstGeom>
          <a:noFill/>
          <a:ln/>
        </p:spPr>
        <p:txBody>
          <a:bodyPr wrap="square" lIns="25400" tIns="25400" rIns="25400" bIns="25400" rtlCol="0" anchor="t">
            <a:normAutofit/>
          </a:bodyPr>
          <a:lstStyle/>
          <a:p>
            <a:pPr marL="0" indent="0" algn="l">
              <a:lnSpc>
                <a:spcPct val="116827"/>
              </a:lnSpc>
              <a:buNone/>
            </a:pPr>
            <a:r>
              <a:rPr lang="en-US" sz="1875" dirty="0">
                <a:solidFill>
                  <a:srgbClr val="1F1E1C"/>
                </a:solidFill>
                <a:latin typeface="Georgia" pitchFamily="34" charset="0"/>
                <a:ea typeface="Georgia" pitchFamily="34" charset="-122"/>
                <a:cs typeface="Georgia" pitchFamily="34" charset="-120"/>
              </a:rPr>
              <a:t>Create Chapter 1 and Articles 1–2 nodes</a:t>
            </a:r>
            <a:endParaRPr lang="en-US" sz="1875" dirty="0"/>
          </a:p>
        </p:txBody>
      </p:sp>
      <p:sp>
        <p:nvSpPr>
          <p:cNvPr id="15" name="Shape 13"/>
          <p:cNvSpPr/>
          <p:nvPr/>
        </p:nvSpPr>
        <p:spPr>
          <a:xfrm>
            <a:off x="6858331" y="3625123"/>
            <a:ext cx="10439136" cy="10583"/>
          </a:xfrm>
          <a:prstGeom prst="rect">
            <a:avLst/>
          </a:prstGeom>
          <a:solidFill>
            <a:srgbClr val="E6E4DE"/>
          </a:solidFill>
          <a:ln/>
        </p:spPr>
      </p:sp>
      <p:sp>
        <p:nvSpPr>
          <p:cNvPr id="16" name="Text 14"/>
          <p:cNvSpPr/>
          <p:nvPr/>
        </p:nvSpPr>
        <p:spPr>
          <a:xfrm>
            <a:off x="6858331" y="2858625"/>
            <a:ext cx="10752310" cy="680773"/>
          </a:xfrm>
          <a:prstGeom prst="rect">
            <a:avLst/>
          </a:prstGeom>
          <a:noFill/>
          <a:ln/>
        </p:spPr>
        <p:txBody>
          <a:bodyPr wrap="square" lIns="25400" tIns="25400" rIns="25400" bIns="25400" rtlCol="0" anchor="t">
            <a:normAutofit/>
          </a:bodyPr>
          <a:lstStyle/>
          <a:p>
            <a:pPr marL="0" indent="0" algn="l">
              <a:lnSpc>
                <a:spcPct val="116640"/>
              </a:lnSpc>
              <a:buNone/>
            </a:pPr>
            <a:r>
              <a:rPr lang="en-US" sz="1800" dirty="0">
                <a:solidFill>
                  <a:srgbClr val="4F4D48"/>
                </a:solidFill>
                <a:latin typeface="Georgia" pitchFamily="34" charset="0"/>
                <a:ea typeface="Georgia" pitchFamily="34" charset="-122"/>
                <a:cs typeface="Georgia" pitchFamily="34" charset="-120"/>
              </a:rPr>
              <a:t>Execute the next structural ticket using the relevant cited source material. This tests the chapter-and-article pattern on a small scope before applying it across the agreement.</a:t>
            </a:r>
            <a:endParaRPr lang="en-US" sz="1800" dirty="0"/>
          </a:p>
        </p:txBody>
      </p:sp>
      <p:sp>
        <p:nvSpPr>
          <p:cNvPr id="17" name="Shape 15"/>
          <p:cNvSpPr/>
          <p:nvPr/>
        </p:nvSpPr>
        <p:spPr>
          <a:xfrm>
            <a:off x="990534" y="4808306"/>
            <a:ext cx="1301915" cy="10583"/>
          </a:xfrm>
          <a:prstGeom prst="rect">
            <a:avLst/>
          </a:prstGeom>
          <a:solidFill>
            <a:srgbClr val="E6E4DE"/>
          </a:solidFill>
          <a:ln/>
        </p:spPr>
      </p:sp>
      <p:sp>
        <p:nvSpPr>
          <p:cNvPr id="18" name="Text 16"/>
          <p:cNvSpPr/>
          <p:nvPr/>
        </p:nvSpPr>
        <p:spPr>
          <a:xfrm>
            <a:off x="990534" y="3759531"/>
            <a:ext cx="1378115" cy="963050"/>
          </a:xfrm>
          <a:prstGeom prst="rect">
            <a:avLst/>
          </a:prstGeom>
          <a:noFill/>
          <a:ln/>
        </p:spPr>
        <p:txBody>
          <a:bodyPr wrap="square" lIns="25400" tIns="25400" rIns="25400" bIns="25400" rtlCol="0" anchor="t">
            <a:normAutofit/>
          </a:bodyPr>
          <a:lstStyle/>
          <a:p>
            <a:pPr marL="0" indent="0" algn="l">
              <a:lnSpc>
                <a:spcPct val="121500"/>
              </a:lnSpc>
              <a:buNone/>
            </a:pPr>
            <a:r>
              <a:rPr lang="en-US" sz="1950" dirty="0">
                <a:solidFill>
                  <a:srgbClr val="5C4FB3"/>
                </a:solidFill>
                <a:latin typeface="Georgia" pitchFamily="34" charset="0"/>
                <a:ea typeface="Georgia" pitchFamily="34" charset="-122"/>
                <a:cs typeface="Georgia" pitchFamily="34" charset="-120"/>
              </a:rPr>
              <a:t>2</a:t>
            </a:r>
            <a:endParaRPr lang="en-US" sz="1950" dirty="0"/>
          </a:p>
        </p:txBody>
      </p:sp>
      <p:sp>
        <p:nvSpPr>
          <p:cNvPr id="19" name="Shape 17"/>
          <p:cNvSpPr/>
          <p:nvPr/>
        </p:nvSpPr>
        <p:spPr>
          <a:xfrm>
            <a:off x="2292449" y="4808306"/>
            <a:ext cx="4565882" cy="10583"/>
          </a:xfrm>
          <a:prstGeom prst="rect">
            <a:avLst/>
          </a:prstGeom>
          <a:solidFill>
            <a:srgbClr val="E6E4DE"/>
          </a:solidFill>
          <a:ln/>
        </p:spPr>
      </p:sp>
      <p:sp>
        <p:nvSpPr>
          <p:cNvPr id="20" name="Text 18"/>
          <p:cNvSpPr/>
          <p:nvPr/>
        </p:nvSpPr>
        <p:spPr>
          <a:xfrm>
            <a:off x="2292449" y="3759531"/>
            <a:ext cx="4398058" cy="963050"/>
          </a:xfrm>
          <a:prstGeom prst="rect">
            <a:avLst/>
          </a:prstGeom>
          <a:noFill/>
          <a:ln/>
        </p:spPr>
        <p:txBody>
          <a:bodyPr wrap="square" lIns="25400" tIns="25400" rIns="25400" bIns="25400" rtlCol="0" anchor="t">
            <a:normAutofit/>
          </a:bodyPr>
          <a:lstStyle/>
          <a:p>
            <a:pPr marL="0" indent="0" algn="l">
              <a:lnSpc>
                <a:spcPct val="116827"/>
              </a:lnSpc>
              <a:buNone/>
            </a:pPr>
            <a:r>
              <a:rPr lang="en-US" sz="1875" dirty="0">
                <a:solidFill>
                  <a:srgbClr val="1F1E1C"/>
                </a:solidFill>
                <a:latin typeface="Georgia" pitchFamily="34" charset="0"/>
                <a:ea typeface="Georgia" pitchFamily="34" charset="-122"/>
                <a:cs typeface="Georgia" pitchFamily="34" charset="-120"/>
              </a:rPr>
              <a:t>Complete the Chapters 2–6 and Annex 5 spine</a:t>
            </a:r>
            <a:endParaRPr lang="en-US" sz="1875" dirty="0"/>
          </a:p>
        </p:txBody>
      </p:sp>
      <p:sp>
        <p:nvSpPr>
          <p:cNvPr id="21" name="Shape 19"/>
          <p:cNvSpPr/>
          <p:nvPr/>
        </p:nvSpPr>
        <p:spPr>
          <a:xfrm>
            <a:off x="6858331" y="4808306"/>
            <a:ext cx="10439136" cy="10583"/>
          </a:xfrm>
          <a:prstGeom prst="rect">
            <a:avLst/>
          </a:prstGeom>
          <a:solidFill>
            <a:srgbClr val="E6E4DE"/>
          </a:solidFill>
          <a:ln/>
        </p:spPr>
      </p:sp>
      <p:sp>
        <p:nvSpPr>
          <p:cNvPr id="22" name="Text 20"/>
          <p:cNvSpPr/>
          <p:nvPr/>
        </p:nvSpPr>
        <p:spPr>
          <a:xfrm>
            <a:off x="6858331" y="3759531"/>
            <a:ext cx="10752310" cy="963050"/>
          </a:xfrm>
          <a:prstGeom prst="rect">
            <a:avLst/>
          </a:prstGeom>
          <a:noFill/>
          <a:ln/>
        </p:spPr>
        <p:txBody>
          <a:bodyPr wrap="square" lIns="25400" tIns="25400" rIns="25400" bIns="25400" rtlCol="0" anchor="t">
            <a:normAutofit lnSpcReduction="10000"/>
          </a:bodyPr>
          <a:lstStyle/>
          <a:p>
            <a:pPr marL="0" indent="0" algn="l">
              <a:lnSpc>
                <a:spcPct val="116640"/>
              </a:lnSpc>
              <a:buNone/>
            </a:pPr>
            <a:r>
              <a:rPr lang="en-US" sz="1800" dirty="0">
                <a:solidFill>
                  <a:srgbClr val="4F4D48"/>
                </a:solidFill>
                <a:latin typeface="Georgia" pitchFamily="34" charset="0"/>
                <a:ea typeface="Georgia" pitchFamily="34" charset="-122"/>
                <a:cs typeface="Georgia" pitchFamily="34" charset="-120"/>
              </a:rPr>
              <a:t>Create the remaining structural pages and connect them to their parents and children. The spine gives provisions stable locations in the graph and makes it possible to measure coverage against the expected 44 articles.</a:t>
            </a:r>
            <a:endParaRPr lang="en-US" sz="1800" dirty="0"/>
          </a:p>
        </p:txBody>
      </p:sp>
      <p:sp>
        <p:nvSpPr>
          <p:cNvPr id="23" name="Shape 21"/>
          <p:cNvSpPr/>
          <p:nvPr/>
        </p:nvSpPr>
        <p:spPr>
          <a:xfrm>
            <a:off x="990534" y="5709213"/>
            <a:ext cx="1301915" cy="10583"/>
          </a:xfrm>
          <a:prstGeom prst="rect">
            <a:avLst/>
          </a:prstGeom>
          <a:solidFill>
            <a:srgbClr val="E6E4DE"/>
          </a:solidFill>
          <a:ln/>
        </p:spPr>
      </p:sp>
      <p:sp>
        <p:nvSpPr>
          <p:cNvPr id="24" name="Text 22"/>
          <p:cNvSpPr/>
          <p:nvPr/>
        </p:nvSpPr>
        <p:spPr>
          <a:xfrm>
            <a:off x="990534" y="4942715"/>
            <a:ext cx="1378115" cy="680773"/>
          </a:xfrm>
          <a:prstGeom prst="rect">
            <a:avLst/>
          </a:prstGeom>
          <a:noFill/>
          <a:ln/>
        </p:spPr>
        <p:txBody>
          <a:bodyPr wrap="square" lIns="25400" tIns="25400" rIns="25400" bIns="25400" rtlCol="0" anchor="t">
            <a:normAutofit/>
          </a:bodyPr>
          <a:lstStyle/>
          <a:p>
            <a:pPr marL="0" indent="0" algn="l">
              <a:lnSpc>
                <a:spcPct val="121500"/>
              </a:lnSpc>
              <a:buNone/>
            </a:pPr>
            <a:r>
              <a:rPr lang="en-US" sz="1950" dirty="0">
                <a:solidFill>
                  <a:srgbClr val="5C4FB3"/>
                </a:solidFill>
                <a:latin typeface="Georgia" pitchFamily="34" charset="0"/>
                <a:ea typeface="Georgia" pitchFamily="34" charset="-122"/>
                <a:cs typeface="Georgia" pitchFamily="34" charset="-120"/>
              </a:rPr>
              <a:t>3</a:t>
            </a:r>
            <a:endParaRPr lang="en-US" sz="1950" dirty="0"/>
          </a:p>
        </p:txBody>
      </p:sp>
      <p:sp>
        <p:nvSpPr>
          <p:cNvPr id="25" name="Shape 23"/>
          <p:cNvSpPr/>
          <p:nvPr/>
        </p:nvSpPr>
        <p:spPr>
          <a:xfrm>
            <a:off x="2292449" y="5709213"/>
            <a:ext cx="4565882" cy="10583"/>
          </a:xfrm>
          <a:prstGeom prst="rect">
            <a:avLst/>
          </a:prstGeom>
          <a:solidFill>
            <a:srgbClr val="E6E4DE"/>
          </a:solidFill>
          <a:ln/>
        </p:spPr>
      </p:sp>
      <p:sp>
        <p:nvSpPr>
          <p:cNvPr id="26" name="Text 24"/>
          <p:cNvSpPr/>
          <p:nvPr/>
        </p:nvSpPr>
        <p:spPr>
          <a:xfrm>
            <a:off x="2292449" y="4942715"/>
            <a:ext cx="4398058" cy="680773"/>
          </a:xfrm>
          <a:prstGeom prst="rect">
            <a:avLst/>
          </a:prstGeom>
          <a:noFill/>
          <a:ln/>
        </p:spPr>
        <p:txBody>
          <a:bodyPr wrap="square" lIns="25400" tIns="25400" rIns="25400" bIns="25400" rtlCol="0" anchor="t">
            <a:normAutofit lnSpcReduction="10000"/>
          </a:bodyPr>
          <a:lstStyle/>
          <a:p>
            <a:pPr marL="0" indent="0" algn="l">
              <a:lnSpc>
                <a:spcPct val="116827"/>
              </a:lnSpc>
              <a:buNone/>
            </a:pPr>
            <a:r>
              <a:rPr lang="en-US" sz="1875" dirty="0">
                <a:solidFill>
                  <a:srgbClr val="1F1E1C"/>
                </a:solidFill>
                <a:latin typeface="Georgia" pitchFamily="34" charset="0"/>
                <a:ea typeface="Georgia" pitchFamily="34" charset="-122"/>
                <a:cs typeface="Georgia" pitchFamily="34" charset="-120"/>
              </a:rPr>
              <a:t>Create shared actor, definition and concept anchors</a:t>
            </a:r>
            <a:endParaRPr lang="en-US" sz="1875" dirty="0"/>
          </a:p>
        </p:txBody>
      </p:sp>
      <p:sp>
        <p:nvSpPr>
          <p:cNvPr id="27" name="Shape 25"/>
          <p:cNvSpPr/>
          <p:nvPr/>
        </p:nvSpPr>
        <p:spPr>
          <a:xfrm>
            <a:off x="6858331" y="5709213"/>
            <a:ext cx="10439136" cy="10583"/>
          </a:xfrm>
          <a:prstGeom prst="rect">
            <a:avLst/>
          </a:prstGeom>
          <a:solidFill>
            <a:srgbClr val="E6E4DE"/>
          </a:solidFill>
          <a:ln/>
        </p:spPr>
      </p:sp>
      <p:sp>
        <p:nvSpPr>
          <p:cNvPr id="28" name="Text 26"/>
          <p:cNvSpPr/>
          <p:nvPr/>
        </p:nvSpPr>
        <p:spPr>
          <a:xfrm>
            <a:off x="6858331" y="4942715"/>
            <a:ext cx="10752310" cy="680773"/>
          </a:xfrm>
          <a:prstGeom prst="rect">
            <a:avLst/>
          </a:prstGeom>
          <a:noFill/>
          <a:ln/>
        </p:spPr>
        <p:txBody>
          <a:bodyPr wrap="square" lIns="25400" tIns="25400" rIns="25400" bIns="25400" rtlCol="0" anchor="t">
            <a:normAutofit/>
          </a:bodyPr>
          <a:lstStyle/>
          <a:p>
            <a:pPr marL="0" indent="0" algn="l">
              <a:lnSpc>
                <a:spcPct val="116640"/>
              </a:lnSpc>
              <a:buNone/>
            </a:pPr>
            <a:r>
              <a:rPr lang="en-US" sz="1800" dirty="0">
                <a:solidFill>
                  <a:srgbClr val="4F4D48"/>
                </a:solidFill>
                <a:latin typeface="Georgia" pitchFamily="34" charset="0"/>
                <a:ea typeface="Georgia" pitchFamily="34" charset="-122"/>
                <a:cs typeface="Georgia" pitchFamily="34" charset="-120"/>
              </a:rPr>
              <a:t>Make canonical pages for meanings reused across articles, then link structural and later topic pages to them. This prevents multiple pages from silently defining the same concept differently.</a:t>
            </a:r>
            <a:endParaRPr lang="en-US" sz="1800" dirty="0"/>
          </a:p>
        </p:txBody>
      </p:sp>
      <p:sp>
        <p:nvSpPr>
          <p:cNvPr id="29" name="Shape 27"/>
          <p:cNvSpPr/>
          <p:nvPr/>
        </p:nvSpPr>
        <p:spPr>
          <a:xfrm>
            <a:off x="990534" y="6892396"/>
            <a:ext cx="1301915" cy="10583"/>
          </a:xfrm>
          <a:prstGeom prst="rect">
            <a:avLst/>
          </a:prstGeom>
          <a:solidFill>
            <a:srgbClr val="E6E4DE"/>
          </a:solidFill>
          <a:ln/>
        </p:spPr>
      </p:sp>
      <p:sp>
        <p:nvSpPr>
          <p:cNvPr id="30" name="Text 28"/>
          <p:cNvSpPr/>
          <p:nvPr/>
        </p:nvSpPr>
        <p:spPr>
          <a:xfrm>
            <a:off x="990534" y="5843621"/>
            <a:ext cx="1378115" cy="963050"/>
          </a:xfrm>
          <a:prstGeom prst="rect">
            <a:avLst/>
          </a:prstGeom>
          <a:noFill/>
          <a:ln/>
        </p:spPr>
        <p:txBody>
          <a:bodyPr wrap="square" lIns="25400" tIns="25400" rIns="25400" bIns="25400" rtlCol="0" anchor="t">
            <a:normAutofit/>
          </a:bodyPr>
          <a:lstStyle/>
          <a:p>
            <a:pPr marL="0" indent="0" algn="l">
              <a:lnSpc>
                <a:spcPct val="121500"/>
              </a:lnSpc>
              <a:buNone/>
            </a:pPr>
            <a:r>
              <a:rPr lang="en-US" sz="1950" dirty="0">
                <a:solidFill>
                  <a:srgbClr val="5C4FB3"/>
                </a:solidFill>
                <a:latin typeface="Georgia" pitchFamily="34" charset="0"/>
                <a:ea typeface="Georgia" pitchFamily="34" charset="-122"/>
                <a:cs typeface="Georgia" pitchFamily="34" charset="-120"/>
              </a:rPr>
              <a:t>4</a:t>
            </a:r>
            <a:endParaRPr lang="en-US" sz="1950" dirty="0"/>
          </a:p>
        </p:txBody>
      </p:sp>
      <p:sp>
        <p:nvSpPr>
          <p:cNvPr id="31" name="Shape 29"/>
          <p:cNvSpPr/>
          <p:nvPr/>
        </p:nvSpPr>
        <p:spPr>
          <a:xfrm>
            <a:off x="2292449" y="6892396"/>
            <a:ext cx="4565882" cy="10583"/>
          </a:xfrm>
          <a:prstGeom prst="rect">
            <a:avLst/>
          </a:prstGeom>
          <a:solidFill>
            <a:srgbClr val="E6E4DE"/>
          </a:solidFill>
          <a:ln/>
        </p:spPr>
      </p:sp>
      <p:sp>
        <p:nvSpPr>
          <p:cNvPr id="32" name="Text 30"/>
          <p:cNvSpPr/>
          <p:nvPr/>
        </p:nvSpPr>
        <p:spPr>
          <a:xfrm>
            <a:off x="2292449" y="5843621"/>
            <a:ext cx="4398058" cy="963050"/>
          </a:xfrm>
          <a:prstGeom prst="rect">
            <a:avLst/>
          </a:prstGeom>
          <a:noFill/>
          <a:ln/>
        </p:spPr>
        <p:txBody>
          <a:bodyPr wrap="square" lIns="25400" tIns="25400" rIns="25400" bIns="25400" rtlCol="0" anchor="t">
            <a:normAutofit/>
          </a:bodyPr>
          <a:lstStyle/>
          <a:p>
            <a:pPr marL="0" indent="0" algn="l">
              <a:lnSpc>
                <a:spcPct val="116827"/>
              </a:lnSpc>
              <a:buNone/>
            </a:pPr>
            <a:r>
              <a:rPr lang="en-US" sz="1875" dirty="0">
                <a:solidFill>
                  <a:srgbClr val="1F1E1C"/>
                </a:solidFill>
                <a:latin typeface="Georgia" pitchFamily="34" charset="0"/>
                <a:ea typeface="Georgia" pitchFamily="34" charset="-122"/>
                <a:cs typeface="Georgia" pitchFamily="34" charset="-120"/>
              </a:rPr>
              <a:t>Populate cited rules, cases and examples by topic</a:t>
            </a:r>
            <a:endParaRPr lang="en-US" sz="1875" dirty="0"/>
          </a:p>
        </p:txBody>
      </p:sp>
      <p:sp>
        <p:nvSpPr>
          <p:cNvPr id="33" name="Shape 31"/>
          <p:cNvSpPr/>
          <p:nvPr/>
        </p:nvSpPr>
        <p:spPr>
          <a:xfrm>
            <a:off x="6858331" y="6892396"/>
            <a:ext cx="10439136" cy="10583"/>
          </a:xfrm>
          <a:prstGeom prst="rect">
            <a:avLst/>
          </a:prstGeom>
          <a:solidFill>
            <a:srgbClr val="E6E4DE"/>
          </a:solidFill>
          <a:ln/>
        </p:spPr>
      </p:sp>
      <p:sp>
        <p:nvSpPr>
          <p:cNvPr id="34" name="Text 32"/>
          <p:cNvSpPr/>
          <p:nvPr/>
        </p:nvSpPr>
        <p:spPr>
          <a:xfrm>
            <a:off x="6858331" y="5843621"/>
            <a:ext cx="10752310" cy="963050"/>
          </a:xfrm>
          <a:prstGeom prst="rect">
            <a:avLst/>
          </a:prstGeom>
          <a:noFill/>
          <a:ln/>
        </p:spPr>
        <p:txBody>
          <a:bodyPr wrap="square" lIns="25400" tIns="25400" rIns="25400" bIns="25400" rtlCol="0" anchor="t">
            <a:normAutofit lnSpcReduction="10000"/>
          </a:bodyPr>
          <a:lstStyle/>
          <a:p>
            <a:pPr marL="0" indent="0" algn="l">
              <a:lnSpc>
                <a:spcPct val="116640"/>
              </a:lnSpc>
              <a:buNone/>
            </a:pPr>
            <a:r>
              <a:rPr lang="en-US" sz="1800" dirty="0">
                <a:solidFill>
                  <a:srgbClr val="4F4D48"/>
                </a:solidFill>
                <a:latin typeface="Georgia" pitchFamily="34" charset="0"/>
                <a:ea typeface="Georgia" pitchFamily="34" charset="-122"/>
                <a:cs typeface="Georgia" pitchFamily="34" charset="-120"/>
              </a:rPr>
              <a:t>Add the substantive knowledge in bounded clusters: what a provision requires, when it applies, and how it appears in a practical case. Each claim needs a traceable AGA citation and links to its article and relevant anchors.</a:t>
            </a:r>
            <a:endParaRPr lang="en-US" sz="1800" dirty="0"/>
          </a:p>
        </p:txBody>
      </p:sp>
      <p:sp>
        <p:nvSpPr>
          <p:cNvPr id="35" name="Shape 33"/>
          <p:cNvSpPr/>
          <p:nvPr/>
        </p:nvSpPr>
        <p:spPr>
          <a:xfrm>
            <a:off x="990534" y="8075580"/>
            <a:ext cx="1301915" cy="10583"/>
          </a:xfrm>
          <a:prstGeom prst="rect">
            <a:avLst/>
          </a:prstGeom>
          <a:solidFill>
            <a:srgbClr val="E6E4DE"/>
          </a:solidFill>
          <a:ln/>
        </p:spPr>
      </p:sp>
      <p:sp>
        <p:nvSpPr>
          <p:cNvPr id="36" name="Text 34"/>
          <p:cNvSpPr/>
          <p:nvPr/>
        </p:nvSpPr>
        <p:spPr>
          <a:xfrm>
            <a:off x="990534" y="7026804"/>
            <a:ext cx="1378115" cy="963050"/>
          </a:xfrm>
          <a:prstGeom prst="rect">
            <a:avLst/>
          </a:prstGeom>
          <a:noFill/>
          <a:ln/>
        </p:spPr>
        <p:txBody>
          <a:bodyPr wrap="square" lIns="25400" tIns="25400" rIns="25400" bIns="25400" rtlCol="0" anchor="t">
            <a:normAutofit/>
          </a:bodyPr>
          <a:lstStyle/>
          <a:p>
            <a:pPr marL="0" indent="0" algn="l">
              <a:lnSpc>
                <a:spcPct val="121500"/>
              </a:lnSpc>
              <a:buNone/>
            </a:pPr>
            <a:r>
              <a:rPr lang="en-US" sz="1950" dirty="0">
                <a:solidFill>
                  <a:srgbClr val="5C4FB3"/>
                </a:solidFill>
                <a:latin typeface="Georgia" pitchFamily="34" charset="0"/>
                <a:ea typeface="Georgia" pitchFamily="34" charset="-122"/>
                <a:cs typeface="Georgia" pitchFamily="34" charset="-120"/>
              </a:rPr>
              <a:t>5</a:t>
            </a:r>
            <a:endParaRPr lang="en-US" sz="1950" dirty="0"/>
          </a:p>
        </p:txBody>
      </p:sp>
      <p:sp>
        <p:nvSpPr>
          <p:cNvPr id="37" name="Shape 35"/>
          <p:cNvSpPr/>
          <p:nvPr/>
        </p:nvSpPr>
        <p:spPr>
          <a:xfrm>
            <a:off x="2292449" y="8075580"/>
            <a:ext cx="4565882" cy="10583"/>
          </a:xfrm>
          <a:prstGeom prst="rect">
            <a:avLst/>
          </a:prstGeom>
          <a:solidFill>
            <a:srgbClr val="E6E4DE"/>
          </a:solidFill>
          <a:ln/>
        </p:spPr>
      </p:sp>
      <p:sp>
        <p:nvSpPr>
          <p:cNvPr id="38" name="Text 36"/>
          <p:cNvSpPr/>
          <p:nvPr/>
        </p:nvSpPr>
        <p:spPr>
          <a:xfrm>
            <a:off x="2292449" y="7026804"/>
            <a:ext cx="4398058" cy="963050"/>
          </a:xfrm>
          <a:prstGeom prst="rect">
            <a:avLst/>
          </a:prstGeom>
          <a:noFill/>
          <a:ln/>
        </p:spPr>
        <p:txBody>
          <a:bodyPr wrap="square" lIns="25400" tIns="25400" rIns="25400" bIns="25400" rtlCol="0" anchor="t">
            <a:normAutofit/>
          </a:bodyPr>
          <a:lstStyle/>
          <a:p>
            <a:pPr marL="0" indent="0" algn="l">
              <a:lnSpc>
                <a:spcPct val="116827"/>
              </a:lnSpc>
              <a:buNone/>
            </a:pPr>
            <a:r>
              <a:rPr lang="en-US" sz="1875" dirty="0">
                <a:solidFill>
                  <a:srgbClr val="1F1E1C"/>
                </a:solidFill>
                <a:latin typeface="Georgia" pitchFamily="34" charset="0"/>
                <a:ea typeface="Georgia" pitchFamily="34" charset="-122"/>
                <a:cs typeface="Georgia" pitchFamily="34" charset="-120"/>
              </a:rPr>
              <a:t>Add budget models and cross-article syntheses</a:t>
            </a:r>
            <a:endParaRPr lang="en-US" sz="1875" dirty="0"/>
          </a:p>
        </p:txBody>
      </p:sp>
      <p:sp>
        <p:nvSpPr>
          <p:cNvPr id="39" name="Shape 37"/>
          <p:cNvSpPr/>
          <p:nvPr/>
        </p:nvSpPr>
        <p:spPr>
          <a:xfrm>
            <a:off x="6858331" y="8075580"/>
            <a:ext cx="10439136" cy="10583"/>
          </a:xfrm>
          <a:prstGeom prst="rect">
            <a:avLst/>
          </a:prstGeom>
          <a:solidFill>
            <a:srgbClr val="E6E4DE"/>
          </a:solidFill>
          <a:ln/>
        </p:spPr>
      </p:sp>
      <p:sp>
        <p:nvSpPr>
          <p:cNvPr id="40" name="Text 38"/>
          <p:cNvSpPr/>
          <p:nvPr/>
        </p:nvSpPr>
        <p:spPr>
          <a:xfrm>
            <a:off x="6858331" y="7026804"/>
            <a:ext cx="10752310" cy="963050"/>
          </a:xfrm>
          <a:prstGeom prst="rect">
            <a:avLst/>
          </a:prstGeom>
          <a:noFill/>
          <a:ln/>
        </p:spPr>
        <p:txBody>
          <a:bodyPr wrap="square" lIns="25400" tIns="25400" rIns="25400" bIns="25400" rtlCol="0" anchor="t">
            <a:normAutofit/>
          </a:bodyPr>
          <a:lstStyle/>
          <a:p>
            <a:pPr marL="0" indent="0" algn="l">
              <a:lnSpc>
                <a:spcPct val="116640"/>
              </a:lnSpc>
              <a:buNone/>
            </a:pPr>
            <a:r>
              <a:rPr lang="en-US" sz="1800" dirty="0">
                <a:solidFill>
                  <a:srgbClr val="4F4D48"/>
                </a:solidFill>
                <a:latin typeface="Georgia" pitchFamily="34" charset="0"/>
                <a:ea typeface="Georgia" pitchFamily="34" charset="-122"/>
                <a:cs typeface="Georgia" pitchFamily="34" charset="-120"/>
              </a:rPr>
              <a:t>Connect provisions that must be read together for a budgeting decision or other practical question. These pages turn the graph from a navigable representation of the document into a tool for reasoning across it.</a:t>
            </a:r>
            <a:endParaRPr lang="en-US" sz="1800" dirty="0"/>
          </a:p>
        </p:txBody>
      </p:sp>
      <p:sp>
        <p:nvSpPr>
          <p:cNvPr id="41" name="Shape 39"/>
          <p:cNvSpPr/>
          <p:nvPr/>
        </p:nvSpPr>
        <p:spPr>
          <a:xfrm>
            <a:off x="990534" y="9258764"/>
            <a:ext cx="1301915" cy="10583"/>
          </a:xfrm>
          <a:prstGeom prst="rect">
            <a:avLst/>
          </a:prstGeom>
          <a:solidFill>
            <a:srgbClr val="E6E4DE"/>
          </a:solidFill>
          <a:ln/>
        </p:spPr>
      </p:sp>
      <p:sp>
        <p:nvSpPr>
          <p:cNvPr id="42" name="Text 40"/>
          <p:cNvSpPr/>
          <p:nvPr/>
        </p:nvSpPr>
        <p:spPr>
          <a:xfrm>
            <a:off x="990534" y="8209988"/>
            <a:ext cx="1378115" cy="963050"/>
          </a:xfrm>
          <a:prstGeom prst="rect">
            <a:avLst/>
          </a:prstGeom>
          <a:noFill/>
          <a:ln/>
        </p:spPr>
        <p:txBody>
          <a:bodyPr wrap="square" lIns="25400" tIns="25400" rIns="25400" bIns="25400" rtlCol="0" anchor="t">
            <a:normAutofit/>
          </a:bodyPr>
          <a:lstStyle/>
          <a:p>
            <a:pPr marL="0" indent="0" algn="l">
              <a:lnSpc>
                <a:spcPct val="121500"/>
              </a:lnSpc>
              <a:buNone/>
            </a:pPr>
            <a:r>
              <a:rPr lang="en-US" sz="1950" dirty="0">
                <a:solidFill>
                  <a:srgbClr val="5C4FB3"/>
                </a:solidFill>
                <a:latin typeface="Georgia" pitchFamily="34" charset="0"/>
                <a:ea typeface="Georgia" pitchFamily="34" charset="-122"/>
                <a:cs typeface="Georgia" pitchFamily="34" charset="-120"/>
              </a:rPr>
              <a:t>6</a:t>
            </a:r>
            <a:endParaRPr lang="en-US" sz="1950" dirty="0"/>
          </a:p>
        </p:txBody>
      </p:sp>
      <p:sp>
        <p:nvSpPr>
          <p:cNvPr id="43" name="Shape 41"/>
          <p:cNvSpPr/>
          <p:nvPr/>
        </p:nvSpPr>
        <p:spPr>
          <a:xfrm>
            <a:off x="2292449" y="9258764"/>
            <a:ext cx="4565882" cy="10583"/>
          </a:xfrm>
          <a:prstGeom prst="rect">
            <a:avLst/>
          </a:prstGeom>
          <a:solidFill>
            <a:srgbClr val="E6E4DE"/>
          </a:solidFill>
          <a:ln/>
        </p:spPr>
      </p:sp>
      <p:sp>
        <p:nvSpPr>
          <p:cNvPr id="44" name="Text 42"/>
          <p:cNvSpPr/>
          <p:nvPr/>
        </p:nvSpPr>
        <p:spPr>
          <a:xfrm>
            <a:off x="2292449" y="8209988"/>
            <a:ext cx="4398058" cy="963050"/>
          </a:xfrm>
          <a:prstGeom prst="rect">
            <a:avLst/>
          </a:prstGeom>
          <a:noFill/>
          <a:ln/>
        </p:spPr>
        <p:txBody>
          <a:bodyPr wrap="square" lIns="25400" tIns="25400" rIns="25400" bIns="25400" rtlCol="0" anchor="t">
            <a:normAutofit/>
          </a:bodyPr>
          <a:lstStyle/>
          <a:p>
            <a:pPr marL="0" indent="0" algn="l">
              <a:lnSpc>
                <a:spcPct val="116827"/>
              </a:lnSpc>
              <a:buNone/>
            </a:pPr>
            <a:r>
              <a:rPr lang="en-US" sz="1875" dirty="0">
                <a:solidFill>
                  <a:srgbClr val="1F1E1C"/>
                </a:solidFill>
                <a:latin typeface="Georgia" pitchFamily="34" charset="0"/>
                <a:ea typeface="Georgia" pitchFamily="34" charset="-122"/>
                <a:cs typeface="Georgia" pitchFamily="34" charset="-120"/>
              </a:rPr>
              <a:t>Audit citations, links and 44/44 coverage; record milestone snapshots</a:t>
            </a:r>
            <a:endParaRPr lang="en-US" sz="1875" dirty="0"/>
          </a:p>
        </p:txBody>
      </p:sp>
      <p:sp>
        <p:nvSpPr>
          <p:cNvPr id="45" name="Shape 43"/>
          <p:cNvSpPr/>
          <p:nvPr/>
        </p:nvSpPr>
        <p:spPr>
          <a:xfrm>
            <a:off x="6858331" y="9258764"/>
            <a:ext cx="10439136" cy="10583"/>
          </a:xfrm>
          <a:prstGeom prst="rect">
            <a:avLst/>
          </a:prstGeom>
          <a:solidFill>
            <a:srgbClr val="E6E4DE"/>
          </a:solidFill>
          <a:ln/>
        </p:spPr>
      </p:sp>
      <p:sp>
        <p:nvSpPr>
          <p:cNvPr id="46" name="Text 44"/>
          <p:cNvSpPr/>
          <p:nvPr/>
        </p:nvSpPr>
        <p:spPr>
          <a:xfrm>
            <a:off x="6858331" y="8209988"/>
            <a:ext cx="10752310" cy="963050"/>
          </a:xfrm>
          <a:prstGeom prst="rect">
            <a:avLst/>
          </a:prstGeom>
          <a:noFill/>
          <a:ln/>
        </p:spPr>
        <p:txBody>
          <a:bodyPr wrap="square" lIns="25400" tIns="25400" rIns="25400" bIns="25400" rtlCol="0" anchor="t">
            <a:normAutofit lnSpcReduction="10000"/>
          </a:bodyPr>
          <a:lstStyle/>
          <a:p>
            <a:pPr marL="0" indent="0" algn="l">
              <a:lnSpc>
                <a:spcPct val="116640"/>
              </a:lnSpc>
              <a:buNone/>
            </a:pPr>
            <a:r>
              <a:rPr lang="en-US" sz="1800" dirty="0">
                <a:solidFill>
                  <a:srgbClr val="4F4D48"/>
                </a:solidFill>
                <a:latin typeface="Georgia" pitchFamily="34" charset="0"/>
                <a:ea typeface="Georgia" pitchFamily="34" charset="-122"/>
                <a:cs typeface="Georgia" pitchFamily="34" charset="-120"/>
              </a:rPr>
              <a:t>Verify that claims can be traced to the source, links resolve, and every expected article has a node. Checks should also happen during construction; this final audit determines whether the completed graph meets the milestone. Save snapshots at the milestones they document.</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5">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990534" y="419034"/>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419034"/>
            <a:ext cx="338303"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05</a:t>
            </a:r>
            <a:endParaRPr lang="en-US" sz="1950" dirty="0"/>
          </a:p>
        </p:txBody>
      </p:sp>
      <p:sp>
        <p:nvSpPr>
          <p:cNvPr id="4" name="Text 2"/>
          <p:cNvSpPr/>
          <p:nvPr/>
        </p:nvSpPr>
        <p:spPr>
          <a:xfrm>
            <a:off x="990534" y="871967"/>
            <a:ext cx="6793277" cy="641350"/>
          </a:xfrm>
          <a:prstGeom prst="rect">
            <a:avLst/>
          </a:prstGeom>
          <a:noFill/>
          <a:ln/>
        </p:spPr>
        <p:txBody>
          <a:bodyPr wrap="square" lIns="25400" tIns="25400" rIns="25400" bIns="25400" rtlCol="0" anchor="t">
            <a:normAutofit/>
          </a:bodyPr>
          <a:lstStyle/>
          <a:p>
            <a:pPr marL="0" indent="0" algn="l">
              <a:buNone/>
            </a:pPr>
            <a:r>
              <a:rPr lang="en-US" sz="3450" dirty="0">
                <a:solidFill>
                  <a:srgbClr val="1F1E1C"/>
                </a:solidFill>
                <a:latin typeface="Georgia" pitchFamily="34" charset="0"/>
                <a:ea typeface="Georgia" pitchFamily="34" charset="-122"/>
                <a:cs typeface="Georgia" pitchFamily="34" charset="-120"/>
              </a:rPr>
              <a:t>Dependency order</a:t>
            </a:r>
            <a:endParaRPr lang="en-US" sz="3450" dirty="0"/>
          </a:p>
        </p:txBody>
      </p:sp>
      <p:sp>
        <p:nvSpPr>
          <p:cNvPr id="5" name="Text 3"/>
          <p:cNvSpPr/>
          <p:nvPr/>
        </p:nvSpPr>
        <p:spPr>
          <a:xfrm>
            <a:off x="990534" y="1513251"/>
            <a:ext cx="679327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Each stage constrains what the next stage may write.</a:t>
            </a:r>
            <a:endParaRPr lang="en-US" sz="1950" dirty="0"/>
          </a:p>
        </p:txBody>
      </p:sp>
      <p:sp>
        <p:nvSpPr>
          <p:cNvPr id="6" name="Shape 4"/>
          <p:cNvSpPr/>
          <p:nvPr/>
        </p:nvSpPr>
        <p:spPr>
          <a:xfrm>
            <a:off x="12943748" y="1622227"/>
            <a:ext cx="152301" cy="152301"/>
          </a:xfrm>
          <a:prstGeom prst="roundRect">
            <a:avLst>
              <a:gd name="adj" fmla="val 25016"/>
            </a:avLst>
          </a:prstGeom>
          <a:solidFill>
            <a:srgbClr val="8A887F"/>
          </a:solidFill>
          <a:ln/>
        </p:spPr>
      </p:sp>
      <p:sp>
        <p:nvSpPr>
          <p:cNvPr id="7" name="Text 5"/>
          <p:cNvSpPr/>
          <p:nvPr/>
        </p:nvSpPr>
        <p:spPr>
          <a:xfrm>
            <a:off x="13191298" y="1545001"/>
            <a:ext cx="648362" cy="345017"/>
          </a:xfrm>
          <a:prstGeom prst="rect">
            <a:avLst/>
          </a:prstGeom>
          <a:noFill/>
          <a:ln/>
        </p:spPr>
        <p:txBody>
          <a:bodyPr wrap="square" lIns="0" tIns="0" rIns="0" bIns="0" rtlCol="0" anchor="t">
            <a:normAutofit/>
          </a:bodyPr>
          <a:lstStyle/>
          <a:p>
            <a:pPr marL="0" indent="0" algn="l">
              <a:buNone/>
            </a:pPr>
            <a:r>
              <a:rPr lang="en-US" sz="1800" dirty="0">
                <a:solidFill>
                  <a:srgbClr val="4F4D48"/>
                </a:solidFill>
                <a:latin typeface="Georgia" pitchFamily="34" charset="0"/>
                <a:ea typeface="Georgia" pitchFamily="34" charset="-122"/>
                <a:cs typeface="Georgia" pitchFamily="34" charset="-120"/>
              </a:rPr>
              <a:t>Stage</a:t>
            </a:r>
            <a:endParaRPr lang="en-US" sz="1800" dirty="0"/>
          </a:p>
        </p:txBody>
      </p:sp>
      <p:sp>
        <p:nvSpPr>
          <p:cNvPr id="8" name="Shape 6"/>
          <p:cNvSpPr/>
          <p:nvPr/>
        </p:nvSpPr>
        <p:spPr>
          <a:xfrm>
            <a:off x="14106261" y="1622227"/>
            <a:ext cx="152301" cy="152301"/>
          </a:xfrm>
          <a:prstGeom prst="roundRect">
            <a:avLst>
              <a:gd name="adj" fmla="val 25016"/>
            </a:avLst>
          </a:prstGeom>
          <a:solidFill>
            <a:srgbClr val="7B6CD9"/>
          </a:solidFill>
          <a:ln/>
        </p:spPr>
      </p:sp>
      <p:sp>
        <p:nvSpPr>
          <p:cNvPr id="9" name="Text 7"/>
          <p:cNvSpPr/>
          <p:nvPr/>
        </p:nvSpPr>
        <p:spPr>
          <a:xfrm>
            <a:off x="14353812" y="1545001"/>
            <a:ext cx="581554" cy="345017"/>
          </a:xfrm>
          <a:prstGeom prst="rect">
            <a:avLst/>
          </a:prstGeom>
          <a:noFill/>
          <a:ln/>
        </p:spPr>
        <p:txBody>
          <a:bodyPr wrap="square" lIns="0" tIns="0" rIns="0" bIns="0" rtlCol="0" anchor="t">
            <a:normAutofit/>
          </a:bodyPr>
          <a:lstStyle/>
          <a:p>
            <a:pPr marL="0" indent="0" algn="l">
              <a:buNone/>
            </a:pPr>
            <a:r>
              <a:rPr lang="en-US" sz="1800" dirty="0">
                <a:solidFill>
                  <a:srgbClr val="4F4D48"/>
                </a:solidFill>
                <a:latin typeface="Georgia" pitchFamily="34" charset="0"/>
                <a:ea typeface="Georgia" pitchFamily="34" charset="-122"/>
                <a:cs typeface="Georgia" pitchFamily="34" charset="-120"/>
              </a:rPr>
              <a:t>Gem</a:t>
            </a:r>
            <a:endParaRPr lang="en-US" sz="1800" dirty="0"/>
          </a:p>
        </p:txBody>
      </p:sp>
      <p:sp>
        <p:nvSpPr>
          <p:cNvPr id="10" name="Shape 8"/>
          <p:cNvSpPr/>
          <p:nvPr/>
        </p:nvSpPr>
        <p:spPr>
          <a:xfrm>
            <a:off x="15201967" y="1622227"/>
            <a:ext cx="152301" cy="152301"/>
          </a:xfrm>
          <a:prstGeom prst="roundRect">
            <a:avLst>
              <a:gd name="adj" fmla="val 25016"/>
            </a:avLst>
          </a:prstGeom>
          <a:solidFill>
            <a:srgbClr val="C0623A"/>
          </a:solidFill>
          <a:ln/>
        </p:spPr>
      </p:sp>
      <p:sp>
        <p:nvSpPr>
          <p:cNvPr id="11" name="Text 9"/>
          <p:cNvSpPr/>
          <p:nvPr/>
        </p:nvSpPr>
        <p:spPr>
          <a:xfrm>
            <a:off x="15449517" y="1545001"/>
            <a:ext cx="889463" cy="345017"/>
          </a:xfrm>
          <a:prstGeom prst="rect">
            <a:avLst/>
          </a:prstGeom>
          <a:noFill/>
          <a:ln/>
        </p:spPr>
        <p:txBody>
          <a:bodyPr wrap="square" lIns="0" tIns="0" rIns="0" bIns="0" rtlCol="0" anchor="t">
            <a:normAutofit/>
          </a:bodyPr>
          <a:lstStyle/>
          <a:p>
            <a:pPr marL="0" indent="0" algn="l">
              <a:buNone/>
            </a:pPr>
            <a:r>
              <a:rPr lang="en-US" sz="1800" dirty="0">
                <a:solidFill>
                  <a:srgbClr val="4F4D48"/>
                </a:solidFill>
                <a:latin typeface="Georgia" pitchFamily="34" charset="0"/>
                <a:ea typeface="Georgia" pitchFamily="34" charset="-122"/>
                <a:cs typeface="Georgia" pitchFamily="34" charset="-120"/>
              </a:rPr>
              <a:t>Human</a:t>
            </a:r>
            <a:endParaRPr lang="en-US" sz="1800" dirty="0"/>
          </a:p>
        </p:txBody>
      </p:sp>
      <p:sp>
        <p:nvSpPr>
          <p:cNvPr id="12" name="Shape 10"/>
          <p:cNvSpPr/>
          <p:nvPr/>
        </p:nvSpPr>
        <p:spPr>
          <a:xfrm>
            <a:off x="16605582" y="1622227"/>
            <a:ext cx="152301" cy="152301"/>
          </a:xfrm>
          <a:prstGeom prst="roundRect">
            <a:avLst>
              <a:gd name="adj" fmla="val 25016"/>
            </a:avLst>
          </a:prstGeom>
          <a:solidFill>
            <a:srgbClr val="C08A1E"/>
          </a:solidFill>
          <a:ln/>
        </p:spPr>
      </p:sp>
      <p:sp>
        <p:nvSpPr>
          <p:cNvPr id="13" name="Text 11"/>
          <p:cNvSpPr/>
          <p:nvPr/>
        </p:nvSpPr>
        <p:spPr>
          <a:xfrm>
            <a:off x="16853132" y="1545001"/>
            <a:ext cx="520536" cy="345017"/>
          </a:xfrm>
          <a:prstGeom prst="rect">
            <a:avLst/>
          </a:prstGeom>
          <a:noFill/>
          <a:ln/>
        </p:spPr>
        <p:txBody>
          <a:bodyPr wrap="square" lIns="0" tIns="0" rIns="0" bIns="0" rtlCol="0" anchor="t">
            <a:normAutofit/>
          </a:bodyPr>
          <a:lstStyle/>
          <a:p>
            <a:pPr marL="0" indent="0" algn="l">
              <a:buNone/>
            </a:pPr>
            <a:r>
              <a:rPr lang="en-US" sz="1800" dirty="0">
                <a:solidFill>
                  <a:srgbClr val="4F4D48"/>
                </a:solidFill>
                <a:latin typeface="Georgia" pitchFamily="34" charset="0"/>
                <a:ea typeface="Georgia" pitchFamily="34" charset="-122"/>
                <a:cs typeface="Georgia" pitchFamily="34" charset="-120"/>
              </a:rPr>
              <a:t>Lint</a:t>
            </a:r>
            <a:endParaRPr lang="en-US" sz="1800" dirty="0"/>
          </a:p>
        </p:txBody>
      </p:sp>
      <p:sp>
        <p:nvSpPr>
          <p:cNvPr id="14" name="Shape 12"/>
          <p:cNvSpPr/>
          <p:nvPr/>
        </p:nvSpPr>
        <p:spPr>
          <a:xfrm>
            <a:off x="1228659" y="2213736"/>
            <a:ext cx="9525" cy="6797311"/>
          </a:xfrm>
          <a:prstGeom prst="rect">
            <a:avLst/>
          </a:prstGeom>
          <a:solidFill>
            <a:srgbClr val="CFCDC6"/>
          </a:solidFill>
          <a:ln/>
        </p:spPr>
      </p:sp>
      <p:sp>
        <p:nvSpPr>
          <p:cNvPr id="15" name="Shape 13"/>
          <p:cNvSpPr/>
          <p:nvPr/>
        </p:nvSpPr>
        <p:spPr>
          <a:xfrm>
            <a:off x="990534" y="2592917"/>
            <a:ext cx="516434" cy="516434"/>
          </a:xfrm>
          <a:prstGeom prst="ellipse">
            <a:avLst/>
          </a:prstGeom>
          <a:solidFill>
            <a:srgbClr val="F6F5F2"/>
          </a:solidFill>
          <a:ln w="10583">
            <a:solidFill>
              <a:srgbClr val="B8B5AD"/>
            </a:solidFill>
            <a:prstDash val="solid"/>
          </a:ln>
        </p:spPr>
      </p:sp>
      <p:sp>
        <p:nvSpPr>
          <p:cNvPr id="16" name="Text 14"/>
          <p:cNvSpPr/>
          <p:nvPr/>
        </p:nvSpPr>
        <p:spPr>
          <a:xfrm>
            <a:off x="963017" y="2603500"/>
            <a:ext cx="571467" cy="533367"/>
          </a:xfrm>
          <a:prstGeom prst="rect">
            <a:avLst/>
          </a:prstGeom>
          <a:noFill/>
          <a:ln/>
        </p:spPr>
        <p:txBody>
          <a:bodyPr wrap="square" lIns="25400" tIns="25400" rIns="25400" bIns="25400" rtlCol="0" anchor="ctr">
            <a:normAutofit/>
          </a:bodyPr>
          <a:lstStyle/>
          <a:p>
            <a:pPr marL="0" indent="0" algn="ctr">
              <a:buNone/>
            </a:pPr>
            <a:r>
              <a:rPr lang="en-US" sz="1800" dirty="0">
                <a:solidFill>
                  <a:srgbClr val="4F4D48"/>
                </a:solidFill>
                <a:latin typeface="Georgia" pitchFamily="34" charset="0"/>
                <a:ea typeface="Georgia" pitchFamily="34" charset="-122"/>
                <a:cs typeface="Georgia" pitchFamily="34" charset="-120"/>
              </a:rPr>
              <a:t>1</a:t>
            </a:r>
            <a:endParaRPr lang="en-US" sz="1800" dirty="0"/>
          </a:p>
        </p:txBody>
      </p:sp>
      <p:sp>
        <p:nvSpPr>
          <p:cNvPr id="17" name="Shape 15"/>
          <p:cNvSpPr/>
          <p:nvPr/>
        </p:nvSpPr>
        <p:spPr>
          <a:xfrm>
            <a:off x="1981068" y="2419449"/>
            <a:ext cx="10363399" cy="863369"/>
          </a:xfrm>
          <a:prstGeom prst="roundRect">
            <a:avLst>
              <a:gd name="adj" fmla="val 13239"/>
            </a:avLst>
          </a:prstGeom>
          <a:solidFill>
            <a:srgbClr val="FFFFFF"/>
          </a:solidFill>
          <a:ln w="10583">
            <a:solidFill>
              <a:srgbClr val="DCDAD4"/>
            </a:solidFill>
            <a:prstDash val="solid"/>
          </a:ln>
        </p:spPr>
      </p:sp>
      <p:sp>
        <p:nvSpPr>
          <p:cNvPr id="18" name="Text 16"/>
          <p:cNvSpPr/>
          <p:nvPr/>
        </p:nvSpPr>
        <p:spPr>
          <a:xfrm>
            <a:off x="2277401" y="2487083"/>
            <a:ext cx="10747806" cy="440267"/>
          </a:xfrm>
          <a:prstGeom prst="rect">
            <a:avLst/>
          </a:prstGeom>
          <a:noFill/>
          <a:ln/>
        </p:spPr>
        <p:txBody>
          <a:bodyPr wrap="square" lIns="25400" tIns="25400" rIns="25400" bIns="25400" rtlCol="0" anchor="t">
            <a:normAutofit/>
          </a:bodyPr>
          <a:lstStyle/>
          <a:p>
            <a:pPr marL="0" indent="0" algn="l">
              <a:buNone/>
            </a:pPr>
            <a:r>
              <a:rPr lang="en-US" sz="2325" dirty="0">
                <a:solidFill>
                  <a:srgbClr val="1F1E1C"/>
                </a:solidFill>
                <a:latin typeface="Georgia" pitchFamily="34" charset="0"/>
                <a:ea typeface="Georgia" pitchFamily="34" charset="-122"/>
                <a:cs typeface="Georgia" pitchFamily="34" charset="-120"/>
              </a:rPr>
              <a:t>Source + locator map</a:t>
            </a:r>
            <a:endParaRPr lang="en-US" sz="2325" dirty="0"/>
          </a:p>
        </p:txBody>
      </p:sp>
      <p:sp>
        <p:nvSpPr>
          <p:cNvPr id="19" name="Text 17"/>
          <p:cNvSpPr/>
          <p:nvPr/>
        </p:nvSpPr>
        <p:spPr>
          <a:xfrm>
            <a:off x="2277401" y="2908267"/>
            <a:ext cx="10747806" cy="345017"/>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One intact AGA v2.0 PDF · NotebookLM</a:t>
            </a:r>
            <a:endParaRPr lang="en-US" sz="1800" dirty="0"/>
          </a:p>
        </p:txBody>
      </p:sp>
      <p:sp>
        <p:nvSpPr>
          <p:cNvPr id="20" name="Shape 18"/>
          <p:cNvSpPr/>
          <p:nvPr/>
        </p:nvSpPr>
        <p:spPr>
          <a:xfrm>
            <a:off x="12725466" y="2440616"/>
            <a:ext cx="4572000" cy="821035"/>
          </a:xfrm>
          <a:prstGeom prst="roundRect">
            <a:avLst>
              <a:gd name="adj" fmla="val 13921"/>
            </a:avLst>
          </a:prstGeom>
          <a:solidFill>
            <a:srgbClr val="ECE8FB"/>
          </a:solidFill>
          <a:ln w="10583">
            <a:solidFill>
              <a:srgbClr val="7B6CD9"/>
            </a:solidFill>
            <a:prstDash val="solid"/>
          </a:ln>
        </p:spPr>
      </p:sp>
      <p:sp>
        <p:nvSpPr>
          <p:cNvPr id="21" name="Text 19"/>
          <p:cNvSpPr/>
          <p:nvPr/>
        </p:nvSpPr>
        <p:spPr>
          <a:xfrm>
            <a:off x="12983601" y="2508250"/>
            <a:ext cx="4461305" cy="397933"/>
          </a:xfrm>
          <a:prstGeom prst="rect">
            <a:avLst/>
          </a:prstGeom>
          <a:noFill/>
          <a:ln/>
        </p:spPr>
        <p:txBody>
          <a:bodyPr wrap="none" lIns="25400" tIns="25400" rIns="25400" bIns="25400" rtlCol="0" anchor="t">
            <a:normAutofit/>
          </a:bodyPr>
          <a:lstStyle/>
          <a:p>
            <a:pPr marL="0" indent="0" algn="l">
              <a:buNone/>
            </a:pPr>
            <a:r>
              <a:rPr lang="en-US" sz="2100" dirty="0">
                <a:solidFill>
                  <a:srgbClr val="3B2D8A"/>
                </a:solidFill>
                <a:latin typeface="Georgia" pitchFamily="34" charset="0"/>
                <a:ea typeface="Georgia" pitchFamily="34" charset="-122"/>
                <a:cs typeface="Georgia" pitchFamily="34" charset="-120"/>
              </a:rPr>
              <a:t>G1</a:t>
            </a:r>
            <a:endParaRPr lang="en-US" sz="2100" dirty="0"/>
          </a:p>
        </p:txBody>
      </p:sp>
      <p:sp>
        <p:nvSpPr>
          <p:cNvPr id="22" name="Text 20"/>
          <p:cNvSpPr/>
          <p:nvPr/>
        </p:nvSpPr>
        <p:spPr>
          <a:xfrm>
            <a:off x="12983601" y="2887101"/>
            <a:ext cx="4461305" cy="345017"/>
          </a:xfrm>
          <a:prstGeom prst="rect">
            <a:avLst/>
          </a:prstGeom>
          <a:noFill/>
          <a:ln/>
        </p:spPr>
        <p:txBody>
          <a:bodyPr wrap="none" lIns="25400" tIns="25400" rIns="25400" bIns="25400" rtlCol="0" anchor="t">
            <a:normAutofit/>
          </a:bodyPr>
          <a:lstStyle/>
          <a:p>
            <a:pPr marL="0" indent="0" algn="l">
              <a:buNone/>
            </a:pPr>
            <a:r>
              <a:rPr lang="en-US" sz="1800" dirty="0">
                <a:solidFill>
                  <a:srgbClr val="5C4FB3"/>
                </a:solidFill>
                <a:latin typeface="Georgia" pitchFamily="34" charset="0"/>
                <a:ea typeface="Georgia" pitchFamily="34" charset="-122"/>
                <a:cs typeface="Georgia" pitchFamily="34" charset="-120"/>
              </a:rPr>
              <a:t>source map</a:t>
            </a:r>
            <a:endParaRPr lang="en-US" sz="1800" dirty="0"/>
          </a:p>
        </p:txBody>
      </p:sp>
      <p:sp>
        <p:nvSpPr>
          <p:cNvPr id="23" name="Shape 21"/>
          <p:cNvSpPr/>
          <p:nvPr/>
        </p:nvSpPr>
        <p:spPr>
          <a:xfrm>
            <a:off x="990534" y="3513336"/>
            <a:ext cx="516434" cy="516434"/>
          </a:xfrm>
          <a:prstGeom prst="ellipse">
            <a:avLst/>
          </a:prstGeom>
          <a:solidFill>
            <a:srgbClr val="F6F5F2"/>
          </a:solidFill>
          <a:ln w="10583">
            <a:solidFill>
              <a:srgbClr val="B8B5AD"/>
            </a:solidFill>
            <a:prstDash val="solid"/>
          </a:ln>
        </p:spPr>
      </p:sp>
      <p:sp>
        <p:nvSpPr>
          <p:cNvPr id="24" name="Text 22"/>
          <p:cNvSpPr/>
          <p:nvPr/>
        </p:nvSpPr>
        <p:spPr>
          <a:xfrm>
            <a:off x="963017" y="3523919"/>
            <a:ext cx="571467" cy="533367"/>
          </a:xfrm>
          <a:prstGeom prst="rect">
            <a:avLst/>
          </a:prstGeom>
          <a:noFill/>
          <a:ln/>
        </p:spPr>
        <p:txBody>
          <a:bodyPr wrap="square" lIns="25400" tIns="25400" rIns="25400" bIns="25400" rtlCol="0" anchor="ctr">
            <a:normAutofit/>
          </a:bodyPr>
          <a:lstStyle/>
          <a:p>
            <a:pPr marL="0" indent="0" algn="ctr">
              <a:buNone/>
            </a:pPr>
            <a:r>
              <a:rPr lang="en-US" sz="1800" dirty="0">
                <a:solidFill>
                  <a:srgbClr val="4F4D48"/>
                </a:solidFill>
                <a:latin typeface="Georgia" pitchFamily="34" charset="0"/>
                <a:ea typeface="Georgia" pitchFamily="34" charset="-122"/>
                <a:cs typeface="Georgia" pitchFamily="34" charset="-120"/>
              </a:rPr>
              <a:t>2</a:t>
            </a:r>
            <a:endParaRPr lang="en-US" sz="1800" dirty="0"/>
          </a:p>
        </p:txBody>
      </p:sp>
      <p:sp>
        <p:nvSpPr>
          <p:cNvPr id="25" name="Shape 23"/>
          <p:cNvSpPr/>
          <p:nvPr/>
        </p:nvSpPr>
        <p:spPr>
          <a:xfrm>
            <a:off x="1981068" y="3339869"/>
            <a:ext cx="10363399" cy="863369"/>
          </a:xfrm>
          <a:prstGeom prst="roundRect">
            <a:avLst>
              <a:gd name="adj" fmla="val 13239"/>
            </a:avLst>
          </a:prstGeom>
          <a:solidFill>
            <a:srgbClr val="FFFFFF"/>
          </a:solidFill>
          <a:ln w="10583">
            <a:solidFill>
              <a:srgbClr val="DCDAD4"/>
            </a:solidFill>
            <a:prstDash val="solid"/>
          </a:ln>
        </p:spPr>
      </p:sp>
      <p:sp>
        <p:nvSpPr>
          <p:cNvPr id="26" name="Text 24"/>
          <p:cNvSpPr/>
          <p:nvPr/>
        </p:nvSpPr>
        <p:spPr>
          <a:xfrm>
            <a:off x="2277401" y="3407503"/>
            <a:ext cx="10747806" cy="440267"/>
          </a:xfrm>
          <a:prstGeom prst="rect">
            <a:avLst/>
          </a:prstGeom>
          <a:noFill/>
          <a:ln/>
        </p:spPr>
        <p:txBody>
          <a:bodyPr wrap="square" lIns="25400" tIns="25400" rIns="25400" bIns="25400" rtlCol="0" anchor="t">
            <a:normAutofit/>
          </a:bodyPr>
          <a:lstStyle/>
          <a:p>
            <a:pPr marL="0" indent="0" algn="l">
              <a:buNone/>
            </a:pPr>
            <a:r>
              <a:rPr lang="en-US" sz="2325" dirty="0">
                <a:solidFill>
                  <a:srgbClr val="1F1E1C"/>
                </a:solidFill>
                <a:latin typeface="Georgia" pitchFamily="34" charset="0"/>
                <a:ea typeface="Georgia" pitchFamily="34" charset="-122"/>
                <a:cs typeface="Georgia" pitchFamily="34" charset="-120"/>
              </a:rPr>
              <a:t>Schema + YAML contract</a:t>
            </a:r>
            <a:endParaRPr lang="en-US" sz="2325" dirty="0"/>
          </a:p>
        </p:txBody>
      </p:sp>
      <p:sp>
        <p:nvSpPr>
          <p:cNvPr id="27" name="Text 25"/>
          <p:cNvSpPr/>
          <p:nvPr/>
        </p:nvSpPr>
        <p:spPr>
          <a:xfrm>
            <a:off x="2277401" y="3828686"/>
            <a:ext cx="10747806" cy="345017"/>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Early clusters · closed enums · Gemini Gems</a:t>
            </a:r>
            <a:endParaRPr lang="en-US" sz="1800" dirty="0"/>
          </a:p>
        </p:txBody>
      </p:sp>
      <p:sp>
        <p:nvSpPr>
          <p:cNvPr id="28" name="Shape 26"/>
          <p:cNvSpPr/>
          <p:nvPr/>
        </p:nvSpPr>
        <p:spPr>
          <a:xfrm>
            <a:off x="12725466" y="3361035"/>
            <a:ext cx="4572000" cy="821035"/>
          </a:xfrm>
          <a:prstGeom prst="roundRect">
            <a:avLst>
              <a:gd name="adj" fmla="val 13921"/>
            </a:avLst>
          </a:prstGeom>
          <a:solidFill>
            <a:srgbClr val="ECE8FB"/>
          </a:solidFill>
          <a:ln w="10583">
            <a:solidFill>
              <a:srgbClr val="7B6CD9"/>
            </a:solidFill>
            <a:prstDash val="solid"/>
          </a:ln>
        </p:spPr>
      </p:sp>
      <p:sp>
        <p:nvSpPr>
          <p:cNvPr id="29" name="Text 27"/>
          <p:cNvSpPr/>
          <p:nvPr/>
        </p:nvSpPr>
        <p:spPr>
          <a:xfrm>
            <a:off x="12983601" y="3428669"/>
            <a:ext cx="4461305" cy="397933"/>
          </a:xfrm>
          <a:prstGeom prst="rect">
            <a:avLst/>
          </a:prstGeom>
          <a:noFill/>
          <a:ln/>
        </p:spPr>
        <p:txBody>
          <a:bodyPr wrap="none" lIns="25400" tIns="25400" rIns="25400" bIns="25400" rtlCol="0" anchor="t">
            <a:normAutofit/>
          </a:bodyPr>
          <a:lstStyle/>
          <a:p>
            <a:pPr marL="0" indent="0" algn="l">
              <a:buNone/>
            </a:pPr>
            <a:r>
              <a:rPr lang="en-US" sz="2100" dirty="0">
                <a:solidFill>
                  <a:srgbClr val="3B2D8A"/>
                </a:solidFill>
                <a:latin typeface="Georgia" pitchFamily="34" charset="0"/>
                <a:ea typeface="Georgia" pitchFamily="34" charset="-122"/>
                <a:cs typeface="Georgia" pitchFamily="34" charset="-120"/>
              </a:rPr>
              <a:t>G2 / G3 / G4</a:t>
            </a:r>
            <a:endParaRPr lang="en-US" sz="2100" dirty="0"/>
          </a:p>
        </p:txBody>
      </p:sp>
      <p:sp>
        <p:nvSpPr>
          <p:cNvPr id="30" name="Text 28"/>
          <p:cNvSpPr/>
          <p:nvPr/>
        </p:nvSpPr>
        <p:spPr>
          <a:xfrm>
            <a:off x="12983601" y="3807520"/>
            <a:ext cx="4461305" cy="345017"/>
          </a:xfrm>
          <a:prstGeom prst="rect">
            <a:avLst/>
          </a:prstGeom>
          <a:noFill/>
          <a:ln/>
        </p:spPr>
        <p:txBody>
          <a:bodyPr wrap="none" lIns="25400" tIns="25400" rIns="25400" bIns="25400" rtlCol="0" anchor="t">
            <a:normAutofit/>
          </a:bodyPr>
          <a:lstStyle/>
          <a:p>
            <a:pPr marL="0" indent="0" algn="l">
              <a:buNone/>
            </a:pPr>
            <a:r>
              <a:rPr lang="en-US" sz="1800" dirty="0">
                <a:solidFill>
                  <a:srgbClr val="5C4FB3"/>
                </a:solidFill>
                <a:latin typeface="Georgia" pitchFamily="34" charset="0"/>
                <a:ea typeface="Georgia" pitchFamily="34" charset="-122"/>
                <a:cs typeface="Georgia" pitchFamily="34" charset="-120"/>
              </a:rPr>
              <a:t>schema draft + YAML check</a:t>
            </a:r>
            <a:endParaRPr lang="en-US" sz="1800" dirty="0"/>
          </a:p>
        </p:txBody>
      </p:sp>
      <p:sp>
        <p:nvSpPr>
          <p:cNvPr id="31" name="Shape 29"/>
          <p:cNvSpPr/>
          <p:nvPr/>
        </p:nvSpPr>
        <p:spPr>
          <a:xfrm>
            <a:off x="990534" y="4444339"/>
            <a:ext cx="495267" cy="495267"/>
          </a:xfrm>
          <a:prstGeom prst="rect">
            <a:avLst/>
          </a:prstGeom>
          <a:solidFill>
            <a:srgbClr val="F6F5F2"/>
          </a:solidFill>
          <a:ln/>
        </p:spPr>
      </p:sp>
      <p:sp>
        <p:nvSpPr>
          <p:cNvPr id="32" name="Shape 30"/>
          <p:cNvSpPr/>
          <p:nvPr/>
        </p:nvSpPr>
        <p:spPr>
          <a:xfrm rot="2700000">
            <a:off x="1104817" y="4558622"/>
            <a:ext cx="266700" cy="266700"/>
          </a:xfrm>
          <a:prstGeom prst="rect">
            <a:avLst/>
          </a:prstGeom>
          <a:ln w="10583">
            <a:solidFill>
              <a:srgbClr val="C0623A"/>
            </a:solidFill>
            <a:prstDash val="solid"/>
          </a:ln>
        </p:spPr>
      </p:sp>
      <p:sp>
        <p:nvSpPr>
          <p:cNvPr id="33" name="Shape 31"/>
          <p:cNvSpPr/>
          <p:nvPr/>
        </p:nvSpPr>
        <p:spPr>
          <a:xfrm>
            <a:off x="1981068" y="4260288"/>
            <a:ext cx="15316399" cy="863369"/>
          </a:xfrm>
          <a:prstGeom prst="roundRect">
            <a:avLst>
              <a:gd name="adj" fmla="val 13239"/>
            </a:avLst>
          </a:prstGeom>
          <a:solidFill>
            <a:srgbClr val="FBEEE6"/>
          </a:solidFill>
          <a:ln w="10583">
            <a:solidFill>
              <a:srgbClr val="C0623A"/>
            </a:solidFill>
            <a:prstDash val="solid"/>
          </a:ln>
        </p:spPr>
      </p:sp>
      <p:sp>
        <p:nvSpPr>
          <p:cNvPr id="34" name="Text 32"/>
          <p:cNvSpPr/>
          <p:nvPr/>
        </p:nvSpPr>
        <p:spPr>
          <a:xfrm>
            <a:off x="2277401" y="4327922"/>
            <a:ext cx="16196106" cy="440267"/>
          </a:xfrm>
          <a:prstGeom prst="rect">
            <a:avLst/>
          </a:prstGeom>
          <a:noFill/>
          <a:ln/>
        </p:spPr>
        <p:txBody>
          <a:bodyPr wrap="square" lIns="25400" tIns="25400" rIns="25400" bIns="25400" rtlCol="0" anchor="t">
            <a:normAutofit/>
          </a:bodyPr>
          <a:lstStyle/>
          <a:p>
            <a:pPr marL="0" indent="0" algn="l">
              <a:buNone/>
            </a:pPr>
            <a:r>
              <a:rPr lang="en-US" sz="2325" dirty="0">
                <a:solidFill>
                  <a:srgbClr val="8F3F1C"/>
                </a:solidFill>
                <a:latin typeface="Georgia" pitchFamily="34" charset="0"/>
                <a:ea typeface="Georgia" pitchFamily="34" charset="-122"/>
                <a:cs typeface="Georgia" pitchFamily="34" charset="-120"/>
              </a:rPr>
              <a:t>Human ratifies the schema</a:t>
            </a:r>
            <a:endParaRPr lang="en-US" sz="2325" dirty="0"/>
          </a:p>
        </p:txBody>
      </p:sp>
      <p:sp>
        <p:nvSpPr>
          <p:cNvPr id="35" name="Text 33"/>
          <p:cNvSpPr/>
          <p:nvPr/>
        </p:nvSpPr>
        <p:spPr>
          <a:xfrm>
            <a:off x="2277401" y="4749106"/>
            <a:ext cx="16196106" cy="345017"/>
          </a:xfrm>
          <a:prstGeom prst="rect">
            <a:avLst/>
          </a:prstGeom>
          <a:noFill/>
          <a:ln/>
        </p:spPr>
        <p:txBody>
          <a:bodyPr wrap="square" lIns="25400" tIns="25400" rIns="25400" bIns="25400" rtlCol="0" anchor="t">
            <a:normAutofit/>
          </a:bodyPr>
          <a:lstStyle/>
          <a:p>
            <a:pPr marL="0" indent="0" algn="l">
              <a:buNone/>
            </a:pPr>
            <a:r>
              <a:rPr lang="en-US" sz="1800" dirty="0">
                <a:solidFill>
                  <a:srgbClr val="A45A37"/>
                </a:solidFill>
                <a:latin typeface="Georgia" pitchFamily="34" charset="0"/>
                <a:ea typeface="Georgia" pitchFamily="34" charset="-122"/>
                <a:cs typeface="Georgia" pitchFamily="34" charset="-120"/>
              </a:rPr>
              <a:t>Fix schema before broad population · no broad write before this gate</a:t>
            </a:r>
            <a:endParaRPr lang="en-US" sz="1800" dirty="0"/>
          </a:p>
        </p:txBody>
      </p:sp>
      <p:sp>
        <p:nvSpPr>
          <p:cNvPr id="36" name="Shape 34"/>
          <p:cNvSpPr/>
          <p:nvPr/>
        </p:nvSpPr>
        <p:spPr>
          <a:xfrm>
            <a:off x="990534" y="5354175"/>
            <a:ext cx="516434" cy="516434"/>
          </a:xfrm>
          <a:prstGeom prst="ellipse">
            <a:avLst/>
          </a:prstGeom>
          <a:solidFill>
            <a:srgbClr val="F6F5F2"/>
          </a:solidFill>
          <a:ln w="10583">
            <a:solidFill>
              <a:srgbClr val="B8B5AD"/>
            </a:solidFill>
            <a:prstDash val="solid"/>
          </a:ln>
        </p:spPr>
      </p:sp>
      <p:sp>
        <p:nvSpPr>
          <p:cNvPr id="37" name="Text 35"/>
          <p:cNvSpPr/>
          <p:nvPr/>
        </p:nvSpPr>
        <p:spPr>
          <a:xfrm>
            <a:off x="963017" y="5364758"/>
            <a:ext cx="571467" cy="533367"/>
          </a:xfrm>
          <a:prstGeom prst="rect">
            <a:avLst/>
          </a:prstGeom>
          <a:noFill/>
          <a:ln/>
        </p:spPr>
        <p:txBody>
          <a:bodyPr wrap="square" lIns="25400" tIns="25400" rIns="25400" bIns="25400" rtlCol="0" anchor="ctr">
            <a:normAutofit/>
          </a:bodyPr>
          <a:lstStyle/>
          <a:p>
            <a:pPr marL="0" indent="0" algn="ctr">
              <a:buNone/>
            </a:pPr>
            <a:r>
              <a:rPr lang="en-US" sz="1800" dirty="0">
                <a:solidFill>
                  <a:srgbClr val="4F4D48"/>
                </a:solidFill>
                <a:latin typeface="Georgia" pitchFamily="34" charset="0"/>
                <a:ea typeface="Georgia" pitchFamily="34" charset="-122"/>
                <a:cs typeface="Georgia" pitchFamily="34" charset="-120"/>
              </a:rPr>
              <a:t>3</a:t>
            </a:r>
            <a:endParaRPr lang="en-US" sz="1800" dirty="0"/>
          </a:p>
        </p:txBody>
      </p:sp>
      <p:sp>
        <p:nvSpPr>
          <p:cNvPr id="38" name="Shape 36"/>
          <p:cNvSpPr/>
          <p:nvPr/>
        </p:nvSpPr>
        <p:spPr>
          <a:xfrm>
            <a:off x="1981068" y="5180707"/>
            <a:ext cx="10363399" cy="863369"/>
          </a:xfrm>
          <a:prstGeom prst="roundRect">
            <a:avLst>
              <a:gd name="adj" fmla="val 13239"/>
            </a:avLst>
          </a:prstGeom>
          <a:solidFill>
            <a:srgbClr val="FFFFFF"/>
          </a:solidFill>
          <a:ln w="10583">
            <a:solidFill>
              <a:srgbClr val="DCDAD4"/>
            </a:solidFill>
            <a:prstDash val="solid"/>
          </a:ln>
        </p:spPr>
      </p:sp>
      <p:sp>
        <p:nvSpPr>
          <p:cNvPr id="39" name="Text 37"/>
          <p:cNvSpPr/>
          <p:nvPr/>
        </p:nvSpPr>
        <p:spPr>
          <a:xfrm>
            <a:off x="2277401" y="5248341"/>
            <a:ext cx="10747806" cy="440267"/>
          </a:xfrm>
          <a:prstGeom prst="rect">
            <a:avLst/>
          </a:prstGeom>
          <a:noFill/>
          <a:ln/>
        </p:spPr>
        <p:txBody>
          <a:bodyPr wrap="square" lIns="25400" tIns="25400" rIns="25400" bIns="25400" rtlCol="0" anchor="t">
            <a:normAutofit/>
          </a:bodyPr>
          <a:lstStyle/>
          <a:p>
            <a:pPr marL="0" indent="0" algn="l">
              <a:buNone/>
            </a:pPr>
            <a:r>
              <a:rPr lang="en-US" sz="2325" dirty="0">
                <a:solidFill>
                  <a:srgbClr val="1F1E1C"/>
                </a:solidFill>
                <a:latin typeface="Georgia" pitchFamily="34" charset="0"/>
                <a:ea typeface="Georgia" pitchFamily="34" charset="-122"/>
                <a:cs typeface="Georgia" pitchFamily="34" charset="-120"/>
              </a:rPr>
              <a:t>Structural spine</a:t>
            </a:r>
            <a:endParaRPr lang="en-US" sz="2325" dirty="0"/>
          </a:p>
        </p:txBody>
      </p:sp>
      <p:sp>
        <p:nvSpPr>
          <p:cNvPr id="40" name="Text 38"/>
          <p:cNvSpPr/>
          <p:nvPr/>
        </p:nvSpPr>
        <p:spPr>
          <a:xfrm>
            <a:off x="2277401" y="5669525"/>
            <a:ext cx="10747806" cy="345017"/>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Work · Introduction · Chapters 1–6 · Annex 5</a:t>
            </a:r>
            <a:endParaRPr lang="en-US" sz="1800" dirty="0"/>
          </a:p>
        </p:txBody>
      </p:sp>
      <p:sp>
        <p:nvSpPr>
          <p:cNvPr id="41" name="Shape 39"/>
          <p:cNvSpPr/>
          <p:nvPr/>
        </p:nvSpPr>
        <p:spPr>
          <a:xfrm>
            <a:off x="12725466" y="5201874"/>
            <a:ext cx="4572000" cy="821035"/>
          </a:xfrm>
          <a:prstGeom prst="roundRect">
            <a:avLst>
              <a:gd name="adj" fmla="val 13921"/>
            </a:avLst>
          </a:prstGeom>
          <a:solidFill>
            <a:srgbClr val="ECE8FB"/>
          </a:solidFill>
          <a:ln w="10583">
            <a:solidFill>
              <a:srgbClr val="7B6CD9"/>
            </a:solidFill>
            <a:prstDash val="solid"/>
          </a:ln>
        </p:spPr>
      </p:sp>
      <p:sp>
        <p:nvSpPr>
          <p:cNvPr id="42" name="Text 40"/>
          <p:cNvSpPr/>
          <p:nvPr/>
        </p:nvSpPr>
        <p:spPr>
          <a:xfrm>
            <a:off x="12983601" y="5269508"/>
            <a:ext cx="4461305" cy="397933"/>
          </a:xfrm>
          <a:prstGeom prst="rect">
            <a:avLst/>
          </a:prstGeom>
          <a:noFill/>
          <a:ln/>
        </p:spPr>
        <p:txBody>
          <a:bodyPr wrap="none" lIns="25400" tIns="25400" rIns="25400" bIns="25400" rtlCol="0" anchor="t">
            <a:normAutofit/>
          </a:bodyPr>
          <a:lstStyle/>
          <a:p>
            <a:pPr marL="0" indent="0" algn="l">
              <a:buNone/>
            </a:pPr>
            <a:r>
              <a:rPr lang="en-US" sz="2100" dirty="0">
                <a:solidFill>
                  <a:srgbClr val="3B2D8A"/>
                </a:solidFill>
                <a:latin typeface="Georgia" pitchFamily="34" charset="0"/>
                <a:ea typeface="Georgia" pitchFamily="34" charset="-122"/>
                <a:cs typeface="Georgia" pitchFamily="34" charset="-120"/>
              </a:rPr>
              <a:t>G5</a:t>
            </a:r>
            <a:endParaRPr lang="en-US" sz="2100" dirty="0"/>
          </a:p>
        </p:txBody>
      </p:sp>
      <p:sp>
        <p:nvSpPr>
          <p:cNvPr id="43" name="Text 41"/>
          <p:cNvSpPr/>
          <p:nvPr/>
        </p:nvSpPr>
        <p:spPr>
          <a:xfrm>
            <a:off x="12983601" y="5648358"/>
            <a:ext cx="4461305" cy="345017"/>
          </a:xfrm>
          <a:prstGeom prst="rect">
            <a:avLst/>
          </a:prstGeom>
          <a:noFill/>
          <a:ln/>
        </p:spPr>
        <p:txBody>
          <a:bodyPr wrap="none" lIns="25400" tIns="25400" rIns="25400" bIns="25400" rtlCol="0" anchor="t">
            <a:normAutofit/>
          </a:bodyPr>
          <a:lstStyle/>
          <a:p>
            <a:pPr marL="0" indent="0" algn="l">
              <a:buNone/>
            </a:pPr>
            <a:r>
              <a:rPr lang="en-US" sz="1800" dirty="0">
                <a:solidFill>
                  <a:srgbClr val="5C4FB3"/>
                </a:solidFill>
                <a:latin typeface="Georgia" pitchFamily="34" charset="0"/>
                <a:ea typeface="Georgia" pitchFamily="34" charset="-122"/>
                <a:cs typeface="Georgia" pitchFamily="34" charset="-120"/>
              </a:rPr>
              <a:t>bounded write, ticket type L1</a:t>
            </a:r>
            <a:endParaRPr lang="en-US" sz="1800" dirty="0"/>
          </a:p>
        </p:txBody>
      </p:sp>
      <p:sp>
        <p:nvSpPr>
          <p:cNvPr id="44" name="Shape 42"/>
          <p:cNvSpPr/>
          <p:nvPr/>
        </p:nvSpPr>
        <p:spPr>
          <a:xfrm>
            <a:off x="990534" y="6274594"/>
            <a:ext cx="516434" cy="516434"/>
          </a:xfrm>
          <a:prstGeom prst="ellipse">
            <a:avLst/>
          </a:prstGeom>
          <a:solidFill>
            <a:srgbClr val="F6F5F2"/>
          </a:solidFill>
          <a:ln w="10583">
            <a:solidFill>
              <a:srgbClr val="B8B5AD"/>
            </a:solidFill>
            <a:prstDash val="solid"/>
          </a:ln>
        </p:spPr>
      </p:sp>
      <p:sp>
        <p:nvSpPr>
          <p:cNvPr id="45" name="Text 43"/>
          <p:cNvSpPr/>
          <p:nvPr/>
        </p:nvSpPr>
        <p:spPr>
          <a:xfrm>
            <a:off x="963017" y="6285178"/>
            <a:ext cx="571467" cy="533367"/>
          </a:xfrm>
          <a:prstGeom prst="rect">
            <a:avLst/>
          </a:prstGeom>
          <a:noFill/>
          <a:ln/>
        </p:spPr>
        <p:txBody>
          <a:bodyPr wrap="square" lIns="25400" tIns="25400" rIns="25400" bIns="25400" rtlCol="0" anchor="ctr">
            <a:normAutofit/>
          </a:bodyPr>
          <a:lstStyle/>
          <a:p>
            <a:pPr marL="0" indent="0" algn="ctr">
              <a:buNone/>
            </a:pPr>
            <a:r>
              <a:rPr lang="en-US" sz="1800" dirty="0">
                <a:solidFill>
                  <a:srgbClr val="4F4D48"/>
                </a:solidFill>
                <a:latin typeface="Georgia" pitchFamily="34" charset="0"/>
                <a:ea typeface="Georgia" pitchFamily="34" charset="-122"/>
                <a:cs typeface="Georgia" pitchFamily="34" charset="-120"/>
              </a:rPr>
              <a:t>4</a:t>
            </a:r>
            <a:endParaRPr lang="en-US" sz="1800" dirty="0"/>
          </a:p>
        </p:txBody>
      </p:sp>
      <p:sp>
        <p:nvSpPr>
          <p:cNvPr id="46" name="Shape 44"/>
          <p:cNvSpPr/>
          <p:nvPr/>
        </p:nvSpPr>
        <p:spPr>
          <a:xfrm>
            <a:off x="1981068" y="6101126"/>
            <a:ext cx="10363399" cy="863369"/>
          </a:xfrm>
          <a:prstGeom prst="roundRect">
            <a:avLst>
              <a:gd name="adj" fmla="val 13239"/>
            </a:avLst>
          </a:prstGeom>
          <a:solidFill>
            <a:srgbClr val="FFFFFF"/>
          </a:solidFill>
          <a:ln w="10583">
            <a:solidFill>
              <a:srgbClr val="DCDAD4"/>
            </a:solidFill>
            <a:prstDash val="solid"/>
          </a:ln>
        </p:spPr>
      </p:sp>
      <p:sp>
        <p:nvSpPr>
          <p:cNvPr id="47" name="Text 45"/>
          <p:cNvSpPr/>
          <p:nvPr/>
        </p:nvSpPr>
        <p:spPr>
          <a:xfrm>
            <a:off x="2277401" y="6168761"/>
            <a:ext cx="10747806" cy="440267"/>
          </a:xfrm>
          <a:prstGeom prst="rect">
            <a:avLst/>
          </a:prstGeom>
          <a:noFill/>
          <a:ln/>
        </p:spPr>
        <p:txBody>
          <a:bodyPr wrap="square" lIns="25400" tIns="25400" rIns="25400" bIns="25400" rtlCol="0" anchor="t">
            <a:normAutofit/>
          </a:bodyPr>
          <a:lstStyle/>
          <a:p>
            <a:pPr marL="0" indent="0" algn="l">
              <a:buNone/>
            </a:pPr>
            <a:r>
              <a:rPr lang="en-US" sz="2325" dirty="0">
                <a:solidFill>
                  <a:srgbClr val="1F1E1C"/>
                </a:solidFill>
                <a:latin typeface="Georgia" pitchFamily="34" charset="0"/>
                <a:ea typeface="Georgia" pitchFamily="34" charset="-122"/>
                <a:cs typeface="Georgia" pitchFamily="34" charset="-120"/>
              </a:rPr>
              <a:t>Canonical anchors</a:t>
            </a:r>
            <a:endParaRPr lang="en-US" sz="2325" dirty="0"/>
          </a:p>
        </p:txBody>
      </p:sp>
      <p:sp>
        <p:nvSpPr>
          <p:cNvPr id="48" name="Text 46"/>
          <p:cNvSpPr/>
          <p:nvPr/>
        </p:nvSpPr>
        <p:spPr>
          <a:xfrm>
            <a:off x="2277401" y="6589944"/>
            <a:ext cx="10747806" cy="345017"/>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actors/ · concepts/ · definitions/</a:t>
            </a:r>
            <a:endParaRPr lang="en-US" sz="1800" dirty="0"/>
          </a:p>
        </p:txBody>
      </p:sp>
      <p:sp>
        <p:nvSpPr>
          <p:cNvPr id="49" name="Shape 47"/>
          <p:cNvSpPr/>
          <p:nvPr/>
        </p:nvSpPr>
        <p:spPr>
          <a:xfrm>
            <a:off x="12725466" y="6122293"/>
            <a:ext cx="4572000" cy="821035"/>
          </a:xfrm>
          <a:prstGeom prst="roundRect">
            <a:avLst>
              <a:gd name="adj" fmla="val 13921"/>
            </a:avLst>
          </a:prstGeom>
          <a:solidFill>
            <a:srgbClr val="ECE8FB"/>
          </a:solidFill>
          <a:ln w="10583">
            <a:solidFill>
              <a:srgbClr val="7B6CD9"/>
            </a:solidFill>
            <a:prstDash val="solid"/>
          </a:ln>
        </p:spPr>
      </p:sp>
      <p:sp>
        <p:nvSpPr>
          <p:cNvPr id="50" name="Text 48"/>
          <p:cNvSpPr/>
          <p:nvPr/>
        </p:nvSpPr>
        <p:spPr>
          <a:xfrm>
            <a:off x="12983601" y="6189927"/>
            <a:ext cx="4461305" cy="397933"/>
          </a:xfrm>
          <a:prstGeom prst="rect">
            <a:avLst/>
          </a:prstGeom>
          <a:noFill/>
          <a:ln/>
        </p:spPr>
        <p:txBody>
          <a:bodyPr wrap="none" lIns="25400" tIns="25400" rIns="25400" bIns="25400" rtlCol="0" anchor="t">
            <a:normAutofit/>
          </a:bodyPr>
          <a:lstStyle/>
          <a:p>
            <a:pPr marL="0" indent="0" algn="l">
              <a:buNone/>
            </a:pPr>
            <a:r>
              <a:rPr lang="en-US" sz="2100" dirty="0">
                <a:solidFill>
                  <a:srgbClr val="3B2D8A"/>
                </a:solidFill>
                <a:latin typeface="Georgia" pitchFamily="34" charset="0"/>
                <a:ea typeface="Georgia" pitchFamily="34" charset="-122"/>
                <a:cs typeface="Georgia" pitchFamily="34" charset="-120"/>
              </a:rPr>
              <a:t>G5</a:t>
            </a:r>
            <a:endParaRPr lang="en-US" sz="2100" dirty="0"/>
          </a:p>
        </p:txBody>
      </p:sp>
      <p:sp>
        <p:nvSpPr>
          <p:cNvPr id="51" name="Text 49"/>
          <p:cNvSpPr/>
          <p:nvPr/>
        </p:nvSpPr>
        <p:spPr>
          <a:xfrm>
            <a:off x="12983601" y="6568778"/>
            <a:ext cx="4461305" cy="345017"/>
          </a:xfrm>
          <a:prstGeom prst="rect">
            <a:avLst/>
          </a:prstGeom>
          <a:noFill/>
          <a:ln/>
        </p:spPr>
        <p:txBody>
          <a:bodyPr wrap="none" lIns="25400" tIns="25400" rIns="25400" bIns="25400" rtlCol="0" anchor="t">
            <a:normAutofit/>
          </a:bodyPr>
          <a:lstStyle/>
          <a:p>
            <a:pPr marL="0" indent="0" algn="l">
              <a:buNone/>
            </a:pPr>
            <a:r>
              <a:rPr lang="en-US" sz="1800" dirty="0">
                <a:solidFill>
                  <a:srgbClr val="5C4FB3"/>
                </a:solidFill>
                <a:latin typeface="Georgia" pitchFamily="34" charset="0"/>
                <a:ea typeface="Georgia" pitchFamily="34" charset="-122"/>
                <a:cs typeface="Georgia" pitchFamily="34" charset="-120"/>
              </a:rPr>
              <a:t>anchor nodes, ticket type L2</a:t>
            </a:r>
            <a:endParaRPr lang="en-US" sz="1800" dirty="0"/>
          </a:p>
        </p:txBody>
      </p:sp>
      <p:sp>
        <p:nvSpPr>
          <p:cNvPr id="52" name="Shape 50"/>
          <p:cNvSpPr/>
          <p:nvPr/>
        </p:nvSpPr>
        <p:spPr>
          <a:xfrm>
            <a:off x="990534" y="7195013"/>
            <a:ext cx="516434" cy="516434"/>
          </a:xfrm>
          <a:prstGeom prst="ellipse">
            <a:avLst/>
          </a:prstGeom>
          <a:solidFill>
            <a:srgbClr val="F6F5F2"/>
          </a:solidFill>
          <a:ln w="10583">
            <a:solidFill>
              <a:srgbClr val="B8B5AD"/>
            </a:solidFill>
            <a:prstDash val="solid"/>
          </a:ln>
        </p:spPr>
      </p:sp>
      <p:sp>
        <p:nvSpPr>
          <p:cNvPr id="53" name="Text 51"/>
          <p:cNvSpPr/>
          <p:nvPr/>
        </p:nvSpPr>
        <p:spPr>
          <a:xfrm>
            <a:off x="963017" y="7205596"/>
            <a:ext cx="571467" cy="533367"/>
          </a:xfrm>
          <a:prstGeom prst="rect">
            <a:avLst/>
          </a:prstGeom>
          <a:noFill/>
          <a:ln/>
        </p:spPr>
        <p:txBody>
          <a:bodyPr wrap="square" lIns="25400" tIns="25400" rIns="25400" bIns="25400" rtlCol="0" anchor="ctr">
            <a:normAutofit/>
          </a:bodyPr>
          <a:lstStyle/>
          <a:p>
            <a:pPr marL="0" indent="0" algn="ctr">
              <a:buNone/>
            </a:pPr>
            <a:r>
              <a:rPr lang="en-US" sz="1800" dirty="0">
                <a:solidFill>
                  <a:srgbClr val="4F4D48"/>
                </a:solidFill>
                <a:latin typeface="Georgia" pitchFamily="34" charset="0"/>
                <a:ea typeface="Georgia" pitchFamily="34" charset="-122"/>
                <a:cs typeface="Georgia" pitchFamily="34" charset="-120"/>
              </a:rPr>
              <a:t>5</a:t>
            </a:r>
            <a:endParaRPr lang="en-US" sz="1800" dirty="0"/>
          </a:p>
        </p:txBody>
      </p:sp>
      <p:sp>
        <p:nvSpPr>
          <p:cNvPr id="54" name="Shape 52"/>
          <p:cNvSpPr/>
          <p:nvPr/>
        </p:nvSpPr>
        <p:spPr>
          <a:xfrm>
            <a:off x="1981068" y="7021546"/>
            <a:ext cx="10363399" cy="863369"/>
          </a:xfrm>
          <a:prstGeom prst="roundRect">
            <a:avLst>
              <a:gd name="adj" fmla="val 13239"/>
            </a:avLst>
          </a:prstGeom>
          <a:solidFill>
            <a:srgbClr val="FFFFFF"/>
          </a:solidFill>
          <a:ln w="10583">
            <a:solidFill>
              <a:srgbClr val="DCDAD4"/>
            </a:solidFill>
            <a:prstDash val="solid"/>
          </a:ln>
        </p:spPr>
      </p:sp>
      <p:sp>
        <p:nvSpPr>
          <p:cNvPr id="55" name="Text 53"/>
          <p:cNvSpPr/>
          <p:nvPr/>
        </p:nvSpPr>
        <p:spPr>
          <a:xfrm>
            <a:off x="2277401" y="7089180"/>
            <a:ext cx="10747806" cy="440267"/>
          </a:xfrm>
          <a:prstGeom prst="rect">
            <a:avLst/>
          </a:prstGeom>
          <a:noFill/>
          <a:ln/>
        </p:spPr>
        <p:txBody>
          <a:bodyPr wrap="square" lIns="25400" tIns="25400" rIns="25400" bIns="25400" rtlCol="0" anchor="t">
            <a:normAutofit/>
          </a:bodyPr>
          <a:lstStyle/>
          <a:p>
            <a:pPr marL="0" indent="0" algn="l">
              <a:buNone/>
            </a:pPr>
            <a:r>
              <a:rPr lang="en-US" sz="2325" dirty="0">
                <a:solidFill>
                  <a:srgbClr val="1F1E1C"/>
                </a:solidFill>
                <a:latin typeface="Georgia" pitchFamily="34" charset="0"/>
                <a:ea typeface="Georgia" pitchFamily="34" charset="-122"/>
                <a:cs typeface="Georgia" pitchFamily="34" charset="-120"/>
              </a:rPr>
              <a:t>Cited leaf clusters</a:t>
            </a:r>
            <a:endParaRPr lang="en-US" sz="2325" dirty="0"/>
          </a:p>
        </p:txBody>
      </p:sp>
      <p:sp>
        <p:nvSpPr>
          <p:cNvPr id="56" name="Text 54"/>
          <p:cNvSpPr/>
          <p:nvPr/>
        </p:nvSpPr>
        <p:spPr>
          <a:xfrm>
            <a:off x="2277401" y="7510364"/>
            <a:ext cx="10747806" cy="345017"/>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rules/ · procedures/ · cases/ · examples/</a:t>
            </a:r>
            <a:endParaRPr lang="en-US" sz="1800" dirty="0"/>
          </a:p>
        </p:txBody>
      </p:sp>
      <p:sp>
        <p:nvSpPr>
          <p:cNvPr id="57" name="Shape 55"/>
          <p:cNvSpPr/>
          <p:nvPr/>
        </p:nvSpPr>
        <p:spPr>
          <a:xfrm>
            <a:off x="12725466" y="7042713"/>
            <a:ext cx="4572000" cy="821035"/>
          </a:xfrm>
          <a:prstGeom prst="roundRect">
            <a:avLst>
              <a:gd name="adj" fmla="val 13921"/>
            </a:avLst>
          </a:prstGeom>
          <a:solidFill>
            <a:srgbClr val="ECE8FB"/>
          </a:solidFill>
          <a:ln w="10583">
            <a:solidFill>
              <a:srgbClr val="7B6CD9"/>
            </a:solidFill>
            <a:prstDash val="solid"/>
          </a:ln>
        </p:spPr>
      </p:sp>
      <p:sp>
        <p:nvSpPr>
          <p:cNvPr id="58" name="Text 56"/>
          <p:cNvSpPr/>
          <p:nvPr/>
        </p:nvSpPr>
        <p:spPr>
          <a:xfrm>
            <a:off x="12983601" y="7110347"/>
            <a:ext cx="4461305" cy="397933"/>
          </a:xfrm>
          <a:prstGeom prst="rect">
            <a:avLst/>
          </a:prstGeom>
          <a:noFill/>
          <a:ln/>
        </p:spPr>
        <p:txBody>
          <a:bodyPr wrap="none" lIns="25400" tIns="25400" rIns="25400" bIns="25400" rtlCol="0" anchor="t">
            <a:normAutofit/>
          </a:bodyPr>
          <a:lstStyle/>
          <a:p>
            <a:pPr marL="0" indent="0" algn="l">
              <a:buNone/>
            </a:pPr>
            <a:r>
              <a:rPr lang="en-US" sz="2100" dirty="0">
                <a:solidFill>
                  <a:srgbClr val="3B2D8A"/>
                </a:solidFill>
                <a:latin typeface="Georgia" pitchFamily="34" charset="0"/>
                <a:ea typeface="Georgia" pitchFamily="34" charset="-122"/>
                <a:cs typeface="Georgia" pitchFamily="34" charset="-120"/>
              </a:rPr>
              <a:t>G0 · G6 · G7</a:t>
            </a:r>
            <a:endParaRPr lang="en-US" sz="2100" dirty="0"/>
          </a:p>
        </p:txBody>
      </p:sp>
      <p:sp>
        <p:nvSpPr>
          <p:cNvPr id="59" name="Text 57"/>
          <p:cNvSpPr/>
          <p:nvPr/>
        </p:nvSpPr>
        <p:spPr>
          <a:xfrm>
            <a:off x="12983601" y="7489197"/>
            <a:ext cx="4461305" cy="345017"/>
          </a:xfrm>
          <a:prstGeom prst="rect">
            <a:avLst/>
          </a:prstGeom>
          <a:noFill/>
          <a:ln/>
        </p:spPr>
        <p:txBody>
          <a:bodyPr wrap="none" lIns="25400" tIns="25400" rIns="25400" bIns="25400" rtlCol="0" anchor="t">
            <a:normAutofit/>
          </a:bodyPr>
          <a:lstStyle/>
          <a:p>
            <a:pPr marL="0" indent="0" algn="l">
              <a:buNone/>
            </a:pPr>
            <a:r>
              <a:rPr lang="en-US" sz="1800" dirty="0">
                <a:solidFill>
                  <a:srgbClr val="5C4FB3"/>
                </a:solidFill>
                <a:latin typeface="Georgia" pitchFamily="34" charset="0"/>
                <a:ea typeface="Georgia" pitchFamily="34" charset="-122"/>
                <a:cs typeface="Georgia" pitchFamily="34" charset="-120"/>
              </a:rPr>
              <a:t>per-ticket loop, ticket type L3</a:t>
            </a:r>
            <a:endParaRPr lang="en-US" sz="1800" dirty="0"/>
          </a:p>
        </p:txBody>
      </p:sp>
      <p:sp>
        <p:nvSpPr>
          <p:cNvPr id="60" name="Shape 58"/>
          <p:cNvSpPr/>
          <p:nvPr/>
        </p:nvSpPr>
        <p:spPr>
          <a:xfrm>
            <a:off x="990534" y="8115433"/>
            <a:ext cx="516434" cy="516434"/>
          </a:xfrm>
          <a:prstGeom prst="ellipse">
            <a:avLst/>
          </a:prstGeom>
          <a:solidFill>
            <a:srgbClr val="F6F5F2"/>
          </a:solidFill>
          <a:ln w="10583">
            <a:solidFill>
              <a:srgbClr val="B8B5AD"/>
            </a:solidFill>
            <a:prstDash val="solid"/>
          </a:ln>
        </p:spPr>
      </p:sp>
      <p:sp>
        <p:nvSpPr>
          <p:cNvPr id="61" name="Text 59"/>
          <p:cNvSpPr/>
          <p:nvPr/>
        </p:nvSpPr>
        <p:spPr>
          <a:xfrm>
            <a:off x="963017" y="8126016"/>
            <a:ext cx="571467" cy="533367"/>
          </a:xfrm>
          <a:prstGeom prst="rect">
            <a:avLst/>
          </a:prstGeom>
          <a:noFill/>
          <a:ln/>
        </p:spPr>
        <p:txBody>
          <a:bodyPr wrap="square" lIns="25400" tIns="25400" rIns="25400" bIns="25400" rtlCol="0" anchor="ctr">
            <a:normAutofit/>
          </a:bodyPr>
          <a:lstStyle/>
          <a:p>
            <a:pPr marL="0" indent="0" algn="ctr">
              <a:buNone/>
            </a:pPr>
            <a:r>
              <a:rPr lang="en-US" sz="1800" dirty="0">
                <a:solidFill>
                  <a:srgbClr val="4F4D48"/>
                </a:solidFill>
                <a:latin typeface="Georgia" pitchFamily="34" charset="0"/>
                <a:ea typeface="Georgia" pitchFamily="34" charset="-122"/>
                <a:cs typeface="Georgia" pitchFamily="34" charset="-120"/>
              </a:rPr>
              <a:t>6</a:t>
            </a:r>
            <a:endParaRPr lang="en-US" sz="1800" dirty="0"/>
          </a:p>
        </p:txBody>
      </p:sp>
      <p:sp>
        <p:nvSpPr>
          <p:cNvPr id="62" name="Shape 60"/>
          <p:cNvSpPr/>
          <p:nvPr/>
        </p:nvSpPr>
        <p:spPr>
          <a:xfrm>
            <a:off x="1981068" y="7941965"/>
            <a:ext cx="10363399" cy="863369"/>
          </a:xfrm>
          <a:prstGeom prst="roundRect">
            <a:avLst>
              <a:gd name="adj" fmla="val 13239"/>
            </a:avLst>
          </a:prstGeom>
          <a:solidFill>
            <a:srgbClr val="FFFFFF"/>
          </a:solidFill>
          <a:ln w="10583">
            <a:solidFill>
              <a:srgbClr val="DCDAD4"/>
            </a:solidFill>
            <a:prstDash val="solid"/>
          </a:ln>
        </p:spPr>
      </p:sp>
      <p:sp>
        <p:nvSpPr>
          <p:cNvPr id="63" name="Text 61"/>
          <p:cNvSpPr/>
          <p:nvPr/>
        </p:nvSpPr>
        <p:spPr>
          <a:xfrm>
            <a:off x="2277401" y="8009599"/>
            <a:ext cx="10747806" cy="440267"/>
          </a:xfrm>
          <a:prstGeom prst="rect">
            <a:avLst/>
          </a:prstGeom>
          <a:noFill/>
          <a:ln/>
        </p:spPr>
        <p:txBody>
          <a:bodyPr wrap="square" lIns="25400" tIns="25400" rIns="25400" bIns="25400" rtlCol="0" anchor="t">
            <a:normAutofit/>
          </a:bodyPr>
          <a:lstStyle/>
          <a:p>
            <a:pPr marL="0" indent="0" algn="l">
              <a:buNone/>
            </a:pPr>
            <a:r>
              <a:rPr lang="en-US" sz="2325" dirty="0">
                <a:solidFill>
                  <a:srgbClr val="1F1E1C"/>
                </a:solidFill>
                <a:latin typeface="Georgia" pitchFamily="34" charset="0"/>
                <a:ea typeface="Georgia" pitchFamily="34" charset="-122"/>
                <a:cs typeface="Georgia" pitchFamily="34" charset="-120"/>
              </a:rPr>
              <a:t>Budget + synthesis</a:t>
            </a:r>
            <a:endParaRPr lang="en-US" sz="2325" dirty="0"/>
          </a:p>
        </p:txBody>
      </p:sp>
      <p:sp>
        <p:nvSpPr>
          <p:cNvPr id="64" name="Text 62"/>
          <p:cNvSpPr/>
          <p:nvPr/>
        </p:nvSpPr>
        <p:spPr>
          <a:xfrm>
            <a:off x="2277401" y="8430783"/>
            <a:ext cx="10747806" cy="345017"/>
          </a:xfrm>
          <a:prstGeom prst="rect">
            <a:avLst/>
          </a:prstGeom>
          <a:noFill/>
          <a:ln/>
        </p:spPr>
        <p:txBody>
          <a:bodyPr wrap="square" lIns="25400" tIns="25400" rIns="25400" bIns="25400" rtlCol="0" anchor="t">
            <a:normAutofit/>
          </a:bodyPr>
          <a:lstStyle/>
          <a:p>
            <a:pPr marL="0" indent="0" algn="l">
              <a:buNone/>
            </a:pPr>
            <a:r>
              <a:rPr lang="en-US" sz="1800" dirty="0">
                <a:solidFill>
                  <a:srgbClr val="6B6964"/>
                </a:solidFill>
                <a:latin typeface="Georgia" pitchFamily="34" charset="0"/>
                <a:ea typeface="Georgia" pitchFamily="34" charset="-122"/>
                <a:cs typeface="Georgia" pitchFamily="34" charset="-120"/>
              </a:rPr>
              <a:t>budget/ · syntheses/ · Dataview queries</a:t>
            </a:r>
            <a:endParaRPr lang="en-US" sz="1800" dirty="0"/>
          </a:p>
        </p:txBody>
      </p:sp>
      <p:sp>
        <p:nvSpPr>
          <p:cNvPr id="65" name="Shape 63"/>
          <p:cNvSpPr/>
          <p:nvPr/>
        </p:nvSpPr>
        <p:spPr>
          <a:xfrm>
            <a:off x="12725466" y="7963132"/>
            <a:ext cx="4572000" cy="821035"/>
          </a:xfrm>
          <a:prstGeom prst="roundRect">
            <a:avLst>
              <a:gd name="adj" fmla="val 13921"/>
            </a:avLst>
          </a:prstGeom>
          <a:solidFill>
            <a:srgbClr val="ECE8FB"/>
          </a:solidFill>
          <a:ln w="10583">
            <a:solidFill>
              <a:srgbClr val="7B6CD9"/>
            </a:solidFill>
            <a:prstDash val="solid"/>
          </a:ln>
        </p:spPr>
      </p:sp>
      <p:sp>
        <p:nvSpPr>
          <p:cNvPr id="66" name="Text 64"/>
          <p:cNvSpPr/>
          <p:nvPr/>
        </p:nvSpPr>
        <p:spPr>
          <a:xfrm>
            <a:off x="12983601" y="8030766"/>
            <a:ext cx="4461305" cy="397933"/>
          </a:xfrm>
          <a:prstGeom prst="rect">
            <a:avLst/>
          </a:prstGeom>
          <a:noFill/>
          <a:ln/>
        </p:spPr>
        <p:txBody>
          <a:bodyPr wrap="none" lIns="25400" tIns="25400" rIns="25400" bIns="25400" rtlCol="0" anchor="t">
            <a:normAutofit/>
          </a:bodyPr>
          <a:lstStyle/>
          <a:p>
            <a:pPr marL="0" indent="0" algn="l">
              <a:buNone/>
            </a:pPr>
            <a:r>
              <a:rPr lang="en-US" sz="2100" dirty="0">
                <a:solidFill>
                  <a:srgbClr val="3B2D8A"/>
                </a:solidFill>
                <a:latin typeface="Georgia" pitchFamily="34" charset="0"/>
                <a:ea typeface="Georgia" pitchFamily="34" charset="-122"/>
                <a:cs typeface="Georgia" pitchFamily="34" charset="-120"/>
              </a:rPr>
              <a:t>G8 / G5</a:t>
            </a:r>
            <a:endParaRPr lang="en-US" sz="2100" dirty="0"/>
          </a:p>
        </p:txBody>
      </p:sp>
      <p:sp>
        <p:nvSpPr>
          <p:cNvPr id="67" name="Text 65"/>
          <p:cNvSpPr/>
          <p:nvPr/>
        </p:nvSpPr>
        <p:spPr>
          <a:xfrm>
            <a:off x="12983601" y="8409616"/>
            <a:ext cx="4461305" cy="345017"/>
          </a:xfrm>
          <a:prstGeom prst="rect">
            <a:avLst/>
          </a:prstGeom>
          <a:noFill/>
          <a:ln/>
        </p:spPr>
        <p:txBody>
          <a:bodyPr wrap="none" lIns="25400" tIns="25400" rIns="25400" bIns="25400" rtlCol="0" anchor="t">
            <a:normAutofit/>
          </a:bodyPr>
          <a:lstStyle/>
          <a:p>
            <a:pPr marL="0" indent="0" algn="l">
              <a:buNone/>
            </a:pPr>
            <a:r>
              <a:rPr lang="en-US" sz="1800" dirty="0">
                <a:solidFill>
                  <a:srgbClr val="5C4FB3"/>
                </a:solidFill>
                <a:latin typeface="Georgia" pitchFamily="34" charset="0"/>
                <a:ea typeface="Georgia" pitchFamily="34" charset="-122"/>
                <a:cs typeface="Georgia" pitchFamily="34" charset="-120"/>
              </a:rPr>
              <a:t>budget models, SYN nodes</a:t>
            </a:r>
            <a:endParaRPr lang="en-US" sz="1800" dirty="0"/>
          </a:p>
        </p:txBody>
      </p:sp>
      <p:sp>
        <p:nvSpPr>
          <p:cNvPr id="68" name="Shape 66"/>
          <p:cNvSpPr/>
          <p:nvPr/>
        </p:nvSpPr>
        <p:spPr>
          <a:xfrm>
            <a:off x="990534" y="9372865"/>
            <a:ext cx="16306933" cy="533135"/>
          </a:xfrm>
          <a:prstGeom prst="roundRect">
            <a:avLst>
              <a:gd name="adj" fmla="val 21439"/>
            </a:avLst>
          </a:prstGeom>
          <a:solidFill>
            <a:srgbClr val="FBF3DC"/>
          </a:solidFill>
          <a:ln w="10583">
            <a:solidFill>
              <a:srgbClr val="C08A1E"/>
            </a:solidFill>
            <a:prstDash val="dash"/>
          </a:ln>
        </p:spPr>
      </p:sp>
      <p:sp>
        <p:nvSpPr>
          <p:cNvPr id="69" name="Text 67"/>
          <p:cNvSpPr/>
          <p:nvPr/>
        </p:nvSpPr>
        <p:spPr>
          <a:xfrm>
            <a:off x="1286867" y="9459648"/>
            <a:ext cx="16203474" cy="397669"/>
          </a:xfrm>
          <a:prstGeom prst="rect">
            <a:avLst/>
          </a:prstGeom>
          <a:noFill/>
          <a:ln/>
        </p:spPr>
        <p:txBody>
          <a:bodyPr wrap="square" lIns="25400" tIns="25400" rIns="25400" bIns="25400" rtlCol="0" anchor="t">
            <a:normAutofit/>
          </a:bodyPr>
          <a:lstStyle/>
          <a:p>
            <a:pPr marL="0" indent="0" algn="l">
              <a:buNone/>
            </a:pPr>
            <a:r>
              <a:rPr lang="en-US" sz="2100" dirty="0">
                <a:solidFill>
                  <a:srgbClr val="7A5410"/>
                </a:solidFill>
                <a:latin typeface="Georgia" pitchFamily="34" charset="0"/>
                <a:ea typeface="Georgia" pitchFamily="34" charset="-122"/>
                <a:cs typeface="Georgia" pitchFamily="34" charset="-120"/>
              </a:rPr>
              <a:t>↺ G7 lint and graph health checks recur after each small batch.</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990534" y="838068"/>
            <a:ext cx="5023197"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wiki/aga · ontology governed workflow</a:t>
            </a:r>
            <a:endParaRPr lang="en-US" sz="1950" dirty="0"/>
          </a:p>
        </p:txBody>
      </p:sp>
      <p:sp>
        <p:nvSpPr>
          <p:cNvPr id="3" name="Text 1"/>
          <p:cNvSpPr/>
          <p:nvPr/>
        </p:nvSpPr>
        <p:spPr>
          <a:xfrm>
            <a:off x="17035364" y="838068"/>
            <a:ext cx="338303" cy="376767"/>
          </a:xfrm>
          <a:prstGeom prst="rect">
            <a:avLst/>
          </a:prstGeom>
          <a:noFill/>
          <a:ln/>
        </p:spPr>
        <p:txBody>
          <a:bodyPr wrap="square" lIns="25400" tIns="25400" rIns="25400" bIns="25400" rtlCol="0" anchor="t">
            <a:normAutofit/>
          </a:bodyPr>
          <a:lstStyle/>
          <a:p>
            <a:pPr marL="0" indent="0" algn="l">
              <a:buNone/>
            </a:pPr>
            <a:r>
              <a:rPr lang="en-US" sz="1950" dirty="0">
                <a:solidFill>
                  <a:srgbClr val="6B6964"/>
                </a:solidFill>
                <a:latin typeface="Georgia" pitchFamily="34" charset="0"/>
                <a:ea typeface="Georgia" pitchFamily="34" charset="-122"/>
                <a:cs typeface="Georgia" pitchFamily="34" charset="-120"/>
              </a:rPr>
              <a:t>24</a:t>
            </a:r>
            <a:endParaRPr lang="en-US" sz="1950" dirty="0"/>
          </a:p>
        </p:txBody>
      </p:sp>
      <p:sp>
        <p:nvSpPr>
          <p:cNvPr id="4" name="Text 2"/>
          <p:cNvSpPr/>
          <p:nvPr/>
        </p:nvSpPr>
        <p:spPr>
          <a:xfrm>
            <a:off x="990534" y="1519535"/>
            <a:ext cx="17937626" cy="821267"/>
          </a:xfrm>
          <a:prstGeom prst="rect">
            <a:avLst/>
          </a:prstGeom>
          <a:noFill/>
          <a:ln/>
        </p:spPr>
        <p:txBody>
          <a:bodyPr wrap="square" lIns="25400" tIns="25400" rIns="25400" bIns="25400" rtlCol="0" anchor="t">
            <a:normAutofit/>
          </a:bodyPr>
          <a:lstStyle/>
          <a:p>
            <a:pPr marL="0" indent="0" algn="l">
              <a:buNone/>
            </a:pPr>
            <a:r>
              <a:rPr lang="en-US" sz="4500" dirty="0">
                <a:solidFill>
                  <a:srgbClr val="1F1E1C"/>
                </a:solidFill>
                <a:latin typeface="Georgia" pitchFamily="34" charset="0"/>
                <a:ea typeface="Georgia" pitchFamily="34" charset="-122"/>
                <a:cs typeface="Georgia" pitchFamily="34" charset="-120"/>
              </a:rPr>
              <a:t>What the simulation teaches an agentic workflow</a:t>
            </a:r>
            <a:endParaRPr lang="en-US" sz="4500" dirty="0"/>
          </a:p>
        </p:txBody>
      </p:sp>
      <p:sp>
        <p:nvSpPr>
          <p:cNvPr id="5" name="Shape 3"/>
          <p:cNvSpPr/>
          <p:nvPr/>
        </p:nvSpPr>
        <p:spPr>
          <a:xfrm>
            <a:off x="990534" y="3137628"/>
            <a:ext cx="7501103" cy="10583"/>
          </a:xfrm>
          <a:prstGeom prst="rect">
            <a:avLst/>
          </a:prstGeom>
          <a:solidFill>
            <a:srgbClr val="CFCDC6"/>
          </a:solidFill>
          <a:ln/>
        </p:spPr>
      </p:sp>
      <p:sp>
        <p:nvSpPr>
          <p:cNvPr id="6" name="Text 4"/>
          <p:cNvSpPr/>
          <p:nvPr/>
        </p:nvSpPr>
        <p:spPr>
          <a:xfrm>
            <a:off x="990534" y="2645503"/>
            <a:ext cx="7726136" cy="339725"/>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CURRENT HUMAN GUIDED STEP</a:t>
            </a:r>
            <a:endParaRPr lang="en-US" sz="1800" dirty="0"/>
          </a:p>
        </p:txBody>
      </p:sp>
      <p:sp>
        <p:nvSpPr>
          <p:cNvPr id="7" name="Shape 5"/>
          <p:cNvSpPr/>
          <p:nvPr/>
        </p:nvSpPr>
        <p:spPr>
          <a:xfrm>
            <a:off x="8491637" y="3137628"/>
            <a:ext cx="8805830" cy="10583"/>
          </a:xfrm>
          <a:prstGeom prst="rect">
            <a:avLst/>
          </a:prstGeom>
          <a:solidFill>
            <a:srgbClr val="CFCDC6"/>
          </a:solidFill>
          <a:ln/>
        </p:spPr>
      </p:sp>
      <p:sp>
        <p:nvSpPr>
          <p:cNvPr id="8" name="Text 6"/>
          <p:cNvSpPr/>
          <p:nvPr/>
        </p:nvSpPr>
        <p:spPr>
          <a:xfrm>
            <a:off x="8491637" y="2645503"/>
            <a:ext cx="9070005" cy="339725"/>
          </a:xfrm>
          <a:prstGeom prst="rect">
            <a:avLst/>
          </a:prstGeom>
          <a:noFill/>
          <a:ln/>
        </p:spPr>
        <p:txBody>
          <a:bodyPr wrap="square" lIns="25400" tIns="25400" rIns="25400" bIns="25400" rtlCol="0" anchor="ctr">
            <a:normAutofit/>
          </a:bodyPr>
          <a:lstStyle/>
          <a:p>
            <a:pPr marL="0" indent="0" algn="l">
              <a:buNone/>
            </a:pPr>
            <a:r>
              <a:rPr lang="en-US" sz="1800" kern="0" spc="216" dirty="0">
                <a:solidFill>
                  <a:srgbClr val="6B6964"/>
                </a:solidFill>
                <a:latin typeface="Georgia" pitchFamily="34" charset="0"/>
                <a:ea typeface="Georgia" pitchFamily="34" charset="-122"/>
                <a:cs typeface="Georgia" pitchFamily="34" charset="-120"/>
              </a:rPr>
              <a:t>FUTURE CLAUDE CODE / CODEX RESPONSIBILITY</a:t>
            </a:r>
            <a:endParaRPr lang="en-US" sz="1800" dirty="0"/>
          </a:p>
        </p:txBody>
      </p:sp>
      <p:sp>
        <p:nvSpPr>
          <p:cNvPr id="9" name="Shape 7"/>
          <p:cNvSpPr/>
          <p:nvPr/>
        </p:nvSpPr>
        <p:spPr>
          <a:xfrm>
            <a:off x="990534" y="4471293"/>
            <a:ext cx="7501103" cy="10583"/>
          </a:xfrm>
          <a:prstGeom prst="rect">
            <a:avLst/>
          </a:prstGeom>
          <a:solidFill>
            <a:srgbClr val="E6E4DE"/>
          </a:solidFill>
          <a:ln/>
        </p:spPr>
      </p:sp>
      <p:sp>
        <p:nvSpPr>
          <p:cNvPr id="10" name="Text 8"/>
          <p:cNvSpPr/>
          <p:nvPr/>
        </p:nvSpPr>
        <p:spPr>
          <a:xfrm>
            <a:off x="990534" y="3433961"/>
            <a:ext cx="7345136" cy="789682"/>
          </a:xfrm>
          <a:prstGeom prst="rect">
            <a:avLst/>
          </a:prstGeom>
          <a:noFill/>
          <a:ln/>
        </p:spPr>
        <p:txBody>
          <a:bodyPr wrap="square" lIns="25400" tIns="25400" rIns="25400" bIns="25400" rtlCol="0" anchor="ctr">
            <a:normAutofit/>
          </a:bodyPr>
          <a:lstStyle/>
          <a:p>
            <a:pPr marL="0" indent="0" algn="l">
              <a:buNone/>
            </a:pPr>
            <a:r>
              <a:rPr lang="en-US" sz="2400" dirty="0">
                <a:solidFill>
                  <a:srgbClr val="8F3F1C"/>
                </a:solidFill>
                <a:latin typeface="Georgia" pitchFamily="34" charset="0"/>
                <a:ea typeface="Georgia" pitchFamily="34" charset="-122"/>
                <a:cs typeface="Georgia" pitchFamily="34" charset="-120"/>
              </a:rPr>
              <a:t>◇ </a:t>
            </a:r>
            <a:r>
              <a:rPr lang="en-US" sz="2400" dirty="0">
                <a:solidFill>
                  <a:srgbClr val="1F1E1C"/>
                </a:solidFill>
                <a:latin typeface="Georgia" pitchFamily="34" charset="0"/>
                <a:ea typeface="Georgia" pitchFamily="34" charset="-122"/>
                <a:cs typeface="Georgia" pitchFamily="34" charset="-120"/>
              </a:rPr>
              <a:t>Issue bounded ticket</a:t>
            </a:r>
            <a:endParaRPr lang="en-US" sz="2400" dirty="0"/>
          </a:p>
        </p:txBody>
      </p:sp>
      <p:sp>
        <p:nvSpPr>
          <p:cNvPr id="11" name="Shape 9"/>
          <p:cNvSpPr/>
          <p:nvPr/>
        </p:nvSpPr>
        <p:spPr>
          <a:xfrm>
            <a:off x="8491637" y="4471293"/>
            <a:ext cx="8805830" cy="10583"/>
          </a:xfrm>
          <a:prstGeom prst="rect">
            <a:avLst/>
          </a:prstGeom>
          <a:solidFill>
            <a:srgbClr val="E6E4DE"/>
          </a:solidFill>
          <a:ln/>
        </p:spPr>
      </p:sp>
      <p:sp>
        <p:nvSpPr>
          <p:cNvPr id="12" name="Text 10"/>
          <p:cNvSpPr/>
          <p:nvPr/>
        </p:nvSpPr>
        <p:spPr>
          <a:xfrm>
            <a:off x="8491637" y="3433961"/>
            <a:ext cx="9070005" cy="789682"/>
          </a:xfrm>
          <a:prstGeom prst="rect">
            <a:avLst/>
          </a:prstGeom>
          <a:noFill/>
          <a:ln/>
        </p:spPr>
        <p:txBody>
          <a:bodyPr wrap="square" lIns="25400" tIns="25400" rIns="25400" bIns="25400" rtlCol="0" anchor="ctr">
            <a:normAutofit/>
          </a:bodyPr>
          <a:lstStyle/>
          <a:p>
            <a:pPr marL="0" indent="0" algn="l">
              <a:buNone/>
            </a:pPr>
            <a:r>
              <a:rPr lang="en-US" sz="2400" dirty="0">
                <a:solidFill>
                  <a:srgbClr val="3B2D8A"/>
                </a:solidFill>
                <a:latin typeface="Georgia" pitchFamily="34" charset="0"/>
                <a:ea typeface="Georgia" pitchFamily="34" charset="-122"/>
                <a:cs typeface="Georgia" pitchFamily="34" charset="-120"/>
              </a:rPr>
              <a:t>Plan one locator and allowed output</a:t>
            </a:r>
            <a:endParaRPr lang="en-US" sz="2400" dirty="0"/>
          </a:p>
        </p:txBody>
      </p:sp>
      <p:sp>
        <p:nvSpPr>
          <p:cNvPr id="13" name="Shape 11"/>
          <p:cNvSpPr/>
          <p:nvPr/>
        </p:nvSpPr>
        <p:spPr>
          <a:xfrm>
            <a:off x="990534" y="5804959"/>
            <a:ext cx="7501103" cy="10583"/>
          </a:xfrm>
          <a:prstGeom prst="rect">
            <a:avLst/>
          </a:prstGeom>
          <a:solidFill>
            <a:srgbClr val="E6E4DE"/>
          </a:solidFill>
          <a:ln/>
        </p:spPr>
      </p:sp>
      <p:sp>
        <p:nvSpPr>
          <p:cNvPr id="14" name="Text 12"/>
          <p:cNvSpPr/>
          <p:nvPr/>
        </p:nvSpPr>
        <p:spPr>
          <a:xfrm>
            <a:off x="990534" y="4767626"/>
            <a:ext cx="7345136" cy="789682"/>
          </a:xfrm>
          <a:prstGeom prst="rect">
            <a:avLst/>
          </a:prstGeom>
          <a:noFill/>
          <a:ln/>
        </p:spPr>
        <p:txBody>
          <a:bodyPr wrap="square" lIns="25400" tIns="25400" rIns="25400" bIns="25400" rtlCol="0" anchor="ctr">
            <a:normAutofit/>
          </a:bodyPr>
          <a:lstStyle/>
          <a:p>
            <a:pPr marL="0" indent="0" algn="l">
              <a:buNone/>
            </a:pPr>
            <a:r>
              <a:rPr lang="en-US" sz="2400" dirty="0">
                <a:solidFill>
                  <a:srgbClr val="8F3F1C"/>
                </a:solidFill>
                <a:latin typeface="Georgia" pitchFamily="34" charset="0"/>
                <a:ea typeface="Georgia" pitchFamily="34" charset="-122"/>
                <a:cs typeface="Georgia" pitchFamily="34" charset="-120"/>
              </a:rPr>
              <a:t>◇ </a:t>
            </a:r>
            <a:r>
              <a:rPr lang="en-US" sz="2400" dirty="0">
                <a:solidFill>
                  <a:srgbClr val="1F1E1C"/>
                </a:solidFill>
                <a:latin typeface="Georgia" pitchFamily="34" charset="0"/>
                <a:ea typeface="Georgia" pitchFamily="34" charset="-122"/>
                <a:cs typeface="Georgia" pitchFamily="34" charset="-120"/>
              </a:rPr>
              <a:t>Save and inspect NotebookLM Note</a:t>
            </a:r>
            <a:endParaRPr lang="en-US" sz="2400" dirty="0"/>
          </a:p>
        </p:txBody>
      </p:sp>
      <p:sp>
        <p:nvSpPr>
          <p:cNvPr id="15" name="Shape 13"/>
          <p:cNvSpPr/>
          <p:nvPr/>
        </p:nvSpPr>
        <p:spPr>
          <a:xfrm>
            <a:off x="8491637" y="5804959"/>
            <a:ext cx="8805830" cy="10583"/>
          </a:xfrm>
          <a:prstGeom prst="rect">
            <a:avLst/>
          </a:prstGeom>
          <a:solidFill>
            <a:srgbClr val="E6E4DE"/>
          </a:solidFill>
          <a:ln/>
        </p:spPr>
      </p:sp>
      <p:sp>
        <p:nvSpPr>
          <p:cNvPr id="16" name="Text 14"/>
          <p:cNvSpPr/>
          <p:nvPr/>
        </p:nvSpPr>
        <p:spPr>
          <a:xfrm>
            <a:off x="8491637" y="4767626"/>
            <a:ext cx="9070005" cy="789682"/>
          </a:xfrm>
          <a:prstGeom prst="rect">
            <a:avLst/>
          </a:prstGeom>
          <a:noFill/>
          <a:ln/>
        </p:spPr>
        <p:txBody>
          <a:bodyPr wrap="square" lIns="25400" tIns="25400" rIns="25400" bIns="25400" rtlCol="0" anchor="ctr">
            <a:normAutofit/>
          </a:bodyPr>
          <a:lstStyle/>
          <a:p>
            <a:pPr marL="0" indent="0" algn="l">
              <a:buNone/>
            </a:pPr>
            <a:r>
              <a:rPr lang="en-US" sz="2400" dirty="0">
                <a:solidFill>
                  <a:srgbClr val="3B2D8A"/>
                </a:solidFill>
                <a:latin typeface="Georgia" pitchFamily="34" charset="0"/>
                <a:ea typeface="Georgia" pitchFamily="34" charset="-122"/>
                <a:cs typeface="Georgia" pitchFamily="34" charset="-120"/>
              </a:rPr>
              <a:t>Consume bounded evidence, reject out-of-range cites</a:t>
            </a:r>
            <a:endParaRPr lang="en-US" sz="2400" dirty="0"/>
          </a:p>
        </p:txBody>
      </p:sp>
      <p:sp>
        <p:nvSpPr>
          <p:cNvPr id="17" name="Shape 15"/>
          <p:cNvSpPr/>
          <p:nvPr/>
        </p:nvSpPr>
        <p:spPr>
          <a:xfrm>
            <a:off x="990534" y="7138624"/>
            <a:ext cx="7501103" cy="10583"/>
          </a:xfrm>
          <a:prstGeom prst="rect">
            <a:avLst/>
          </a:prstGeom>
          <a:solidFill>
            <a:srgbClr val="E6E4DE"/>
          </a:solidFill>
          <a:ln/>
        </p:spPr>
      </p:sp>
      <p:sp>
        <p:nvSpPr>
          <p:cNvPr id="18" name="Text 16"/>
          <p:cNvSpPr/>
          <p:nvPr/>
        </p:nvSpPr>
        <p:spPr>
          <a:xfrm>
            <a:off x="990534" y="6101292"/>
            <a:ext cx="7345136" cy="789682"/>
          </a:xfrm>
          <a:prstGeom prst="rect">
            <a:avLst/>
          </a:prstGeom>
          <a:noFill/>
          <a:ln/>
        </p:spPr>
        <p:txBody>
          <a:bodyPr wrap="square" lIns="25400" tIns="25400" rIns="25400" bIns="25400" rtlCol="0" anchor="ctr">
            <a:normAutofit/>
          </a:bodyPr>
          <a:lstStyle/>
          <a:p>
            <a:pPr marL="0" indent="0" algn="l">
              <a:buNone/>
            </a:pPr>
            <a:r>
              <a:rPr lang="en-US" sz="2400" dirty="0">
                <a:solidFill>
                  <a:srgbClr val="8F3F1C"/>
                </a:solidFill>
                <a:latin typeface="Georgia" pitchFamily="34" charset="0"/>
                <a:ea typeface="Georgia" pitchFamily="34" charset="-122"/>
                <a:cs typeface="Georgia" pitchFamily="34" charset="-120"/>
              </a:rPr>
              <a:t>◇ </a:t>
            </a:r>
            <a:r>
              <a:rPr lang="en-US" sz="2400" dirty="0">
                <a:solidFill>
                  <a:srgbClr val="1F1E1C"/>
                </a:solidFill>
                <a:latin typeface="Georgia" pitchFamily="34" charset="0"/>
                <a:ea typeface="Georgia" pitchFamily="34" charset="-122"/>
                <a:cs typeface="Georgia" pitchFamily="34" charset="-120"/>
              </a:rPr>
              <a:t>Ratify schema; apply node files</a:t>
            </a:r>
            <a:endParaRPr lang="en-US" sz="2400" dirty="0"/>
          </a:p>
        </p:txBody>
      </p:sp>
      <p:sp>
        <p:nvSpPr>
          <p:cNvPr id="19" name="Shape 17"/>
          <p:cNvSpPr/>
          <p:nvPr/>
        </p:nvSpPr>
        <p:spPr>
          <a:xfrm>
            <a:off x="8491637" y="7138624"/>
            <a:ext cx="8805830" cy="10583"/>
          </a:xfrm>
          <a:prstGeom prst="rect">
            <a:avLst/>
          </a:prstGeom>
          <a:solidFill>
            <a:srgbClr val="E6E4DE"/>
          </a:solidFill>
          <a:ln/>
        </p:spPr>
      </p:sp>
      <p:sp>
        <p:nvSpPr>
          <p:cNvPr id="20" name="Text 18"/>
          <p:cNvSpPr/>
          <p:nvPr/>
        </p:nvSpPr>
        <p:spPr>
          <a:xfrm>
            <a:off x="8491637" y="6101292"/>
            <a:ext cx="9070005" cy="789682"/>
          </a:xfrm>
          <a:prstGeom prst="rect">
            <a:avLst/>
          </a:prstGeom>
          <a:noFill/>
          <a:ln/>
        </p:spPr>
        <p:txBody>
          <a:bodyPr wrap="square" lIns="25400" tIns="25400" rIns="25400" bIns="25400" rtlCol="0" anchor="ctr">
            <a:normAutofit/>
          </a:bodyPr>
          <a:lstStyle/>
          <a:p>
            <a:pPr marL="0" indent="0" algn="l">
              <a:buNone/>
            </a:pPr>
            <a:r>
              <a:rPr lang="en-US" sz="2400" dirty="0">
                <a:solidFill>
                  <a:srgbClr val="3B2D8A"/>
                </a:solidFill>
                <a:latin typeface="Georgia" pitchFamily="34" charset="0"/>
                <a:ea typeface="Georgia" pitchFamily="34" charset="-122"/>
                <a:cs typeface="Georgia" pitchFamily="34" charset="-120"/>
              </a:rPr>
              <a:t>Validate typed metadata and controlled writes</a:t>
            </a:r>
            <a:endParaRPr lang="en-US" sz="2400" dirty="0"/>
          </a:p>
        </p:txBody>
      </p:sp>
      <p:sp>
        <p:nvSpPr>
          <p:cNvPr id="21" name="Shape 19"/>
          <p:cNvSpPr/>
          <p:nvPr/>
        </p:nvSpPr>
        <p:spPr>
          <a:xfrm>
            <a:off x="990534" y="8472289"/>
            <a:ext cx="7501103" cy="10583"/>
          </a:xfrm>
          <a:prstGeom prst="rect">
            <a:avLst/>
          </a:prstGeom>
          <a:solidFill>
            <a:srgbClr val="E6E4DE"/>
          </a:solidFill>
          <a:ln/>
        </p:spPr>
      </p:sp>
      <p:sp>
        <p:nvSpPr>
          <p:cNvPr id="22" name="Text 20"/>
          <p:cNvSpPr/>
          <p:nvPr/>
        </p:nvSpPr>
        <p:spPr>
          <a:xfrm>
            <a:off x="990534" y="7434957"/>
            <a:ext cx="7345136" cy="789682"/>
          </a:xfrm>
          <a:prstGeom prst="rect">
            <a:avLst/>
          </a:prstGeom>
          <a:noFill/>
          <a:ln/>
        </p:spPr>
        <p:txBody>
          <a:bodyPr wrap="square" lIns="25400" tIns="25400" rIns="25400" bIns="25400" rtlCol="0" anchor="ctr">
            <a:normAutofit/>
          </a:bodyPr>
          <a:lstStyle/>
          <a:p>
            <a:pPr marL="0" indent="0" algn="l">
              <a:buNone/>
            </a:pPr>
            <a:r>
              <a:rPr lang="en-US" sz="2400" dirty="0">
                <a:solidFill>
                  <a:srgbClr val="8F3F1C"/>
                </a:solidFill>
                <a:latin typeface="Georgia" pitchFamily="34" charset="0"/>
                <a:ea typeface="Georgia" pitchFamily="34" charset="-122"/>
                <a:cs typeface="Georgia" pitchFamily="34" charset="-120"/>
              </a:rPr>
              <a:t>◇ </a:t>
            </a:r>
            <a:r>
              <a:rPr lang="en-US" sz="2400" dirty="0">
                <a:solidFill>
                  <a:srgbClr val="1F1E1C"/>
                </a:solidFill>
                <a:latin typeface="Georgia" pitchFamily="34" charset="0"/>
                <a:ea typeface="Georgia" pitchFamily="34" charset="-122"/>
                <a:cs typeface="Georgia" pitchFamily="34" charset="-120"/>
              </a:rPr>
              <a:t>Inspect dashboard and snapshots</a:t>
            </a:r>
            <a:endParaRPr lang="en-US" sz="2400" dirty="0"/>
          </a:p>
        </p:txBody>
      </p:sp>
      <p:sp>
        <p:nvSpPr>
          <p:cNvPr id="23" name="Shape 21"/>
          <p:cNvSpPr/>
          <p:nvPr/>
        </p:nvSpPr>
        <p:spPr>
          <a:xfrm>
            <a:off x="8491637" y="8472289"/>
            <a:ext cx="8805830" cy="10583"/>
          </a:xfrm>
          <a:prstGeom prst="rect">
            <a:avLst/>
          </a:prstGeom>
          <a:solidFill>
            <a:srgbClr val="E6E4DE"/>
          </a:solidFill>
          <a:ln/>
        </p:spPr>
      </p:sp>
      <p:sp>
        <p:nvSpPr>
          <p:cNvPr id="24" name="Text 22"/>
          <p:cNvSpPr/>
          <p:nvPr/>
        </p:nvSpPr>
        <p:spPr>
          <a:xfrm>
            <a:off x="8491637" y="7434957"/>
            <a:ext cx="9070005" cy="789682"/>
          </a:xfrm>
          <a:prstGeom prst="rect">
            <a:avLst/>
          </a:prstGeom>
          <a:noFill/>
          <a:ln/>
        </p:spPr>
        <p:txBody>
          <a:bodyPr wrap="square" lIns="25400" tIns="25400" rIns="25400" bIns="25400" rtlCol="0" anchor="ctr">
            <a:normAutofit/>
          </a:bodyPr>
          <a:lstStyle/>
          <a:p>
            <a:pPr marL="0" indent="0" algn="l">
              <a:buNone/>
            </a:pPr>
            <a:r>
              <a:rPr lang="en-US" sz="2400" dirty="0">
                <a:solidFill>
                  <a:srgbClr val="3B2D8A"/>
                </a:solidFill>
                <a:latin typeface="Georgia" pitchFamily="34" charset="0"/>
                <a:ea typeface="Georgia" pitchFamily="34" charset="-122"/>
                <a:cs typeface="Georgia" pitchFamily="34" charset="-120"/>
              </a:rPr>
              <a:t>Run lint, maintain audit trail and halt on exceptions</a:t>
            </a:r>
            <a:endParaRPr lang="en-US" sz="2400" dirty="0"/>
          </a:p>
        </p:txBody>
      </p:sp>
      <p:sp>
        <p:nvSpPr>
          <p:cNvPr id="25" name="Shape 23"/>
          <p:cNvSpPr/>
          <p:nvPr/>
        </p:nvSpPr>
        <p:spPr>
          <a:xfrm>
            <a:off x="990534" y="8830965"/>
            <a:ext cx="16306933" cy="10583"/>
          </a:xfrm>
          <a:prstGeom prst="rect">
            <a:avLst/>
          </a:prstGeom>
          <a:solidFill>
            <a:srgbClr val="D3D1CA"/>
          </a:solidFill>
          <a:ln/>
        </p:spPr>
      </p:sp>
      <p:sp>
        <p:nvSpPr>
          <p:cNvPr id="26" name="Text 24"/>
          <p:cNvSpPr/>
          <p:nvPr/>
        </p:nvSpPr>
        <p:spPr>
          <a:xfrm>
            <a:off x="990534" y="9089198"/>
            <a:ext cx="16796141" cy="397834"/>
          </a:xfrm>
          <a:prstGeom prst="rect">
            <a:avLst/>
          </a:prstGeom>
          <a:noFill/>
          <a:ln/>
        </p:spPr>
        <p:txBody>
          <a:bodyPr wrap="square" lIns="25400" tIns="25400" rIns="25400" bIns="25400" rtlCol="0" anchor="t">
            <a:normAutofit/>
          </a:bodyPr>
          <a:lstStyle/>
          <a:p>
            <a:pPr marL="0" indent="0" algn="l">
              <a:buNone/>
            </a:pPr>
            <a:r>
              <a:rPr lang="en-US" sz="2100" dirty="0">
                <a:solidFill>
                  <a:srgbClr val="6B6964"/>
                </a:solidFill>
                <a:latin typeface="Georgia" pitchFamily="34" charset="0"/>
                <a:ea typeface="Georgia" pitchFamily="34" charset="-122"/>
                <a:cs typeface="Georgia" pitchFamily="34" charset="-120"/>
              </a:rPr>
              <a:t>This deck describes the preparatory workflow. The full graph remains to be implemented.</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217</TotalTime>
  <Words>3650</Words>
  <Application>Microsoft Office PowerPoint</Application>
  <PresentationFormat>Egyéni</PresentationFormat>
  <Paragraphs>532</Paragraphs>
  <Slides>22</Slides>
  <Notes>22</Notes>
  <HiddenSlides>0</HiddenSlides>
  <MMClips>0</MMClips>
  <ScaleCrop>false</ScaleCrop>
  <HeadingPairs>
    <vt:vector size="6" baseType="variant">
      <vt:variant>
        <vt:lpstr>Használt betűtípusok</vt:lpstr>
      </vt:variant>
      <vt:variant>
        <vt:i4>3</vt:i4>
      </vt:variant>
      <vt:variant>
        <vt:lpstr>Téma</vt:lpstr>
      </vt:variant>
      <vt:variant>
        <vt:i4>1</vt:i4>
      </vt:variant>
      <vt:variant>
        <vt:lpstr>Diacímek</vt:lpstr>
      </vt:variant>
      <vt:variant>
        <vt:i4>22</vt:i4>
      </vt:variant>
    </vt:vector>
  </HeadingPairs>
  <TitlesOfParts>
    <vt:vector size="26" baseType="lpstr">
      <vt:lpstr>Arial</vt:lpstr>
      <vt:lpstr>Courier New</vt:lpstr>
      <vt:lpstr>Georgia</vt:lpstr>
      <vt:lpstr>Office Theme</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József Kiss</cp:lastModifiedBy>
  <cp:revision>5</cp:revision>
  <dcterms:created xsi:type="dcterms:W3CDTF">2026-09-28T10:48:08Z</dcterms:created>
  <dcterms:modified xsi:type="dcterms:W3CDTF">2026-10-05T11:56:33Z</dcterms:modified>
</cp:coreProperties>
</file>