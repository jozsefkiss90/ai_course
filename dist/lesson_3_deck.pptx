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Read the map at pace, one line per row, left then right — a link, never a definition. Nothing from Lessons 1–2 gets explained again: if someone asks for the explanation, point at the earlier deck and move on.</a:t>
            </a:r>
          </a:p>
          <a:p/>
          <a:p>
            <a:r>
              <a:t>Two rows to land with a beat: the 7 Levels row — Level 3 is behind you as of the Lesson 2 assignment, Level 4 is what today buys you — and the KM System row, because the diagram you saw teased in Lesson 1 gets redrawn in ten minutes without the wiki.</a:t>
            </a:r>
          </a:p>
          <a:p/>
          <a:p>
            <a:r>
              <a:t>The two name-clash rows (Canvas, Copilot for Obsidian) are there so the words do not trip anyone in Segment 3; say them once here.</a:t>
            </a:r>
          </a:p>
          <a:p/>
          <a:p>
            <a:r>
              <a:t>Then straight into the debrief; do not let the map eat into the volunteers'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and it is the segment's whole point — protect it.</a:t>
            </a:r>
          </a:p>
          <a:p/>
          <a:p>
            <a:r>
              <a:t>Setup done before the session: volunteers asked for in the Teams chat, plus one backup in case a screen-share fails. Say the format once, then hand over: 2–3 volunteers, 4 minutes each including questions.</a:t>
            </a:r>
          </a:p>
          <a:p/>
          <a:p>
            <a:r>
              <a:t>Keeping time: post a visible time check in the chat at the 3-minute mark and cut at 4. Three volunteers at four minutes each is exactly the twelve minutes; if the first two overrun, stop at two so the read-back still fits.</a:t>
            </a:r>
          </a:p>
          <a:p/>
          <a:p>
            <a:r>
              <a:t>Ask exactly one question per item, the ones printed on the cards. Problems go on the capture slide, not into a discussion here.</a:t>
            </a:r>
          </a:p>
          <a:p/>
          <a:p>
            <a:r>
              <a:t>Anyone who did not finish: no discussion now, Practice Week 2 is the venue.</a:t>
            </a:r>
          </a:p>
          <a:p/>
          <a:p>
            <a:r>
              <a:t>The routing check is enforced from this debrief on: if a volunteer shows non-anonymised material in a Daily Driver tool, name it in one sentence as the anonymise-before-upload rule from Lesson 2,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 alongside the demos — keep this slide up while the volunteers share, or keep a pinned Teams chat message if screen real estate is tight. One line per problem, no names, filed under the item it came from.</a:t>
            </a:r>
          </a:p>
          <a:p/>
          <a:p>
            <a:r>
              <a:t>~30 sec at the end: read the list back and say which ones today's session answers — the wrong-document answer in Segment 2's source grounding and citations, the lost outputs in Segment 3's vault, the missing NotebookLM in Segment 2's free-tier check — and which go to Practice Week 2. Say so explicitly so nobody leaves with an unanswered problem.</a:t>
            </a:r>
          </a:p>
          <a:p/>
          <a:p>
            <a:r>
              <a:t>This list is the facilitator's own carry-forward: it says what Practice Week 2 has to cover. Keep it after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Lesson 1 teaser showed wiki → agent → Obsidian. The wiki is gone: Perfect Wiki is a paid service, out of scope for a free-tier course. What replaces it is not another wiki but a simpler architecture: the Personal Vault is the single source of truth, and everything else either feeds it or reads from it.</a:t>
            </a:r>
          </a:p>
          <a:p/>
          <a:p>
            <a:r>
              <a:t>Two rules travel with the diagram. First, the arrow into the vault is a person: NotebookLM output is read, checked against its citations and then pasted, with a source line. No automated sync. Second, the four entity types the wiki was going to hold — concepts, processes, guides, projects — survive as the vault's four folders, so nothing about the content model changes, only where it lives.</a:t>
            </a:r>
          </a:p>
          <a:p/>
          <a:p>
            <a:r>
              <a:t>Colour: amber is a cloud call (Daily Driver), green is local. The vault box is green because Obsidian never calls anything; the Copilot for Obsidian line inside it is the one cloud call from the vault, and it comes up in Segment 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one slide. Floors 2 and 3 were Lesson 2. Floor 1 is today's first half. Floor 4 is a paid Workspace feature, so this course puts Obsidian on the fourth floor instead — the second half of today.</a:t>
            </a:r>
          </a:p>
          <a:p/>
          <a:p>
            <a:r>
              <a:t>Source separation rows E1, E2, T9: the map and the closing line are the talk's framing; the plan keeps them as framing, not as facts. No link to the talk appears anywhere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with the live demo's first two steps interleaved: switch to NotebookLM in your own Google account on the fictional Anchor Project material. Create the notebook, add the four sources (call text PDF, guidelines PDF, the public FAQ page, your anonymised Markdown notes), show the source count against the 50-source limit. Then ask one concept question from the question-shape table, click through one citation to its passage, and ask a follow-up the sources do not answer — show the notebook say so instead of inventing.</a:t>
            </a:r>
          </a:p>
          <a:p/>
          <a:p>
            <a:r>
              <a:t>Say the rename once — Google renamed NotebookLM to Gemini Notebook on 16 July 2026, same tool, same plans, same limits — and then call it NotebookLM.</a:t>
            </a:r>
          </a:p>
          <a:p/>
          <a:p>
            <a:r>
              <a:t>Rows T1, T2, E3, L1: grounding is the tool-level answer to Lesson 1's hallucination point. Routing: personal Google account, so Daily Driver; anonymised or fictional material 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Read the numbers as “at the time of writing”; they move. The free-tier check the week before delivery is in Materials to Prepare: re-verify every row here in your own account, and if a Studio output is missing on the day, show it as a slide and say so.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three situations come from the talk (row A1, the “action item” content minus its wrapper) and they hold up. Everything else stays in Gemini.</a:t>
            </a:r>
          </a:p>
          <a:p/>
          <a:p>
            <a:r>
              <a:t>One line for the slide: a notebook organises evidence; a Gem organises behaviour (row E6). A notebook can be given to a Gem as its sources — a link that appeared on paid plans first (row T8), so check your own free-tier account before promising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one line per row, then the attributed learning-science sentence (rows E4, E5). The talk also cites a small, preliminary MIT Media Lab EEG study on AI-assisted writing (row C1); the slide does not, because the study is not peer reviewed and the sample was 54 people. If asked, say exactly that.</a:t>
            </a:r>
          </a:p>
          <a:p/>
          <a:p>
            <a:r>
              <a:t>Live demo steps 3–5 run against this slide: generate one report (briefing document) with the process question shape and leave it on screen — it is the input to Segment 3's demo; open the mind map and point at the three or four nodes that will become linked notes; play 20 seconds of the Audio Overview prepared beforehand and show the interrupt button. The demo-script slide at the end of the segment carries the timings.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This is the step that makes the notebook part of a system rather than a reading aid: one question shape per entity type, and each answer becomes one note in the vault (Segment 3) with a source line — the notebook's name, the source document and, where it exists, the section.</a:t>
            </a:r>
          </a:p>
          <a:p/>
          <a:p>
            <a:r>
              <a:t>An answer without a citation does not become a note. The notebook does the citing, the person does the checking.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one slide, and the live demo's step 6 is this slide only — no switch to Perplexity. Two direct benefits, stated once; then where it sits in the chain: find → ground → keep. Daily Driver; anonymised or public content only.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live demo steps in one place, ≈6 minutes of the 20. They are interleaved with the slides before this one (steps 1–2 on the what-it-is slide, 3–5 on the Studio outputs slide, 6 on the Perplexity slide); this slide is the checklist if the interleaving slips.</a:t>
            </a:r>
          </a:p>
          <a:p/>
          <a:p>
            <a:r>
              <a:t>Rule stated while demoing: everything on screen is fictional; the free-tier numbers are “at the time of writing”; if a Studio output is missing from your account on the day, it is shown as a slide and marked as such.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 note-taking application whose notes are plain Markdown files in a folder on your disk: no account, no cloud, no lock-in. Free for personal use; Sync and Publish are paid and not used. The vault is the fourth floor of the four-floor map. Talk row E7, one line: work scattered across four places has no connecting thread; the vault is the thread.</a:t>
            </a:r>
          </a:p>
          <a:p/>
          <a:p>
            <a:r>
              <a:t>Installation flag: Obsidian is a desktop application. On institutionally managed machines the installer may need administrator rights — you confirmed the week before whether participants can install it; if not, the portable build or a personal device for the hands-on block. Nothing in Obsidian requires an account.</a:t>
            </a:r>
          </a:p>
          <a:p/>
          <a:p>
            <a:r>
              <a:t>Live demo in Obsidian on your own machine runs through this segment; the demo-script slide at the end carries the six steps and timings.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of the five on the vault. Structure: one vault per participant, named after the Anchor Project, with four folders that are the four entity types, plus _templates/ holding one note template that Obsidian's core Templates plugin inserts into every new note.</a:t>
            </a:r>
          </a:p>
          <a:p/>
          <a:p>
            <a:r>
              <a:t>The source and status fields are the human gate from Segment 2 made visible: a note is draft until its text has been checked against the citation, then checked. Graph View and the plugins do not care; the participant does.</a:t>
            </a:r>
          </a:p>
          <a:p/>
          <a:p>
            <a:r>
              <a:t>Live: demo steps 1–2 run here — create the vault “Demo Anchor Project”, the four folders, the template; paste the Segment 2 briefing into processes/, fill the frontmatter, set status: draft; check one sentence against the notebook's citation, set checked.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Links: [[Note title]] creates one; typing [[ offers every note in the vault; a link to a note that does not exist yet creates it when clicked. Backlinks in the right-hand pane show every note pointing at the current one. Tags cut across the four folders.</a:t>
            </a:r>
          </a:p>
          <a:p/>
          <a:p>
            <a:r>
              <a:t>The one rule: a note with no links is a file, not knowledge. Every concept links to the process it appears in; every process to its concepts and to the guide that explains it; the project note to everything. Graph View only pays off if entities reference each other.</a:t>
            </a:r>
          </a:p>
          <a:p/>
          <a:p>
            <a:r>
              <a:t>Live: demo step 3 — create two concept notes from the same briefing, link them from the process note with [[ ]], show backlinks, add one tag.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Graph View: the whole vault as nodes and edges; filters by folder and tag; local graph for one note. Canvas: a freeform board where notes, cards and images are arranged spatially, for planning a proposal timeline or mapping stakeholders.</a:t>
            </a:r>
          </a:p>
          <a:p/>
          <a:p>
            <a:r>
              <a:t>Name clash with Gemini's Canvas from Lesson 2: Gemini Canvas is a drafting surface inside a chat, Obsidian Canvas is a whiteboard of your own notes.</a:t>
            </a:r>
          </a:p>
          <a:p/>
          <a:p>
            <a:r>
              <a:t>Live: demo step 4 — Graph View with the three nodes just made, then open the prepared vault of ~25 linked notes and show the same view with the folder filter.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for the two plugins, this slide and the next two. Enabling community plugins means switching off Obsidian's Restricted mode (Settings → Community plugins). Show the switch and the warning, and state the rule: only these two plugins, from the official community list, and read the plugin's data note before enabling.</a:t>
            </a:r>
          </a:p>
          <a:p/>
          <a:p>
            <a:r>
              <a:t>Read the table by column, not by row: Smart Connections builds embeddings with a local model that ships with the plugin — no API key, no account, nothing leaves the machine — and surfaces related notes while you write. Copilot for Obsidian indexes the vault locally, then sends the question and the relevant note chunks to the model you configure on your own free Gemini API key from Google AI Studio; Vault QA answers with the notes cited. Free core in both cases; the paid tiers (Smart Connections Pro and the separate Smart Chat plugin, Copilot Plus) are not used.</a:t>
            </a:r>
          </a:p>
          <a:p/>
          <a:p>
            <a:r>
              <a:t>Lane: Smart Connections is the only AI in the course that runs entirely on the device. Copilot for Obsidian is Daily Driver: the free API tier may use submitted content to improve Google's models; the vault holds anonymised or fictional Anchor Project content only, so this is acceptable, and nothing from the Lesson 2 “never” list is ever in the vault.</a:t>
            </a:r>
          </a:p>
          <a:p/>
          <a:p>
            <a:r>
              <a:t>Say the name clash once: not Microsoft Copilot. Unrelated project, unrelated data path, never the Sensitive Lane.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Smart Connections surfaces relationships while you write, silently, offline, which is what makes the linking discipline sustainable past thirty notes. Copilot for Obsidian answers questions over the whole vault the way NotebookLM answers over sources, so once the vault is the source of truth it can be queried like one. Together they close the loop the wiki was supposed to close: capture in the notebook, keep in the vault, query the vault.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read once; this slide comes back in the hands-on block as steps 6–8 of the checklist. Typical snags, said now so they are familiar later: the API key pasted with a trailing space; the refresh of the vault index not run, so Vault QA answers “no relevant notes”; Smart Connections still embedding on a slow machine (wait, it is a one-off).</a:t>
            </a:r>
          </a:p>
          <a:p/>
          <a:p>
            <a:r>
              <a:t>Preparation: both plugins installed fresh on a clean vault the day before, to catch settings changes, and the Google AI Studio key flow walked through once.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live demo steps in one place, ≈8 minutes of the 20, interleaved with the slides before this one (steps 1–2 on the vault slide, 3 on the links slide, 4 on the Graph View slide, 5–6 here). Two vaults: the “Demo Anchor Project” built live from the Segment 2 briefing, and the prepared vault of ~25 linked notes with Smart Connections embedded and Copilot for Obsidian configured.</a:t>
            </a:r>
          </a:p>
          <a:p/>
          <a:p>
            <a:r>
              <a:t>Step 6 is the one cloud call: Vault QA on the prepared vault — “Which deadlines apply to the periodic report, and which notes say so?” — read the cited notes, then ask a question the vault cannot answer and show the answer say so.</a:t>
            </a:r>
          </a:p>
          <a:p/>
          <a:p>
            <a:r>
              <a:t>Rule stated while demoing: the vault contains only anonymised or fictional content, so the Copilot for Obsidian call is a Daily Driver call; Smart Connections never calls anything.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min in all. Screen-share this slide; everyone builds the smallest working version of their KM System on their own Anchor Project. Participants post progress in the Teams chat as “✅ 1–4” so stragglers are visible; quick finishers help.</a:t>
            </a:r>
          </a:p>
          <a:p/>
          <a:p>
            <a:r>
              <a:t>Steps 1–5 are the minimum; anyone at step 5 by the 20-minute mark has a working system. Steps 6–8 (next slide) finish in the assignment or at Practice Week 2 if time runs out.</a:t>
            </a:r>
          </a:p>
          <a:p/>
          <a:p>
            <a:r>
              <a:t>Participants who bring no anonymised material use the facilitator's sample documents — prepared, fictional. Keep the Lesson 2 “what must never enter Gemini” list on the second monitor; the vault inherits it. Say the free-tier chat cap (50 a day) once: far above what the block needs, but nobody should burn questions on chit-chat.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6–8 follow Segment 3's setup order. Smart Connections' first embedding run is a one-off and can take a while on a slow machine — wait for it. Copilot for Obsidian needs the Gemini API key from Google AI Studio on the personal Google account and a refresh of the vault index before Vault QA answers anything.</a:t>
            </a:r>
          </a:p>
          <a:p/>
          <a:p>
            <a:r>
              <a:t>If time runs out these three finish in the assignment or at Practice Week 2; do not hold the room for them.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handy rather than on screen; the checklist is the one to share. The five symptoms are the plan's typical failure points, each with its fix; all five come up at Practice Week 2 too. Anyone without anonymised material uses the sample documents.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Read the six items as they stand; this slide text is pasted into the Teams chat after the session. Populate your Personal Vault from your Anchor Project, through your notebook, and put the vault's own AI to work.</a:t>
            </a:r>
          </a:p>
          <a:p/>
          <a:p>
            <a:r>
              <a:t>Outcome: Level 4 reached — the right specialised tool per step, chained, with the outputs kept somewhere they outlive the chat. Level 3 was the Lesson 2 assignment; today's recap map opened with that 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same discipline as the Lesson 2 blueprint: every step names its input and its output, and the lane it runs in. Read the Out column: each output is the next step's input, and step 5's output goes back into step 4 as links.</a:t>
            </a:r>
          </a:p>
          <a:p/>
          <a:p>
            <a:r>
              <a:t>Only step 1 is required in the strict sense, and only when your material contains sensitive data; every other step is the assignment itself. The gate that is not a step, from Lesson 2, applies: check every output before it becomes the next step's input, and log it.</a:t>
            </a:r>
          </a:p>
          <a:p/>
          <a:p>
            <a:r>
              <a:t>Colour: amber steps are cloud calls (Daily Driver), green steps stay on the machine, slate is no AI tool at all.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Expect 3–4 hours across the two weeks: the vault notes are the bulk, the plugin steps are minutes once installed. Done looks like a vault whose Graph View has no isolated nodes, nine or more checked notes with source lines, one added link you owe to Smart Connections, one cited Vault QA answer you have judged, and a log.</a:t>
            </a:r>
          </a:p>
          <a:p/>
          <a:p>
            <a:r>
              <a:t>Show the work at Practice Week 2's drop-in (W6) for troubleshooting, and at the next Teaching Session's debrief (W7): 2–3 volunteers walk through notebook → vault → Vault QA.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Practice Week 2 (W6): optional facilitated drop-in, no new material; bring installation problems, plugin setup, linking questions and free-tier surprises. Next Teaching Session (W7): builds on the vault as source of truth; the detailed plan follows the redesign of the remaining lessons and is announced in Teams before W6.</a:t>
            </a:r>
          </a:p>
          <a:p/>
          <a:p>
            <a:r>
              <a:t>After the session: paste the assignment slide text and the hands-on checklist into the Teams chat.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F1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7" name="Footer Rule"/>
          <p:cNvSpPr/>
          <p:nvPr/>
        </p:nvSpPr>
        <p:spPr>
          <a:xfrm>
            <a:off x="548640" y="6473952"/>
            <a:ext cx="11091672" cy="1524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Text"/>
          <p:cNvSpPr txBox="1"/>
          <p:nvPr/>
        </p:nvSpPr>
        <p:spPr>
          <a:xfrm>
            <a:off x="548640" y="6519672"/>
            <a:ext cx="11091672" cy="274320"/>
          </a:xfrm>
          <a:prstGeom prst="rect">
            <a:avLst/>
          </a:prstGeom>
          <a:noFill/>
        </p:spPr>
        <p:txBody>
          <a:bodyPr wrap="none" lIns="0" rIns="0" tIns="0" bIns="0">
            <a:spAutoFit/>
          </a:bodyPr>
          <a:lstStyle/>
          <a:p>
            <a:r>
              <a:rPr sz="1000" b="0" i="0">
                <a:solidFill>
                  <a:srgbClr val="6E7A88"/>
                </a:solidFill>
                <a:latin typeface="Arial"/>
              </a:rPr>
              <a:t>AI for Research Management · Lesson 3 · Week 4</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234440"/>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822960"/>
          <a:lstStyle/>
          <a:p>
            <a:pPr algn="ctr"/>
            <a:r>
              <a:rPr sz="1300" b="1" i="0">
                <a:solidFill>
                  <a:srgbClr val="FFFFFF"/>
                </a:solidFill>
                <a:latin typeface="Arial"/>
              </a:rPr>
              <a:t>AI FOR RESEARCH MANAGEMENT</a:t>
            </a:r>
          </a:p>
        </p:txBody>
      </p:sp>
      <p:sp>
        <p:nvSpPr>
          <p:cNvPr id="3" name="TextBox 2"/>
          <p:cNvSpPr txBox="1"/>
          <p:nvPr/>
        </p:nvSpPr>
        <p:spPr>
          <a:xfrm>
            <a:off x="822960" y="1828800"/>
            <a:ext cx="10515600" cy="2194560"/>
          </a:xfrm>
          <a:prstGeom prst="rect">
            <a:avLst/>
          </a:prstGeom>
          <a:noFill/>
        </p:spPr>
        <p:txBody>
          <a:bodyPr wrap="square" anchor="b">
            <a:spAutoFit/>
          </a:bodyPr>
          <a:lstStyle/>
          <a:p>
            <a:pPr algn="l"/>
            <a:r>
              <a:rPr sz="4000" b="1" i="0">
                <a:solidFill>
                  <a:srgbClr val="12213A"/>
                </a:solidFill>
                <a:latin typeface="Georgia"/>
              </a:rPr>
              <a:t>Lesson 3 — Knowledge Capture: NotebookLM and the Personal Vault</a:t>
            </a:r>
          </a:p>
        </p:txBody>
      </p:sp>
      <p:sp>
        <p:nvSpPr>
          <p:cNvPr id="4" name="Rectangle 3"/>
          <p:cNvSpPr/>
          <p:nvPr/>
        </p:nvSpPr>
        <p:spPr>
          <a:xfrm>
            <a:off x="822960" y="4160520"/>
            <a:ext cx="1463040" cy="381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0" y="4160520"/>
            <a:ext cx="1463040" cy="381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343400"/>
            <a:ext cx="10515600" cy="457200"/>
          </a:xfrm>
          <a:prstGeom prst="rect">
            <a:avLst/>
          </a:prstGeom>
          <a:noFill/>
        </p:spPr>
        <p:txBody>
          <a:bodyPr wrap="square">
            <a:spAutoFit/>
          </a:bodyPr>
          <a:lstStyle/>
          <a:p>
            <a:pPr algn="l"/>
            <a:r>
              <a:rPr sz="1600" b="0" i="0">
                <a:solidFill>
                  <a:srgbClr val="6E7A88"/>
                </a:solidFill>
                <a:latin typeface="Arial"/>
              </a:rPr>
              <a:t>Week 4 · Teaching Session · 90 minutes · Online via Teams</a:t>
            </a:r>
          </a:p>
        </p:txBody>
      </p:sp>
      <p:sp>
        <p:nvSpPr>
          <p:cNvPr id="7" name="Oval 6"/>
          <p:cNvSpPr/>
          <p:nvPr/>
        </p:nvSpPr>
        <p:spPr>
          <a:xfrm>
            <a:off x="822960" y="5257800"/>
            <a:ext cx="182880" cy="182880"/>
          </a:xfrm>
          <a:prstGeom prst="ellipse">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5148072"/>
            <a:ext cx="4937760" cy="365760"/>
          </a:xfrm>
          <a:prstGeom prst="rect">
            <a:avLst/>
          </a:prstGeom>
          <a:noFill/>
        </p:spPr>
        <p:txBody>
          <a:bodyPr wrap="square">
            <a:spAutoFit/>
          </a:bodyPr>
          <a:lstStyle/>
          <a:p>
            <a:pPr algn="l"/>
            <a:r>
              <a:rPr sz="1200" b="0" i="0">
                <a:solidFill>
                  <a:srgbClr val="26313F"/>
                </a:solidFill>
                <a:latin typeface="Arial"/>
              </a:rPr>
              <a:t>Daily Driver · Cloud model</a:t>
            </a:r>
          </a:p>
        </p:txBody>
      </p:sp>
      <p:sp>
        <p:nvSpPr>
          <p:cNvPr id="9" name="Oval 8"/>
          <p:cNvSpPr/>
          <p:nvPr/>
        </p:nvSpPr>
        <p:spPr>
          <a:xfrm>
            <a:off x="6126480" y="5257800"/>
            <a:ext cx="182880" cy="182880"/>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5148072"/>
            <a:ext cx="4937760" cy="365760"/>
          </a:xfrm>
          <a:prstGeom prst="rect">
            <a:avLst/>
          </a:prstGeom>
          <a:noFill/>
        </p:spPr>
        <p:txBody>
          <a:bodyPr wrap="square">
            <a:spAutoFit/>
          </a:bodyPr>
          <a:lstStyle/>
          <a:p>
            <a:pPr algn="l"/>
            <a:r>
              <a:rPr sz="1200" b="0" i="0">
                <a:solidFill>
                  <a:srgbClr val="26313F"/>
                </a:solidFill>
                <a:latin typeface="Arial"/>
              </a:rPr>
              <a:t>Local · Nothing leaves the machine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234440"/>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822960"/>
          <a:lstStyle/>
          <a:p>
            <a:pPr algn="ctr"/>
            <a:r>
              <a:rPr sz="1300" b="1" i="0">
                <a:solidFill>
                  <a:srgbClr val="FFFFFF"/>
                </a:solidFill>
                <a:latin typeface="Arial"/>
              </a:rPr>
              <a:t>SEGMENT 1 OF 5</a:t>
            </a:r>
          </a:p>
        </p:txBody>
      </p:sp>
      <p:sp>
        <p:nvSpPr>
          <p:cNvPr id="3" name="Oval 2"/>
          <p:cNvSpPr/>
          <p:nvPr/>
        </p:nvSpPr>
        <p:spPr>
          <a:xfrm>
            <a:off x="822960" y="1920240"/>
            <a:ext cx="2194560" cy="2194560"/>
          </a:xfrm>
          <a:prstGeom prst="ellipse">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800" b="1" i="0">
                <a:solidFill>
                  <a:srgbClr val="FFFFFF"/>
                </a:solidFill>
                <a:latin typeface="Georgia"/>
              </a:rPr>
              <a:t>1</a:t>
            </a:r>
          </a:p>
        </p:txBody>
      </p:sp>
      <p:sp>
        <p:nvSpPr>
          <p:cNvPr id="4" name="TextBox 3"/>
          <p:cNvSpPr txBox="1"/>
          <p:nvPr/>
        </p:nvSpPr>
        <p:spPr>
          <a:xfrm>
            <a:off x="3566160" y="1828800"/>
            <a:ext cx="8046720" cy="1554480"/>
          </a:xfrm>
          <a:prstGeom prst="rect">
            <a:avLst/>
          </a:prstGeom>
          <a:noFill/>
        </p:spPr>
        <p:txBody>
          <a:bodyPr wrap="square" anchor="b">
            <a:spAutoFit/>
          </a:bodyPr>
          <a:lstStyle/>
          <a:p>
            <a:pPr algn="l"/>
            <a:r>
              <a:rPr sz="3200" b="1" i="0">
                <a:solidFill>
                  <a:srgbClr val="12213A"/>
                </a:solidFill>
                <a:latin typeface="Georgia"/>
              </a:rPr>
              <a:t>Recap + assignment debrief</a:t>
            </a:r>
          </a:p>
        </p:txBody>
      </p:sp>
      <p:sp>
        <p:nvSpPr>
          <p:cNvPr id="5" name="Rectangle 4"/>
          <p:cNvSpPr/>
          <p:nvPr/>
        </p:nvSpPr>
        <p:spPr>
          <a:xfrm>
            <a:off x="3566160" y="3520440"/>
            <a:ext cx="1097280" cy="381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3657600"/>
            <a:ext cx="8046720" cy="457200"/>
          </a:xfrm>
          <a:prstGeom prst="rect">
            <a:avLst/>
          </a:prstGeom>
          <a:noFill/>
        </p:spPr>
        <p:txBody>
          <a:bodyPr wrap="square">
            <a:spAutoFit/>
          </a:bodyPr>
          <a:lstStyle/>
          <a:p>
            <a:pPr algn="l"/>
            <a:r>
              <a:rPr sz="1800" b="1" i="0">
                <a:solidFill>
                  <a:srgbClr val="4A5A6E"/>
                </a:solidFill>
                <a:latin typeface="Arial"/>
              </a:rPr>
              <a:t>15 min · Participant demos, facilitated</a:t>
            </a:r>
          </a:p>
        </p:txBody>
      </p:sp>
      <p:sp>
        <p:nvSpPr>
          <p:cNvPr id="7" name="TextBox 6"/>
          <p:cNvSpPr txBox="1"/>
          <p:nvPr/>
        </p:nvSpPr>
        <p:spPr>
          <a:xfrm>
            <a:off x="3566160" y="4114800"/>
            <a:ext cx="8046720" cy="365760"/>
          </a:xfrm>
          <a:prstGeom prst="rect">
            <a:avLst/>
          </a:prstGeom>
          <a:noFill/>
        </p:spPr>
        <p:txBody>
          <a:bodyPr wrap="square">
            <a:spAutoFit/>
          </a:bodyPr>
          <a:lstStyle/>
          <a:p>
            <a:pPr algn="l"/>
            <a:r>
              <a:rPr sz="1200" b="0" i="0">
                <a:solidFill>
                  <a:srgbClr val="6E7A88"/>
                </a:solidFill>
                <a:latin typeface="Arial"/>
              </a:rPr>
              <a:t>Segment 1 of 5</a:t>
            </a:r>
          </a:p>
        </p:txBody>
      </p:sp>
      <p:sp>
        <p:nvSpPr>
          <p:cNvPr id="8" name="Rectangle 7"/>
          <p:cNvSpPr/>
          <p:nvPr/>
        </p:nvSpPr>
        <p:spPr>
          <a:xfrm>
            <a:off x="3566160" y="5989320"/>
            <a:ext cx="502920" cy="73152"/>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519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377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235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9144"/>
            <a:ext cx="10817352" cy="640080"/>
          </a:xfrm>
          <a:prstGeom prst="rect">
            <a:avLst/>
          </a:prstGeom>
          <a:noFill/>
        </p:spPr>
        <p:txBody>
          <a:bodyPr wrap="square" anchor="b">
            <a:spAutoFit/>
          </a:bodyPr>
          <a:lstStyle/>
          <a:p>
            <a:pPr algn="l"/>
            <a:r>
              <a:rPr sz="2700" b="1" i="0">
                <a:solidFill>
                  <a:srgbClr val="12213A"/>
                </a:solidFill>
                <a:latin typeface="Georgia"/>
              </a:rPr>
              <a:t>Lessons 1–2 → Lesson 3: the recap map</a:t>
            </a:r>
          </a:p>
        </p:txBody>
      </p:sp>
      <p:sp>
        <p:nvSpPr>
          <p:cNvPr id="3" name="Rectangle 2"/>
          <p:cNvSpPr/>
          <p:nvPr/>
        </p:nvSpPr>
        <p:spPr>
          <a:xfrm>
            <a:off x="548640" y="54864"/>
            <a:ext cx="109728" cy="5943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731520"/>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04672"/>
            <a:ext cx="3977639" cy="365760"/>
          </a:xfrm>
          <a:prstGeom prst="rect">
            <a:avLst/>
          </a:prstGeom>
          <a:noFill/>
        </p:spPr>
        <p:txBody>
          <a:bodyPr wrap="square">
            <a:spAutoFit/>
          </a:bodyPr>
          <a:lstStyle/>
          <a:p>
            <a:pPr algn="l"/>
            <a:r>
              <a:rPr sz="1000" b="0" i="0">
                <a:solidFill>
                  <a:srgbClr val="6E7A88"/>
                </a:solidFill>
                <a:latin typeface="Arial"/>
              </a:rPr>
              <a:t>FROM LESSONS 1 AND 2</a:t>
            </a:r>
          </a:p>
        </p:txBody>
      </p:sp>
      <p:sp>
        <p:nvSpPr>
          <p:cNvPr id="6" name="TextBox 5"/>
          <p:cNvSpPr txBox="1"/>
          <p:nvPr/>
        </p:nvSpPr>
        <p:spPr>
          <a:xfrm>
            <a:off x="4937760" y="804672"/>
            <a:ext cx="6702552" cy="365760"/>
          </a:xfrm>
          <a:prstGeom prst="rect">
            <a:avLst/>
          </a:prstGeom>
          <a:noFill/>
        </p:spPr>
        <p:txBody>
          <a:bodyPr wrap="square">
            <a:spAutoFit/>
          </a:bodyPr>
          <a:lstStyle/>
          <a:p>
            <a:pPr algn="l"/>
            <a:r>
              <a:rPr sz="1000" b="0" i="0">
                <a:solidFill>
                  <a:srgbClr val="6E7A88"/>
                </a:solidFill>
                <a:latin typeface="Arial"/>
              </a:rPr>
              <a:t>LEADS INTO TODAY</a:t>
            </a:r>
          </a:p>
        </p:txBody>
      </p:sp>
      <p:sp>
        <p:nvSpPr>
          <p:cNvPr id="7" name="Rectangle 6"/>
          <p:cNvSpPr/>
          <p:nvPr/>
        </p:nvSpPr>
        <p:spPr>
          <a:xfrm>
            <a:off x="548640" y="1115568"/>
            <a:ext cx="3977639"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1" i="0">
                <a:solidFill>
                  <a:srgbClr val="12213A"/>
                </a:solidFill>
                <a:latin typeface="Arial"/>
              </a:rPr>
              <a:t>The 7 Levels — Level 3 (Power User) reached, Level 4 (Tool Orchestrator) founded (Lesson 2 assignment)</a:t>
            </a:r>
          </a:p>
        </p:txBody>
      </p:sp>
      <p:sp>
        <p:nvSpPr>
          <p:cNvPr id="8" name="Rectangle 7"/>
          <p:cNvSpPr/>
          <p:nvPr/>
        </p:nvSpPr>
        <p:spPr>
          <a:xfrm>
            <a:off x="548640" y="1115568"/>
            <a:ext cx="82296" cy="402336"/>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143000"/>
            <a:ext cx="274320" cy="365760"/>
          </a:xfrm>
          <a:prstGeom prst="rect">
            <a:avLst/>
          </a:prstGeom>
          <a:noFill/>
        </p:spPr>
        <p:txBody>
          <a:bodyPr wrap="square">
            <a:spAutoFit/>
          </a:bodyPr>
          <a:lstStyle/>
          <a:p>
            <a:pPr algn="ctr"/>
            <a:r>
              <a:rPr sz="1300" b="0" i="0">
                <a:solidFill>
                  <a:srgbClr val="6E7A88"/>
                </a:solidFill>
                <a:latin typeface="Arial"/>
              </a:rPr>
              <a:t>→</a:t>
            </a:r>
          </a:p>
        </p:txBody>
      </p:sp>
      <p:sp>
        <p:nvSpPr>
          <p:cNvPr id="10" name="Rectangle 9"/>
          <p:cNvSpPr/>
          <p:nvPr/>
        </p:nvSpPr>
        <p:spPr>
          <a:xfrm>
            <a:off x="4937760" y="1115568"/>
            <a:ext cx="6702552"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Level 4 is today's target: the right specialised tool per step, NotebookLM for documents, Obsidian for the notes that outlive the chat</a:t>
            </a:r>
            <a:r>
              <a:rPr sz="950" b="1" i="0">
                <a:solidFill>
                  <a:srgbClr val="4A5A6E"/>
                </a:solidFill>
                <a:latin typeface="Arial"/>
              </a:rPr>
              <a:t>  ·  Segments 2–3 · assignment</a:t>
            </a:r>
          </a:p>
        </p:txBody>
      </p:sp>
      <p:sp>
        <p:nvSpPr>
          <p:cNvPr id="11" name="Rectangle 10"/>
          <p:cNvSpPr/>
          <p:nvPr/>
        </p:nvSpPr>
        <p:spPr>
          <a:xfrm>
            <a:off x="4937760" y="1115568"/>
            <a:ext cx="82296" cy="402336"/>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559052"/>
            <a:ext cx="3977639"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1" i="0">
                <a:solidFill>
                  <a:srgbClr val="12213A"/>
                </a:solidFill>
                <a:latin typeface="Arial"/>
              </a:rPr>
              <a:t>The KM System teaser (Lesson 1): wiki → agent → Obsidian</a:t>
            </a:r>
          </a:p>
        </p:txBody>
      </p:sp>
      <p:sp>
        <p:nvSpPr>
          <p:cNvPr id="13" name="Rectangle 12"/>
          <p:cNvSpPr/>
          <p:nvPr/>
        </p:nvSpPr>
        <p:spPr>
          <a:xfrm>
            <a:off x="548640" y="1559052"/>
            <a:ext cx="82296" cy="402336"/>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586484"/>
            <a:ext cx="274320" cy="365760"/>
          </a:xfrm>
          <a:prstGeom prst="rect">
            <a:avLst/>
          </a:prstGeom>
          <a:noFill/>
        </p:spPr>
        <p:txBody>
          <a:bodyPr wrap="square">
            <a:spAutoFit/>
          </a:bodyPr>
          <a:lstStyle/>
          <a:p>
            <a:pPr algn="ctr"/>
            <a:r>
              <a:rPr sz="1300" b="0" i="0">
                <a:solidFill>
                  <a:srgbClr val="6E7A88"/>
                </a:solidFill>
                <a:latin typeface="Arial"/>
              </a:rPr>
              <a:t>→</a:t>
            </a:r>
          </a:p>
        </p:txBody>
      </p:sp>
      <p:sp>
        <p:nvSpPr>
          <p:cNvPr id="15" name="Rectangle 14"/>
          <p:cNvSpPr/>
          <p:nvPr/>
        </p:nvSpPr>
        <p:spPr>
          <a:xfrm>
            <a:off x="4937760" y="1559052"/>
            <a:ext cx="6702552"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Redrawn today without the wiki: notebook → vault, the vault as single source of truth</a:t>
            </a:r>
            <a:r>
              <a:rPr sz="950" b="1" i="0">
                <a:solidFill>
                  <a:srgbClr val="4A5A6E"/>
                </a:solidFill>
                <a:latin typeface="Arial"/>
              </a:rPr>
              <a:t>  ·  Segment 2</a:t>
            </a:r>
          </a:p>
        </p:txBody>
      </p:sp>
      <p:sp>
        <p:nvSpPr>
          <p:cNvPr id="16" name="Rectangle 15"/>
          <p:cNvSpPr/>
          <p:nvPr/>
        </p:nvSpPr>
        <p:spPr>
          <a:xfrm>
            <a:off x="4937760" y="1559052"/>
            <a:ext cx="82296" cy="402336"/>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002536"/>
            <a:ext cx="3977639"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1" i="0">
                <a:solidFill>
                  <a:srgbClr val="12213A"/>
                </a:solidFill>
                <a:latin typeface="Arial"/>
              </a:rPr>
              <a:t>“More context is not better context”; lost in the middle (Lesson 1)</a:t>
            </a:r>
          </a:p>
        </p:txBody>
      </p:sp>
      <p:sp>
        <p:nvSpPr>
          <p:cNvPr id="18" name="Rectangle 17"/>
          <p:cNvSpPr/>
          <p:nvPr/>
        </p:nvSpPr>
        <p:spPr>
          <a:xfrm>
            <a:off x="548640" y="2002536"/>
            <a:ext cx="82296" cy="402336"/>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2029967"/>
            <a:ext cx="274320" cy="365760"/>
          </a:xfrm>
          <a:prstGeom prst="rect">
            <a:avLst/>
          </a:prstGeom>
          <a:noFill/>
        </p:spPr>
        <p:txBody>
          <a:bodyPr wrap="square">
            <a:spAutoFit/>
          </a:bodyPr>
          <a:lstStyle/>
          <a:p>
            <a:pPr algn="ctr"/>
            <a:r>
              <a:rPr sz="1300" b="0" i="0">
                <a:solidFill>
                  <a:srgbClr val="6E7A88"/>
                </a:solidFill>
                <a:latin typeface="Arial"/>
              </a:rPr>
              <a:t>→</a:t>
            </a:r>
          </a:p>
        </p:txBody>
      </p:sp>
      <p:sp>
        <p:nvSpPr>
          <p:cNvPr id="20" name="Rectangle 19"/>
          <p:cNvSpPr/>
          <p:nvPr/>
        </p:nvSpPr>
        <p:spPr>
          <a:xfrm>
            <a:off x="4937760" y="2002536"/>
            <a:ext cx="6702552"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Why a source-grounded notebook beats a document dump, and why answers carry citations</a:t>
            </a:r>
            <a:r>
              <a:rPr sz="950" b="1" i="0">
                <a:solidFill>
                  <a:srgbClr val="4A5A6E"/>
                </a:solidFill>
                <a:latin typeface="Arial"/>
              </a:rPr>
              <a:t>  ·  Segment 2</a:t>
            </a:r>
          </a:p>
        </p:txBody>
      </p:sp>
      <p:sp>
        <p:nvSpPr>
          <p:cNvPr id="21" name="Rectangle 20"/>
          <p:cNvSpPr/>
          <p:nvPr/>
        </p:nvSpPr>
        <p:spPr>
          <a:xfrm>
            <a:off x="4937760" y="2002536"/>
            <a:ext cx="82296" cy="402336"/>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2446020"/>
            <a:ext cx="3977639"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1" i="0">
                <a:solidFill>
                  <a:srgbClr val="12213A"/>
                </a:solidFill>
                <a:latin typeface="Arial"/>
              </a:rPr>
              <a:t>Hallucination; “verify anything you would sign your name to” (Lesson 1)</a:t>
            </a:r>
          </a:p>
        </p:txBody>
      </p:sp>
      <p:sp>
        <p:nvSpPr>
          <p:cNvPr id="23" name="Rectangle 22"/>
          <p:cNvSpPr/>
          <p:nvPr/>
        </p:nvSpPr>
        <p:spPr>
          <a:xfrm>
            <a:off x="548640" y="2446020"/>
            <a:ext cx="82296" cy="402336"/>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17720" y="2473451"/>
            <a:ext cx="274320" cy="365760"/>
          </a:xfrm>
          <a:prstGeom prst="rect">
            <a:avLst/>
          </a:prstGeom>
          <a:noFill/>
        </p:spPr>
        <p:txBody>
          <a:bodyPr wrap="square">
            <a:spAutoFit/>
          </a:bodyPr>
          <a:lstStyle/>
          <a:p>
            <a:pPr algn="ctr"/>
            <a:r>
              <a:rPr sz="1300" b="0" i="0">
                <a:solidFill>
                  <a:srgbClr val="6E7A88"/>
                </a:solidFill>
                <a:latin typeface="Arial"/>
              </a:rPr>
              <a:t>→</a:t>
            </a:r>
          </a:p>
        </p:txBody>
      </p:sp>
      <p:sp>
        <p:nvSpPr>
          <p:cNvPr id="25" name="Rectangle 24"/>
          <p:cNvSpPr/>
          <p:nvPr/>
        </p:nvSpPr>
        <p:spPr>
          <a:xfrm>
            <a:off x="4937760" y="2446020"/>
            <a:ext cx="6702552"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NotebookLM's citations: the verification step built into the tool; nothing enters the vault without a source line</a:t>
            </a:r>
            <a:r>
              <a:rPr sz="950" b="1" i="0">
                <a:solidFill>
                  <a:srgbClr val="4A5A6E"/>
                </a:solidFill>
                <a:latin typeface="Arial"/>
              </a:rPr>
              <a:t>  ·  Segments 2 · 3 · 5</a:t>
            </a:r>
          </a:p>
        </p:txBody>
      </p:sp>
      <p:sp>
        <p:nvSpPr>
          <p:cNvPr id="26" name="Rectangle 25"/>
          <p:cNvSpPr/>
          <p:nvPr/>
        </p:nvSpPr>
        <p:spPr>
          <a:xfrm>
            <a:off x="4937760" y="2446020"/>
            <a:ext cx="82296" cy="402336"/>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2889503"/>
            <a:ext cx="3977639"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1" i="0">
                <a:solidFill>
                  <a:srgbClr val="12213A"/>
                </a:solidFill>
                <a:latin typeface="Arial"/>
              </a:rPr>
              <a:t>The two-lane rule; anonymise-before-upload (Lesson 2)</a:t>
            </a:r>
          </a:p>
        </p:txBody>
      </p:sp>
      <p:sp>
        <p:nvSpPr>
          <p:cNvPr id="28" name="Rectangle 27"/>
          <p:cNvSpPr/>
          <p:nvPr/>
        </p:nvSpPr>
        <p:spPr>
          <a:xfrm>
            <a:off x="548640" y="2889503"/>
            <a:ext cx="82296" cy="402336"/>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17720" y="2916935"/>
            <a:ext cx="274320" cy="365760"/>
          </a:xfrm>
          <a:prstGeom prst="rect">
            <a:avLst/>
          </a:prstGeom>
          <a:noFill/>
        </p:spPr>
        <p:txBody>
          <a:bodyPr wrap="square">
            <a:spAutoFit/>
          </a:bodyPr>
          <a:lstStyle/>
          <a:p>
            <a:pPr algn="ctr"/>
            <a:r>
              <a:rPr sz="1300" b="0" i="0">
                <a:solidFill>
                  <a:srgbClr val="6E7A88"/>
                </a:solidFill>
                <a:latin typeface="Arial"/>
              </a:rPr>
              <a:t>→</a:t>
            </a:r>
          </a:p>
        </p:txBody>
      </p:sp>
      <p:sp>
        <p:nvSpPr>
          <p:cNvPr id="30" name="Rectangle 29"/>
          <p:cNvSpPr/>
          <p:nvPr/>
        </p:nvSpPr>
        <p:spPr>
          <a:xfrm>
            <a:off x="4937760" y="2889503"/>
            <a:ext cx="6702552"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Both new tools that call a cloud model (NotebookLM, the Copilot for Obsidian plugin) run as Daily Driver: anonymised or fictional Anchor Project content only</a:t>
            </a:r>
            <a:r>
              <a:rPr sz="950" b="1" i="0">
                <a:solidFill>
                  <a:srgbClr val="4A5A6E"/>
                </a:solidFill>
                <a:latin typeface="Arial"/>
              </a:rPr>
              <a:t>  ·  Segments 2–3</a:t>
            </a:r>
          </a:p>
        </p:txBody>
      </p:sp>
      <p:sp>
        <p:nvSpPr>
          <p:cNvPr id="31" name="Rectangle 30"/>
          <p:cNvSpPr/>
          <p:nvPr/>
        </p:nvSpPr>
        <p:spPr>
          <a:xfrm>
            <a:off x="4937760" y="2889503"/>
            <a:ext cx="82296" cy="402336"/>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3332987"/>
            <a:ext cx="3977639"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1" i="0">
                <a:solidFill>
                  <a:srgbClr val="12213A"/>
                </a:solidFill>
                <a:latin typeface="Arial"/>
              </a:rPr>
              <a:t>Gems — persistent context, workspaces that already know your domain (Lesson 2)</a:t>
            </a:r>
          </a:p>
        </p:txBody>
      </p:sp>
      <p:sp>
        <p:nvSpPr>
          <p:cNvPr id="33" name="Rectangle 32"/>
          <p:cNvSpPr/>
          <p:nvPr/>
        </p:nvSpPr>
        <p:spPr>
          <a:xfrm>
            <a:off x="548640" y="3332987"/>
            <a:ext cx="82296" cy="402336"/>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17720" y="3360419"/>
            <a:ext cx="274320" cy="365760"/>
          </a:xfrm>
          <a:prstGeom prst="rect">
            <a:avLst/>
          </a:prstGeom>
          <a:noFill/>
        </p:spPr>
        <p:txBody>
          <a:bodyPr wrap="square">
            <a:spAutoFit/>
          </a:bodyPr>
          <a:lstStyle/>
          <a:p>
            <a:pPr algn="ctr"/>
            <a:r>
              <a:rPr sz="1300" b="0" i="0">
                <a:solidFill>
                  <a:srgbClr val="6E7A88"/>
                </a:solidFill>
                <a:latin typeface="Arial"/>
              </a:rPr>
              <a:t>→</a:t>
            </a:r>
          </a:p>
        </p:txBody>
      </p:sp>
      <p:sp>
        <p:nvSpPr>
          <p:cNvPr id="35" name="Rectangle 34"/>
          <p:cNvSpPr/>
          <p:nvPr/>
        </p:nvSpPr>
        <p:spPr>
          <a:xfrm>
            <a:off x="4937760" y="3332987"/>
            <a:ext cx="6702552"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Notebooks as the evidence counterpart: a Gem organises behaviour, a notebook organises sources; a notebook can feed a Gem</a:t>
            </a:r>
            <a:r>
              <a:rPr sz="950" b="1" i="0">
                <a:solidFill>
                  <a:srgbClr val="4A5A6E"/>
                </a:solidFill>
                <a:latin typeface="Arial"/>
              </a:rPr>
              <a:t>  ·  Segment 2</a:t>
            </a:r>
          </a:p>
        </p:txBody>
      </p:sp>
      <p:sp>
        <p:nvSpPr>
          <p:cNvPr id="36" name="Rectangle 35"/>
          <p:cNvSpPr/>
          <p:nvPr/>
        </p:nvSpPr>
        <p:spPr>
          <a:xfrm>
            <a:off x="4937760" y="3332987"/>
            <a:ext cx="82296" cy="402336"/>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3776472"/>
            <a:ext cx="3977639"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1" i="0">
                <a:solidFill>
                  <a:srgbClr val="12213A"/>
                </a:solidFill>
                <a:latin typeface="Arial"/>
              </a:rPr>
              <a:t>Deep Research in Gemini (Lesson 2)</a:t>
            </a:r>
          </a:p>
        </p:txBody>
      </p:sp>
      <p:sp>
        <p:nvSpPr>
          <p:cNvPr id="38" name="Rectangle 37"/>
          <p:cNvSpPr/>
          <p:nvPr/>
        </p:nvSpPr>
        <p:spPr>
          <a:xfrm>
            <a:off x="548640" y="3776472"/>
            <a:ext cx="82296" cy="402336"/>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17720" y="3803904"/>
            <a:ext cx="274320" cy="365760"/>
          </a:xfrm>
          <a:prstGeom prst="rect">
            <a:avLst/>
          </a:prstGeom>
          <a:noFill/>
        </p:spPr>
        <p:txBody>
          <a:bodyPr wrap="square">
            <a:spAutoFit/>
          </a:bodyPr>
          <a:lstStyle/>
          <a:p>
            <a:pPr algn="ctr"/>
            <a:r>
              <a:rPr sz="1300" b="0" i="0">
                <a:solidFill>
                  <a:srgbClr val="6E7A88"/>
                </a:solidFill>
                <a:latin typeface="Arial"/>
              </a:rPr>
              <a:t>→</a:t>
            </a:r>
          </a:p>
        </p:txBody>
      </p:sp>
      <p:sp>
        <p:nvSpPr>
          <p:cNvPr id="40" name="Rectangle 39"/>
          <p:cNvSpPr/>
          <p:nvPr/>
        </p:nvSpPr>
        <p:spPr>
          <a:xfrm>
            <a:off x="4937760" y="3776472"/>
            <a:ext cx="6702552"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Deep Research inside a notebook writes its findings straight into the sources; Perplexity as the cited-search alternative, in passing</a:t>
            </a:r>
            <a:r>
              <a:rPr sz="950" b="1" i="0">
                <a:solidFill>
                  <a:srgbClr val="4A5A6E"/>
                </a:solidFill>
                <a:latin typeface="Arial"/>
              </a:rPr>
              <a:t>  ·  Segment 2</a:t>
            </a:r>
          </a:p>
        </p:txBody>
      </p:sp>
      <p:sp>
        <p:nvSpPr>
          <p:cNvPr id="41" name="Rectangle 40"/>
          <p:cNvSpPr/>
          <p:nvPr/>
        </p:nvSpPr>
        <p:spPr>
          <a:xfrm>
            <a:off x="4937760" y="3776472"/>
            <a:ext cx="82296" cy="402336"/>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4219956"/>
            <a:ext cx="3977639"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1" i="0">
                <a:solidFill>
                  <a:srgbClr val="12213A"/>
                </a:solidFill>
                <a:latin typeface="Arial"/>
              </a:rPr>
              <a:t>Gemini Canvas (Lesson 2)</a:t>
            </a:r>
          </a:p>
        </p:txBody>
      </p:sp>
      <p:sp>
        <p:nvSpPr>
          <p:cNvPr id="43" name="Rectangle 42"/>
          <p:cNvSpPr/>
          <p:nvPr/>
        </p:nvSpPr>
        <p:spPr>
          <a:xfrm>
            <a:off x="548640" y="4219956"/>
            <a:ext cx="82296" cy="402336"/>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17720" y="4247388"/>
            <a:ext cx="274320" cy="365760"/>
          </a:xfrm>
          <a:prstGeom prst="rect">
            <a:avLst/>
          </a:prstGeom>
          <a:noFill/>
        </p:spPr>
        <p:txBody>
          <a:bodyPr wrap="square">
            <a:spAutoFit/>
          </a:bodyPr>
          <a:lstStyle/>
          <a:p>
            <a:pPr algn="ctr"/>
            <a:r>
              <a:rPr sz="1300" b="0" i="0">
                <a:solidFill>
                  <a:srgbClr val="6E7A88"/>
                </a:solidFill>
                <a:latin typeface="Arial"/>
              </a:rPr>
              <a:t>→</a:t>
            </a:r>
          </a:p>
        </p:txBody>
      </p:sp>
      <p:sp>
        <p:nvSpPr>
          <p:cNvPr id="45" name="Rectangle 44"/>
          <p:cNvSpPr/>
          <p:nvPr/>
        </p:nvSpPr>
        <p:spPr>
          <a:xfrm>
            <a:off x="4937760" y="4219956"/>
            <a:ext cx="6702552"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A name clash: Obsidian also has a Canvas, a different thing entirely</a:t>
            </a:r>
            <a:r>
              <a:rPr sz="950" b="1" i="0">
                <a:solidFill>
                  <a:srgbClr val="4A5A6E"/>
                </a:solidFill>
                <a:latin typeface="Arial"/>
              </a:rPr>
              <a:t>  ·  Segment 3</a:t>
            </a:r>
          </a:p>
        </p:txBody>
      </p:sp>
      <p:sp>
        <p:nvSpPr>
          <p:cNvPr id="46" name="Rectangle 45"/>
          <p:cNvSpPr/>
          <p:nvPr/>
        </p:nvSpPr>
        <p:spPr>
          <a:xfrm>
            <a:off x="4937760" y="4219956"/>
            <a:ext cx="82296" cy="402336"/>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663440"/>
            <a:ext cx="3977639"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1" i="0">
                <a:solidFill>
                  <a:srgbClr val="12213A"/>
                </a:solidFill>
                <a:latin typeface="Arial"/>
              </a:rPr>
              <a:t>Microsoft Copilot Chat (Basic) (Lesson 2)</a:t>
            </a:r>
          </a:p>
        </p:txBody>
      </p:sp>
      <p:sp>
        <p:nvSpPr>
          <p:cNvPr id="48" name="Rectangle 47"/>
          <p:cNvSpPr/>
          <p:nvPr/>
        </p:nvSpPr>
        <p:spPr>
          <a:xfrm>
            <a:off x="548640" y="4663440"/>
            <a:ext cx="82296" cy="402336"/>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17720" y="4690872"/>
            <a:ext cx="274320" cy="365760"/>
          </a:xfrm>
          <a:prstGeom prst="rect">
            <a:avLst/>
          </a:prstGeom>
          <a:noFill/>
        </p:spPr>
        <p:txBody>
          <a:bodyPr wrap="square">
            <a:spAutoFit/>
          </a:bodyPr>
          <a:lstStyle/>
          <a:p>
            <a:pPr algn="ctr"/>
            <a:r>
              <a:rPr sz="1300" b="0" i="0">
                <a:solidFill>
                  <a:srgbClr val="6E7A88"/>
                </a:solidFill>
                <a:latin typeface="Arial"/>
              </a:rPr>
              <a:t>→</a:t>
            </a:r>
          </a:p>
        </p:txBody>
      </p:sp>
      <p:sp>
        <p:nvSpPr>
          <p:cNvPr id="50" name="Rectangle 49"/>
          <p:cNvSpPr/>
          <p:nvPr/>
        </p:nvSpPr>
        <p:spPr>
          <a:xfrm>
            <a:off x="4937760" y="4663440"/>
            <a:ext cx="6702552"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A second name clash: “Copilot for Obsidian”, an unrelated community plugin, sits in the Daily Driver, never in the Sensitive Lane</a:t>
            </a:r>
            <a:r>
              <a:rPr sz="950" b="1" i="0">
                <a:solidFill>
                  <a:srgbClr val="4A5A6E"/>
                </a:solidFill>
                <a:latin typeface="Arial"/>
              </a:rPr>
              <a:t>  ·  Segment 3</a:t>
            </a:r>
          </a:p>
        </p:txBody>
      </p:sp>
      <p:sp>
        <p:nvSpPr>
          <p:cNvPr id="51" name="Rectangle 50"/>
          <p:cNvSpPr/>
          <p:nvPr/>
        </p:nvSpPr>
        <p:spPr>
          <a:xfrm>
            <a:off x="4937760" y="4663440"/>
            <a:ext cx="82296" cy="402336"/>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48640" y="5106924"/>
            <a:ext cx="3977639"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1" i="0">
                <a:solidFill>
                  <a:srgbClr val="12213A"/>
                </a:solidFill>
                <a:latin typeface="Arial"/>
              </a:rPr>
              <a:t>The NotebookLM preview: three scenarios (Lesson 2 Segment 4)</a:t>
            </a:r>
          </a:p>
        </p:txBody>
      </p:sp>
      <p:sp>
        <p:nvSpPr>
          <p:cNvPr id="53" name="Rectangle 52"/>
          <p:cNvSpPr/>
          <p:nvPr/>
        </p:nvSpPr>
        <p:spPr>
          <a:xfrm>
            <a:off x="548640" y="5106924"/>
            <a:ext cx="82296" cy="402336"/>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17720" y="5134356"/>
            <a:ext cx="274320" cy="365760"/>
          </a:xfrm>
          <a:prstGeom prst="rect">
            <a:avLst/>
          </a:prstGeom>
          <a:noFill/>
        </p:spPr>
        <p:txBody>
          <a:bodyPr wrap="square">
            <a:spAutoFit/>
          </a:bodyPr>
          <a:lstStyle/>
          <a:p>
            <a:pPr algn="ctr"/>
            <a:r>
              <a:rPr sz="1300" b="0" i="0">
                <a:solidFill>
                  <a:srgbClr val="6E7A88"/>
                </a:solidFill>
                <a:latin typeface="Arial"/>
              </a:rPr>
              <a:t>→</a:t>
            </a:r>
          </a:p>
        </p:txBody>
      </p:sp>
      <p:sp>
        <p:nvSpPr>
          <p:cNvPr id="55" name="Rectangle 54"/>
          <p:cNvSpPr/>
          <p:nvPr/>
        </p:nvSpPr>
        <p:spPr>
          <a:xfrm>
            <a:off x="4937760" y="5106924"/>
            <a:ext cx="6702552"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Today the walkthrough: sources, citations, Studio outputs, limits</a:t>
            </a:r>
            <a:r>
              <a:rPr sz="950" b="1" i="0">
                <a:solidFill>
                  <a:srgbClr val="4A5A6E"/>
                </a:solidFill>
                <a:latin typeface="Arial"/>
              </a:rPr>
              <a:t>  ·  Segment 2</a:t>
            </a:r>
          </a:p>
        </p:txBody>
      </p:sp>
      <p:sp>
        <p:nvSpPr>
          <p:cNvPr id="56" name="Rectangle 55"/>
          <p:cNvSpPr/>
          <p:nvPr/>
        </p:nvSpPr>
        <p:spPr>
          <a:xfrm>
            <a:off x="4937760" y="5106924"/>
            <a:ext cx="82296" cy="402336"/>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48640" y="5550408"/>
            <a:ext cx="3977639"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1" i="0">
                <a:solidFill>
                  <a:srgbClr val="12213A"/>
                </a:solidFill>
                <a:latin typeface="Arial"/>
              </a:rPr>
              <a:t>The Lesson 2 blueprint: every step names its input and its output</a:t>
            </a:r>
          </a:p>
        </p:txBody>
      </p:sp>
      <p:sp>
        <p:nvSpPr>
          <p:cNvPr id="58" name="Rectangle 57"/>
          <p:cNvSpPr/>
          <p:nvPr/>
        </p:nvSpPr>
        <p:spPr>
          <a:xfrm>
            <a:off x="548640" y="5550408"/>
            <a:ext cx="82296" cy="402336"/>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17720" y="5577840"/>
            <a:ext cx="274320" cy="365760"/>
          </a:xfrm>
          <a:prstGeom prst="rect">
            <a:avLst/>
          </a:prstGeom>
          <a:noFill/>
        </p:spPr>
        <p:txBody>
          <a:bodyPr wrap="square">
            <a:spAutoFit/>
          </a:bodyPr>
          <a:lstStyle/>
          <a:p>
            <a:pPr algn="ctr"/>
            <a:r>
              <a:rPr sz="1300" b="0" i="0">
                <a:solidFill>
                  <a:srgbClr val="6E7A88"/>
                </a:solidFill>
                <a:latin typeface="Arial"/>
              </a:rPr>
              <a:t>→</a:t>
            </a:r>
          </a:p>
        </p:txBody>
      </p:sp>
      <p:sp>
        <p:nvSpPr>
          <p:cNvPr id="60" name="Rectangle 59"/>
          <p:cNvSpPr/>
          <p:nvPr/>
        </p:nvSpPr>
        <p:spPr>
          <a:xfrm>
            <a:off x="4937760" y="5550408"/>
            <a:ext cx="6702552" cy="40233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Today's assignment chains two tools the same way: notebook output is vault input, and the vault's own AI answers from the vault</a:t>
            </a:r>
            <a:r>
              <a:rPr sz="950" b="1" i="0">
                <a:solidFill>
                  <a:srgbClr val="4A5A6E"/>
                </a:solidFill>
                <a:latin typeface="Arial"/>
              </a:rPr>
              <a:t>  ·  Segment 5</a:t>
            </a:r>
          </a:p>
        </p:txBody>
      </p:sp>
      <p:sp>
        <p:nvSpPr>
          <p:cNvPr id="61" name="Rectangle 60"/>
          <p:cNvSpPr/>
          <p:nvPr/>
        </p:nvSpPr>
        <p:spPr>
          <a:xfrm>
            <a:off x="4937760" y="5550408"/>
            <a:ext cx="82296" cy="402336"/>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48640" y="6053328"/>
            <a:ext cx="11091672" cy="365760"/>
          </a:xfrm>
          <a:prstGeom prst="rect">
            <a:avLst/>
          </a:prstGeom>
          <a:noFill/>
        </p:spPr>
        <p:txBody>
          <a:bodyPr wrap="square">
            <a:spAutoFit/>
          </a:bodyPr>
          <a:lstStyle/>
          <a:p>
            <a:pPr algn="l"/>
            <a:r>
              <a:rPr sz="1050" b="0" i="1">
                <a:solidFill>
                  <a:srgbClr val="6E7A88"/>
                </a:solidFill>
                <a:latin typeface="Arial"/>
              </a:rPr>
              <a:t>Reference only — the Lesson 1 and Lesson 2 decks carry the explanations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10817352" cy="640080"/>
          </a:xfrm>
          <a:prstGeom prst="rect">
            <a:avLst/>
          </a:prstGeom>
          <a:noFill/>
        </p:spPr>
        <p:txBody>
          <a:bodyPr wrap="square" anchor="b">
            <a:spAutoFit/>
          </a:bodyPr>
          <a:lstStyle/>
          <a:p>
            <a:pPr algn="l"/>
            <a:r>
              <a:rPr sz="2700" b="1" i="0">
                <a:solidFill>
                  <a:srgbClr val="12213A"/>
                </a:solidFill>
                <a:latin typeface="Georgia"/>
              </a:rPr>
              <a:t>Assignment debrief — the next 12 minutes</a:t>
            </a:r>
          </a:p>
        </p:txBody>
      </p:sp>
      <p:sp>
        <p:nvSpPr>
          <p:cNvPr id="3" name="Rectangle 2"/>
          <p:cNvSpPr/>
          <p:nvPr/>
        </p:nvSpPr>
        <p:spPr>
          <a:xfrm>
            <a:off x="548640" y="457200"/>
            <a:ext cx="109728" cy="5943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53312"/>
            <a:ext cx="11091672" cy="621792"/>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Georgia"/>
              </a:rPr>
              <a:t>2–3 volunteers  ·  4 minutes each, questions included  ·  screen-shared</a:t>
            </a:r>
          </a:p>
        </p:txBody>
      </p:sp>
      <p:sp>
        <p:nvSpPr>
          <p:cNvPr id="6" name="TextBox 5"/>
          <p:cNvSpPr txBox="1"/>
          <p:nvPr/>
        </p:nvSpPr>
        <p:spPr>
          <a:xfrm>
            <a:off x="548640" y="2029968"/>
            <a:ext cx="11091672" cy="365760"/>
          </a:xfrm>
          <a:prstGeom prst="rect">
            <a:avLst/>
          </a:prstGeom>
          <a:noFill/>
        </p:spPr>
        <p:txBody>
          <a:bodyPr wrap="square">
            <a:spAutoFit/>
          </a:bodyPr>
          <a:lstStyle/>
          <a:p>
            <a:pPr algn="l"/>
            <a:r>
              <a:rPr sz="1300" b="0" i="0">
                <a:solidFill>
                  <a:srgbClr val="6E7A88"/>
                </a:solidFill>
                <a:latin typeface="Arial"/>
              </a:rPr>
              <a:t>Shown in this order — the three items of the Lesson 2 assignment, one facilitator question each</a:t>
            </a:r>
          </a:p>
        </p:txBody>
      </p:sp>
      <p:sp>
        <p:nvSpPr>
          <p:cNvPr id="7" name="Rectangle 6"/>
          <p:cNvSpPr/>
          <p:nvPr/>
        </p:nvSpPr>
        <p:spPr>
          <a:xfrm>
            <a:off x="548640" y="2395728"/>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i="0">
                <a:solidFill>
                  <a:srgbClr val="FFFFFF"/>
                </a:solidFill>
                <a:latin typeface="Georgia"/>
              </a:rPr>
              <a:t>1</a:t>
            </a:r>
          </a:p>
        </p:txBody>
      </p:sp>
      <p:sp>
        <p:nvSpPr>
          <p:cNvPr id="8" name="Rectangle 7"/>
          <p:cNvSpPr/>
          <p:nvPr/>
        </p:nvSpPr>
        <p:spPr>
          <a:xfrm>
            <a:off x="548640" y="2962656"/>
            <a:ext cx="3520440" cy="20116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37744"/>
          <a:lstStyle/>
          <a:p>
            <a:pPr algn="l"/>
            <a:r>
              <a:rPr sz="1800" b="1" i="0">
                <a:solidFill>
                  <a:srgbClr val="12213A"/>
                </a:solidFill>
                <a:latin typeface="Georgia"/>
              </a:rPr>
              <a:t>The blueprint</a:t>
            </a:r>
          </a:p>
          <a:p>
            <a:pPr algn="l">
              <a:spcBef>
                <a:spcPts val="400"/>
              </a:spcBef>
            </a:pPr>
            <a:r>
              <a:rPr sz="1400" b="0" i="0">
                <a:solidFill>
                  <a:srgbClr val="26313F"/>
                </a:solidFill>
                <a:latin typeface="Arial"/>
              </a:rPr>
              <a:t>the redrawn roadmap diagram and the step table</a:t>
            </a:r>
          </a:p>
          <a:p>
            <a:pPr>
              <a:spcBef>
                <a:spcPts val="1000"/>
              </a:spcBef>
            </a:pPr>
            <a:r>
              <a:rPr sz="1200" b="0" i="1">
                <a:solidFill>
                  <a:srgbClr val="4A5A6E"/>
                </a:solidFill>
                <a:latin typeface="Arial"/>
              </a:rPr>
              <a:t>“Which steps did you skip, and why?”</a:t>
            </a:r>
          </a:p>
        </p:txBody>
      </p:sp>
      <p:sp>
        <p:nvSpPr>
          <p:cNvPr id="9" name="Rectangle 8"/>
          <p:cNvSpPr/>
          <p:nvPr/>
        </p:nvSpPr>
        <p:spPr>
          <a:xfrm>
            <a:off x="548640" y="2962656"/>
            <a:ext cx="82296" cy="201168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4255" y="2395728"/>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i="0">
                <a:solidFill>
                  <a:srgbClr val="FFFFFF"/>
                </a:solidFill>
                <a:latin typeface="Georgia"/>
              </a:rPr>
              <a:t>2</a:t>
            </a:r>
          </a:p>
        </p:txBody>
      </p:sp>
      <p:sp>
        <p:nvSpPr>
          <p:cNvPr id="11" name="Rectangle 10"/>
          <p:cNvSpPr/>
          <p:nvPr/>
        </p:nvSpPr>
        <p:spPr>
          <a:xfrm>
            <a:off x="4334255" y="2962656"/>
            <a:ext cx="3520440" cy="20116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37744"/>
          <a:lstStyle/>
          <a:p>
            <a:pPr algn="l"/>
            <a:r>
              <a:rPr sz="1800" b="1" i="0">
                <a:solidFill>
                  <a:srgbClr val="12213A"/>
                </a:solidFill>
                <a:latin typeface="Georgia"/>
              </a:rPr>
              <a:t>The presentation</a:t>
            </a:r>
          </a:p>
          <a:p>
            <a:pPr algn="l">
              <a:spcBef>
                <a:spcPts val="400"/>
              </a:spcBef>
            </a:pPr>
            <a:r>
              <a:rPr sz="1400" b="0" i="0">
                <a:solidFill>
                  <a:srgbClr val="26313F"/>
                </a:solidFill>
                <a:latin typeface="Arial"/>
              </a:rPr>
              <a:t>two or three slides, not the whole deck</a:t>
            </a:r>
          </a:p>
          <a:p>
            <a:pPr>
              <a:spcBef>
                <a:spcPts val="1000"/>
              </a:spcBef>
            </a:pPr>
            <a:r>
              <a:rPr sz="1200" b="0" i="1">
                <a:solidFill>
                  <a:srgbClr val="4A5A6E"/>
                </a:solidFill>
                <a:latin typeface="Arial"/>
              </a:rPr>
              <a:t>“Which learning outcome do these slides serve?”</a:t>
            </a:r>
          </a:p>
        </p:txBody>
      </p:sp>
      <p:sp>
        <p:nvSpPr>
          <p:cNvPr id="12" name="Rectangle 11"/>
          <p:cNvSpPr/>
          <p:nvPr/>
        </p:nvSpPr>
        <p:spPr>
          <a:xfrm>
            <a:off x="4334255" y="2962656"/>
            <a:ext cx="82296" cy="201168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19871" y="2395728"/>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i="0">
                <a:solidFill>
                  <a:srgbClr val="FFFFFF"/>
                </a:solidFill>
                <a:latin typeface="Georgia"/>
              </a:rPr>
              <a:t>3</a:t>
            </a:r>
          </a:p>
        </p:txBody>
      </p:sp>
      <p:sp>
        <p:nvSpPr>
          <p:cNvPr id="14" name="Rectangle 13"/>
          <p:cNvSpPr/>
          <p:nvPr/>
        </p:nvSpPr>
        <p:spPr>
          <a:xfrm>
            <a:off x="8119871" y="2962656"/>
            <a:ext cx="3520440" cy="20116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37744"/>
          <a:lstStyle/>
          <a:p>
            <a:pPr algn="l"/>
            <a:r>
              <a:rPr sz="1800" b="1" i="0">
                <a:solidFill>
                  <a:srgbClr val="12213A"/>
                </a:solidFill>
                <a:latin typeface="Georgia"/>
              </a:rPr>
              <a:t>The AI-use log</a:t>
            </a:r>
          </a:p>
          <a:p>
            <a:pPr algn="l">
              <a:spcBef>
                <a:spcPts val="400"/>
              </a:spcBef>
            </a:pPr>
            <a:r>
              <a:rPr sz="1400" b="0" i="0">
                <a:solidFill>
                  <a:srgbClr val="26313F"/>
                </a:solidFill>
                <a:latin typeface="Arial"/>
              </a:rPr>
              <a:t>on the last slide</a:t>
            </a:r>
          </a:p>
          <a:p>
            <a:pPr>
              <a:spcBef>
                <a:spcPts val="1000"/>
              </a:spcBef>
            </a:pPr>
            <a:r>
              <a:rPr sz="1200" b="0" i="1">
                <a:solidFill>
                  <a:srgbClr val="4A5A6E"/>
                </a:solidFill>
                <a:latin typeface="Arial"/>
              </a:rPr>
              <a:t>“Was any step's output rejected at the check — and then what?”</a:t>
            </a:r>
          </a:p>
        </p:txBody>
      </p:sp>
      <p:sp>
        <p:nvSpPr>
          <p:cNvPr id="15" name="Rectangle 14"/>
          <p:cNvSpPr/>
          <p:nvPr/>
        </p:nvSpPr>
        <p:spPr>
          <a:xfrm>
            <a:off x="8119871" y="2962656"/>
            <a:ext cx="82296" cy="201168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257800"/>
            <a:ext cx="11091672" cy="5943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Georgia"/>
              </a:rPr>
              <a:t>Time check in the chat at 3 minutes  ·  we cut at 4  ·  didn't finish? Practice Week 2 is the venue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10817352" cy="640080"/>
          </a:xfrm>
          <a:prstGeom prst="rect">
            <a:avLst/>
          </a:prstGeom>
          <a:noFill/>
        </p:spPr>
        <p:txBody>
          <a:bodyPr wrap="square" anchor="b">
            <a:spAutoFit/>
          </a:bodyPr>
          <a:lstStyle/>
          <a:p>
            <a:pPr algn="l"/>
            <a:r>
              <a:rPr sz="2700" b="1" i="0">
                <a:solidFill>
                  <a:srgbClr val="12213A"/>
                </a:solidFill>
                <a:latin typeface="Georgia"/>
              </a:rPr>
              <a:t>Common problems — captured live</a:t>
            </a:r>
          </a:p>
        </p:txBody>
      </p:sp>
      <p:sp>
        <p:nvSpPr>
          <p:cNvPr id="3" name="Rectangle 2"/>
          <p:cNvSpPr/>
          <p:nvPr/>
        </p:nvSpPr>
        <p:spPr>
          <a:xfrm>
            <a:off x="548640" y="457200"/>
            <a:ext cx="109728" cy="5943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E7A88"/>
                </a:solidFill>
                <a:latin typeface="Arial"/>
              </a:rPr>
              <a:t>One line per problem, typed in as it comes up, filed under the item it belongs to</a:t>
            </a:r>
          </a:p>
        </p:txBody>
      </p:sp>
      <p:sp>
        <p:nvSpPr>
          <p:cNvPr id="6" name="Rectangle 5"/>
          <p:cNvSpPr/>
          <p:nvPr/>
        </p:nvSpPr>
        <p:spPr>
          <a:xfrm>
            <a:off x="548640" y="1783080"/>
            <a:ext cx="1920240" cy="77724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i="0">
                <a:solidFill>
                  <a:srgbClr val="FFFFFF"/>
                </a:solidFill>
                <a:latin typeface="Georgia"/>
              </a:rPr>
              <a:t>Blueprint</a:t>
            </a:r>
          </a:p>
        </p:txBody>
      </p:sp>
      <p:sp>
        <p:nvSpPr>
          <p:cNvPr id="7" name="Rectangle 6"/>
          <p:cNvSpPr/>
          <p:nvPr/>
        </p:nvSpPr>
        <p:spPr>
          <a:xfrm>
            <a:off x="2606040" y="1783080"/>
            <a:ext cx="9034272" cy="77724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p>
        </p:txBody>
      </p:sp>
      <p:sp>
        <p:nvSpPr>
          <p:cNvPr id="8" name="Rectangle 7"/>
          <p:cNvSpPr/>
          <p:nvPr/>
        </p:nvSpPr>
        <p:spPr>
          <a:xfrm>
            <a:off x="548640" y="2743200"/>
            <a:ext cx="1920240" cy="77724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i="0">
                <a:solidFill>
                  <a:srgbClr val="FFFFFF"/>
                </a:solidFill>
                <a:latin typeface="Georgia"/>
              </a:rPr>
              <a:t>Presentation</a:t>
            </a:r>
          </a:p>
        </p:txBody>
      </p:sp>
      <p:sp>
        <p:nvSpPr>
          <p:cNvPr id="9" name="Rectangle 8"/>
          <p:cNvSpPr/>
          <p:nvPr/>
        </p:nvSpPr>
        <p:spPr>
          <a:xfrm>
            <a:off x="2606040" y="2743200"/>
            <a:ext cx="9034272" cy="77724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p>
        </p:txBody>
      </p:sp>
      <p:sp>
        <p:nvSpPr>
          <p:cNvPr id="10" name="Rectangle 9"/>
          <p:cNvSpPr/>
          <p:nvPr/>
        </p:nvSpPr>
        <p:spPr>
          <a:xfrm>
            <a:off x="548640" y="3703320"/>
            <a:ext cx="1920240" cy="77724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i="0">
                <a:solidFill>
                  <a:srgbClr val="FFFFFF"/>
                </a:solidFill>
                <a:latin typeface="Georgia"/>
              </a:rPr>
              <a:t>Log</a:t>
            </a:r>
          </a:p>
        </p:txBody>
      </p:sp>
      <p:sp>
        <p:nvSpPr>
          <p:cNvPr id="11" name="Rectangle 10"/>
          <p:cNvSpPr/>
          <p:nvPr/>
        </p:nvSpPr>
        <p:spPr>
          <a:xfrm>
            <a:off x="2606040" y="3703320"/>
            <a:ext cx="9034272" cy="77724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p>
        </p:txBody>
      </p:sp>
      <p:sp>
        <p:nvSpPr>
          <p:cNvPr id="12" name="Rectangle 11"/>
          <p:cNvSpPr/>
          <p:nvPr/>
        </p:nvSpPr>
        <p:spPr>
          <a:xfrm>
            <a:off x="548640" y="4846320"/>
            <a:ext cx="11091672" cy="13258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400" b="1" i="0">
                <a:solidFill>
                  <a:srgbClr val="12213A"/>
                </a:solidFill>
                <a:latin typeface="Georgia"/>
              </a:rPr>
              <a:t>After the last volunteer — read the list back, 30 seconds:</a:t>
            </a:r>
          </a:p>
          <a:p>
            <a:pPr>
              <a:spcBef>
                <a:spcPts val="400"/>
              </a:spcBef>
            </a:pPr>
            <a:r>
              <a:rPr sz="1250" b="0" i="0">
                <a:solidFill>
                  <a:srgbClr val="26313F"/>
                </a:solidFill>
                <a:latin typeface="Arial"/>
              </a:rPr>
              <a:t>“the notebook answered from the wrong document” → source grounding and citations, Segment 2  ·  “I lost the good outputs after the chat ended” → the vault, Segment 3  ·  “NotebookLM was not available on my account” → the free-tier check, Segment 2  ·  everything else → Practice Week 2</a:t>
            </a:r>
          </a:p>
        </p:txBody>
      </p:sp>
      <p:sp>
        <p:nvSpPr>
          <p:cNvPr id="13" name="Rectangle 12"/>
          <p:cNvSpPr/>
          <p:nvPr/>
        </p:nvSpPr>
        <p:spPr>
          <a:xfrm>
            <a:off x="548640" y="4846320"/>
            <a:ext cx="82296" cy="1325880"/>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234440"/>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822960"/>
          <a:lstStyle/>
          <a:p>
            <a:pPr algn="ctr"/>
            <a:r>
              <a:rPr sz="1300" b="1" i="0">
                <a:solidFill>
                  <a:srgbClr val="FFFFFF"/>
                </a:solidFill>
                <a:latin typeface="Arial"/>
              </a:rPr>
              <a:t>SEGMENT 2 OF 5   ·   DAILY DRIVER · CLOUD MODEL</a:t>
            </a:r>
          </a:p>
        </p:txBody>
      </p:sp>
      <p:sp>
        <p:nvSpPr>
          <p:cNvPr id="3" name="Oval 2"/>
          <p:cNvSpPr/>
          <p:nvPr/>
        </p:nvSpPr>
        <p:spPr>
          <a:xfrm>
            <a:off x="822960" y="1920240"/>
            <a:ext cx="2194560" cy="2194560"/>
          </a:xfrm>
          <a:prstGeom prst="ellipse">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800" b="1" i="0">
                <a:solidFill>
                  <a:srgbClr val="FFFFFF"/>
                </a:solidFill>
                <a:latin typeface="Georgia"/>
              </a:rPr>
              <a:t>2</a:t>
            </a:r>
          </a:p>
        </p:txBody>
      </p:sp>
      <p:sp>
        <p:nvSpPr>
          <p:cNvPr id="4" name="TextBox 3"/>
          <p:cNvSpPr txBox="1"/>
          <p:nvPr/>
        </p:nvSpPr>
        <p:spPr>
          <a:xfrm>
            <a:off x="3566160" y="1828800"/>
            <a:ext cx="8046720" cy="1554480"/>
          </a:xfrm>
          <a:prstGeom prst="rect">
            <a:avLst/>
          </a:prstGeom>
          <a:noFill/>
        </p:spPr>
        <p:txBody>
          <a:bodyPr wrap="square" anchor="b">
            <a:spAutoFit/>
          </a:bodyPr>
          <a:lstStyle/>
          <a:p>
            <a:pPr algn="l"/>
            <a:r>
              <a:rPr sz="3200" b="1" i="0">
                <a:solidFill>
                  <a:srgbClr val="12213A"/>
                </a:solidFill>
                <a:latin typeface="Georgia"/>
              </a:rPr>
              <a:t>The KM System redrawn + NotebookLM in depth</a:t>
            </a:r>
          </a:p>
        </p:txBody>
      </p:sp>
      <p:sp>
        <p:nvSpPr>
          <p:cNvPr id="5" name="Rectangle 4"/>
          <p:cNvSpPr/>
          <p:nvPr/>
        </p:nvSpPr>
        <p:spPr>
          <a:xfrm>
            <a:off x="3566160" y="3520440"/>
            <a:ext cx="1097280" cy="381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3657600"/>
            <a:ext cx="8046720" cy="457200"/>
          </a:xfrm>
          <a:prstGeom prst="rect">
            <a:avLst/>
          </a:prstGeom>
          <a:noFill/>
        </p:spPr>
        <p:txBody>
          <a:bodyPr wrap="square">
            <a:spAutoFit/>
          </a:bodyPr>
          <a:lstStyle/>
          <a:p>
            <a:pPr algn="l"/>
            <a:r>
              <a:rPr sz="1800" b="1" i="0">
                <a:solidFill>
                  <a:srgbClr val="B3541E"/>
                </a:solidFill>
                <a:latin typeface="Arial"/>
              </a:rPr>
              <a:t>20 min · Presentation + live facilitator demo</a:t>
            </a:r>
          </a:p>
        </p:txBody>
      </p:sp>
      <p:sp>
        <p:nvSpPr>
          <p:cNvPr id="7" name="TextBox 6"/>
          <p:cNvSpPr txBox="1"/>
          <p:nvPr/>
        </p:nvSpPr>
        <p:spPr>
          <a:xfrm>
            <a:off x="3566160" y="4114800"/>
            <a:ext cx="8046720" cy="365760"/>
          </a:xfrm>
          <a:prstGeom prst="rect">
            <a:avLst/>
          </a:prstGeom>
          <a:noFill/>
        </p:spPr>
        <p:txBody>
          <a:bodyPr wrap="square">
            <a:spAutoFit/>
          </a:bodyPr>
          <a:lstStyle/>
          <a:p>
            <a:pPr algn="l"/>
            <a:r>
              <a:rPr sz="1200" b="0" i="0">
                <a:solidFill>
                  <a:srgbClr val="6E7A88"/>
                </a:solidFill>
                <a:latin typeface="Arial"/>
              </a:rPr>
              <a:t>Segment 2 of 5</a:t>
            </a:r>
          </a:p>
        </p:txBody>
      </p:sp>
      <p:sp>
        <p:nvSpPr>
          <p:cNvPr id="8" name="Rectangle 7"/>
          <p:cNvSpPr/>
          <p:nvPr/>
        </p:nvSpPr>
        <p:spPr>
          <a:xfrm>
            <a:off x="35661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51960" y="5989320"/>
            <a:ext cx="502920" cy="731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377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235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700" b="1" i="0">
                <a:solidFill>
                  <a:srgbClr val="12213A"/>
                </a:solidFill>
                <a:latin typeface="Georgia"/>
              </a:rPr>
              <a:t>The KM System, redrawn</a:t>
            </a:r>
          </a:p>
        </p:txBody>
      </p:sp>
      <p:sp>
        <p:nvSpPr>
          <p:cNvPr id="3" name="Rectangle 2"/>
          <p:cNvSpPr/>
          <p:nvPr/>
        </p:nvSpPr>
        <p:spPr>
          <a:xfrm>
            <a:off x="548640" y="457200"/>
            <a:ext cx="109728" cy="5943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DAILY DRIVER · CLOUD MODEL</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98448"/>
            <a:ext cx="11091672" cy="56692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400" b="1" i="0">
                <a:solidFill>
                  <a:srgbClr val="FFFFFF"/>
                </a:solidFill>
                <a:latin typeface="Georgia"/>
              </a:rPr>
              <a:t>SOURCES — anonymised or fictional Anchor Project material</a:t>
            </a:r>
          </a:p>
          <a:p>
            <a:pPr algn="ctr">
              <a:spcBef>
                <a:spcPts val="600"/>
              </a:spcBef>
            </a:pPr>
            <a:r>
              <a:rPr sz="1300" b="0" i="0">
                <a:solidFill>
                  <a:srgbClr val="FFFFFF"/>
                </a:solidFill>
                <a:latin typeface="Arial"/>
              </a:rPr>
              <a:t>call text · guidelines · FAQ · own notes · public web pages · cited briefings</a:t>
            </a:r>
          </a:p>
        </p:txBody>
      </p:sp>
      <p:sp>
        <p:nvSpPr>
          <p:cNvPr id="7" name="TextBox 6"/>
          <p:cNvSpPr txBox="1"/>
          <p:nvPr/>
        </p:nvSpPr>
        <p:spPr>
          <a:xfrm>
            <a:off x="548640" y="1874519"/>
            <a:ext cx="11091672" cy="365760"/>
          </a:xfrm>
          <a:prstGeom prst="rect">
            <a:avLst/>
          </a:prstGeom>
          <a:noFill/>
        </p:spPr>
        <p:txBody>
          <a:bodyPr wrap="square">
            <a:spAutoFit/>
          </a:bodyPr>
          <a:lstStyle/>
          <a:p>
            <a:pPr algn="ctr"/>
            <a:r>
              <a:rPr sz="1300" b="0" i="0">
                <a:solidFill>
                  <a:srgbClr val="6E7A88"/>
                </a:solidFill>
                <a:latin typeface="Arial"/>
              </a:rPr>
              <a:t>▼</a:t>
            </a:r>
          </a:p>
        </p:txBody>
      </p:sp>
      <p:sp>
        <p:nvSpPr>
          <p:cNvPr id="8" name="Rectangle 7"/>
          <p:cNvSpPr/>
          <p:nvPr/>
        </p:nvSpPr>
        <p:spPr>
          <a:xfrm>
            <a:off x="548640" y="2176272"/>
            <a:ext cx="11091672" cy="822960"/>
          </a:xfrm>
          <a:prstGeom prst="rect">
            <a:avLst/>
          </a:prstGeom>
          <a:solidFill>
            <a:srgbClr val="FBE9DC"/>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NOTEBOOKLM — the distiller</a:t>
            </a:r>
          </a:p>
          <a:p>
            <a:pPr algn="l">
              <a:spcBef>
                <a:spcPts val="400"/>
              </a:spcBef>
            </a:pPr>
            <a:r>
              <a:rPr sz="1400" b="0" i="0">
                <a:solidFill>
                  <a:srgbClr val="26313F"/>
                </a:solidFill>
                <a:latin typeface="Arial"/>
              </a:rPr>
              <a:t>Source-grounded answers with citations; briefings, mind maps, audio overviews  ·  Daily Driver</a:t>
            </a:r>
          </a:p>
        </p:txBody>
      </p:sp>
      <p:sp>
        <p:nvSpPr>
          <p:cNvPr id="9" name="Rectangle 8"/>
          <p:cNvSpPr/>
          <p:nvPr/>
        </p:nvSpPr>
        <p:spPr>
          <a:xfrm>
            <a:off x="548640" y="2176272"/>
            <a:ext cx="82296" cy="8229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035808"/>
            <a:ext cx="11091672" cy="365760"/>
          </a:xfrm>
          <a:prstGeom prst="rect">
            <a:avLst/>
          </a:prstGeom>
          <a:noFill/>
        </p:spPr>
        <p:txBody>
          <a:bodyPr wrap="square">
            <a:spAutoFit/>
          </a:bodyPr>
          <a:lstStyle/>
          <a:p>
            <a:pPr algn="ctr"/>
            <a:r>
              <a:rPr sz="1200" b="1" i="0">
                <a:solidFill>
                  <a:srgbClr val="12213A"/>
                </a:solidFill>
                <a:latin typeface="Georgia"/>
              </a:rPr>
              <a:t>▼   human-mediated: read, check against the citation, then paste — with a source line.  No automated sync.</a:t>
            </a:r>
          </a:p>
        </p:txBody>
      </p:sp>
      <p:sp>
        <p:nvSpPr>
          <p:cNvPr id="11" name="Rectangle 10"/>
          <p:cNvSpPr/>
          <p:nvPr/>
        </p:nvSpPr>
        <p:spPr>
          <a:xfrm>
            <a:off x="548640" y="3474720"/>
            <a:ext cx="11091672" cy="1143000"/>
          </a:xfrm>
          <a:prstGeom prst="rect">
            <a:avLst/>
          </a:prstGeom>
          <a:solidFill>
            <a:srgbClr val="DDF0E6"/>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OBSIDIAN — the Personal Vault, the single source of truth</a:t>
            </a:r>
          </a:p>
          <a:p>
            <a:pPr algn="l">
              <a:spcBef>
                <a:spcPts val="400"/>
              </a:spcBef>
            </a:pPr>
            <a:r>
              <a:rPr sz="1400" b="0" i="0">
                <a:solidFill>
                  <a:srgbClr val="26313F"/>
                </a:solidFill>
                <a:latin typeface="Arial"/>
              </a:rPr>
              <a:t>Four note types: concepts · processes · guides · projects  ·  [[links]]  ·  Graph View
Smart Connections — related notes, local   ·   Copilot for Obsidian — ask the vault, cited answers</a:t>
            </a:r>
          </a:p>
        </p:txBody>
      </p:sp>
      <p:sp>
        <p:nvSpPr>
          <p:cNvPr id="12" name="Rectangle 11"/>
          <p:cNvSpPr/>
          <p:nvPr/>
        </p:nvSpPr>
        <p:spPr>
          <a:xfrm>
            <a:off x="548640" y="3474720"/>
            <a:ext cx="82296" cy="11430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800600"/>
            <a:ext cx="5440680" cy="105156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Rule 1 — the arrow into the vault is a person</a:t>
            </a:r>
          </a:p>
          <a:p>
            <a:pPr>
              <a:spcBef>
                <a:spcPts val="300"/>
              </a:spcBef>
            </a:pPr>
            <a:r>
              <a:rPr sz="1150" b="0" i="0">
                <a:solidFill>
                  <a:srgbClr val="26313F"/>
                </a:solidFill>
                <a:latin typeface="Arial"/>
              </a:rPr>
              <a:t>NotebookLM output is read, checked against its citations and then pasted, with a source line. Nothing syncs on its own.</a:t>
            </a:r>
          </a:p>
        </p:txBody>
      </p:sp>
      <p:sp>
        <p:nvSpPr>
          <p:cNvPr id="14" name="Rectangle 13"/>
          <p:cNvSpPr/>
          <p:nvPr/>
        </p:nvSpPr>
        <p:spPr>
          <a:xfrm>
            <a:off x="548640" y="4800600"/>
            <a:ext cx="82296" cy="10515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4800600"/>
            <a:ext cx="5440680" cy="105156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Rule 2 — the four entity types become the vault's four folders</a:t>
            </a:r>
          </a:p>
          <a:p>
            <a:pPr>
              <a:spcBef>
                <a:spcPts val="300"/>
              </a:spcBef>
            </a:pPr>
            <a:r>
              <a:rPr sz="1150" b="0" i="0">
                <a:solidFill>
                  <a:srgbClr val="26313F"/>
                </a:solidFill>
                <a:latin typeface="Arial"/>
              </a:rPr>
              <a:t>What the wiki was going to hold survives unchanged; only where it lives changes.</a:t>
            </a:r>
          </a:p>
        </p:txBody>
      </p:sp>
      <p:sp>
        <p:nvSpPr>
          <p:cNvPr id="16" name="Rectangle 15"/>
          <p:cNvSpPr/>
          <p:nvPr/>
        </p:nvSpPr>
        <p:spPr>
          <a:xfrm>
            <a:off x="6199632" y="4800600"/>
            <a:ext cx="82296" cy="10515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943600"/>
            <a:ext cx="11091672" cy="365760"/>
          </a:xfrm>
          <a:prstGeom prst="rect">
            <a:avLst/>
          </a:prstGeom>
          <a:noFill/>
        </p:spPr>
        <p:txBody>
          <a:bodyPr wrap="square">
            <a:spAutoFit/>
          </a:bodyPr>
          <a:lstStyle/>
          <a:p>
            <a:pPr algn="l"/>
            <a:r>
              <a:rPr sz="1050" b="0" i="1">
                <a:solidFill>
                  <a:srgbClr val="6E7A88"/>
                </a:solidFill>
                <a:latin typeface="Arial"/>
              </a:rPr>
              <a:t>The Lesson 1 teaser said wiki → agent → Obsidian. Perfect Wiki is a paid service, so it is out of scope for a free-tier course — and what replaces it is not another wiki but a simpler architecture.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700" b="1" i="0">
                <a:solidFill>
                  <a:srgbClr val="12213A"/>
                </a:solidFill>
                <a:latin typeface="Georgia"/>
              </a:rPr>
              <a:t>The four-floor map</a:t>
            </a:r>
          </a:p>
        </p:txBody>
      </p:sp>
      <p:sp>
        <p:nvSpPr>
          <p:cNvPr id="3" name="Rectangle 2"/>
          <p:cNvSpPr/>
          <p:nvPr/>
        </p:nvSpPr>
        <p:spPr>
          <a:xfrm>
            <a:off x="548640" y="457200"/>
            <a:ext cx="109728" cy="5943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DAILY DRIVER · CLOUD MODEL</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200" b="0" i="0">
                <a:solidFill>
                  <a:srgbClr val="6E7A88"/>
                </a:solidFill>
                <a:latin typeface="Arial"/>
              </a:rPr>
              <a:t>A recorded talk consulted while drafting describes the Google tool family as four floors with four jobs</a:t>
            </a:r>
          </a:p>
        </p:txBody>
      </p:sp>
      <p:sp>
        <p:nvSpPr>
          <p:cNvPr id="7" name="Rectangle 6"/>
          <p:cNvSpPr/>
          <p:nvPr/>
        </p:nvSpPr>
        <p:spPr>
          <a:xfrm>
            <a:off x="548640" y="1755648"/>
            <a:ext cx="502920" cy="50292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4</a:t>
            </a:r>
          </a:p>
        </p:txBody>
      </p:sp>
      <p:sp>
        <p:nvSpPr>
          <p:cNvPr id="8" name="Rectangle 7"/>
          <p:cNvSpPr/>
          <p:nvPr/>
        </p:nvSpPr>
        <p:spPr>
          <a:xfrm>
            <a:off x="1188720" y="1600200"/>
            <a:ext cx="8412480" cy="822960"/>
          </a:xfrm>
          <a:prstGeom prst="rect">
            <a:avLst/>
          </a:prstGeom>
          <a:solidFill>
            <a:srgbClr val="DDF0E6"/>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Tools floor</a:t>
            </a:r>
          </a:p>
          <a:p>
            <a:pPr algn="l">
              <a:spcBef>
                <a:spcPts val="400"/>
              </a:spcBef>
            </a:pPr>
            <a:r>
              <a:rPr sz="1200" b="0" i="0">
                <a:solidFill>
                  <a:srgbClr val="26313F"/>
                </a:solidFill>
                <a:latin typeface="Arial"/>
              </a:rPr>
              <a:t>where the intelligence enters your documents and mail (Gemini in Google Workspace) — a paid Workspace feature, so this course puts Obsidian here: where insight becomes durable, linked work</a:t>
            </a:r>
          </a:p>
        </p:txBody>
      </p:sp>
      <p:sp>
        <p:nvSpPr>
          <p:cNvPr id="9" name="Rectangle 8"/>
          <p:cNvSpPr/>
          <p:nvPr/>
        </p:nvSpPr>
        <p:spPr>
          <a:xfrm>
            <a:off x="1188720" y="1600200"/>
            <a:ext cx="82296" cy="8229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738360" y="1600200"/>
            <a:ext cx="1901952" cy="82296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TODAY · Segment 3</a:t>
            </a:r>
          </a:p>
        </p:txBody>
      </p:sp>
      <p:sp>
        <p:nvSpPr>
          <p:cNvPr id="11" name="Rectangle 10"/>
          <p:cNvSpPr/>
          <p:nvPr/>
        </p:nvSpPr>
        <p:spPr>
          <a:xfrm>
            <a:off x="9738360" y="1600200"/>
            <a:ext cx="82296" cy="8229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670048"/>
            <a:ext cx="502920" cy="50292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3</a:t>
            </a:r>
          </a:p>
        </p:txBody>
      </p:sp>
      <p:sp>
        <p:nvSpPr>
          <p:cNvPr id="13" name="Rectangle 12"/>
          <p:cNvSpPr/>
          <p:nvPr/>
        </p:nvSpPr>
        <p:spPr>
          <a:xfrm>
            <a:off x="1188720" y="2514600"/>
            <a:ext cx="8412480" cy="82296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Specialist floor</a:t>
            </a:r>
          </a:p>
          <a:p>
            <a:pPr algn="l">
              <a:spcBef>
                <a:spcPts val="400"/>
              </a:spcBef>
            </a:pPr>
            <a:r>
              <a:rPr sz="1200" b="0" i="0">
                <a:solidFill>
                  <a:srgbClr val="26313F"/>
                </a:solidFill>
                <a:latin typeface="Arial"/>
              </a:rPr>
              <a:t>persistent roles — Gems</a:t>
            </a:r>
          </a:p>
        </p:txBody>
      </p:sp>
      <p:sp>
        <p:nvSpPr>
          <p:cNvPr id="14" name="Rectangle 13"/>
          <p:cNvSpPr/>
          <p:nvPr/>
        </p:nvSpPr>
        <p:spPr>
          <a:xfrm>
            <a:off x="1188720" y="2514600"/>
            <a:ext cx="82296" cy="8229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738360" y="2514600"/>
            <a:ext cx="1901952" cy="82296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Lesson 2</a:t>
            </a:r>
          </a:p>
        </p:txBody>
      </p:sp>
      <p:sp>
        <p:nvSpPr>
          <p:cNvPr id="16" name="Rectangle 15"/>
          <p:cNvSpPr/>
          <p:nvPr/>
        </p:nvSpPr>
        <p:spPr>
          <a:xfrm>
            <a:off x="9738360" y="2514600"/>
            <a:ext cx="82296" cy="8229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584448"/>
            <a:ext cx="502920" cy="50292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2</a:t>
            </a:r>
          </a:p>
        </p:txBody>
      </p:sp>
      <p:sp>
        <p:nvSpPr>
          <p:cNvPr id="18" name="Rectangle 17"/>
          <p:cNvSpPr/>
          <p:nvPr/>
        </p:nvSpPr>
        <p:spPr>
          <a:xfrm>
            <a:off x="1188720" y="3429000"/>
            <a:ext cx="8412480" cy="82296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Frontier-model floor</a:t>
            </a:r>
          </a:p>
          <a:p>
            <a:pPr algn="l">
              <a:spcBef>
                <a:spcPts val="400"/>
              </a:spcBef>
            </a:pPr>
            <a:r>
              <a:rPr sz="1200" b="0" i="0">
                <a:solidFill>
                  <a:srgbClr val="26313F"/>
                </a:solidFill>
                <a:latin typeface="Arial"/>
              </a:rPr>
              <a:t>exploration with a large context — Gemini</a:t>
            </a:r>
          </a:p>
        </p:txBody>
      </p:sp>
      <p:sp>
        <p:nvSpPr>
          <p:cNvPr id="19" name="Rectangle 18"/>
          <p:cNvSpPr/>
          <p:nvPr/>
        </p:nvSpPr>
        <p:spPr>
          <a:xfrm>
            <a:off x="1188720" y="3429000"/>
            <a:ext cx="82296" cy="8229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738360" y="3429000"/>
            <a:ext cx="1901952" cy="82296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Lesson 2</a:t>
            </a:r>
          </a:p>
        </p:txBody>
      </p:sp>
      <p:sp>
        <p:nvSpPr>
          <p:cNvPr id="21" name="Rectangle 20"/>
          <p:cNvSpPr/>
          <p:nvPr/>
        </p:nvSpPr>
        <p:spPr>
          <a:xfrm>
            <a:off x="9738360" y="3429000"/>
            <a:ext cx="82296" cy="8229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498848"/>
            <a:ext cx="502920" cy="50292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1</a:t>
            </a:r>
          </a:p>
        </p:txBody>
      </p:sp>
      <p:sp>
        <p:nvSpPr>
          <p:cNvPr id="23" name="Rectangle 22"/>
          <p:cNvSpPr/>
          <p:nvPr/>
        </p:nvSpPr>
        <p:spPr>
          <a:xfrm>
            <a:off x="1188720" y="4343400"/>
            <a:ext cx="8412480" cy="822960"/>
          </a:xfrm>
          <a:prstGeom prst="rect">
            <a:avLst/>
          </a:prstGeom>
          <a:solidFill>
            <a:srgbClr val="FBE9DC"/>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Grounding floor</a:t>
            </a:r>
          </a:p>
          <a:p>
            <a:pPr algn="l">
              <a:spcBef>
                <a:spcPts val="400"/>
              </a:spcBef>
            </a:pPr>
            <a:r>
              <a:rPr sz="1200" b="0" i="0">
                <a:solidFill>
                  <a:srgbClr val="26313F"/>
                </a:solidFill>
                <a:latin typeface="Arial"/>
              </a:rPr>
              <a:t>answers only from your material — NotebookLM</a:t>
            </a:r>
          </a:p>
        </p:txBody>
      </p:sp>
      <p:sp>
        <p:nvSpPr>
          <p:cNvPr id="24" name="Rectangle 23"/>
          <p:cNvSpPr/>
          <p:nvPr/>
        </p:nvSpPr>
        <p:spPr>
          <a:xfrm>
            <a:off x="1188720" y="4343400"/>
            <a:ext cx="82296" cy="8229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38360" y="4343400"/>
            <a:ext cx="1901952" cy="82296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TODAY · Segment 2</a:t>
            </a:r>
          </a:p>
        </p:txBody>
      </p:sp>
      <p:sp>
        <p:nvSpPr>
          <p:cNvPr id="26" name="Rectangle 25"/>
          <p:cNvSpPr/>
          <p:nvPr/>
        </p:nvSpPr>
        <p:spPr>
          <a:xfrm>
            <a:off x="9738360" y="4343400"/>
            <a:ext cx="82296" cy="8229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349240"/>
            <a:ext cx="11091672" cy="685800"/>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Georgia"/>
              </a:rPr>
              <a:t>“The edge is never the tool, it is the system you build.”</a:t>
            </a:r>
          </a:p>
          <a:p>
            <a:pPr algn="ctr">
              <a:spcBef>
                <a:spcPts val="600"/>
              </a:spcBef>
            </a:pPr>
            <a:r>
              <a:rPr sz="1300" b="0" i="0">
                <a:solidFill>
                  <a:srgbClr val="FFFFFF"/>
                </a:solidFill>
                <a:latin typeface="Arial"/>
              </a:rPr>
              <a:t>the one line from the talk worth keeping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700" b="1" i="0">
                <a:solidFill>
                  <a:srgbClr val="12213A"/>
                </a:solidFill>
                <a:latin typeface="Georgia"/>
              </a:rPr>
              <a:t>NotebookLM (Gemini Notebook): what it is</a:t>
            </a:r>
          </a:p>
        </p:txBody>
      </p:sp>
      <p:sp>
        <p:nvSpPr>
          <p:cNvPr id="3" name="Rectangle 2"/>
          <p:cNvSpPr/>
          <p:nvPr/>
        </p:nvSpPr>
        <p:spPr>
          <a:xfrm>
            <a:off x="548640" y="457200"/>
            <a:ext cx="109728" cy="5943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DAILY DRIVER · CLOUD MODEL</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98448"/>
            <a:ext cx="5394960" cy="9144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Renamed, 16 July 2026</a:t>
            </a:r>
          </a:p>
          <a:p>
            <a:pPr>
              <a:spcBef>
                <a:spcPts val="300"/>
              </a:spcBef>
            </a:pPr>
            <a:r>
              <a:rPr sz="1150" b="0" i="0">
                <a:solidFill>
                  <a:srgbClr val="26313F"/>
                </a:solidFill>
                <a:latin typeface="Arial"/>
              </a:rPr>
              <a:t>Same tool, same plans, same limits — the deck says NotebookLM from here on.</a:t>
            </a:r>
          </a:p>
        </p:txBody>
      </p:sp>
      <p:sp>
        <p:nvSpPr>
          <p:cNvPr id="7" name="Rectangle 6"/>
          <p:cNvSpPr/>
          <p:nvPr/>
        </p:nvSpPr>
        <p:spPr>
          <a:xfrm>
            <a:off x="548640" y="1298448"/>
            <a:ext cx="82296" cy="9144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331720"/>
            <a:ext cx="5394960" cy="13258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What it does</a:t>
            </a:r>
          </a:p>
          <a:p>
            <a:pPr>
              <a:spcBef>
                <a:spcPts val="300"/>
              </a:spcBef>
            </a:pPr>
            <a:r>
              <a:rPr sz="1150" b="0" i="0">
                <a:solidFill>
                  <a:srgbClr val="26313F"/>
                </a:solidFill>
                <a:latin typeface="Arial"/>
              </a:rPr>
              <a:t>Answers questions only from the sources you add, and every answer carries citations to the passage it came from. The receipt comes with the answer: Lesson 1's hallucination rule, answered at tool level.</a:t>
            </a:r>
          </a:p>
        </p:txBody>
      </p:sp>
      <p:sp>
        <p:nvSpPr>
          <p:cNvPr id="9" name="Rectangle 8"/>
          <p:cNvSpPr/>
          <p:nvPr/>
        </p:nvSpPr>
        <p:spPr>
          <a:xfrm>
            <a:off x="548640" y="2331720"/>
            <a:ext cx="82296" cy="132588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776472"/>
            <a:ext cx="5394960" cy="10972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Routing — Daily Driver</a:t>
            </a:r>
          </a:p>
          <a:p>
            <a:pPr>
              <a:spcBef>
                <a:spcPts val="300"/>
              </a:spcBef>
            </a:pPr>
            <a:r>
              <a:rPr sz="1150" b="0" i="0">
                <a:solidFill>
                  <a:srgbClr val="26313F"/>
                </a:solidFill>
                <a:latin typeface="Arial"/>
              </a:rPr>
              <a:t>Runs on the personal Google account: anonymised or fictional material only. The Lesson 2 “what must never enter Gemini” list applies unchanged.</a:t>
            </a:r>
          </a:p>
        </p:txBody>
      </p:sp>
      <p:sp>
        <p:nvSpPr>
          <p:cNvPr id="11" name="Rectangle 10"/>
          <p:cNvSpPr/>
          <p:nvPr/>
        </p:nvSpPr>
        <p:spPr>
          <a:xfrm>
            <a:off x="548640" y="3776472"/>
            <a:ext cx="82296" cy="109728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53912" y="1298448"/>
            <a:ext cx="5486400" cy="3575304"/>
          </a:xfrm>
          <a:prstGeom prst="rect">
            <a:avLst/>
          </a:prstGeom>
          <a:solidFill>
            <a:srgbClr val="FBE9DC"/>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2213A"/>
                </a:solidFill>
                <a:latin typeface="Georgia"/>
              </a:rPr>
              <a:t>What goes in</a:t>
            </a:r>
          </a:p>
          <a:p>
            <a:pPr>
              <a:spcBef>
                <a:spcPts val="500"/>
              </a:spcBef>
            </a:pPr>
            <a:r>
              <a:rPr sz="1250" b="0" i="0">
                <a:solidFill>
                  <a:srgbClr val="26313F"/>
                </a:solidFill>
                <a:latin typeface="Arial"/>
              </a:rPr>
              <a:t>·  PDFs; Google Docs, Slides and Sheets; .docx</a:t>
            </a:r>
          </a:p>
          <a:p>
            <a:pPr>
              <a:spcBef>
                <a:spcPts val="500"/>
              </a:spcBef>
            </a:pPr>
            <a:r>
              <a:rPr sz="1250" b="0" i="0">
                <a:solidFill>
                  <a:srgbClr val="26313F"/>
                </a:solidFill>
                <a:latin typeface="Arial"/>
              </a:rPr>
              <a:t>·  Plain text and Markdown</a:t>
            </a:r>
          </a:p>
          <a:p>
            <a:pPr>
              <a:spcBef>
                <a:spcPts val="500"/>
              </a:spcBef>
            </a:pPr>
            <a:r>
              <a:rPr sz="1250" b="0" i="0">
                <a:solidFill>
                  <a:srgbClr val="26313F"/>
                </a:solidFill>
                <a:latin typeface="Arial"/>
              </a:rPr>
              <a:t>·  Web page URLs</a:t>
            </a:r>
          </a:p>
          <a:p>
            <a:pPr>
              <a:spcBef>
                <a:spcPts val="500"/>
              </a:spcBef>
            </a:pPr>
            <a:r>
              <a:rPr sz="1250" b="0" i="0">
                <a:solidFill>
                  <a:srgbClr val="26313F"/>
                </a:solidFill>
                <a:latin typeface="Arial"/>
              </a:rPr>
              <a:t>·  YouTube videos with captions</a:t>
            </a:r>
          </a:p>
          <a:p>
            <a:pPr>
              <a:spcBef>
                <a:spcPts val="500"/>
              </a:spcBef>
            </a:pPr>
            <a:r>
              <a:rPr sz="1250" b="0" i="0">
                <a:solidFill>
                  <a:srgbClr val="26313F"/>
                </a:solidFill>
                <a:latin typeface="Arial"/>
              </a:rPr>
              <a:t>·  Audio files; images (OCR); CSV</a:t>
            </a:r>
          </a:p>
          <a:p>
            <a:pPr>
              <a:spcBef>
                <a:spcPts val="500"/>
              </a:spcBef>
            </a:pPr>
            <a:r>
              <a:rPr sz="1250" b="0" i="0">
                <a:solidFill>
                  <a:srgbClr val="26313F"/>
                </a:solidFill>
                <a:latin typeface="Arial"/>
              </a:rPr>
              <a:t>·  One source: up to 500,000 words or 200 MB</a:t>
            </a:r>
          </a:p>
        </p:txBody>
      </p:sp>
      <p:sp>
        <p:nvSpPr>
          <p:cNvPr id="13" name="Rectangle 12"/>
          <p:cNvSpPr/>
          <p:nvPr/>
        </p:nvSpPr>
        <p:spPr>
          <a:xfrm>
            <a:off x="6153912" y="1298448"/>
            <a:ext cx="82296" cy="3575304"/>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5074920"/>
            <a:ext cx="11091672" cy="50292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Georgia"/>
              </a:rPr>
              <a:t>▶ LIVE DEMO — steps 1–2: create the notebook, add the four sources, ask one concept question, click a citation</a:t>
            </a:r>
          </a:p>
        </p:txBody>
      </p:sp>
      <p:sp>
        <p:nvSpPr>
          <p:cNvPr id="15" name="Rectangle 14"/>
          <p:cNvSpPr/>
          <p:nvPr/>
        </p:nvSpPr>
        <p:spPr>
          <a:xfrm>
            <a:off x="548640" y="5074920"/>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074920"/>
            <a:ext cx="45720" cy="50292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300" b="1" i="0">
                <a:solidFill>
                  <a:srgbClr val="12213A"/>
                </a:solidFill>
                <a:latin typeface="Georgia"/>
              </a:rPr>
              <a:t>Free tier at the time of writing (September 2026)</a:t>
            </a:r>
          </a:p>
        </p:txBody>
      </p:sp>
      <p:sp>
        <p:nvSpPr>
          <p:cNvPr id="3" name="Rectangle 2"/>
          <p:cNvSpPr/>
          <p:nvPr/>
        </p:nvSpPr>
        <p:spPr>
          <a:xfrm>
            <a:off x="548640" y="457200"/>
            <a:ext cx="109728" cy="5943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DAILY DRIVER · CLOUD MODEL</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98448"/>
            <a:ext cx="4572000" cy="365760"/>
          </a:xfrm>
          <a:prstGeom prst="rect">
            <a:avLst/>
          </a:prstGeom>
          <a:noFill/>
        </p:spPr>
        <p:txBody>
          <a:bodyPr wrap="square">
            <a:spAutoFit/>
          </a:bodyPr>
          <a:lstStyle/>
          <a:p>
            <a:pPr algn="l"/>
            <a:r>
              <a:rPr sz="1000" b="1" i="0">
                <a:solidFill>
                  <a:srgbClr val="6E7A88"/>
                </a:solidFill>
                <a:latin typeface="Arial"/>
              </a:rPr>
              <a:t>LIMIT</a:t>
            </a:r>
          </a:p>
        </p:txBody>
      </p:sp>
      <p:sp>
        <p:nvSpPr>
          <p:cNvPr id="7" name="TextBox 6"/>
          <p:cNvSpPr txBox="1"/>
          <p:nvPr/>
        </p:nvSpPr>
        <p:spPr>
          <a:xfrm>
            <a:off x="5120640" y="1298448"/>
            <a:ext cx="6519672" cy="365760"/>
          </a:xfrm>
          <a:prstGeom prst="rect">
            <a:avLst/>
          </a:prstGeom>
          <a:noFill/>
        </p:spPr>
        <p:txBody>
          <a:bodyPr wrap="square">
            <a:spAutoFit/>
          </a:bodyPr>
          <a:lstStyle/>
          <a:p>
            <a:pPr algn="l"/>
            <a:r>
              <a:rPr sz="1000" b="1" i="0">
                <a:solidFill>
                  <a:srgbClr val="6E7A88"/>
                </a:solidFill>
                <a:latin typeface="Arial"/>
              </a:rPr>
              <a:t>FREE TIER</a:t>
            </a:r>
          </a:p>
        </p:txBody>
      </p:sp>
      <p:sp>
        <p:nvSpPr>
          <p:cNvPr id="8" name="Rectangle 7"/>
          <p:cNvSpPr/>
          <p:nvPr/>
        </p:nvSpPr>
        <p:spPr>
          <a:xfrm>
            <a:off x="548640" y="1609344"/>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09344"/>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609344"/>
            <a:ext cx="4489704" cy="457200"/>
          </a:xfrm>
          <a:prstGeom prst="rect">
            <a:avLst/>
          </a:prstGeom>
          <a:noFill/>
        </p:spPr>
        <p:txBody>
          <a:bodyPr wrap="square" anchor="ctr" lIns="128016" tIns="18288" bIns="18288">
            <a:spAutoFit/>
          </a:bodyPr>
          <a:lstStyle/>
          <a:p>
            <a:pPr algn="l"/>
            <a:r>
              <a:rPr sz="1300" b="1" i="0">
                <a:solidFill>
                  <a:srgbClr val="12213A"/>
                </a:solidFill>
                <a:latin typeface="Arial"/>
              </a:rPr>
              <a:t>Sources per notebook</a:t>
            </a:r>
          </a:p>
        </p:txBody>
      </p:sp>
      <p:sp>
        <p:nvSpPr>
          <p:cNvPr id="11" name="TextBox 10"/>
          <p:cNvSpPr txBox="1"/>
          <p:nvPr/>
        </p:nvSpPr>
        <p:spPr>
          <a:xfrm>
            <a:off x="5120640" y="1609344"/>
            <a:ext cx="6519672" cy="457200"/>
          </a:xfrm>
          <a:prstGeom prst="rect">
            <a:avLst/>
          </a:prstGeom>
          <a:noFill/>
        </p:spPr>
        <p:txBody>
          <a:bodyPr wrap="square" anchor="ctr" lIns="128016" tIns="18288" bIns="18288">
            <a:spAutoFit/>
          </a:bodyPr>
          <a:lstStyle/>
          <a:p>
            <a:pPr algn="l"/>
            <a:r>
              <a:rPr sz="1300" b="0" i="0">
                <a:solidFill>
                  <a:srgbClr val="26313F"/>
                </a:solidFill>
                <a:latin typeface="Arial"/>
              </a:rPr>
              <a:t>50</a:t>
            </a:r>
          </a:p>
        </p:txBody>
      </p:sp>
      <p:sp>
        <p:nvSpPr>
          <p:cNvPr id="12" name="Rectangle 11"/>
          <p:cNvSpPr/>
          <p:nvPr/>
        </p:nvSpPr>
        <p:spPr>
          <a:xfrm>
            <a:off x="548640" y="2130552"/>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130552"/>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2130552"/>
            <a:ext cx="4489704" cy="457200"/>
          </a:xfrm>
          <a:prstGeom prst="rect">
            <a:avLst/>
          </a:prstGeom>
          <a:noFill/>
        </p:spPr>
        <p:txBody>
          <a:bodyPr wrap="square" anchor="ctr" lIns="128016" tIns="18288" bIns="18288">
            <a:spAutoFit/>
          </a:bodyPr>
          <a:lstStyle/>
          <a:p>
            <a:pPr algn="l"/>
            <a:r>
              <a:rPr sz="1300" b="1" i="0">
                <a:solidFill>
                  <a:srgbClr val="12213A"/>
                </a:solidFill>
                <a:latin typeface="Arial"/>
              </a:rPr>
              <a:t>Notebooks</a:t>
            </a:r>
          </a:p>
        </p:txBody>
      </p:sp>
      <p:sp>
        <p:nvSpPr>
          <p:cNvPr id="15" name="TextBox 14"/>
          <p:cNvSpPr txBox="1"/>
          <p:nvPr/>
        </p:nvSpPr>
        <p:spPr>
          <a:xfrm>
            <a:off x="5120640" y="2130552"/>
            <a:ext cx="6519672" cy="457200"/>
          </a:xfrm>
          <a:prstGeom prst="rect">
            <a:avLst/>
          </a:prstGeom>
          <a:noFill/>
        </p:spPr>
        <p:txBody>
          <a:bodyPr wrap="square" anchor="ctr" lIns="128016" tIns="18288" bIns="18288">
            <a:spAutoFit/>
          </a:bodyPr>
          <a:lstStyle/>
          <a:p>
            <a:pPr algn="l"/>
            <a:r>
              <a:rPr sz="1300" b="0" i="0">
                <a:solidFill>
                  <a:srgbClr val="26313F"/>
                </a:solidFill>
                <a:latin typeface="Arial"/>
              </a:rPr>
              <a:t>100</a:t>
            </a:r>
          </a:p>
        </p:txBody>
      </p:sp>
      <p:sp>
        <p:nvSpPr>
          <p:cNvPr id="16" name="Rectangle 15"/>
          <p:cNvSpPr/>
          <p:nvPr/>
        </p:nvSpPr>
        <p:spPr>
          <a:xfrm>
            <a:off x="548640" y="2651760"/>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651760"/>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2651760"/>
            <a:ext cx="4489704" cy="457200"/>
          </a:xfrm>
          <a:prstGeom prst="rect">
            <a:avLst/>
          </a:prstGeom>
          <a:noFill/>
        </p:spPr>
        <p:txBody>
          <a:bodyPr wrap="square" anchor="ctr" lIns="128016" tIns="18288" bIns="18288">
            <a:spAutoFit/>
          </a:bodyPr>
          <a:lstStyle/>
          <a:p>
            <a:pPr algn="l"/>
            <a:r>
              <a:rPr sz="1300" b="1" i="0">
                <a:solidFill>
                  <a:srgbClr val="12213A"/>
                </a:solidFill>
                <a:latin typeface="Arial"/>
              </a:rPr>
              <a:t>Chat questions per day</a:t>
            </a:r>
          </a:p>
        </p:txBody>
      </p:sp>
      <p:sp>
        <p:nvSpPr>
          <p:cNvPr id="19" name="TextBox 18"/>
          <p:cNvSpPr txBox="1"/>
          <p:nvPr/>
        </p:nvSpPr>
        <p:spPr>
          <a:xfrm>
            <a:off x="5120640" y="2651760"/>
            <a:ext cx="6519672" cy="457200"/>
          </a:xfrm>
          <a:prstGeom prst="rect">
            <a:avLst/>
          </a:prstGeom>
          <a:noFill/>
        </p:spPr>
        <p:txBody>
          <a:bodyPr wrap="square" anchor="ctr" lIns="128016" tIns="18288" bIns="18288">
            <a:spAutoFit/>
          </a:bodyPr>
          <a:lstStyle/>
          <a:p>
            <a:pPr algn="l"/>
            <a:r>
              <a:rPr sz="1300" b="0" i="0">
                <a:solidFill>
                  <a:srgbClr val="26313F"/>
                </a:solidFill>
                <a:latin typeface="Arial"/>
              </a:rPr>
              <a:t>50</a:t>
            </a:r>
          </a:p>
        </p:txBody>
      </p:sp>
      <p:sp>
        <p:nvSpPr>
          <p:cNvPr id="20" name="Rectangle 19"/>
          <p:cNvSpPr/>
          <p:nvPr/>
        </p:nvSpPr>
        <p:spPr>
          <a:xfrm>
            <a:off x="548640" y="3172968"/>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172968"/>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3172968"/>
            <a:ext cx="4489704" cy="457200"/>
          </a:xfrm>
          <a:prstGeom prst="rect">
            <a:avLst/>
          </a:prstGeom>
          <a:noFill/>
        </p:spPr>
        <p:txBody>
          <a:bodyPr wrap="square" anchor="ctr" lIns="128016" tIns="18288" bIns="18288">
            <a:spAutoFit/>
          </a:bodyPr>
          <a:lstStyle/>
          <a:p>
            <a:pPr algn="l"/>
            <a:r>
              <a:rPr sz="1300" b="1" i="0">
                <a:solidFill>
                  <a:srgbClr val="12213A"/>
                </a:solidFill>
                <a:latin typeface="Arial"/>
              </a:rPr>
              <a:t>Audio / Video Overviews</a:t>
            </a:r>
          </a:p>
        </p:txBody>
      </p:sp>
      <p:sp>
        <p:nvSpPr>
          <p:cNvPr id="23" name="TextBox 22"/>
          <p:cNvSpPr txBox="1"/>
          <p:nvPr/>
        </p:nvSpPr>
        <p:spPr>
          <a:xfrm>
            <a:off x="5120640" y="3172968"/>
            <a:ext cx="6519672" cy="457200"/>
          </a:xfrm>
          <a:prstGeom prst="rect">
            <a:avLst/>
          </a:prstGeom>
          <a:noFill/>
        </p:spPr>
        <p:txBody>
          <a:bodyPr wrap="square" anchor="ctr" lIns="128016" tIns="18288" bIns="18288">
            <a:spAutoFit/>
          </a:bodyPr>
          <a:lstStyle/>
          <a:p>
            <a:pPr algn="l"/>
            <a:r>
              <a:rPr sz="1300" b="0" i="0">
                <a:solidFill>
                  <a:srgbClr val="26313F"/>
                </a:solidFill>
                <a:latin typeface="Arial"/>
              </a:rPr>
              <a:t>Included; a daily generation cap (paid tiers raise it)</a:t>
            </a:r>
          </a:p>
        </p:txBody>
      </p:sp>
      <p:sp>
        <p:nvSpPr>
          <p:cNvPr id="24" name="Rectangle 23"/>
          <p:cNvSpPr/>
          <p:nvPr/>
        </p:nvSpPr>
        <p:spPr>
          <a:xfrm>
            <a:off x="548640" y="3694176"/>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694176"/>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 y="3694176"/>
            <a:ext cx="4489704" cy="457200"/>
          </a:xfrm>
          <a:prstGeom prst="rect">
            <a:avLst/>
          </a:prstGeom>
          <a:noFill/>
        </p:spPr>
        <p:txBody>
          <a:bodyPr wrap="square" anchor="ctr" lIns="128016" tIns="18288" bIns="18288">
            <a:spAutoFit/>
          </a:bodyPr>
          <a:lstStyle/>
          <a:p>
            <a:pPr algn="l"/>
            <a:r>
              <a:rPr sz="1300" b="1" i="0">
                <a:solidFill>
                  <a:srgbClr val="12213A"/>
                </a:solidFill>
                <a:latin typeface="Arial"/>
              </a:rPr>
              <a:t>Reports</a:t>
            </a:r>
          </a:p>
        </p:txBody>
      </p:sp>
      <p:sp>
        <p:nvSpPr>
          <p:cNvPr id="27" name="TextBox 26"/>
          <p:cNvSpPr txBox="1"/>
          <p:nvPr/>
        </p:nvSpPr>
        <p:spPr>
          <a:xfrm>
            <a:off x="5120640" y="3694176"/>
            <a:ext cx="6519672" cy="457200"/>
          </a:xfrm>
          <a:prstGeom prst="rect">
            <a:avLst/>
          </a:prstGeom>
          <a:noFill/>
        </p:spPr>
        <p:txBody>
          <a:bodyPr wrap="square" anchor="ctr" lIns="128016" tIns="18288" bIns="18288">
            <a:spAutoFit/>
          </a:bodyPr>
          <a:lstStyle/>
          <a:p>
            <a:pPr algn="l"/>
            <a:r>
              <a:rPr sz="1300" b="0" i="0">
                <a:solidFill>
                  <a:srgbClr val="26313F"/>
                </a:solidFill>
                <a:latin typeface="Arial"/>
              </a:rPr>
              <a:t>10 a day</a:t>
            </a:r>
          </a:p>
        </p:txBody>
      </p:sp>
      <p:sp>
        <p:nvSpPr>
          <p:cNvPr id="28" name="Rectangle 27"/>
          <p:cNvSpPr/>
          <p:nvPr/>
        </p:nvSpPr>
        <p:spPr>
          <a:xfrm>
            <a:off x="548640" y="4215384"/>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215384"/>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 y="4215384"/>
            <a:ext cx="4489704" cy="457200"/>
          </a:xfrm>
          <a:prstGeom prst="rect">
            <a:avLst/>
          </a:prstGeom>
          <a:noFill/>
        </p:spPr>
        <p:txBody>
          <a:bodyPr wrap="square" anchor="ctr" lIns="128016" tIns="18288" bIns="18288">
            <a:spAutoFit/>
          </a:bodyPr>
          <a:lstStyle/>
          <a:p>
            <a:pPr algn="l"/>
            <a:r>
              <a:rPr sz="1300" b="1" i="0">
                <a:solidFill>
                  <a:srgbClr val="12213A"/>
                </a:solidFill>
                <a:latin typeface="Arial"/>
              </a:rPr>
              <a:t>Deep Research (inside a notebook)</a:t>
            </a:r>
          </a:p>
        </p:txBody>
      </p:sp>
      <p:sp>
        <p:nvSpPr>
          <p:cNvPr id="31" name="TextBox 30"/>
          <p:cNvSpPr txBox="1"/>
          <p:nvPr/>
        </p:nvSpPr>
        <p:spPr>
          <a:xfrm>
            <a:off x="5120640" y="4215384"/>
            <a:ext cx="6519672" cy="457200"/>
          </a:xfrm>
          <a:prstGeom prst="rect">
            <a:avLst/>
          </a:prstGeom>
          <a:noFill/>
        </p:spPr>
        <p:txBody>
          <a:bodyPr wrap="square" anchor="ctr" lIns="128016" tIns="18288" bIns="18288">
            <a:spAutoFit/>
          </a:bodyPr>
          <a:lstStyle/>
          <a:p>
            <a:pPr algn="l"/>
            <a:r>
              <a:rPr sz="1300" b="0" i="0">
                <a:solidFill>
                  <a:srgbClr val="26313F"/>
                </a:solidFill>
                <a:latin typeface="Arial"/>
              </a:rPr>
              <a:t>10 sessions a month</a:t>
            </a:r>
          </a:p>
        </p:txBody>
      </p:sp>
      <p:sp>
        <p:nvSpPr>
          <p:cNvPr id="32" name="Rectangle 31"/>
          <p:cNvSpPr/>
          <p:nvPr/>
        </p:nvSpPr>
        <p:spPr>
          <a:xfrm>
            <a:off x="548640" y="4892040"/>
            <a:ext cx="11091672" cy="10972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Re-verified in the facilitator's own account the week before delivery</a:t>
            </a:r>
          </a:p>
          <a:p>
            <a:pPr>
              <a:spcBef>
                <a:spcPts val="300"/>
              </a:spcBef>
            </a:pPr>
            <a:r>
              <a:rPr sz="1150" b="0" i="0">
                <a:solidFill>
                  <a:srgbClr val="26313F"/>
                </a:solidFill>
                <a:latin typeface="Arial"/>
              </a:rPr>
              <a:t>·  Source, notebook and chat limits; which Studio outputs exist; the Deep Research cap; whether notebook-to-Gem linking is on the free tier</a:t>
            </a:r>
          </a:p>
          <a:p>
            <a:pPr>
              <a:spcBef>
                <a:spcPts val="300"/>
              </a:spcBef>
            </a:pPr>
            <a:r>
              <a:rPr sz="1150" b="0" i="0">
                <a:solidFill>
                  <a:srgbClr val="26313F"/>
                </a:solidFill>
                <a:latin typeface="Arial"/>
              </a:rPr>
              <a:t>·  Any Studio output missing on the day is shown as a slide and marked as such</a:t>
            </a:r>
          </a:p>
        </p:txBody>
      </p:sp>
      <p:sp>
        <p:nvSpPr>
          <p:cNvPr id="33" name="Rectangle 32"/>
          <p:cNvSpPr/>
          <p:nvPr/>
        </p:nvSpPr>
        <p:spPr>
          <a:xfrm>
            <a:off x="548640" y="4892040"/>
            <a:ext cx="82296" cy="109728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400" b="1" i="0">
                <a:solidFill>
                  <a:srgbClr val="12213A"/>
                </a:solidFill>
                <a:latin typeface="Georgia"/>
              </a:rPr>
              <a:t>Grounding versus exploration: when to use which</a:t>
            </a:r>
          </a:p>
        </p:txBody>
      </p:sp>
      <p:sp>
        <p:nvSpPr>
          <p:cNvPr id="3" name="Rectangle 2"/>
          <p:cNvSpPr/>
          <p:nvPr/>
        </p:nvSpPr>
        <p:spPr>
          <a:xfrm>
            <a:off x="548640" y="457200"/>
            <a:ext cx="109728" cy="5943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DAILY DRIVER · CLOUD MODEL</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000" b="1" i="0">
                <a:solidFill>
                  <a:srgbClr val="6E7A88"/>
                </a:solidFill>
                <a:latin typeface="Arial"/>
              </a:rPr>
              <a:t>THREE SITUATIONS FOR THE NOTEBOOK</a:t>
            </a:r>
          </a:p>
        </p:txBody>
      </p:sp>
      <p:sp>
        <p:nvSpPr>
          <p:cNvPr id="7" name="Rectangle 6"/>
          <p:cNvSpPr/>
          <p:nvPr/>
        </p:nvSpPr>
        <p:spPr>
          <a:xfrm>
            <a:off x="548640" y="1536192"/>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1</a:t>
            </a:r>
          </a:p>
        </p:txBody>
      </p:sp>
      <p:sp>
        <p:nvSpPr>
          <p:cNvPr id="8" name="Rectangle 7"/>
          <p:cNvSpPr/>
          <p:nvPr/>
        </p:nvSpPr>
        <p:spPr>
          <a:xfrm>
            <a:off x="1115568" y="1536192"/>
            <a:ext cx="3017520" cy="1600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50" b="1" i="0">
                <a:solidFill>
                  <a:srgbClr val="12213A"/>
                </a:solidFill>
                <a:latin typeface="Georgia"/>
              </a:rPr>
              <a:t>You are drowning in material</a:t>
            </a:r>
          </a:p>
          <a:p>
            <a:pPr>
              <a:spcBef>
                <a:spcPts val="300"/>
              </a:spcBef>
            </a:pPr>
            <a:r>
              <a:rPr sz="1200" b="0" i="0">
                <a:solidFill>
                  <a:srgbClr val="26313F"/>
                </a:solidFill>
                <a:latin typeface="Arial"/>
              </a:rPr>
              <a:t>more documents than you can hold in your head, let alone in one chat</a:t>
            </a:r>
          </a:p>
        </p:txBody>
      </p:sp>
      <p:sp>
        <p:nvSpPr>
          <p:cNvPr id="9" name="Rectangle 8"/>
          <p:cNvSpPr/>
          <p:nvPr/>
        </p:nvSpPr>
        <p:spPr>
          <a:xfrm>
            <a:off x="1115568" y="1536192"/>
            <a:ext cx="82296" cy="1600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70248" y="1536192"/>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2</a:t>
            </a:r>
          </a:p>
        </p:txBody>
      </p:sp>
      <p:sp>
        <p:nvSpPr>
          <p:cNvPr id="11" name="Rectangle 10"/>
          <p:cNvSpPr/>
          <p:nvPr/>
        </p:nvSpPr>
        <p:spPr>
          <a:xfrm>
            <a:off x="4837176" y="1536192"/>
            <a:ext cx="3017520" cy="1600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50" b="1" i="0">
                <a:solidFill>
                  <a:srgbClr val="12213A"/>
                </a:solidFill>
                <a:latin typeface="Georgia"/>
              </a:rPr>
              <a:t>Precision matters and “close enough” is not good enough</a:t>
            </a:r>
          </a:p>
          <a:p>
            <a:pPr>
              <a:spcBef>
                <a:spcPts val="300"/>
              </a:spcBef>
            </a:pPr>
            <a:r>
              <a:rPr sz="1200" b="0" i="0">
                <a:solidFill>
                  <a:srgbClr val="26313F"/>
                </a:solidFill>
                <a:latin typeface="Arial"/>
              </a:rPr>
              <a:t>you will act on the answer, so you need the passage it came from</a:t>
            </a:r>
          </a:p>
        </p:txBody>
      </p:sp>
      <p:sp>
        <p:nvSpPr>
          <p:cNvPr id="12" name="Rectangle 11"/>
          <p:cNvSpPr/>
          <p:nvPr/>
        </p:nvSpPr>
        <p:spPr>
          <a:xfrm>
            <a:off x="4837176" y="1536192"/>
            <a:ext cx="82296" cy="1600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91856" y="1536192"/>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3</a:t>
            </a:r>
          </a:p>
        </p:txBody>
      </p:sp>
      <p:sp>
        <p:nvSpPr>
          <p:cNvPr id="14" name="Rectangle 13"/>
          <p:cNvSpPr/>
          <p:nvPr/>
        </p:nvSpPr>
        <p:spPr>
          <a:xfrm>
            <a:off x="8558784" y="1536192"/>
            <a:ext cx="3017520" cy="1600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50" b="1" i="0">
                <a:solidFill>
                  <a:srgbClr val="12213A"/>
                </a:solidFill>
                <a:latin typeface="Georgia"/>
              </a:rPr>
              <a:t>The same knowledge has to move across formats</a:t>
            </a:r>
          </a:p>
          <a:p>
            <a:pPr>
              <a:spcBef>
                <a:spcPts val="300"/>
              </a:spcBef>
            </a:pPr>
            <a:r>
              <a:rPr sz="1200" b="0" i="0">
                <a:solidFill>
                  <a:srgbClr val="26313F"/>
                </a:solidFill>
                <a:latin typeface="Arial"/>
              </a:rPr>
              <a:t>a briefing for you, an audio overview for the commute, flashcards for a junior colleague</a:t>
            </a:r>
          </a:p>
        </p:txBody>
      </p:sp>
      <p:sp>
        <p:nvSpPr>
          <p:cNvPr id="15" name="Rectangle 14"/>
          <p:cNvSpPr/>
          <p:nvPr/>
        </p:nvSpPr>
        <p:spPr>
          <a:xfrm>
            <a:off x="8558784" y="1536192"/>
            <a:ext cx="82296" cy="1600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364992"/>
            <a:ext cx="11091672" cy="868680"/>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Georgia"/>
              </a:rPr>
              <a:t>Everything else stays in Gemini</a:t>
            </a:r>
          </a:p>
          <a:p>
            <a:pPr algn="ctr">
              <a:spcBef>
                <a:spcPts val="600"/>
              </a:spcBef>
            </a:pPr>
            <a:r>
              <a:rPr sz="1300" b="0" i="0">
                <a:solidFill>
                  <a:srgbClr val="FFFFFF"/>
                </a:solidFill>
                <a:latin typeface="Arial"/>
              </a:rPr>
              <a:t>drafting, exploration, reasoning beyond the sources — anything where the answer is not in your documents</a:t>
            </a:r>
          </a:p>
        </p:txBody>
      </p:sp>
      <p:sp>
        <p:nvSpPr>
          <p:cNvPr id="17" name="Rectangle 16"/>
          <p:cNvSpPr/>
          <p:nvPr/>
        </p:nvSpPr>
        <p:spPr>
          <a:xfrm>
            <a:off x="548640" y="4434840"/>
            <a:ext cx="5440680" cy="1508760"/>
          </a:xfrm>
          <a:prstGeom prst="rect">
            <a:avLst/>
          </a:prstGeom>
          <a:solidFill>
            <a:srgbClr val="FBE9DC"/>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a notebook organises evidence; a Gem organises behaviour</a:t>
            </a:r>
          </a:p>
          <a:p>
            <a:pPr algn="l">
              <a:spcBef>
                <a:spcPts val="400"/>
              </a:spcBef>
            </a:pPr>
            <a:r>
              <a:rPr sz="1400" b="0" i="0">
                <a:solidFill>
                  <a:srgbClr val="26313F"/>
                </a:solidFill>
                <a:latin typeface="Arial"/>
              </a:rPr>
              <a:t>Notebooks are the evidence counterpart to Lesson 2's Gems.</a:t>
            </a:r>
          </a:p>
        </p:txBody>
      </p:sp>
      <p:sp>
        <p:nvSpPr>
          <p:cNvPr id="18" name="Rectangle 17"/>
          <p:cNvSpPr/>
          <p:nvPr/>
        </p:nvSpPr>
        <p:spPr>
          <a:xfrm>
            <a:off x="548640" y="4434840"/>
            <a:ext cx="82296" cy="15087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4434840"/>
            <a:ext cx="5440680" cy="150876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A notebook can be handed to a Gem as its sources</a:t>
            </a:r>
          </a:p>
          <a:p>
            <a:pPr>
              <a:spcBef>
                <a:spcPts val="300"/>
              </a:spcBef>
            </a:pPr>
            <a:r>
              <a:rPr sz="1150" b="0" i="0">
                <a:solidFill>
                  <a:srgbClr val="26313F"/>
                </a:solidFill>
                <a:latin typeface="Arial"/>
              </a:rPr>
              <a:t>This link appeared on paid plans first — re-verify whether the free tier has it before promising it (the Lesson 2 Segment 4 flag).</a:t>
            </a:r>
          </a:p>
        </p:txBody>
      </p:sp>
      <p:sp>
        <p:nvSpPr>
          <p:cNvPr id="20" name="Rectangle 19"/>
          <p:cNvSpPr/>
          <p:nvPr/>
        </p:nvSpPr>
        <p:spPr>
          <a:xfrm>
            <a:off x="6199632" y="4434840"/>
            <a:ext cx="82296" cy="15087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700" b="1" i="0">
                <a:solidFill>
                  <a:srgbClr val="12213A"/>
                </a:solidFill>
                <a:latin typeface="Georgia"/>
              </a:rPr>
              <a:t>Studio outputs: one notebook, many formats</a:t>
            </a:r>
          </a:p>
        </p:txBody>
      </p:sp>
      <p:sp>
        <p:nvSpPr>
          <p:cNvPr id="3" name="Rectangle 2"/>
          <p:cNvSpPr/>
          <p:nvPr/>
        </p:nvSpPr>
        <p:spPr>
          <a:xfrm>
            <a:off x="548640" y="457200"/>
            <a:ext cx="109728" cy="5943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DAILY DRIVER · CLOUD MODEL</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07008"/>
            <a:ext cx="3931920" cy="365760"/>
          </a:xfrm>
          <a:prstGeom prst="rect">
            <a:avLst/>
          </a:prstGeom>
          <a:noFill/>
        </p:spPr>
        <p:txBody>
          <a:bodyPr wrap="square">
            <a:spAutoFit/>
          </a:bodyPr>
          <a:lstStyle/>
          <a:p>
            <a:pPr algn="l"/>
            <a:r>
              <a:rPr sz="1000" b="1" i="0">
                <a:solidFill>
                  <a:srgbClr val="6E7A88"/>
                </a:solidFill>
                <a:latin typeface="Arial"/>
              </a:rPr>
              <a:t>OUTPUT</a:t>
            </a:r>
          </a:p>
        </p:txBody>
      </p:sp>
      <p:sp>
        <p:nvSpPr>
          <p:cNvPr id="7" name="TextBox 6"/>
          <p:cNvSpPr txBox="1"/>
          <p:nvPr/>
        </p:nvSpPr>
        <p:spPr>
          <a:xfrm>
            <a:off x="4480560" y="1207008"/>
            <a:ext cx="7159752" cy="365760"/>
          </a:xfrm>
          <a:prstGeom prst="rect">
            <a:avLst/>
          </a:prstGeom>
          <a:noFill/>
        </p:spPr>
        <p:txBody>
          <a:bodyPr wrap="square">
            <a:spAutoFit/>
          </a:bodyPr>
          <a:lstStyle/>
          <a:p>
            <a:pPr algn="l"/>
            <a:r>
              <a:rPr sz="1000" b="1" i="0">
                <a:solidFill>
                  <a:srgbClr val="6E7A88"/>
                </a:solidFill>
                <a:latin typeface="Arial"/>
              </a:rPr>
              <a:t>USE FOR THE ANCHOR PROJECT</a:t>
            </a:r>
          </a:p>
        </p:txBody>
      </p:sp>
      <p:sp>
        <p:nvSpPr>
          <p:cNvPr id="8" name="Rectangle 7"/>
          <p:cNvSpPr/>
          <p:nvPr/>
        </p:nvSpPr>
        <p:spPr>
          <a:xfrm>
            <a:off x="548640" y="1517904"/>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517904"/>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517904"/>
            <a:ext cx="3849624" cy="457200"/>
          </a:xfrm>
          <a:prstGeom prst="rect">
            <a:avLst/>
          </a:prstGeom>
          <a:noFill/>
        </p:spPr>
        <p:txBody>
          <a:bodyPr wrap="square" anchor="ctr" lIns="128016" tIns="18288" bIns="18288">
            <a:spAutoFit/>
          </a:bodyPr>
          <a:lstStyle/>
          <a:p>
            <a:pPr algn="l"/>
            <a:r>
              <a:rPr sz="1150" b="1" i="0">
                <a:solidFill>
                  <a:srgbClr val="12213A"/>
                </a:solidFill>
                <a:latin typeface="Arial"/>
              </a:rPr>
              <a:t>Chat with citations</a:t>
            </a:r>
          </a:p>
        </p:txBody>
      </p:sp>
      <p:sp>
        <p:nvSpPr>
          <p:cNvPr id="11" name="TextBox 10"/>
          <p:cNvSpPr txBox="1"/>
          <p:nvPr/>
        </p:nvSpPr>
        <p:spPr>
          <a:xfrm>
            <a:off x="4480560" y="1517904"/>
            <a:ext cx="7159752" cy="457200"/>
          </a:xfrm>
          <a:prstGeom prst="rect">
            <a:avLst/>
          </a:prstGeom>
          <a:noFill/>
        </p:spPr>
        <p:txBody>
          <a:bodyPr wrap="square" anchor="ctr" lIns="128016" tIns="18288" bIns="18288">
            <a:spAutoFit/>
          </a:bodyPr>
          <a:lstStyle/>
          <a:p>
            <a:pPr algn="l"/>
            <a:r>
              <a:rPr sz="1150" b="0" i="0">
                <a:solidFill>
                  <a:srgbClr val="26313F"/>
                </a:solidFill>
                <a:latin typeface="Arial"/>
              </a:rPr>
              <a:t>The core: ask, read the cited passage, decide</a:t>
            </a:r>
          </a:p>
        </p:txBody>
      </p:sp>
      <p:sp>
        <p:nvSpPr>
          <p:cNvPr id="12" name="Rectangle 11"/>
          <p:cNvSpPr/>
          <p:nvPr/>
        </p:nvSpPr>
        <p:spPr>
          <a:xfrm>
            <a:off x="548640" y="2029968"/>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29968"/>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2029968"/>
            <a:ext cx="3849624" cy="457200"/>
          </a:xfrm>
          <a:prstGeom prst="rect">
            <a:avLst/>
          </a:prstGeom>
          <a:noFill/>
        </p:spPr>
        <p:txBody>
          <a:bodyPr wrap="square" anchor="ctr" lIns="128016" tIns="18288" bIns="18288">
            <a:spAutoFit/>
          </a:bodyPr>
          <a:lstStyle/>
          <a:p>
            <a:pPr algn="l"/>
            <a:r>
              <a:rPr sz="1150" b="1" i="0">
                <a:solidFill>
                  <a:srgbClr val="12213A"/>
                </a:solidFill>
                <a:latin typeface="Arial"/>
              </a:rPr>
              <a:t>Report (briefing document, study guide, FAQ, timeline; custom prompt)</a:t>
            </a:r>
          </a:p>
        </p:txBody>
      </p:sp>
      <p:sp>
        <p:nvSpPr>
          <p:cNvPr id="15" name="TextBox 14"/>
          <p:cNvSpPr txBox="1"/>
          <p:nvPr/>
        </p:nvSpPr>
        <p:spPr>
          <a:xfrm>
            <a:off x="4480560" y="2029968"/>
            <a:ext cx="7159752" cy="457200"/>
          </a:xfrm>
          <a:prstGeom prst="rect">
            <a:avLst/>
          </a:prstGeom>
          <a:noFill/>
        </p:spPr>
        <p:txBody>
          <a:bodyPr wrap="square" anchor="ctr" lIns="128016" tIns="18288" bIns="18288">
            <a:spAutoFit/>
          </a:bodyPr>
          <a:lstStyle/>
          <a:p>
            <a:pPr algn="l"/>
            <a:r>
              <a:rPr sz="1150" b="0" i="0">
                <a:solidFill>
                  <a:srgbClr val="26313F"/>
                </a:solidFill>
                <a:latin typeface="Arial"/>
              </a:rPr>
              <a:t>The vault's raw material: a briefing per concept or process, sources attached</a:t>
            </a:r>
          </a:p>
        </p:txBody>
      </p:sp>
      <p:sp>
        <p:nvSpPr>
          <p:cNvPr id="16" name="Rectangle 15"/>
          <p:cNvSpPr/>
          <p:nvPr/>
        </p:nvSpPr>
        <p:spPr>
          <a:xfrm>
            <a:off x="548640" y="2542032"/>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542032"/>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2542032"/>
            <a:ext cx="3849624" cy="457200"/>
          </a:xfrm>
          <a:prstGeom prst="rect">
            <a:avLst/>
          </a:prstGeom>
          <a:noFill/>
        </p:spPr>
        <p:txBody>
          <a:bodyPr wrap="square" anchor="ctr" lIns="128016" tIns="18288" bIns="18288">
            <a:spAutoFit/>
          </a:bodyPr>
          <a:lstStyle/>
          <a:p>
            <a:pPr algn="l"/>
            <a:r>
              <a:rPr sz="1150" b="1" i="0">
                <a:solidFill>
                  <a:srgbClr val="12213A"/>
                </a:solidFill>
                <a:latin typeface="Arial"/>
              </a:rPr>
              <a:t>Mind map</a:t>
            </a:r>
          </a:p>
        </p:txBody>
      </p:sp>
      <p:sp>
        <p:nvSpPr>
          <p:cNvPr id="19" name="TextBox 18"/>
          <p:cNvSpPr txBox="1"/>
          <p:nvPr/>
        </p:nvSpPr>
        <p:spPr>
          <a:xfrm>
            <a:off x="4480560" y="2542032"/>
            <a:ext cx="7159752" cy="457200"/>
          </a:xfrm>
          <a:prstGeom prst="rect">
            <a:avLst/>
          </a:prstGeom>
          <a:noFill/>
        </p:spPr>
        <p:txBody>
          <a:bodyPr wrap="square" anchor="ctr" lIns="128016" tIns="18288" bIns="18288">
            <a:spAutoFit/>
          </a:bodyPr>
          <a:lstStyle/>
          <a:p>
            <a:pPr algn="l"/>
            <a:r>
              <a:rPr sz="1150" b="0" i="0">
                <a:solidFill>
                  <a:srgbClr val="26313F"/>
                </a:solidFill>
                <a:latin typeface="Arial"/>
              </a:rPr>
              <a:t>The first sketch of which notes will link to which</a:t>
            </a:r>
          </a:p>
        </p:txBody>
      </p:sp>
      <p:sp>
        <p:nvSpPr>
          <p:cNvPr id="20" name="Rectangle 19"/>
          <p:cNvSpPr/>
          <p:nvPr/>
        </p:nvSpPr>
        <p:spPr>
          <a:xfrm>
            <a:off x="548640" y="3054096"/>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054096"/>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3054096"/>
            <a:ext cx="3849624" cy="457200"/>
          </a:xfrm>
          <a:prstGeom prst="rect">
            <a:avLst/>
          </a:prstGeom>
          <a:noFill/>
        </p:spPr>
        <p:txBody>
          <a:bodyPr wrap="square" anchor="ctr" lIns="128016" tIns="18288" bIns="18288">
            <a:spAutoFit/>
          </a:bodyPr>
          <a:lstStyle/>
          <a:p>
            <a:pPr algn="l"/>
            <a:r>
              <a:rPr sz="1150" b="1" i="0">
                <a:solidFill>
                  <a:srgbClr val="12213A"/>
                </a:solidFill>
                <a:latin typeface="Arial"/>
              </a:rPr>
              <a:t>Audio Overview (interactive: you can interrupt the hosts)</a:t>
            </a:r>
          </a:p>
        </p:txBody>
      </p:sp>
      <p:sp>
        <p:nvSpPr>
          <p:cNvPr id="23" name="TextBox 22"/>
          <p:cNvSpPr txBox="1"/>
          <p:nvPr/>
        </p:nvSpPr>
        <p:spPr>
          <a:xfrm>
            <a:off x="4480560" y="3054096"/>
            <a:ext cx="7159752" cy="457200"/>
          </a:xfrm>
          <a:prstGeom prst="rect">
            <a:avLst/>
          </a:prstGeom>
          <a:noFill/>
        </p:spPr>
        <p:txBody>
          <a:bodyPr wrap="square" anchor="ctr" lIns="128016" tIns="18288" bIns="18288">
            <a:spAutoFit/>
          </a:bodyPr>
          <a:lstStyle/>
          <a:p>
            <a:pPr algn="l"/>
            <a:r>
              <a:rPr sz="1150" b="0" i="0">
                <a:solidFill>
                  <a:srgbClr val="26313F"/>
                </a:solidFill>
                <a:latin typeface="Arial"/>
              </a:rPr>
              <a:t>Listen to the call's rules on the commute — the “diffuse mode” use</a:t>
            </a:r>
          </a:p>
        </p:txBody>
      </p:sp>
      <p:sp>
        <p:nvSpPr>
          <p:cNvPr id="24" name="Rectangle 23"/>
          <p:cNvSpPr/>
          <p:nvPr/>
        </p:nvSpPr>
        <p:spPr>
          <a:xfrm>
            <a:off x="548640" y="3566160"/>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66160"/>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 y="3566160"/>
            <a:ext cx="3849624" cy="457200"/>
          </a:xfrm>
          <a:prstGeom prst="rect">
            <a:avLst/>
          </a:prstGeom>
          <a:noFill/>
        </p:spPr>
        <p:txBody>
          <a:bodyPr wrap="square" anchor="ctr" lIns="128016" tIns="18288" bIns="18288">
            <a:spAutoFit/>
          </a:bodyPr>
          <a:lstStyle/>
          <a:p>
            <a:pPr algn="l"/>
            <a:r>
              <a:rPr sz="1150" b="1" i="0">
                <a:solidFill>
                  <a:srgbClr val="12213A"/>
                </a:solidFill>
                <a:latin typeface="Arial"/>
              </a:rPr>
              <a:t>Video Overview</a:t>
            </a:r>
          </a:p>
        </p:txBody>
      </p:sp>
      <p:sp>
        <p:nvSpPr>
          <p:cNvPr id="27" name="TextBox 26"/>
          <p:cNvSpPr txBox="1"/>
          <p:nvPr/>
        </p:nvSpPr>
        <p:spPr>
          <a:xfrm>
            <a:off x="4480560" y="3566160"/>
            <a:ext cx="7159752" cy="457200"/>
          </a:xfrm>
          <a:prstGeom prst="rect">
            <a:avLst/>
          </a:prstGeom>
          <a:noFill/>
        </p:spPr>
        <p:txBody>
          <a:bodyPr wrap="square" anchor="ctr" lIns="128016" tIns="18288" bIns="18288">
            <a:spAutoFit/>
          </a:bodyPr>
          <a:lstStyle/>
          <a:p>
            <a:pPr algn="l"/>
            <a:r>
              <a:rPr sz="1150" b="0" i="0">
                <a:solidFill>
                  <a:srgbClr val="26313F"/>
                </a:solidFill>
                <a:latin typeface="Arial"/>
              </a:rPr>
              <a:t>A short explainer for a colleague who will not read the call text</a:t>
            </a:r>
          </a:p>
        </p:txBody>
      </p:sp>
      <p:sp>
        <p:nvSpPr>
          <p:cNvPr id="28" name="Rectangle 27"/>
          <p:cNvSpPr/>
          <p:nvPr/>
        </p:nvSpPr>
        <p:spPr>
          <a:xfrm>
            <a:off x="548640" y="4078224"/>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078224"/>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 y="4078224"/>
            <a:ext cx="3849624" cy="457200"/>
          </a:xfrm>
          <a:prstGeom prst="rect">
            <a:avLst/>
          </a:prstGeom>
          <a:noFill/>
        </p:spPr>
        <p:txBody>
          <a:bodyPr wrap="square" anchor="ctr" lIns="128016" tIns="18288" bIns="18288">
            <a:spAutoFit/>
          </a:bodyPr>
          <a:lstStyle/>
          <a:p>
            <a:pPr algn="l"/>
            <a:r>
              <a:rPr sz="1150" b="1" i="0">
                <a:solidFill>
                  <a:srgbClr val="12213A"/>
                </a:solidFill>
                <a:latin typeface="Arial"/>
              </a:rPr>
              <a:t>Flashcards and quiz</a:t>
            </a:r>
          </a:p>
        </p:txBody>
      </p:sp>
      <p:sp>
        <p:nvSpPr>
          <p:cNvPr id="31" name="TextBox 30"/>
          <p:cNvSpPr txBox="1"/>
          <p:nvPr/>
        </p:nvSpPr>
        <p:spPr>
          <a:xfrm>
            <a:off x="4480560" y="4078224"/>
            <a:ext cx="7159752" cy="457200"/>
          </a:xfrm>
          <a:prstGeom prst="rect">
            <a:avLst/>
          </a:prstGeom>
          <a:noFill/>
        </p:spPr>
        <p:txBody>
          <a:bodyPr wrap="square" anchor="ctr" lIns="128016" tIns="18288" bIns="18288">
            <a:spAutoFit/>
          </a:bodyPr>
          <a:lstStyle/>
          <a:p>
            <a:pPr algn="l"/>
            <a:r>
              <a:rPr sz="1150" b="0" i="0">
                <a:solidFill>
                  <a:srgbClr val="26313F"/>
                </a:solidFill>
                <a:latin typeface="Arial"/>
              </a:rPr>
              <a:t>The learning-material step of the Lesson 2 blueprint, grounded in your own sources</a:t>
            </a:r>
          </a:p>
        </p:txBody>
      </p:sp>
      <p:sp>
        <p:nvSpPr>
          <p:cNvPr id="32" name="Rectangle 31"/>
          <p:cNvSpPr/>
          <p:nvPr/>
        </p:nvSpPr>
        <p:spPr>
          <a:xfrm>
            <a:off x="548640" y="4590288"/>
            <a:ext cx="11091672"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4590288"/>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 y="4590288"/>
            <a:ext cx="3849624" cy="457200"/>
          </a:xfrm>
          <a:prstGeom prst="rect">
            <a:avLst/>
          </a:prstGeom>
          <a:noFill/>
        </p:spPr>
        <p:txBody>
          <a:bodyPr wrap="square" anchor="ctr" lIns="128016" tIns="18288" bIns="18288">
            <a:spAutoFit/>
          </a:bodyPr>
          <a:lstStyle/>
          <a:p>
            <a:pPr algn="l"/>
            <a:r>
              <a:rPr sz="1150" b="1" i="0">
                <a:solidFill>
                  <a:srgbClr val="12213A"/>
                </a:solidFill>
                <a:latin typeface="Arial"/>
              </a:rPr>
              <a:t>Deep Research (inside the notebook)</a:t>
            </a:r>
          </a:p>
        </p:txBody>
      </p:sp>
      <p:sp>
        <p:nvSpPr>
          <p:cNvPr id="35" name="TextBox 34"/>
          <p:cNvSpPr txBox="1"/>
          <p:nvPr/>
        </p:nvSpPr>
        <p:spPr>
          <a:xfrm>
            <a:off x="4480560" y="4590288"/>
            <a:ext cx="7159752" cy="457200"/>
          </a:xfrm>
          <a:prstGeom prst="rect">
            <a:avLst/>
          </a:prstGeom>
          <a:noFill/>
        </p:spPr>
        <p:txBody>
          <a:bodyPr wrap="square" anchor="ctr" lIns="128016" tIns="18288" bIns="18288">
            <a:spAutoFit/>
          </a:bodyPr>
          <a:lstStyle/>
          <a:p>
            <a:pPr algn="l"/>
            <a:r>
              <a:rPr sz="1150" b="0" i="0">
                <a:solidFill>
                  <a:srgbClr val="26313F"/>
                </a:solidFill>
                <a:latin typeface="Arial"/>
              </a:rPr>
              <a:t>Fills a gap with a cited web report that lands as a new source; 10 a month on the free tier, so write the question first</a:t>
            </a:r>
          </a:p>
        </p:txBody>
      </p:sp>
      <p:sp>
        <p:nvSpPr>
          <p:cNvPr id="36" name="TextBox 35"/>
          <p:cNvSpPr txBox="1"/>
          <p:nvPr/>
        </p:nvSpPr>
        <p:spPr>
          <a:xfrm>
            <a:off x="548640" y="5230368"/>
            <a:ext cx="11091672" cy="365760"/>
          </a:xfrm>
          <a:prstGeom prst="rect">
            <a:avLst/>
          </a:prstGeom>
          <a:noFill/>
        </p:spPr>
        <p:txBody>
          <a:bodyPr wrap="square">
            <a:spAutoFit/>
          </a:bodyPr>
          <a:lstStyle/>
          <a:p>
            <a:pPr algn="l"/>
            <a:r>
              <a:rPr sz="1100" b="0" i="1">
                <a:solidFill>
                  <a:srgbClr val="26313F"/>
                </a:solidFill>
                <a:latin typeface="Arial"/>
              </a:rPr>
              <a:t>The speaker of the talk consulted argues that working memory is small, that learning happens when material moves into long-term memory, and that a notebook lets you alternate focused investigation at the desk with a “diffuse” pass away from it — the Audio Overview on the commute.</a:t>
            </a:r>
          </a:p>
        </p:txBody>
      </p:sp>
      <p:sp>
        <p:nvSpPr>
          <p:cNvPr id="37" name="Rectangle 36"/>
          <p:cNvSpPr/>
          <p:nvPr/>
        </p:nvSpPr>
        <p:spPr>
          <a:xfrm>
            <a:off x="548640" y="5852160"/>
            <a:ext cx="11091672" cy="50292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Georgia"/>
              </a:rPr>
              <a:t>▶ LIVE DEMO — steps 3–5: generate one briefing report, open the mind map, play 20 seconds of the Audio Overview</a:t>
            </a:r>
          </a:p>
        </p:txBody>
      </p:sp>
      <p:sp>
        <p:nvSpPr>
          <p:cNvPr id="38" name="Rectangle 37"/>
          <p:cNvSpPr/>
          <p:nvPr/>
        </p:nvSpPr>
        <p:spPr>
          <a:xfrm>
            <a:off x="548640" y="5852160"/>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5852160"/>
            <a:ext cx="45720" cy="50292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400" b="1" i="0">
                <a:solidFill>
                  <a:srgbClr val="12213A"/>
                </a:solidFill>
                <a:latin typeface="Georgia"/>
              </a:rPr>
              <a:t>From notebook to note: the four question shapes</a:t>
            </a:r>
          </a:p>
        </p:txBody>
      </p:sp>
      <p:sp>
        <p:nvSpPr>
          <p:cNvPr id="3" name="Rectangle 2"/>
          <p:cNvSpPr/>
          <p:nvPr/>
        </p:nvSpPr>
        <p:spPr>
          <a:xfrm>
            <a:off x="548640" y="457200"/>
            <a:ext cx="109728" cy="5943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DAILY DRIVER · CLOUD MODEL</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07008"/>
            <a:ext cx="1920240" cy="365760"/>
          </a:xfrm>
          <a:prstGeom prst="rect">
            <a:avLst/>
          </a:prstGeom>
          <a:noFill/>
        </p:spPr>
        <p:txBody>
          <a:bodyPr wrap="square">
            <a:spAutoFit/>
          </a:bodyPr>
          <a:lstStyle/>
          <a:p>
            <a:pPr algn="l"/>
            <a:r>
              <a:rPr sz="1000" b="1" i="0">
                <a:solidFill>
                  <a:srgbClr val="6E7A88"/>
                </a:solidFill>
                <a:latin typeface="Arial"/>
              </a:rPr>
              <a:t>ENTITY TYPE</a:t>
            </a:r>
          </a:p>
        </p:txBody>
      </p:sp>
      <p:sp>
        <p:nvSpPr>
          <p:cNvPr id="7" name="TextBox 6"/>
          <p:cNvSpPr txBox="1"/>
          <p:nvPr/>
        </p:nvSpPr>
        <p:spPr>
          <a:xfrm>
            <a:off x="2468880" y="1207008"/>
            <a:ext cx="9171432" cy="365760"/>
          </a:xfrm>
          <a:prstGeom prst="rect">
            <a:avLst/>
          </a:prstGeom>
          <a:noFill/>
        </p:spPr>
        <p:txBody>
          <a:bodyPr wrap="square">
            <a:spAutoFit/>
          </a:bodyPr>
          <a:lstStyle/>
          <a:p>
            <a:pPr algn="l"/>
            <a:r>
              <a:rPr sz="1000" b="1" i="0">
                <a:solidFill>
                  <a:srgbClr val="6E7A88"/>
                </a:solidFill>
                <a:latin typeface="Arial"/>
              </a:rPr>
              <a:t>QUESTION SHAPE, ASKED IN THE NOTEBOOK</a:t>
            </a:r>
          </a:p>
        </p:txBody>
      </p:sp>
      <p:sp>
        <p:nvSpPr>
          <p:cNvPr id="8" name="Rectangle 7"/>
          <p:cNvSpPr/>
          <p:nvPr/>
        </p:nvSpPr>
        <p:spPr>
          <a:xfrm>
            <a:off x="548640" y="1517904"/>
            <a:ext cx="11091672" cy="67665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517904"/>
            <a:ext cx="82296" cy="676656"/>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517904"/>
            <a:ext cx="1837944" cy="676656"/>
          </a:xfrm>
          <a:prstGeom prst="rect">
            <a:avLst/>
          </a:prstGeom>
          <a:noFill/>
        </p:spPr>
        <p:txBody>
          <a:bodyPr wrap="square" anchor="ctr" lIns="128016" tIns="18288" bIns="18288">
            <a:spAutoFit/>
          </a:bodyPr>
          <a:lstStyle/>
          <a:p>
            <a:pPr algn="l"/>
            <a:r>
              <a:rPr sz="1200" b="1" i="0">
                <a:solidFill>
                  <a:srgbClr val="12213A"/>
                </a:solidFill>
                <a:latin typeface="Arial"/>
              </a:rPr>
              <a:t>Concept</a:t>
            </a:r>
          </a:p>
        </p:txBody>
      </p:sp>
      <p:sp>
        <p:nvSpPr>
          <p:cNvPr id="11" name="TextBox 10"/>
          <p:cNvSpPr txBox="1"/>
          <p:nvPr/>
        </p:nvSpPr>
        <p:spPr>
          <a:xfrm>
            <a:off x="2468880" y="1517904"/>
            <a:ext cx="9171432" cy="676656"/>
          </a:xfrm>
          <a:prstGeom prst="rect">
            <a:avLst/>
          </a:prstGeom>
          <a:noFill/>
        </p:spPr>
        <p:txBody>
          <a:bodyPr wrap="square" anchor="ctr" lIns="128016" tIns="18288" bIns="18288">
            <a:spAutoFit/>
          </a:bodyPr>
          <a:lstStyle/>
          <a:p>
            <a:pPr algn="l"/>
            <a:r>
              <a:rPr sz="1200" b="0" i="0">
                <a:solidFill>
                  <a:srgbClr val="26313F"/>
                </a:solidFill>
                <a:latin typeface="Arial"/>
              </a:rPr>
              <a:t>“Define [term] as the sources use it. Give the definition, where it matters in the project, and the passages it rests on.”</a:t>
            </a:r>
          </a:p>
        </p:txBody>
      </p:sp>
      <p:sp>
        <p:nvSpPr>
          <p:cNvPr id="12" name="Rectangle 11"/>
          <p:cNvSpPr/>
          <p:nvPr/>
        </p:nvSpPr>
        <p:spPr>
          <a:xfrm>
            <a:off x="548640" y="2258568"/>
            <a:ext cx="11091672" cy="67665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58568"/>
            <a:ext cx="82296" cy="676656"/>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2258568"/>
            <a:ext cx="1837944" cy="676656"/>
          </a:xfrm>
          <a:prstGeom prst="rect">
            <a:avLst/>
          </a:prstGeom>
          <a:noFill/>
        </p:spPr>
        <p:txBody>
          <a:bodyPr wrap="square" anchor="ctr" lIns="128016" tIns="18288" bIns="18288">
            <a:spAutoFit/>
          </a:bodyPr>
          <a:lstStyle/>
          <a:p>
            <a:pPr algn="l"/>
            <a:r>
              <a:rPr sz="1200" b="1" i="0">
                <a:solidFill>
                  <a:srgbClr val="12213A"/>
                </a:solidFill>
                <a:latin typeface="Arial"/>
              </a:rPr>
              <a:t>Process</a:t>
            </a:r>
          </a:p>
        </p:txBody>
      </p:sp>
      <p:sp>
        <p:nvSpPr>
          <p:cNvPr id="15" name="TextBox 14"/>
          <p:cNvSpPr txBox="1"/>
          <p:nvPr/>
        </p:nvSpPr>
        <p:spPr>
          <a:xfrm>
            <a:off x="2468880" y="2258568"/>
            <a:ext cx="9171432" cy="676656"/>
          </a:xfrm>
          <a:prstGeom prst="rect">
            <a:avLst/>
          </a:prstGeom>
          <a:noFill/>
        </p:spPr>
        <p:txBody>
          <a:bodyPr wrap="square" anchor="ctr" lIns="128016" tIns="18288" bIns="18288">
            <a:spAutoFit/>
          </a:bodyPr>
          <a:lstStyle/>
          <a:p>
            <a:pPr algn="l"/>
            <a:r>
              <a:rPr sz="1200" b="0" i="0">
                <a:solidFill>
                  <a:srgbClr val="26313F"/>
                </a:solidFill>
                <a:latin typeface="Arial"/>
              </a:rPr>
              <a:t>“List the steps of [process] in order, who does each, and the deadline or rule attached to each, citing the source for every step.”</a:t>
            </a:r>
          </a:p>
        </p:txBody>
      </p:sp>
      <p:sp>
        <p:nvSpPr>
          <p:cNvPr id="16" name="Rectangle 15"/>
          <p:cNvSpPr/>
          <p:nvPr/>
        </p:nvSpPr>
        <p:spPr>
          <a:xfrm>
            <a:off x="548640" y="2999232"/>
            <a:ext cx="11091672" cy="67665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99232"/>
            <a:ext cx="82296" cy="676656"/>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2999232"/>
            <a:ext cx="1837944" cy="676656"/>
          </a:xfrm>
          <a:prstGeom prst="rect">
            <a:avLst/>
          </a:prstGeom>
          <a:noFill/>
        </p:spPr>
        <p:txBody>
          <a:bodyPr wrap="square" anchor="ctr" lIns="128016" tIns="18288" bIns="18288">
            <a:spAutoFit/>
          </a:bodyPr>
          <a:lstStyle/>
          <a:p>
            <a:pPr algn="l"/>
            <a:r>
              <a:rPr sz="1200" b="1" i="0">
                <a:solidFill>
                  <a:srgbClr val="12213A"/>
                </a:solidFill>
                <a:latin typeface="Arial"/>
              </a:rPr>
              <a:t>Guide</a:t>
            </a:r>
          </a:p>
        </p:txBody>
      </p:sp>
      <p:sp>
        <p:nvSpPr>
          <p:cNvPr id="19" name="TextBox 18"/>
          <p:cNvSpPr txBox="1"/>
          <p:nvPr/>
        </p:nvSpPr>
        <p:spPr>
          <a:xfrm>
            <a:off x="2468880" y="2999232"/>
            <a:ext cx="9171432" cy="676656"/>
          </a:xfrm>
          <a:prstGeom prst="rect">
            <a:avLst/>
          </a:prstGeom>
          <a:noFill/>
        </p:spPr>
        <p:txBody>
          <a:bodyPr wrap="square" anchor="ctr" lIns="128016" tIns="18288" bIns="18288">
            <a:spAutoFit/>
          </a:bodyPr>
          <a:lstStyle/>
          <a:p>
            <a:pPr algn="l"/>
            <a:r>
              <a:rPr sz="1200" b="0" i="0">
                <a:solidFill>
                  <a:srgbClr val="26313F"/>
                </a:solidFill>
                <a:latin typeface="Arial"/>
              </a:rPr>
              <a:t>“Write a how-to for a colleague doing [task] for the first time: prerequisites, steps, common mistakes, citing the source per step.”</a:t>
            </a:r>
          </a:p>
        </p:txBody>
      </p:sp>
      <p:sp>
        <p:nvSpPr>
          <p:cNvPr id="20" name="Rectangle 19"/>
          <p:cNvSpPr/>
          <p:nvPr/>
        </p:nvSpPr>
        <p:spPr>
          <a:xfrm>
            <a:off x="548640" y="3739896"/>
            <a:ext cx="11091672" cy="67665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739896"/>
            <a:ext cx="82296" cy="676656"/>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3739896"/>
            <a:ext cx="1837944" cy="676656"/>
          </a:xfrm>
          <a:prstGeom prst="rect">
            <a:avLst/>
          </a:prstGeom>
          <a:noFill/>
        </p:spPr>
        <p:txBody>
          <a:bodyPr wrap="square" anchor="ctr" lIns="128016" tIns="18288" bIns="18288">
            <a:spAutoFit/>
          </a:bodyPr>
          <a:lstStyle/>
          <a:p>
            <a:pPr algn="l"/>
            <a:r>
              <a:rPr sz="1200" b="1" i="0">
                <a:solidFill>
                  <a:srgbClr val="12213A"/>
                </a:solidFill>
                <a:latin typeface="Arial"/>
              </a:rPr>
              <a:t>Project</a:t>
            </a:r>
          </a:p>
        </p:txBody>
      </p:sp>
      <p:sp>
        <p:nvSpPr>
          <p:cNvPr id="23" name="TextBox 22"/>
          <p:cNvSpPr txBox="1"/>
          <p:nvPr/>
        </p:nvSpPr>
        <p:spPr>
          <a:xfrm>
            <a:off x="2468880" y="3739896"/>
            <a:ext cx="9171432" cy="676656"/>
          </a:xfrm>
          <a:prstGeom prst="rect">
            <a:avLst/>
          </a:prstGeom>
          <a:noFill/>
        </p:spPr>
        <p:txBody>
          <a:bodyPr wrap="square" anchor="ctr" lIns="128016" tIns="18288" bIns="18288">
            <a:spAutoFit/>
          </a:bodyPr>
          <a:lstStyle/>
          <a:p>
            <a:pPr algn="l"/>
            <a:r>
              <a:rPr sz="1200" b="0" i="0">
                <a:solidFill>
                  <a:srgbClr val="26313F"/>
                </a:solidFill>
                <a:latin typeface="Arial"/>
              </a:rPr>
              <a:t>“Summarise the project: aim, partners (as anonymised in the sources), funding scheme, timeline, key obligations; one line per item with its citation.”</a:t>
            </a:r>
          </a:p>
        </p:txBody>
      </p:sp>
      <p:sp>
        <p:nvSpPr>
          <p:cNvPr id="24" name="Rectangle 23"/>
          <p:cNvSpPr/>
          <p:nvPr/>
        </p:nvSpPr>
        <p:spPr>
          <a:xfrm>
            <a:off x="548640" y="4572000"/>
            <a:ext cx="11091672" cy="658368"/>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400" b="1" i="0">
                <a:solidFill>
                  <a:srgbClr val="FFFFFF"/>
                </a:solidFill>
                <a:latin typeface="Georgia"/>
              </a:rPr>
              <a:t>Each answer becomes one note in the vault, with a source line: notebook name · source document · section</a:t>
            </a:r>
          </a:p>
        </p:txBody>
      </p:sp>
      <p:sp>
        <p:nvSpPr>
          <p:cNvPr id="25" name="TextBox 24"/>
          <p:cNvSpPr txBox="1"/>
          <p:nvPr/>
        </p:nvSpPr>
        <p:spPr>
          <a:xfrm>
            <a:off x="548640" y="5349240"/>
            <a:ext cx="11091672" cy="365760"/>
          </a:xfrm>
          <a:prstGeom prst="rect">
            <a:avLst/>
          </a:prstGeom>
          <a:noFill/>
        </p:spPr>
        <p:txBody>
          <a:bodyPr wrap="square">
            <a:spAutoFit/>
          </a:bodyPr>
          <a:lstStyle/>
          <a:p>
            <a:pPr algn="l"/>
            <a:r>
              <a:rPr sz="1200" b="1" i="0">
                <a:solidFill>
                  <a:srgbClr val="12213A"/>
                </a:solidFill>
                <a:latin typeface="Arial"/>
              </a:rPr>
              <a:t>An answer without a citation does not become a note. That is Lesson 1's rule — verify anything you would sign your name to — operationalised: the notebook does the citing, the person does the checking.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700" b="1" i="0">
                <a:solidFill>
                  <a:srgbClr val="12213A"/>
                </a:solidFill>
                <a:latin typeface="Georgia"/>
              </a:rPr>
              <a:t>Perplexity, in passing</a:t>
            </a:r>
          </a:p>
        </p:txBody>
      </p:sp>
      <p:sp>
        <p:nvSpPr>
          <p:cNvPr id="3" name="Rectangle 2"/>
          <p:cNvSpPr/>
          <p:nvPr/>
        </p:nvSpPr>
        <p:spPr>
          <a:xfrm>
            <a:off x="548640" y="457200"/>
            <a:ext cx="109728" cy="5943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DAILY DRIVER · CLOUD MODEL</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200" b="0" i="0">
                <a:solidFill>
                  <a:srgbClr val="6E7A88"/>
                </a:solidFill>
                <a:latin typeface="Arial"/>
              </a:rPr>
              <a:t>Not a course tool and not on the KM System's path — named because you have a free account from Lesson 1 and will ask: “what if the source does not exist in my notebook yet?”</a:t>
            </a:r>
          </a:p>
        </p:txBody>
      </p:sp>
      <p:sp>
        <p:nvSpPr>
          <p:cNvPr id="7" name="Rectangle 6"/>
          <p:cNvSpPr/>
          <p:nvPr/>
        </p:nvSpPr>
        <p:spPr>
          <a:xfrm>
            <a:off x="548640" y="1874519"/>
            <a:ext cx="11091672" cy="96012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A search engine that answers with inline citations to current web pages</a:t>
            </a:r>
          </a:p>
          <a:p>
            <a:pPr>
              <a:spcBef>
                <a:spcPts val="300"/>
              </a:spcBef>
            </a:pPr>
            <a:r>
              <a:rPr sz="1150" b="0" i="0">
                <a:solidFill>
                  <a:srgbClr val="26313F"/>
                </a:solidFill>
                <a:latin typeface="Arial"/>
              </a:rPr>
              <a:t>Free tier: unlimited basic cited searches, a few “Pro” searches a day. Its persistent workspaces (Spaces) are paid-only and are not used.</a:t>
            </a:r>
          </a:p>
        </p:txBody>
      </p:sp>
      <p:sp>
        <p:nvSpPr>
          <p:cNvPr id="8" name="Rectangle 7"/>
          <p:cNvSpPr/>
          <p:nvPr/>
        </p:nvSpPr>
        <p:spPr>
          <a:xfrm>
            <a:off x="548640" y="1874519"/>
            <a:ext cx="82296" cy="96012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971800"/>
            <a:ext cx="5440680" cy="1600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For research management</a:t>
            </a:r>
          </a:p>
          <a:p>
            <a:pPr>
              <a:spcBef>
                <a:spcPts val="300"/>
              </a:spcBef>
            </a:pPr>
            <a:r>
              <a:rPr sz="1150" b="0" i="0">
                <a:solidFill>
                  <a:srgbClr val="26313F"/>
                </a:solidFill>
                <a:latin typeface="Arial"/>
              </a:rPr>
              <a:t>A fast, cited first answer on anything current that a static document cannot hold: a call's latest amendment, a portal change, a policy update. The citations are the point; the answer is not used without opening them.</a:t>
            </a:r>
          </a:p>
        </p:txBody>
      </p:sp>
      <p:sp>
        <p:nvSpPr>
          <p:cNvPr id="10" name="Rectangle 9"/>
          <p:cNvSpPr/>
          <p:nvPr/>
        </p:nvSpPr>
        <p:spPr>
          <a:xfrm>
            <a:off x="548640" y="2971800"/>
            <a:ext cx="82296" cy="1600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2971800"/>
            <a:ext cx="5440680" cy="1600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For knowledge management</a:t>
            </a:r>
          </a:p>
          <a:p>
            <a:pPr>
              <a:spcBef>
                <a:spcPts val="300"/>
              </a:spcBef>
            </a:pPr>
            <a:r>
              <a:rPr sz="1150" b="0" i="0">
                <a:solidFill>
                  <a:srgbClr val="26313F"/>
                </a:solidFill>
                <a:latin typeface="Arial"/>
              </a:rPr>
              <a:t>Every answer arrives with its sources, so a claim can enter the vault with its source line in one step — or better, the cited page becomes a new source in the notebook, so the notebook stays the distiller and the vault the source of truth.</a:t>
            </a:r>
          </a:p>
        </p:txBody>
      </p:sp>
      <p:sp>
        <p:nvSpPr>
          <p:cNvPr id="12" name="Rectangle 11"/>
          <p:cNvSpPr/>
          <p:nvPr/>
        </p:nvSpPr>
        <p:spPr>
          <a:xfrm>
            <a:off x="6199632" y="2971800"/>
            <a:ext cx="82296" cy="1600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754880"/>
            <a:ext cx="11091672" cy="9144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Georgia"/>
              </a:rPr>
              <a:t>find → ground → keep</a:t>
            </a:r>
          </a:p>
          <a:p>
            <a:pPr algn="ctr">
              <a:spcBef>
                <a:spcPts val="600"/>
              </a:spcBef>
            </a:pPr>
            <a:r>
              <a:rPr sz="1300" b="0" i="0">
                <a:solidFill>
                  <a:srgbClr val="FFFFFF"/>
                </a:solidFill>
                <a:latin typeface="Arial"/>
              </a:rPr>
              <a:t>Perplexity (or Deep Research in the notebook) finds the source; the notebook grounds it; the vault keeps it  ·  Daily Driver  ·  anonymised or public content only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600" b="1" i="0">
                <a:solidFill>
                  <a:srgbClr val="12213A"/>
                </a:solidFill>
                <a:latin typeface="Georgia"/>
              </a:rPr>
              <a:t>Demo script — six steps, fictional material</a:t>
            </a:r>
          </a:p>
        </p:txBody>
      </p:sp>
      <p:sp>
        <p:nvSpPr>
          <p:cNvPr id="3" name="Rectangle 2"/>
          <p:cNvSpPr/>
          <p:nvPr/>
        </p:nvSpPr>
        <p:spPr>
          <a:xfrm>
            <a:off x="548640" y="457200"/>
            <a:ext cx="109728" cy="5943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DAILY DRIVER · CLOUD MODEL</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80160"/>
            <a:ext cx="11091672" cy="50292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Georgia"/>
              </a:rPr>
              <a:t>▶ LIVE DEMO — NotebookLM in the facilitator's own Google account, ≈6 of the 20 minutes, interleaved with the slides</a:t>
            </a:r>
          </a:p>
        </p:txBody>
      </p:sp>
      <p:sp>
        <p:nvSpPr>
          <p:cNvPr id="7" name="Rectangle 6"/>
          <p:cNvSpPr/>
          <p:nvPr/>
        </p:nvSpPr>
        <p:spPr>
          <a:xfrm>
            <a:off x="548640" y="1280160"/>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80160"/>
            <a:ext cx="45720" cy="50292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56816"/>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1</a:t>
            </a:r>
          </a:p>
        </p:txBody>
      </p:sp>
      <p:sp>
        <p:nvSpPr>
          <p:cNvPr id="10" name="Rectangle 9"/>
          <p:cNvSpPr/>
          <p:nvPr/>
        </p:nvSpPr>
        <p:spPr>
          <a:xfrm>
            <a:off x="1143000" y="1920240"/>
            <a:ext cx="9491472"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6313F"/>
                </a:solidFill>
                <a:latin typeface="Arial"/>
              </a:rPr>
              <a:t>Create a notebook “Anchor Project — [fictional name]”; add four sources: call text (PDF), guidelines (PDF), the programme's public FAQ page, own anonymised notes (Markdown); show the count against the 50-source limit</a:t>
            </a:r>
          </a:p>
        </p:txBody>
      </p:sp>
      <p:sp>
        <p:nvSpPr>
          <p:cNvPr id="11" name="Rectangle 10"/>
          <p:cNvSpPr/>
          <p:nvPr/>
        </p:nvSpPr>
        <p:spPr>
          <a:xfrm>
            <a:off x="1143000" y="1920240"/>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725912" y="1920240"/>
            <a:ext cx="914400"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1.5 min</a:t>
            </a:r>
          </a:p>
        </p:txBody>
      </p:sp>
      <p:sp>
        <p:nvSpPr>
          <p:cNvPr id="13" name="Rectangle 12"/>
          <p:cNvSpPr/>
          <p:nvPr/>
        </p:nvSpPr>
        <p:spPr>
          <a:xfrm>
            <a:off x="10725912" y="1920240"/>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560320"/>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2</a:t>
            </a:r>
          </a:p>
        </p:txBody>
      </p:sp>
      <p:sp>
        <p:nvSpPr>
          <p:cNvPr id="15" name="Rectangle 14"/>
          <p:cNvSpPr/>
          <p:nvPr/>
        </p:nvSpPr>
        <p:spPr>
          <a:xfrm>
            <a:off x="1143000" y="2523744"/>
            <a:ext cx="9491472"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6313F"/>
                </a:solidFill>
                <a:latin typeface="Arial"/>
              </a:rPr>
              <a:t>Ask one concept question from the question-shape table; click through one citation to its passage; ask a follow-up the sources do not answer and show the notebook say so</a:t>
            </a:r>
          </a:p>
        </p:txBody>
      </p:sp>
      <p:sp>
        <p:nvSpPr>
          <p:cNvPr id="16" name="Rectangle 15"/>
          <p:cNvSpPr/>
          <p:nvPr/>
        </p:nvSpPr>
        <p:spPr>
          <a:xfrm>
            <a:off x="1143000" y="2523744"/>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725912" y="2523744"/>
            <a:ext cx="914400"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2 min</a:t>
            </a:r>
          </a:p>
        </p:txBody>
      </p:sp>
      <p:sp>
        <p:nvSpPr>
          <p:cNvPr id="18" name="Rectangle 17"/>
          <p:cNvSpPr/>
          <p:nvPr/>
        </p:nvSpPr>
        <p:spPr>
          <a:xfrm>
            <a:off x="10725912" y="2523744"/>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163824"/>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3</a:t>
            </a:r>
          </a:p>
        </p:txBody>
      </p:sp>
      <p:sp>
        <p:nvSpPr>
          <p:cNvPr id="20" name="Rectangle 19"/>
          <p:cNvSpPr/>
          <p:nvPr/>
        </p:nvSpPr>
        <p:spPr>
          <a:xfrm>
            <a:off x="1143000" y="3127248"/>
            <a:ext cx="9491472"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6313F"/>
                </a:solidFill>
                <a:latin typeface="Arial"/>
              </a:rPr>
              <a:t>Generate one report (briefing document) with the process question shape; leave it on screen — the input to Segment 3's demo</a:t>
            </a:r>
          </a:p>
        </p:txBody>
      </p:sp>
      <p:sp>
        <p:nvSpPr>
          <p:cNvPr id="21" name="Rectangle 20"/>
          <p:cNvSpPr/>
          <p:nvPr/>
        </p:nvSpPr>
        <p:spPr>
          <a:xfrm>
            <a:off x="1143000" y="3127248"/>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725912" y="3127248"/>
            <a:ext cx="914400"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1 min</a:t>
            </a:r>
          </a:p>
        </p:txBody>
      </p:sp>
      <p:sp>
        <p:nvSpPr>
          <p:cNvPr id="23" name="Rectangle 22"/>
          <p:cNvSpPr/>
          <p:nvPr/>
        </p:nvSpPr>
        <p:spPr>
          <a:xfrm>
            <a:off x="10725912" y="3127248"/>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767328"/>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4</a:t>
            </a:r>
          </a:p>
        </p:txBody>
      </p:sp>
      <p:sp>
        <p:nvSpPr>
          <p:cNvPr id="25" name="Rectangle 24"/>
          <p:cNvSpPr/>
          <p:nvPr/>
        </p:nvSpPr>
        <p:spPr>
          <a:xfrm>
            <a:off x="1143000" y="3730752"/>
            <a:ext cx="9491472"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6313F"/>
                </a:solidFill>
                <a:latin typeface="Arial"/>
              </a:rPr>
              <a:t>Mind map: open it, point at the three or four nodes that will become linked notes</a:t>
            </a:r>
          </a:p>
        </p:txBody>
      </p:sp>
      <p:sp>
        <p:nvSpPr>
          <p:cNvPr id="26" name="Rectangle 25"/>
          <p:cNvSpPr/>
          <p:nvPr/>
        </p:nvSpPr>
        <p:spPr>
          <a:xfrm>
            <a:off x="1143000" y="3730752"/>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725912" y="3730752"/>
            <a:ext cx="914400"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30 s</a:t>
            </a:r>
          </a:p>
        </p:txBody>
      </p:sp>
      <p:sp>
        <p:nvSpPr>
          <p:cNvPr id="28" name="Rectangle 27"/>
          <p:cNvSpPr/>
          <p:nvPr/>
        </p:nvSpPr>
        <p:spPr>
          <a:xfrm>
            <a:off x="10725912" y="3730752"/>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370832"/>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5</a:t>
            </a:r>
          </a:p>
        </p:txBody>
      </p:sp>
      <p:sp>
        <p:nvSpPr>
          <p:cNvPr id="30" name="Rectangle 29"/>
          <p:cNvSpPr/>
          <p:nvPr/>
        </p:nvSpPr>
        <p:spPr>
          <a:xfrm>
            <a:off x="1143000" y="4334256"/>
            <a:ext cx="9491472"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6313F"/>
                </a:solidFill>
                <a:latin typeface="Arial"/>
              </a:rPr>
              <a:t>Audio Overview: play 20 seconds of one prepared beforehand; show the interrupt button</a:t>
            </a:r>
          </a:p>
        </p:txBody>
      </p:sp>
      <p:sp>
        <p:nvSpPr>
          <p:cNvPr id="31" name="Rectangle 30"/>
          <p:cNvSpPr/>
          <p:nvPr/>
        </p:nvSpPr>
        <p:spPr>
          <a:xfrm>
            <a:off x="1143000" y="4334256"/>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25912" y="4334256"/>
            <a:ext cx="914400"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1 min</a:t>
            </a:r>
          </a:p>
        </p:txBody>
      </p:sp>
      <p:sp>
        <p:nvSpPr>
          <p:cNvPr id="33" name="Rectangle 32"/>
          <p:cNvSpPr/>
          <p:nvPr/>
        </p:nvSpPr>
        <p:spPr>
          <a:xfrm>
            <a:off x="10725912" y="4334256"/>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4974336"/>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6</a:t>
            </a:r>
          </a:p>
        </p:txBody>
      </p:sp>
      <p:sp>
        <p:nvSpPr>
          <p:cNvPr id="35" name="Rectangle 34"/>
          <p:cNvSpPr/>
          <p:nvPr/>
        </p:nvSpPr>
        <p:spPr>
          <a:xfrm>
            <a:off x="1143000" y="4937760"/>
            <a:ext cx="9491472"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6313F"/>
                </a:solidFill>
                <a:latin typeface="Arial"/>
              </a:rPr>
              <a:t>Deep Research and Perplexity: slide only, the routing line find → ground → keep</a:t>
            </a:r>
          </a:p>
        </p:txBody>
      </p:sp>
      <p:sp>
        <p:nvSpPr>
          <p:cNvPr id="36" name="Rectangle 35"/>
          <p:cNvSpPr/>
          <p:nvPr/>
        </p:nvSpPr>
        <p:spPr>
          <a:xfrm>
            <a:off x="1143000" y="4937760"/>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725912" y="4937760"/>
            <a:ext cx="914400"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30 s</a:t>
            </a:r>
          </a:p>
        </p:txBody>
      </p:sp>
      <p:sp>
        <p:nvSpPr>
          <p:cNvPr id="38" name="Rectangle 37"/>
          <p:cNvSpPr/>
          <p:nvPr/>
        </p:nvSpPr>
        <p:spPr>
          <a:xfrm>
            <a:off x="10725912" y="4937760"/>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5596128"/>
            <a:ext cx="11091672" cy="56692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250" b="1" i="0">
                <a:solidFill>
                  <a:srgbClr val="FFFFFF"/>
                </a:solidFill>
                <a:latin typeface="Georgia"/>
              </a:rPr>
              <a:t>Everything on screen is fictional  ·  numbers are “at the time of writing”  ·  a missing Studio output is shown as a slide and marked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234440"/>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822960"/>
          <a:lstStyle/>
          <a:p>
            <a:pPr algn="ctr"/>
            <a:r>
              <a:rPr sz="1300" b="1" i="0">
                <a:solidFill>
                  <a:srgbClr val="FFFFFF"/>
                </a:solidFill>
                <a:latin typeface="Arial"/>
              </a:rPr>
              <a:t>SEGMENT 3 OF 5   ·   LOCAL · NOTHING LEAVES THE MACHINE</a:t>
            </a:r>
          </a:p>
        </p:txBody>
      </p:sp>
      <p:sp>
        <p:nvSpPr>
          <p:cNvPr id="3" name="Oval 2"/>
          <p:cNvSpPr/>
          <p:nvPr/>
        </p:nvSpPr>
        <p:spPr>
          <a:xfrm>
            <a:off x="822960" y="1920240"/>
            <a:ext cx="2194560" cy="2194560"/>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800" b="1" i="0">
                <a:solidFill>
                  <a:srgbClr val="FFFFFF"/>
                </a:solidFill>
                <a:latin typeface="Georgia"/>
              </a:rPr>
              <a:t>3</a:t>
            </a:r>
          </a:p>
        </p:txBody>
      </p:sp>
      <p:sp>
        <p:nvSpPr>
          <p:cNvPr id="4" name="TextBox 3"/>
          <p:cNvSpPr txBox="1"/>
          <p:nvPr/>
        </p:nvSpPr>
        <p:spPr>
          <a:xfrm>
            <a:off x="3566160" y="1828800"/>
            <a:ext cx="8046720" cy="1554480"/>
          </a:xfrm>
          <a:prstGeom prst="rect">
            <a:avLst/>
          </a:prstGeom>
          <a:noFill/>
        </p:spPr>
        <p:txBody>
          <a:bodyPr wrap="square" anchor="b">
            <a:spAutoFit/>
          </a:bodyPr>
          <a:lstStyle/>
          <a:p>
            <a:pPr algn="l"/>
            <a:r>
              <a:rPr sz="3200" b="1" i="0">
                <a:solidFill>
                  <a:srgbClr val="12213A"/>
                </a:solidFill>
                <a:latin typeface="Georgia"/>
              </a:rPr>
              <a:t>Obsidian: the Personal Vault and its two plugins</a:t>
            </a:r>
          </a:p>
        </p:txBody>
      </p:sp>
      <p:sp>
        <p:nvSpPr>
          <p:cNvPr id="5" name="Rectangle 4"/>
          <p:cNvSpPr/>
          <p:nvPr/>
        </p:nvSpPr>
        <p:spPr>
          <a:xfrm>
            <a:off x="3566160" y="3520440"/>
            <a:ext cx="1097280" cy="381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3657600"/>
            <a:ext cx="8046720" cy="457200"/>
          </a:xfrm>
          <a:prstGeom prst="rect">
            <a:avLst/>
          </a:prstGeom>
          <a:noFill/>
        </p:spPr>
        <p:txBody>
          <a:bodyPr wrap="square">
            <a:spAutoFit/>
          </a:bodyPr>
          <a:lstStyle/>
          <a:p>
            <a:pPr algn="l"/>
            <a:r>
              <a:rPr sz="1800" b="1" i="0">
                <a:solidFill>
                  <a:srgbClr val="2E7D5B"/>
                </a:solidFill>
                <a:latin typeface="Arial"/>
              </a:rPr>
              <a:t>20 min · Live facilitator demo</a:t>
            </a:r>
          </a:p>
        </p:txBody>
      </p:sp>
      <p:sp>
        <p:nvSpPr>
          <p:cNvPr id="7" name="TextBox 6"/>
          <p:cNvSpPr txBox="1"/>
          <p:nvPr/>
        </p:nvSpPr>
        <p:spPr>
          <a:xfrm>
            <a:off x="3566160" y="4114800"/>
            <a:ext cx="8046720" cy="365760"/>
          </a:xfrm>
          <a:prstGeom prst="rect">
            <a:avLst/>
          </a:prstGeom>
          <a:noFill/>
        </p:spPr>
        <p:txBody>
          <a:bodyPr wrap="square">
            <a:spAutoFit/>
          </a:bodyPr>
          <a:lstStyle/>
          <a:p>
            <a:pPr algn="l"/>
            <a:r>
              <a:rPr sz="1200" b="0" i="0">
                <a:solidFill>
                  <a:srgbClr val="6E7A88"/>
                </a:solidFill>
                <a:latin typeface="Arial"/>
              </a:rPr>
              <a:t>Segment 3 of 5</a:t>
            </a:r>
          </a:p>
        </p:txBody>
      </p:sp>
      <p:sp>
        <p:nvSpPr>
          <p:cNvPr id="8" name="Rectangle 7"/>
          <p:cNvSpPr/>
          <p:nvPr/>
        </p:nvSpPr>
        <p:spPr>
          <a:xfrm>
            <a:off x="35661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519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37760" y="5989320"/>
            <a:ext cx="502920" cy="731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235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700" b="1" i="0">
                <a:solidFill>
                  <a:srgbClr val="12213A"/>
                </a:solidFill>
                <a:latin typeface="Georgia"/>
              </a:rPr>
              <a:t>What Obsidian is</a:t>
            </a:r>
          </a:p>
        </p:txBody>
      </p:sp>
      <p:sp>
        <p:nvSpPr>
          <p:cNvPr id="3" name="Rectangle 2"/>
          <p:cNvSpPr/>
          <p:nvPr/>
        </p:nvSpPr>
        <p:spPr>
          <a:xfrm>
            <a:off x="548640" y="457200"/>
            <a:ext cx="109728" cy="5943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LOCAL · NOTHING LEAVES THE MACHINE</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98448"/>
            <a:ext cx="5440680" cy="13258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2213A"/>
                </a:solidFill>
                <a:latin typeface="Georgia"/>
              </a:rPr>
              <a:t>Notes as plain Markdown files in a folder on your disk</a:t>
            </a:r>
          </a:p>
          <a:p>
            <a:pPr>
              <a:spcBef>
                <a:spcPts val="300"/>
              </a:spcBef>
            </a:pPr>
            <a:r>
              <a:rPr sz="1200" b="0" i="0">
                <a:solidFill>
                  <a:srgbClr val="26313F"/>
                </a:solidFill>
                <a:latin typeface="Arial"/>
              </a:rPr>
              <a:t>No account, no cloud, no lock-in: the vault is a folder, and any text editor can open it. Nothing in Obsidian requires an account.</a:t>
            </a:r>
          </a:p>
        </p:txBody>
      </p:sp>
      <p:sp>
        <p:nvSpPr>
          <p:cNvPr id="7" name="Rectangle 6"/>
          <p:cNvSpPr/>
          <p:nvPr/>
        </p:nvSpPr>
        <p:spPr>
          <a:xfrm>
            <a:off x="548640" y="1298448"/>
            <a:ext cx="82296" cy="13258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9632" y="1298448"/>
            <a:ext cx="5440680" cy="13258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2213A"/>
                </a:solidFill>
                <a:latin typeface="Georgia"/>
              </a:rPr>
              <a:t>Free for personal use</a:t>
            </a:r>
          </a:p>
          <a:p>
            <a:pPr>
              <a:spcBef>
                <a:spcPts val="300"/>
              </a:spcBef>
            </a:pPr>
            <a:r>
              <a:rPr sz="1200" b="0" i="0">
                <a:solidFill>
                  <a:srgbClr val="26313F"/>
                </a:solidFill>
                <a:latin typeface="Arial"/>
              </a:rPr>
              <a:t>The paid add-ons (Sync, Publish) are not used.</a:t>
            </a:r>
          </a:p>
        </p:txBody>
      </p:sp>
      <p:sp>
        <p:nvSpPr>
          <p:cNvPr id="9" name="Rectangle 8"/>
          <p:cNvSpPr/>
          <p:nvPr/>
        </p:nvSpPr>
        <p:spPr>
          <a:xfrm>
            <a:off x="6199632" y="1298448"/>
            <a:ext cx="82296" cy="13258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761488"/>
            <a:ext cx="5440680" cy="13258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2213A"/>
                </a:solidFill>
                <a:latin typeface="Georgia"/>
              </a:rPr>
              <a:t>The fourth floor of the four-floor map</a:t>
            </a:r>
          </a:p>
          <a:p>
            <a:pPr>
              <a:spcBef>
                <a:spcPts val="300"/>
              </a:spcBef>
            </a:pPr>
            <a:r>
              <a:rPr sz="1200" b="0" i="0">
                <a:solidFill>
                  <a:srgbClr val="26313F"/>
                </a:solidFill>
                <a:latin typeface="Arial"/>
              </a:rPr>
              <a:t>Where the notebook's output becomes durable, linked, navigable work.</a:t>
            </a:r>
          </a:p>
        </p:txBody>
      </p:sp>
      <p:sp>
        <p:nvSpPr>
          <p:cNvPr id="11" name="Rectangle 10"/>
          <p:cNvSpPr/>
          <p:nvPr/>
        </p:nvSpPr>
        <p:spPr>
          <a:xfrm>
            <a:off x="548640" y="2761488"/>
            <a:ext cx="82296" cy="13258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2761488"/>
            <a:ext cx="5440680" cy="13258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2213A"/>
                </a:solidFill>
                <a:latin typeface="Georgia"/>
              </a:rPr>
              <a:t>One connecting thread</a:t>
            </a:r>
          </a:p>
          <a:p>
            <a:pPr>
              <a:spcBef>
                <a:spcPts val="300"/>
              </a:spcBef>
            </a:pPr>
            <a:r>
              <a:rPr sz="1200" b="0" i="0">
                <a:solidFill>
                  <a:srgbClr val="26313F"/>
                </a:solidFill>
                <a:latin typeface="Arial"/>
              </a:rPr>
              <a:t>Work scattered across four places has no connecting thread; the vault is the thread.</a:t>
            </a:r>
          </a:p>
        </p:txBody>
      </p:sp>
      <p:sp>
        <p:nvSpPr>
          <p:cNvPr id="13" name="Rectangle 12"/>
          <p:cNvSpPr/>
          <p:nvPr/>
        </p:nvSpPr>
        <p:spPr>
          <a:xfrm>
            <a:off x="6199632" y="2761488"/>
            <a:ext cx="82296" cy="13258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315968"/>
            <a:ext cx="11091672" cy="10515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Georgia"/>
              </a:rPr>
              <a:t>Installation flag</a:t>
            </a:r>
          </a:p>
          <a:p>
            <a:pPr algn="ctr">
              <a:spcBef>
                <a:spcPts val="600"/>
              </a:spcBef>
            </a:pPr>
            <a:r>
              <a:rPr sz="1300" b="0" i="0">
                <a:solidFill>
                  <a:srgbClr val="FFFFFF"/>
                </a:solidFill>
                <a:latin typeface="Arial"/>
              </a:rPr>
              <a:t>Desktop application (Windows, macOS, Linux; mobile apps exist). On institutionally managed machines the installer may need administrator rights: confirmed the week before; if not, the portable build or a personal device for the hands-on block.</a:t>
            </a:r>
          </a:p>
        </p:txBody>
      </p:sp>
      <p:sp>
        <p:nvSpPr>
          <p:cNvPr id="15" name="TextBox 14"/>
          <p:cNvSpPr txBox="1"/>
          <p:nvPr/>
        </p:nvSpPr>
        <p:spPr>
          <a:xfrm>
            <a:off x="548640" y="5532120"/>
            <a:ext cx="11091672" cy="365760"/>
          </a:xfrm>
          <a:prstGeom prst="rect">
            <a:avLst/>
          </a:prstGeom>
          <a:noFill/>
        </p:spPr>
        <p:txBody>
          <a:bodyPr wrap="square">
            <a:spAutoFit/>
          </a:bodyPr>
          <a:lstStyle/>
          <a:p>
            <a:pPr algn="l"/>
            <a:r>
              <a:rPr sz="1100" b="0" i="1">
                <a:solidFill>
                  <a:srgbClr val="6E7A88"/>
                </a:solidFill>
                <a:latin typeface="Arial"/>
              </a:rPr>
              <a:t>This segment stays local for everything that is Obsidian itself; the one cloud call — Copilot for Obsidian — is marked amber when it comes up.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500" b="1" i="0">
                <a:solidFill>
                  <a:srgbClr val="12213A"/>
                </a:solidFill>
                <a:latin typeface="Georgia"/>
              </a:rPr>
              <a:t>The vault: four folders and one note template</a:t>
            </a:r>
          </a:p>
        </p:txBody>
      </p:sp>
      <p:sp>
        <p:nvSpPr>
          <p:cNvPr id="3" name="Rectangle 2"/>
          <p:cNvSpPr/>
          <p:nvPr/>
        </p:nvSpPr>
        <p:spPr>
          <a:xfrm>
            <a:off x="548640" y="457200"/>
            <a:ext cx="109728" cy="5943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LOCAL · NOTHING LEAVES THE MACHINE</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98448"/>
            <a:ext cx="4206240" cy="237744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One vault per participant, named after the Anchor Project</a:t>
            </a:r>
          </a:p>
          <a:p>
            <a:pPr>
              <a:spcBef>
                <a:spcPts val="200"/>
              </a:spcBef>
            </a:pPr>
            <a:r>
              <a:rPr sz="1250" b="0" i="0">
                <a:solidFill>
                  <a:srgbClr val="26313F"/>
                </a:solidFill>
                <a:latin typeface="Arial"/>
              </a:rPr>
              <a:t>Anchor Project vault/</a:t>
            </a:r>
          </a:p>
          <a:p>
            <a:pPr>
              <a:spcBef>
                <a:spcPts val="200"/>
              </a:spcBef>
            </a:pPr>
            <a:r>
              <a:rPr sz="1250" b="0" i="0">
                <a:solidFill>
                  <a:srgbClr val="26313F"/>
                </a:solidFill>
                <a:latin typeface="Arial"/>
              </a:rPr>
              <a:t>├── concepts/</a:t>
            </a:r>
          </a:p>
          <a:p>
            <a:pPr>
              <a:spcBef>
                <a:spcPts val="200"/>
              </a:spcBef>
            </a:pPr>
            <a:r>
              <a:rPr sz="1250" b="0" i="0">
                <a:solidFill>
                  <a:srgbClr val="26313F"/>
                </a:solidFill>
                <a:latin typeface="Arial"/>
              </a:rPr>
              <a:t>├── processes/</a:t>
            </a:r>
          </a:p>
          <a:p>
            <a:pPr>
              <a:spcBef>
                <a:spcPts val="200"/>
              </a:spcBef>
            </a:pPr>
            <a:r>
              <a:rPr sz="1250" b="0" i="0">
                <a:solidFill>
                  <a:srgbClr val="26313F"/>
                </a:solidFill>
                <a:latin typeface="Arial"/>
              </a:rPr>
              <a:t>├── guides/</a:t>
            </a:r>
          </a:p>
          <a:p>
            <a:pPr>
              <a:spcBef>
                <a:spcPts val="200"/>
              </a:spcBef>
            </a:pPr>
            <a:r>
              <a:rPr sz="1250" b="0" i="0">
                <a:solidFill>
                  <a:srgbClr val="26313F"/>
                </a:solidFill>
                <a:latin typeface="Arial"/>
              </a:rPr>
              <a:t>├── projects/</a:t>
            </a:r>
          </a:p>
          <a:p>
            <a:pPr>
              <a:spcBef>
                <a:spcPts val="200"/>
              </a:spcBef>
            </a:pPr>
            <a:r>
              <a:rPr sz="1250" b="0" i="0">
                <a:solidFill>
                  <a:srgbClr val="26313F"/>
                </a:solidFill>
                <a:latin typeface="Arial"/>
              </a:rPr>
              <a:t>└── _templates/      (one note template)</a:t>
            </a:r>
          </a:p>
        </p:txBody>
      </p:sp>
      <p:sp>
        <p:nvSpPr>
          <p:cNvPr id="7" name="Rectangle 6"/>
          <p:cNvSpPr/>
          <p:nvPr/>
        </p:nvSpPr>
        <p:spPr>
          <a:xfrm>
            <a:off x="548640" y="1298448"/>
            <a:ext cx="82296" cy="237744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813048"/>
            <a:ext cx="4206240" cy="192024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The human gate, made visible</a:t>
            </a:r>
          </a:p>
          <a:p>
            <a:pPr>
              <a:spcBef>
                <a:spcPts val="300"/>
              </a:spcBef>
            </a:pPr>
            <a:r>
              <a:rPr sz="1100" b="0" i="0">
                <a:solidFill>
                  <a:srgbClr val="26313F"/>
                </a:solidFill>
                <a:latin typeface="Arial"/>
              </a:rPr>
              <a:t>·  A note is draft until its text has been checked against the citation, then checked.</a:t>
            </a:r>
          </a:p>
          <a:p>
            <a:pPr>
              <a:spcBef>
                <a:spcPts val="300"/>
              </a:spcBef>
            </a:pPr>
            <a:r>
              <a:rPr sz="1100" b="0" i="0">
                <a:solidFill>
                  <a:srgbClr val="26313F"/>
                </a:solidFill>
                <a:latin typeface="Arial"/>
              </a:rPr>
              <a:t>·  Graph View and the plugins do not care; the participant does.</a:t>
            </a:r>
          </a:p>
          <a:p>
            <a:pPr>
              <a:spcBef>
                <a:spcPts val="300"/>
              </a:spcBef>
            </a:pPr>
            <a:r>
              <a:rPr sz="1100" b="0" i="0">
                <a:solidFill>
                  <a:srgbClr val="26313F"/>
                </a:solidFill>
                <a:latin typeface="Arial"/>
              </a:rPr>
              <a:t>·  The four folders are the four entity types — the wiki's content model, unchanged.</a:t>
            </a:r>
          </a:p>
        </p:txBody>
      </p:sp>
      <p:sp>
        <p:nvSpPr>
          <p:cNvPr id="9" name="Rectangle 8"/>
          <p:cNvSpPr/>
          <p:nvPr/>
        </p:nvSpPr>
        <p:spPr>
          <a:xfrm>
            <a:off x="548640" y="3813048"/>
            <a:ext cx="82296" cy="192024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65192" y="1298448"/>
            <a:ext cx="6675120" cy="393192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The note template — one file in _templates/, inserted into every new note (core Templates plugin)</a:t>
            </a:r>
          </a:p>
          <a:p>
            <a:pPr>
              <a:spcBef>
                <a:spcPts val="200"/>
              </a:spcBef>
            </a:pPr>
            <a:r>
              <a:rPr sz="1250" b="0" i="0">
                <a:solidFill>
                  <a:srgbClr val="26313F"/>
                </a:solidFill>
                <a:latin typeface="Arial"/>
              </a:rPr>
              <a:t>---</a:t>
            </a:r>
          </a:p>
          <a:p>
            <a:pPr>
              <a:spcBef>
                <a:spcPts val="200"/>
              </a:spcBef>
            </a:pPr>
            <a:r>
              <a:rPr sz="1250" b="0" i="0">
                <a:solidFill>
                  <a:srgbClr val="26313F"/>
                </a:solidFill>
                <a:latin typeface="Arial"/>
              </a:rPr>
              <a:t>type: concept | process | guide | project</a:t>
            </a:r>
          </a:p>
          <a:p>
            <a:pPr>
              <a:spcBef>
                <a:spcPts val="200"/>
              </a:spcBef>
            </a:pPr>
            <a:r>
              <a:rPr sz="1250" b="0" i="0">
                <a:solidFill>
                  <a:srgbClr val="26313F"/>
                </a:solidFill>
                <a:latin typeface="Arial"/>
              </a:rPr>
              <a:t>source: &lt;notebook name&gt; · &lt;source document&gt; · &lt;section, if any&gt;</a:t>
            </a:r>
          </a:p>
          <a:p>
            <a:pPr>
              <a:spcBef>
                <a:spcPts val="200"/>
              </a:spcBef>
            </a:pPr>
            <a:r>
              <a:rPr sz="1250" b="0" i="0">
                <a:solidFill>
                  <a:srgbClr val="26313F"/>
                </a:solidFill>
                <a:latin typeface="Arial"/>
              </a:rPr>
              <a:t>captured: YYYY-MM-DD</a:t>
            </a:r>
          </a:p>
          <a:p>
            <a:pPr>
              <a:spcBef>
                <a:spcPts val="200"/>
              </a:spcBef>
            </a:pPr>
            <a:r>
              <a:rPr sz="1250" b="0" i="0">
                <a:solidFill>
                  <a:srgbClr val="26313F"/>
                </a:solidFill>
                <a:latin typeface="Arial"/>
              </a:rPr>
              <a:t>status: draft | checked</a:t>
            </a:r>
          </a:p>
          <a:p>
            <a:pPr>
              <a:spcBef>
                <a:spcPts val="200"/>
              </a:spcBef>
            </a:pPr>
            <a:r>
              <a:rPr sz="1250" b="0" i="0">
                <a:solidFill>
                  <a:srgbClr val="26313F"/>
                </a:solidFill>
                <a:latin typeface="Arial"/>
              </a:rPr>
              <a:t>---</a:t>
            </a:r>
          </a:p>
          <a:p>
            <a:pPr>
              <a:spcBef>
                <a:spcPts val="200"/>
              </a:spcBef>
            </a:pPr>
            <a:r>
              <a:rPr sz="1250" b="0" i="0">
                <a:solidFill>
                  <a:srgbClr val="26313F"/>
                </a:solidFill>
                <a:latin typeface="Arial"/>
              </a:rPr>
              <a:t># &lt;Title&gt;</a:t>
            </a:r>
          </a:p>
          <a:p>
            <a:pPr>
              <a:spcBef>
                <a:spcPts val="200"/>
              </a:spcBef>
            </a:pPr>
            <a:r>
              <a:rPr sz="1250" b="0" i="0">
                <a:solidFill>
                  <a:srgbClr val="26313F"/>
                </a:solidFill>
                <a:latin typeface="Arial"/>
              </a:rPr>
              <a:t>&lt;The checked text from the notebook, edited by you.&gt;</a:t>
            </a:r>
          </a:p>
          <a:p>
            <a:pPr>
              <a:spcBef>
                <a:spcPts val="200"/>
              </a:spcBef>
            </a:pPr>
            <a:r>
              <a:rPr sz="1250" b="0" i="0">
                <a:solidFill>
                  <a:srgbClr val="26313F"/>
                </a:solidFill>
                <a:latin typeface="Arial"/>
              </a:rPr>
              <a:t>## Related</a:t>
            </a:r>
          </a:p>
          <a:p>
            <a:pPr>
              <a:spcBef>
                <a:spcPts val="200"/>
              </a:spcBef>
            </a:pPr>
            <a:r>
              <a:rPr sz="1250" b="0" i="0">
                <a:solidFill>
                  <a:srgbClr val="26313F"/>
                </a:solidFill>
                <a:latin typeface="Arial"/>
              </a:rPr>
              <a:t>- [[ ]]</a:t>
            </a:r>
          </a:p>
        </p:txBody>
      </p:sp>
      <p:sp>
        <p:nvSpPr>
          <p:cNvPr id="11" name="Rectangle 10"/>
          <p:cNvSpPr/>
          <p:nvPr/>
        </p:nvSpPr>
        <p:spPr>
          <a:xfrm>
            <a:off x="4965192" y="1298448"/>
            <a:ext cx="82296" cy="393192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65192" y="5349240"/>
            <a:ext cx="6675120" cy="365760"/>
          </a:xfrm>
          <a:prstGeom prst="rect">
            <a:avLst/>
          </a:prstGeom>
          <a:noFill/>
        </p:spPr>
        <p:txBody>
          <a:bodyPr wrap="square">
            <a:spAutoFit/>
          </a:bodyPr>
          <a:lstStyle/>
          <a:p>
            <a:pPr algn="l"/>
            <a:r>
              <a:rPr sz="1100" b="0" i="1">
                <a:solidFill>
                  <a:srgbClr val="6E7A88"/>
                </a:solidFill>
                <a:latin typeface="Arial"/>
              </a:rPr>
              <a:t>The source and status fields are Segment 2's rule as frontmatter: the notebook's name, the source document and the section; draft until checked.</a:t>
            </a:r>
          </a:p>
        </p:txBody>
      </p:sp>
      <p:sp>
        <p:nvSpPr>
          <p:cNvPr id="13" name="Rectangle 12"/>
          <p:cNvSpPr/>
          <p:nvPr/>
        </p:nvSpPr>
        <p:spPr>
          <a:xfrm>
            <a:off x="548640" y="5852160"/>
            <a:ext cx="11091672" cy="50292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Georgia"/>
              </a:rPr>
              <a:t>▶ LIVE DEMO — steps 1–2: create the vault, paste the Segment 2 briefing, set draft, check one sentence, set checked</a:t>
            </a:r>
          </a:p>
        </p:txBody>
      </p:sp>
      <p:sp>
        <p:nvSpPr>
          <p:cNvPr id="14" name="Rectangle 13"/>
          <p:cNvSpPr/>
          <p:nvPr/>
        </p:nvSpPr>
        <p:spPr>
          <a:xfrm>
            <a:off x="548640" y="5852160"/>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852160"/>
            <a:ext cx="45720" cy="50292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200" b="1" i="0">
                <a:solidFill>
                  <a:srgbClr val="12213A"/>
                </a:solidFill>
                <a:latin typeface="Georgia"/>
              </a:rPr>
              <a:t>Links, backlinks, tags — and the linking discipline</a:t>
            </a:r>
          </a:p>
        </p:txBody>
      </p:sp>
      <p:sp>
        <p:nvSpPr>
          <p:cNvPr id="3" name="Rectangle 2"/>
          <p:cNvSpPr/>
          <p:nvPr/>
        </p:nvSpPr>
        <p:spPr>
          <a:xfrm>
            <a:off x="548640" y="457200"/>
            <a:ext cx="109728" cy="5943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LOCAL · NOTHING LEAVES THE MACHINE</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98448"/>
            <a:ext cx="3566160" cy="18288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2213A"/>
                </a:solidFill>
                <a:latin typeface="Georgia"/>
              </a:rPr>
              <a:t>Links</a:t>
            </a:r>
          </a:p>
          <a:p>
            <a:pPr>
              <a:spcBef>
                <a:spcPts val="300"/>
              </a:spcBef>
            </a:pPr>
            <a:r>
              <a:rPr sz="1200" b="0" i="0">
                <a:solidFill>
                  <a:srgbClr val="26313F"/>
                </a:solidFill>
                <a:latin typeface="Arial"/>
              </a:rPr>
              <a:t>[[Note title]] creates a link; typing [[ offers every note in the vault; a link to a note that does not exist yet creates it when clicked.</a:t>
            </a:r>
          </a:p>
        </p:txBody>
      </p:sp>
      <p:sp>
        <p:nvSpPr>
          <p:cNvPr id="7" name="Rectangle 6"/>
          <p:cNvSpPr/>
          <p:nvPr/>
        </p:nvSpPr>
        <p:spPr>
          <a:xfrm>
            <a:off x="548640" y="1298448"/>
            <a:ext cx="82296" cy="18288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5968" y="1298448"/>
            <a:ext cx="3566160" cy="18288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2213A"/>
                </a:solidFill>
                <a:latin typeface="Georgia"/>
              </a:rPr>
              <a:t>Backlinks</a:t>
            </a:r>
          </a:p>
          <a:p>
            <a:pPr>
              <a:spcBef>
                <a:spcPts val="300"/>
              </a:spcBef>
            </a:pPr>
            <a:r>
              <a:rPr sz="1200" b="0" i="0">
                <a:solidFill>
                  <a:srgbClr val="26313F"/>
                </a:solidFill>
                <a:latin typeface="Arial"/>
              </a:rPr>
              <a:t>The right-hand pane shows every note that points at the current one.</a:t>
            </a:r>
          </a:p>
        </p:txBody>
      </p:sp>
      <p:sp>
        <p:nvSpPr>
          <p:cNvPr id="9" name="Rectangle 8"/>
          <p:cNvSpPr/>
          <p:nvPr/>
        </p:nvSpPr>
        <p:spPr>
          <a:xfrm>
            <a:off x="4315968" y="1298448"/>
            <a:ext cx="82296" cy="18288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74152" y="1298448"/>
            <a:ext cx="3566160" cy="18288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2213A"/>
                </a:solidFill>
                <a:latin typeface="Georgia"/>
              </a:rPr>
              <a:t>Tags</a:t>
            </a:r>
          </a:p>
          <a:p>
            <a:pPr>
              <a:spcBef>
                <a:spcPts val="300"/>
              </a:spcBef>
            </a:pPr>
            <a:r>
              <a:rPr sz="1200" b="0" i="0">
                <a:solidFill>
                  <a:srgbClr val="26313F"/>
                </a:solidFill>
                <a:latin typeface="Arial"/>
              </a:rPr>
              <a:t>#eligible-cost, #deadline — tags cut across the four folders.</a:t>
            </a:r>
          </a:p>
        </p:txBody>
      </p:sp>
      <p:sp>
        <p:nvSpPr>
          <p:cNvPr id="11" name="Rectangle 10"/>
          <p:cNvSpPr/>
          <p:nvPr/>
        </p:nvSpPr>
        <p:spPr>
          <a:xfrm>
            <a:off x="8074152" y="1298448"/>
            <a:ext cx="82296" cy="18288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337560"/>
            <a:ext cx="11091672" cy="8686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Georgia"/>
              </a:rPr>
              <a:t>a note with no links is a file, not knowledge</a:t>
            </a:r>
          </a:p>
          <a:p>
            <a:pPr algn="ctr">
              <a:spcBef>
                <a:spcPts val="600"/>
              </a:spcBef>
            </a:pPr>
            <a:r>
              <a:rPr sz="1300" b="0" i="0">
                <a:solidFill>
                  <a:srgbClr val="FFFFFF"/>
                </a:solidFill>
                <a:latin typeface="Arial"/>
              </a:rPr>
              <a:t>the slide's one rule</a:t>
            </a:r>
          </a:p>
        </p:txBody>
      </p:sp>
      <p:sp>
        <p:nvSpPr>
          <p:cNvPr id="13" name="Rectangle 12"/>
          <p:cNvSpPr/>
          <p:nvPr/>
        </p:nvSpPr>
        <p:spPr>
          <a:xfrm>
            <a:off x="548640" y="4389120"/>
            <a:ext cx="11091672" cy="1280160"/>
          </a:xfrm>
          <a:prstGeom prst="rect">
            <a:avLst/>
          </a:prstGeom>
          <a:solidFill>
            <a:srgbClr val="DDF0E6"/>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2213A"/>
                </a:solidFill>
                <a:latin typeface="Georgia"/>
              </a:rPr>
              <a:t>Linking discipline</a:t>
            </a:r>
          </a:p>
          <a:p>
            <a:pPr>
              <a:spcBef>
                <a:spcPts val="500"/>
              </a:spcBef>
            </a:pPr>
            <a:r>
              <a:rPr sz="1250" b="0" i="0">
                <a:solidFill>
                  <a:srgbClr val="26313F"/>
                </a:solidFill>
                <a:latin typeface="Arial"/>
              </a:rPr>
              <a:t>·  Every concept links to the process it appears in</a:t>
            </a:r>
          </a:p>
          <a:p>
            <a:pPr>
              <a:spcBef>
                <a:spcPts val="500"/>
              </a:spcBef>
            </a:pPr>
            <a:r>
              <a:rPr sz="1250" b="0" i="0">
                <a:solidFill>
                  <a:srgbClr val="26313F"/>
                </a:solidFill>
                <a:latin typeface="Arial"/>
              </a:rPr>
              <a:t>·  Every process links to its concepts and to the guide that explains it</a:t>
            </a:r>
          </a:p>
          <a:p>
            <a:pPr>
              <a:spcBef>
                <a:spcPts val="500"/>
              </a:spcBef>
            </a:pPr>
            <a:r>
              <a:rPr sz="1250" b="0" i="0">
                <a:solidFill>
                  <a:srgbClr val="26313F"/>
                </a:solidFill>
                <a:latin typeface="Arial"/>
              </a:rPr>
              <a:t>·  The project note links to everything — Graph View only pays off if entities reference each other</a:t>
            </a:r>
          </a:p>
        </p:txBody>
      </p:sp>
      <p:sp>
        <p:nvSpPr>
          <p:cNvPr id="14" name="Rectangle 13"/>
          <p:cNvSpPr/>
          <p:nvPr/>
        </p:nvSpPr>
        <p:spPr>
          <a:xfrm>
            <a:off x="548640" y="4389120"/>
            <a:ext cx="82296" cy="12801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806440"/>
            <a:ext cx="11091672" cy="50292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Georgia"/>
              </a:rPr>
              <a:t>▶ LIVE DEMO — step 3: two concept notes, [[ ]] links from the process note, backlinks, one tag</a:t>
            </a:r>
          </a:p>
        </p:txBody>
      </p:sp>
      <p:sp>
        <p:nvSpPr>
          <p:cNvPr id="16" name="Rectangle 15"/>
          <p:cNvSpPr/>
          <p:nvPr/>
        </p:nvSpPr>
        <p:spPr>
          <a:xfrm>
            <a:off x="548640" y="5806440"/>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806440"/>
            <a:ext cx="45720" cy="50292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700" b="1" i="0">
                <a:solidFill>
                  <a:srgbClr val="12213A"/>
                </a:solidFill>
                <a:latin typeface="Georgia"/>
              </a:rPr>
              <a:t>Graph View and Canvas</a:t>
            </a:r>
          </a:p>
        </p:txBody>
      </p:sp>
      <p:sp>
        <p:nvSpPr>
          <p:cNvPr id="3" name="Rectangle 2"/>
          <p:cNvSpPr/>
          <p:nvPr/>
        </p:nvSpPr>
        <p:spPr>
          <a:xfrm>
            <a:off x="548640" y="457200"/>
            <a:ext cx="109728" cy="5943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LOCAL · NOTHING LEAVES THE MACHINE</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98448"/>
            <a:ext cx="5440680" cy="210312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2213A"/>
                </a:solidFill>
                <a:latin typeface="Georgia"/>
              </a:rPr>
              <a:t>Graph View</a:t>
            </a:r>
          </a:p>
          <a:p>
            <a:pPr>
              <a:spcBef>
                <a:spcPts val="300"/>
              </a:spcBef>
            </a:pPr>
            <a:r>
              <a:rPr sz="1250" b="0" i="0">
                <a:solidFill>
                  <a:srgbClr val="26313F"/>
                </a:solidFill>
                <a:latin typeface="Arial"/>
              </a:rPr>
              <a:t>·  The whole vault as nodes and edges</a:t>
            </a:r>
          </a:p>
          <a:p>
            <a:pPr>
              <a:spcBef>
                <a:spcPts val="300"/>
              </a:spcBef>
            </a:pPr>
            <a:r>
              <a:rPr sz="1250" b="0" i="0">
                <a:solidFill>
                  <a:srgbClr val="26313F"/>
                </a:solidFill>
                <a:latin typeface="Arial"/>
              </a:rPr>
              <a:t>·  Filters by folder and tag</a:t>
            </a:r>
          </a:p>
          <a:p>
            <a:pPr>
              <a:spcBef>
                <a:spcPts val="300"/>
              </a:spcBef>
            </a:pPr>
            <a:r>
              <a:rPr sz="1250" b="0" i="0">
                <a:solidFill>
                  <a:srgbClr val="26313F"/>
                </a:solidFill>
                <a:latin typeface="Arial"/>
              </a:rPr>
              <a:t>·  A local graph for one note</a:t>
            </a:r>
          </a:p>
        </p:txBody>
      </p:sp>
      <p:sp>
        <p:nvSpPr>
          <p:cNvPr id="7" name="Rectangle 6"/>
          <p:cNvSpPr/>
          <p:nvPr/>
        </p:nvSpPr>
        <p:spPr>
          <a:xfrm>
            <a:off x="548640" y="1298448"/>
            <a:ext cx="82296" cy="210312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9632" y="1298448"/>
            <a:ext cx="5440680" cy="210312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2213A"/>
                </a:solidFill>
                <a:latin typeface="Georgia"/>
              </a:rPr>
              <a:t>Canvas</a:t>
            </a:r>
          </a:p>
          <a:p>
            <a:pPr>
              <a:spcBef>
                <a:spcPts val="300"/>
              </a:spcBef>
            </a:pPr>
            <a:r>
              <a:rPr sz="1250" b="0" i="0">
                <a:solidFill>
                  <a:srgbClr val="26313F"/>
                </a:solidFill>
                <a:latin typeface="Arial"/>
              </a:rPr>
              <a:t>·  A freeform board where notes, cards and images are arranged spatially</a:t>
            </a:r>
          </a:p>
          <a:p>
            <a:pPr>
              <a:spcBef>
                <a:spcPts val="300"/>
              </a:spcBef>
            </a:pPr>
            <a:r>
              <a:rPr sz="1250" b="0" i="0">
                <a:solidFill>
                  <a:srgbClr val="26313F"/>
                </a:solidFill>
                <a:latin typeface="Arial"/>
              </a:rPr>
              <a:t>·  For planning a proposal timeline or mapping stakeholders</a:t>
            </a:r>
          </a:p>
        </p:txBody>
      </p:sp>
      <p:sp>
        <p:nvSpPr>
          <p:cNvPr id="9" name="Rectangle 8"/>
          <p:cNvSpPr/>
          <p:nvPr/>
        </p:nvSpPr>
        <p:spPr>
          <a:xfrm>
            <a:off x="6199632" y="1298448"/>
            <a:ext cx="82296" cy="210312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611880"/>
            <a:ext cx="11091672" cy="10515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Georgia"/>
              </a:rPr>
              <a:t>Name clash with Lesson 2</a:t>
            </a:r>
          </a:p>
          <a:p>
            <a:pPr algn="ctr">
              <a:spcBef>
                <a:spcPts val="600"/>
              </a:spcBef>
            </a:pPr>
            <a:r>
              <a:rPr sz="1300" b="0" i="0">
                <a:solidFill>
                  <a:srgbClr val="FFFFFF"/>
                </a:solidFill>
                <a:latin typeface="Arial"/>
              </a:rPr>
              <a:t>Gemini Canvas is a drafting surface inside a chat; Obsidian Canvas is a whiteboard of your own notes. Different things.</a:t>
            </a:r>
          </a:p>
        </p:txBody>
      </p:sp>
      <p:sp>
        <p:nvSpPr>
          <p:cNvPr id="11" name="Rectangle 10"/>
          <p:cNvSpPr/>
          <p:nvPr/>
        </p:nvSpPr>
        <p:spPr>
          <a:xfrm>
            <a:off x="548640" y="4892040"/>
            <a:ext cx="11091672" cy="50292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Georgia"/>
              </a:rPr>
              <a:t>▶ LIVE DEMO — step 4: Graph View with the three nodes just made, then the prepared vault of ~25 linked notes with the folder filter</a:t>
            </a:r>
          </a:p>
        </p:txBody>
      </p:sp>
      <p:sp>
        <p:nvSpPr>
          <p:cNvPr id="12" name="Rectangle 11"/>
          <p:cNvSpPr/>
          <p:nvPr/>
        </p:nvSpPr>
        <p:spPr>
          <a:xfrm>
            <a:off x="548640" y="4892040"/>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892040"/>
            <a:ext cx="45720" cy="50292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700" b="1" i="0">
                <a:solidFill>
                  <a:srgbClr val="12213A"/>
                </a:solidFill>
                <a:latin typeface="Georgia"/>
              </a:rPr>
              <a:t>Two community plugins: the vault's own AI</a:t>
            </a:r>
          </a:p>
        </p:txBody>
      </p:sp>
      <p:sp>
        <p:nvSpPr>
          <p:cNvPr id="3" name="Rectangle 2"/>
          <p:cNvSpPr/>
          <p:nvPr/>
        </p:nvSpPr>
        <p:spPr>
          <a:xfrm>
            <a:off x="548640" y="457200"/>
            <a:ext cx="109728" cy="5943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LOCAL · NOTHING LEAVES THE MACHINE</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11091672" cy="365760"/>
          </a:xfrm>
          <a:prstGeom prst="rect">
            <a:avLst/>
          </a:prstGeom>
          <a:noFill/>
        </p:spPr>
        <p:txBody>
          <a:bodyPr wrap="square">
            <a:spAutoFit/>
          </a:bodyPr>
          <a:lstStyle/>
          <a:p>
            <a:pPr algn="l"/>
            <a:r>
              <a:rPr sz="1100" b="0" i="0">
                <a:solidFill>
                  <a:srgbClr val="6E7A88"/>
                </a:solidFill>
                <a:latin typeface="Arial"/>
              </a:rPr>
              <a:t>Settings → Community plugins → turn off Restricted mode. Only these two, from the official community list; read each plugin's data note before enabling.</a:t>
            </a:r>
          </a:p>
        </p:txBody>
      </p:sp>
      <p:sp>
        <p:nvSpPr>
          <p:cNvPr id="7" name="Rectangle 6"/>
          <p:cNvSpPr/>
          <p:nvPr/>
        </p:nvSpPr>
        <p:spPr>
          <a:xfrm>
            <a:off x="2240280" y="1517904"/>
            <a:ext cx="4681728" cy="3657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Smart Connections</a:t>
            </a:r>
          </a:p>
        </p:txBody>
      </p:sp>
      <p:sp>
        <p:nvSpPr>
          <p:cNvPr id="8" name="Rectangle 7"/>
          <p:cNvSpPr/>
          <p:nvPr/>
        </p:nvSpPr>
        <p:spPr>
          <a:xfrm>
            <a:off x="7013448" y="1517904"/>
            <a:ext cx="4681728" cy="36576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Copilot for Obsidian</a:t>
            </a:r>
          </a:p>
        </p:txBody>
      </p:sp>
      <p:sp>
        <p:nvSpPr>
          <p:cNvPr id="9" name="TextBox 8"/>
          <p:cNvSpPr txBox="1"/>
          <p:nvPr/>
        </p:nvSpPr>
        <p:spPr>
          <a:xfrm>
            <a:off x="548640" y="1938528"/>
            <a:ext cx="1600200" cy="292608"/>
          </a:xfrm>
          <a:prstGeom prst="rect">
            <a:avLst/>
          </a:prstGeom>
          <a:noFill/>
        </p:spPr>
        <p:txBody>
          <a:bodyPr wrap="square" anchor="ctr">
            <a:spAutoFit/>
          </a:bodyPr>
          <a:lstStyle/>
          <a:p>
            <a:pPr algn="l"/>
            <a:r>
              <a:rPr sz="1050" b="1" i="0">
                <a:solidFill>
                  <a:srgbClr val="12213A"/>
                </a:solidFill>
                <a:latin typeface="Arial"/>
              </a:rPr>
              <a:t>Author</a:t>
            </a:r>
          </a:p>
        </p:txBody>
      </p:sp>
      <p:sp>
        <p:nvSpPr>
          <p:cNvPr id="10" name="Rectangle 9"/>
          <p:cNvSpPr/>
          <p:nvPr/>
        </p:nvSpPr>
        <p:spPr>
          <a:xfrm>
            <a:off x="2240280" y="1938528"/>
            <a:ext cx="4681728" cy="29260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Brian Petro</a:t>
            </a:r>
          </a:p>
        </p:txBody>
      </p:sp>
      <p:sp>
        <p:nvSpPr>
          <p:cNvPr id="11" name="Rectangle 10"/>
          <p:cNvSpPr/>
          <p:nvPr/>
        </p:nvSpPr>
        <p:spPr>
          <a:xfrm>
            <a:off x="2240280" y="1938528"/>
            <a:ext cx="82296" cy="29260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13448" y="1938528"/>
            <a:ext cx="4681728" cy="29260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logancyang</a:t>
            </a:r>
          </a:p>
        </p:txBody>
      </p:sp>
      <p:sp>
        <p:nvSpPr>
          <p:cNvPr id="13" name="Rectangle 12"/>
          <p:cNvSpPr/>
          <p:nvPr/>
        </p:nvSpPr>
        <p:spPr>
          <a:xfrm>
            <a:off x="7013448" y="1938528"/>
            <a:ext cx="82296" cy="292608"/>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286000"/>
            <a:ext cx="1600200" cy="566928"/>
          </a:xfrm>
          <a:prstGeom prst="rect">
            <a:avLst/>
          </a:prstGeom>
          <a:noFill/>
        </p:spPr>
        <p:txBody>
          <a:bodyPr wrap="square" anchor="ctr">
            <a:spAutoFit/>
          </a:bodyPr>
          <a:lstStyle/>
          <a:p>
            <a:pPr algn="l"/>
            <a:r>
              <a:rPr sz="1050" b="1" i="0">
                <a:solidFill>
                  <a:srgbClr val="12213A"/>
                </a:solidFill>
                <a:latin typeface="Arial"/>
              </a:rPr>
              <a:t>What it does</a:t>
            </a:r>
          </a:p>
        </p:txBody>
      </p:sp>
      <p:sp>
        <p:nvSpPr>
          <p:cNvPr id="15" name="Rectangle 14"/>
          <p:cNvSpPr/>
          <p:nvPr/>
        </p:nvSpPr>
        <p:spPr>
          <a:xfrm>
            <a:off x="2240280" y="2286000"/>
            <a:ext cx="4681728"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Shows notes semantically related to the one you are reading (Connections view); semantic Lookup across the vault</a:t>
            </a:r>
          </a:p>
        </p:txBody>
      </p:sp>
      <p:sp>
        <p:nvSpPr>
          <p:cNvPr id="16" name="Rectangle 15"/>
          <p:cNvSpPr/>
          <p:nvPr/>
        </p:nvSpPr>
        <p:spPr>
          <a:xfrm>
            <a:off x="2240280" y="2286000"/>
            <a:ext cx="82296" cy="56692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13448" y="2286000"/>
            <a:ext cx="4681728"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Chat with a model inside Obsidian; Vault QA: ask a question, get an answer assembled from your notes, with the notes cited; Relevant Notes surfaced in the chat</a:t>
            </a:r>
          </a:p>
        </p:txBody>
      </p:sp>
      <p:sp>
        <p:nvSpPr>
          <p:cNvPr id="18" name="Rectangle 17"/>
          <p:cNvSpPr/>
          <p:nvPr/>
        </p:nvSpPr>
        <p:spPr>
          <a:xfrm>
            <a:off x="7013448" y="2286000"/>
            <a:ext cx="82296" cy="566928"/>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907791"/>
            <a:ext cx="1600200" cy="566928"/>
          </a:xfrm>
          <a:prstGeom prst="rect">
            <a:avLst/>
          </a:prstGeom>
          <a:noFill/>
        </p:spPr>
        <p:txBody>
          <a:bodyPr wrap="square" anchor="ctr">
            <a:spAutoFit/>
          </a:bodyPr>
          <a:lstStyle/>
          <a:p>
            <a:pPr algn="l"/>
            <a:r>
              <a:rPr sz="1050" b="1" i="0">
                <a:solidFill>
                  <a:srgbClr val="12213A"/>
                </a:solidFill>
                <a:latin typeface="Arial"/>
              </a:rPr>
              <a:t>How it works</a:t>
            </a:r>
          </a:p>
        </p:txBody>
      </p:sp>
      <p:sp>
        <p:nvSpPr>
          <p:cNvPr id="20" name="Rectangle 19"/>
          <p:cNvSpPr/>
          <p:nvPr/>
        </p:nvSpPr>
        <p:spPr>
          <a:xfrm>
            <a:off x="2240280" y="2907791"/>
            <a:ext cx="4681728"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Builds embeddings of your notes with a local model that ships with the plugin: no API key, no account, nothing leaves the machine</a:t>
            </a:r>
          </a:p>
        </p:txBody>
      </p:sp>
      <p:sp>
        <p:nvSpPr>
          <p:cNvPr id="21" name="Rectangle 20"/>
          <p:cNvSpPr/>
          <p:nvPr/>
        </p:nvSpPr>
        <p:spPr>
          <a:xfrm>
            <a:off x="2240280" y="2907791"/>
            <a:ext cx="82296" cy="56692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013448" y="2907791"/>
            <a:ext cx="4681728"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Indexes the vault locally, then sends the question and the relevant note chunks to the model you configure; you bring your own API key</a:t>
            </a:r>
          </a:p>
        </p:txBody>
      </p:sp>
      <p:sp>
        <p:nvSpPr>
          <p:cNvPr id="23" name="Rectangle 22"/>
          <p:cNvSpPr/>
          <p:nvPr/>
        </p:nvSpPr>
        <p:spPr>
          <a:xfrm>
            <a:off x="7013448" y="2907791"/>
            <a:ext cx="82296" cy="566928"/>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529583"/>
            <a:ext cx="1600200" cy="457200"/>
          </a:xfrm>
          <a:prstGeom prst="rect">
            <a:avLst/>
          </a:prstGeom>
          <a:noFill/>
        </p:spPr>
        <p:txBody>
          <a:bodyPr wrap="square" anchor="ctr">
            <a:spAutoFit/>
          </a:bodyPr>
          <a:lstStyle/>
          <a:p>
            <a:pPr algn="l"/>
            <a:r>
              <a:rPr sz="1050" b="1" i="0">
                <a:solidFill>
                  <a:srgbClr val="12213A"/>
                </a:solidFill>
                <a:latin typeface="Arial"/>
              </a:rPr>
              <a:t>Cost</a:t>
            </a:r>
          </a:p>
        </p:txBody>
      </p:sp>
      <p:sp>
        <p:nvSpPr>
          <p:cNvPr id="25" name="Rectangle 24"/>
          <p:cNvSpPr/>
          <p:nvPr/>
        </p:nvSpPr>
        <p:spPr>
          <a:xfrm>
            <a:off x="2240280" y="3529583"/>
            <a:ext cx="4681728"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Free core (v4). Paid “Pro” add-ons and the separate Smart Chat plugin exist and are not used</a:t>
            </a:r>
          </a:p>
        </p:txBody>
      </p:sp>
      <p:sp>
        <p:nvSpPr>
          <p:cNvPr id="26" name="Rectangle 25"/>
          <p:cNvSpPr/>
          <p:nvPr/>
        </p:nvSpPr>
        <p:spPr>
          <a:xfrm>
            <a:off x="2240280" y="3529583"/>
            <a:ext cx="82296" cy="457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13448" y="3529583"/>
            <a:ext cx="4681728"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Free plugin with your own key. “Copilot Plus” is a paid tier and is not used</a:t>
            </a:r>
          </a:p>
        </p:txBody>
      </p:sp>
      <p:sp>
        <p:nvSpPr>
          <p:cNvPr id="28" name="Rectangle 27"/>
          <p:cNvSpPr/>
          <p:nvPr/>
        </p:nvSpPr>
        <p:spPr>
          <a:xfrm>
            <a:off x="7013448" y="3529583"/>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041648"/>
            <a:ext cx="1600200" cy="457200"/>
          </a:xfrm>
          <a:prstGeom prst="rect">
            <a:avLst/>
          </a:prstGeom>
          <a:noFill/>
        </p:spPr>
        <p:txBody>
          <a:bodyPr wrap="square" anchor="ctr">
            <a:spAutoFit/>
          </a:bodyPr>
          <a:lstStyle/>
          <a:p>
            <a:pPr algn="l"/>
            <a:r>
              <a:rPr sz="1050" b="1" i="0">
                <a:solidFill>
                  <a:srgbClr val="12213A"/>
                </a:solidFill>
                <a:latin typeface="Arial"/>
              </a:rPr>
              <a:t>Which model</a:t>
            </a:r>
          </a:p>
        </p:txBody>
      </p:sp>
      <p:sp>
        <p:nvSpPr>
          <p:cNvPr id="30" name="Rectangle 29"/>
          <p:cNvSpPr/>
          <p:nvPr/>
        </p:nvSpPr>
        <p:spPr>
          <a:xfrm>
            <a:off x="2240280" y="4041648"/>
            <a:ext cx="4681728"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Local embedding model, no choice needed</a:t>
            </a:r>
          </a:p>
        </p:txBody>
      </p:sp>
      <p:sp>
        <p:nvSpPr>
          <p:cNvPr id="31" name="Rectangle 30"/>
          <p:cNvSpPr/>
          <p:nvPr/>
        </p:nvSpPr>
        <p:spPr>
          <a:xfrm>
            <a:off x="2240280" y="4041648"/>
            <a:ext cx="82296" cy="457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13448" y="4041648"/>
            <a:ext cx="4681728"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A free Gemini API key from Google AI Studio; the plugin lists Gemini models to choose from</a:t>
            </a:r>
          </a:p>
        </p:txBody>
      </p:sp>
      <p:sp>
        <p:nvSpPr>
          <p:cNvPr id="33" name="Rectangle 32"/>
          <p:cNvSpPr/>
          <p:nvPr/>
        </p:nvSpPr>
        <p:spPr>
          <a:xfrm>
            <a:off x="7013448" y="4041648"/>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553712"/>
            <a:ext cx="1600200" cy="694944"/>
          </a:xfrm>
          <a:prstGeom prst="rect">
            <a:avLst/>
          </a:prstGeom>
          <a:noFill/>
        </p:spPr>
        <p:txBody>
          <a:bodyPr wrap="square" anchor="ctr">
            <a:spAutoFit/>
          </a:bodyPr>
          <a:lstStyle/>
          <a:p>
            <a:pPr algn="l"/>
            <a:r>
              <a:rPr sz="1050" b="1" i="0">
                <a:solidFill>
                  <a:srgbClr val="12213A"/>
                </a:solidFill>
                <a:latin typeface="Arial"/>
              </a:rPr>
              <a:t>Lane</a:t>
            </a:r>
          </a:p>
        </p:txBody>
      </p:sp>
      <p:sp>
        <p:nvSpPr>
          <p:cNvPr id="35" name="Rectangle 34"/>
          <p:cNvSpPr/>
          <p:nvPr/>
        </p:nvSpPr>
        <p:spPr>
          <a:xfrm>
            <a:off x="2240280" y="4553712"/>
            <a:ext cx="4681728" cy="694944"/>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No cloud call: the only AI in the course that runs entirely on your device</a:t>
            </a:r>
          </a:p>
        </p:txBody>
      </p:sp>
      <p:sp>
        <p:nvSpPr>
          <p:cNvPr id="36" name="Rectangle 35"/>
          <p:cNvSpPr/>
          <p:nvPr/>
        </p:nvSpPr>
        <p:spPr>
          <a:xfrm>
            <a:off x="2240280" y="4553712"/>
            <a:ext cx="82296" cy="694944"/>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13448" y="4553712"/>
            <a:ext cx="4681728" cy="694944"/>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Daily Driver. The free API tier may use submitted content to improve Google's models; the vault holds anonymised or fictional Anchor Project content only, so this is acceptable; nothing from the Lesson 2 “never” list is ever in the vault</a:t>
            </a:r>
          </a:p>
        </p:txBody>
      </p:sp>
      <p:sp>
        <p:nvSpPr>
          <p:cNvPr id="38" name="Rectangle 37"/>
          <p:cNvSpPr/>
          <p:nvPr/>
        </p:nvSpPr>
        <p:spPr>
          <a:xfrm>
            <a:off x="7013448" y="4553712"/>
            <a:ext cx="82296" cy="694944"/>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5303520"/>
            <a:ext cx="1600200" cy="457200"/>
          </a:xfrm>
          <a:prstGeom prst="rect">
            <a:avLst/>
          </a:prstGeom>
          <a:noFill/>
        </p:spPr>
        <p:txBody>
          <a:bodyPr wrap="square" anchor="ctr">
            <a:spAutoFit/>
          </a:bodyPr>
          <a:lstStyle/>
          <a:p>
            <a:pPr algn="l"/>
            <a:r>
              <a:rPr sz="1050" b="1" i="0">
                <a:solidFill>
                  <a:srgbClr val="12213A"/>
                </a:solidFill>
                <a:latin typeface="Arial"/>
              </a:rPr>
              <a:t>Job in the KM System</a:t>
            </a:r>
          </a:p>
        </p:txBody>
      </p:sp>
      <p:sp>
        <p:nvSpPr>
          <p:cNvPr id="40" name="Rectangle 39"/>
          <p:cNvSpPr/>
          <p:nvPr/>
        </p:nvSpPr>
        <p:spPr>
          <a:xfrm>
            <a:off x="2240280" y="5303520"/>
            <a:ext cx="4681728"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Finding: “what in my vault relates to this?” The link you forgot to make</a:t>
            </a:r>
          </a:p>
        </p:txBody>
      </p:sp>
      <p:sp>
        <p:nvSpPr>
          <p:cNvPr id="41" name="Rectangle 40"/>
          <p:cNvSpPr/>
          <p:nvPr/>
        </p:nvSpPr>
        <p:spPr>
          <a:xfrm>
            <a:off x="2240280" y="5303520"/>
            <a:ext cx="82296" cy="457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13448" y="5303520"/>
            <a:ext cx="4681728" cy="4572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Asking: “what does my vault say about X?” The vault's own grounding floor, with citations to notes instead of to sources</a:t>
            </a:r>
          </a:p>
        </p:txBody>
      </p:sp>
      <p:sp>
        <p:nvSpPr>
          <p:cNvPr id="43" name="Rectangle 42"/>
          <p:cNvSpPr/>
          <p:nvPr/>
        </p:nvSpPr>
        <p:spPr>
          <a:xfrm>
            <a:off x="7013448" y="5303520"/>
            <a:ext cx="82296" cy="4572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815584"/>
            <a:ext cx="1600200" cy="384048"/>
          </a:xfrm>
          <a:prstGeom prst="rect">
            <a:avLst/>
          </a:prstGeom>
          <a:noFill/>
        </p:spPr>
        <p:txBody>
          <a:bodyPr wrap="square" anchor="ctr">
            <a:spAutoFit/>
          </a:bodyPr>
          <a:lstStyle/>
          <a:p>
            <a:pPr algn="l"/>
            <a:r>
              <a:rPr sz="1050" b="1" i="0">
                <a:solidFill>
                  <a:srgbClr val="12213A"/>
                </a:solidFill>
                <a:latin typeface="Arial"/>
              </a:rPr>
              <a:t>Name clash</a:t>
            </a:r>
          </a:p>
        </p:txBody>
      </p:sp>
      <p:sp>
        <p:nvSpPr>
          <p:cNvPr id="45" name="Rectangle 44"/>
          <p:cNvSpPr/>
          <p:nvPr/>
        </p:nvSpPr>
        <p:spPr>
          <a:xfrm>
            <a:off x="2240280" y="5815584"/>
            <a:ext cx="4681728" cy="38404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a:t>
            </a:r>
          </a:p>
        </p:txBody>
      </p:sp>
      <p:sp>
        <p:nvSpPr>
          <p:cNvPr id="46" name="Rectangle 45"/>
          <p:cNvSpPr/>
          <p:nvPr/>
        </p:nvSpPr>
        <p:spPr>
          <a:xfrm>
            <a:off x="2240280" y="5815584"/>
            <a:ext cx="82296" cy="38404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013448" y="5815584"/>
            <a:ext cx="4681728" cy="38404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950" b="0" i="0">
                <a:solidFill>
                  <a:srgbClr val="26313F"/>
                </a:solidFill>
                <a:latin typeface="Arial"/>
              </a:rPr>
              <a:t>Not Microsoft Copilot. Unrelated project, unrelated data path, never the Sensitive Lane</a:t>
            </a:r>
          </a:p>
        </p:txBody>
      </p:sp>
      <p:sp>
        <p:nvSpPr>
          <p:cNvPr id="48" name="Rectangle 47"/>
          <p:cNvSpPr/>
          <p:nvPr/>
        </p:nvSpPr>
        <p:spPr>
          <a:xfrm>
            <a:off x="7013448" y="5815584"/>
            <a:ext cx="82296" cy="384048"/>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700" b="1" i="0">
                <a:solidFill>
                  <a:srgbClr val="12213A"/>
                </a:solidFill>
                <a:latin typeface="Georgia"/>
              </a:rPr>
              <a:t>Why two plugins</a:t>
            </a:r>
          </a:p>
        </p:txBody>
      </p:sp>
      <p:sp>
        <p:nvSpPr>
          <p:cNvPr id="3" name="Rectangle 2"/>
          <p:cNvSpPr/>
          <p:nvPr/>
        </p:nvSpPr>
        <p:spPr>
          <a:xfrm>
            <a:off x="548640" y="457200"/>
            <a:ext cx="109728" cy="5943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LOCAL · NOTHING LEAVES THE MACHINE</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400" b="1" i="0">
                <a:solidFill>
                  <a:srgbClr val="12213A"/>
                </a:solidFill>
                <a:latin typeface="Arial"/>
              </a:rPr>
              <a:t>They answer different questions</a:t>
            </a:r>
          </a:p>
        </p:txBody>
      </p:sp>
      <p:sp>
        <p:nvSpPr>
          <p:cNvPr id="7" name="Rectangle 6"/>
          <p:cNvSpPr/>
          <p:nvPr/>
        </p:nvSpPr>
        <p:spPr>
          <a:xfrm>
            <a:off x="548640" y="1691640"/>
            <a:ext cx="5440680" cy="2286000"/>
          </a:xfrm>
          <a:prstGeom prst="rect">
            <a:avLst/>
          </a:prstGeom>
          <a:solidFill>
            <a:srgbClr val="DDF0E6"/>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Smart Connections — finding</a:t>
            </a:r>
          </a:p>
          <a:p>
            <a:pPr algn="l">
              <a:spcBef>
                <a:spcPts val="400"/>
              </a:spcBef>
            </a:pPr>
            <a:r>
              <a:rPr sz="1400" b="0" i="0">
                <a:solidFill>
                  <a:srgbClr val="26313F"/>
                </a:solidFill>
                <a:latin typeface="Arial"/>
              </a:rPr>
              <a:t>Surfaces relationships while you write, silently, offline — which is what makes the linking discipline sustainable past thirty notes.</a:t>
            </a:r>
          </a:p>
        </p:txBody>
      </p:sp>
      <p:sp>
        <p:nvSpPr>
          <p:cNvPr id="8" name="Rectangle 7"/>
          <p:cNvSpPr/>
          <p:nvPr/>
        </p:nvSpPr>
        <p:spPr>
          <a:xfrm>
            <a:off x="548640" y="1691640"/>
            <a:ext cx="82296" cy="22860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1691640"/>
            <a:ext cx="5440680" cy="2286000"/>
          </a:xfrm>
          <a:prstGeom prst="rect">
            <a:avLst/>
          </a:prstGeom>
          <a:solidFill>
            <a:srgbClr val="FBE9DC"/>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Copilot for Obsidian — asking</a:t>
            </a:r>
          </a:p>
          <a:p>
            <a:pPr algn="l">
              <a:spcBef>
                <a:spcPts val="400"/>
              </a:spcBef>
            </a:pPr>
            <a:r>
              <a:rPr sz="1400" b="0" i="0">
                <a:solidFill>
                  <a:srgbClr val="26313F"/>
                </a:solidFill>
                <a:latin typeface="Arial"/>
              </a:rPr>
              <a:t>Answers questions over the whole vault the way NotebookLM answers over sources — so once the vault is the source of truth, it can be queried like one.</a:t>
            </a:r>
          </a:p>
        </p:txBody>
      </p:sp>
      <p:sp>
        <p:nvSpPr>
          <p:cNvPr id="10" name="Rectangle 9"/>
          <p:cNvSpPr/>
          <p:nvPr/>
        </p:nvSpPr>
        <p:spPr>
          <a:xfrm>
            <a:off x="6199632" y="1691640"/>
            <a:ext cx="82296" cy="228600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206240"/>
            <a:ext cx="11091672" cy="1097280"/>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900" b="1" i="0">
                <a:solidFill>
                  <a:srgbClr val="FFFFFF"/>
                </a:solidFill>
                <a:latin typeface="Georgia"/>
              </a:rPr>
              <a:t>capture in the notebook, keep in the vault, query the vault</a:t>
            </a:r>
          </a:p>
          <a:p>
            <a:pPr algn="ctr">
              <a:spcBef>
                <a:spcPts val="600"/>
              </a:spcBef>
            </a:pPr>
            <a:r>
              <a:rPr sz="1300" b="0" i="0">
                <a:solidFill>
                  <a:srgbClr val="FFFFFF"/>
                </a:solidFill>
                <a:latin typeface="Arial"/>
              </a:rPr>
              <a:t>together they close the loop the wiki was supposed to close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700" b="1" i="0">
                <a:solidFill>
                  <a:srgbClr val="12213A"/>
                </a:solidFill>
                <a:latin typeface="Georgia"/>
              </a:rPr>
              <a:t>Setup order for the hands-on block</a:t>
            </a:r>
          </a:p>
        </p:txBody>
      </p:sp>
      <p:sp>
        <p:nvSpPr>
          <p:cNvPr id="3" name="Rectangle 2"/>
          <p:cNvSpPr/>
          <p:nvPr/>
        </p:nvSpPr>
        <p:spPr>
          <a:xfrm>
            <a:off x="548640" y="457200"/>
            <a:ext cx="109728" cy="5943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LOCAL · NOTHING LEAVES THE MACHINE</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81328"/>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1</a:t>
            </a:r>
          </a:p>
        </p:txBody>
      </p:sp>
      <p:sp>
        <p:nvSpPr>
          <p:cNvPr id="7" name="Rectangle 6"/>
          <p:cNvSpPr/>
          <p:nvPr/>
        </p:nvSpPr>
        <p:spPr>
          <a:xfrm>
            <a:off x="1143000" y="1371600"/>
            <a:ext cx="10497312" cy="67665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50" b="0" i="0">
                <a:solidFill>
                  <a:srgbClr val="26313F"/>
                </a:solidFill>
                <a:latin typeface="Arial"/>
              </a:rPr>
              <a:t>Settings → Community plugins → turn off Restricted mode → Browse</a:t>
            </a:r>
          </a:p>
        </p:txBody>
      </p:sp>
      <p:sp>
        <p:nvSpPr>
          <p:cNvPr id="8" name="Rectangle 7"/>
          <p:cNvSpPr/>
          <p:nvPr/>
        </p:nvSpPr>
        <p:spPr>
          <a:xfrm>
            <a:off x="1143000" y="1371600"/>
            <a:ext cx="82296" cy="676656"/>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9424"/>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2</a:t>
            </a:r>
          </a:p>
        </p:txBody>
      </p:sp>
      <p:sp>
        <p:nvSpPr>
          <p:cNvPr id="10" name="Rectangle 9"/>
          <p:cNvSpPr/>
          <p:nvPr/>
        </p:nvSpPr>
        <p:spPr>
          <a:xfrm>
            <a:off x="1143000" y="2139696"/>
            <a:ext cx="10497312" cy="67665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50" b="0" i="0">
                <a:solidFill>
                  <a:srgbClr val="26313F"/>
                </a:solidFill>
                <a:latin typeface="Arial"/>
              </a:rPr>
              <a:t>Install and enable Smart Connections; wait for the first embedding run (a progress notice); open the Connections view from the right sidebar</a:t>
            </a:r>
          </a:p>
        </p:txBody>
      </p:sp>
      <p:sp>
        <p:nvSpPr>
          <p:cNvPr id="11" name="Rectangle 10"/>
          <p:cNvSpPr/>
          <p:nvPr/>
        </p:nvSpPr>
        <p:spPr>
          <a:xfrm>
            <a:off x="1143000" y="2139696"/>
            <a:ext cx="82296" cy="676656"/>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017520"/>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3</a:t>
            </a:r>
          </a:p>
        </p:txBody>
      </p:sp>
      <p:sp>
        <p:nvSpPr>
          <p:cNvPr id="13" name="Rectangle 12"/>
          <p:cNvSpPr/>
          <p:nvPr/>
        </p:nvSpPr>
        <p:spPr>
          <a:xfrm>
            <a:off x="1143000" y="2907791"/>
            <a:ext cx="10497312" cy="67665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50" b="0" i="0">
                <a:solidFill>
                  <a:srgbClr val="26313F"/>
                </a:solidFill>
                <a:latin typeface="Arial"/>
              </a:rPr>
              <a:t>Get a Gemini API key at Google AI Studio (personal Google account, free tier)</a:t>
            </a:r>
          </a:p>
        </p:txBody>
      </p:sp>
      <p:sp>
        <p:nvSpPr>
          <p:cNvPr id="14" name="Rectangle 13"/>
          <p:cNvSpPr/>
          <p:nvPr/>
        </p:nvSpPr>
        <p:spPr>
          <a:xfrm>
            <a:off x="1143000" y="2907791"/>
            <a:ext cx="82296" cy="676656"/>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785615"/>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4</a:t>
            </a:r>
          </a:p>
        </p:txBody>
      </p:sp>
      <p:sp>
        <p:nvSpPr>
          <p:cNvPr id="16" name="Rectangle 15"/>
          <p:cNvSpPr/>
          <p:nvPr/>
        </p:nvSpPr>
        <p:spPr>
          <a:xfrm>
            <a:off x="1143000" y="3675887"/>
            <a:ext cx="10497312" cy="67665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50" b="0" i="0">
                <a:solidFill>
                  <a:srgbClr val="26313F"/>
                </a:solidFill>
                <a:latin typeface="Arial"/>
              </a:rPr>
              <a:t>Install and enable Copilot for Obsidian; Settings → Copilot for Obsidian → add the Gemini key, pick a Gemini chat model and, if offered, a Gemini embedding model; run “Refresh vault index”</a:t>
            </a:r>
          </a:p>
        </p:txBody>
      </p:sp>
      <p:sp>
        <p:nvSpPr>
          <p:cNvPr id="17" name="Rectangle 16"/>
          <p:cNvSpPr/>
          <p:nvPr/>
        </p:nvSpPr>
        <p:spPr>
          <a:xfrm>
            <a:off x="1143000" y="3675887"/>
            <a:ext cx="82296" cy="676656"/>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53712"/>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5</a:t>
            </a:r>
          </a:p>
        </p:txBody>
      </p:sp>
      <p:sp>
        <p:nvSpPr>
          <p:cNvPr id="19" name="Rectangle 18"/>
          <p:cNvSpPr/>
          <p:nvPr/>
        </p:nvSpPr>
        <p:spPr>
          <a:xfrm>
            <a:off x="1143000" y="4443983"/>
            <a:ext cx="10497312" cy="676656"/>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50" b="0" i="0">
                <a:solidFill>
                  <a:srgbClr val="26313F"/>
                </a:solidFill>
                <a:latin typeface="Arial"/>
              </a:rPr>
              <a:t>Open the Copilot for Obsidian pane, switch to Vault QA, ask one question</a:t>
            </a:r>
          </a:p>
        </p:txBody>
      </p:sp>
      <p:sp>
        <p:nvSpPr>
          <p:cNvPr id="20" name="Rectangle 19"/>
          <p:cNvSpPr/>
          <p:nvPr/>
        </p:nvSpPr>
        <p:spPr>
          <a:xfrm>
            <a:off x="1143000" y="4443983"/>
            <a:ext cx="82296" cy="676656"/>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257800"/>
            <a:ext cx="11091672" cy="365760"/>
          </a:xfrm>
          <a:prstGeom prst="rect">
            <a:avLst/>
          </a:prstGeom>
          <a:noFill/>
        </p:spPr>
        <p:txBody>
          <a:bodyPr wrap="square">
            <a:spAutoFit/>
          </a:bodyPr>
          <a:lstStyle/>
          <a:p>
            <a:pPr algn="l"/>
            <a:r>
              <a:rPr sz="1100" b="0" i="1">
                <a:solidFill>
                  <a:srgbClr val="6E7A88"/>
                </a:solidFill>
                <a:latin typeface="Arial"/>
              </a:rPr>
              <a:t>Green: stays on the machine. Amber: the key and the Copilot for Obsidian calls go to Google's free API tier — Daily Driver.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7863840" cy="640080"/>
          </a:xfrm>
          <a:prstGeom prst="rect">
            <a:avLst/>
          </a:prstGeom>
          <a:noFill/>
        </p:spPr>
        <p:txBody>
          <a:bodyPr wrap="square" anchor="b">
            <a:spAutoFit/>
          </a:bodyPr>
          <a:lstStyle/>
          <a:p>
            <a:pPr algn="l"/>
            <a:r>
              <a:rPr sz="2600" b="1" i="0">
                <a:solidFill>
                  <a:srgbClr val="12213A"/>
                </a:solidFill>
                <a:latin typeface="Georgia"/>
              </a:rPr>
              <a:t>Demo script — six steps, one prepared vault</a:t>
            </a:r>
          </a:p>
        </p:txBody>
      </p:sp>
      <p:sp>
        <p:nvSpPr>
          <p:cNvPr id="3" name="Rectangle 2"/>
          <p:cNvSpPr/>
          <p:nvPr/>
        </p:nvSpPr>
        <p:spPr>
          <a:xfrm>
            <a:off x="548640" y="457200"/>
            <a:ext cx="109728" cy="5943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31352" y="457200"/>
            <a:ext cx="3108960" cy="329184"/>
          </a:xfrm>
          <a:prstGeom prst="round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950" b="1" i="0">
                <a:solidFill>
                  <a:srgbClr val="FFFFFF"/>
                </a:solidFill>
                <a:latin typeface="Arial"/>
              </a:rPr>
              <a:t>LOCAL · NOTHING LEAVES THE MACHINE</a:t>
            </a:r>
          </a:p>
        </p:txBody>
      </p:sp>
      <p:sp>
        <p:nvSpPr>
          <p:cNvPr id="5" name="Rectangle 4"/>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80160"/>
            <a:ext cx="11091672" cy="50292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Georgia"/>
              </a:rPr>
              <a:t>▶ LIVE DEMO — Obsidian on the facilitator's machine, ≈8 of the 20 minutes, interleaved with the slides</a:t>
            </a:r>
          </a:p>
        </p:txBody>
      </p:sp>
      <p:sp>
        <p:nvSpPr>
          <p:cNvPr id="7" name="Rectangle 6"/>
          <p:cNvSpPr/>
          <p:nvPr/>
        </p:nvSpPr>
        <p:spPr>
          <a:xfrm>
            <a:off x="548640" y="1280160"/>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80160"/>
            <a:ext cx="45720" cy="50292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56816"/>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1</a:t>
            </a:r>
          </a:p>
        </p:txBody>
      </p:sp>
      <p:sp>
        <p:nvSpPr>
          <p:cNvPr id="10" name="Rectangle 9"/>
          <p:cNvSpPr/>
          <p:nvPr/>
        </p:nvSpPr>
        <p:spPr>
          <a:xfrm>
            <a:off x="1143000" y="1920240"/>
            <a:ext cx="9491472"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0" i="0">
                <a:solidFill>
                  <a:srgbClr val="26313F"/>
                </a:solidFill>
                <a:latin typeface="Arial"/>
              </a:rPr>
              <a:t>Create a vault “Demo Anchor Project”, the four folders, the template</a:t>
            </a:r>
          </a:p>
        </p:txBody>
      </p:sp>
      <p:sp>
        <p:nvSpPr>
          <p:cNvPr id="11" name="Rectangle 10"/>
          <p:cNvSpPr/>
          <p:nvPr/>
        </p:nvSpPr>
        <p:spPr>
          <a:xfrm>
            <a:off x="1143000" y="1920240"/>
            <a:ext cx="82296" cy="5303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725912" y="1920240"/>
            <a:ext cx="914400"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1 min</a:t>
            </a:r>
          </a:p>
        </p:txBody>
      </p:sp>
      <p:sp>
        <p:nvSpPr>
          <p:cNvPr id="13" name="Rectangle 12"/>
          <p:cNvSpPr/>
          <p:nvPr/>
        </p:nvSpPr>
        <p:spPr>
          <a:xfrm>
            <a:off x="10725912" y="1920240"/>
            <a:ext cx="82296" cy="5303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560320"/>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2</a:t>
            </a:r>
          </a:p>
        </p:txBody>
      </p:sp>
      <p:sp>
        <p:nvSpPr>
          <p:cNvPr id="15" name="Rectangle 14"/>
          <p:cNvSpPr/>
          <p:nvPr/>
        </p:nvSpPr>
        <p:spPr>
          <a:xfrm>
            <a:off x="1143000" y="2523744"/>
            <a:ext cx="9491472"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0" i="0">
                <a:solidFill>
                  <a:srgbClr val="26313F"/>
                </a:solidFill>
                <a:latin typeface="Arial"/>
              </a:rPr>
              <a:t>Paste the Segment 2 briefing into processes/, fill the frontmatter, set status: draft; check one sentence against the notebook's citation, set checked</a:t>
            </a:r>
          </a:p>
        </p:txBody>
      </p:sp>
      <p:sp>
        <p:nvSpPr>
          <p:cNvPr id="16" name="Rectangle 15"/>
          <p:cNvSpPr/>
          <p:nvPr/>
        </p:nvSpPr>
        <p:spPr>
          <a:xfrm>
            <a:off x="1143000" y="2523744"/>
            <a:ext cx="82296" cy="5303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725912" y="2523744"/>
            <a:ext cx="914400"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1.5 min</a:t>
            </a:r>
          </a:p>
        </p:txBody>
      </p:sp>
      <p:sp>
        <p:nvSpPr>
          <p:cNvPr id="18" name="Rectangle 17"/>
          <p:cNvSpPr/>
          <p:nvPr/>
        </p:nvSpPr>
        <p:spPr>
          <a:xfrm>
            <a:off x="10725912" y="2523744"/>
            <a:ext cx="82296" cy="5303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163824"/>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3</a:t>
            </a:r>
          </a:p>
        </p:txBody>
      </p:sp>
      <p:sp>
        <p:nvSpPr>
          <p:cNvPr id="20" name="Rectangle 19"/>
          <p:cNvSpPr/>
          <p:nvPr/>
        </p:nvSpPr>
        <p:spPr>
          <a:xfrm>
            <a:off x="1143000" y="3127248"/>
            <a:ext cx="9491472"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0" i="0">
                <a:solidFill>
                  <a:srgbClr val="26313F"/>
                </a:solidFill>
                <a:latin typeface="Arial"/>
              </a:rPr>
              <a:t>Create two concept notes from the same briefing, link them from the process note with [[ ]], show backlinks; add one tag</a:t>
            </a:r>
          </a:p>
        </p:txBody>
      </p:sp>
      <p:sp>
        <p:nvSpPr>
          <p:cNvPr id="21" name="Rectangle 20"/>
          <p:cNvSpPr/>
          <p:nvPr/>
        </p:nvSpPr>
        <p:spPr>
          <a:xfrm>
            <a:off x="1143000" y="3127248"/>
            <a:ext cx="82296" cy="5303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725912" y="3127248"/>
            <a:ext cx="914400"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1.5 min</a:t>
            </a:r>
          </a:p>
        </p:txBody>
      </p:sp>
      <p:sp>
        <p:nvSpPr>
          <p:cNvPr id="23" name="Rectangle 22"/>
          <p:cNvSpPr/>
          <p:nvPr/>
        </p:nvSpPr>
        <p:spPr>
          <a:xfrm>
            <a:off x="10725912" y="3127248"/>
            <a:ext cx="82296" cy="5303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767328"/>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4</a:t>
            </a:r>
          </a:p>
        </p:txBody>
      </p:sp>
      <p:sp>
        <p:nvSpPr>
          <p:cNvPr id="25" name="Rectangle 24"/>
          <p:cNvSpPr/>
          <p:nvPr/>
        </p:nvSpPr>
        <p:spPr>
          <a:xfrm>
            <a:off x="1143000" y="3730752"/>
            <a:ext cx="9491472"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0" i="0">
                <a:solidFill>
                  <a:srgbClr val="26313F"/>
                </a:solidFill>
                <a:latin typeface="Arial"/>
              </a:rPr>
              <a:t>Graph View: three nodes; then open a prepared vault of ~25 linked notes and show the same view, with the folder filter</a:t>
            </a:r>
          </a:p>
        </p:txBody>
      </p:sp>
      <p:sp>
        <p:nvSpPr>
          <p:cNvPr id="26" name="Rectangle 25"/>
          <p:cNvSpPr/>
          <p:nvPr/>
        </p:nvSpPr>
        <p:spPr>
          <a:xfrm>
            <a:off x="1143000" y="3730752"/>
            <a:ext cx="82296" cy="5303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725912" y="3730752"/>
            <a:ext cx="914400"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1 min</a:t>
            </a:r>
          </a:p>
        </p:txBody>
      </p:sp>
      <p:sp>
        <p:nvSpPr>
          <p:cNvPr id="28" name="Rectangle 27"/>
          <p:cNvSpPr/>
          <p:nvPr/>
        </p:nvSpPr>
        <p:spPr>
          <a:xfrm>
            <a:off x="10725912" y="3730752"/>
            <a:ext cx="82296" cy="5303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370832"/>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5</a:t>
            </a:r>
          </a:p>
        </p:txBody>
      </p:sp>
      <p:sp>
        <p:nvSpPr>
          <p:cNvPr id="30" name="Rectangle 29"/>
          <p:cNvSpPr/>
          <p:nvPr/>
        </p:nvSpPr>
        <p:spPr>
          <a:xfrm>
            <a:off x="1143000" y="4334256"/>
            <a:ext cx="9491472"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0" i="0">
                <a:solidFill>
                  <a:srgbClr val="26313F"/>
                </a:solidFill>
                <a:latin typeface="Arial"/>
              </a:rPr>
              <a:t>Smart Connections on the prepared vault: open a note, read the Connections view, click one related note you “forgot” to link, add the link</a:t>
            </a:r>
          </a:p>
        </p:txBody>
      </p:sp>
      <p:sp>
        <p:nvSpPr>
          <p:cNvPr id="31" name="Rectangle 30"/>
          <p:cNvSpPr/>
          <p:nvPr/>
        </p:nvSpPr>
        <p:spPr>
          <a:xfrm>
            <a:off x="1143000" y="4334256"/>
            <a:ext cx="82296" cy="5303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25912" y="4334256"/>
            <a:ext cx="914400"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1.5 min</a:t>
            </a:r>
          </a:p>
        </p:txBody>
      </p:sp>
      <p:sp>
        <p:nvSpPr>
          <p:cNvPr id="33" name="Rectangle 32"/>
          <p:cNvSpPr/>
          <p:nvPr/>
        </p:nvSpPr>
        <p:spPr>
          <a:xfrm>
            <a:off x="10725912" y="4334256"/>
            <a:ext cx="82296" cy="5303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4974336"/>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6</a:t>
            </a:r>
          </a:p>
        </p:txBody>
      </p:sp>
      <p:sp>
        <p:nvSpPr>
          <p:cNvPr id="35" name="Rectangle 34"/>
          <p:cNvSpPr/>
          <p:nvPr/>
        </p:nvSpPr>
        <p:spPr>
          <a:xfrm>
            <a:off x="1143000" y="4937760"/>
            <a:ext cx="9491472"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0" i="0">
                <a:solidFill>
                  <a:srgbClr val="26313F"/>
                </a:solidFill>
                <a:latin typeface="Arial"/>
              </a:rPr>
              <a:t>Copilot for Obsidian on the prepared vault, Vault QA: “Which deadlines apply to the periodic report, and which notes say so?” Read the cited notes; ask a question the vault cannot answer and show the answer say so</a:t>
            </a:r>
          </a:p>
        </p:txBody>
      </p:sp>
      <p:sp>
        <p:nvSpPr>
          <p:cNvPr id="36" name="Rectangle 35"/>
          <p:cNvSpPr/>
          <p:nvPr/>
        </p:nvSpPr>
        <p:spPr>
          <a:xfrm>
            <a:off x="1143000" y="4937760"/>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725912" y="4937760"/>
            <a:ext cx="914400"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ctr"/>
            <a:r>
              <a:rPr sz="1100" b="1" i="0">
                <a:solidFill>
                  <a:srgbClr val="12213A"/>
                </a:solidFill>
                <a:latin typeface="Arial"/>
              </a:rPr>
              <a:t>1.5 min</a:t>
            </a:r>
          </a:p>
        </p:txBody>
      </p:sp>
      <p:sp>
        <p:nvSpPr>
          <p:cNvPr id="38" name="Rectangle 37"/>
          <p:cNvSpPr/>
          <p:nvPr/>
        </p:nvSpPr>
        <p:spPr>
          <a:xfrm>
            <a:off x="10725912" y="4937760"/>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5596128"/>
            <a:ext cx="11091672" cy="56692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200" b="1" i="0">
                <a:solidFill>
                  <a:srgbClr val="FFFFFF"/>
                </a:solidFill>
                <a:latin typeface="Georgia"/>
              </a:rPr>
              <a:t>The vault contains only anonymised or fictional content, so the Copilot for Obsidian call is a Daily Driver call  ·  Smart Connections never calls anything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234440"/>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822960"/>
          <a:lstStyle/>
          <a:p>
            <a:pPr algn="ctr"/>
            <a:r>
              <a:rPr sz="1300" b="1" i="0">
                <a:solidFill>
                  <a:srgbClr val="FFFFFF"/>
                </a:solidFill>
                <a:latin typeface="Arial"/>
              </a:rPr>
              <a:t>SEGMENT 4 OF 5</a:t>
            </a:r>
          </a:p>
        </p:txBody>
      </p:sp>
      <p:sp>
        <p:nvSpPr>
          <p:cNvPr id="3" name="Oval 2"/>
          <p:cNvSpPr/>
          <p:nvPr/>
        </p:nvSpPr>
        <p:spPr>
          <a:xfrm>
            <a:off x="822960" y="1920240"/>
            <a:ext cx="2194560" cy="2194560"/>
          </a:xfrm>
          <a:prstGeom prst="ellipse">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800" b="1" i="0">
                <a:solidFill>
                  <a:srgbClr val="FFFFFF"/>
                </a:solidFill>
                <a:latin typeface="Georgia"/>
              </a:rPr>
              <a:t>4</a:t>
            </a:r>
          </a:p>
        </p:txBody>
      </p:sp>
      <p:sp>
        <p:nvSpPr>
          <p:cNvPr id="4" name="TextBox 3"/>
          <p:cNvSpPr txBox="1"/>
          <p:nvPr/>
        </p:nvSpPr>
        <p:spPr>
          <a:xfrm>
            <a:off x="3566160" y="1828800"/>
            <a:ext cx="8046720" cy="1554480"/>
          </a:xfrm>
          <a:prstGeom prst="rect">
            <a:avLst/>
          </a:prstGeom>
          <a:noFill/>
        </p:spPr>
        <p:txBody>
          <a:bodyPr wrap="square" anchor="b">
            <a:spAutoFit/>
          </a:bodyPr>
          <a:lstStyle/>
          <a:p>
            <a:pPr algn="l"/>
            <a:r>
              <a:rPr sz="3200" b="1" i="0">
                <a:solidFill>
                  <a:srgbClr val="12213A"/>
                </a:solidFill>
                <a:latin typeface="Georgia"/>
              </a:rPr>
              <a:t>Hands-on block: notebook + vault</a:t>
            </a:r>
          </a:p>
        </p:txBody>
      </p:sp>
      <p:sp>
        <p:nvSpPr>
          <p:cNvPr id="5" name="Rectangle 4"/>
          <p:cNvSpPr/>
          <p:nvPr/>
        </p:nvSpPr>
        <p:spPr>
          <a:xfrm>
            <a:off x="3566160" y="3520440"/>
            <a:ext cx="1097280" cy="381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3657600"/>
            <a:ext cx="8046720" cy="457200"/>
          </a:xfrm>
          <a:prstGeom prst="rect">
            <a:avLst/>
          </a:prstGeom>
          <a:noFill/>
        </p:spPr>
        <p:txBody>
          <a:bodyPr wrap="square">
            <a:spAutoFit/>
          </a:bodyPr>
          <a:lstStyle/>
          <a:p>
            <a:pPr algn="l"/>
            <a:r>
              <a:rPr sz="1800" b="1" i="0">
                <a:solidFill>
                  <a:srgbClr val="4A5A6E"/>
                </a:solidFill>
                <a:latin typeface="Arial"/>
              </a:rPr>
              <a:t>25 min · Hands-on, facilitated</a:t>
            </a:r>
          </a:p>
        </p:txBody>
      </p:sp>
      <p:sp>
        <p:nvSpPr>
          <p:cNvPr id="7" name="TextBox 6"/>
          <p:cNvSpPr txBox="1"/>
          <p:nvPr/>
        </p:nvSpPr>
        <p:spPr>
          <a:xfrm>
            <a:off x="3566160" y="4114800"/>
            <a:ext cx="8046720" cy="365760"/>
          </a:xfrm>
          <a:prstGeom prst="rect">
            <a:avLst/>
          </a:prstGeom>
          <a:noFill/>
        </p:spPr>
        <p:txBody>
          <a:bodyPr wrap="square">
            <a:spAutoFit/>
          </a:bodyPr>
          <a:lstStyle/>
          <a:p>
            <a:pPr algn="l"/>
            <a:r>
              <a:rPr sz="1200" b="0" i="0">
                <a:solidFill>
                  <a:srgbClr val="6E7A88"/>
                </a:solidFill>
                <a:latin typeface="Arial"/>
              </a:rPr>
              <a:t>Segment 4 of 5</a:t>
            </a:r>
          </a:p>
        </p:txBody>
      </p:sp>
      <p:sp>
        <p:nvSpPr>
          <p:cNvPr id="8" name="Rectangle 7"/>
          <p:cNvSpPr/>
          <p:nvPr/>
        </p:nvSpPr>
        <p:spPr>
          <a:xfrm>
            <a:off x="35661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519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377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23560" y="5989320"/>
            <a:ext cx="502920" cy="73152"/>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10817352" cy="640080"/>
          </a:xfrm>
          <a:prstGeom prst="rect">
            <a:avLst/>
          </a:prstGeom>
          <a:noFill/>
        </p:spPr>
        <p:txBody>
          <a:bodyPr wrap="square" anchor="b">
            <a:spAutoFit/>
          </a:bodyPr>
          <a:lstStyle/>
          <a:p>
            <a:pPr algn="l"/>
            <a:r>
              <a:rPr sz="2700" b="1" i="0">
                <a:solidFill>
                  <a:srgbClr val="12213A"/>
                </a:solidFill>
                <a:latin typeface="Georgia"/>
              </a:rPr>
              <a:t>Checklist, steps 1–5: the minimum working system</a:t>
            </a:r>
          </a:p>
        </p:txBody>
      </p:sp>
      <p:sp>
        <p:nvSpPr>
          <p:cNvPr id="3" name="Rectangle 2"/>
          <p:cNvSpPr/>
          <p:nvPr/>
        </p:nvSpPr>
        <p:spPr>
          <a:xfrm>
            <a:off x="548640" y="457200"/>
            <a:ext cx="109728" cy="5943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307592"/>
            <a:ext cx="6949440" cy="365760"/>
          </a:xfrm>
          <a:prstGeom prst="rect">
            <a:avLst/>
          </a:prstGeom>
          <a:noFill/>
        </p:spPr>
        <p:txBody>
          <a:bodyPr wrap="square">
            <a:spAutoFit/>
          </a:bodyPr>
          <a:lstStyle/>
          <a:p>
            <a:pPr algn="l"/>
            <a:r>
              <a:rPr sz="1000" b="1" i="0">
                <a:solidFill>
                  <a:srgbClr val="6E7A88"/>
                </a:solidFill>
                <a:latin typeface="Arial"/>
              </a:rPr>
              <a:t>STEP</a:t>
            </a:r>
          </a:p>
        </p:txBody>
      </p:sp>
      <p:sp>
        <p:nvSpPr>
          <p:cNvPr id="6" name="TextBox 5"/>
          <p:cNvSpPr txBox="1"/>
          <p:nvPr/>
        </p:nvSpPr>
        <p:spPr>
          <a:xfrm>
            <a:off x="8183880" y="1307592"/>
            <a:ext cx="3474720" cy="365760"/>
          </a:xfrm>
          <a:prstGeom prst="rect">
            <a:avLst/>
          </a:prstGeom>
          <a:noFill/>
        </p:spPr>
        <p:txBody>
          <a:bodyPr wrap="square">
            <a:spAutoFit/>
          </a:bodyPr>
          <a:lstStyle/>
          <a:p>
            <a:pPr algn="l"/>
            <a:r>
              <a:rPr sz="1000" b="1" i="0">
                <a:solidFill>
                  <a:srgbClr val="6E7A88"/>
                </a:solidFill>
                <a:latin typeface="Arial"/>
              </a:rPr>
              <a:t>DONE WHEN</a:t>
            </a:r>
          </a:p>
        </p:txBody>
      </p:sp>
      <p:sp>
        <p:nvSpPr>
          <p:cNvPr id="7" name="Rectangle 6"/>
          <p:cNvSpPr/>
          <p:nvPr/>
        </p:nvSpPr>
        <p:spPr>
          <a:xfrm>
            <a:off x="548640" y="1691640"/>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1</a:t>
            </a:r>
          </a:p>
        </p:txBody>
      </p:sp>
      <p:sp>
        <p:nvSpPr>
          <p:cNvPr id="8" name="Rectangle 7"/>
          <p:cNvSpPr/>
          <p:nvPr/>
        </p:nvSpPr>
        <p:spPr>
          <a:xfrm>
            <a:off x="1143000" y="1600200"/>
            <a:ext cx="694944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50" b="0" i="0">
                <a:solidFill>
                  <a:srgbClr val="26313F"/>
                </a:solidFill>
                <a:latin typeface="Arial"/>
              </a:rPr>
              <a:t>Create a notebook for your Anchor Project; add at least three anonymised or public sources (the Lesson 2 blueprint's step 2 files qualify)</a:t>
            </a:r>
          </a:p>
        </p:txBody>
      </p:sp>
      <p:sp>
        <p:nvSpPr>
          <p:cNvPr id="9" name="Rectangle 8"/>
          <p:cNvSpPr/>
          <p:nvPr/>
        </p:nvSpPr>
        <p:spPr>
          <a:xfrm>
            <a:off x="1143000" y="1600200"/>
            <a:ext cx="82296" cy="64008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83880" y="1600200"/>
            <a:ext cx="347472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1" i="0">
                <a:solidFill>
                  <a:srgbClr val="12213A"/>
                </a:solidFill>
                <a:latin typeface="Arial"/>
              </a:rPr>
              <a:t>Sources listed, notebook answers a test question with a citation</a:t>
            </a:r>
          </a:p>
        </p:txBody>
      </p:sp>
      <p:sp>
        <p:nvSpPr>
          <p:cNvPr id="11" name="Rectangle 10"/>
          <p:cNvSpPr/>
          <p:nvPr/>
        </p:nvSpPr>
        <p:spPr>
          <a:xfrm>
            <a:off x="8183880" y="1600200"/>
            <a:ext cx="82296" cy="64008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423160"/>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2</a:t>
            </a:r>
          </a:p>
        </p:txBody>
      </p:sp>
      <p:sp>
        <p:nvSpPr>
          <p:cNvPr id="13" name="Rectangle 12"/>
          <p:cNvSpPr/>
          <p:nvPr/>
        </p:nvSpPr>
        <p:spPr>
          <a:xfrm>
            <a:off x="1143000" y="2331720"/>
            <a:ext cx="694944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50" b="0" i="0">
                <a:solidFill>
                  <a:srgbClr val="26313F"/>
                </a:solidFill>
                <a:latin typeface="Arial"/>
              </a:rPr>
              <a:t>Ask one concept question and one process question in the shapes from Segment 2; open one citation each</a:t>
            </a:r>
          </a:p>
        </p:txBody>
      </p:sp>
      <p:sp>
        <p:nvSpPr>
          <p:cNvPr id="14" name="Rectangle 13"/>
          <p:cNvSpPr/>
          <p:nvPr/>
        </p:nvSpPr>
        <p:spPr>
          <a:xfrm>
            <a:off x="1143000" y="2331720"/>
            <a:ext cx="82296" cy="64008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80" y="2331720"/>
            <a:ext cx="347472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1" i="0">
                <a:solidFill>
                  <a:srgbClr val="12213A"/>
                </a:solidFill>
                <a:latin typeface="Arial"/>
              </a:rPr>
              <a:t>Two cited answers on screen</a:t>
            </a:r>
          </a:p>
        </p:txBody>
      </p:sp>
      <p:sp>
        <p:nvSpPr>
          <p:cNvPr id="16" name="Rectangle 15"/>
          <p:cNvSpPr/>
          <p:nvPr/>
        </p:nvSpPr>
        <p:spPr>
          <a:xfrm>
            <a:off x="8183880" y="2331720"/>
            <a:ext cx="82296" cy="64008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154679"/>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3</a:t>
            </a:r>
          </a:p>
        </p:txBody>
      </p:sp>
      <p:sp>
        <p:nvSpPr>
          <p:cNvPr id="18" name="Rectangle 17"/>
          <p:cNvSpPr/>
          <p:nvPr/>
        </p:nvSpPr>
        <p:spPr>
          <a:xfrm>
            <a:off x="1143000" y="3063239"/>
            <a:ext cx="694944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50" b="0" i="0">
                <a:solidFill>
                  <a:srgbClr val="26313F"/>
                </a:solidFill>
                <a:latin typeface="Arial"/>
              </a:rPr>
              <a:t>Install Obsidian; create a vault named after your Anchor Project; make the four folders and the template</a:t>
            </a:r>
          </a:p>
        </p:txBody>
      </p:sp>
      <p:sp>
        <p:nvSpPr>
          <p:cNvPr id="19" name="Rectangle 18"/>
          <p:cNvSpPr/>
          <p:nvPr/>
        </p:nvSpPr>
        <p:spPr>
          <a:xfrm>
            <a:off x="1143000" y="3063239"/>
            <a:ext cx="82296" cy="6400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83880" y="3063239"/>
            <a:ext cx="347472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1" i="0">
                <a:solidFill>
                  <a:srgbClr val="12213A"/>
                </a:solidFill>
                <a:latin typeface="Arial"/>
              </a:rPr>
              <a:t>Vault open, folders visible</a:t>
            </a:r>
          </a:p>
        </p:txBody>
      </p:sp>
      <p:sp>
        <p:nvSpPr>
          <p:cNvPr id="21" name="Rectangle 20"/>
          <p:cNvSpPr/>
          <p:nvPr/>
        </p:nvSpPr>
        <p:spPr>
          <a:xfrm>
            <a:off x="8183880" y="3063239"/>
            <a:ext cx="82296" cy="6400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886199"/>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4</a:t>
            </a:r>
          </a:p>
        </p:txBody>
      </p:sp>
      <p:sp>
        <p:nvSpPr>
          <p:cNvPr id="23" name="Rectangle 22"/>
          <p:cNvSpPr/>
          <p:nvPr/>
        </p:nvSpPr>
        <p:spPr>
          <a:xfrm>
            <a:off x="1143000" y="3794759"/>
            <a:ext cx="694944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50" b="0" i="0">
                <a:solidFill>
                  <a:srgbClr val="26313F"/>
                </a:solidFill>
                <a:latin typeface="Arial"/>
              </a:rPr>
              <a:t>Paste the two answers as two notes in the right folders; fill type, source, captured; leave status: draft</a:t>
            </a:r>
          </a:p>
        </p:txBody>
      </p:sp>
      <p:sp>
        <p:nvSpPr>
          <p:cNvPr id="24" name="Rectangle 23"/>
          <p:cNvSpPr/>
          <p:nvPr/>
        </p:nvSpPr>
        <p:spPr>
          <a:xfrm>
            <a:off x="1143000" y="3794759"/>
            <a:ext cx="82296" cy="6400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83880" y="3794759"/>
            <a:ext cx="347472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1" i="0">
                <a:solidFill>
                  <a:srgbClr val="12213A"/>
                </a:solidFill>
                <a:latin typeface="Arial"/>
              </a:rPr>
              <a:t>Two notes with frontmatter</a:t>
            </a:r>
          </a:p>
        </p:txBody>
      </p:sp>
      <p:sp>
        <p:nvSpPr>
          <p:cNvPr id="26" name="Rectangle 25"/>
          <p:cNvSpPr/>
          <p:nvPr/>
        </p:nvSpPr>
        <p:spPr>
          <a:xfrm>
            <a:off x="8183880" y="3794759"/>
            <a:ext cx="82296" cy="6400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617719"/>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5</a:t>
            </a:r>
          </a:p>
        </p:txBody>
      </p:sp>
      <p:sp>
        <p:nvSpPr>
          <p:cNvPr id="28" name="Rectangle 27"/>
          <p:cNvSpPr/>
          <p:nvPr/>
        </p:nvSpPr>
        <p:spPr>
          <a:xfrm>
            <a:off x="1143000" y="4526279"/>
            <a:ext cx="694944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50" b="0" i="0">
                <a:solidFill>
                  <a:srgbClr val="26313F"/>
                </a:solidFill>
                <a:latin typeface="Arial"/>
              </a:rPr>
              <a:t>Link them to each other with [[ ]]; create one more note by clicking a link to a title that does not exist yet</a:t>
            </a:r>
          </a:p>
        </p:txBody>
      </p:sp>
      <p:sp>
        <p:nvSpPr>
          <p:cNvPr id="29" name="Rectangle 28"/>
          <p:cNvSpPr/>
          <p:nvPr/>
        </p:nvSpPr>
        <p:spPr>
          <a:xfrm>
            <a:off x="1143000" y="4526279"/>
            <a:ext cx="82296" cy="6400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83880" y="4526279"/>
            <a:ext cx="347472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1" i="0">
                <a:solidFill>
                  <a:srgbClr val="12213A"/>
                </a:solidFill>
                <a:latin typeface="Arial"/>
              </a:rPr>
              <a:t>Graph View shows three connected nodes</a:t>
            </a:r>
          </a:p>
        </p:txBody>
      </p:sp>
      <p:sp>
        <p:nvSpPr>
          <p:cNvPr id="31" name="Rectangle 30"/>
          <p:cNvSpPr/>
          <p:nvPr/>
        </p:nvSpPr>
        <p:spPr>
          <a:xfrm>
            <a:off x="8183880" y="4526279"/>
            <a:ext cx="82296" cy="6400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5349240"/>
            <a:ext cx="11091672" cy="777240"/>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400" b="1" i="0">
                <a:solidFill>
                  <a:srgbClr val="FFFFFF"/>
                </a:solidFill>
                <a:latin typeface="Georgia"/>
              </a:rPr>
              <a:t>Steps 1–5 are the minimum: anyone at step 5 by the 20-minute mark has a working system</a:t>
            </a:r>
          </a:p>
          <a:p>
            <a:pPr algn="ctr">
              <a:spcBef>
                <a:spcPts val="600"/>
              </a:spcBef>
            </a:pPr>
            <a:r>
              <a:rPr sz="1300" b="0" i="0">
                <a:solidFill>
                  <a:srgbClr val="FFFFFF"/>
                </a:solidFill>
                <a:latin typeface="Arial"/>
              </a:rPr>
              <a:t>mark progress in the Teams chat (“✅ 1–4”) so stragglers are visible  ·  quick finishers help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10817352" cy="640080"/>
          </a:xfrm>
          <a:prstGeom prst="rect">
            <a:avLst/>
          </a:prstGeom>
          <a:noFill/>
        </p:spPr>
        <p:txBody>
          <a:bodyPr wrap="square" anchor="b">
            <a:spAutoFit/>
          </a:bodyPr>
          <a:lstStyle/>
          <a:p>
            <a:pPr algn="l"/>
            <a:r>
              <a:rPr sz="2700" b="1" i="0">
                <a:solidFill>
                  <a:srgbClr val="12213A"/>
                </a:solidFill>
                <a:latin typeface="Georgia"/>
              </a:rPr>
              <a:t>Checklist, steps 6–8: the vault's own AI</a:t>
            </a:r>
          </a:p>
        </p:txBody>
      </p:sp>
      <p:sp>
        <p:nvSpPr>
          <p:cNvPr id="3" name="Rectangle 2"/>
          <p:cNvSpPr/>
          <p:nvPr/>
        </p:nvSpPr>
        <p:spPr>
          <a:xfrm>
            <a:off x="548640" y="457200"/>
            <a:ext cx="109728" cy="5943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307592"/>
            <a:ext cx="6949440" cy="365760"/>
          </a:xfrm>
          <a:prstGeom prst="rect">
            <a:avLst/>
          </a:prstGeom>
          <a:noFill/>
        </p:spPr>
        <p:txBody>
          <a:bodyPr wrap="square">
            <a:spAutoFit/>
          </a:bodyPr>
          <a:lstStyle/>
          <a:p>
            <a:pPr algn="l"/>
            <a:r>
              <a:rPr sz="1000" b="1" i="0">
                <a:solidFill>
                  <a:srgbClr val="6E7A88"/>
                </a:solidFill>
                <a:latin typeface="Arial"/>
              </a:rPr>
              <a:t>STEP</a:t>
            </a:r>
          </a:p>
        </p:txBody>
      </p:sp>
      <p:sp>
        <p:nvSpPr>
          <p:cNvPr id="6" name="TextBox 5"/>
          <p:cNvSpPr txBox="1"/>
          <p:nvPr/>
        </p:nvSpPr>
        <p:spPr>
          <a:xfrm>
            <a:off x="8183880" y="1307592"/>
            <a:ext cx="3474720" cy="365760"/>
          </a:xfrm>
          <a:prstGeom prst="rect">
            <a:avLst/>
          </a:prstGeom>
          <a:noFill/>
        </p:spPr>
        <p:txBody>
          <a:bodyPr wrap="square">
            <a:spAutoFit/>
          </a:bodyPr>
          <a:lstStyle/>
          <a:p>
            <a:pPr algn="l"/>
            <a:r>
              <a:rPr sz="1000" b="1" i="0">
                <a:solidFill>
                  <a:srgbClr val="6E7A88"/>
                </a:solidFill>
                <a:latin typeface="Arial"/>
              </a:rPr>
              <a:t>DONE WHEN</a:t>
            </a:r>
          </a:p>
        </p:txBody>
      </p:sp>
      <p:sp>
        <p:nvSpPr>
          <p:cNvPr id="7" name="Rectangle 6"/>
          <p:cNvSpPr/>
          <p:nvPr/>
        </p:nvSpPr>
        <p:spPr>
          <a:xfrm>
            <a:off x="548640" y="1691640"/>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6</a:t>
            </a:r>
          </a:p>
        </p:txBody>
      </p:sp>
      <p:sp>
        <p:nvSpPr>
          <p:cNvPr id="8" name="Rectangle 7"/>
          <p:cNvSpPr/>
          <p:nvPr/>
        </p:nvSpPr>
        <p:spPr>
          <a:xfrm>
            <a:off x="1143000" y="1600200"/>
            <a:ext cx="694944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50" b="0" i="0">
                <a:solidFill>
                  <a:srgbClr val="26313F"/>
                </a:solidFill>
                <a:latin typeface="Arial"/>
              </a:rPr>
              <a:t>Turn off Restricted mode; install and enable Smart Connections; open the Connections view on one note</a:t>
            </a:r>
          </a:p>
        </p:txBody>
      </p:sp>
      <p:sp>
        <p:nvSpPr>
          <p:cNvPr id="9" name="Rectangle 8"/>
          <p:cNvSpPr/>
          <p:nvPr/>
        </p:nvSpPr>
        <p:spPr>
          <a:xfrm>
            <a:off x="1143000" y="1600200"/>
            <a:ext cx="82296" cy="6400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83880" y="1600200"/>
            <a:ext cx="347472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1" i="0">
                <a:solidFill>
                  <a:srgbClr val="12213A"/>
                </a:solidFill>
                <a:latin typeface="Arial"/>
              </a:rPr>
              <a:t>Connections view lists the other notes</a:t>
            </a:r>
          </a:p>
        </p:txBody>
      </p:sp>
      <p:sp>
        <p:nvSpPr>
          <p:cNvPr id="11" name="Rectangle 10"/>
          <p:cNvSpPr/>
          <p:nvPr/>
        </p:nvSpPr>
        <p:spPr>
          <a:xfrm>
            <a:off x="8183880" y="1600200"/>
            <a:ext cx="82296" cy="6400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423160"/>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7</a:t>
            </a:r>
          </a:p>
        </p:txBody>
      </p:sp>
      <p:sp>
        <p:nvSpPr>
          <p:cNvPr id="13" name="Rectangle 12"/>
          <p:cNvSpPr/>
          <p:nvPr/>
        </p:nvSpPr>
        <p:spPr>
          <a:xfrm>
            <a:off x="1143000" y="2331720"/>
            <a:ext cx="694944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50" b="0" i="0">
                <a:solidFill>
                  <a:srgbClr val="26313F"/>
                </a:solidFill>
                <a:latin typeface="Arial"/>
              </a:rPr>
              <a:t>Get a Gemini API key at Google AI Studio; install Copilot for Obsidian; enter the key; refresh the index</a:t>
            </a:r>
          </a:p>
        </p:txBody>
      </p:sp>
      <p:sp>
        <p:nvSpPr>
          <p:cNvPr id="14" name="Rectangle 13"/>
          <p:cNvSpPr/>
          <p:nvPr/>
        </p:nvSpPr>
        <p:spPr>
          <a:xfrm>
            <a:off x="1143000" y="2331720"/>
            <a:ext cx="82296" cy="64008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80" y="2331720"/>
            <a:ext cx="347472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1" i="0">
                <a:solidFill>
                  <a:srgbClr val="12213A"/>
                </a:solidFill>
                <a:latin typeface="Arial"/>
              </a:rPr>
              <a:t>Settings saved without an error</a:t>
            </a:r>
          </a:p>
        </p:txBody>
      </p:sp>
      <p:sp>
        <p:nvSpPr>
          <p:cNvPr id="16" name="Rectangle 15"/>
          <p:cNvSpPr/>
          <p:nvPr/>
        </p:nvSpPr>
        <p:spPr>
          <a:xfrm>
            <a:off x="8183880" y="2331720"/>
            <a:ext cx="82296" cy="64008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154679"/>
            <a:ext cx="457200" cy="4572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8</a:t>
            </a:r>
          </a:p>
        </p:txBody>
      </p:sp>
      <p:sp>
        <p:nvSpPr>
          <p:cNvPr id="18" name="Rectangle 17"/>
          <p:cNvSpPr/>
          <p:nvPr/>
        </p:nvSpPr>
        <p:spPr>
          <a:xfrm>
            <a:off x="1143000" y="3063239"/>
            <a:ext cx="694944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50" b="0" i="0">
                <a:solidFill>
                  <a:srgbClr val="26313F"/>
                </a:solidFill>
                <a:latin typeface="Arial"/>
              </a:rPr>
              <a:t>In Copilot for Obsidian's Vault QA, ask a question your three notes can answer</a:t>
            </a:r>
          </a:p>
        </p:txBody>
      </p:sp>
      <p:sp>
        <p:nvSpPr>
          <p:cNvPr id="19" name="Rectangle 18"/>
          <p:cNvSpPr/>
          <p:nvPr/>
        </p:nvSpPr>
        <p:spPr>
          <a:xfrm>
            <a:off x="1143000" y="3063239"/>
            <a:ext cx="82296" cy="64008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83880" y="3063239"/>
            <a:ext cx="3474720" cy="64008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1" i="0">
                <a:solidFill>
                  <a:srgbClr val="12213A"/>
                </a:solidFill>
                <a:latin typeface="Arial"/>
              </a:rPr>
              <a:t>An answer citing at least one note</a:t>
            </a:r>
          </a:p>
        </p:txBody>
      </p:sp>
      <p:sp>
        <p:nvSpPr>
          <p:cNvPr id="21" name="Rectangle 20"/>
          <p:cNvSpPr/>
          <p:nvPr/>
        </p:nvSpPr>
        <p:spPr>
          <a:xfrm>
            <a:off x="8183880" y="3063239"/>
            <a:ext cx="82296" cy="640080"/>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931920"/>
            <a:ext cx="11091672" cy="77724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400" b="1" i="0">
                <a:solidFill>
                  <a:srgbClr val="FFFFFF"/>
                </a:solidFill>
                <a:latin typeface="Georgia"/>
              </a:rPr>
              <a:t>Steps 6–8 finish in the assignment or at Practice Week 2 if time runs out</a:t>
            </a:r>
          </a:p>
          <a:p>
            <a:pPr algn="ctr">
              <a:spcBef>
                <a:spcPts val="600"/>
              </a:spcBef>
            </a:pPr>
            <a:r>
              <a:rPr sz="1300" b="0" i="0">
                <a:solidFill>
                  <a:srgbClr val="FFFFFF"/>
                </a:solidFill>
                <a:latin typeface="Arial"/>
              </a:rPr>
              <a:t>the setup order from Segment 3 is the recipe; the key goes to Google's free API tier, so Copilot for Obsidian is a Daily Driver call</a:t>
            </a:r>
          </a:p>
        </p:txBody>
      </p:sp>
      <p:sp>
        <p:nvSpPr>
          <p:cNvPr id="23" name="TextBox 22"/>
          <p:cNvSpPr txBox="1"/>
          <p:nvPr/>
        </p:nvSpPr>
        <p:spPr>
          <a:xfrm>
            <a:off x="548640" y="4937760"/>
            <a:ext cx="11091672" cy="365760"/>
          </a:xfrm>
          <a:prstGeom prst="rect">
            <a:avLst/>
          </a:prstGeom>
          <a:noFill/>
        </p:spPr>
        <p:txBody>
          <a:bodyPr wrap="square">
            <a:spAutoFit/>
          </a:bodyPr>
          <a:lstStyle/>
          <a:p>
            <a:pPr algn="l"/>
            <a:r>
              <a:rPr sz="1100" b="0" i="1">
                <a:solidFill>
                  <a:srgbClr val="6E7A88"/>
                </a:solidFill>
                <a:latin typeface="Arial"/>
              </a:rPr>
              <a:t>Amber steps call a cloud model (Daily Driver); green steps stay on the machine.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10817352" cy="640080"/>
          </a:xfrm>
          <a:prstGeom prst="rect">
            <a:avLst/>
          </a:prstGeom>
          <a:noFill/>
        </p:spPr>
        <p:txBody>
          <a:bodyPr wrap="square" anchor="b">
            <a:spAutoFit/>
          </a:bodyPr>
          <a:lstStyle/>
          <a:p>
            <a:pPr algn="l"/>
            <a:r>
              <a:rPr sz="2700" b="1" i="0">
                <a:solidFill>
                  <a:srgbClr val="12213A"/>
                </a:solidFill>
                <a:latin typeface="Georgia"/>
              </a:rPr>
              <a:t>If it does not work — the usual reasons</a:t>
            </a:r>
          </a:p>
        </p:txBody>
      </p:sp>
      <p:sp>
        <p:nvSpPr>
          <p:cNvPr id="3" name="Rectangle 2"/>
          <p:cNvSpPr/>
          <p:nvPr/>
        </p:nvSpPr>
        <p:spPr>
          <a:xfrm>
            <a:off x="548640" y="457200"/>
            <a:ext cx="109728" cy="5943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98448"/>
            <a:ext cx="6400800" cy="365760"/>
          </a:xfrm>
          <a:prstGeom prst="rect">
            <a:avLst/>
          </a:prstGeom>
          <a:noFill/>
        </p:spPr>
        <p:txBody>
          <a:bodyPr wrap="square">
            <a:spAutoFit/>
          </a:bodyPr>
          <a:lstStyle/>
          <a:p>
            <a:pPr algn="l"/>
            <a:r>
              <a:rPr sz="1000" b="1" i="0">
                <a:solidFill>
                  <a:srgbClr val="6E7A88"/>
                </a:solidFill>
                <a:latin typeface="Arial"/>
              </a:rPr>
              <a:t>SYMPTOM</a:t>
            </a:r>
          </a:p>
        </p:txBody>
      </p:sp>
      <p:sp>
        <p:nvSpPr>
          <p:cNvPr id="6" name="TextBox 5"/>
          <p:cNvSpPr txBox="1"/>
          <p:nvPr/>
        </p:nvSpPr>
        <p:spPr>
          <a:xfrm>
            <a:off x="6949440" y="1298448"/>
            <a:ext cx="4690872" cy="365760"/>
          </a:xfrm>
          <a:prstGeom prst="rect">
            <a:avLst/>
          </a:prstGeom>
          <a:noFill/>
        </p:spPr>
        <p:txBody>
          <a:bodyPr wrap="square">
            <a:spAutoFit/>
          </a:bodyPr>
          <a:lstStyle/>
          <a:p>
            <a:pPr algn="l"/>
            <a:r>
              <a:rPr sz="1000" b="1" i="0">
                <a:solidFill>
                  <a:srgbClr val="6E7A88"/>
                </a:solidFill>
                <a:latin typeface="Arial"/>
              </a:rPr>
              <a:t>FIX</a:t>
            </a:r>
          </a:p>
        </p:txBody>
      </p:sp>
      <p:sp>
        <p:nvSpPr>
          <p:cNvPr id="7" name="Rectangle 6"/>
          <p:cNvSpPr/>
          <p:nvPr/>
        </p:nvSpPr>
        <p:spPr>
          <a:xfrm>
            <a:off x="548640" y="1609344"/>
            <a:ext cx="11091672"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9344"/>
            <a:ext cx="82296" cy="56692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609344"/>
            <a:ext cx="6318504" cy="566928"/>
          </a:xfrm>
          <a:prstGeom prst="rect">
            <a:avLst/>
          </a:prstGeom>
          <a:noFill/>
        </p:spPr>
        <p:txBody>
          <a:bodyPr wrap="square" anchor="ctr" lIns="128016" tIns="18288" bIns="18288">
            <a:spAutoFit/>
          </a:bodyPr>
          <a:lstStyle/>
          <a:p>
            <a:pPr algn="l"/>
            <a:r>
              <a:rPr sz="1200" b="1" i="0">
                <a:solidFill>
                  <a:srgbClr val="12213A"/>
                </a:solidFill>
                <a:latin typeface="Arial"/>
              </a:rPr>
              <a:t>Obsidian install blocked on a managed machine</a:t>
            </a:r>
          </a:p>
        </p:txBody>
      </p:sp>
      <p:sp>
        <p:nvSpPr>
          <p:cNvPr id="10" name="TextBox 9"/>
          <p:cNvSpPr txBox="1"/>
          <p:nvPr/>
        </p:nvSpPr>
        <p:spPr>
          <a:xfrm>
            <a:off x="6949440" y="1609344"/>
            <a:ext cx="4690872" cy="566928"/>
          </a:xfrm>
          <a:prstGeom prst="rect">
            <a:avLst/>
          </a:prstGeom>
          <a:noFill/>
        </p:spPr>
        <p:txBody>
          <a:bodyPr wrap="square" anchor="ctr" lIns="128016" tIns="18288" bIns="18288">
            <a:spAutoFit/>
          </a:bodyPr>
          <a:lstStyle/>
          <a:p>
            <a:pPr algn="l"/>
            <a:r>
              <a:rPr sz="1200" b="0" i="0">
                <a:solidFill>
                  <a:srgbClr val="26313F"/>
                </a:solidFill>
                <a:latin typeface="Arial"/>
              </a:rPr>
              <a:t>portable build, or a personal device</a:t>
            </a:r>
          </a:p>
        </p:txBody>
      </p:sp>
      <p:sp>
        <p:nvSpPr>
          <p:cNvPr id="11" name="Rectangle 10"/>
          <p:cNvSpPr/>
          <p:nvPr/>
        </p:nvSpPr>
        <p:spPr>
          <a:xfrm>
            <a:off x="548640" y="2240280"/>
            <a:ext cx="11091672"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40280"/>
            <a:ext cx="82296" cy="56692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 y="2240280"/>
            <a:ext cx="6318504" cy="566928"/>
          </a:xfrm>
          <a:prstGeom prst="rect">
            <a:avLst/>
          </a:prstGeom>
          <a:noFill/>
        </p:spPr>
        <p:txBody>
          <a:bodyPr wrap="square" anchor="ctr" lIns="128016" tIns="18288" bIns="18288">
            <a:spAutoFit/>
          </a:bodyPr>
          <a:lstStyle/>
          <a:p>
            <a:pPr algn="l"/>
            <a:r>
              <a:rPr sz="1200" b="1" i="0">
                <a:solidFill>
                  <a:srgbClr val="12213A"/>
                </a:solidFill>
                <a:latin typeface="Arial"/>
              </a:rPr>
              <a:t>Google account in the wrong browser profile</a:t>
            </a:r>
          </a:p>
        </p:txBody>
      </p:sp>
      <p:sp>
        <p:nvSpPr>
          <p:cNvPr id="14" name="TextBox 13"/>
          <p:cNvSpPr txBox="1"/>
          <p:nvPr/>
        </p:nvSpPr>
        <p:spPr>
          <a:xfrm>
            <a:off x="6949440" y="2240280"/>
            <a:ext cx="4690872" cy="566928"/>
          </a:xfrm>
          <a:prstGeom prst="rect">
            <a:avLst/>
          </a:prstGeom>
          <a:noFill/>
        </p:spPr>
        <p:txBody>
          <a:bodyPr wrap="square" anchor="ctr" lIns="128016" tIns="18288" bIns="18288">
            <a:spAutoFit/>
          </a:bodyPr>
          <a:lstStyle/>
          <a:p>
            <a:pPr algn="l"/>
            <a:r>
              <a:rPr sz="1200" b="0" i="0">
                <a:solidFill>
                  <a:srgbClr val="26313F"/>
                </a:solidFill>
                <a:latin typeface="Arial"/>
              </a:rPr>
              <a:t>same fix as Lesson 1</a:t>
            </a:r>
          </a:p>
        </p:txBody>
      </p:sp>
      <p:sp>
        <p:nvSpPr>
          <p:cNvPr id="15" name="Rectangle 14"/>
          <p:cNvSpPr/>
          <p:nvPr/>
        </p:nvSpPr>
        <p:spPr>
          <a:xfrm>
            <a:off x="548640" y="2871216"/>
            <a:ext cx="11091672"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871216"/>
            <a:ext cx="82296" cy="56692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 y="2871216"/>
            <a:ext cx="6318504" cy="566928"/>
          </a:xfrm>
          <a:prstGeom prst="rect">
            <a:avLst/>
          </a:prstGeom>
          <a:noFill/>
        </p:spPr>
        <p:txBody>
          <a:bodyPr wrap="square" anchor="ctr" lIns="128016" tIns="18288" bIns="18288">
            <a:spAutoFit/>
          </a:bodyPr>
          <a:lstStyle/>
          <a:p>
            <a:pPr algn="l"/>
            <a:r>
              <a:rPr sz="1200" b="1" i="0">
                <a:solidFill>
                  <a:srgbClr val="12213A"/>
                </a:solidFill>
                <a:latin typeface="Arial"/>
              </a:rPr>
              <a:t>API key pasted with a trailing space</a:t>
            </a:r>
          </a:p>
        </p:txBody>
      </p:sp>
      <p:sp>
        <p:nvSpPr>
          <p:cNvPr id="18" name="TextBox 17"/>
          <p:cNvSpPr txBox="1"/>
          <p:nvPr/>
        </p:nvSpPr>
        <p:spPr>
          <a:xfrm>
            <a:off x="6949440" y="2871216"/>
            <a:ext cx="4690872" cy="566928"/>
          </a:xfrm>
          <a:prstGeom prst="rect">
            <a:avLst/>
          </a:prstGeom>
          <a:noFill/>
        </p:spPr>
        <p:txBody>
          <a:bodyPr wrap="square" anchor="ctr" lIns="128016" tIns="18288" bIns="18288">
            <a:spAutoFit/>
          </a:bodyPr>
          <a:lstStyle/>
          <a:p>
            <a:pPr algn="l"/>
            <a:r>
              <a:rPr sz="1200" b="0" i="0">
                <a:solidFill>
                  <a:srgbClr val="26313F"/>
                </a:solidFill>
                <a:latin typeface="Arial"/>
              </a:rPr>
              <a:t>paste it again</a:t>
            </a:r>
          </a:p>
        </p:txBody>
      </p:sp>
      <p:sp>
        <p:nvSpPr>
          <p:cNvPr id="19" name="Rectangle 18"/>
          <p:cNvSpPr/>
          <p:nvPr/>
        </p:nvSpPr>
        <p:spPr>
          <a:xfrm>
            <a:off x="548640" y="3502152"/>
            <a:ext cx="11091672"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502152"/>
            <a:ext cx="82296" cy="56692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 y="3502152"/>
            <a:ext cx="6318504" cy="566928"/>
          </a:xfrm>
          <a:prstGeom prst="rect">
            <a:avLst/>
          </a:prstGeom>
          <a:noFill/>
        </p:spPr>
        <p:txBody>
          <a:bodyPr wrap="square" anchor="ctr" lIns="128016" tIns="18288" bIns="18288">
            <a:spAutoFit/>
          </a:bodyPr>
          <a:lstStyle/>
          <a:p>
            <a:pPr algn="l"/>
            <a:r>
              <a:rPr sz="1200" b="1" i="0">
                <a:solidFill>
                  <a:srgbClr val="12213A"/>
                </a:solidFill>
                <a:latin typeface="Arial"/>
              </a:rPr>
              <a:t>Copilot for Obsidian's index refresh not run, so Vault QA answers “no relevant notes”</a:t>
            </a:r>
          </a:p>
        </p:txBody>
      </p:sp>
      <p:sp>
        <p:nvSpPr>
          <p:cNvPr id="22" name="TextBox 21"/>
          <p:cNvSpPr txBox="1"/>
          <p:nvPr/>
        </p:nvSpPr>
        <p:spPr>
          <a:xfrm>
            <a:off x="6949440" y="3502152"/>
            <a:ext cx="4690872" cy="566928"/>
          </a:xfrm>
          <a:prstGeom prst="rect">
            <a:avLst/>
          </a:prstGeom>
          <a:noFill/>
        </p:spPr>
        <p:txBody>
          <a:bodyPr wrap="square" anchor="ctr" lIns="128016" tIns="18288" bIns="18288">
            <a:spAutoFit/>
          </a:bodyPr>
          <a:lstStyle/>
          <a:p>
            <a:pPr algn="l"/>
            <a:r>
              <a:rPr sz="1200" b="0" i="0">
                <a:solidFill>
                  <a:srgbClr val="26313F"/>
                </a:solidFill>
                <a:latin typeface="Arial"/>
              </a:rPr>
              <a:t>run “Refresh vault index”</a:t>
            </a:r>
          </a:p>
        </p:txBody>
      </p:sp>
      <p:sp>
        <p:nvSpPr>
          <p:cNvPr id="23" name="Rectangle 22"/>
          <p:cNvSpPr/>
          <p:nvPr/>
        </p:nvSpPr>
        <p:spPr>
          <a:xfrm>
            <a:off x="548640" y="4133088"/>
            <a:ext cx="11091672"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133088"/>
            <a:ext cx="82296" cy="56692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 y="4133088"/>
            <a:ext cx="6318504" cy="566928"/>
          </a:xfrm>
          <a:prstGeom prst="rect">
            <a:avLst/>
          </a:prstGeom>
          <a:noFill/>
        </p:spPr>
        <p:txBody>
          <a:bodyPr wrap="square" anchor="ctr" lIns="128016" tIns="18288" bIns="18288">
            <a:spAutoFit/>
          </a:bodyPr>
          <a:lstStyle/>
          <a:p>
            <a:pPr algn="l"/>
            <a:r>
              <a:rPr sz="1200" b="1" i="0">
                <a:solidFill>
                  <a:srgbClr val="12213A"/>
                </a:solidFill>
                <a:latin typeface="Arial"/>
              </a:rPr>
              <a:t>Smart Connections still embedding on a slow machine</a:t>
            </a:r>
          </a:p>
        </p:txBody>
      </p:sp>
      <p:sp>
        <p:nvSpPr>
          <p:cNvPr id="26" name="TextBox 25"/>
          <p:cNvSpPr txBox="1"/>
          <p:nvPr/>
        </p:nvSpPr>
        <p:spPr>
          <a:xfrm>
            <a:off x="6949440" y="4133088"/>
            <a:ext cx="4690872" cy="566928"/>
          </a:xfrm>
          <a:prstGeom prst="rect">
            <a:avLst/>
          </a:prstGeom>
          <a:noFill/>
        </p:spPr>
        <p:txBody>
          <a:bodyPr wrap="square" anchor="ctr" lIns="128016" tIns="18288" bIns="18288">
            <a:spAutoFit/>
          </a:bodyPr>
          <a:lstStyle/>
          <a:p>
            <a:pPr algn="l"/>
            <a:r>
              <a:rPr sz="1200" b="0" i="0">
                <a:solidFill>
                  <a:srgbClr val="26313F"/>
                </a:solidFill>
                <a:latin typeface="Arial"/>
              </a:rPr>
              <a:t>wait — it is a one-off</a:t>
            </a:r>
          </a:p>
        </p:txBody>
      </p:sp>
      <p:sp>
        <p:nvSpPr>
          <p:cNvPr id="27" name="Rectangle 26"/>
          <p:cNvSpPr/>
          <p:nvPr/>
        </p:nvSpPr>
        <p:spPr>
          <a:xfrm>
            <a:off x="548640" y="5120640"/>
            <a:ext cx="5440680" cy="9144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No anonymised material of your own?</a:t>
            </a:r>
          </a:p>
          <a:p>
            <a:pPr>
              <a:spcBef>
                <a:spcPts val="300"/>
              </a:spcBef>
            </a:pPr>
            <a:r>
              <a:rPr sz="1150" b="0" i="0">
                <a:solidFill>
                  <a:srgbClr val="26313F"/>
                </a:solidFill>
                <a:latin typeface="Arial"/>
              </a:rPr>
              <a:t>Use the facilitator's sample documents — prepared, fictional.</a:t>
            </a:r>
          </a:p>
        </p:txBody>
      </p:sp>
      <p:sp>
        <p:nvSpPr>
          <p:cNvPr id="28" name="Rectangle 27"/>
          <p:cNvSpPr/>
          <p:nvPr/>
        </p:nvSpPr>
        <p:spPr>
          <a:xfrm>
            <a:off x="548640" y="5120640"/>
            <a:ext cx="82296" cy="9144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99632" y="5120640"/>
            <a:ext cx="5440680" cy="9144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On the second monitor</a:t>
            </a:r>
          </a:p>
          <a:p>
            <a:pPr>
              <a:spcBef>
                <a:spcPts val="300"/>
              </a:spcBef>
            </a:pPr>
            <a:r>
              <a:rPr sz="1150" b="0" i="0">
                <a:solidFill>
                  <a:srgbClr val="26313F"/>
                </a:solidFill>
                <a:latin typeface="Arial"/>
              </a:rPr>
              <a:t>The Lesson 2 “what must never enter Gemini” list — the vault inherits it, and so does the notebook.</a:t>
            </a:r>
          </a:p>
        </p:txBody>
      </p:sp>
      <p:sp>
        <p:nvSpPr>
          <p:cNvPr id="30" name="Rectangle 29"/>
          <p:cNvSpPr/>
          <p:nvPr/>
        </p:nvSpPr>
        <p:spPr>
          <a:xfrm>
            <a:off x="6199632" y="5120640"/>
            <a:ext cx="82296" cy="9144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234440"/>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822960"/>
          <a:lstStyle/>
          <a:p>
            <a:pPr algn="ctr"/>
            <a:r>
              <a:rPr sz="1300" b="1" i="0">
                <a:solidFill>
                  <a:srgbClr val="FFFFFF"/>
                </a:solidFill>
                <a:latin typeface="Arial"/>
              </a:rPr>
              <a:t>SEGMENT 5 OF 5</a:t>
            </a:r>
          </a:p>
        </p:txBody>
      </p:sp>
      <p:sp>
        <p:nvSpPr>
          <p:cNvPr id="3" name="Oval 2"/>
          <p:cNvSpPr/>
          <p:nvPr/>
        </p:nvSpPr>
        <p:spPr>
          <a:xfrm>
            <a:off x="822960" y="1920240"/>
            <a:ext cx="2194560" cy="2194560"/>
          </a:xfrm>
          <a:prstGeom prst="ellipse">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800" b="1" i="0">
                <a:solidFill>
                  <a:srgbClr val="FFFFFF"/>
                </a:solidFill>
                <a:latin typeface="Georgia"/>
              </a:rPr>
              <a:t>5</a:t>
            </a:r>
          </a:p>
        </p:txBody>
      </p:sp>
      <p:sp>
        <p:nvSpPr>
          <p:cNvPr id="4" name="TextBox 3"/>
          <p:cNvSpPr txBox="1"/>
          <p:nvPr/>
        </p:nvSpPr>
        <p:spPr>
          <a:xfrm>
            <a:off x="3566160" y="1828800"/>
            <a:ext cx="8046720" cy="1554480"/>
          </a:xfrm>
          <a:prstGeom prst="rect">
            <a:avLst/>
          </a:prstGeom>
          <a:noFill/>
        </p:spPr>
        <p:txBody>
          <a:bodyPr wrap="square" anchor="b">
            <a:spAutoFit/>
          </a:bodyPr>
          <a:lstStyle/>
          <a:p>
            <a:pPr algn="l"/>
            <a:r>
              <a:rPr sz="3200" b="1" i="0">
                <a:solidFill>
                  <a:srgbClr val="12213A"/>
                </a:solidFill>
                <a:latin typeface="Georgia"/>
              </a:rPr>
              <a:t>Assignment briefing + close</a:t>
            </a:r>
          </a:p>
        </p:txBody>
      </p:sp>
      <p:sp>
        <p:nvSpPr>
          <p:cNvPr id="5" name="Rectangle 4"/>
          <p:cNvSpPr/>
          <p:nvPr/>
        </p:nvSpPr>
        <p:spPr>
          <a:xfrm>
            <a:off x="3566160" y="3520440"/>
            <a:ext cx="1097280" cy="381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3657600"/>
            <a:ext cx="8046720" cy="457200"/>
          </a:xfrm>
          <a:prstGeom prst="rect">
            <a:avLst/>
          </a:prstGeom>
          <a:noFill/>
        </p:spPr>
        <p:txBody>
          <a:bodyPr wrap="square">
            <a:spAutoFit/>
          </a:bodyPr>
          <a:lstStyle/>
          <a:p>
            <a:pPr algn="l"/>
            <a:r>
              <a:rPr sz="1800" b="1" i="0">
                <a:solidFill>
                  <a:srgbClr val="4A5A6E"/>
                </a:solidFill>
                <a:latin typeface="Arial"/>
              </a:rPr>
              <a:t>8 min · Presentation + Q&amp;A</a:t>
            </a:r>
          </a:p>
        </p:txBody>
      </p:sp>
      <p:sp>
        <p:nvSpPr>
          <p:cNvPr id="7" name="TextBox 6"/>
          <p:cNvSpPr txBox="1"/>
          <p:nvPr/>
        </p:nvSpPr>
        <p:spPr>
          <a:xfrm>
            <a:off x="3566160" y="4114800"/>
            <a:ext cx="8046720" cy="365760"/>
          </a:xfrm>
          <a:prstGeom prst="rect">
            <a:avLst/>
          </a:prstGeom>
          <a:noFill/>
        </p:spPr>
        <p:txBody>
          <a:bodyPr wrap="square">
            <a:spAutoFit/>
          </a:bodyPr>
          <a:lstStyle/>
          <a:p>
            <a:pPr algn="l"/>
            <a:r>
              <a:rPr sz="1200" b="0" i="0">
                <a:solidFill>
                  <a:srgbClr val="6E7A88"/>
                </a:solidFill>
                <a:latin typeface="Arial"/>
              </a:rPr>
              <a:t>Segment 5 of 5</a:t>
            </a:r>
          </a:p>
        </p:txBody>
      </p:sp>
      <p:sp>
        <p:nvSpPr>
          <p:cNvPr id="8" name="Rectangle 7"/>
          <p:cNvSpPr/>
          <p:nvPr/>
        </p:nvSpPr>
        <p:spPr>
          <a:xfrm>
            <a:off x="35661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519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377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23560" y="5989320"/>
            <a:ext cx="502920" cy="73152"/>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5989320"/>
            <a:ext cx="502920" cy="73152"/>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10817352" cy="640080"/>
          </a:xfrm>
          <a:prstGeom prst="rect">
            <a:avLst/>
          </a:prstGeom>
          <a:noFill/>
        </p:spPr>
        <p:txBody>
          <a:bodyPr wrap="square" anchor="b">
            <a:spAutoFit/>
          </a:bodyPr>
          <a:lstStyle/>
          <a:p>
            <a:pPr algn="l"/>
            <a:r>
              <a:rPr sz="2700" b="1" i="0">
                <a:solidFill>
                  <a:srgbClr val="12213A"/>
                </a:solidFill>
                <a:latin typeface="Georgia"/>
              </a:rPr>
              <a:t>Assignment: your KM System, first two floors</a:t>
            </a:r>
          </a:p>
        </p:txBody>
      </p:sp>
      <p:sp>
        <p:nvSpPr>
          <p:cNvPr id="3" name="Rectangle 2"/>
          <p:cNvSpPr/>
          <p:nvPr/>
        </p:nvSpPr>
        <p:spPr>
          <a:xfrm>
            <a:off x="548640" y="457200"/>
            <a:ext cx="109728" cy="5943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70432"/>
            <a:ext cx="11091672" cy="365760"/>
          </a:xfrm>
          <a:prstGeom prst="rect">
            <a:avLst/>
          </a:prstGeom>
          <a:noFill/>
        </p:spPr>
        <p:txBody>
          <a:bodyPr wrap="square">
            <a:spAutoFit/>
          </a:bodyPr>
          <a:lstStyle/>
          <a:p>
            <a:pPr algn="l"/>
            <a:r>
              <a:rPr sz="1250" b="1" i="0">
                <a:solidFill>
                  <a:srgbClr val="12213A"/>
                </a:solidFill>
                <a:latin typeface="Arial"/>
              </a:rPr>
              <a:t>Populate your Personal Vault from your Anchor Project, through your notebook, and put the vault's own AI to work.</a:t>
            </a:r>
          </a:p>
        </p:txBody>
      </p:sp>
      <p:sp>
        <p:nvSpPr>
          <p:cNvPr id="6" name="Rectangle 5"/>
          <p:cNvSpPr/>
          <p:nvPr/>
        </p:nvSpPr>
        <p:spPr>
          <a:xfrm>
            <a:off x="548640" y="1691640"/>
            <a:ext cx="384048" cy="38404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1</a:t>
            </a:r>
          </a:p>
        </p:txBody>
      </p:sp>
      <p:sp>
        <p:nvSpPr>
          <p:cNvPr id="7" name="Rectangle 6"/>
          <p:cNvSpPr/>
          <p:nvPr/>
        </p:nvSpPr>
        <p:spPr>
          <a:xfrm>
            <a:off x="1051560" y="1600200"/>
            <a:ext cx="10588752"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1150" b="1" i="0">
                <a:solidFill>
                  <a:srgbClr val="12213A"/>
                </a:solidFill>
                <a:latin typeface="Georgia"/>
              </a:rPr>
              <a:t>Notebook:  </a:t>
            </a:r>
            <a:r>
              <a:rPr sz="1100" b="0" i="0">
                <a:solidFill>
                  <a:srgbClr val="26313F"/>
                </a:solidFill>
                <a:latin typeface="Arial"/>
              </a:rPr>
              <a:t>at least 5 sources, anonymised or public; one Deep Research run or Perplexity search that adds a source you did not have, with its citation</a:t>
            </a:r>
          </a:p>
        </p:txBody>
      </p:sp>
      <p:sp>
        <p:nvSpPr>
          <p:cNvPr id="8" name="Rectangle 7"/>
          <p:cNvSpPr/>
          <p:nvPr/>
        </p:nvSpPr>
        <p:spPr>
          <a:xfrm>
            <a:off x="1051560" y="1600200"/>
            <a:ext cx="82296" cy="56692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395728"/>
            <a:ext cx="384048" cy="38404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2</a:t>
            </a:r>
          </a:p>
        </p:txBody>
      </p:sp>
      <p:sp>
        <p:nvSpPr>
          <p:cNvPr id="10" name="Rectangle 9"/>
          <p:cNvSpPr/>
          <p:nvPr/>
        </p:nvSpPr>
        <p:spPr>
          <a:xfrm>
            <a:off x="1051560" y="2231136"/>
            <a:ext cx="10588752" cy="71323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1150" b="1" i="0">
                <a:solidFill>
                  <a:srgbClr val="12213A"/>
                </a:solidFill>
                <a:latin typeface="Georgia"/>
              </a:rPr>
              <a:t>Vault:  </a:t>
            </a:r>
            <a:r>
              <a:rPr sz="1100" b="0" i="0">
                <a:solidFill>
                  <a:srgbClr val="26313F"/>
                </a:solidFill>
                <a:latin typeface="Arial"/>
              </a:rPr>
              <a:t>at least 5 concepts, 2 processes, 1 guide, 1 project note, each produced from a cited notebook answer, each with a filled source line and status: checked after you have compared the text with the citation</a:t>
            </a:r>
          </a:p>
        </p:txBody>
      </p:sp>
      <p:sp>
        <p:nvSpPr>
          <p:cNvPr id="11" name="Rectangle 10"/>
          <p:cNvSpPr/>
          <p:nvPr/>
        </p:nvSpPr>
        <p:spPr>
          <a:xfrm>
            <a:off x="1051560" y="2231136"/>
            <a:ext cx="82296" cy="713232"/>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099816"/>
            <a:ext cx="384048" cy="38404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3</a:t>
            </a:r>
          </a:p>
        </p:txBody>
      </p:sp>
      <p:sp>
        <p:nvSpPr>
          <p:cNvPr id="13" name="Rectangle 12"/>
          <p:cNvSpPr/>
          <p:nvPr/>
        </p:nvSpPr>
        <p:spPr>
          <a:xfrm>
            <a:off x="1051560" y="3008376"/>
            <a:ext cx="10588752"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1150" b="1" i="0">
                <a:solidFill>
                  <a:srgbClr val="12213A"/>
                </a:solidFill>
                <a:latin typeface="Georgia"/>
              </a:rPr>
              <a:t>Links:  </a:t>
            </a:r>
            <a:r>
              <a:rPr sz="1100" b="0" i="0">
                <a:solidFill>
                  <a:srgbClr val="26313F"/>
                </a:solidFill>
                <a:latin typeface="Arial"/>
              </a:rPr>
              <a:t>at least 10 [[links]], every note linked at least once; the project note links to every process. Bring a Graph View screenshot</a:t>
            </a:r>
          </a:p>
        </p:txBody>
      </p:sp>
      <p:sp>
        <p:nvSpPr>
          <p:cNvPr id="14" name="Rectangle 13"/>
          <p:cNvSpPr/>
          <p:nvPr/>
        </p:nvSpPr>
        <p:spPr>
          <a:xfrm>
            <a:off x="1051560" y="3008376"/>
            <a:ext cx="82296" cy="56692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730752"/>
            <a:ext cx="384048" cy="38404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4</a:t>
            </a:r>
          </a:p>
        </p:txBody>
      </p:sp>
      <p:sp>
        <p:nvSpPr>
          <p:cNvPr id="16" name="Rectangle 15"/>
          <p:cNvSpPr/>
          <p:nvPr/>
        </p:nvSpPr>
        <p:spPr>
          <a:xfrm>
            <a:off x="1051560" y="3639312"/>
            <a:ext cx="10588752"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1150" b="1" i="0">
                <a:solidFill>
                  <a:srgbClr val="12213A"/>
                </a:solidFill>
                <a:latin typeface="Georgia"/>
              </a:rPr>
              <a:t>Smart Connections:  </a:t>
            </a:r>
            <a:r>
              <a:rPr sz="1100" b="0" i="0">
                <a:solidFill>
                  <a:srgbClr val="26313F"/>
                </a:solidFill>
                <a:latin typeface="Arial"/>
              </a:rPr>
              <a:t>one relationship the Connections view surfaced that you had not linked; add the link and write one line on why you had missed it</a:t>
            </a:r>
          </a:p>
        </p:txBody>
      </p:sp>
      <p:sp>
        <p:nvSpPr>
          <p:cNvPr id="17" name="Rectangle 16"/>
          <p:cNvSpPr/>
          <p:nvPr/>
        </p:nvSpPr>
        <p:spPr>
          <a:xfrm>
            <a:off x="1051560" y="3639312"/>
            <a:ext cx="82296" cy="56692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61688"/>
            <a:ext cx="384048" cy="38404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5</a:t>
            </a:r>
          </a:p>
        </p:txBody>
      </p:sp>
      <p:sp>
        <p:nvSpPr>
          <p:cNvPr id="19" name="Rectangle 18"/>
          <p:cNvSpPr/>
          <p:nvPr/>
        </p:nvSpPr>
        <p:spPr>
          <a:xfrm>
            <a:off x="1051560" y="4270248"/>
            <a:ext cx="10588752" cy="56692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1150" b="1" i="0">
                <a:solidFill>
                  <a:srgbClr val="12213A"/>
                </a:solidFill>
                <a:latin typeface="Georgia"/>
              </a:rPr>
              <a:t>Copilot for Obsidian:  </a:t>
            </a:r>
            <a:r>
              <a:rPr sz="1100" b="0" i="0">
                <a:solidFill>
                  <a:srgbClr val="26313F"/>
                </a:solidFill>
                <a:latin typeface="Arial"/>
              </a:rPr>
              <a:t>one Vault QA question about your project, the cited answer, and one line on whether the cited notes actually support it</a:t>
            </a:r>
          </a:p>
        </p:txBody>
      </p:sp>
      <p:sp>
        <p:nvSpPr>
          <p:cNvPr id="20" name="Rectangle 19"/>
          <p:cNvSpPr/>
          <p:nvPr/>
        </p:nvSpPr>
        <p:spPr>
          <a:xfrm>
            <a:off x="1051560" y="4270248"/>
            <a:ext cx="82296" cy="56692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901183"/>
            <a:ext cx="384048" cy="38404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Georgia"/>
              </a:rPr>
              <a:t>6</a:t>
            </a:r>
          </a:p>
        </p:txBody>
      </p:sp>
      <p:sp>
        <p:nvSpPr>
          <p:cNvPr id="22" name="Rectangle 21"/>
          <p:cNvSpPr/>
          <p:nvPr/>
        </p:nvSpPr>
        <p:spPr>
          <a:xfrm>
            <a:off x="1051560" y="4901183"/>
            <a:ext cx="10588752" cy="384048"/>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0" bIns="0"/>
          <a:lstStyle/>
          <a:p>
            <a:pPr algn="l"/>
            <a:r>
              <a:rPr sz="1150" b="1" i="0">
                <a:solidFill>
                  <a:srgbClr val="12213A"/>
                </a:solidFill>
                <a:latin typeface="Georgia"/>
              </a:rPr>
              <a:t>AI-use log:  </a:t>
            </a:r>
            <a:r>
              <a:rPr sz="1100" b="0" i="0">
                <a:solidFill>
                  <a:srgbClr val="26313F"/>
                </a:solidFill>
                <a:latin typeface="Arial"/>
              </a:rPr>
              <a:t>tool, date and purpose per step, as in Lesson 2</a:t>
            </a:r>
          </a:p>
        </p:txBody>
      </p:sp>
      <p:sp>
        <p:nvSpPr>
          <p:cNvPr id="23" name="Rectangle 22"/>
          <p:cNvSpPr/>
          <p:nvPr/>
        </p:nvSpPr>
        <p:spPr>
          <a:xfrm>
            <a:off x="1051560" y="4901183"/>
            <a:ext cx="82296" cy="384048"/>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532120"/>
            <a:ext cx="11091672" cy="566928"/>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300" b="1" i="0">
                <a:solidFill>
                  <a:srgbClr val="FFFFFF"/>
                </a:solidFill>
                <a:latin typeface="Georgia"/>
              </a:rPr>
              <a:t>Outcome: Level 4 reached — the right specialised tool per step, chained, with the outputs kept somewhere they outlive the chat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10817352" cy="640080"/>
          </a:xfrm>
          <a:prstGeom prst="rect">
            <a:avLst/>
          </a:prstGeom>
          <a:noFill/>
        </p:spPr>
        <p:txBody>
          <a:bodyPr wrap="square" anchor="b">
            <a:spAutoFit/>
          </a:bodyPr>
          <a:lstStyle/>
          <a:p>
            <a:pPr algn="l"/>
            <a:r>
              <a:rPr sz="2500" b="1" i="0">
                <a:solidFill>
                  <a:srgbClr val="12213A"/>
                </a:solidFill>
                <a:latin typeface="Georgia"/>
              </a:rPr>
              <a:t>How the chain reads: every step names its input and its output</a:t>
            </a:r>
          </a:p>
        </p:txBody>
      </p:sp>
      <p:sp>
        <p:nvSpPr>
          <p:cNvPr id="3" name="Rectangle 2"/>
          <p:cNvSpPr/>
          <p:nvPr/>
        </p:nvSpPr>
        <p:spPr>
          <a:xfrm>
            <a:off x="548640" y="457200"/>
            <a:ext cx="109728" cy="5943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07008"/>
            <a:ext cx="411480" cy="365760"/>
          </a:xfrm>
          <a:prstGeom prst="rect">
            <a:avLst/>
          </a:prstGeom>
          <a:noFill/>
        </p:spPr>
        <p:txBody>
          <a:bodyPr wrap="square">
            <a:spAutoFit/>
          </a:bodyPr>
          <a:lstStyle/>
          <a:p>
            <a:pPr algn="l"/>
            <a:r>
              <a:rPr sz="1000" b="1" i="0">
                <a:solidFill>
                  <a:srgbClr val="6E7A88"/>
                </a:solidFill>
                <a:latin typeface="Arial"/>
              </a:rPr>
              <a:t>#</a:t>
            </a:r>
          </a:p>
        </p:txBody>
      </p:sp>
      <p:sp>
        <p:nvSpPr>
          <p:cNvPr id="6" name="TextBox 5"/>
          <p:cNvSpPr txBox="1"/>
          <p:nvPr/>
        </p:nvSpPr>
        <p:spPr>
          <a:xfrm>
            <a:off x="960120" y="1207008"/>
            <a:ext cx="1874519" cy="365760"/>
          </a:xfrm>
          <a:prstGeom prst="rect">
            <a:avLst/>
          </a:prstGeom>
          <a:noFill/>
        </p:spPr>
        <p:txBody>
          <a:bodyPr wrap="square">
            <a:spAutoFit/>
          </a:bodyPr>
          <a:lstStyle/>
          <a:p>
            <a:pPr algn="l"/>
            <a:r>
              <a:rPr sz="1000" b="1" i="0">
                <a:solidFill>
                  <a:srgbClr val="6E7A88"/>
                </a:solidFill>
                <a:latin typeface="Arial"/>
              </a:rPr>
              <a:t>STEP</a:t>
            </a:r>
          </a:p>
        </p:txBody>
      </p:sp>
      <p:sp>
        <p:nvSpPr>
          <p:cNvPr id="7" name="TextBox 6"/>
          <p:cNvSpPr txBox="1"/>
          <p:nvPr/>
        </p:nvSpPr>
        <p:spPr>
          <a:xfrm>
            <a:off x="2834639" y="1207008"/>
            <a:ext cx="2514600" cy="365760"/>
          </a:xfrm>
          <a:prstGeom prst="rect">
            <a:avLst/>
          </a:prstGeom>
          <a:noFill/>
        </p:spPr>
        <p:txBody>
          <a:bodyPr wrap="square">
            <a:spAutoFit/>
          </a:bodyPr>
          <a:lstStyle/>
          <a:p>
            <a:pPr algn="l"/>
            <a:r>
              <a:rPr sz="1000" b="1" i="0">
                <a:solidFill>
                  <a:srgbClr val="6E7A88"/>
                </a:solidFill>
                <a:latin typeface="Arial"/>
              </a:rPr>
              <a:t>TOOL</a:t>
            </a:r>
          </a:p>
        </p:txBody>
      </p:sp>
      <p:sp>
        <p:nvSpPr>
          <p:cNvPr id="8" name="TextBox 7"/>
          <p:cNvSpPr txBox="1"/>
          <p:nvPr/>
        </p:nvSpPr>
        <p:spPr>
          <a:xfrm>
            <a:off x="5349239" y="1207008"/>
            <a:ext cx="1325880" cy="365760"/>
          </a:xfrm>
          <a:prstGeom prst="rect">
            <a:avLst/>
          </a:prstGeom>
          <a:noFill/>
        </p:spPr>
        <p:txBody>
          <a:bodyPr wrap="square">
            <a:spAutoFit/>
          </a:bodyPr>
          <a:lstStyle/>
          <a:p>
            <a:pPr algn="l"/>
            <a:r>
              <a:rPr sz="1000" b="1" i="0">
                <a:solidFill>
                  <a:srgbClr val="6E7A88"/>
                </a:solidFill>
                <a:latin typeface="Arial"/>
              </a:rPr>
              <a:t>LANE</a:t>
            </a:r>
          </a:p>
        </p:txBody>
      </p:sp>
      <p:sp>
        <p:nvSpPr>
          <p:cNvPr id="9" name="TextBox 8"/>
          <p:cNvSpPr txBox="1"/>
          <p:nvPr/>
        </p:nvSpPr>
        <p:spPr>
          <a:xfrm>
            <a:off x="6675119" y="1207008"/>
            <a:ext cx="2423160" cy="365760"/>
          </a:xfrm>
          <a:prstGeom prst="rect">
            <a:avLst/>
          </a:prstGeom>
          <a:noFill/>
        </p:spPr>
        <p:txBody>
          <a:bodyPr wrap="square">
            <a:spAutoFit/>
          </a:bodyPr>
          <a:lstStyle/>
          <a:p>
            <a:pPr algn="l"/>
            <a:r>
              <a:rPr sz="1000" b="1" i="0">
                <a:solidFill>
                  <a:srgbClr val="6E7A88"/>
                </a:solidFill>
                <a:latin typeface="Arial"/>
              </a:rPr>
              <a:t>IN</a:t>
            </a:r>
          </a:p>
        </p:txBody>
      </p:sp>
      <p:sp>
        <p:nvSpPr>
          <p:cNvPr id="10" name="TextBox 9"/>
          <p:cNvSpPr txBox="1"/>
          <p:nvPr/>
        </p:nvSpPr>
        <p:spPr>
          <a:xfrm>
            <a:off x="9098279" y="1207008"/>
            <a:ext cx="2542032" cy="365760"/>
          </a:xfrm>
          <a:prstGeom prst="rect">
            <a:avLst/>
          </a:prstGeom>
          <a:noFill/>
        </p:spPr>
        <p:txBody>
          <a:bodyPr wrap="square">
            <a:spAutoFit/>
          </a:bodyPr>
          <a:lstStyle/>
          <a:p>
            <a:pPr algn="l"/>
            <a:r>
              <a:rPr sz="1000" b="1" i="0">
                <a:solidFill>
                  <a:srgbClr val="6E7A88"/>
                </a:solidFill>
                <a:latin typeface="Arial"/>
              </a:rPr>
              <a:t>OUT</a:t>
            </a:r>
          </a:p>
        </p:txBody>
      </p:sp>
      <p:sp>
        <p:nvSpPr>
          <p:cNvPr id="11" name="Rectangle 10"/>
          <p:cNvSpPr/>
          <p:nvPr/>
        </p:nvSpPr>
        <p:spPr>
          <a:xfrm>
            <a:off x="548640" y="1517904"/>
            <a:ext cx="11091671"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517904"/>
            <a:ext cx="82296" cy="530352"/>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 y="1517904"/>
            <a:ext cx="329184" cy="530352"/>
          </a:xfrm>
          <a:prstGeom prst="rect">
            <a:avLst/>
          </a:prstGeom>
          <a:noFill/>
        </p:spPr>
        <p:txBody>
          <a:bodyPr wrap="square" anchor="ctr" lIns="128016" tIns="18288" bIns="18288">
            <a:spAutoFit/>
          </a:bodyPr>
          <a:lstStyle/>
          <a:p>
            <a:pPr algn="l"/>
            <a:r>
              <a:rPr sz="1000" b="0" i="0">
                <a:solidFill>
                  <a:srgbClr val="26313F"/>
                </a:solidFill>
                <a:latin typeface="Arial"/>
              </a:rPr>
              <a:t>1</a:t>
            </a:r>
          </a:p>
        </p:txBody>
      </p:sp>
      <p:sp>
        <p:nvSpPr>
          <p:cNvPr id="14" name="TextBox 13"/>
          <p:cNvSpPr txBox="1"/>
          <p:nvPr/>
        </p:nvSpPr>
        <p:spPr>
          <a:xfrm>
            <a:off x="960120" y="1517904"/>
            <a:ext cx="1874519" cy="530352"/>
          </a:xfrm>
          <a:prstGeom prst="rect">
            <a:avLst/>
          </a:prstGeom>
          <a:noFill/>
        </p:spPr>
        <p:txBody>
          <a:bodyPr wrap="square" anchor="ctr" lIns="128016" tIns="18288" bIns="18288">
            <a:spAutoFit/>
          </a:bodyPr>
          <a:lstStyle/>
          <a:p>
            <a:pPr algn="l"/>
            <a:r>
              <a:rPr sz="1000" b="0" i="0">
                <a:solidFill>
                  <a:srgbClr val="26313F"/>
                </a:solidFill>
                <a:latin typeface="Arial"/>
              </a:rPr>
              <a:t>Gather and anonymise sources</a:t>
            </a:r>
          </a:p>
        </p:txBody>
      </p:sp>
      <p:sp>
        <p:nvSpPr>
          <p:cNvPr id="15" name="TextBox 14"/>
          <p:cNvSpPr txBox="1"/>
          <p:nvPr/>
        </p:nvSpPr>
        <p:spPr>
          <a:xfrm>
            <a:off x="2834639" y="1517904"/>
            <a:ext cx="2514600" cy="530352"/>
          </a:xfrm>
          <a:prstGeom prst="rect">
            <a:avLst/>
          </a:prstGeom>
          <a:noFill/>
        </p:spPr>
        <p:txBody>
          <a:bodyPr wrap="square" anchor="ctr" lIns="128016" tIns="18288" bIns="18288">
            <a:spAutoFit/>
          </a:bodyPr>
          <a:lstStyle/>
          <a:p>
            <a:pPr algn="l"/>
            <a:r>
              <a:rPr sz="1000" b="0" i="0">
                <a:solidFill>
                  <a:srgbClr val="26313F"/>
                </a:solidFill>
                <a:latin typeface="Arial"/>
              </a:rPr>
              <a:t>No AI tool; Word or Excel, by hand</a:t>
            </a:r>
          </a:p>
        </p:txBody>
      </p:sp>
      <p:sp>
        <p:nvSpPr>
          <p:cNvPr id="16" name="TextBox 15"/>
          <p:cNvSpPr txBox="1"/>
          <p:nvPr/>
        </p:nvSpPr>
        <p:spPr>
          <a:xfrm>
            <a:off x="5349239" y="1517904"/>
            <a:ext cx="1325880" cy="530352"/>
          </a:xfrm>
          <a:prstGeom prst="rect">
            <a:avLst/>
          </a:prstGeom>
          <a:noFill/>
        </p:spPr>
        <p:txBody>
          <a:bodyPr wrap="square" anchor="ctr" lIns="128016" tIns="18288" bIns="18288">
            <a:spAutoFit/>
          </a:bodyPr>
          <a:lstStyle/>
          <a:p>
            <a:pPr algn="l"/>
            <a:r>
              <a:rPr sz="1000" b="0" i="0">
                <a:solidFill>
                  <a:srgbClr val="26313F"/>
                </a:solidFill>
                <a:latin typeface="Arial"/>
              </a:rPr>
              <a:t>None (manual)</a:t>
            </a:r>
          </a:p>
        </p:txBody>
      </p:sp>
      <p:sp>
        <p:nvSpPr>
          <p:cNvPr id="17" name="TextBox 16"/>
          <p:cNvSpPr txBox="1"/>
          <p:nvPr/>
        </p:nvSpPr>
        <p:spPr>
          <a:xfrm>
            <a:off x="6675119" y="1517904"/>
            <a:ext cx="2423160" cy="530352"/>
          </a:xfrm>
          <a:prstGeom prst="rect">
            <a:avLst/>
          </a:prstGeom>
          <a:noFill/>
        </p:spPr>
        <p:txBody>
          <a:bodyPr wrap="square" anchor="ctr" lIns="128016" tIns="18288" bIns="18288">
            <a:spAutoFit/>
          </a:bodyPr>
          <a:lstStyle/>
          <a:p>
            <a:pPr algn="l"/>
            <a:r>
              <a:rPr sz="1000" b="0" i="0">
                <a:solidFill>
                  <a:srgbClr val="26313F"/>
                </a:solidFill>
                <a:latin typeface="Arial"/>
              </a:rPr>
              <a:t>Your Anchor Project documents</a:t>
            </a:r>
          </a:p>
        </p:txBody>
      </p:sp>
      <p:sp>
        <p:nvSpPr>
          <p:cNvPr id="18" name="TextBox 17"/>
          <p:cNvSpPr txBox="1"/>
          <p:nvPr/>
        </p:nvSpPr>
        <p:spPr>
          <a:xfrm>
            <a:off x="9098279" y="1517904"/>
            <a:ext cx="2542032" cy="530352"/>
          </a:xfrm>
          <a:prstGeom prst="rect">
            <a:avLst/>
          </a:prstGeom>
          <a:noFill/>
        </p:spPr>
        <p:txBody>
          <a:bodyPr wrap="square" anchor="ctr" lIns="128016" tIns="18288" bIns="18288">
            <a:spAutoFit/>
          </a:bodyPr>
          <a:lstStyle/>
          <a:p>
            <a:pPr algn="l"/>
            <a:r>
              <a:rPr sz="1000" b="0" i="0">
                <a:solidFill>
                  <a:srgbClr val="26313F"/>
                </a:solidFill>
                <a:latin typeface="Arial"/>
              </a:rPr>
              <a:t>Files that may be uploaded → step 2</a:t>
            </a:r>
          </a:p>
        </p:txBody>
      </p:sp>
      <p:sp>
        <p:nvSpPr>
          <p:cNvPr id="19" name="Rectangle 18"/>
          <p:cNvSpPr/>
          <p:nvPr/>
        </p:nvSpPr>
        <p:spPr>
          <a:xfrm>
            <a:off x="548640" y="2112264"/>
            <a:ext cx="11091671"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112264"/>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 y="2112264"/>
            <a:ext cx="329184" cy="530352"/>
          </a:xfrm>
          <a:prstGeom prst="rect">
            <a:avLst/>
          </a:prstGeom>
          <a:noFill/>
        </p:spPr>
        <p:txBody>
          <a:bodyPr wrap="square" anchor="ctr" lIns="128016" tIns="18288" bIns="18288">
            <a:spAutoFit/>
          </a:bodyPr>
          <a:lstStyle/>
          <a:p>
            <a:pPr algn="l"/>
            <a:r>
              <a:rPr sz="1000" b="0" i="0">
                <a:solidFill>
                  <a:srgbClr val="26313F"/>
                </a:solidFill>
                <a:latin typeface="Arial"/>
              </a:rPr>
              <a:t>2</a:t>
            </a:r>
          </a:p>
        </p:txBody>
      </p:sp>
      <p:sp>
        <p:nvSpPr>
          <p:cNvPr id="22" name="TextBox 21"/>
          <p:cNvSpPr txBox="1"/>
          <p:nvPr/>
        </p:nvSpPr>
        <p:spPr>
          <a:xfrm>
            <a:off x="960120" y="2112264"/>
            <a:ext cx="1874519" cy="530352"/>
          </a:xfrm>
          <a:prstGeom prst="rect">
            <a:avLst/>
          </a:prstGeom>
          <a:noFill/>
        </p:spPr>
        <p:txBody>
          <a:bodyPr wrap="square" anchor="ctr" lIns="128016" tIns="18288" bIns="18288">
            <a:spAutoFit/>
          </a:bodyPr>
          <a:lstStyle/>
          <a:p>
            <a:pPr algn="l"/>
            <a:r>
              <a:rPr sz="1000" b="0" i="0">
                <a:solidFill>
                  <a:srgbClr val="26313F"/>
                </a:solidFill>
                <a:latin typeface="Arial"/>
              </a:rPr>
              <a:t>Fill the gap</a:t>
            </a:r>
          </a:p>
        </p:txBody>
      </p:sp>
      <p:sp>
        <p:nvSpPr>
          <p:cNvPr id="23" name="TextBox 22"/>
          <p:cNvSpPr txBox="1"/>
          <p:nvPr/>
        </p:nvSpPr>
        <p:spPr>
          <a:xfrm>
            <a:off x="2834639" y="2112264"/>
            <a:ext cx="2514600" cy="530352"/>
          </a:xfrm>
          <a:prstGeom prst="rect">
            <a:avLst/>
          </a:prstGeom>
          <a:noFill/>
        </p:spPr>
        <p:txBody>
          <a:bodyPr wrap="square" anchor="ctr" lIns="128016" tIns="18288" bIns="18288">
            <a:spAutoFit/>
          </a:bodyPr>
          <a:lstStyle/>
          <a:p>
            <a:pPr algn="l"/>
            <a:r>
              <a:rPr sz="1000" b="0" i="0">
                <a:solidFill>
                  <a:srgbClr val="26313F"/>
                </a:solidFill>
                <a:latin typeface="Arial"/>
              </a:rPr>
              <a:t>Deep Research in the notebook, or Perplexity</a:t>
            </a:r>
          </a:p>
        </p:txBody>
      </p:sp>
      <p:sp>
        <p:nvSpPr>
          <p:cNvPr id="24" name="TextBox 23"/>
          <p:cNvSpPr txBox="1"/>
          <p:nvPr/>
        </p:nvSpPr>
        <p:spPr>
          <a:xfrm>
            <a:off x="5349239" y="2112264"/>
            <a:ext cx="1325880" cy="530352"/>
          </a:xfrm>
          <a:prstGeom prst="rect">
            <a:avLst/>
          </a:prstGeom>
          <a:noFill/>
        </p:spPr>
        <p:txBody>
          <a:bodyPr wrap="square" anchor="ctr" lIns="128016" tIns="18288" bIns="18288">
            <a:spAutoFit/>
          </a:bodyPr>
          <a:lstStyle/>
          <a:p>
            <a:pPr algn="l"/>
            <a:r>
              <a:rPr sz="1000" b="0" i="0">
                <a:solidFill>
                  <a:srgbClr val="26313F"/>
                </a:solidFill>
                <a:latin typeface="Arial"/>
              </a:rPr>
              <a:t>Daily Driver</a:t>
            </a:r>
          </a:p>
        </p:txBody>
      </p:sp>
      <p:sp>
        <p:nvSpPr>
          <p:cNvPr id="25" name="TextBox 24"/>
          <p:cNvSpPr txBox="1"/>
          <p:nvPr/>
        </p:nvSpPr>
        <p:spPr>
          <a:xfrm>
            <a:off x="6675119" y="2112264"/>
            <a:ext cx="2423160" cy="530352"/>
          </a:xfrm>
          <a:prstGeom prst="rect">
            <a:avLst/>
          </a:prstGeom>
          <a:noFill/>
        </p:spPr>
        <p:txBody>
          <a:bodyPr wrap="square" anchor="ctr" lIns="128016" tIns="18288" bIns="18288">
            <a:spAutoFit/>
          </a:bodyPr>
          <a:lstStyle/>
          <a:p>
            <a:pPr algn="l"/>
            <a:r>
              <a:rPr sz="1000" b="0" i="0">
                <a:solidFill>
                  <a:srgbClr val="26313F"/>
                </a:solidFill>
                <a:latin typeface="Arial"/>
              </a:rPr>
              <a:t>One question your sources do not answer</a:t>
            </a:r>
          </a:p>
        </p:txBody>
      </p:sp>
      <p:sp>
        <p:nvSpPr>
          <p:cNvPr id="26" name="TextBox 25"/>
          <p:cNvSpPr txBox="1"/>
          <p:nvPr/>
        </p:nvSpPr>
        <p:spPr>
          <a:xfrm>
            <a:off x="9098279" y="2112264"/>
            <a:ext cx="2542032" cy="530352"/>
          </a:xfrm>
          <a:prstGeom prst="rect">
            <a:avLst/>
          </a:prstGeom>
          <a:noFill/>
        </p:spPr>
        <p:txBody>
          <a:bodyPr wrap="square" anchor="ctr" lIns="128016" tIns="18288" bIns="18288">
            <a:spAutoFit/>
          </a:bodyPr>
          <a:lstStyle/>
          <a:p>
            <a:pPr algn="l"/>
            <a:r>
              <a:rPr sz="1000" b="0" i="0">
                <a:solidFill>
                  <a:srgbClr val="26313F"/>
                </a:solidFill>
                <a:latin typeface="Arial"/>
              </a:rPr>
              <a:t>One cited source → step 3</a:t>
            </a:r>
          </a:p>
        </p:txBody>
      </p:sp>
      <p:sp>
        <p:nvSpPr>
          <p:cNvPr id="27" name="Rectangle 26"/>
          <p:cNvSpPr/>
          <p:nvPr/>
        </p:nvSpPr>
        <p:spPr>
          <a:xfrm>
            <a:off x="548640" y="2706624"/>
            <a:ext cx="11091671"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2706624"/>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 y="2706624"/>
            <a:ext cx="329184" cy="530352"/>
          </a:xfrm>
          <a:prstGeom prst="rect">
            <a:avLst/>
          </a:prstGeom>
          <a:noFill/>
        </p:spPr>
        <p:txBody>
          <a:bodyPr wrap="square" anchor="ctr" lIns="128016" tIns="18288" bIns="18288">
            <a:spAutoFit/>
          </a:bodyPr>
          <a:lstStyle/>
          <a:p>
            <a:pPr algn="l"/>
            <a:r>
              <a:rPr sz="1000" b="0" i="0">
                <a:solidFill>
                  <a:srgbClr val="26313F"/>
                </a:solidFill>
                <a:latin typeface="Arial"/>
              </a:rPr>
              <a:t>3</a:t>
            </a:r>
          </a:p>
        </p:txBody>
      </p:sp>
      <p:sp>
        <p:nvSpPr>
          <p:cNvPr id="30" name="TextBox 29"/>
          <p:cNvSpPr txBox="1"/>
          <p:nvPr/>
        </p:nvSpPr>
        <p:spPr>
          <a:xfrm>
            <a:off x="960120" y="2706624"/>
            <a:ext cx="1874519" cy="530352"/>
          </a:xfrm>
          <a:prstGeom prst="rect">
            <a:avLst/>
          </a:prstGeom>
          <a:noFill/>
        </p:spPr>
        <p:txBody>
          <a:bodyPr wrap="square" anchor="ctr" lIns="128016" tIns="18288" bIns="18288">
            <a:spAutoFit/>
          </a:bodyPr>
          <a:lstStyle/>
          <a:p>
            <a:pPr algn="l"/>
            <a:r>
              <a:rPr sz="1000" b="0" i="0">
                <a:solidFill>
                  <a:srgbClr val="26313F"/>
                </a:solidFill>
                <a:latin typeface="Arial"/>
              </a:rPr>
              <a:t>Ground</a:t>
            </a:r>
          </a:p>
        </p:txBody>
      </p:sp>
      <p:sp>
        <p:nvSpPr>
          <p:cNvPr id="31" name="TextBox 30"/>
          <p:cNvSpPr txBox="1"/>
          <p:nvPr/>
        </p:nvSpPr>
        <p:spPr>
          <a:xfrm>
            <a:off x="2834639" y="2706624"/>
            <a:ext cx="2514600" cy="530352"/>
          </a:xfrm>
          <a:prstGeom prst="rect">
            <a:avLst/>
          </a:prstGeom>
          <a:noFill/>
        </p:spPr>
        <p:txBody>
          <a:bodyPr wrap="square" anchor="ctr" lIns="128016" tIns="18288" bIns="18288">
            <a:spAutoFit/>
          </a:bodyPr>
          <a:lstStyle/>
          <a:p>
            <a:pPr algn="l"/>
            <a:r>
              <a:rPr sz="1000" b="0" i="0">
                <a:solidFill>
                  <a:srgbClr val="26313F"/>
                </a:solidFill>
                <a:latin typeface="Arial"/>
              </a:rPr>
              <a:t>NotebookLM</a:t>
            </a:r>
          </a:p>
        </p:txBody>
      </p:sp>
      <p:sp>
        <p:nvSpPr>
          <p:cNvPr id="32" name="TextBox 31"/>
          <p:cNvSpPr txBox="1"/>
          <p:nvPr/>
        </p:nvSpPr>
        <p:spPr>
          <a:xfrm>
            <a:off x="5349239" y="2706624"/>
            <a:ext cx="1325880" cy="530352"/>
          </a:xfrm>
          <a:prstGeom prst="rect">
            <a:avLst/>
          </a:prstGeom>
          <a:noFill/>
        </p:spPr>
        <p:txBody>
          <a:bodyPr wrap="square" anchor="ctr" lIns="128016" tIns="18288" bIns="18288">
            <a:spAutoFit/>
          </a:bodyPr>
          <a:lstStyle/>
          <a:p>
            <a:pPr algn="l"/>
            <a:r>
              <a:rPr sz="1000" b="0" i="0">
                <a:solidFill>
                  <a:srgbClr val="26313F"/>
                </a:solidFill>
                <a:latin typeface="Arial"/>
              </a:rPr>
              <a:t>Daily Driver</a:t>
            </a:r>
          </a:p>
        </p:txBody>
      </p:sp>
      <p:sp>
        <p:nvSpPr>
          <p:cNvPr id="33" name="TextBox 32"/>
          <p:cNvSpPr txBox="1"/>
          <p:nvPr/>
        </p:nvSpPr>
        <p:spPr>
          <a:xfrm>
            <a:off x="6675119" y="2706624"/>
            <a:ext cx="2423160" cy="530352"/>
          </a:xfrm>
          <a:prstGeom prst="rect">
            <a:avLst/>
          </a:prstGeom>
          <a:noFill/>
        </p:spPr>
        <p:txBody>
          <a:bodyPr wrap="square" anchor="ctr" lIns="128016" tIns="18288" bIns="18288">
            <a:spAutoFit/>
          </a:bodyPr>
          <a:lstStyle/>
          <a:p>
            <a:pPr algn="l"/>
            <a:r>
              <a:rPr sz="1000" b="0" i="0">
                <a:solidFill>
                  <a:srgbClr val="26313F"/>
                </a:solidFill>
                <a:latin typeface="Arial"/>
              </a:rPr>
              <a:t>The files from 1 and the source from 2</a:t>
            </a:r>
          </a:p>
        </p:txBody>
      </p:sp>
      <p:sp>
        <p:nvSpPr>
          <p:cNvPr id="34" name="TextBox 33"/>
          <p:cNvSpPr txBox="1"/>
          <p:nvPr/>
        </p:nvSpPr>
        <p:spPr>
          <a:xfrm>
            <a:off x="9098279" y="2706624"/>
            <a:ext cx="2542032" cy="530352"/>
          </a:xfrm>
          <a:prstGeom prst="rect">
            <a:avLst/>
          </a:prstGeom>
          <a:noFill/>
        </p:spPr>
        <p:txBody>
          <a:bodyPr wrap="square" anchor="ctr" lIns="128016" tIns="18288" bIns="18288">
            <a:spAutoFit/>
          </a:bodyPr>
          <a:lstStyle/>
          <a:p>
            <a:pPr algn="l"/>
            <a:r>
              <a:rPr sz="1000" b="0" i="0">
                <a:solidFill>
                  <a:srgbClr val="26313F"/>
                </a:solidFill>
                <a:latin typeface="Arial"/>
              </a:rPr>
              <a:t>Cited answers per entity type → step 4</a:t>
            </a:r>
          </a:p>
        </p:txBody>
      </p:sp>
      <p:sp>
        <p:nvSpPr>
          <p:cNvPr id="35" name="Rectangle 34"/>
          <p:cNvSpPr/>
          <p:nvPr/>
        </p:nvSpPr>
        <p:spPr>
          <a:xfrm>
            <a:off x="548640" y="3300984"/>
            <a:ext cx="11091671"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3300984"/>
            <a:ext cx="82296" cy="5303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 y="3300984"/>
            <a:ext cx="329184" cy="530352"/>
          </a:xfrm>
          <a:prstGeom prst="rect">
            <a:avLst/>
          </a:prstGeom>
          <a:noFill/>
        </p:spPr>
        <p:txBody>
          <a:bodyPr wrap="square" anchor="ctr" lIns="128016" tIns="18288" bIns="18288">
            <a:spAutoFit/>
          </a:bodyPr>
          <a:lstStyle/>
          <a:p>
            <a:pPr algn="l"/>
            <a:r>
              <a:rPr sz="1000" b="0" i="0">
                <a:solidFill>
                  <a:srgbClr val="26313F"/>
                </a:solidFill>
                <a:latin typeface="Arial"/>
              </a:rPr>
              <a:t>4</a:t>
            </a:r>
          </a:p>
        </p:txBody>
      </p:sp>
      <p:sp>
        <p:nvSpPr>
          <p:cNvPr id="38" name="TextBox 37"/>
          <p:cNvSpPr txBox="1"/>
          <p:nvPr/>
        </p:nvSpPr>
        <p:spPr>
          <a:xfrm>
            <a:off x="960120" y="3300984"/>
            <a:ext cx="1874519" cy="530352"/>
          </a:xfrm>
          <a:prstGeom prst="rect">
            <a:avLst/>
          </a:prstGeom>
          <a:noFill/>
        </p:spPr>
        <p:txBody>
          <a:bodyPr wrap="square" anchor="ctr" lIns="128016" tIns="18288" bIns="18288">
            <a:spAutoFit/>
          </a:bodyPr>
          <a:lstStyle/>
          <a:p>
            <a:pPr algn="l"/>
            <a:r>
              <a:rPr sz="1000" b="0" i="0">
                <a:solidFill>
                  <a:srgbClr val="26313F"/>
                </a:solidFill>
                <a:latin typeface="Arial"/>
              </a:rPr>
              <a:t>Keep</a:t>
            </a:r>
          </a:p>
        </p:txBody>
      </p:sp>
      <p:sp>
        <p:nvSpPr>
          <p:cNvPr id="39" name="TextBox 38"/>
          <p:cNvSpPr txBox="1"/>
          <p:nvPr/>
        </p:nvSpPr>
        <p:spPr>
          <a:xfrm>
            <a:off x="2834639" y="3300984"/>
            <a:ext cx="2514600" cy="530352"/>
          </a:xfrm>
          <a:prstGeom prst="rect">
            <a:avLst/>
          </a:prstGeom>
          <a:noFill/>
        </p:spPr>
        <p:txBody>
          <a:bodyPr wrap="square" anchor="ctr" lIns="128016" tIns="18288" bIns="18288">
            <a:spAutoFit/>
          </a:bodyPr>
          <a:lstStyle/>
          <a:p>
            <a:pPr algn="l"/>
            <a:r>
              <a:rPr sz="1000" b="0" i="0">
                <a:solidFill>
                  <a:srgbClr val="26313F"/>
                </a:solidFill>
                <a:latin typeface="Arial"/>
              </a:rPr>
              <a:t>Obsidian</a:t>
            </a:r>
          </a:p>
        </p:txBody>
      </p:sp>
      <p:sp>
        <p:nvSpPr>
          <p:cNvPr id="40" name="TextBox 39"/>
          <p:cNvSpPr txBox="1"/>
          <p:nvPr/>
        </p:nvSpPr>
        <p:spPr>
          <a:xfrm>
            <a:off x="5349239" y="3300984"/>
            <a:ext cx="1325880" cy="530352"/>
          </a:xfrm>
          <a:prstGeom prst="rect">
            <a:avLst/>
          </a:prstGeom>
          <a:noFill/>
        </p:spPr>
        <p:txBody>
          <a:bodyPr wrap="square" anchor="ctr" lIns="128016" tIns="18288" bIns="18288">
            <a:spAutoFit/>
          </a:bodyPr>
          <a:lstStyle/>
          <a:p>
            <a:pPr algn="l"/>
            <a:r>
              <a:rPr sz="1000" b="0" i="0">
                <a:solidFill>
                  <a:srgbClr val="26313F"/>
                </a:solidFill>
                <a:latin typeface="Arial"/>
              </a:rPr>
              <a:t>Local</a:t>
            </a:r>
          </a:p>
        </p:txBody>
      </p:sp>
      <p:sp>
        <p:nvSpPr>
          <p:cNvPr id="41" name="TextBox 40"/>
          <p:cNvSpPr txBox="1"/>
          <p:nvPr/>
        </p:nvSpPr>
        <p:spPr>
          <a:xfrm>
            <a:off x="6675119" y="3300984"/>
            <a:ext cx="2423160" cy="530352"/>
          </a:xfrm>
          <a:prstGeom prst="rect">
            <a:avLst/>
          </a:prstGeom>
          <a:noFill/>
        </p:spPr>
        <p:txBody>
          <a:bodyPr wrap="square" anchor="ctr" lIns="128016" tIns="18288" bIns="18288">
            <a:spAutoFit/>
          </a:bodyPr>
          <a:lstStyle/>
          <a:p>
            <a:pPr algn="l"/>
            <a:r>
              <a:rPr sz="1000" b="0" i="0">
                <a:solidFill>
                  <a:srgbClr val="26313F"/>
                </a:solidFill>
                <a:latin typeface="Arial"/>
              </a:rPr>
              <a:t>The cited answers</a:t>
            </a:r>
          </a:p>
        </p:txBody>
      </p:sp>
      <p:sp>
        <p:nvSpPr>
          <p:cNvPr id="42" name="TextBox 41"/>
          <p:cNvSpPr txBox="1"/>
          <p:nvPr/>
        </p:nvSpPr>
        <p:spPr>
          <a:xfrm>
            <a:off x="9098279" y="3300984"/>
            <a:ext cx="2542032" cy="530352"/>
          </a:xfrm>
          <a:prstGeom prst="rect">
            <a:avLst/>
          </a:prstGeom>
          <a:noFill/>
        </p:spPr>
        <p:txBody>
          <a:bodyPr wrap="square" anchor="ctr" lIns="128016" tIns="18288" bIns="18288">
            <a:spAutoFit/>
          </a:bodyPr>
          <a:lstStyle/>
          <a:p>
            <a:pPr algn="l"/>
            <a:r>
              <a:rPr sz="1000" b="0" i="0">
                <a:solidFill>
                  <a:srgbClr val="26313F"/>
                </a:solidFill>
                <a:latin typeface="Arial"/>
              </a:rPr>
              <a:t>Notes with source lines and links → steps 5, 6</a:t>
            </a:r>
          </a:p>
        </p:txBody>
      </p:sp>
      <p:sp>
        <p:nvSpPr>
          <p:cNvPr id="43" name="Rectangle 42"/>
          <p:cNvSpPr/>
          <p:nvPr/>
        </p:nvSpPr>
        <p:spPr>
          <a:xfrm>
            <a:off x="548640" y="3895344"/>
            <a:ext cx="11091671"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3895344"/>
            <a:ext cx="82296" cy="5303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936" y="3895344"/>
            <a:ext cx="329184" cy="530352"/>
          </a:xfrm>
          <a:prstGeom prst="rect">
            <a:avLst/>
          </a:prstGeom>
          <a:noFill/>
        </p:spPr>
        <p:txBody>
          <a:bodyPr wrap="square" anchor="ctr" lIns="128016" tIns="18288" bIns="18288">
            <a:spAutoFit/>
          </a:bodyPr>
          <a:lstStyle/>
          <a:p>
            <a:pPr algn="l"/>
            <a:r>
              <a:rPr sz="1000" b="0" i="0">
                <a:solidFill>
                  <a:srgbClr val="26313F"/>
                </a:solidFill>
                <a:latin typeface="Arial"/>
              </a:rPr>
              <a:t>5</a:t>
            </a:r>
          </a:p>
        </p:txBody>
      </p:sp>
      <p:sp>
        <p:nvSpPr>
          <p:cNvPr id="46" name="TextBox 45"/>
          <p:cNvSpPr txBox="1"/>
          <p:nvPr/>
        </p:nvSpPr>
        <p:spPr>
          <a:xfrm>
            <a:off x="960120" y="3895344"/>
            <a:ext cx="1874519" cy="530352"/>
          </a:xfrm>
          <a:prstGeom prst="rect">
            <a:avLst/>
          </a:prstGeom>
          <a:noFill/>
        </p:spPr>
        <p:txBody>
          <a:bodyPr wrap="square" anchor="ctr" lIns="128016" tIns="18288" bIns="18288">
            <a:spAutoFit/>
          </a:bodyPr>
          <a:lstStyle/>
          <a:p>
            <a:pPr algn="l"/>
            <a:r>
              <a:rPr sz="1000" b="0" i="0">
                <a:solidFill>
                  <a:srgbClr val="26313F"/>
                </a:solidFill>
                <a:latin typeface="Arial"/>
              </a:rPr>
              <a:t>Find</a:t>
            </a:r>
          </a:p>
        </p:txBody>
      </p:sp>
      <p:sp>
        <p:nvSpPr>
          <p:cNvPr id="47" name="TextBox 46"/>
          <p:cNvSpPr txBox="1"/>
          <p:nvPr/>
        </p:nvSpPr>
        <p:spPr>
          <a:xfrm>
            <a:off x="2834639" y="3895344"/>
            <a:ext cx="2514600" cy="530352"/>
          </a:xfrm>
          <a:prstGeom prst="rect">
            <a:avLst/>
          </a:prstGeom>
          <a:noFill/>
        </p:spPr>
        <p:txBody>
          <a:bodyPr wrap="square" anchor="ctr" lIns="128016" tIns="18288" bIns="18288">
            <a:spAutoFit/>
          </a:bodyPr>
          <a:lstStyle/>
          <a:p>
            <a:pPr algn="l"/>
            <a:r>
              <a:rPr sz="1000" b="0" i="0">
                <a:solidFill>
                  <a:srgbClr val="26313F"/>
                </a:solidFill>
                <a:latin typeface="Arial"/>
              </a:rPr>
              <a:t>Smart Connections</a:t>
            </a:r>
          </a:p>
        </p:txBody>
      </p:sp>
      <p:sp>
        <p:nvSpPr>
          <p:cNvPr id="48" name="TextBox 47"/>
          <p:cNvSpPr txBox="1"/>
          <p:nvPr/>
        </p:nvSpPr>
        <p:spPr>
          <a:xfrm>
            <a:off x="5349239" y="3895344"/>
            <a:ext cx="1325880" cy="530352"/>
          </a:xfrm>
          <a:prstGeom prst="rect">
            <a:avLst/>
          </a:prstGeom>
          <a:noFill/>
        </p:spPr>
        <p:txBody>
          <a:bodyPr wrap="square" anchor="ctr" lIns="128016" tIns="18288" bIns="18288">
            <a:spAutoFit/>
          </a:bodyPr>
          <a:lstStyle/>
          <a:p>
            <a:pPr algn="l"/>
            <a:r>
              <a:rPr sz="1000" b="0" i="0">
                <a:solidFill>
                  <a:srgbClr val="26313F"/>
                </a:solidFill>
                <a:latin typeface="Arial"/>
              </a:rPr>
              <a:t>Local, offline</a:t>
            </a:r>
          </a:p>
        </p:txBody>
      </p:sp>
      <p:sp>
        <p:nvSpPr>
          <p:cNvPr id="49" name="TextBox 48"/>
          <p:cNvSpPr txBox="1"/>
          <p:nvPr/>
        </p:nvSpPr>
        <p:spPr>
          <a:xfrm>
            <a:off x="6675119" y="3895344"/>
            <a:ext cx="2423160" cy="530352"/>
          </a:xfrm>
          <a:prstGeom prst="rect">
            <a:avLst/>
          </a:prstGeom>
          <a:noFill/>
        </p:spPr>
        <p:txBody>
          <a:bodyPr wrap="square" anchor="ctr" lIns="128016" tIns="18288" bIns="18288">
            <a:spAutoFit/>
          </a:bodyPr>
          <a:lstStyle/>
          <a:p>
            <a:pPr algn="l"/>
            <a:r>
              <a:rPr sz="1000" b="0" i="0">
                <a:solidFill>
                  <a:srgbClr val="26313F"/>
                </a:solidFill>
                <a:latin typeface="Arial"/>
              </a:rPr>
              <a:t>The vault</a:t>
            </a:r>
          </a:p>
        </p:txBody>
      </p:sp>
      <p:sp>
        <p:nvSpPr>
          <p:cNvPr id="50" name="TextBox 49"/>
          <p:cNvSpPr txBox="1"/>
          <p:nvPr/>
        </p:nvSpPr>
        <p:spPr>
          <a:xfrm>
            <a:off x="9098279" y="3895344"/>
            <a:ext cx="2542032" cy="530352"/>
          </a:xfrm>
          <a:prstGeom prst="rect">
            <a:avLst/>
          </a:prstGeom>
          <a:noFill/>
        </p:spPr>
        <p:txBody>
          <a:bodyPr wrap="square" anchor="ctr" lIns="128016" tIns="18288" bIns="18288">
            <a:spAutoFit/>
          </a:bodyPr>
          <a:lstStyle/>
          <a:p>
            <a:pPr algn="l"/>
            <a:r>
              <a:rPr sz="1000" b="0" i="0">
                <a:solidFill>
                  <a:srgbClr val="26313F"/>
                </a:solidFill>
                <a:latin typeface="Arial"/>
              </a:rPr>
              <a:t>Missed relationships → back into step 4 as links</a:t>
            </a:r>
          </a:p>
        </p:txBody>
      </p:sp>
      <p:sp>
        <p:nvSpPr>
          <p:cNvPr id="51" name="Rectangle 50"/>
          <p:cNvSpPr/>
          <p:nvPr/>
        </p:nvSpPr>
        <p:spPr>
          <a:xfrm>
            <a:off x="548640" y="4489704"/>
            <a:ext cx="11091671" cy="530352"/>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48640" y="4489704"/>
            <a:ext cx="82296" cy="530352"/>
          </a:xfrm>
          <a:prstGeom prst="rect">
            <a:avLst/>
          </a:prstGeom>
          <a:solidFill>
            <a:srgbClr val="B35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0936" y="4489704"/>
            <a:ext cx="329184" cy="530352"/>
          </a:xfrm>
          <a:prstGeom prst="rect">
            <a:avLst/>
          </a:prstGeom>
          <a:noFill/>
        </p:spPr>
        <p:txBody>
          <a:bodyPr wrap="square" anchor="ctr" lIns="128016" tIns="18288" bIns="18288">
            <a:spAutoFit/>
          </a:bodyPr>
          <a:lstStyle/>
          <a:p>
            <a:pPr algn="l"/>
            <a:r>
              <a:rPr sz="1000" b="0" i="0">
                <a:solidFill>
                  <a:srgbClr val="26313F"/>
                </a:solidFill>
                <a:latin typeface="Arial"/>
              </a:rPr>
              <a:t>6</a:t>
            </a:r>
          </a:p>
        </p:txBody>
      </p:sp>
      <p:sp>
        <p:nvSpPr>
          <p:cNvPr id="54" name="TextBox 53"/>
          <p:cNvSpPr txBox="1"/>
          <p:nvPr/>
        </p:nvSpPr>
        <p:spPr>
          <a:xfrm>
            <a:off x="960120" y="4489704"/>
            <a:ext cx="1874519" cy="530352"/>
          </a:xfrm>
          <a:prstGeom prst="rect">
            <a:avLst/>
          </a:prstGeom>
          <a:noFill/>
        </p:spPr>
        <p:txBody>
          <a:bodyPr wrap="square" anchor="ctr" lIns="128016" tIns="18288" bIns="18288">
            <a:spAutoFit/>
          </a:bodyPr>
          <a:lstStyle/>
          <a:p>
            <a:pPr algn="l"/>
            <a:r>
              <a:rPr sz="1000" b="0" i="0">
                <a:solidFill>
                  <a:srgbClr val="26313F"/>
                </a:solidFill>
                <a:latin typeface="Arial"/>
              </a:rPr>
              <a:t>Ask</a:t>
            </a:r>
          </a:p>
        </p:txBody>
      </p:sp>
      <p:sp>
        <p:nvSpPr>
          <p:cNvPr id="55" name="TextBox 54"/>
          <p:cNvSpPr txBox="1"/>
          <p:nvPr/>
        </p:nvSpPr>
        <p:spPr>
          <a:xfrm>
            <a:off x="2834639" y="4489704"/>
            <a:ext cx="2514600" cy="530352"/>
          </a:xfrm>
          <a:prstGeom prst="rect">
            <a:avLst/>
          </a:prstGeom>
          <a:noFill/>
        </p:spPr>
        <p:txBody>
          <a:bodyPr wrap="square" anchor="ctr" lIns="128016" tIns="18288" bIns="18288">
            <a:spAutoFit/>
          </a:bodyPr>
          <a:lstStyle/>
          <a:p>
            <a:pPr algn="l"/>
            <a:r>
              <a:rPr sz="1000" b="0" i="0">
                <a:solidFill>
                  <a:srgbClr val="26313F"/>
                </a:solidFill>
                <a:latin typeface="Arial"/>
              </a:rPr>
              <a:t>Copilot for Obsidian, Vault QA</a:t>
            </a:r>
          </a:p>
        </p:txBody>
      </p:sp>
      <p:sp>
        <p:nvSpPr>
          <p:cNvPr id="56" name="TextBox 55"/>
          <p:cNvSpPr txBox="1"/>
          <p:nvPr/>
        </p:nvSpPr>
        <p:spPr>
          <a:xfrm>
            <a:off x="5349239" y="4489704"/>
            <a:ext cx="1325880" cy="530352"/>
          </a:xfrm>
          <a:prstGeom prst="rect">
            <a:avLst/>
          </a:prstGeom>
          <a:noFill/>
        </p:spPr>
        <p:txBody>
          <a:bodyPr wrap="square" anchor="ctr" lIns="128016" tIns="18288" bIns="18288">
            <a:spAutoFit/>
          </a:bodyPr>
          <a:lstStyle/>
          <a:p>
            <a:pPr algn="l"/>
            <a:r>
              <a:rPr sz="1000" b="0" i="0">
                <a:solidFill>
                  <a:srgbClr val="26313F"/>
                </a:solidFill>
                <a:latin typeface="Arial"/>
              </a:rPr>
              <a:t>Daily Driver</a:t>
            </a:r>
          </a:p>
        </p:txBody>
      </p:sp>
      <p:sp>
        <p:nvSpPr>
          <p:cNvPr id="57" name="TextBox 56"/>
          <p:cNvSpPr txBox="1"/>
          <p:nvPr/>
        </p:nvSpPr>
        <p:spPr>
          <a:xfrm>
            <a:off x="6675119" y="4489704"/>
            <a:ext cx="2423160" cy="530352"/>
          </a:xfrm>
          <a:prstGeom prst="rect">
            <a:avLst/>
          </a:prstGeom>
          <a:noFill/>
        </p:spPr>
        <p:txBody>
          <a:bodyPr wrap="square" anchor="ctr" lIns="128016" tIns="18288" bIns="18288">
            <a:spAutoFit/>
          </a:bodyPr>
          <a:lstStyle/>
          <a:p>
            <a:pPr algn="l"/>
            <a:r>
              <a:rPr sz="1000" b="0" i="0">
                <a:solidFill>
                  <a:srgbClr val="26313F"/>
                </a:solidFill>
                <a:latin typeface="Arial"/>
              </a:rPr>
              <a:t>The vault and one question</a:t>
            </a:r>
          </a:p>
        </p:txBody>
      </p:sp>
      <p:sp>
        <p:nvSpPr>
          <p:cNvPr id="58" name="TextBox 57"/>
          <p:cNvSpPr txBox="1"/>
          <p:nvPr/>
        </p:nvSpPr>
        <p:spPr>
          <a:xfrm>
            <a:off x="9098279" y="4489704"/>
            <a:ext cx="2542032" cy="530352"/>
          </a:xfrm>
          <a:prstGeom prst="rect">
            <a:avLst/>
          </a:prstGeom>
          <a:noFill/>
        </p:spPr>
        <p:txBody>
          <a:bodyPr wrap="square" anchor="ctr" lIns="128016" tIns="18288" bIns="18288">
            <a:spAutoFit/>
          </a:bodyPr>
          <a:lstStyle/>
          <a:p>
            <a:pPr algn="l"/>
            <a:r>
              <a:rPr sz="1000" b="0" i="0">
                <a:solidFill>
                  <a:srgbClr val="26313F"/>
                </a:solidFill>
                <a:latin typeface="Arial"/>
              </a:rPr>
              <a:t>A cited answer, checked against the notes</a:t>
            </a:r>
          </a:p>
        </p:txBody>
      </p:sp>
      <p:sp>
        <p:nvSpPr>
          <p:cNvPr id="59" name="Rectangle 58"/>
          <p:cNvSpPr/>
          <p:nvPr/>
        </p:nvSpPr>
        <p:spPr>
          <a:xfrm>
            <a:off x="548640" y="5166360"/>
            <a:ext cx="5440680" cy="9144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Only step 1 is required in the strict sense</a:t>
            </a:r>
          </a:p>
          <a:p>
            <a:pPr>
              <a:spcBef>
                <a:spcPts val="300"/>
              </a:spcBef>
            </a:pPr>
            <a:r>
              <a:rPr sz="1150" b="0" i="0">
                <a:solidFill>
                  <a:srgbClr val="26313F"/>
                </a:solidFill>
                <a:latin typeface="Arial"/>
              </a:rPr>
              <a:t>and only when your material contains sensitive data; every other step is the assignment itself</a:t>
            </a:r>
          </a:p>
        </p:txBody>
      </p:sp>
      <p:sp>
        <p:nvSpPr>
          <p:cNvPr id="60" name="Rectangle 59"/>
          <p:cNvSpPr/>
          <p:nvPr/>
        </p:nvSpPr>
        <p:spPr>
          <a:xfrm>
            <a:off x="548640" y="5166360"/>
            <a:ext cx="82296" cy="9144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199632" y="5166360"/>
            <a:ext cx="5440680" cy="9144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The gate that is not a step, from Lesson 2</a:t>
            </a:r>
          </a:p>
          <a:p>
            <a:pPr>
              <a:spcBef>
                <a:spcPts val="300"/>
              </a:spcBef>
            </a:pPr>
            <a:r>
              <a:rPr sz="1150" b="0" i="0">
                <a:solidFill>
                  <a:srgbClr val="26313F"/>
                </a:solidFill>
                <a:latin typeface="Arial"/>
              </a:rPr>
              <a:t>check every output before it becomes the next step's input, and log it</a:t>
            </a:r>
          </a:p>
        </p:txBody>
      </p:sp>
      <p:sp>
        <p:nvSpPr>
          <p:cNvPr id="62" name="Rectangle 61"/>
          <p:cNvSpPr/>
          <p:nvPr/>
        </p:nvSpPr>
        <p:spPr>
          <a:xfrm>
            <a:off x="6199632" y="5166360"/>
            <a:ext cx="82296" cy="9144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10817352" cy="640080"/>
          </a:xfrm>
          <a:prstGeom prst="rect">
            <a:avLst/>
          </a:prstGeom>
          <a:noFill/>
        </p:spPr>
        <p:txBody>
          <a:bodyPr wrap="square" anchor="b">
            <a:spAutoFit/>
          </a:bodyPr>
          <a:lstStyle/>
          <a:p>
            <a:pPr algn="l"/>
            <a:r>
              <a:rPr sz="2700" b="1" i="0">
                <a:solidFill>
                  <a:srgbClr val="12213A"/>
                </a:solidFill>
                <a:latin typeface="Georgia"/>
              </a:rPr>
              <a:t>Effort, and where the work is shown</a:t>
            </a:r>
          </a:p>
        </p:txBody>
      </p:sp>
      <p:sp>
        <p:nvSpPr>
          <p:cNvPr id="3" name="Rectangle 2"/>
          <p:cNvSpPr/>
          <p:nvPr/>
        </p:nvSpPr>
        <p:spPr>
          <a:xfrm>
            <a:off x="548640" y="457200"/>
            <a:ext cx="109728" cy="5943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25880"/>
            <a:ext cx="3566160" cy="146304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3–4 hours across the two weeks</a:t>
            </a:r>
          </a:p>
          <a:p>
            <a:pPr algn="l">
              <a:spcBef>
                <a:spcPts val="400"/>
              </a:spcBef>
            </a:pPr>
            <a:r>
              <a:rPr sz="1400" b="0" i="0">
                <a:solidFill>
                  <a:srgbClr val="26313F"/>
                </a:solidFill>
                <a:latin typeface="Arial"/>
              </a:rPr>
              <a:t>The vault notes are the bulk; the plugin steps are minutes once installed.</a:t>
            </a:r>
          </a:p>
        </p:txBody>
      </p:sp>
      <p:sp>
        <p:nvSpPr>
          <p:cNvPr id="6" name="Rectangle 5"/>
          <p:cNvSpPr/>
          <p:nvPr/>
        </p:nvSpPr>
        <p:spPr>
          <a:xfrm>
            <a:off x="548640" y="1325880"/>
            <a:ext cx="82296" cy="146304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15968" y="1325880"/>
            <a:ext cx="7324344" cy="233172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2213A"/>
                </a:solidFill>
                <a:latin typeface="Georgia"/>
              </a:rPr>
              <a:t>Done looks like</a:t>
            </a:r>
          </a:p>
          <a:p>
            <a:pPr>
              <a:spcBef>
                <a:spcPts val="500"/>
              </a:spcBef>
            </a:pPr>
            <a:r>
              <a:rPr sz="1250" b="0" i="0">
                <a:solidFill>
                  <a:srgbClr val="26313F"/>
                </a:solidFill>
                <a:latin typeface="Arial"/>
              </a:rPr>
              <a:t>·  A vault whose Graph View has no isolated nodes</a:t>
            </a:r>
          </a:p>
          <a:p>
            <a:pPr>
              <a:spcBef>
                <a:spcPts val="500"/>
              </a:spcBef>
            </a:pPr>
            <a:r>
              <a:rPr sz="1250" b="0" i="0">
                <a:solidFill>
                  <a:srgbClr val="26313F"/>
                </a:solidFill>
                <a:latin typeface="Arial"/>
              </a:rPr>
              <a:t>·  Nine or more checked notes with source lines</a:t>
            </a:r>
          </a:p>
          <a:p>
            <a:pPr>
              <a:spcBef>
                <a:spcPts val="500"/>
              </a:spcBef>
            </a:pPr>
            <a:r>
              <a:rPr sz="1250" b="0" i="0">
                <a:solidFill>
                  <a:srgbClr val="26313F"/>
                </a:solidFill>
                <a:latin typeface="Arial"/>
              </a:rPr>
              <a:t>·  One added link you owe to Smart Connections</a:t>
            </a:r>
          </a:p>
          <a:p>
            <a:pPr>
              <a:spcBef>
                <a:spcPts val="500"/>
              </a:spcBef>
            </a:pPr>
            <a:r>
              <a:rPr sz="1250" b="0" i="0">
                <a:solidFill>
                  <a:srgbClr val="26313F"/>
                </a:solidFill>
                <a:latin typeface="Arial"/>
              </a:rPr>
              <a:t>·  One cited Vault QA answer you have judged</a:t>
            </a:r>
          </a:p>
          <a:p>
            <a:pPr>
              <a:spcBef>
                <a:spcPts val="500"/>
              </a:spcBef>
            </a:pPr>
            <a:r>
              <a:rPr sz="1250" b="0" i="0">
                <a:solidFill>
                  <a:srgbClr val="26313F"/>
                </a:solidFill>
                <a:latin typeface="Arial"/>
              </a:rPr>
              <a:t>·  An AI-use log</a:t>
            </a:r>
          </a:p>
        </p:txBody>
      </p:sp>
      <p:sp>
        <p:nvSpPr>
          <p:cNvPr id="8" name="Rectangle 7"/>
          <p:cNvSpPr/>
          <p:nvPr/>
        </p:nvSpPr>
        <p:spPr>
          <a:xfrm>
            <a:off x="4315968" y="1325880"/>
            <a:ext cx="82296" cy="233172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926080"/>
            <a:ext cx="3566160" cy="73152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2213A"/>
                </a:solidFill>
                <a:latin typeface="Georgia"/>
              </a:rPr>
              <a:t>nine or more · no isolated nodes</a:t>
            </a:r>
          </a:p>
          <a:p>
            <a:pPr>
              <a:spcBef>
                <a:spcPts val="300"/>
              </a:spcBef>
            </a:pPr>
            <a:r>
              <a:rPr sz="1150" b="0" i="0">
                <a:solidFill>
                  <a:srgbClr val="26313F"/>
                </a:solidFill>
                <a:latin typeface="Arial"/>
              </a:rPr>
              <a:t>the two numbers to remember</a:t>
            </a:r>
          </a:p>
        </p:txBody>
      </p:sp>
      <p:sp>
        <p:nvSpPr>
          <p:cNvPr id="10" name="Rectangle 9"/>
          <p:cNvSpPr/>
          <p:nvPr/>
        </p:nvSpPr>
        <p:spPr>
          <a:xfrm>
            <a:off x="548640" y="2926080"/>
            <a:ext cx="82296" cy="73152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886200"/>
            <a:ext cx="5440680" cy="18288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Practice Week 2's drop-in (W6)</a:t>
            </a:r>
          </a:p>
          <a:p>
            <a:pPr algn="l">
              <a:spcBef>
                <a:spcPts val="400"/>
              </a:spcBef>
            </a:pPr>
            <a:r>
              <a:rPr sz="1400" b="0" i="0">
                <a:solidFill>
                  <a:srgbClr val="26313F"/>
                </a:solidFill>
                <a:latin typeface="Arial"/>
              </a:rPr>
              <a:t>Troubleshooting: installation, plugin setup, linking, free-tier surprises.</a:t>
            </a:r>
          </a:p>
        </p:txBody>
      </p:sp>
      <p:sp>
        <p:nvSpPr>
          <p:cNvPr id="12" name="Rectangle 11"/>
          <p:cNvSpPr/>
          <p:nvPr/>
        </p:nvSpPr>
        <p:spPr>
          <a:xfrm>
            <a:off x="548640" y="3886200"/>
            <a:ext cx="82296" cy="18288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3886200"/>
            <a:ext cx="5440680" cy="182880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The next Teaching Session's debrief (W7)</a:t>
            </a:r>
          </a:p>
          <a:p>
            <a:pPr algn="l">
              <a:spcBef>
                <a:spcPts val="400"/>
              </a:spcBef>
            </a:pPr>
            <a:r>
              <a:rPr sz="1400" b="0" i="0">
                <a:solidFill>
                  <a:srgbClr val="26313F"/>
                </a:solidFill>
                <a:latin typeface="Arial"/>
              </a:rPr>
              <a:t>2–3 volunteers walk through notebook → vault → Vault QA.</a:t>
            </a:r>
          </a:p>
        </p:txBody>
      </p:sp>
      <p:sp>
        <p:nvSpPr>
          <p:cNvPr id="14" name="Rectangle 13"/>
          <p:cNvSpPr/>
          <p:nvPr/>
        </p:nvSpPr>
        <p:spPr>
          <a:xfrm>
            <a:off x="6199632" y="3886200"/>
            <a:ext cx="82296" cy="182880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11480"/>
            <a:ext cx="10817352" cy="640080"/>
          </a:xfrm>
          <a:prstGeom prst="rect">
            <a:avLst/>
          </a:prstGeom>
          <a:noFill/>
        </p:spPr>
        <p:txBody>
          <a:bodyPr wrap="square" anchor="b">
            <a:spAutoFit/>
          </a:bodyPr>
          <a:lstStyle/>
          <a:p>
            <a:pPr algn="l"/>
            <a:r>
              <a:rPr sz="2700" b="1" i="0">
                <a:solidFill>
                  <a:srgbClr val="12213A"/>
                </a:solidFill>
                <a:latin typeface="Georgia"/>
              </a:rPr>
              <a:t>Close: Practice Week 2 and the next Teaching Session</a:t>
            </a:r>
          </a:p>
        </p:txBody>
      </p:sp>
      <p:sp>
        <p:nvSpPr>
          <p:cNvPr id="3" name="Rectangle 2"/>
          <p:cNvSpPr/>
          <p:nvPr/>
        </p:nvSpPr>
        <p:spPr>
          <a:xfrm>
            <a:off x="548640" y="457200"/>
            <a:ext cx="109728" cy="59436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133856"/>
            <a:ext cx="11091672" cy="12700"/>
          </a:xfrm>
          <a:prstGeom prst="rect">
            <a:avLst/>
          </a:prstGeom>
          <a:solidFill>
            <a:srgbClr val="C9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5440680" cy="237744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Practice Week 2 (W6)</a:t>
            </a:r>
          </a:p>
          <a:p>
            <a:pPr algn="l">
              <a:spcBef>
                <a:spcPts val="400"/>
              </a:spcBef>
            </a:pPr>
            <a:r>
              <a:rPr sz="1400" b="0" i="0">
                <a:solidFill>
                  <a:srgbClr val="26313F"/>
                </a:solidFill>
                <a:latin typeface="Arial"/>
              </a:rPr>
              <a:t>Optional facilitated drop-in, no new material. Bring installation problems, plugin setup, linking questions and free-tier surprises.</a:t>
            </a:r>
          </a:p>
        </p:txBody>
      </p:sp>
      <p:sp>
        <p:nvSpPr>
          <p:cNvPr id="6" name="Rectangle 5"/>
          <p:cNvSpPr/>
          <p:nvPr/>
        </p:nvSpPr>
        <p:spPr>
          <a:xfrm>
            <a:off x="548640" y="1371600"/>
            <a:ext cx="82296" cy="237744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99632" y="1371600"/>
            <a:ext cx="5440680" cy="2377440"/>
          </a:xfrm>
          <a:prstGeom prst="rect">
            <a:avLst/>
          </a:prstGeom>
          <a:solidFill>
            <a:srgbClr val="FFFFFF"/>
          </a:solidFill>
          <a:ln w="1270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2213A"/>
                </a:solidFill>
                <a:latin typeface="Georgia"/>
              </a:rPr>
              <a:t>Next Teaching Session (W7)</a:t>
            </a:r>
          </a:p>
          <a:p>
            <a:pPr algn="l">
              <a:spcBef>
                <a:spcPts val="400"/>
              </a:spcBef>
            </a:pPr>
            <a:r>
              <a:rPr sz="1400" b="0" i="0">
                <a:solidFill>
                  <a:srgbClr val="26313F"/>
                </a:solidFill>
                <a:latin typeface="Arial"/>
              </a:rPr>
              <a:t>Builds on the vault as source of truth. The detailed plan follows the redesign of the remaining lessons and is announced in Teams before W6.</a:t>
            </a:r>
          </a:p>
        </p:txBody>
      </p:sp>
      <p:sp>
        <p:nvSpPr>
          <p:cNvPr id="8" name="Rectangle 7"/>
          <p:cNvSpPr/>
          <p:nvPr/>
        </p:nvSpPr>
        <p:spPr>
          <a:xfrm>
            <a:off x="6199632" y="1371600"/>
            <a:ext cx="82296" cy="2377440"/>
          </a:xfrm>
          <a:prstGeom prst="rect">
            <a:avLst/>
          </a:prstGeom>
          <a:solidFill>
            <a:srgbClr val="4A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4023360"/>
            <a:ext cx="11091672" cy="1188720"/>
          </a:xfrm>
          <a:prstGeom prst="rect">
            <a:avLst/>
          </a:prstGeom>
          <a:solidFill>
            <a:srgbClr val="1221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Georgia"/>
              </a:rPr>
              <a:t>Two floors of your KM System are standing: a source-grounded notebook and a linked vault</a:t>
            </a:r>
          </a:p>
          <a:p>
            <a:pPr algn="ctr">
              <a:spcBef>
                <a:spcPts val="600"/>
              </a:spcBef>
            </a:pPr>
            <a:r>
              <a:rPr sz="1300" b="0" i="0">
                <a:solidFill>
                  <a:srgbClr val="FFFFFF"/>
                </a:solidFill>
                <a:latin typeface="Arial"/>
              </a:rPr>
              <a:t>capture in the notebook, keep in the vault, query the vault — see you at the drop-in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2213A"/>
      </a:dk2>
      <a:lt2>
        <a:srgbClr val="EEECE1"/>
      </a:lt2>
      <a:accent1>
        <a:srgbClr val="B3541E"/>
      </a:accent1>
      <a:accent2>
        <a:srgbClr val="2E7D5B"/>
      </a:accent2>
      <a:accent3>
        <a:srgbClr val="9BBB59"/>
      </a:accent3>
      <a:accent4>
        <a:srgbClr val="8064A2"/>
      </a:accent4>
      <a:accent5>
        <a:srgbClr val="4BACC6"/>
      </a:accent5>
      <a:accent6>
        <a:srgbClr val="F79646"/>
      </a:accent6>
      <a:hlink>
        <a:srgbClr val="4A5A6E"/>
      </a:hlink>
      <a:folHlink>
        <a:srgbClr val="4A5A6E"/>
      </a:folHlink>
    </a:clrScheme>
    <a:fontScheme name="Office">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