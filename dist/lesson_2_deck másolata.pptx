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Read the map at pace, one line per row, left then right — this is a map, not a lesson. Nothing here gets explained again: if someone asks for the explanation, point at the Lesson 1 deck and move on; the recap exists so today's session can lean on Lesson 1 without repeating it.</a:t>
            </a:r>
          </a:p>
          <a:p/>
          <a:p>
            <a:r>
              <a:t>The two rows to land with a beat: the 7 Levels row — Level 2 is behind you as of the Lesson 1 assignment, Level 3 is what today buys you, and this week's assignment is the run-up to Level 4 — and the Anchor Project row, because the anonymise rule you already applied to your own project turns into the institutional rule in ten minutes' time.</a:t>
            </a:r>
          </a:p>
          <a:p/>
          <a:p>
            <a:r>
              <a:t>Then straight into the debrief; do not let the map eat into the volunteers' time.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min, and it is the segment's whole point — protect it.</a:t>
            </a:r>
          </a:p>
          <a:p/>
          <a:p>
            <a:r>
              <a:t>Setup done before the session: volunteers asked for in the Teams chat, plus one backup in case a screen-share fails. Say the format once, then hand over: 2–3 volunteers, 4 minutes each including questions, sharing from their own Gemini.</a:t>
            </a:r>
          </a:p>
          <a:p/>
          <a:p>
            <a:r>
              <a:t>Keeping time: post a visible time check in the chat at the 3-minute mark and cut at 4 — cut mid-item if you must, the remaining items are the same for everyone and you have seen them already. Three volunteers at four minutes each is exactly the twelve minutes; if the first two overrun, stop at two so the read-back still fits.</a:t>
            </a:r>
          </a:p>
          <a:p/>
          <a:p>
            <a:r>
              <a:t>Ask exactly one question per item, the ones printed on the cards. Do not turn a demo into coaching — problems go on the capture slide, not into a discussion here.</a:t>
            </a:r>
          </a:p>
          <a:p/>
          <a:p>
            <a:r>
              <a:t>Anyone who did not finish the assignment: no discussion now, Practice Week 1 is the venue.</a:t>
            </a:r>
          </a:p>
          <a:p/>
          <a:p>
            <a:r>
              <a:t>The two-lane rule is not in force yet — it gets stated in Segment 2 — so do not correct anyone mid-demo. If a volunteer shows sensitive content in Gemini, note it without comment and use it, anonymised, as the opening example of Segment 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 alongside the demos — keep this slide up while the volunteers share, or keep a pinned Teams chat message if screen real estate is tight. One line per problem, no names, filed under the item it came from.</a:t>
            </a:r>
          </a:p>
          <a:p/>
          <a:p>
            <a:r>
              <a:t>~30 sec at the end: read the list back and say where each one gets answered — routing questions in Segment 2, “the answer was wrong” in Segment 2's verification point and Prompt Coach in Segment 3, “the chat lost track” in Segment 4's Gems. Everything else goes to Practice Week 1; say so explicitly so nobody leaves with an unanswered problem.</a:t>
            </a:r>
          </a:p>
          <a:p/>
          <a:p>
            <a:r>
              <a:t>This list is the facilitator's own carry-forward: it says what Practice Week 1 has to cover. Keep it after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and it is the spine of the session — Segments 3, 4 and the assignment all assume it.</a:t>
            </a:r>
          </a:p>
          <a:p/>
          <a:p>
            <a:r>
              <a:t>Lead with the question, not with the tools: the lane is decided before a prompt is written, and it is decided per task. The same person routes a proposal one way in the morning and a public FAQ the other way in the afternoon.</a:t>
            </a:r>
          </a:p>
          <a:p/>
          <a:p>
            <a:r>
              <a:t>Lesson 1 left an interim rule for Gemini — nothing you couldn't publish. Say in one sentence that the two-lane rule is that rule completed, and move on; do not re-teach it, they applied it all week. The closing slide of this segment spells out what it meant.</a:t>
            </a:r>
          </a:p>
          <a:p/>
          <a:p>
            <a:r>
              <a:t>If a volunteer showed sensitive content in Gemini during the debrief, this is where it comes back: state it anonymised, without naming anyone, and route it aloud.</a:t>
            </a:r>
          </a:p>
          <a:p/>
          <a:p>
            <a:r>
              <a:t>The asymmetry is what people get wrong. The Sensitive Lane is the only authorised place for sensitive data — and it is not the better tool for everything else; sending general work there gives up the capabilities Segment 4 demos.</a:t>
            </a:r>
          </a:p>
          <a:p/>
          <a:p>
            <a:r>
              <a:t>Read the three examples at pace. Questions about a specific document go on the capture list, not into a discussion here.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Four cards, one beat each — these are the reasons behind the rule, not a data-protection lecture. Nobody has to reason from first principles in the moment; that is the whole point of routing once, up front.</a:t>
            </a:r>
          </a:p>
          <a:p/>
          <a:p>
            <a:r>
              <a:t>Personal data: the trap is the combination. A name alone may be public, a name plus a unit plus a performance remark is not.</a:t>
            </a:r>
          </a:p>
          <a:p/>
          <a:p>
            <a:r>
              <a:t>Confidential institutional data: the risk is retention, not malice. A free-tier consumer platform may keep inputs and may train on them; that is enough to make an unsubmitted proposal the wrong thing to paste.</a:t>
            </a:r>
          </a:p>
          <a:p/>
          <a:p>
            <a:r>
              <a:t>Purpose and minimisation: tie it to Lesson 1 — the context-window point and data minimisation want the same behaviour, so this costs nothing in quality.</a:t>
            </a:r>
          </a:p>
          <a:p/>
          <a:p>
            <a:r>
              <a:t>Human responsibility is the one to close on: the tool assists, the person signs. It is also the first key point of the directive on the next slide, so hand over on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Two documents, six pointers — this is a reference slide, not a reading. Say the titles, say the six points at pace, and tell the room the directive itself is the text; the slide only says where to look.</a:t>
            </a:r>
          </a:p>
          <a:p/>
          <a:p>
            <a:r>
              <a:t>Where each point lives, if anyone asks: human oversight and final responsibility — section 2; transparency and documentation — sections 2, 4, 5; no personal, sensitive or unpublished data into external AI tools without explicit permission — sections 2, 4; administration allowed within the data-protection and data-security rules — section 6; critical checking of every output — sections 4, 6; consequences of breaches — section 7.</a:t>
            </a:r>
          </a:p>
          <a:p/>
          <a:p>
            <a:r>
              <a:t>Point 4 is the one that reassures rather than restricts: administrative AI use is explicitly allowed, which is what this whole course is built on. Do not let the segment land as a list of prohibitions.</a:t>
            </a:r>
          </a:p>
          <a:p/>
          <a:p>
            <a:r>
              <a:t>Point 5 is the “verify before use” rule from the Lesson 1 demo, now with an institutional source behind it — name that link, do not re-teach it.</a:t>
            </a:r>
          </a:p>
          <a:p/>
          <a:p>
            <a:r>
              <a:t>Housekeeping before delivery: the directive is version 1.0 with a review expected 1 July 2026. Check for a newer version the week before the session and correct this slide if it moved.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One institutional rule, stated once: a document carrying personal or sensitive information is anonymised before it goes into any AI tool — either lane, no exception for the institutional account.</a:t>
            </a:r>
          </a:p>
          <a:p/>
          <a:p>
            <a:r>
              <a:t>The lane chips are there because this is the point people expect an exception. The Sensitive Lane is authorised for sensitive data, and the anonymisation rule still applies to the files you upload into it.</a:t>
            </a:r>
          </a:p>
          <a:p/>
          <a:p>
            <a:r>
              <a:t>Tie it back in one sentence: they already did this when they wrote their Anchor Project description last week, and the anonymisation one-pager from Lesson 1's materials is the checklist. Do not walk the one-pager again — point at it.</a:t>
            </a:r>
          </a:p>
          <a:p/>
          <a:p>
            <a:r>
              <a:t>If someone asks about a document they cannot anonymise, the answer is on the next slide: it does not go into an AI tool at all.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Read the list, do not discuss it. It is the closing slide of the segment and the one people photograph.</a:t>
            </a:r>
          </a:p>
          <a:p/>
          <a:p>
            <a:r>
              <a:t>This completes the interim rule from Lesson 1 — nothing you couldn't publish — by saying exactly what that meant. Say that in one sentence; the rule itself does not need re-teaching.</a:t>
            </a:r>
          </a:p>
          <a:p/>
          <a:p>
            <a:r>
              <a:t>Two exits, and both matter. Anything on the list goes to the Sensitive Lane, anonymised first if it is a document. And if it fails the anonymisation test even there, it does not go into an AI tool at all — say that line out loud, it is the floor under the whole rule.</a:t>
            </a:r>
          </a:p>
          <a:p/>
          <a:p>
            <a:r>
              <a:t>Then move straight into Segment 3: the Sensitive Lane has been named four times by now and nobody has seen it work yet.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and the segment opens on it. Before the first slide, open Copilot Chat in Teams and show the enterprise notice — 30 seconds, no commentary. It is the visible proof of the boundary the last segment argued for.</a:t>
            </a:r>
          </a:p>
          <a:p/>
          <a:p>
            <a:r>
              <a:t>Four categories, four prompts, read at pace. These are the same four categories the routing slide named, now as work. The point to make: nothing about the prompt changes between the lanes, only where it goes.</a:t>
            </a:r>
          </a:p>
          <a:p/>
          <a:p>
            <a:r>
              <a:t>Say the ICC line once and move on — they wrote three ICC prompts last week, this is a reference, not a lesson.</a:t>
            </a:r>
          </a:p>
          <a:p/>
          <a:p>
            <a:r>
              <a:t>LIVE, about 2 minutes: scenario 1. Paste the anonymised meeting notes prepared for today, type the ICC prompt, read the decision log and the action list out loud. Point at the names as you paste: roles, not people — the anonymisation happened before the paste, not after the answer.</a:t>
            </a:r>
          </a:p>
          <a:p/>
          <a:p>
            <a:r>
              <a:t>Run one scenario only. The other three are described, not demonstrated; the room reproduces them in the assignment. If the demo drifts past 2 minutes, cut it and go to the guardrails.</a:t>
            </a:r>
          </a:p>
          <a:p/>
          <a:p>
            <a:r>
              <a:t>State the rule while the answer is on screen: the output is still checked before it is used. The tenant boundary buys confidentiality, not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Four cards, and the second one is the one that saves support time later.</a:t>
            </a:r>
          </a:p>
          <a:p/>
          <a:p>
            <a:r>
              <a:t>Enterprise behaviour: this is the answer to “is it safe to paste this?”. Inside the tenant, not training data, same terms as the institution's other Microsoft 365 content.</a:t>
            </a:r>
          </a:p>
          <a:p/>
          <a:p>
            <a:r>
              <a:t>No grounding is the surprise. People expect an institutional tool to know the institution's files; it does not open SharePoint or OneDrive by itself. If it has not been pasted or attached, it is not in the conversation. Tie it to Lesson 1: what you bring is curated, because more context is not better context.</a:t>
            </a:r>
          </a:p>
          <a:p/>
          <a:p>
            <a:r>
              <a:t>Weaker on general work — say it plainly, and do not name the alternative yet; the next segment shows what it can do instead of arguing about it now.</a:t>
            </a:r>
          </a:p>
          <a:p/>
          <a:p>
            <a:r>
              <a:t>Anonymise anyway: the expected exception, refused. The rule is about the document, not about the destination.</a:t>
            </a:r>
          </a:p>
          <a:p/>
          <a:p>
            <a:r>
              <a:t>Close on the band and go straight into the tool slides: reserve the lane for the sensitive work.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only — no demo here; the plan gives the three slide-only tools 1.5 minutes between them, so this one gets about 30 seconds.</a:t>
            </a:r>
          </a:p>
          <a:p/>
          <a:p>
            <a:r>
              <a:t>Lead with the work, not the product: a call document arrives as a PDF in a channel and four people comment on four separate attachments. Acrobat's free tier is the answer to that one problem — one file, one set of comments, everyone notified.</a:t>
            </a:r>
          </a:p>
          <a:p/>
          <a:p>
            <a:r>
              <a:t>The free/paid boundary is the point of the slide, and it is the thing to get right before delivery: convert, combine, reorganise, compress and password-protect need an Acrobat subscription, and the AI Assistant needs its own add-on. Neither is in what you have. Check both blocks in your own account the day before — Adobe moves features between tiers. Two the compiled list names in its blurb but places in no tier are redact and export; find out where those sit before you promise them.</a:t>
            </a:r>
          </a:p>
          <a:p/>
          <a:p>
            <a:r>
              <a:t>If someone asks why Acrobat is not simply the default PDF viewer in Teams: a tenant admin can set that policy centrally. That is an IT request, not something a participant configures.</a:t>
            </a:r>
          </a:p>
          <a:p/>
          <a:p>
            <a:r>
              <a:t>The PDF is still a document: if it carries personal or sensitive information it is anonymised before it goes anywhere near a chat.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Coach runs LIVE, about 2 minutes. Ask in the Teams chat during the debrief whether one volunteer will let you use their prompt here, and get their permission before the segment — never lift a prompt off someone's screen without it. If nobody offers, use your own; have it ready either way.</a:t>
            </a:r>
          </a:p>
          <a:p/>
          <a:p>
            <a:r>
              <a:t>Run it once: paste the prompt, state the goal it was meant to serve, ask for a critique and a rewrite. Read the critique aloud and stop at the first concrete change — one improvement the room can see is worth more than a full list they cannot follow.</a:t>
            </a:r>
          </a:p>
          <a:p/>
          <a:p>
            <a:r>
              <a:t>The tie-back is one sentence: this is last week's meta-prompting, packaged as an agent. Do not re-teach meta-prompting; they used it in the assignment.</a:t>
            </a:r>
          </a:p>
          <a:p/>
          <a:p>
            <a:r>
              <a:t>Say what happens to the output: the improved prompt gets saved. That is the beginning of the prompt library, and the prompts in it are what the assignment's workflow steps are built out of.</a:t>
            </a:r>
          </a:p>
          <a:p/>
          <a:p>
            <a:r>
              <a:t>If the coach's rewrite is worse than the original — it happens — keep it on screen and say so. Every output is checked, including this one.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about 2 minutes, and it is the demo that pays off in Segment 5.</a:t>
            </a:r>
          </a:p>
          <a:p/>
          <a:p>
            <a:r>
              <a:t>Pick a concept the room shares — eligible costs works, so does reporting periods. Ask for the explanation first, at a stated depth: “for a colleague who joined the office last month”.</a:t>
            </a:r>
          </a:p>
          <a:p/>
          <a:p>
            <a:r>
              <a:t>Then the two moves that matter: turn that explanation into flashcards, and turn it into a five-question quiz. Read two flashcards and one quiz question aloud. Do not read the whole set.</a:t>
            </a:r>
          </a:p>
          <a:p/>
          <a:p>
            <a:r>
              <a:t>The access line saves a support ticket: it needs a Microsoft 365 Education account, not a Copilot licence. Confirm it in your own account the day before, and if a participant's account does not show the agent, that goes on the capture list for Practice Week 1.</a:t>
            </a:r>
          </a:p>
          <a:p/>
          <a:p>
            <a:r>
              <a:t>Name the link to the assignment out loud: the quiz is how a presentation gets tested. A question nobody can answer is a slide that did not teach.</a:t>
            </a:r>
          </a:p>
          <a:p/>
          <a:p>
            <a:r>
              <a:t>The explanation is generated, so it is checked before it is taught to anyone — the flashcards inherit whatever the explanation got wrong.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only — about 30 seconds. Do not open Canva; there is no time and the app adds nothing to watch.</a:t>
            </a:r>
          </a:p>
          <a:p/>
          <a:p>
            <a:r>
              <a:t>One idea: prototype before you build. The Teams app is the reason it is worth doing here rather than in a separate browser tab — notifications, previews and comments land where the Cohort already works.</a:t>
            </a:r>
          </a:p>
          <a:p/>
          <a:p>
            <a:r>
              <a:t>Be precise about the scope. This is the structure of the presentation, not the presentation. The next slide is where the deck itself gets made.</a:t>
            </a:r>
          </a:p>
          <a:p/>
          <a:p>
            <a:r>
              <a:t>The caution is not decoration: Canva sits outside the institutional tenant, which is also why nothing on this slide carries the lane's colour. Whatever goes into a design is subject to the routing rule and anonymised first, exactly as in the last segment.</a:t>
            </a:r>
          </a:p>
          <a:p/>
          <a:p>
            <a:r>
              <a:t>If anyone asks about the Canva they already use privately: same app, and the same rule about what goes into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only — about 30 seconds, and it closes the segment.</a:t>
            </a:r>
          </a:p>
          <a:p/>
          <a:p>
            <a:r>
              <a:t>Three boxes, read left to right: the prototype, the content, the deck. That is the first chain the room has seen end to end, and the assignment asks them to write one down.</a:t>
            </a:r>
          </a:p>
          <a:p/>
          <a:p>
            <a:r>
              <a:t>The caution carries the weight of the whole segment: genspark.ai sits outside the tenant, which is why this slide carries none of the lane's colour either. The routing rule is not a gate at the front of a workflow — it is applied at every step, and a chain is only as safe as the least protected tool in it.</a:t>
            </a:r>
          </a:p>
          <a:p/>
          <a:p>
            <a:r>
              <a:t>Do not brief the assignment here. One sentence pointing at Segment 5 is the whole handover; the deliverable slide comes after the next segment.</a:t>
            </a:r>
          </a:p>
          <a:p/>
          <a:p>
            <a:r>
              <a:t>Practical note for the week before: try genspark.ai yourself on a fictional topic first. It is the least familiar of the five, and whatever it produces still gets checked before it is shown to anyone.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and then straight into the first demo — this slide is a map, not a lesson.</a:t>
            </a:r>
          </a:p>
          <a:p/>
          <a:p>
            <a:r>
              <a:t>Say what the next fifteen minutes are: one tool, ten capabilities, a scenario each, and four of them on screen live. The room does not need to remember the list; they need to know it exists and that the slides are the reference afterwards.</a:t>
            </a:r>
          </a:p>
          <a:p/>
          <a:p>
            <a:r>
              <a:t>The availability flag is the important line. Say it once, plainly: this is the free tier as of September 2026, and it changes. Re-verify in your own account the week before delivery: the free tier moves month to month, and anything that has moved behind a paid plan is shown as a slide and marked as such. If a capability moved this month, say so here rather than discovering it on screen.</a:t>
            </a:r>
          </a:p>
          <a:p/>
          <a:p>
            <a:r>
              <a:t>State the rule before the first upload and leave it stated: everything demonstrated today is anonymised or fictional. Have the Segment 2 “what must never enter Gemini” list open on the second monitor for the rest of the segment — if a participant suggests a document in the chat, that list is the answer.</a:t>
            </a:r>
          </a:p>
          <a:p/>
          <a:p>
            <a:r>
              <a:t>Have ready before the session: the anonymised call PDF, the budget-table screenshot, the long guideline document, the Gem half-built, the Deep Research report from last night, and the generated diagram. Six tabs, in that order.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2.5 minutes — the plan's first demo step, and the one that earns the segment its time. Two files, one prompt.</a:t>
            </a:r>
          </a:p>
          <a:p/>
          <a:p>
            <a:r>
              <a:t>Attach both before you type: the anonymised call PDF and the budget-table screenshot. Say out loud what you did to them — the sums and the partner names are invented, and that happened before the upload, not after the answer.</a:t>
            </a:r>
          </a:p>
          <a:p/>
          <a:p>
            <a:r>
              <a:t>Type the ICC prompt as written on the slide: instruction, context, constraints, and the ask-me-first clause at the end. They wrote three of these last week; this is the same shape with files attached, not a new technique.</a:t>
            </a:r>
          </a:p>
          <a:p/>
          <a:p>
            <a:r>
              <a:t>Read two lines of the checklist aloud, then jump to the table reading. The image is the part people do not expect — point at it: nobody typed those numbers in.</a:t>
            </a:r>
          </a:p>
          <a:p/>
          <a:p>
            <a:r>
              <a:t>If it asks you a question back, answer it on screen. That is the ask-me-first pattern working, and it is worth ten seconds.</a:t>
            </a:r>
          </a:p>
          <a:p/>
          <a:p>
            <a:r>
              <a:t>Everything on screen is anonymised or fictional — the “what must never enter Gemini” list from Segment 2 stays on the second monitor.</a:t>
            </a:r>
          </a:p>
          <a:p/>
          <a:p>
            <a:r>
              <a:t>The answer is still checked before it is used. An eligibility checklist that missed a criterion is worse than no checklist.</a:t>
            </a:r>
          </a:p>
          <a:p/>
          <a:p>
            <a:r>
              <a:t>If the upload fails or the file is rejected, do not debug it live — say what should have happened, move to long context, and put it on the capture list for Practice Week 1.</a:t>
            </a:r>
          </a:p>
          <a:p/>
          <a:p>
            <a:r>
              <a:t>Re-verify in your own account the week before delivery: the free tier moves month to month, and anything that has moved behind a paid plan is shown as a slide and marked as such. Upload limits and accepted file types are the part of this that moves quietly.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and short — 1.5 minutes, one document, one summary. Do not let this one run: the Gem is the demo that matters and it is next.</a:t>
            </a:r>
          </a:p>
          <a:p/>
          <a:p>
            <a:r>
              <a:t>Paste the long guideline document you prepared. Say its length out loud while it loads — however many pages yours runs to, one paste. That number is the whole point of the slide, so use the real one rather than a figure off a slide.</a:t>
            </a:r>
          </a:p>
          <a:p/>
          <a:p>
            <a:r>
              <a:t>Ask for the structured summary with the section references, read three items, stop. Point at one section reference and say why it is there: an answer you can check is worth more than an answer you have to trust.</a:t>
            </a:r>
          </a:p>
          <a:p/>
          <a:p>
            <a:r>
              <a:t>Then the counterweight, in one sentence, because it is the Lesson 1 link: the window is what you may bring, not what you should bring. More context is not better context — the curation rule survives the bigger window.</a:t>
            </a:r>
          </a:p>
          <a:p/>
          <a:p>
            <a:r>
              <a:t>Free-tier limit: the window is smaller than the paid plans'. Re-verify in your own account the week before delivery: the free tier moves month to month, and anything that has moved behind a paid plan is shown as a slide and marked as such.</a:t>
            </a:r>
          </a:p>
          <a:p/>
          <a:p>
            <a:r>
              <a:t>Everything on screen is anonymised or fictional — the “what must never enter Gemini” list from Segment 2 stays on the second monitor — the guideline document is public, which is why it is the one being pasted.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 the longest demo in the segment, and the one the whole course structure points at. Do not shorten this one; shorten Canvas instead.</a:t>
            </a:r>
          </a:p>
          <a:p/>
          <a:p>
            <a:r>
              <a:t>Build the Gem in front of them, in the plan's four steps: name, instructions, reference files, first chat. Have it half-built in a second tab in case the creation flow has moved.</a:t>
            </a:r>
          </a:p>
          <a:p/>
          <a:p>
            <a:r>
              <a:t>Name: “Anchor Project assistant”. Say the rule while you type it — one Gem per project, not one per task. A Gem per task is a prompt with extra steps.</a:t>
            </a:r>
          </a:p>
          <a:p/>
          <a:p>
            <a:r>
              <a:t>Instructions: paste one of your own ICC prompts from last week and edit it into standing instructions as they watch. This is the sentence to say out loud: the prompt you wrote once is now the brief it always works under. Add the reverse prompt — ask me what you need before you answer — as its opening move.</a:t>
            </a:r>
          </a:p>
          <a:p/>
          <a:p>
            <a:r>
              <a:t>Reference files: attach the project description and the call text. Name the free tier's file limit as you hit it. Re-verify in your own account the week before delivery: the free tier moves month to month, and anything that has moved behind a paid plan is shown as a slide and marked as such.</a:t>
            </a:r>
          </a:p>
          <a:p/>
          <a:p>
            <a:r>
              <a:t>First chat: ask it something you would otherwise have to explain the project for — “draft the risk section for this project's next report”. The point lands when nobody had to paste the project description.</a:t>
            </a:r>
          </a:p>
          <a:p/>
          <a:p>
            <a:r>
              <a:t>Then the Level 3 line, and connect it to the recap map from Segment 1: Level 2 was the Prompt Crafter, done in last week's assignment. This is the Power User — dedicated workspaces that already know your domain. The assignment chains them, which is Level 4.</a:t>
            </a:r>
          </a:p>
          <a:p/>
          <a:p>
            <a:r>
              <a:t>Everything on screen is anonymised or fictional — the “what must never enter Gemini” list from Segment 2 stays on the second monitor — the Gem's reference files included; whatever goes in a Gem stays in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Prepared result, not a live run, and about 20 seconds. The plan's demo script runs it in one batch with Workspace hooks, image generation, Guided Learning and saved info — five slides sharing 1.5 minutes. Have the report open in a tab.</a:t>
            </a:r>
          </a:p>
          <a:p/>
          <a:p>
            <a:r>
              <a:t>It sits here because the slides follow the plan's capability table, which puts it before Canvas. The script runs Canvas live first: either take the 20 seconds here, or skip forward to Canvas and come back to this slide with the rest of the batch. Decide before the session, not on the day.</a:t>
            </a:r>
          </a:p>
          <a:p/>
          <a:p>
            <a:r>
              <a:t>Show the shape, not the content: sections, sources, and the line where it says what it could not find. Scroll once. Do not read it.</a:t>
            </a:r>
          </a:p>
          <a:p/>
          <a:p>
            <a:r>
              <a:t>Say why it is not live: a run takes minutes, and the free tier caps how many you get a month. That cap is the reason to write the question properly before spending one — which is the same discipline as last week's ICC prompt, at a higher price.</a:t>
            </a:r>
          </a:p>
          <a:p/>
          <a:p>
            <a:r>
              <a:t>Re-verify in your own account the week before delivery: the free tier moves month to month, and anything that has moved behind a paid plan is shown as a slide and marked as such. The cap in particular moves.</a:t>
            </a:r>
          </a:p>
          <a:p/>
          <a:p>
            <a:r>
              <a:t>Every source is a link you can open. Say the verification rule once more here — a briefing that looks finished is exactly the kind of output people forget to check.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outline, then exactly one iteration. This is the demo to cut short if the Gem ran long.</a:t>
            </a:r>
          </a:p>
          <a:p/>
          <a:p>
            <a:r>
              <a:t>Open Canvas from the chat and give it the prompt on the slide. While it drafts, say what is different: the answer arrives as a document beside the conversation, not as chat text to copy out.</a:t>
            </a:r>
          </a:p>
          <a:p/>
          <a:p>
            <a:r>
              <a:t>Then the one iteration that makes the point — pick a section and ask for it to be rewritten shorter, or for the learning outcome to be sharpened. Show that the other sections did not move. That is the difference between a draft and a transcript.</a:t>
            </a:r>
          </a:p>
          <a:p/>
          <a:p>
            <a:r>
              <a:t>Name the export once: it comes out as a structured draft you can keep. Do not demonstrate the export — say it and move on.</a:t>
            </a:r>
          </a:p>
          <a:p/>
          <a:p>
            <a:r>
              <a:t>Point forward without teaching it: this is where the assignment's presentation starts, and a structured output is the thing the next step in a chain can use. The closing slide picks that up.</a:t>
            </a:r>
          </a:p>
          <a:p/>
          <a:p>
            <a:r>
              <a:t>Re-verify in your own account the week before delivery: the free tier moves month to month, and anything that has moved behind a paid plan is shown as a slide and marked as such.</a:t>
            </a:r>
          </a:p>
          <a:p/>
          <a:p>
            <a:r>
              <a:t>Everything on screen is anonymised or fictional — the “what must never enter Gemini” list from Segment 2 stays on the second monitor — draft on the fictional project, not on a real colleague's.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only, about 20 seconds — one of the demo script's batch of five (Deep Research, this, image generation, Guided Learning, saved info) that share 1.5 minutes.</a:t>
            </a:r>
          </a:p>
          <a:p/>
          <a:p>
            <a:r>
              <a:t>Show the boundary, do not mourn it. The connections are where the paid plans begin, and the workaround is the capability from four slides ago: upload the documents, or put them in the Gem once.</a:t>
            </a:r>
          </a:p>
          <a:p/>
          <a:p>
            <a:r>
              <a:t>Re-verify in your own account the week before delivery: the free tier moves month to month, and anything that has moved behind a paid plan is shown as a slide and marked as such. This is the row most likely to have changed, in either direction — if the free tier has gained a connection, say so and move the slide's framing.</a:t>
            </a:r>
          </a:p>
          <a:p/>
          <a:p>
            <a:r>
              <a:t>If someone asks whether to pay for it: not for this course. Nothing in the assignment needs it.</a:t>
            </a:r>
          </a:p>
          <a:p/>
          <a:p>
            <a:r>
              <a:t>Note for the blueprint they write this week: a manual upload step is a legitimate workflow step. It just has to be written down as one.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Prepared result, about 20 seconds, still inside the script's batch of five. Have the two images side by side — the first attempt and the one after the edit.</a:t>
            </a:r>
          </a:p>
          <a:p/>
          <a:p>
            <a:r>
              <a:t>The point is the second image, not the first: you describe a change instead of redrawing. Say the edit you asked for.</a:t>
            </a:r>
          </a:p>
          <a:p/>
          <a:p>
            <a:r>
              <a:t>Then the limit, and do not soften it: it draws what a chart looks like, not your numbers. A generated illustration never carries data, and never carries the institution's identity.</a:t>
            </a:r>
          </a:p>
          <a:p/>
          <a:p>
            <a:r>
              <a:t>Re-verify in your own account the week before delivery: the free tier moves month to month, and anything that has moved behind a paid plan is shown as a slide and marked as such. Free-tier image quotas move often.</a:t>
            </a:r>
          </a:p>
          <a:p/>
          <a:p>
            <a:r>
              <a:t>If asked about attribution: the directive from Segment 2 wants AI use recorded — which tool, for what, in which part of the work. A generated illustration is part of the work.</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Mentioned in passing — the one capability the plan's demo script gives no time of its own, so it comes out of the segment's slack and is the first thing to drop if you are behind. Say it, do not show it: a voice demo over Teams audio is a lottery.</a:t>
            </a:r>
          </a:p>
          <a:p/>
          <a:p>
            <a:r>
              <a:t>The scenario is rehearsal: you talk, it asks. It is the cheapest way to find the section of your presentation you cannot actually explain, and the assignment ends in a presentation.</a:t>
            </a:r>
          </a:p>
          <a:p/>
          <a:p>
            <a:r>
              <a:t>Mobile parity is the second half of the sentence: same account, same Gems, so what was built on the laptop is on the phone.</a:t>
            </a:r>
          </a:p>
          <a:p/>
          <a:p>
            <a:r>
              <a:t>The caution belongs on this slide more than most: talking is uploading. The Segment 2 list applies to what you say as much as to what you paste — rehearse the presentation, not the personnel case.</a:t>
            </a:r>
          </a:p>
          <a:p/>
          <a:p>
            <a:r>
              <a:t>Re-verify in your own account the week before delivery: the free tier moves month to month, and anything that has moved behind a paid plan is shown as a slide and marked as such.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only, about 20 seconds, and the fourth of the script's batch of five.</a:t>
            </a:r>
          </a:p>
          <a:p/>
          <a:p>
            <a:r>
              <a:t>One sentence on what the mode does — questions instead of answers — and one on why it is in a research management course: the assignment's deliverable is a presentation designed around learning outcomes, and this is that shape, modelled.</a:t>
            </a:r>
          </a:p>
          <a:p/>
          <a:p>
            <a:r>
              <a:t>Suggest it as the thing to try this week on whichever concept in their Anchor Project they understand least.</a:t>
            </a:r>
          </a:p>
          <a:p/>
          <a:p>
            <a:r>
              <a:t>Re-verify in your own account the week before delivery: the free tier moves month to month, and anything that has moved behind a paid plan is shown as a slide and marked as such. The mode has moved between a toggle and a setting more than once.</a:t>
            </a:r>
          </a:p>
          <a:p/>
          <a:p>
            <a:r>
              <a:t>The explanation is generated like any other output: check it before you teach it to anyone.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of the script's batch of five, about 10 seconds, and the last capability before NotebookLM.</a:t>
            </a:r>
          </a:p>
          <a:p/>
          <a:p>
            <a:r>
              <a:t>Frame it against the Gem you just built: saved info is the lightweight version — facts about you that every chat sees, rather than a workspace for one project.</a:t>
            </a:r>
          </a:p>
          <a:p/>
          <a:p>
            <a:r>
              <a:t>Spend the caution rather than the feature: it is stored on a personal account and read everywhere, so the Segment 2 list applies to it without exception.</a:t>
            </a:r>
          </a:p>
          <a:p/>
          <a:p>
            <a:r>
              <a:t>Re-verify in your own account the week before delivery: the free tier moves month to month, and anything that has moved behind a paid plan is shown as a slide and marked as such.</a:t>
            </a:r>
          </a:p>
          <a:p/>
          <a:p>
            <a:r>
              <a:t>Then close the capability half of the segment and move to NotebookLM — four minutes left, three slides.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only, about 80 seconds. NotebookLM is next week's tool — say that first, and do not open a walkthrough today.</a:t>
            </a:r>
          </a:p>
          <a:p/>
          <a:p>
            <a:r>
              <a:t>The scenario is the recorded information session everybody saves and nobody rewatches. Added as a source, it becomes something you can ask a question of, and the answer points back at where in the recording it came from.</a:t>
            </a:r>
          </a:p>
          <a:p/>
          <a:p>
            <a:r>
              <a:t>The catch is captions: what the notebook reads is the transcript. A recording without captions is not a source.</a:t>
            </a:r>
          </a:p>
          <a:p/>
          <a:p>
            <a:r>
              <a:t>No YouTube link appears in this deck, by the course's own rule — describe the scenario, and if you want to show one, open a recording you brought yourself.</a:t>
            </a:r>
          </a:p>
          <a:p/>
          <a:p>
            <a:r>
              <a:t>Re-verify in your own account the week before delivery: the free tier moves month to month, and anything that has moved behind a paid plan is shown as a slide and marked as such. In 2026 Google folded NotebookLM into the Gemini product family, so check which of these three scenarios the free tier still covers and mark any paid-only step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only, about 80 seconds — the one with the strongest link back to Lesson 1.</a:t>
            </a:r>
          </a:p>
          <a:p/>
          <a:p>
            <a:r>
              <a:t>Describe the pile: four documents about one call, all of them true, none of them complete. In a notebook they answer together, and every sentence of the answer says which document it came from.</a:t>
            </a:r>
          </a:p>
          <a:p/>
          <a:p>
            <a:r>
              <a:t>Then make the Lesson 1 connection explicitly, because it closes a loop the room opened last week: “more context is not better context” was a rule they had to remember. Source grounding is that rule built into a tool — it answers from what you gave it.</a:t>
            </a:r>
          </a:p>
          <a:p/>
          <a:p>
            <a:r>
              <a:t>Do not walk through building one. Next week.</a:t>
            </a:r>
          </a:p>
          <a:p/>
          <a:p>
            <a:r>
              <a:t>The sources are documents like any other: anonymised before they go in, if they carry personal or sensitive information.</a:t>
            </a:r>
          </a:p>
          <a:p/>
          <a:p>
            <a:r>
              <a:t>Re-verify in your own account the week before delivery: the free tier moves month to month, and anything that has moved behind a paid plan is shown as a slide and marked as such.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only, about 80 seconds, and it is the bridge to Lesson 3.</a:t>
            </a:r>
          </a:p>
          <a:p/>
          <a:p>
            <a:r>
              <a:t>The scenario: the four documents you just put in a notebook, linked into a chat as the project's folder. Nothing is re-uploaded, and the conversation has the project's sources in it from the first message.</a:t>
            </a:r>
          </a:p>
          <a:p/>
          <a:p>
            <a:r>
              <a:t>Connect it back to the Gem without re-teaching either: a Gem holds how you work, a notebook holds what you work from. Both are persistent context, which is the Level 3 idea from the middle of this segment.</a:t>
            </a:r>
          </a:p>
          <a:p/>
          <a:p>
            <a:r>
              <a:t>Say the caution plainly rather than burying it: this integration appeared on paid plans first, and the product carries two names — the course says NotebookLM, the screen may say “Gemini Notebook” since the mid-2026 rename. Say which you are looking at. Re-verify in your own account the week before delivery: the free tier moves month to month, and anything that has moved behind a paid plan is shown as a slide and marked as such. If the link is paid-only in your account on the day, mark it on the slide and present it as where this is going, not as something they can do this week.</a:t>
            </a:r>
          </a:p>
          <a:p/>
          <a:p>
            <a:r>
              <a:t>Close the NotebookLM block here: three scenarios, no walkthrough, the tool itself is Lesson 3.</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and it is the handover into Segment 5. Do not add material here — this slide only names what they already watched.</a:t>
            </a:r>
          </a:p>
          <a:p/>
          <a:p>
            <a:r>
              <a:t>Walk the first chain in one breath, pointing at the three slides it came from: the upload, the Gem, Canvas. Then the second: the notebook, the chat, the draft.</a:t>
            </a:r>
          </a:p>
          <a:p/>
          <a:p>
            <a:r>
              <a:t>The sentence that matters is the one under the cards: a capability is not interesting on its own. Two in a row, with a reason for the order, is a workflow — and a reason for the order is exactly what the assignment asks them to write down.</a:t>
            </a:r>
          </a:p>
          <a:p/>
          <a:p>
            <a:r>
              <a:t>Say the level once: Level 3 was the persistent workspace, which they saw built in this segment. Level 4 is orchestration, and the blueprint is its foundation. Then hand over — the next segment has the assignment slide.</a:t>
            </a:r>
          </a:p>
          <a:p/>
          <a:p>
            <a:r>
              <a:t>If you are over time here, cut the second chain and keep the sentence.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 Read the three items aloud and then get off this slide — the roadmap is where the time goes.</a:t>
            </a:r>
          </a:p>
          <a:p/>
          <a:p>
            <a:r>
              <a:t>The one thing to say plainly: the blueprint is not homework you invent from scratch. It is on the next four slides, written out, with a justification per step. What they owe is a run of it on their own topic and a line of reasoning for every step they change, drop or add. Say that out loud — last year's version of this assignment asked people to produce a blueprint from the word “blueprint”, and what came back was nine rows of tool names with no reasoning in them.</a:t>
            </a:r>
          </a:p>
          <a:p/>
          <a:p>
            <a:r>
              <a:t>Item 1 is the deliverable: a presentation that teaches, on a topic they pick. Say the topic is theirs — it does not have to be the Anchor Project, and a topic they already know well makes the learning-outcome part easier to judge.</a:t>
            </a:r>
          </a:p>
          <a:p/>
          <a:p>
            <a:r>
              <a:t>Item 3 is where this can go wrong quietly. A chain does not inherit a lane from its first step: each step is routed on its own. If a step cannot be cleared, the step changes — not the lane.</a:t>
            </a:r>
          </a:p>
          <a:p/>
          <a:p>
            <a:r>
              <a:t>Paste this slide's text and the blueprint into the Teams chat straight after the session, together with the Mermaid source from the plan, so nobody is working from a screenshot alone.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and this is the slide the segment exists for. Walk the chain once, left to right, naming the tool at each card and nothing else — nine names in ninety seconds. The detail is on the next three slides and in the chat; do not read it here.</a:t>
            </a:r>
          </a:p>
          <a:p/>
          <a:p>
            <a:r>
              <a:t>Then make the one argument the picture makes for you: the colours change four times. Step 1 is Gemini, step 2 hops to Copilot, step 3 stays there, step 4 hops back. That is what “a chain does not inherit a lane from its first step” looks like, and it is the reason the assignment asks for the lane per step rather than per project.</a:t>
            </a:r>
          </a:p>
          <a:p/>
          <a:p>
            <a:r>
              <a:t>Two things are worth pointing at specifically. Step 3 is the clearance gate: everything after it uploads files, so clearance is decided once, there. And step 9 is in neither lane — Canva and genspark.ai sit outside the institutional tenant, which is exactly why only what step 3 cleared may go into them.</a:t>
            </a:r>
          </a:p>
          <a:p/>
          <a:p>
            <a:r>
              <a:t>The diagram is part of the deliverable. Say that the Mermaid source for this picture is in the session plan and goes into the chat: they are expected to redraw it for their own chain, and a chain that cannot be drawn has not been thought through.</a:t>
            </a:r>
          </a:p>
          <a:p/>
          <a:p>
            <a:r>
              <a:t>Leave this slide up for the Q&amp;A at the end of the segment.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on this slide. Do not read the cards — point at the HOW and WHY columns and say that the WHY column is what is being assessed. The full guidelines below go into the Teams chat, not onto the screen.</a:t>
            </a:r>
          </a:p>
          <a:p/>
          <a:p>
            <a:r>
              <a:t>Step 1 — Frame the topic and its learning outcomes (Gemini · Guided Learning, with ask-me-first, Daily Driver). In: A candidate topic, who the audience is, how long the presentation runs. Out: A topic statement, an audience profile, and three learning outcomes. Guidelines: Open Guided Learning and give it the ask-me-first prompt from Lesson 1 — before you answer, ask me what you need to know. Answer its questions. Make it reject any outcome that is not observable: “understand eligible costs” is not a learning outcome, “decide whether a cost is eligible and say why” is. Stop at three. Why this tool here: Guided Learning tutors instead of answering, so the outcomes come out of your head rather than the model's — and an outcome you did not write yourself cannot be taught. The topic is public, so this is Daily Driver work.</a:t>
            </a:r>
          </a:p>
          <a:p/>
          <a:p>
            <a:r>
              <a:t>Step 2 — Write the prompt set the chain runs on (Prompt Coach · Copilot Chat (Basic), Sensitive Lane). In: One draft ICC prompt per step still to come, plus step 1's outcomes. Out: A critiqued, task-specific prompt per step, saved under its step number. Guidelines: Paste one draft at a time and state the job — “this prompt will run against a 40-page PDF in Gemini and has to return an eligibility checklist”. Ask for a critique and an improved version; keep the improved one only if you can say what changed and why. Save each under its step number; that set is the blueprint's other half. Why this tool here: Lesson 1's meta-prompting as a packaged agent, coach persona included. A purpose-built prompt agent is not a general task, so the asymmetric rule holds — and nothing but prompts goes in.</a:t>
            </a:r>
          </a:p>
          <a:p/>
          <a:p>
            <a:r>
              <a:t>Step 3 — Collect the sources and clear them (Adobe Acrobat in Teams · Copilot Chat (Basic), Sensitive Lane). In: The PDFs your topic needs, gathered in one Teams channel. Out: One reviewed source set, each file marked cleared, anonymised or unusable. Guidelines: Put the PDFs in one Teams channel; read them in Acrobat's high-fidelity viewer; collect every reviewer comment in a single PDF instead of reconciling attachments. Run the Lesson 1 anonymisation checklist over each file and record, per file, cleared / anonymised / not usable. Free-to-use features only — converting, combining, reordering and compressing are premium, and the AI Assistant add-on is not licensed. Why this tool here: The gate the rest of the chain depends on. Acrobat is where institutional PDFs already are, the review runs in one thread, and clearance is decided once — here — instead of six times further down the chain.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on this slide. Do not read the cards — point at the HOW and WHY columns and say that the WHY column is what is being assessed. The full guidelines below go into the Teams chat, not onto the screen.</a:t>
            </a:r>
          </a:p>
          <a:p/>
          <a:p>
            <a:r>
              <a:t>Step 4 — Research what the sources do not cover (Gemini · Deep Research, Daily Driver). In: The coverage gap from step 3, written as one research question. Out: A cited briefing with a source list you can open, kept as a file. Guidelines: One question, not five. Ask for sources per claim, open at least three of them, and check they say what the briefing says. Keep the briefing as a file so step 5 can take it as a source. The free tier caps reports per month, so write the question before you spend one. Why this tool here: The gap is public knowledge, so it is Daily Driver work — and Deep Research reads more sources than you will and hands back citations you can trace. Verification is cheapest here: a bad claim caught now never reaches a slide.</a:t>
            </a:r>
          </a:p>
          <a:p/>
          <a:p>
            <a:r>
              <a:t>Step 5 — Aggregate everything into one grounded notebook (NotebookLM (Gemini Notebook), Daily Driver). In: The cleared sources, the briefing, and your own notes. Out: Answers that cite their source, and the list of what the presentation must cover. Guidelines: One notebook per topic. Add the cleared sources, the briefing and your own notes, then ask the coverage question — what does a newcomer need to know about this, and which source says it? Any answer without a citation gets dropped or re-sourced. Free-tier dependent: if notebooks are not available to you this fortnight, do the same with file upload in Gemini and say so in your blueprint. Why this tool here: The answer to “more context is not better context”: the notebook answers only from what you gave it and names the source, so every claim has an address. Grounding before drafting is what stops the next step inventing.</a:t>
            </a:r>
          </a:p>
          <a:p/>
          <a:p>
            <a:r>
              <a:t>Step 6 — Draft the outline against the outcomes (Gemini · a Gem, with file upload, long context and Canvas, Daily Driver). In: The three outcomes, the coverage list, the cleared sources. Out: A section-by-section outline, each section tagged with the outcome it serves. Guidelines: Build the Gem first — standing instructions from your Lesson 1 reverse prompt, the topic statement, the cleared sources as reference files. Then draft in Canvas and iterate section by section instead of regenerating the whole outline. Tag each section with the outcome it serves, and cut any section that serves none. Why this tool here: The Gem is the persistent, domain-aware workspace — that is Level 3, and it is why every later chat already knows the topic. Canvas keeps the draft editable in pieces, so an iteration costs one section, not the document.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on this slide. Do not read the cards — point at the HOW and WHY columns and say that the WHY column is what is being assessed. The full guidelines below go into the Teams chat, not onto the screen.</a:t>
            </a:r>
          </a:p>
          <a:p/>
          <a:p>
            <a:r>
              <a:t>Step 7 — Generate the section visuals (Gemini · image generation, Daily Driver). In: One outline section, plus a written description of the diagram it needs. Out: A diagram-style illustration for each section that needs one. Guidelines: Describe the relationship you want shown, not the picture — “three stages, each feeding the next, the middle one highlighted”. Generate, then read the labels: text inside generated images is often wrong, and the fix is to regenerate, not to patch. Not every section needs one; a good sentence beats a decorative image. Why this tool here: The visual has to serve the outcome, and making it is the cheapest way to find out whether it does. Public topic, no personal data in the description — Daily Driver, and nothing here goes near the Sensitive Lane.</a:t>
            </a:r>
          </a:p>
          <a:p/>
          <a:p>
            <a:r>
              <a:t>Step 8 — Turn the content into learning material (Study and Learn · Copilot Chat (Basic), Sensitive Lane). In: The outline, and the concepts each learning outcome depends on. Out: An explanation, a flashcard set and a five-question quiz per outcome. Guidelines: One outcome at a time. Ask for the explanation first and read it as a learner would, then flashcards on the terms, then the five-question quiz. Throw away any question that can be answered without having seen the presentation. Paste the result back into the outline as its own section. Requires a Microsoft 365 Education account; no Copilot licence is needed. Why this tool here: The step that makes the deliverable teach rather than tell. Study and Learn was built with learning scientists for explanation, practice and retrieval — the only tool in the course that produces the practice half of an outcome.</a:t>
            </a:r>
          </a:p>
          <a:p/>
          <a:p>
            <a:r>
              <a:t>Step 9 — Prototype the structure, cut the excerpt, build the deck (Canva (Teams app) → genspark.ai, Neither lane · cleared content only). In: The approved outline, the visuals, the learning material. Out: The finished presentation, and a short video excerpt for the opening. Guidelines: Prototype the page structure in Canva first and preview it in Teams, so a colleague can comment before any content is poured in; cut a 20–40 second video excerpt there for the opening. Then hand the approved prototype and the drafted content to genspark.ai and build the deck. Rehearse it out loud once — Gemini Live will listen and ask questions if you want an audience. Why this tool here: Separating structure from content is what stops a deck being rewritten twice. Both tools sit outside the institutional tenant, which is exactly why nothing that failed step 3's clearance goes into either.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 This is the answer to “what did this week get me?”, and it is worth stating because the answer is not “two more tools”.</a:t>
            </a:r>
          </a:p>
          <a:p/>
          <a:p>
            <a:r>
              <a:t>Point at the map, not at the slide's wording: they saw these rows in Lesson 1 and have not seen them since. Level 2 was last week — structured prompts, iteration, done. Level 3 is today, and the thing that earns it is the Gem, not the number of tools they now have accounts for. Be honest about the tense: they watched one built, and they are on Level 3 once they have their own — which is step 6 of the roadmap.</a:t>
            </a:r>
          </a:p>
          <a:p/>
          <a:p>
            <a:r>
              <a:t>Be precise about Level 4: the assignment does not reach it, it founds it. Orchestration is the right specialised tool per step, and the specialised tools arrive in Lessons 3 and 4 — NotebookLM, Perplexity. What the roadmap gives them is the habit of justifying the step, which is the part that does not come with a tool.</a:t>
            </a:r>
          </a:p>
          <a:p/>
          <a:p>
            <a:r>
              <a:t>Say the closing line as written if the room looks pleased with itself: nobody reaches a level by owning a tool.</a:t>
            </a:r>
          </a:p>
          <a:p/>
          <a:p>
            <a:r>
              <a:t>If someone asks where Levels 5–7 are, one sentence: Level 5 is Lesson 5's Agent Builder, and 6 and 7 are the final session's outlook. Do not open the map here.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 Set the effort expectation out loud: 3–4 hours across the two weeks, spread out, blueprint first. Anyone past four hours is polishing the presentation instead of writing the blueprint, and the blueprint is the assignment.</a:t>
            </a:r>
          </a:p>
          <a:p/>
          <a:p>
            <a:r>
              <a:t>Say the quota line, because somebody always asks whether nine steps is mandatory: it is not. Merging two steps or dropping one is fine and the justification for the change is worth more than the step was. What is not optional is the reasoning column.</a:t>
            </a:r>
          </a:p>
          <a:p/>
          <a:p>
            <a:r>
              <a:t>“Done” is three things and the middle one is the only one people remember. Read the first and third aloud — a blueprint with reasons in it, and an AI-use log. The log is the directive's transparency point, not bureaucracy: where AI was used, which tool, when, for what.</a:t>
            </a:r>
          </a:p>
          <a:p/>
          <a:p>
            <a:r>
              <a:t>Both venues, plainly. Practice Week 1's drop-in in W3 is optional and is the place for a half-built chain. The Lesson 3 debrief in W4 is where 2–3 volunteers present blueprint and presentation. Ask for tentative volunteers now, in the chat; a named volunteer arrives prepared.</a:t>
            </a:r>
          </a:p>
          <a:p/>
          <a:p>
            <a:r>
              <a:t>Anyone who did not finish: the drop-in, not an apology in the chat. Say it once, lightly.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 no new teaching, and then Q&amp;A on whatever is left.</a:t>
            </a:r>
          </a:p>
          <a:p/>
          <a:p>
            <a:r>
              <a:t>Practice Week 1 is next week and it is exactly what its name says: no new material, the session slot runs as an optional facilitated drop-in, and the reason it exists is that this course runs during office hours. Say that anyone stuck on a lane question or a half-built chain should come; anyone whose chain already runs does not have to.</a:t>
            </a:r>
          </a:p>
          <a:p/>
          <a:p>
            <a:r>
              <a:t>Lesson 3 in W4 is the payoff for the NotebookLM scenarios they just watched — the tool properly this time, Perplexity beside it for cited research, and the Wiki Sandbox, which is the first piece of the KM System they will still be building in Week 8.</a:t>
            </a:r>
          </a:p>
          <a:p/>
          <a:p>
            <a:r>
              <a:t>Go back to the roadmap slide for the questions, and post the blueprint and the Mermaid source in the chat before you close the meeting.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7" name="Footer Rule"/>
          <p:cNvSpPr/>
          <p:nvPr/>
        </p:nvSpPr>
        <p:spPr>
          <a:xfrm>
            <a:off x="548640" y="6473952"/>
            <a:ext cx="11091672" cy="1524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er Text"/>
          <p:cNvSpPr txBox="1"/>
          <p:nvPr/>
        </p:nvSpPr>
        <p:spPr>
          <a:xfrm>
            <a:off x="548640" y="6519672"/>
            <a:ext cx="11091672" cy="274320"/>
          </a:xfrm>
          <a:prstGeom prst="rect">
            <a:avLst/>
          </a:prstGeom>
          <a:noFill/>
        </p:spPr>
        <p:txBody>
          <a:bodyPr wrap="none" lIns="0" rIns="0" tIns="0" bIns="0">
            <a:spAutoFit/>
          </a:bodyPr>
          <a:lstStyle/>
          <a:p>
            <a:r>
              <a:rPr sz="1000" b="0" i="0">
                <a:solidFill>
                  <a:srgbClr val="6B747D"/>
                </a:solidFill>
                <a:latin typeface="Calibri"/>
              </a:rPr>
              <a:t>AI for Research Management · Lesson 2 · Week 2</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3429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429000"/>
            <a:ext cx="320040" cy="34290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463040"/>
            <a:ext cx="10332720" cy="457200"/>
          </a:xfrm>
          <a:prstGeom prst="rect">
            <a:avLst/>
          </a:prstGeom>
          <a:noFill/>
        </p:spPr>
        <p:txBody>
          <a:bodyPr wrap="square">
            <a:spAutoFit/>
          </a:bodyPr>
          <a:lstStyle/>
          <a:p>
            <a:pPr algn="l"/>
            <a:r>
              <a:rPr sz="1400" b="1" i="0">
                <a:solidFill>
                  <a:srgbClr val="3E4C59"/>
                </a:solidFill>
                <a:latin typeface="Calibri"/>
              </a:rPr>
              <a:t>AI FOR RESEARCH MANAGEMENT</a:t>
            </a:r>
          </a:p>
        </p:txBody>
      </p:sp>
      <p:sp>
        <p:nvSpPr>
          <p:cNvPr id="5" name="Rectangle 4"/>
          <p:cNvSpPr/>
          <p:nvPr/>
        </p:nvSpPr>
        <p:spPr>
          <a:xfrm>
            <a:off x="1005840" y="1965960"/>
            <a:ext cx="1097280" cy="25400"/>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94560"/>
            <a:ext cx="10332720" cy="2011680"/>
          </a:xfrm>
          <a:prstGeom prst="rect">
            <a:avLst/>
          </a:prstGeom>
          <a:noFill/>
        </p:spPr>
        <p:txBody>
          <a:bodyPr wrap="square">
            <a:spAutoFit/>
          </a:bodyPr>
          <a:lstStyle/>
          <a:p>
            <a:pPr algn="l"/>
            <a:r>
              <a:rPr sz="4400" b="1" i="0">
                <a:solidFill>
                  <a:srgbClr val="1C242B"/>
                </a:solidFill>
                <a:latin typeface="Cambria"/>
              </a:rPr>
              <a:t>Lesson 2 — The Two-Lane Tool Landscape</a:t>
            </a:r>
          </a:p>
        </p:txBody>
      </p:sp>
      <p:sp>
        <p:nvSpPr>
          <p:cNvPr id="7" name="TextBox 6"/>
          <p:cNvSpPr txBox="1"/>
          <p:nvPr/>
        </p:nvSpPr>
        <p:spPr>
          <a:xfrm>
            <a:off x="1005840" y="4389120"/>
            <a:ext cx="10332720" cy="457200"/>
          </a:xfrm>
          <a:prstGeom prst="rect">
            <a:avLst/>
          </a:prstGeom>
          <a:noFill/>
        </p:spPr>
        <p:txBody>
          <a:bodyPr wrap="square">
            <a:spAutoFit/>
          </a:bodyPr>
          <a:lstStyle/>
          <a:p>
            <a:pPr algn="l"/>
            <a:r>
              <a:rPr sz="1600" b="0" i="0">
                <a:solidFill>
                  <a:srgbClr val="6B747D"/>
                </a:solidFill>
                <a:latin typeface="Calibri"/>
              </a:rPr>
              <a:t>Week 2 · Teaching Session · 60 minutes · Online via Teams</a:t>
            </a:r>
          </a:p>
        </p:txBody>
      </p:sp>
      <p:sp>
        <p:nvSpPr>
          <p:cNvPr id="8" name="Rectangle 7"/>
          <p:cNvSpPr/>
          <p:nvPr/>
        </p:nvSpPr>
        <p:spPr>
          <a:xfrm>
            <a:off x="1005840" y="5212080"/>
            <a:ext cx="164592" cy="164592"/>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80160" y="5120640"/>
            <a:ext cx="4572000" cy="365760"/>
          </a:xfrm>
          <a:prstGeom prst="rect">
            <a:avLst/>
          </a:prstGeom>
          <a:noFill/>
        </p:spPr>
        <p:txBody>
          <a:bodyPr wrap="square">
            <a:spAutoFit/>
          </a:bodyPr>
          <a:lstStyle/>
          <a:p>
            <a:pPr algn="l"/>
            <a:r>
              <a:rPr sz="1200" b="0" i="0">
                <a:solidFill>
                  <a:srgbClr val="2A333B"/>
                </a:solidFill>
                <a:latin typeface="Calibri"/>
              </a:rPr>
              <a:t>Sensitive Lane · Copilot Chat (Basic)</a:t>
            </a:r>
          </a:p>
        </p:txBody>
      </p:sp>
      <p:sp>
        <p:nvSpPr>
          <p:cNvPr id="10" name="Rectangle 9"/>
          <p:cNvSpPr/>
          <p:nvPr/>
        </p:nvSpPr>
        <p:spPr>
          <a:xfrm>
            <a:off x="6126479" y="5212080"/>
            <a:ext cx="164592" cy="16459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799" y="5120640"/>
            <a:ext cx="4572000" cy="365760"/>
          </a:xfrm>
          <a:prstGeom prst="rect">
            <a:avLst/>
          </a:prstGeom>
          <a:noFill/>
        </p:spPr>
        <p:txBody>
          <a:bodyPr wrap="square">
            <a:spAutoFit/>
          </a:bodyPr>
          <a:lstStyle/>
          <a:p>
            <a:pPr algn="l"/>
            <a:r>
              <a:rPr sz="1200" b="0" i="0">
                <a:solidFill>
                  <a:srgbClr val="2A333B"/>
                </a:solidFill>
                <a:latin typeface="Calibri"/>
              </a:rPr>
              <a:t>Daily Driver · Google Gemini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0" cy="635508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0" b="1" i="0">
                <a:solidFill>
                  <a:srgbClr val="FFFFFF"/>
                </a:solidFill>
                <a:latin typeface="Cambria"/>
              </a:rPr>
              <a:t>1</a:t>
            </a:r>
          </a:p>
        </p:txBody>
      </p:sp>
      <p:sp>
        <p:nvSpPr>
          <p:cNvPr id="3" name="TextBox 2"/>
          <p:cNvSpPr txBox="1"/>
          <p:nvPr/>
        </p:nvSpPr>
        <p:spPr>
          <a:xfrm>
            <a:off x="3474720" y="1920240"/>
            <a:ext cx="8138160" cy="1371600"/>
          </a:xfrm>
          <a:prstGeom prst="rect">
            <a:avLst/>
          </a:prstGeom>
          <a:noFill/>
        </p:spPr>
        <p:txBody>
          <a:bodyPr wrap="square" anchor="b">
            <a:spAutoFit/>
          </a:bodyPr>
          <a:lstStyle/>
          <a:p>
            <a:pPr algn="l"/>
            <a:r>
              <a:rPr sz="3400" b="1" i="0">
                <a:solidFill>
                  <a:srgbClr val="1C242B"/>
                </a:solidFill>
                <a:latin typeface="Cambria"/>
              </a:rPr>
              <a:t>Recap + assignment debrief</a:t>
            </a:r>
          </a:p>
        </p:txBody>
      </p:sp>
      <p:sp>
        <p:nvSpPr>
          <p:cNvPr id="4" name="Rectangle 3"/>
          <p:cNvSpPr/>
          <p:nvPr/>
        </p:nvSpPr>
        <p:spPr>
          <a:xfrm>
            <a:off x="3474720" y="3401568"/>
            <a:ext cx="1097280" cy="3175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0" y="3566160"/>
            <a:ext cx="8138160" cy="457200"/>
          </a:xfrm>
          <a:prstGeom prst="rect">
            <a:avLst/>
          </a:prstGeom>
          <a:noFill/>
        </p:spPr>
        <p:txBody>
          <a:bodyPr wrap="square">
            <a:spAutoFit/>
          </a:bodyPr>
          <a:lstStyle/>
          <a:p>
            <a:pPr algn="l"/>
            <a:r>
              <a:rPr sz="1800" b="1" i="0">
                <a:solidFill>
                  <a:srgbClr val="3E4C59"/>
                </a:solidFill>
                <a:latin typeface="Calibri"/>
              </a:rPr>
              <a:t>15 min · Participant demos, facilitated</a:t>
            </a:r>
          </a:p>
        </p:txBody>
      </p:sp>
      <p:sp>
        <p:nvSpPr>
          <p:cNvPr id="6" name="TextBox 5"/>
          <p:cNvSpPr txBox="1"/>
          <p:nvPr/>
        </p:nvSpPr>
        <p:spPr>
          <a:xfrm>
            <a:off x="3474720" y="4023360"/>
            <a:ext cx="8138160" cy="365760"/>
          </a:xfrm>
          <a:prstGeom prst="rect">
            <a:avLst/>
          </a:prstGeom>
          <a:noFill/>
        </p:spPr>
        <p:txBody>
          <a:bodyPr wrap="square">
            <a:spAutoFit/>
          </a:bodyPr>
          <a:lstStyle/>
          <a:p>
            <a:pPr algn="l"/>
            <a:r>
              <a:rPr sz="1200" b="0" i="0">
                <a:solidFill>
                  <a:srgbClr val="6B747D"/>
                </a:solidFill>
                <a:latin typeface="Calibri"/>
              </a:rPr>
              <a:t>Segment 1 of 5</a:t>
            </a:r>
          </a:p>
        </p:txBody>
      </p:sp>
      <p:sp>
        <p:nvSpPr>
          <p:cNvPr id="7" name="Rectangle 6"/>
          <p:cNvSpPr/>
          <p:nvPr/>
        </p:nvSpPr>
        <p:spPr>
          <a:xfrm>
            <a:off x="3474720" y="5989320"/>
            <a:ext cx="502920" cy="73152"/>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605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8463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321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Lesson 1 → Lesson 2: the recap map</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88720"/>
            <a:ext cx="4160520" cy="365760"/>
          </a:xfrm>
          <a:prstGeom prst="rect">
            <a:avLst/>
          </a:prstGeom>
          <a:noFill/>
        </p:spPr>
        <p:txBody>
          <a:bodyPr wrap="square">
            <a:spAutoFit/>
          </a:bodyPr>
          <a:lstStyle/>
          <a:p>
            <a:pPr algn="l"/>
            <a:r>
              <a:rPr sz="1100" b="0" i="0">
                <a:solidFill>
                  <a:srgbClr val="6B747D"/>
                </a:solidFill>
                <a:latin typeface="Calibri"/>
              </a:rPr>
              <a:t>FROM LESSON 1</a:t>
            </a:r>
          </a:p>
        </p:txBody>
      </p:sp>
      <p:sp>
        <p:nvSpPr>
          <p:cNvPr id="6" name="TextBox 5"/>
          <p:cNvSpPr txBox="1"/>
          <p:nvPr/>
        </p:nvSpPr>
        <p:spPr>
          <a:xfrm>
            <a:off x="5166360" y="1188720"/>
            <a:ext cx="6473952" cy="365760"/>
          </a:xfrm>
          <a:prstGeom prst="rect">
            <a:avLst/>
          </a:prstGeom>
          <a:noFill/>
        </p:spPr>
        <p:txBody>
          <a:bodyPr wrap="square">
            <a:spAutoFit/>
          </a:bodyPr>
          <a:lstStyle/>
          <a:p>
            <a:pPr algn="l"/>
            <a:r>
              <a:rPr sz="1100" b="0" i="0">
                <a:solidFill>
                  <a:srgbClr val="6B747D"/>
                </a:solidFill>
                <a:latin typeface="Calibri"/>
              </a:rPr>
              <a:t>LEADS INTO TODAY</a:t>
            </a:r>
          </a:p>
        </p:txBody>
      </p:sp>
      <p:sp>
        <p:nvSpPr>
          <p:cNvPr id="7" name="Rectangle 6"/>
          <p:cNvSpPr/>
          <p:nvPr/>
        </p:nvSpPr>
        <p:spPr>
          <a:xfrm>
            <a:off x="548640" y="1536192"/>
            <a:ext cx="416052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200" b="1" i="0">
                <a:solidFill>
                  <a:srgbClr val="1C242B"/>
                </a:solidFill>
                <a:latin typeface="Calibri"/>
              </a:rPr>
              <a:t>The 7 Levels — Level 2 (Prompt Crafter), done in the Lesson 1 assignment</a:t>
            </a:r>
          </a:p>
        </p:txBody>
      </p:sp>
      <p:sp>
        <p:nvSpPr>
          <p:cNvPr id="8" name="Rectangle 7"/>
          <p:cNvSpPr/>
          <p:nvPr/>
        </p:nvSpPr>
        <p:spPr>
          <a:xfrm>
            <a:off x="548640" y="1536192"/>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28032" y="1645919"/>
            <a:ext cx="274320" cy="365760"/>
          </a:xfrm>
          <a:prstGeom prst="rect">
            <a:avLst/>
          </a:prstGeom>
          <a:noFill/>
        </p:spPr>
        <p:txBody>
          <a:bodyPr wrap="square">
            <a:spAutoFit/>
          </a:bodyPr>
          <a:lstStyle/>
          <a:p>
            <a:pPr algn="ctr"/>
            <a:r>
              <a:rPr sz="1500" b="0" i="0">
                <a:solidFill>
                  <a:srgbClr val="6B747D"/>
                </a:solidFill>
                <a:latin typeface="Calibri"/>
              </a:rPr>
              <a:t>→</a:t>
            </a:r>
          </a:p>
        </p:txBody>
      </p:sp>
      <p:sp>
        <p:nvSpPr>
          <p:cNvPr id="10" name="Rectangle 9"/>
          <p:cNvSpPr/>
          <p:nvPr/>
        </p:nvSpPr>
        <p:spPr>
          <a:xfrm>
            <a:off x="5166360" y="1536192"/>
            <a:ext cx="6473952"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100" b="0" i="0">
                <a:solidFill>
                  <a:srgbClr val="2A333B"/>
                </a:solidFill>
                <a:latin typeface="Calibri"/>
              </a:rPr>
              <a:t>Level 3 (Power User) is today's target — persistent context via Gems; the assignment lays the foundation for Level 4 (Tool Orchestrator)</a:t>
            </a:r>
            <a:r>
              <a:rPr sz="1100" b="1" i="0">
                <a:solidFill>
                  <a:srgbClr val="3E4C59"/>
                </a:solidFill>
                <a:latin typeface="Calibri"/>
              </a:rPr>
              <a:t>  ·  Segment 4</a:t>
            </a:r>
          </a:p>
        </p:txBody>
      </p:sp>
      <p:sp>
        <p:nvSpPr>
          <p:cNvPr id="11" name="Rectangle 10"/>
          <p:cNvSpPr/>
          <p:nvPr/>
        </p:nvSpPr>
        <p:spPr>
          <a:xfrm>
            <a:off x="5166360" y="1536192"/>
            <a:ext cx="82296" cy="566928"/>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416052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200" b="1" i="0">
                <a:solidFill>
                  <a:srgbClr val="1C242B"/>
                </a:solidFill>
                <a:latin typeface="Calibri"/>
              </a:rPr>
              <a:t>ICC prompting and the four patterns (persona, example-driven, step-by-step, critique-then-improve)</a:t>
            </a:r>
          </a:p>
        </p:txBody>
      </p:sp>
      <p:sp>
        <p:nvSpPr>
          <p:cNvPr id="13" name="Rectangle 12"/>
          <p:cNvSpPr/>
          <p:nvPr/>
        </p:nvSpPr>
        <p:spPr>
          <a:xfrm>
            <a:off x="548640" y="2176272"/>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28032" y="2286000"/>
            <a:ext cx="274320" cy="365760"/>
          </a:xfrm>
          <a:prstGeom prst="rect">
            <a:avLst/>
          </a:prstGeom>
          <a:noFill/>
        </p:spPr>
        <p:txBody>
          <a:bodyPr wrap="square">
            <a:spAutoFit/>
          </a:bodyPr>
          <a:lstStyle/>
          <a:p>
            <a:pPr algn="ctr"/>
            <a:r>
              <a:rPr sz="1500" b="0" i="0">
                <a:solidFill>
                  <a:srgbClr val="6B747D"/>
                </a:solidFill>
                <a:latin typeface="Calibri"/>
              </a:rPr>
              <a:t>→</a:t>
            </a:r>
          </a:p>
        </p:txBody>
      </p:sp>
      <p:sp>
        <p:nvSpPr>
          <p:cNvPr id="15" name="Rectangle 14"/>
          <p:cNvSpPr/>
          <p:nvPr/>
        </p:nvSpPr>
        <p:spPr>
          <a:xfrm>
            <a:off x="5166360" y="2176272"/>
            <a:ext cx="6473952"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100" b="0" i="0">
                <a:solidFill>
                  <a:srgbClr val="2A333B"/>
                </a:solidFill>
                <a:latin typeface="Calibri"/>
              </a:rPr>
              <a:t>The same prompts run in both lanes — the lane decides where a prompt goes, not how it is written; Prompt Coach checks them</a:t>
            </a:r>
            <a:r>
              <a:rPr sz="1100" b="1" i="0">
                <a:solidFill>
                  <a:srgbClr val="3E4C59"/>
                </a:solidFill>
                <a:latin typeface="Calibri"/>
              </a:rPr>
              <a:t>  ·  Segments 3 · 4</a:t>
            </a:r>
          </a:p>
        </p:txBody>
      </p:sp>
      <p:sp>
        <p:nvSpPr>
          <p:cNvPr id="16" name="Rectangle 15"/>
          <p:cNvSpPr/>
          <p:nvPr/>
        </p:nvSpPr>
        <p:spPr>
          <a:xfrm>
            <a:off x="5166360" y="2176272"/>
            <a:ext cx="82296" cy="566928"/>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16352"/>
            <a:ext cx="416052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200" b="1" i="0">
                <a:solidFill>
                  <a:srgbClr val="1C242B"/>
                </a:solidFill>
                <a:latin typeface="Calibri"/>
              </a:rPr>
              <a:t>Ask-me-first and reverse prompt</a:t>
            </a:r>
          </a:p>
        </p:txBody>
      </p:sp>
      <p:sp>
        <p:nvSpPr>
          <p:cNvPr id="18" name="Rectangle 17"/>
          <p:cNvSpPr/>
          <p:nvPr/>
        </p:nvSpPr>
        <p:spPr>
          <a:xfrm>
            <a:off x="548640" y="2816352"/>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28032" y="2926080"/>
            <a:ext cx="274320" cy="365760"/>
          </a:xfrm>
          <a:prstGeom prst="rect">
            <a:avLst/>
          </a:prstGeom>
          <a:noFill/>
        </p:spPr>
        <p:txBody>
          <a:bodyPr wrap="square">
            <a:spAutoFit/>
          </a:bodyPr>
          <a:lstStyle/>
          <a:p>
            <a:pPr algn="ctr"/>
            <a:r>
              <a:rPr sz="1500" b="0" i="0">
                <a:solidFill>
                  <a:srgbClr val="6B747D"/>
                </a:solidFill>
                <a:latin typeface="Calibri"/>
              </a:rPr>
              <a:t>→</a:t>
            </a:r>
          </a:p>
        </p:txBody>
      </p:sp>
      <p:sp>
        <p:nvSpPr>
          <p:cNvPr id="20" name="Rectangle 19"/>
          <p:cNvSpPr/>
          <p:nvPr/>
        </p:nvSpPr>
        <p:spPr>
          <a:xfrm>
            <a:off x="5166360" y="2816352"/>
            <a:ext cx="6473952"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100" b="0" i="0">
                <a:solidFill>
                  <a:srgbClr val="2A333B"/>
                </a:solidFill>
                <a:latin typeface="Calibri"/>
              </a:rPr>
              <a:t>Reverse prompts become a Gem's standing instructions</a:t>
            </a:r>
            <a:r>
              <a:rPr sz="1100" b="1" i="0">
                <a:solidFill>
                  <a:srgbClr val="3E4C59"/>
                </a:solidFill>
                <a:latin typeface="Calibri"/>
              </a:rPr>
              <a:t>  ·  Segment 4</a:t>
            </a:r>
          </a:p>
        </p:txBody>
      </p:sp>
      <p:sp>
        <p:nvSpPr>
          <p:cNvPr id="21" name="Rectangle 20"/>
          <p:cNvSpPr/>
          <p:nvPr/>
        </p:nvSpPr>
        <p:spPr>
          <a:xfrm>
            <a:off x="5166360" y="2816352"/>
            <a:ext cx="82296" cy="566928"/>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456432"/>
            <a:ext cx="416052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200" b="1" i="0">
                <a:solidFill>
                  <a:srgbClr val="1C242B"/>
                </a:solidFill>
                <a:latin typeface="Calibri"/>
              </a:rPr>
              <a:t>Meta-prompting</a:t>
            </a:r>
          </a:p>
        </p:txBody>
      </p:sp>
      <p:sp>
        <p:nvSpPr>
          <p:cNvPr id="23" name="Rectangle 22"/>
          <p:cNvSpPr/>
          <p:nvPr/>
        </p:nvSpPr>
        <p:spPr>
          <a:xfrm>
            <a:off x="548640" y="3456432"/>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28032" y="3566160"/>
            <a:ext cx="274320" cy="365760"/>
          </a:xfrm>
          <a:prstGeom prst="rect">
            <a:avLst/>
          </a:prstGeom>
          <a:noFill/>
        </p:spPr>
        <p:txBody>
          <a:bodyPr wrap="square">
            <a:spAutoFit/>
          </a:bodyPr>
          <a:lstStyle/>
          <a:p>
            <a:pPr algn="ctr"/>
            <a:r>
              <a:rPr sz="1500" b="0" i="0">
                <a:solidFill>
                  <a:srgbClr val="6B747D"/>
                </a:solidFill>
                <a:latin typeface="Calibri"/>
              </a:rPr>
              <a:t>→</a:t>
            </a:r>
          </a:p>
        </p:txBody>
      </p:sp>
      <p:sp>
        <p:nvSpPr>
          <p:cNvPr id="25" name="Rectangle 24"/>
          <p:cNvSpPr/>
          <p:nvPr/>
        </p:nvSpPr>
        <p:spPr>
          <a:xfrm>
            <a:off x="5166360" y="3456432"/>
            <a:ext cx="6473952"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100" b="0" i="0">
                <a:solidFill>
                  <a:srgbClr val="2A333B"/>
                </a:solidFill>
                <a:latin typeface="Calibri"/>
              </a:rPr>
              <a:t>Prompt Coach — meta-prompting as a packaged agent</a:t>
            </a:r>
            <a:r>
              <a:rPr sz="1100" b="1" i="0">
                <a:solidFill>
                  <a:srgbClr val="3E4C59"/>
                </a:solidFill>
                <a:latin typeface="Calibri"/>
              </a:rPr>
              <a:t>  ·  Segment 3</a:t>
            </a:r>
          </a:p>
        </p:txBody>
      </p:sp>
      <p:sp>
        <p:nvSpPr>
          <p:cNvPr id="26" name="Rectangle 25"/>
          <p:cNvSpPr/>
          <p:nvPr/>
        </p:nvSpPr>
        <p:spPr>
          <a:xfrm>
            <a:off x="5166360" y="3456432"/>
            <a:ext cx="82296" cy="566928"/>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096512"/>
            <a:ext cx="416052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200" b="1" i="0">
                <a:solidFill>
                  <a:srgbClr val="1C242B"/>
                </a:solidFill>
                <a:latin typeface="Calibri"/>
              </a:rPr>
              <a:t>The two rules from the Lesson 1 demo — the publish test for Gemini; verify before use</a:t>
            </a:r>
          </a:p>
        </p:txBody>
      </p:sp>
      <p:sp>
        <p:nvSpPr>
          <p:cNvPr id="28" name="Rectangle 27"/>
          <p:cNvSpPr/>
          <p:nvPr/>
        </p:nvSpPr>
        <p:spPr>
          <a:xfrm>
            <a:off x="548640" y="4096512"/>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28032" y="4206240"/>
            <a:ext cx="274320" cy="365760"/>
          </a:xfrm>
          <a:prstGeom prst="rect">
            <a:avLst/>
          </a:prstGeom>
          <a:noFill/>
        </p:spPr>
        <p:txBody>
          <a:bodyPr wrap="square">
            <a:spAutoFit/>
          </a:bodyPr>
          <a:lstStyle/>
          <a:p>
            <a:pPr algn="ctr"/>
            <a:r>
              <a:rPr sz="1500" b="0" i="0">
                <a:solidFill>
                  <a:srgbClr val="6B747D"/>
                </a:solidFill>
                <a:latin typeface="Calibri"/>
              </a:rPr>
              <a:t>→</a:t>
            </a:r>
          </a:p>
        </p:txBody>
      </p:sp>
      <p:sp>
        <p:nvSpPr>
          <p:cNvPr id="30" name="Rectangle 29"/>
          <p:cNvSpPr/>
          <p:nvPr/>
        </p:nvSpPr>
        <p:spPr>
          <a:xfrm>
            <a:off x="5166360" y="4096512"/>
            <a:ext cx="6473952"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100" b="0" i="0">
                <a:solidFill>
                  <a:srgbClr val="2A333B"/>
                </a:solidFill>
                <a:latin typeface="Calibri"/>
              </a:rPr>
              <a:t>The first becomes the full two-lane rule; the second, the directive's “critical checking of every output”</a:t>
            </a:r>
            <a:r>
              <a:rPr sz="1100" b="1" i="0">
                <a:solidFill>
                  <a:srgbClr val="3E4C59"/>
                </a:solidFill>
                <a:latin typeface="Calibri"/>
              </a:rPr>
              <a:t>  ·  Segment 2</a:t>
            </a:r>
          </a:p>
        </p:txBody>
      </p:sp>
      <p:sp>
        <p:nvSpPr>
          <p:cNvPr id="31" name="Rectangle 30"/>
          <p:cNvSpPr/>
          <p:nvPr/>
        </p:nvSpPr>
        <p:spPr>
          <a:xfrm>
            <a:off x="5166360" y="4096512"/>
            <a:ext cx="82296" cy="566928"/>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48640" y="4736592"/>
            <a:ext cx="416052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200" b="1" i="0">
                <a:solidFill>
                  <a:srgbClr val="1C242B"/>
                </a:solidFill>
                <a:latin typeface="Calibri"/>
              </a:rPr>
              <a:t>The anonymise-or-fictional Anchor Project rule</a:t>
            </a:r>
          </a:p>
        </p:txBody>
      </p:sp>
      <p:sp>
        <p:nvSpPr>
          <p:cNvPr id="33" name="Rectangle 32"/>
          <p:cNvSpPr/>
          <p:nvPr/>
        </p:nvSpPr>
        <p:spPr>
          <a:xfrm>
            <a:off x="548640" y="4736592"/>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28032" y="4846320"/>
            <a:ext cx="274320" cy="365760"/>
          </a:xfrm>
          <a:prstGeom prst="rect">
            <a:avLst/>
          </a:prstGeom>
          <a:noFill/>
        </p:spPr>
        <p:txBody>
          <a:bodyPr wrap="square">
            <a:spAutoFit/>
          </a:bodyPr>
          <a:lstStyle/>
          <a:p>
            <a:pPr algn="ctr"/>
            <a:r>
              <a:rPr sz="1500" b="0" i="0">
                <a:solidFill>
                  <a:srgbClr val="6B747D"/>
                </a:solidFill>
                <a:latin typeface="Calibri"/>
              </a:rPr>
              <a:t>→</a:t>
            </a:r>
          </a:p>
        </p:txBody>
      </p:sp>
      <p:sp>
        <p:nvSpPr>
          <p:cNvPr id="35" name="Rectangle 34"/>
          <p:cNvSpPr/>
          <p:nvPr/>
        </p:nvSpPr>
        <p:spPr>
          <a:xfrm>
            <a:off x="5166360" y="4736592"/>
            <a:ext cx="6473952"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100" b="0" i="0">
                <a:solidFill>
                  <a:srgbClr val="2A333B"/>
                </a:solidFill>
                <a:latin typeface="Calibri"/>
              </a:rPr>
              <a:t>The institutional anonymise-before-upload rule for documents; the routing test in the assignment</a:t>
            </a:r>
            <a:r>
              <a:rPr sz="1100" b="1" i="0">
                <a:solidFill>
                  <a:srgbClr val="3E4C59"/>
                </a:solidFill>
                <a:latin typeface="Calibri"/>
              </a:rPr>
              <a:t>  ·  Segments 2 · 5</a:t>
            </a:r>
          </a:p>
        </p:txBody>
      </p:sp>
      <p:sp>
        <p:nvSpPr>
          <p:cNvPr id="36" name="Rectangle 35"/>
          <p:cNvSpPr/>
          <p:nvPr/>
        </p:nvSpPr>
        <p:spPr>
          <a:xfrm>
            <a:off x="5166360" y="4736592"/>
            <a:ext cx="82296" cy="566928"/>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 y="5376672"/>
            <a:ext cx="416052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200" b="1" i="0">
                <a:solidFill>
                  <a:srgbClr val="1C242B"/>
                </a:solidFill>
                <a:latin typeface="Calibri"/>
              </a:rPr>
              <a:t>Context window and “more context is not better context”</a:t>
            </a:r>
          </a:p>
        </p:txBody>
      </p:sp>
      <p:sp>
        <p:nvSpPr>
          <p:cNvPr id="38" name="Rectangle 37"/>
          <p:cNvSpPr/>
          <p:nvPr/>
        </p:nvSpPr>
        <p:spPr>
          <a:xfrm>
            <a:off x="548640" y="5376672"/>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828032" y="5486400"/>
            <a:ext cx="274320" cy="365760"/>
          </a:xfrm>
          <a:prstGeom prst="rect">
            <a:avLst/>
          </a:prstGeom>
          <a:noFill/>
        </p:spPr>
        <p:txBody>
          <a:bodyPr wrap="square">
            <a:spAutoFit/>
          </a:bodyPr>
          <a:lstStyle/>
          <a:p>
            <a:pPr algn="ctr"/>
            <a:r>
              <a:rPr sz="1500" b="0" i="0">
                <a:solidFill>
                  <a:srgbClr val="6B747D"/>
                </a:solidFill>
                <a:latin typeface="Calibri"/>
              </a:rPr>
              <a:t>→</a:t>
            </a:r>
          </a:p>
        </p:txBody>
      </p:sp>
      <p:sp>
        <p:nvSpPr>
          <p:cNvPr id="40" name="Rectangle 39"/>
          <p:cNvSpPr/>
          <p:nvPr/>
        </p:nvSpPr>
        <p:spPr>
          <a:xfrm>
            <a:off x="5166360" y="5376672"/>
            <a:ext cx="6473952"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100" b="0" i="0">
                <a:solidFill>
                  <a:srgbClr val="2A333B"/>
                </a:solidFill>
                <a:latin typeface="Calibri"/>
              </a:rPr>
              <a:t>Why file upload and long context need curation; why NotebookLM's source grounding exists</a:t>
            </a:r>
            <a:r>
              <a:rPr sz="1100" b="1" i="0">
                <a:solidFill>
                  <a:srgbClr val="3E4C59"/>
                </a:solidFill>
                <a:latin typeface="Calibri"/>
              </a:rPr>
              <a:t>  ·  Segment 4 · Lesson 3 preview</a:t>
            </a:r>
          </a:p>
        </p:txBody>
      </p:sp>
      <p:sp>
        <p:nvSpPr>
          <p:cNvPr id="41" name="Rectangle 40"/>
          <p:cNvSpPr/>
          <p:nvPr/>
        </p:nvSpPr>
        <p:spPr>
          <a:xfrm>
            <a:off x="5166360" y="5376672"/>
            <a:ext cx="82296" cy="566928"/>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5961888"/>
            <a:ext cx="11091672" cy="365760"/>
          </a:xfrm>
          <a:prstGeom prst="rect">
            <a:avLst/>
          </a:prstGeom>
          <a:noFill/>
        </p:spPr>
        <p:txBody>
          <a:bodyPr wrap="square">
            <a:spAutoFit/>
          </a:bodyPr>
          <a:lstStyle/>
          <a:p>
            <a:pPr algn="l"/>
            <a:r>
              <a:rPr sz="1100" b="0" i="1">
                <a:solidFill>
                  <a:srgbClr val="6B747D"/>
                </a:solidFill>
                <a:latin typeface="Calibri"/>
              </a:rPr>
              <a:t>Reference only — the Lesson 1 deck carries the explanations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Assignment debrief — the next 12 minutes</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353312"/>
            <a:ext cx="11091672" cy="621792"/>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800" b="1" i="0">
                <a:solidFill>
                  <a:srgbClr val="FFFFFF"/>
                </a:solidFill>
                <a:latin typeface="Cambria"/>
              </a:rPr>
              <a:t>2–3 volunteers  ·  4 minutes each, questions included  ·  screen-shared from your own Gemini</a:t>
            </a:r>
          </a:p>
        </p:txBody>
      </p:sp>
      <p:sp>
        <p:nvSpPr>
          <p:cNvPr id="6" name="TextBox 5"/>
          <p:cNvSpPr txBox="1"/>
          <p:nvPr/>
        </p:nvSpPr>
        <p:spPr>
          <a:xfrm>
            <a:off x="548640" y="2029968"/>
            <a:ext cx="11091672" cy="365760"/>
          </a:xfrm>
          <a:prstGeom prst="rect">
            <a:avLst/>
          </a:prstGeom>
          <a:noFill/>
        </p:spPr>
        <p:txBody>
          <a:bodyPr wrap="square">
            <a:spAutoFit/>
          </a:bodyPr>
          <a:lstStyle/>
          <a:p>
            <a:pPr algn="l"/>
            <a:r>
              <a:rPr sz="1300" b="0" i="0">
                <a:solidFill>
                  <a:srgbClr val="6B747D"/>
                </a:solidFill>
                <a:latin typeface="Calibri"/>
              </a:rPr>
              <a:t>Shown in this order — the four items of the Lesson 1 assignment, one facilitator question each</a:t>
            </a:r>
          </a:p>
        </p:txBody>
      </p:sp>
      <p:sp>
        <p:nvSpPr>
          <p:cNvPr id="7" name="Rectangle 6"/>
          <p:cNvSpPr/>
          <p:nvPr/>
        </p:nvSpPr>
        <p:spPr>
          <a:xfrm>
            <a:off x="548640" y="2395728"/>
            <a:ext cx="457200" cy="4572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800" b="1" i="0">
                <a:solidFill>
                  <a:srgbClr val="FFFFFF"/>
                </a:solidFill>
                <a:latin typeface="Cambria"/>
              </a:rPr>
              <a:t>1</a:t>
            </a:r>
          </a:p>
        </p:txBody>
      </p:sp>
      <p:sp>
        <p:nvSpPr>
          <p:cNvPr id="8" name="Rectangle 7"/>
          <p:cNvSpPr/>
          <p:nvPr/>
        </p:nvSpPr>
        <p:spPr>
          <a:xfrm>
            <a:off x="548640" y="2962656"/>
            <a:ext cx="2606040" cy="201168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237744"/>
          <a:lstStyle/>
          <a:p>
            <a:pPr algn="l"/>
            <a:r>
              <a:rPr sz="1800" b="1" i="0">
                <a:solidFill>
                  <a:srgbClr val="1C242B"/>
                </a:solidFill>
                <a:latin typeface="Cambria"/>
              </a:rPr>
              <a:t>Anchor Project description</a:t>
            </a:r>
          </a:p>
          <a:p>
            <a:pPr algn="l">
              <a:spcBef>
                <a:spcPts val="400"/>
              </a:spcBef>
            </a:pPr>
            <a:r>
              <a:rPr sz="1400" b="0" i="0">
                <a:solidFill>
                  <a:srgbClr val="2A333B"/>
                </a:solidFill>
                <a:latin typeface="Calibri"/>
              </a:rPr>
              <a:t>five sentences</a:t>
            </a:r>
          </a:p>
          <a:p>
            <a:pPr>
              <a:spcBef>
                <a:spcPts val="1000"/>
              </a:spcBef>
            </a:pPr>
            <a:r>
              <a:rPr sz="1200" b="0" i="1">
                <a:solidFill>
                  <a:srgbClr val="3E4C59"/>
                </a:solidFill>
                <a:latin typeface="Calibri"/>
              </a:rPr>
              <a:t>“What did you anonymise or invent?”</a:t>
            </a:r>
          </a:p>
        </p:txBody>
      </p:sp>
      <p:sp>
        <p:nvSpPr>
          <p:cNvPr id="9" name="Rectangle 8"/>
          <p:cNvSpPr/>
          <p:nvPr/>
        </p:nvSpPr>
        <p:spPr>
          <a:xfrm>
            <a:off x="548640" y="2962656"/>
            <a:ext cx="82296" cy="201168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74136" y="2395728"/>
            <a:ext cx="457200" cy="4572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800" b="1" i="0">
                <a:solidFill>
                  <a:srgbClr val="FFFFFF"/>
                </a:solidFill>
                <a:latin typeface="Cambria"/>
              </a:rPr>
              <a:t>2</a:t>
            </a:r>
          </a:p>
        </p:txBody>
      </p:sp>
      <p:sp>
        <p:nvSpPr>
          <p:cNvPr id="11" name="Rectangle 10"/>
          <p:cNvSpPr/>
          <p:nvPr/>
        </p:nvSpPr>
        <p:spPr>
          <a:xfrm>
            <a:off x="3374136" y="2962656"/>
            <a:ext cx="2606040" cy="201168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237744"/>
          <a:lstStyle/>
          <a:p>
            <a:pPr algn="l"/>
            <a:r>
              <a:rPr sz="1800" b="1" i="0">
                <a:solidFill>
                  <a:srgbClr val="1C242B"/>
                </a:solidFill>
                <a:latin typeface="Cambria"/>
              </a:rPr>
              <a:t>One of the three ICC prompts</a:t>
            </a:r>
          </a:p>
          <a:p>
            <a:pPr algn="l">
              <a:spcBef>
                <a:spcPts val="400"/>
              </a:spcBef>
            </a:pPr>
            <a:r>
              <a:rPr sz="1400" b="0" i="0">
                <a:solidFill>
                  <a:srgbClr val="2A333B"/>
                </a:solidFill>
                <a:latin typeface="Calibri"/>
              </a:rPr>
              <a:t>with the one-sentence “what I'd improve”</a:t>
            </a:r>
          </a:p>
          <a:p>
            <a:pPr>
              <a:spcBef>
                <a:spcPts val="1000"/>
              </a:spcBef>
            </a:pPr>
            <a:r>
              <a:rPr sz="1200" b="0" i="1">
                <a:solidFill>
                  <a:srgbClr val="3E4C59"/>
                </a:solidFill>
                <a:latin typeface="Calibri"/>
              </a:rPr>
              <a:t>“Which pattern did it use, if any?”</a:t>
            </a:r>
          </a:p>
        </p:txBody>
      </p:sp>
      <p:sp>
        <p:nvSpPr>
          <p:cNvPr id="12" name="Rectangle 11"/>
          <p:cNvSpPr/>
          <p:nvPr/>
        </p:nvSpPr>
        <p:spPr>
          <a:xfrm>
            <a:off x="3374136" y="2962656"/>
            <a:ext cx="82296" cy="201168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1" y="2395728"/>
            <a:ext cx="457200" cy="4572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800" b="1" i="0">
                <a:solidFill>
                  <a:srgbClr val="FFFFFF"/>
                </a:solidFill>
                <a:latin typeface="Cambria"/>
              </a:rPr>
              <a:t>3</a:t>
            </a:r>
          </a:p>
        </p:txBody>
      </p:sp>
      <p:sp>
        <p:nvSpPr>
          <p:cNvPr id="14" name="Rectangle 13"/>
          <p:cNvSpPr/>
          <p:nvPr/>
        </p:nvSpPr>
        <p:spPr>
          <a:xfrm>
            <a:off x="6199631" y="2962656"/>
            <a:ext cx="2606040" cy="201168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237744"/>
          <a:lstStyle/>
          <a:p>
            <a:pPr algn="l"/>
            <a:r>
              <a:rPr sz="1800" b="1" i="0">
                <a:solidFill>
                  <a:srgbClr val="1C242B"/>
                </a:solidFill>
                <a:latin typeface="Cambria"/>
              </a:rPr>
              <a:t>Ask-me-first result</a:t>
            </a:r>
          </a:p>
          <a:p>
            <a:pPr algn="l">
              <a:spcBef>
                <a:spcPts val="400"/>
              </a:spcBef>
            </a:pPr>
            <a:r>
              <a:rPr sz="1400" b="0" i="0">
                <a:solidFill>
                  <a:srgbClr val="2A333B"/>
                </a:solidFill>
                <a:latin typeface="Calibri"/>
              </a:rPr>
              <a:t>what the model asked back</a:t>
            </a:r>
          </a:p>
          <a:p>
            <a:pPr>
              <a:spcBef>
                <a:spcPts val="1000"/>
              </a:spcBef>
            </a:pPr>
            <a:r>
              <a:rPr sz="1200" b="0" i="1">
                <a:solidFill>
                  <a:srgbClr val="3E4C59"/>
                </a:solidFill>
                <a:latin typeface="Calibri"/>
              </a:rPr>
              <a:t>“Were the questions useful?”</a:t>
            </a:r>
          </a:p>
        </p:txBody>
      </p:sp>
      <p:sp>
        <p:nvSpPr>
          <p:cNvPr id="15" name="Rectangle 14"/>
          <p:cNvSpPr/>
          <p:nvPr/>
        </p:nvSpPr>
        <p:spPr>
          <a:xfrm>
            <a:off x="6199631" y="2962656"/>
            <a:ext cx="82296" cy="201168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025128" y="2395728"/>
            <a:ext cx="457200" cy="4572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800" b="1" i="0">
                <a:solidFill>
                  <a:srgbClr val="FFFFFF"/>
                </a:solidFill>
                <a:latin typeface="Cambria"/>
              </a:rPr>
              <a:t>4</a:t>
            </a:r>
          </a:p>
        </p:txBody>
      </p:sp>
      <p:sp>
        <p:nvSpPr>
          <p:cNvPr id="17" name="Rectangle 16"/>
          <p:cNvSpPr/>
          <p:nvPr/>
        </p:nvSpPr>
        <p:spPr>
          <a:xfrm>
            <a:off x="9025128" y="2962656"/>
            <a:ext cx="2606040" cy="201168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237744"/>
          <a:lstStyle/>
          <a:p>
            <a:pPr algn="l"/>
            <a:r>
              <a:rPr sz="1800" b="1" i="0">
                <a:solidFill>
                  <a:srgbClr val="1C242B"/>
                </a:solidFill>
                <a:latin typeface="Cambria"/>
              </a:rPr>
              <a:t>The meta-prompt</a:t>
            </a:r>
          </a:p>
          <a:p>
            <a:pPr algn="l">
              <a:spcBef>
                <a:spcPts val="400"/>
              </a:spcBef>
            </a:pPr>
            <a:r>
              <a:rPr sz="1400" b="0" i="0">
                <a:solidFill>
                  <a:srgbClr val="2A333B"/>
                </a:solidFill>
                <a:latin typeface="Calibri"/>
              </a:rPr>
              <a:t>the generated prompt</a:t>
            </a:r>
          </a:p>
          <a:p>
            <a:pPr>
              <a:spcBef>
                <a:spcPts val="1000"/>
              </a:spcBef>
            </a:pPr>
            <a:r>
              <a:rPr sz="1200" b="0" i="1">
                <a:solidFill>
                  <a:srgbClr val="3E4C59"/>
                </a:solidFill>
                <a:latin typeface="Calibri"/>
              </a:rPr>
              <a:t>“Did it beat the naive attempt?”</a:t>
            </a:r>
          </a:p>
        </p:txBody>
      </p:sp>
      <p:sp>
        <p:nvSpPr>
          <p:cNvPr id="18" name="Rectangle 17"/>
          <p:cNvSpPr/>
          <p:nvPr/>
        </p:nvSpPr>
        <p:spPr>
          <a:xfrm>
            <a:off x="9025128" y="2962656"/>
            <a:ext cx="82296" cy="201168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5257800"/>
            <a:ext cx="11091672" cy="59436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500" b="1" i="0">
                <a:solidFill>
                  <a:srgbClr val="FFFFFF"/>
                </a:solidFill>
                <a:latin typeface="Cambria"/>
              </a:rPr>
              <a:t>You get a time check in the chat at 3 minutes  ·  we cut at 4  ·  didn't finish the assignment? Practice Week 1 is the venue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Common problems — captured live</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07008"/>
            <a:ext cx="11091672" cy="365760"/>
          </a:xfrm>
          <a:prstGeom prst="rect">
            <a:avLst/>
          </a:prstGeom>
          <a:noFill/>
        </p:spPr>
        <p:txBody>
          <a:bodyPr wrap="square">
            <a:spAutoFit/>
          </a:bodyPr>
          <a:lstStyle/>
          <a:p>
            <a:pPr algn="l"/>
            <a:r>
              <a:rPr sz="1300" b="0" i="0">
                <a:solidFill>
                  <a:srgbClr val="6B747D"/>
                </a:solidFill>
                <a:latin typeface="Calibri"/>
              </a:rPr>
              <a:t>One line per problem, typed in as it comes up, filed under the item it belongs to</a:t>
            </a:r>
          </a:p>
        </p:txBody>
      </p:sp>
      <p:sp>
        <p:nvSpPr>
          <p:cNvPr id="6" name="Rectangle 5"/>
          <p:cNvSpPr/>
          <p:nvPr/>
        </p:nvSpPr>
        <p:spPr>
          <a:xfrm>
            <a:off x="548640" y="1783080"/>
            <a:ext cx="1920240" cy="65836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400" b="1" i="0">
                <a:solidFill>
                  <a:srgbClr val="FFFFFF"/>
                </a:solidFill>
                <a:latin typeface="Cambria"/>
              </a:rPr>
              <a:t>Anchor Project</a:t>
            </a:r>
          </a:p>
        </p:txBody>
      </p:sp>
      <p:sp>
        <p:nvSpPr>
          <p:cNvPr id="7" name="Rectangle 6"/>
          <p:cNvSpPr/>
          <p:nvPr/>
        </p:nvSpPr>
        <p:spPr>
          <a:xfrm>
            <a:off x="2606040" y="1783080"/>
            <a:ext cx="9034272" cy="65836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p>
        </p:txBody>
      </p:sp>
      <p:sp>
        <p:nvSpPr>
          <p:cNvPr id="8" name="Rectangle 7"/>
          <p:cNvSpPr/>
          <p:nvPr/>
        </p:nvSpPr>
        <p:spPr>
          <a:xfrm>
            <a:off x="548640" y="2624328"/>
            <a:ext cx="1920240" cy="65836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400" b="1" i="0">
                <a:solidFill>
                  <a:srgbClr val="FFFFFF"/>
                </a:solidFill>
                <a:latin typeface="Cambria"/>
              </a:rPr>
              <a:t>ICC</a:t>
            </a:r>
          </a:p>
        </p:txBody>
      </p:sp>
      <p:sp>
        <p:nvSpPr>
          <p:cNvPr id="9" name="Rectangle 8"/>
          <p:cNvSpPr/>
          <p:nvPr/>
        </p:nvSpPr>
        <p:spPr>
          <a:xfrm>
            <a:off x="2606040" y="2624328"/>
            <a:ext cx="9034272" cy="65836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p>
        </p:txBody>
      </p:sp>
      <p:sp>
        <p:nvSpPr>
          <p:cNvPr id="10" name="Rectangle 9"/>
          <p:cNvSpPr/>
          <p:nvPr/>
        </p:nvSpPr>
        <p:spPr>
          <a:xfrm>
            <a:off x="548640" y="3465576"/>
            <a:ext cx="1920240" cy="65836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400" b="1" i="0">
                <a:solidFill>
                  <a:srgbClr val="FFFFFF"/>
                </a:solidFill>
                <a:latin typeface="Cambria"/>
              </a:rPr>
              <a:t>Ask-me-first</a:t>
            </a:r>
          </a:p>
        </p:txBody>
      </p:sp>
      <p:sp>
        <p:nvSpPr>
          <p:cNvPr id="11" name="Rectangle 10"/>
          <p:cNvSpPr/>
          <p:nvPr/>
        </p:nvSpPr>
        <p:spPr>
          <a:xfrm>
            <a:off x="2606040" y="3465576"/>
            <a:ext cx="9034272" cy="65836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p>
        </p:txBody>
      </p:sp>
      <p:sp>
        <p:nvSpPr>
          <p:cNvPr id="12" name="Rectangle 11"/>
          <p:cNvSpPr/>
          <p:nvPr/>
        </p:nvSpPr>
        <p:spPr>
          <a:xfrm>
            <a:off x="548640" y="4306824"/>
            <a:ext cx="1920240" cy="65836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400" b="1" i="0">
                <a:solidFill>
                  <a:srgbClr val="FFFFFF"/>
                </a:solidFill>
                <a:latin typeface="Cambria"/>
              </a:rPr>
              <a:t>Meta-prompt</a:t>
            </a:r>
          </a:p>
        </p:txBody>
      </p:sp>
      <p:sp>
        <p:nvSpPr>
          <p:cNvPr id="13" name="Rectangle 12"/>
          <p:cNvSpPr/>
          <p:nvPr/>
        </p:nvSpPr>
        <p:spPr>
          <a:xfrm>
            <a:off x="2606040" y="4306824"/>
            <a:ext cx="9034272" cy="65836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p>
        </p:txBody>
      </p:sp>
      <p:sp>
        <p:nvSpPr>
          <p:cNvPr id="14" name="Rectangle 13"/>
          <p:cNvSpPr/>
          <p:nvPr/>
        </p:nvSpPr>
        <p:spPr>
          <a:xfrm>
            <a:off x="548640" y="5230368"/>
            <a:ext cx="11091672" cy="9601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400" b="1" i="0">
                <a:solidFill>
                  <a:srgbClr val="1C242B"/>
                </a:solidFill>
                <a:latin typeface="Cambria"/>
              </a:rPr>
              <a:t>After the last volunteer — read the list back, 30 seconds:</a:t>
            </a:r>
          </a:p>
          <a:p>
            <a:pPr>
              <a:spcBef>
                <a:spcPts val="400"/>
              </a:spcBef>
            </a:pPr>
            <a:r>
              <a:rPr sz="1300" b="0" i="0">
                <a:solidFill>
                  <a:srgbClr val="2A333B"/>
                </a:solidFill>
                <a:latin typeface="Calibri"/>
              </a:rPr>
              <a:t>Routing questions → Segment 2  ·  “the answer was wrong” → verification in Segment 2 and Prompt Coach in Segment 3  ·  “the chat lost track” → Gems in Segment 4  ·  everything else → Practice Week 1</a:t>
            </a:r>
          </a:p>
        </p:txBody>
      </p:sp>
      <p:sp>
        <p:nvSpPr>
          <p:cNvPr id="15" name="Rectangle 14"/>
          <p:cNvSpPr/>
          <p:nvPr/>
        </p:nvSpPr>
        <p:spPr>
          <a:xfrm>
            <a:off x="548640" y="5230368"/>
            <a:ext cx="82296" cy="960120"/>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0" cy="635508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0" b="1" i="0">
                <a:solidFill>
                  <a:srgbClr val="FFFFFF"/>
                </a:solidFill>
                <a:latin typeface="Cambria"/>
              </a:rPr>
              <a:t>2</a:t>
            </a:r>
          </a:p>
        </p:txBody>
      </p:sp>
      <p:sp>
        <p:nvSpPr>
          <p:cNvPr id="3" name="TextBox 2"/>
          <p:cNvSpPr txBox="1"/>
          <p:nvPr/>
        </p:nvSpPr>
        <p:spPr>
          <a:xfrm>
            <a:off x="3474720" y="1920240"/>
            <a:ext cx="8138160" cy="1371600"/>
          </a:xfrm>
          <a:prstGeom prst="rect">
            <a:avLst/>
          </a:prstGeom>
          <a:noFill/>
        </p:spPr>
        <p:txBody>
          <a:bodyPr wrap="square" anchor="b">
            <a:spAutoFit/>
          </a:bodyPr>
          <a:lstStyle/>
          <a:p>
            <a:pPr algn="l"/>
            <a:r>
              <a:rPr sz="3400" b="1" i="0">
                <a:solidFill>
                  <a:srgbClr val="1C242B"/>
                </a:solidFill>
                <a:latin typeface="Cambria"/>
              </a:rPr>
              <a:t>The sensitive-data rule and data-protection principles</a:t>
            </a:r>
          </a:p>
        </p:txBody>
      </p:sp>
      <p:sp>
        <p:nvSpPr>
          <p:cNvPr id="4" name="Rectangle 3"/>
          <p:cNvSpPr/>
          <p:nvPr/>
        </p:nvSpPr>
        <p:spPr>
          <a:xfrm>
            <a:off x="3474720" y="3401568"/>
            <a:ext cx="1097280" cy="3175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0" y="3566160"/>
            <a:ext cx="8138160" cy="457200"/>
          </a:xfrm>
          <a:prstGeom prst="rect">
            <a:avLst/>
          </a:prstGeom>
          <a:noFill/>
        </p:spPr>
        <p:txBody>
          <a:bodyPr wrap="square">
            <a:spAutoFit/>
          </a:bodyPr>
          <a:lstStyle/>
          <a:p>
            <a:pPr algn="l"/>
            <a:r>
              <a:rPr sz="1800" b="1" i="0">
                <a:solidFill>
                  <a:srgbClr val="3E4C59"/>
                </a:solidFill>
                <a:latin typeface="Calibri"/>
              </a:rPr>
              <a:t>10 min · Presentation</a:t>
            </a:r>
          </a:p>
        </p:txBody>
      </p:sp>
      <p:sp>
        <p:nvSpPr>
          <p:cNvPr id="6" name="TextBox 5"/>
          <p:cNvSpPr txBox="1"/>
          <p:nvPr/>
        </p:nvSpPr>
        <p:spPr>
          <a:xfrm>
            <a:off x="3474720" y="4023360"/>
            <a:ext cx="8138160" cy="365760"/>
          </a:xfrm>
          <a:prstGeom prst="rect">
            <a:avLst/>
          </a:prstGeom>
          <a:noFill/>
        </p:spPr>
        <p:txBody>
          <a:bodyPr wrap="square">
            <a:spAutoFit/>
          </a:bodyPr>
          <a:lstStyle/>
          <a:p>
            <a:pPr algn="l"/>
            <a:r>
              <a:rPr sz="1200" b="0" i="0">
                <a:solidFill>
                  <a:srgbClr val="6B747D"/>
                </a:solidFill>
                <a:latin typeface="Calibri"/>
              </a:rPr>
              <a:t>Segment 2 of 5</a:t>
            </a:r>
          </a:p>
        </p:txBody>
      </p:sp>
      <p:sp>
        <p:nvSpPr>
          <p:cNvPr id="7" name="Rectangle 6"/>
          <p:cNvSpPr/>
          <p:nvPr/>
        </p:nvSpPr>
        <p:spPr>
          <a:xfrm>
            <a:off x="34747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60520" y="5989320"/>
            <a:ext cx="502920" cy="73152"/>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8463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321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The two-lane rule: one routing question</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07008"/>
            <a:ext cx="11091672" cy="713232"/>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2000" b="1" i="0">
                <a:solidFill>
                  <a:srgbClr val="FFFFFF"/>
                </a:solidFill>
                <a:latin typeface="Cambria"/>
              </a:rPr>
              <a:t>Does the task involve sensitive or IP-sensitive institutional data?</a:t>
            </a:r>
          </a:p>
          <a:p>
            <a:pPr algn="ctr">
              <a:spcBef>
                <a:spcPts val="600"/>
              </a:spcBef>
            </a:pPr>
            <a:r>
              <a:rPr sz="1300" b="0" i="0">
                <a:solidFill>
                  <a:srgbClr val="FFFFFF"/>
                </a:solidFill>
                <a:latin typeface="Calibri"/>
              </a:rPr>
              <a:t>Answered before any prompt is written — per task, not per person and not per day</a:t>
            </a:r>
          </a:p>
        </p:txBody>
      </p:sp>
      <p:sp>
        <p:nvSpPr>
          <p:cNvPr id="6" name="Rectangle 5"/>
          <p:cNvSpPr/>
          <p:nvPr/>
        </p:nvSpPr>
        <p:spPr>
          <a:xfrm>
            <a:off x="548640" y="1993392"/>
            <a:ext cx="5440680" cy="67665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Cambria"/>
              </a:rPr>
              <a:t>YES  →  Sensitive Lane</a:t>
            </a:r>
          </a:p>
          <a:p>
            <a:pPr algn="ctr">
              <a:spcBef>
                <a:spcPts val="400"/>
              </a:spcBef>
            </a:pPr>
            <a:r>
              <a:rPr sz="1400" b="0" i="0">
                <a:solidFill>
                  <a:srgbClr val="FFFFFF"/>
                </a:solidFill>
                <a:latin typeface="Calibri"/>
              </a:rPr>
              <a:t>Copilot Chat (Basic), institutional account</a:t>
            </a:r>
          </a:p>
        </p:txBody>
      </p:sp>
      <p:sp>
        <p:nvSpPr>
          <p:cNvPr id="7" name="Rectangle 6"/>
          <p:cNvSpPr/>
          <p:nvPr/>
        </p:nvSpPr>
        <p:spPr>
          <a:xfrm>
            <a:off x="548640" y="2761488"/>
            <a:ext cx="5440680" cy="1572768"/>
          </a:xfrm>
          <a:prstGeom prst="rect">
            <a:avLst/>
          </a:prstGeom>
          <a:solidFill>
            <a:srgbClr val="DFF1E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146304"/>
          <a:lstStyle/>
          <a:p>
            <a:pPr algn="l"/>
            <a:r>
              <a:rPr sz="1800" b="1" i="0">
                <a:solidFill>
                  <a:srgbClr val="1C242B"/>
                </a:solidFill>
                <a:latin typeface="Cambria"/>
              </a:rPr>
              <a:t>What goes here</a:t>
            </a:r>
          </a:p>
          <a:p>
            <a:pPr>
              <a:spcBef>
                <a:spcPts val="500"/>
              </a:spcBef>
            </a:pPr>
            <a:r>
              <a:rPr sz="1300" b="0" i="0">
                <a:solidFill>
                  <a:srgbClr val="2A333B"/>
                </a:solidFill>
                <a:latin typeface="Calibri"/>
              </a:rPr>
              <a:t>·  Internal administration</a:t>
            </a:r>
          </a:p>
          <a:p>
            <a:pPr>
              <a:spcBef>
                <a:spcPts val="500"/>
              </a:spcBef>
            </a:pPr>
            <a:r>
              <a:rPr sz="1300" b="0" i="0">
                <a:solidFill>
                  <a:srgbClr val="2A333B"/>
                </a:solidFill>
                <a:latin typeface="Calibri"/>
              </a:rPr>
              <a:t>·  Unsubmitted grant proposals</a:t>
            </a:r>
          </a:p>
          <a:p>
            <a:pPr>
              <a:spcBef>
                <a:spcPts val="500"/>
              </a:spcBef>
            </a:pPr>
            <a:r>
              <a:rPr sz="1300" b="0" i="0">
                <a:solidFill>
                  <a:srgbClr val="2A333B"/>
                </a:solidFill>
                <a:latin typeface="Calibri"/>
              </a:rPr>
              <a:t>·  Personnel information</a:t>
            </a:r>
          </a:p>
          <a:p>
            <a:pPr>
              <a:spcBef>
                <a:spcPts val="500"/>
              </a:spcBef>
            </a:pPr>
            <a:r>
              <a:rPr sz="1300" b="0" i="0">
                <a:solidFill>
                  <a:srgbClr val="2A333B"/>
                </a:solidFill>
                <a:latin typeface="Calibri"/>
              </a:rPr>
              <a:t>·  Strategic financial planning</a:t>
            </a:r>
          </a:p>
        </p:txBody>
      </p:sp>
      <p:sp>
        <p:nvSpPr>
          <p:cNvPr id="8" name="Rectangle 7"/>
          <p:cNvSpPr/>
          <p:nvPr/>
        </p:nvSpPr>
        <p:spPr>
          <a:xfrm>
            <a:off x="548640" y="2761488"/>
            <a:ext cx="82296" cy="157276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9632" y="1993392"/>
            <a:ext cx="5440680" cy="6766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Cambria"/>
              </a:rPr>
              <a:t>NO  →  Daily Driver</a:t>
            </a:r>
          </a:p>
          <a:p>
            <a:pPr algn="ctr">
              <a:spcBef>
                <a:spcPts val="400"/>
              </a:spcBef>
            </a:pPr>
            <a:r>
              <a:rPr sz="1400" b="0" i="0">
                <a:solidFill>
                  <a:srgbClr val="FFFFFF"/>
                </a:solidFill>
                <a:latin typeface="Calibri"/>
              </a:rPr>
              <a:t>Google Gemini (free tier)</a:t>
            </a:r>
          </a:p>
        </p:txBody>
      </p:sp>
      <p:sp>
        <p:nvSpPr>
          <p:cNvPr id="10" name="Rectangle 9"/>
          <p:cNvSpPr/>
          <p:nvPr/>
        </p:nvSpPr>
        <p:spPr>
          <a:xfrm>
            <a:off x="6199632" y="2761488"/>
            <a:ext cx="5440680" cy="1572768"/>
          </a:xfrm>
          <a:prstGeom prst="rect">
            <a:avLst/>
          </a:prstGeom>
          <a:solidFill>
            <a:srgbClr val="EBE6F7"/>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146304"/>
          <a:lstStyle/>
          <a:p>
            <a:pPr algn="l"/>
            <a:r>
              <a:rPr sz="1800" b="1" i="0">
                <a:solidFill>
                  <a:srgbClr val="1C242B"/>
                </a:solidFill>
                <a:latin typeface="Cambria"/>
              </a:rPr>
              <a:t>What goes here</a:t>
            </a:r>
          </a:p>
          <a:p>
            <a:pPr>
              <a:spcBef>
                <a:spcPts val="500"/>
              </a:spcBef>
            </a:pPr>
            <a:r>
              <a:rPr sz="1300" b="0" i="0">
                <a:solidFill>
                  <a:srgbClr val="2A333B"/>
                </a:solidFill>
                <a:latin typeface="Calibri"/>
              </a:rPr>
              <a:t>·  Drafting</a:t>
            </a:r>
          </a:p>
          <a:p>
            <a:pPr>
              <a:spcBef>
                <a:spcPts val="500"/>
              </a:spcBef>
            </a:pPr>
            <a:r>
              <a:rPr sz="1300" b="0" i="0">
                <a:solidFill>
                  <a:srgbClr val="2A333B"/>
                </a:solidFill>
                <a:latin typeface="Calibri"/>
              </a:rPr>
              <a:t>·  Prompting exercises</a:t>
            </a:r>
          </a:p>
          <a:p>
            <a:pPr>
              <a:spcBef>
                <a:spcPts val="500"/>
              </a:spcBef>
            </a:pPr>
            <a:r>
              <a:rPr sz="1300" b="0" i="0">
                <a:solidFill>
                  <a:srgbClr val="2A333B"/>
                </a:solidFill>
                <a:latin typeface="Calibri"/>
              </a:rPr>
              <a:t>·  Long-document analysis</a:t>
            </a:r>
          </a:p>
          <a:p>
            <a:pPr>
              <a:spcBef>
                <a:spcPts val="500"/>
              </a:spcBef>
            </a:pPr>
            <a:r>
              <a:rPr sz="1300" b="0" i="0">
                <a:solidFill>
                  <a:srgbClr val="2A333B"/>
                </a:solidFill>
                <a:latin typeface="Calibri"/>
              </a:rPr>
              <a:t>·  General research management work</a:t>
            </a:r>
          </a:p>
        </p:txBody>
      </p:sp>
      <p:sp>
        <p:nvSpPr>
          <p:cNvPr id="11" name="Rectangle 10"/>
          <p:cNvSpPr/>
          <p:nvPr/>
        </p:nvSpPr>
        <p:spPr>
          <a:xfrm>
            <a:off x="6199632" y="2761488"/>
            <a:ext cx="82296" cy="1572768"/>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4370832"/>
            <a:ext cx="11091672" cy="365760"/>
          </a:xfrm>
          <a:prstGeom prst="rect">
            <a:avLst/>
          </a:prstGeom>
          <a:noFill/>
        </p:spPr>
        <p:txBody>
          <a:bodyPr wrap="square">
            <a:spAutoFit/>
          </a:bodyPr>
          <a:lstStyle/>
          <a:p>
            <a:pPr algn="l"/>
            <a:r>
              <a:rPr sz="1100" b="0" i="0">
                <a:solidFill>
                  <a:srgbClr val="6B747D"/>
                </a:solidFill>
                <a:latin typeface="Calibri"/>
              </a:rPr>
              <a:t>Three tasks, routed</a:t>
            </a:r>
          </a:p>
        </p:txBody>
      </p:sp>
      <p:sp>
        <p:nvSpPr>
          <p:cNvPr id="13" name="Rectangle 12"/>
          <p:cNvSpPr/>
          <p:nvPr/>
        </p:nvSpPr>
        <p:spPr>
          <a:xfrm>
            <a:off x="548640" y="4590288"/>
            <a:ext cx="11091672" cy="438912"/>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300" b="0" i="0">
                <a:solidFill>
                  <a:srgbClr val="2A333B"/>
                </a:solidFill>
                <a:latin typeface="Calibri"/>
              </a:rPr>
              <a:t>“Summarise the partner feedback on our unsubmitted Cluster 4 proposal”</a:t>
            </a:r>
            <a:r>
              <a:rPr sz="1300" b="1" i="0">
                <a:solidFill>
                  <a:srgbClr val="0E7C7B"/>
                </a:solidFill>
                <a:latin typeface="Calibri"/>
              </a:rPr>
              <a:t>   →  Sensitive Lane (unsubmitted proposal)</a:t>
            </a:r>
          </a:p>
        </p:txBody>
      </p:sp>
      <p:sp>
        <p:nvSpPr>
          <p:cNvPr id="14" name="Rectangle 13"/>
          <p:cNvSpPr/>
          <p:nvPr/>
        </p:nvSpPr>
        <p:spPr>
          <a:xfrm>
            <a:off x="548640" y="4590288"/>
            <a:ext cx="82296" cy="438912"/>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5074920"/>
            <a:ext cx="11091672" cy="438912"/>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300" b="0" i="0">
                <a:solidFill>
                  <a:srgbClr val="2A333B"/>
                </a:solidFill>
                <a:latin typeface="Calibri"/>
              </a:rPr>
              <a:t>“Explain the eligible cost categories in Horizon Europe”</a:t>
            </a:r>
            <a:r>
              <a:rPr sz="1300" b="1" i="0">
                <a:solidFill>
                  <a:srgbClr val="6A4CBC"/>
                </a:solidFill>
                <a:latin typeface="Calibri"/>
              </a:rPr>
              <a:t>   →  Daily Driver (public knowledge)</a:t>
            </a:r>
          </a:p>
        </p:txBody>
      </p:sp>
      <p:sp>
        <p:nvSpPr>
          <p:cNvPr id="16" name="Rectangle 15"/>
          <p:cNvSpPr/>
          <p:nvPr/>
        </p:nvSpPr>
        <p:spPr>
          <a:xfrm>
            <a:off x="548640" y="5074920"/>
            <a:ext cx="82296" cy="43891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5559552"/>
            <a:ext cx="11091672" cy="438912"/>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300" b="0" i="0">
                <a:solidFill>
                  <a:srgbClr val="2A333B"/>
                </a:solidFill>
                <a:latin typeface="Calibri"/>
              </a:rPr>
              <a:t>“Draft a workload plan for the three administrators in my unit”</a:t>
            </a:r>
            <a:r>
              <a:rPr sz="1300" b="1" i="0">
                <a:solidFill>
                  <a:srgbClr val="0E7C7B"/>
                </a:solidFill>
                <a:latin typeface="Calibri"/>
              </a:rPr>
              <a:t>   →  Sensitive Lane (personnel information)</a:t>
            </a:r>
          </a:p>
        </p:txBody>
      </p:sp>
      <p:sp>
        <p:nvSpPr>
          <p:cNvPr id="18" name="Rectangle 17"/>
          <p:cNvSpPr/>
          <p:nvPr/>
        </p:nvSpPr>
        <p:spPr>
          <a:xfrm>
            <a:off x="548640" y="5559552"/>
            <a:ext cx="82296" cy="438912"/>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053328"/>
            <a:ext cx="11091672" cy="365760"/>
          </a:xfrm>
          <a:prstGeom prst="rect">
            <a:avLst/>
          </a:prstGeom>
          <a:noFill/>
        </p:spPr>
        <p:txBody>
          <a:bodyPr wrap="square">
            <a:spAutoFit/>
          </a:bodyPr>
          <a:lstStyle/>
          <a:p>
            <a:pPr algn="l"/>
            <a:r>
              <a:rPr sz="1100" b="0" i="1">
                <a:solidFill>
                  <a:srgbClr val="6B747D"/>
                </a:solidFill>
                <a:latin typeface="Calibri"/>
              </a:rPr>
              <a:t>The Sensitive Lane is the only place authorised for sensitive data — and never the place for general work the free tier does better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Data-protection principles — why the rule exists</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07008"/>
            <a:ext cx="11091672" cy="365760"/>
          </a:xfrm>
          <a:prstGeom prst="rect">
            <a:avLst/>
          </a:prstGeom>
          <a:noFill/>
        </p:spPr>
        <p:txBody>
          <a:bodyPr wrap="square">
            <a:spAutoFit/>
          </a:bodyPr>
          <a:lstStyle/>
          <a:p>
            <a:pPr algn="l"/>
            <a:r>
              <a:rPr sz="1300" b="0" i="0">
                <a:solidFill>
                  <a:srgbClr val="6B747D"/>
                </a:solidFill>
                <a:latin typeface="Calibri"/>
              </a:rPr>
              <a:t>Four reasons, in the form they take in research management</a:t>
            </a:r>
          </a:p>
        </p:txBody>
      </p:sp>
      <p:sp>
        <p:nvSpPr>
          <p:cNvPr id="6" name="Rectangle 5"/>
          <p:cNvSpPr/>
          <p:nvPr/>
        </p:nvSpPr>
        <p:spPr>
          <a:xfrm>
            <a:off x="548640" y="1572768"/>
            <a:ext cx="5440680" cy="16459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201168"/>
          <a:lstStyle/>
          <a:p>
            <a:pPr algn="l"/>
            <a:r>
              <a:rPr sz="1800" b="1" i="0">
                <a:solidFill>
                  <a:srgbClr val="1C242B"/>
                </a:solidFill>
                <a:latin typeface="Cambria"/>
              </a:rPr>
              <a:t>Personal data</a:t>
            </a:r>
          </a:p>
          <a:p>
            <a:pPr algn="l">
              <a:spcBef>
                <a:spcPts val="400"/>
              </a:spcBef>
            </a:pPr>
            <a:r>
              <a:rPr sz="1400" b="0" i="0">
                <a:solidFill>
                  <a:srgbClr val="2A333B"/>
                </a:solidFill>
                <a:latin typeface="Calibri"/>
              </a:rPr>
              <a:t>Names, a role tied to a unit, contact details, evaluations, CVs. GDPR protects it, and putting it into an external AI tool is a data transfer — a transfer needs a legal basis.</a:t>
            </a:r>
          </a:p>
        </p:txBody>
      </p:sp>
      <p:sp>
        <p:nvSpPr>
          <p:cNvPr id="7" name="Rectangle 6"/>
          <p:cNvSpPr/>
          <p:nvPr/>
        </p:nvSpPr>
        <p:spPr>
          <a:xfrm>
            <a:off x="548640" y="1572768"/>
            <a:ext cx="82296" cy="16459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99632" y="1572768"/>
            <a:ext cx="5440680" cy="16459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201168"/>
          <a:lstStyle/>
          <a:p>
            <a:pPr algn="l"/>
            <a:r>
              <a:rPr sz="1800" b="1" i="0">
                <a:solidFill>
                  <a:srgbClr val="1C242B"/>
                </a:solidFill>
                <a:latin typeface="Cambria"/>
              </a:rPr>
              <a:t>Confidential institutional data</a:t>
            </a:r>
          </a:p>
          <a:p>
            <a:pPr algn="l">
              <a:spcBef>
                <a:spcPts val="400"/>
              </a:spcBef>
            </a:pPr>
            <a:r>
              <a:rPr sz="1400" b="0" i="0">
                <a:solidFill>
                  <a:srgbClr val="2A333B"/>
                </a:solidFill>
                <a:latin typeface="Calibri"/>
              </a:rPr>
              <a:t>Unsubmitted proposals, internal financial planning, unpublished results and raw data are institutional assets. A public AI platform may keep what you type and may train on it.</a:t>
            </a:r>
          </a:p>
        </p:txBody>
      </p:sp>
      <p:sp>
        <p:nvSpPr>
          <p:cNvPr id="9" name="Rectangle 8"/>
          <p:cNvSpPr/>
          <p:nvPr/>
        </p:nvSpPr>
        <p:spPr>
          <a:xfrm>
            <a:off x="6199632" y="1572768"/>
            <a:ext cx="82296" cy="16459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310128"/>
            <a:ext cx="5440680" cy="16459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201168"/>
          <a:lstStyle/>
          <a:p>
            <a:pPr algn="l"/>
            <a:r>
              <a:rPr sz="1800" b="1" i="0">
                <a:solidFill>
                  <a:srgbClr val="1C242B"/>
                </a:solidFill>
                <a:latin typeface="Cambria"/>
              </a:rPr>
              <a:t>Purpose and minimisation</a:t>
            </a:r>
          </a:p>
          <a:p>
            <a:pPr algn="l">
              <a:spcBef>
                <a:spcPts val="400"/>
              </a:spcBef>
            </a:pPr>
            <a:r>
              <a:rPr sz="1400" b="0" i="0">
                <a:solidFill>
                  <a:srgbClr val="2A333B"/>
                </a:solidFill>
                <a:latin typeface="Calibri"/>
              </a:rPr>
              <a:t>Only the data the task needs, only for the task's purpose. “More context is not better context” and data minimisation point the same way.</a:t>
            </a:r>
          </a:p>
        </p:txBody>
      </p:sp>
      <p:sp>
        <p:nvSpPr>
          <p:cNvPr id="11" name="Rectangle 10"/>
          <p:cNvSpPr/>
          <p:nvPr/>
        </p:nvSpPr>
        <p:spPr>
          <a:xfrm>
            <a:off x="548640" y="3310128"/>
            <a:ext cx="82296" cy="16459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9632" y="3310128"/>
            <a:ext cx="5440680" cy="16459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201168"/>
          <a:lstStyle/>
          <a:p>
            <a:pPr algn="l"/>
            <a:r>
              <a:rPr sz="1800" b="1" i="0">
                <a:solidFill>
                  <a:srgbClr val="1C242B"/>
                </a:solidFill>
                <a:latin typeface="Cambria"/>
              </a:rPr>
              <a:t>Human responsibility</a:t>
            </a:r>
          </a:p>
          <a:p>
            <a:pPr algn="l">
              <a:spcBef>
                <a:spcPts val="400"/>
              </a:spcBef>
            </a:pPr>
            <a:r>
              <a:rPr sz="1400" b="0" i="0">
                <a:solidFill>
                  <a:srgbClr val="2A333B"/>
                </a:solidFill>
                <a:latin typeface="Calibri"/>
              </a:rPr>
              <a:t>The tool assists; the person signs. What leaves your desk carries your name on it, never the model's.</a:t>
            </a:r>
          </a:p>
        </p:txBody>
      </p:sp>
      <p:sp>
        <p:nvSpPr>
          <p:cNvPr id="13" name="Rectangle 12"/>
          <p:cNvSpPr/>
          <p:nvPr/>
        </p:nvSpPr>
        <p:spPr>
          <a:xfrm>
            <a:off x="6199632" y="3310128"/>
            <a:ext cx="82296" cy="16459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5175504"/>
            <a:ext cx="11091672" cy="658368"/>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700" b="1" i="0">
                <a:solidFill>
                  <a:srgbClr val="FFFFFF"/>
                </a:solidFill>
                <a:latin typeface="Cambria"/>
              </a:rPr>
              <a:t>The rule exists so the judgement is made once, at routing time — not again at every prompt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Institutional rules: the dean's directive as reference</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188720"/>
            <a:ext cx="5440680" cy="96926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500" b="1" i="0">
                <a:solidFill>
                  <a:srgbClr val="1C242B"/>
                </a:solidFill>
                <a:latin typeface="Cambria"/>
              </a:rPr>
              <a:t>Umbrella — Rector's directive 4/2025. (X. 28.)</a:t>
            </a:r>
          </a:p>
          <a:p>
            <a:pPr>
              <a:spcBef>
                <a:spcPts val="300"/>
              </a:spcBef>
            </a:pPr>
            <a:r>
              <a:rPr sz="1150" b="0" i="0">
                <a:solidFill>
                  <a:srgbClr val="2A333B"/>
                </a:solidFill>
                <a:latin typeface="Calibri"/>
              </a:rPr>
              <a:t>On the use of artificial intelligence in education at ELTE</a:t>
            </a:r>
          </a:p>
        </p:txBody>
      </p:sp>
      <p:sp>
        <p:nvSpPr>
          <p:cNvPr id="6" name="Rectangle 5"/>
          <p:cNvSpPr/>
          <p:nvPr/>
        </p:nvSpPr>
        <p:spPr>
          <a:xfrm>
            <a:off x="548640" y="1188720"/>
            <a:ext cx="82296" cy="96926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199632" y="1188720"/>
            <a:ext cx="5440680" cy="96926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500" b="1" i="0">
                <a:solidFill>
                  <a:srgbClr val="1C242B"/>
                </a:solidFill>
                <a:latin typeface="Cambria"/>
              </a:rPr>
              <a:t>Faculty — Dean's directive 1/2026 (III.26.)</a:t>
            </a:r>
          </a:p>
          <a:p>
            <a:pPr>
              <a:spcBef>
                <a:spcPts val="300"/>
              </a:spcBef>
            </a:pPr>
            <a:r>
              <a:rPr sz="1150" b="0" i="0">
                <a:solidFill>
                  <a:srgbClr val="2A333B"/>
                </a:solidFill>
                <a:latin typeface="Calibri"/>
              </a:rPr>
              <a:t>ELTE Faculty of Informatics · Use of artificial intelligence in education, research and administration · supplements the rector's directive and the EU AI Act (Regulation (EU) 2024/1689)</a:t>
            </a:r>
          </a:p>
        </p:txBody>
      </p:sp>
      <p:sp>
        <p:nvSpPr>
          <p:cNvPr id="8" name="Rectangle 7"/>
          <p:cNvSpPr/>
          <p:nvPr/>
        </p:nvSpPr>
        <p:spPr>
          <a:xfrm>
            <a:off x="6199632" y="1188720"/>
            <a:ext cx="82296" cy="96926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286000"/>
            <a:ext cx="11091672" cy="365760"/>
          </a:xfrm>
          <a:prstGeom prst="rect">
            <a:avLst/>
          </a:prstGeom>
          <a:noFill/>
        </p:spPr>
        <p:txBody>
          <a:bodyPr wrap="square">
            <a:spAutoFit/>
          </a:bodyPr>
          <a:lstStyle/>
          <a:p>
            <a:pPr algn="l"/>
            <a:r>
              <a:rPr sz="1300" b="0" i="0">
                <a:solidFill>
                  <a:srgbClr val="6B747D"/>
                </a:solidFill>
                <a:latin typeface="Calibri"/>
              </a:rPr>
              <a:t>Key points of the dean's directive — one line each, as reference points</a:t>
            </a:r>
          </a:p>
        </p:txBody>
      </p:sp>
      <p:sp>
        <p:nvSpPr>
          <p:cNvPr id="10" name="Rectangle 9"/>
          <p:cNvSpPr/>
          <p:nvPr/>
        </p:nvSpPr>
        <p:spPr>
          <a:xfrm>
            <a:off x="548640" y="2615184"/>
            <a:ext cx="5440680" cy="76809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Human oversight and final responsibility</a:t>
            </a:r>
          </a:p>
          <a:p>
            <a:pPr>
              <a:spcBef>
                <a:spcPts val="300"/>
              </a:spcBef>
            </a:pPr>
            <a:r>
              <a:rPr sz="1150" b="0" i="0">
                <a:solidFill>
                  <a:srgbClr val="2A333B"/>
                </a:solidFill>
                <a:latin typeface="Calibri"/>
              </a:rPr>
              <a:t>AI assists; the person carries the responsibility for content, correctness and compliance.</a:t>
            </a:r>
          </a:p>
        </p:txBody>
      </p:sp>
      <p:sp>
        <p:nvSpPr>
          <p:cNvPr id="11" name="Rectangle 10"/>
          <p:cNvSpPr/>
          <p:nvPr/>
        </p:nvSpPr>
        <p:spPr>
          <a:xfrm>
            <a:off x="548640" y="2615184"/>
            <a:ext cx="82296" cy="768096"/>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9632" y="2615184"/>
            <a:ext cx="5440680" cy="76809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Transparency and documentation of AI use</a:t>
            </a:r>
          </a:p>
          <a:p>
            <a:pPr>
              <a:spcBef>
                <a:spcPts val="300"/>
              </a:spcBef>
            </a:pPr>
            <a:r>
              <a:rPr sz="1150" b="0" i="0">
                <a:solidFill>
                  <a:srgbClr val="2A333B"/>
                </a:solidFill>
                <a:latin typeface="Calibri"/>
              </a:rPr>
              <a:t>Record where AI was used: which tool, when, for what, in which part of the work.</a:t>
            </a:r>
          </a:p>
        </p:txBody>
      </p:sp>
      <p:sp>
        <p:nvSpPr>
          <p:cNvPr id="13" name="Rectangle 12"/>
          <p:cNvSpPr/>
          <p:nvPr/>
        </p:nvSpPr>
        <p:spPr>
          <a:xfrm>
            <a:off x="6199632" y="2615184"/>
            <a:ext cx="82296" cy="768096"/>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511296"/>
            <a:ext cx="5440680" cy="76809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No sensitive data into external AI without permission</a:t>
            </a:r>
          </a:p>
          <a:p>
            <a:pPr>
              <a:spcBef>
                <a:spcPts val="300"/>
              </a:spcBef>
            </a:pPr>
            <a:r>
              <a:rPr sz="1150" b="0" i="0">
                <a:solidFill>
                  <a:srgbClr val="2A333B"/>
                </a:solidFill>
                <a:latin typeface="Calibri"/>
              </a:rPr>
              <a:t>Personal, sensitive or unpublished data, raw data and industrial results — explicit permission required.</a:t>
            </a:r>
          </a:p>
        </p:txBody>
      </p:sp>
      <p:sp>
        <p:nvSpPr>
          <p:cNvPr id="15" name="Rectangle 14"/>
          <p:cNvSpPr/>
          <p:nvPr/>
        </p:nvSpPr>
        <p:spPr>
          <a:xfrm>
            <a:off x="548640" y="3511296"/>
            <a:ext cx="82296" cy="768096"/>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9632" y="3511296"/>
            <a:ext cx="5440680" cy="76809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AI in institutional administration is allowed</a:t>
            </a:r>
          </a:p>
          <a:p>
            <a:pPr>
              <a:spcBef>
                <a:spcPts val="300"/>
              </a:spcBef>
            </a:pPr>
            <a:r>
              <a:rPr sz="1150" b="0" i="0">
                <a:solidFill>
                  <a:srgbClr val="2A333B"/>
                </a:solidFill>
                <a:latin typeface="Calibri"/>
              </a:rPr>
              <a:t>Scheduling, reports, data analysis, documentation — inside the data-protection rules.</a:t>
            </a:r>
          </a:p>
        </p:txBody>
      </p:sp>
      <p:sp>
        <p:nvSpPr>
          <p:cNvPr id="17" name="Rectangle 16"/>
          <p:cNvSpPr/>
          <p:nvPr/>
        </p:nvSpPr>
        <p:spPr>
          <a:xfrm>
            <a:off x="6199632" y="3511296"/>
            <a:ext cx="82296" cy="768096"/>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407408"/>
            <a:ext cx="5440680" cy="76809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Critical checking of every output</a:t>
            </a:r>
          </a:p>
          <a:p>
            <a:pPr>
              <a:spcBef>
                <a:spcPts val="300"/>
              </a:spcBef>
            </a:pPr>
            <a:r>
              <a:rPr sz="1150" b="0" i="0">
                <a:solidFill>
                  <a:srgbClr val="2A333B"/>
                </a:solidFill>
                <a:latin typeface="Calibri"/>
              </a:rPr>
              <a:t>Every AI-generated material is checked before use; the author owns the content.</a:t>
            </a:r>
          </a:p>
        </p:txBody>
      </p:sp>
      <p:sp>
        <p:nvSpPr>
          <p:cNvPr id="19" name="Rectangle 18"/>
          <p:cNvSpPr/>
          <p:nvPr/>
        </p:nvSpPr>
        <p:spPr>
          <a:xfrm>
            <a:off x="548640" y="4407408"/>
            <a:ext cx="82296" cy="768096"/>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9632" y="4407408"/>
            <a:ext cx="5440680" cy="76809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Consequences of breaches</a:t>
            </a:r>
          </a:p>
          <a:p>
            <a:pPr>
              <a:spcBef>
                <a:spcPts val="300"/>
              </a:spcBef>
            </a:pPr>
            <a:r>
              <a:rPr sz="1150" b="0" i="0">
                <a:solidFill>
                  <a:srgbClr val="2A333B"/>
                </a:solidFill>
                <a:latin typeface="Calibri"/>
              </a:rPr>
              <a:t>Disciplinary and ethical rules; embargoed or personal data can carry legal liability.</a:t>
            </a:r>
          </a:p>
        </p:txBody>
      </p:sp>
      <p:sp>
        <p:nvSpPr>
          <p:cNvPr id="21" name="Rectangle 20"/>
          <p:cNvSpPr/>
          <p:nvPr/>
        </p:nvSpPr>
        <p:spPr>
          <a:xfrm>
            <a:off x="6199632" y="4407408"/>
            <a:ext cx="82296" cy="768096"/>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376672"/>
            <a:ext cx="11091672" cy="365760"/>
          </a:xfrm>
          <a:prstGeom prst="rect">
            <a:avLst/>
          </a:prstGeom>
          <a:noFill/>
        </p:spPr>
        <p:txBody>
          <a:bodyPr wrap="square">
            <a:spAutoFit/>
          </a:bodyPr>
          <a:lstStyle/>
          <a:p>
            <a:pPr algn="l"/>
            <a:r>
              <a:rPr sz="1100" b="0" i="1">
                <a:solidFill>
                  <a:srgbClr val="6B747D"/>
                </a:solidFill>
                <a:latin typeface="Calibri"/>
              </a:rPr>
              <a:t>Cited, not reproduced — read the directive itself before you rely on it. Version 1.0, effective 26 March 2026, review expected 1 July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Anonymise before upload</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07008"/>
            <a:ext cx="11091672" cy="841248"/>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900" b="1" i="0">
                <a:solidFill>
                  <a:srgbClr val="FFFFFF"/>
                </a:solidFill>
                <a:latin typeface="Cambria"/>
              </a:rPr>
              <a:t>A document that contains personal or sensitive information is anonymised before it is uploaded to any AI tool</a:t>
            </a:r>
          </a:p>
          <a:p>
            <a:pPr algn="ctr">
              <a:spcBef>
                <a:spcPts val="600"/>
              </a:spcBef>
            </a:pPr>
            <a:r>
              <a:rPr sz="1300" b="0" i="0">
                <a:solidFill>
                  <a:srgbClr val="FFFFFF"/>
                </a:solidFill>
                <a:latin typeface="Calibri"/>
              </a:rPr>
              <a:t>In either lane — the rule does not change with the tool</a:t>
            </a:r>
          </a:p>
        </p:txBody>
      </p:sp>
      <p:sp>
        <p:nvSpPr>
          <p:cNvPr id="6" name="Rectangle 5"/>
          <p:cNvSpPr/>
          <p:nvPr/>
        </p:nvSpPr>
        <p:spPr>
          <a:xfrm>
            <a:off x="548640" y="2267712"/>
            <a:ext cx="5440680" cy="49377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Cambria"/>
              </a:rPr>
              <a:t>Sensitive Lane — anonymise first</a:t>
            </a:r>
          </a:p>
        </p:txBody>
      </p:sp>
      <p:sp>
        <p:nvSpPr>
          <p:cNvPr id="7" name="Rectangle 6"/>
          <p:cNvSpPr/>
          <p:nvPr/>
        </p:nvSpPr>
        <p:spPr>
          <a:xfrm>
            <a:off x="6199632" y="2267712"/>
            <a:ext cx="5440680" cy="49377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Cambria"/>
              </a:rPr>
              <a:t>Daily Driver — anonymise first</a:t>
            </a:r>
          </a:p>
        </p:txBody>
      </p:sp>
      <p:sp>
        <p:nvSpPr>
          <p:cNvPr id="8" name="Rectangle 7"/>
          <p:cNvSpPr/>
          <p:nvPr/>
        </p:nvSpPr>
        <p:spPr>
          <a:xfrm>
            <a:off x="548640" y="2944368"/>
            <a:ext cx="11091672" cy="155448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146304"/>
          <a:lstStyle/>
          <a:p>
            <a:pPr algn="l"/>
            <a:r>
              <a:rPr sz="1800" b="1" i="0">
                <a:solidFill>
                  <a:srgbClr val="1C242B"/>
                </a:solidFill>
                <a:latin typeface="Cambria"/>
              </a:rPr>
              <a:t>What anonymising removes or replaces</a:t>
            </a:r>
          </a:p>
          <a:p>
            <a:pPr>
              <a:spcBef>
                <a:spcPts val="500"/>
              </a:spcBef>
            </a:pPr>
            <a:r>
              <a:rPr sz="1300" b="0" i="0">
                <a:solidFill>
                  <a:srgbClr val="2A333B"/>
                </a:solidFill>
                <a:latin typeface="Calibri"/>
              </a:rPr>
              <a:t>·  Names and any personal identifier — people, roles tied to a unit, contact details</a:t>
            </a:r>
          </a:p>
          <a:p>
            <a:pPr>
              <a:spcBef>
                <a:spcPts val="500"/>
              </a:spcBef>
            </a:pPr>
            <a:r>
              <a:rPr sz="1300" b="0" i="0">
                <a:solidFill>
                  <a:srgbClr val="2A333B"/>
                </a:solidFill>
                <a:latin typeface="Calibri"/>
              </a:rPr>
              <a:t>·  Unpublished amounts — budgets, salaries, internal financial figures</a:t>
            </a:r>
          </a:p>
          <a:p>
            <a:pPr>
              <a:spcBef>
                <a:spcPts val="500"/>
              </a:spcBef>
            </a:pPr>
            <a:r>
              <a:rPr sz="1300" b="0" i="0">
                <a:solidFill>
                  <a:srgbClr val="2A333B"/>
                </a:solidFill>
                <a:latin typeface="Calibri"/>
              </a:rPr>
              <a:t>·  Partner identities and consortium composition on anything unsubmitted</a:t>
            </a:r>
          </a:p>
          <a:p>
            <a:pPr>
              <a:spcBef>
                <a:spcPts val="500"/>
              </a:spcBef>
            </a:pPr>
            <a:r>
              <a:rPr sz="1300" b="0" i="0">
                <a:solidFill>
                  <a:srgbClr val="2A333B"/>
                </a:solidFill>
                <a:latin typeface="Calibri"/>
              </a:rPr>
              <a:t>·  Anything that still links the document back to a person or to an unsubmitted proposal</a:t>
            </a:r>
          </a:p>
        </p:txBody>
      </p:sp>
      <p:sp>
        <p:nvSpPr>
          <p:cNvPr id="9" name="Rectangle 8"/>
          <p:cNvSpPr/>
          <p:nvPr/>
        </p:nvSpPr>
        <p:spPr>
          <a:xfrm>
            <a:off x="548640" y="2944368"/>
            <a:ext cx="82296" cy="155448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4590288"/>
            <a:ext cx="11091672" cy="93268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1C242B"/>
                </a:solidFill>
                <a:latin typeface="Cambria"/>
              </a:rPr>
              <a:t>You did this in Lesson 1</a:t>
            </a:r>
          </a:p>
          <a:p>
            <a:pPr algn="l">
              <a:spcBef>
                <a:spcPts val="400"/>
              </a:spcBef>
            </a:pPr>
            <a:r>
              <a:rPr sz="1400" b="0" i="0">
                <a:solidFill>
                  <a:srgbClr val="2A333B"/>
                </a:solidFill>
                <a:latin typeface="Calibri"/>
              </a:rPr>
              <a:t>The Anchor Project rule — real-but-anonymised, or fictional — was this rule in miniature. The anonymisation one-pager from Lesson 1's materials is the checklist.</a:t>
            </a:r>
          </a:p>
        </p:txBody>
      </p:sp>
      <p:sp>
        <p:nvSpPr>
          <p:cNvPr id="11" name="Rectangle 10"/>
          <p:cNvSpPr/>
          <p:nvPr/>
        </p:nvSpPr>
        <p:spPr>
          <a:xfrm>
            <a:off x="548640" y="4590288"/>
            <a:ext cx="82296" cy="93268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5669280"/>
            <a:ext cx="11091672" cy="365760"/>
          </a:xfrm>
          <a:prstGeom prst="rect">
            <a:avLst/>
          </a:prstGeom>
          <a:noFill/>
        </p:spPr>
        <p:txBody>
          <a:bodyPr wrap="square">
            <a:spAutoFit/>
          </a:bodyPr>
          <a:lstStyle/>
          <a:p>
            <a:pPr algn="l"/>
            <a:r>
              <a:rPr sz="1100" b="0" i="1">
                <a:solidFill>
                  <a:srgbClr val="6B747D"/>
                </a:solidFill>
                <a:latin typeface="Calibri"/>
              </a:rPr>
              <a:t>The check happens before the upload, not after the answer comes back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What must never enter Gemini</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07008"/>
            <a:ext cx="11091672" cy="365760"/>
          </a:xfrm>
          <a:prstGeom prst="rect">
            <a:avLst/>
          </a:prstGeom>
          <a:noFill/>
        </p:spPr>
        <p:txBody>
          <a:bodyPr wrap="square">
            <a:spAutoFit/>
          </a:bodyPr>
          <a:lstStyle/>
          <a:p>
            <a:pPr algn="l"/>
            <a:r>
              <a:rPr sz="1300" b="0" i="0">
                <a:solidFill>
                  <a:srgbClr val="6B747D"/>
                </a:solidFill>
                <a:latin typeface="Calibri"/>
              </a:rPr>
              <a:t>The rule Lesson 1 left open, now complete</a:t>
            </a:r>
          </a:p>
        </p:txBody>
      </p:sp>
      <p:sp>
        <p:nvSpPr>
          <p:cNvPr id="6" name="Rectangle 5"/>
          <p:cNvSpPr/>
          <p:nvPr/>
        </p:nvSpPr>
        <p:spPr>
          <a:xfrm>
            <a:off x="548640" y="1572768"/>
            <a:ext cx="11091672" cy="42062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300" b="1" i="0">
                <a:solidFill>
                  <a:srgbClr val="1C242B"/>
                </a:solidFill>
                <a:latin typeface="Calibri"/>
              </a:rPr>
              <a:t>Personal data of any kind</a:t>
            </a:r>
            <a:r>
              <a:rPr sz="1300" b="0" i="0">
                <a:solidFill>
                  <a:srgbClr val="2A333B"/>
                </a:solidFill>
                <a:latin typeface="Calibri"/>
              </a:rPr>
              <a:t> — names with roles, contact details, evaluations, CVs, personnel matters</a:t>
            </a:r>
          </a:p>
        </p:txBody>
      </p:sp>
      <p:sp>
        <p:nvSpPr>
          <p:cNvPr id="7" name="Rectangle 6"/>
          <p:cNvSpPr/>
          <p:nvPr/>
        </p:nvSpPr>
        <p:spPr>
          <a:xfrm>
            <a:off x="548640" y="1572768"/>
            <a:ext cx="82296" cy="42062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057400"/>
            <a:ext cx="11091672" cy="42062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300" b="1" i="0">
                <a:solidFill>
                  <a:srgbClr val="1C242B"/>
                </a:solidFill>
                <a:latin typeface="Calibri"/>
              </a:rPr>
              <a:t>Unsubmitted grant proposals</a:t>
            </a:r>
            <a:r>
              <a:rPr sz="1300" b="0" i="0">
                <a:solidFill>
                  <a:srgbClr val="2A333B"/>
                </a:solidFill>
                <a:latin typeface="Calibri"/>
              </a:rPr>
              <a:t> — and their drafts, budgets, partner lists</a:t>
            </a:r>
          </a:p>
        </p:txBody>
      </p:sp>
      <p:sp>
        <p:nvSpPr>
          <p:cNvPr id="9" name="Rectangle 8"/>
          <p:cNvSpPr/>
          <p:nvPr/>
        </p:nvSpPr>
        <p:spPr>
          <a:xfrm>
            <a:off x="548640" y="2057400"/>
            <a:ext cx="82296" cy="42062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542032"/>
            <a:ext cx="11091672" cy="42062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300" b="1" i="0">
                <a:solidFill>
                  <a:srgbClr val="1C242B"/>
                </a:solidFill>
                <a:latin typeface="Calibri"/>
              </a:rPr>
              <a:t>Internal financial planning</a:t>
            </a:r>
            <a:r>
              <a:rPr sz="1300" b="0" i="0">
                <a:solidFill>
                  <a:srgbClr val="2A333B"/>
                </a:solidFill>
                <a:latin typeface="Calibri"/>
              </a:rPr>
              <a:t> — and strategic documents</a:t>
            </a:r>
          </a:p>
        </p:txBody>
      </p:sp>
      <p:sp>
        <p:nvSpPr>
          <p:cNvPr id="11" name="Rectangle 10"/>
          <p:cNvSpPr/>
          <p:nvPr/>
        </p:nvSpPr>
        <p:spPr>
          <a:xfrm>
            <a:off x="548640" y="2542032"/>
            <a:ext cx="82296" cy="42062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026664"/>
            <a:ext cx="11091672" cy="42062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300" b="1" i="0">
                <a:solidFill>
                  <a:srgbClr val="1C242B"/>
                </a:solidFill>
                <a:latin typeface="Calibri"/>
              </a:rPr>
              <a:t>Unpublished research results</a:t>
            </a:r>
            <a:r>
              <a:rPr sz="1300" b="0" i="0">
                <a:solidFill>
                  <a:srgbClr val="2A333B"/>
                </a:solidFill>
                <a:latin typeface="Calibri"/>
              </a:rPr>
              <a:t> — and raw data</a:t>
            </a:r>
          </a:p>
        </p:txBody>
      </p:sp>
      <p:sp>
        <p:nvSpPr>
          <p:cNvPr id="13" name="Rectangle 12"/>
          <p:cNvSpPr/>
          <p:nvPr/>
        </p:nvSpPr>
        <p:spPr>
          <a:xfrm>
            <a:off x="548640" y="3026664"/>
            <a:ext cx="82296" cy="42062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511296"/>
            <a:ext cx="11091672" cy="42062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300" b="1" i="0">
                <a:solidFill>
                  <a:srgbClr val="1C242B"/>
                </a:solidFill>
                <a:latin typeface="Calibri"/>
              </a:rPr>
              <a:t>Results of industrial or contract research</a:t>
            </a:r>
          </a:p>
        </p:txBody>
      </p:sp>
      <p:sp>
        <p:nvSpPr>
          <p:cNvPr id="15" name="Rectangle 14"/>
          <p:cNvSpPr/>
          <p:nvPr/>
        </p:nvSpPr>
        <p:spPr>
          <a:xfrm>
            <a:off x="548640" y="3511296"/>
            <a:ext cx="82296" cy="42062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995928"/>
            <a:ext cx="11091672" cy="42062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300" b="1" i="0">
                <a:solidFill>
                  <a:srgbClr val="1C242B"/>
                </a:solidFill>
                <a:latin typeface="Calibri"/>
              </a:rPr>
              <a:t>Any document under a confidentiality or data-processing agreement</a:t>
            </a:r>
          </a:p>
        </p:txBody>
      </p:sp>
      <p:sp>
        <p:nvSpPr>
          <p:cNvPr id="17" name="Rectangle 16"/>
          <p:cNvSpPr/>
          <p:nvPr/>
        </p:nvSpPr>
        <p:spPr>
          <a:xfrm>
            <a:off x="548640" y="3995928"/>
            <a:ext cx="82296" cy="42062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480560"/>
            <a:ext cx="11091672" cy="42062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300" b="1" i="0">
                <a:solidFill>
                  <a:srgbClr val="1C242B"/>
                </a:solidFill>
                <a:latin typeface="Calibri"/>
              </a:rPr>
              <a:t>Anything not anonymised that would need to be</a:t>
            </a:r>
          </a:p>
        </p:txBody>
      </p:sp>
      <p:sp>
        <p:nvSpPr>
          <p:cNvPr id="19" name="Rectangle 18"/>
          <p:cNvSpPr/>
          <p:nvPr/>
        </p:nvSpPr>
        <p:spPr>
          <a:xfrm>
            <a:off x="548640" y="4480560"/>
            <a:ext cx="82296" cy="42062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5047488"/>
            <a:ext cx="11091672" cy="56692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600" b="1" i="0">
                <a:solidFill>
                  <a:srgbClr val="FFFFFF"/>
                </a:solidFill>
                <a:latin typeface="Cambria"/>
              </a:rPr>
              <a:t>Anything on this list  →  Sensitive Lane · Copilot Chat (Basic), anonymised first if it is a document</a:t>
            </a:r>
          </a:p>
        </p:txBody>
      </p:sp>
      <p:sp>
        <p:nvSpPr>
          <p:cNvPr id="21" name="Rectangle 20"/>
          <p:cNvSpPr/>
          <p:nvPr/>
        </p:nvSpPr>
        <p:spPr>
          <a:xfrm>
            <a:off x="548640" y="5705856"/>
            <a:ext cx="11091672" cy="5029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400" b="1" i="0">
                <a:solidFill>
                  <a:srgbClr val="FFFFFF"/>
                </a:solidFill>
                <a:latin typeface="Cambria"/>
              </a:rPr>
              <a:t>Fails the anonymisation test even there? Then it does not go into an AI tool at all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0" cy="635508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0" b="1" i="0">
                <a:solidFill>
                  <a:srgbClr val="FFFFFF"/>
                </a:solidFill>
                <a:latin typeface="Cambria"/>
              </a:rPr>
              <a:t>3</a:t>
            </a:r>
          </a:p>
        </p:txBody>
      </p:sp>
      <p:sp>
        <p:nvSpPr>
          <p:cNvPr id="3" name="TextBox 2"/>
          <p:cNvSpPr txBox="1"/>
          <p:nvPr/>
        </p:nvSpPr>
        <p:spPr>
          <a:xfrm>
            <a:off x="3474720" y="1920240"/>
            <a:ext cx="8138160" cy="1371600"/>
          </a:xfrm>
          <a:prstGeom prst="rect">
            <a:avLst/>
          </a:prstGeom>
          <a:noFill/>
        </p:spPr>
        <p:txBody>
          <a:bodyPr wrap="square" anchor="b">
            <a:spAutoFit/>
          </a:bodyPr>
          <a:lstStyle/>
          <a:p>
            <a:pPr algn="l"/>
            <a:r>
              <a:rPr sz="3400" b="1" i="0">
                <a:solidFill>
                  <a:srgbClr val="1C242B"/>
                </a:solidFill>
                <a:latin typeface="Cambria"/>
              </a:rPr>
              <a:t>Copilot Chat (Basic) in practice</a:t>
            </a:r>
          </a:p>
        </p:txBody>
      </p:sp>
      <p:sp>
        <p:nvSpPr>
          <p:cNvPr id="4" name="Rectangle 3"/>
          <p:cNvSpPr/>
          <p:nvPr/>
        </p:nvSpPr>
        <p:spPr>
          <a:xfrm>
            <a:off x="3474720" y="3401568"/>
            <a:ext cx="1097280" cy="3175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0" y="3566160"/>
            <a:ext cx="8138160" cy="457200"/>
          </a:xfrm>
          <a:prstGeom prst="rect">
            <a:avLst/>
          </a:prstGeom>
          <a:noFill/>
        </p:spPr>
        <p:txBody>
          <a:bodyPr wrap="square">
            <a:spAutoFit/>
          </a:bodyPr>
          <a:lstStyle/>
          <a:p>
            <a:pPr algn="l"/>
            <a:r>
              <a:rPr sz="1800" b="1" i="0">
                <a:solidFill>
                  <a:srgbClr val="0E7C7B"/>
                </a:solidFill>
                <a:latin typeface="Calibri"/>
              </a:rPr>
              <a:t>12 min · Live facilitator demo</a:t>
            </a:r>
          </a:p>
        </p:txBody>
      </p:sp>
      <p:sp>
        <p:nvSpPr>
          <p:cNvPr id="6" name="TextBox 5"/>
          <p:cNvSpPr txBox="1"/>
          <p:nvPr/>
        </p:nvSpPr>
        <p:spPr>
          <a:xfrm>
            <a:off x="3474720" y="4023360"/>
            <a:ext cx="8138160" cy="365760"/>
          </a:xfrm>
          <a:prstGeom prst="rect">
            <a:avLst/>
          </a:prstGeom>
          <a:noFill/>
        </p:spPr>
        <p:txBody>
          <a:bodyPr wrap="square">
            <a:spAutoFit/>
          </a:bodyPr>
          <a:lstStyle/>
          <a:p>
            <a:pPr algn="l"/>
            <a:r>
              <a:rPr sz="1200" b="0" i="0">
                <a:solidFill>
                  <a:srgbClr val="6B747D"/>
                </a:solidFill>
                <a:latin typeface="Calibri"/>
              </a:rPr>
              <a:t>Segment 3 of 5 · Sensitive Lane · Copilot Chat (Basic)</a:t>
            </a:r>
          </a:p>
        </p:txBody>
      </p:sp>
      <p:sp>
        <p:nvSpPr>
          <p:cNvPr id="7" name="Rectangle 6"/>
          <p:cNvSpPr/>
          <p:nvPr/>
        </p:nvSpPr>
        <p:spPr>
          <a:xfrm>
            <a:off x="34747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605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846320" y="5989320"/>
            <a:ext cx="502920" cy="73152"/>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321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Four scenarios in the Sensitive Lane</a:t>
            </a:r>
          </a:p>
        </p:txBody>
      </p:sp>
      <p:sp>
        <p:nvSpPr>
          <p:cNvPr id="3" name="Rounded Rectangle 2"/>
          <p:cNvSpPr/>
          <p:nvPr/>
        </p:nvSpPr>
        <p:spPr>
          <a:xfrm>
            <a:off x="8714232" y="457200"/>
            <a:ext cx="2926080" cy="329184"/>
          </a:xfrm>
          <a:prstGeom prst="round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SENSITIVE LANE · COPILOT CHAT (BASIC)</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88720"/>
            <a:ext cx="11091672" cy="365760"/>
          </a:xfrm>
          <a:prstGeom prst="rect">
            <a:avLst/>
          </a:prstGeom>
          <a:noFill/>
        </p:spPr>
        <p:txBody>
          <a:bodyPr wrap="square">
            <a:spAutoFit/>
          </a:bodyPr>
          <a:lstStyle/>
          <a:p>
            <a:pPr algn="l"/>
            <a:r>
              <a:rPr sz="1300" b="0" i="0">
                <a:solidFill>
                  <a:srgbClr val="6B747D"/>
                </a:solidFill>
                <a:latin typeface="Calibri"/>
              </a:rPr>
              <a:t>Same prompt shape as last week — ICC: Instruction · Context · Constraints (Lesson 1). The lane decides where a prompt goes, never how it is written.</a:t>
            </a:r>
          </a:p>
        </p:txBody>
      </p:sp>
      <p:sp>
        <p:nvSpPr>
          <p:cNvPr id="7" name="Rectangle 6"/>
          <p:cNvSpPr/>
          <p:nvPr/>
        </p:nvSpPr>
        <p:spPr>
          <a:xfrm>
            <a:off x="548640" y="1517904"/>
            <a:ext cx="11091672" cy="74980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09728" bIns="36576"/>
          <a:lstStyle/>
          <a:p>
            <a:pPr algn="l"/>
            <a:r>
              <a:rPr sz="1300" b="1" i="0">
                <a:solidFill>
                  <a:srgbClr val="1C242B"/>
                </a:solidFill>
                <a:latin typeface="Cambria"/>
              </a:rPr>
              <a:t>Internal administration</a:t>
            </a:r>
            <a:r>
              <a:rPr sz="1300" b="0" i="0">
                <a:solidFill>
                  <a:srgbClr val="2A333B"/>
                </a:solidFill>
                <a:latin typeface="Calibri"/>
              </a:rPr>
              <a:t>   “Turn these meeting notes into a decision log and action list”</a:t>
            </a:r>
          </a:p>
          <a:p>
            <a:pPr>
              <a:spcBef>
                <a:spcPts val="300"/>
              </a:spcBef>
            </a:pPr>
            <a:r>
              <a:rPr sz="1100" b="0" i="0">
                <a:solidFill>
                  <a:srgbClr val="6B747D"/>
                </a:solidFill>
                <a:latin typeface="Calibri"/>
              </a:rPr>
              <a:t>Notes pasted in, names replaced by roles</a:t>
            </a:r>
          </a:p>
        </p:txBody>
      </p:sp>
      <p:sp>
        <p:nvSpPr>
          <p:cNvPr id="8" name="Rectangle 7"/>
          <p:cNvSpPr/>
          <p:nvPr/>
        </p:nvSpPr>
        <p:spPr>
          <a:xfrm>
            <a:off x="548640" y="1517904"/>
            <a:ext cx="82296" cy="7498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340864"/>
            <a:ext cx="11091672" cy="74980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09728" bIns="36576"/>
          <a:lstStyle/>
          <a:p>
            <a:pPr algn="l"/>
            <a:r>
              <a:rPr sz="1300" b="1" i="0">
                <a:solidFill>
                  <a:srgbClr val="1C242B"/>
                </a:solidFill>
                <a:latin typeface="Cambria"/>
              </a:rPr>
              <a:t>Unsubmitted proposals</a:t>
            </a:r>
            <a:r>
              <a:rPr sz="1300" b="0" i="0">
                <a:solidFill>
                  <a:srgbClr val="2A333B"/>
                </a:solidFill>
                <a:latin typeface="Calibri"/>
              </a:rPr>
              <a:t>   “Check this draft work-package description against the call's evaluation criteria and list gaps”</a:t>
            </a:r>
          </a:p>
          <a:p>
            <a:pPr>
              <a:spcBef>
                <a:spcPts val="300"/>
              </a:spcBef>
            </a:pPr>
            <a:r>
              <a:rPr sz="1100" b="0" i="0">
                <a:solidFill>
                  <a:srgbClr val="6B747D"/>
                </a:solidFill>
                <a:latin typeface="Calibri"/>
              </a:rPr>
              <a:t>The call text and the draft, both pasted in</a:t>
            </a:r>
          </a:p>
        </p:txBody>
      </p:sp>
      <p:sp>
        <p:nvSpPr>
          <p:cNvPr id="10" name="Rectangle 9"/>
          <p:cNvSpPr/>
          <p:nvPr/>
        </p:nvSpPr>
        <p:spPr>
          <a:xfrm>
            <a:off x="548640" y="2340864"/>
            <a:ext cx="82296" cy="7498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163824"/>
            <a:ext cx="11091672" cy="74980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09728" bIns="36576"/>
          <a:lstStyle/>
          <a:p>
            <a:pPr algn="l"/>
            <a:r>
              <a:rPr sz="1300" b="1" i="0">
                <a:solidFill>
                  <a:srgbClr val="1C242B"/>
                </a:solidFill>
                <a:latin typeface="Cambria"/>
              </a:rPr>
              <a:t>Personnel matters</a:t>
            </a:r>
            <a:r>
              <a:rPr sz="1300" b="0" i="0">
                <a:solidFill>
                  <a:srgbClr val="2A333B"/>
                </a:solidFill>
                <a:latin typeface="Calibri"/>
              </a:rPr>
              <a:t>   “Draft a neutral workload-distribution note for a three-person unit from these constraints”</a:t>
            </a:r>
          </a:p>
          <a:p>
            <a:pPr>
              <a:spcBef>
                <a:spcPts val="300"/>
              </a:spcBef>
            </a:pPr>
            <a:r>
              <a:rPr sz="1100" b="0" i="0">
                <a:solidFill>
                  <a:srgbClr val="6B747D"/>
                </a:solidFill>
                <a:latin typeface="Calibri"/>
              </a:rPr>
              <a:t>Constraints as roles and hours — no names, no evaluations</a:t>
            </a:r>
          </a:p>
        </p:txBody>
      </p:sp>
      <p:sp>
        <p:nvSpPr>
          <p:cNvPr id="12" name="Rectangle 11"/>
          <p:cNvSpPr/>
          <p:nvPr/>
        </p:nvSpPr>
        <p:spPr>
          <a:xfrm>
            <a:off x="548640" y="3163824"/>
            <a:ext cx="82296" cy="7498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986784"/>
            <a:ext cx="11091672" cy="74980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09728" bIns="36576"/>
          <a:lstStyle/>
          <a:p>
            <a:pPr algn="l"/>
            <a:r>
              <a:rPr sz="1300" b="1" i="0">
                <a:solidFill>
                  <a:srgbClr val="1C242B"/>
                </a:solidFill>
                <a:latin typeface="Cambria"/>
              </a:rPr>
              <a:t>Strategic financial planning</a:t>
            </a:r>
            <a:r>
              <a:rPr sz="1300" b="0" i="0">
                <a:solidFill>
                  <a:srgbClr val="2A333B"/>
                </a:solidFill>
                <a:latin typeface="Calibri"/>
              </a:rPr>
              <a:t>   “Build a three-scenario cost projection table from these assumptions”</a:t>
            </a:r>
          </a:p>
          <a:p>
            <a:pPr>
              <a:spcBef>
                <a:spcPts val="300"/>
              </a:spcBef>
            </a:pPr>
            <a:r>
              <a:rPr sz="1100" b="0" i="0">
                <a:solidFill>
                  <a:srgbClr val="6B747D"/>
                </a:solidFill>
                <a:latin typeface="Calibri"/>
              </a:rPr>
              <a:t>Assumptions in; the figures never leave the institutional tenant</a:t>
            </a:r>
          </a:p>
        </p:txBody>
      </p:sp>
      <p:sp>
        <p:nvSpPr>
          <p:cNvPr id="14" name="Rectangle 13"/>
          <p:cNvSpPr/>
          <p:nvPr/>
        </p:nvSpPr>
        <p:spPr>
          <a:xfrm>
            <a:off x="548640" y="3986784"/>
            <a:ext cx="82296" cy="7498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4956048"/>
            <a:ext cx="1109167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600" b="1" i="0">
                <a:solidFill>
                  <a:srgbClr val="FFFFFF"/>
                </a:solidFill>
                <a:latin typeface="Cambria"/>
              </a:rPr>
              <a:t>▶ LIVE DEMO — Scenario 1 in Copilot Chat — anonymised meeting notes in, decision log and action list out</a:t>
            </a:r>
          </a:p>
        </p:txBody>
      </p:sp>
      <p:sp>
        <p:nvSpPr>
          <p:cNvPr id="16" name="Rectangle 15"/>
          <p:cNvSpPr/>
          <p:nvPr/>
        </p:nvSpPr>
        <p:spPr>
          <a:xfrm>
            <a:off x="548640" y="4956048"/>
            <a:ext cx="9144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956048"/>
            <a:ext cx="45720"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614416"/>
            <a:ext cx="11091672" cy="365760"/>
          </a:xfrm>
          <a:prstGeom prst="rect">
            <a:avLst/>
          </a:prstGeom>
          <a:noFill/>
        </p:spPr>
        <p:txBody>
          <a:bodyPr wrap="square">
            <a:spAutoFit/>
          </a:bodyPr>
          <a:lstStyle/>
          <a:p>
            <a:pPr algn="l"/>
            <a:r>
              <a:rPr sz="1100" b="0" i="1">
                <a:solidFill>
                  <a:srgbClr val="6B747D"/>
                </a:solidFill>
                <a:latin typeface="Calibri"/>
              </a:rPr>
              <a:t>You reproduce the other three in the assignment and at Practice Week 1 — watch the shape of the prompt, not the wording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Limits and guardrails</a:t>
            </a:r>
          </a:p>
        </p:txBody>
      </p:sp>
      <p:sp>
        <p:nvSpPr>
          <p:cNvPr id="3" name="Rounded Rectangle 2"/>
          <p:cNvSpPr/>
          <p:nvPr/>
        </p:nvSpPr>
        <p:spPr>
          <a:xfrm>
            <a:off x="8714232" y="457200"/>
            <a:ext cx="2926080" cy="329184"/>
          </a:xfrm>
          <a:prstGeom prst="round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SENSITIVE LANE · COPILOT CHAT (BASIC)</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07008"/>
            <a:ext cx="11091672" cy="365760"/>
          </a:xfrm>
          <a:prstGeom prst="rect">
            <a:avLst/>
          </a:prstGeom>
          <a:noFill/>
        </p:spPr>
        <p:txBody>
          <a:bodyPr wrap="square">
            <a:spAutoFit/>
          </a:bodyPr>
          <a:lstStyle/>
          <a:p>
            <a:pPr algn="l"/>
            <a:r>
              <a:rPr sz="1300" b="0" i="0">
                <a:solidFill>
                  <a:srgbClr val="6B747D"/>
                </a:solidFill>
                <a:latin typeface="Calibri"/>
              </a:rPr>
              <a:t>What the institutional account buys you, and what it does not</a:t>
            </a:r>
          </a:p>
        </p:txBody>
      </p:sp>
      <p:sp>
        <p:nvSpPr>
          <p:cNvPr id="7" name="Rectangle 6"/>
          <p:cNvSpPr/>
          <p:nvPr/>
        </p:nvSpPr>
        <p:spPr>
          <a:xfrm>
            <a:off x="548640" y="1572768"/>
            <a:ext cx="5440680" cy="16459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201168"/>
          <a:lstStyle/>
          <a:p>
            <a:pPr algn="l"/>
            <a:r>
              <a:rPr sz="1800" b="1" i="0">
                <a:solidFill>
                  <a:srgbClr val="1C242B"/>
                </a:solidFill>
                <a:latin typeface="Cambria"/>
              </a:rPr>
              <a:t>Enterprise behaviour</a:t>
            </a:r>
          </a:p>
          <a:p>
            <a:pPr algn="l">
              <a:spcBef>
                <a:spcPts val="400"/>
              </a:spcBef>
            </a:pPr>
            <a:r>
              <a:rPr sz="1400" b="0" i="0">
                <a:solidFill>
                  <a:srgbClr val="2A333B"/>
                </a:solidFill>
                <a:latin typeface="Calibri"/>
              </a:rPr>
              <a:t>Prompts and answers stay inside the institutional Microsoft 365 tenant, are not used to train the models, and are covered by the same terms as the institution's other tenant data. This is what makes it the Sensitive Lane.</a:t>
            </a:r>
          </a:p>
        </p:txBody>
      </p:sp>
      <p:sp>
        <p:nvSpPr>
          <p:cNvPr id="8" name="Rectangle 7"/>
          <p:cNvSpPr/>
          <p:nvPr/>
        </p:nvSpPr>
        <p:spPr>
          <a:xfrm>
            <a:off x="548640" y="1572768"/>
            <a:ext cx="82296" cy="16459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9632" y="1572768"/>
            <a:ext cx="5440680" cy="16459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201168"/>
          <a:lstStyle/>
          <a:p>
            <a:pPr algn="l"/>
            <a:r>
              <a:rPr sz="1800" b="1" i="0">
                <a:solidFill>
                  <a:srgbClr val="1C242B"/>
                </a:solidFill>
                <a:latin typeface="Cambria"/>
              </a:rPr>
              <a:t>No SharePoint or OneDrive grounding</a:t>
            </a:r>
          </a:p>
          <a:p>
            <a:pPr algn="l">
              <a:spcBef>
                <a:spcPts val="400"/>
              </a:spcBef>
            </a:pPr>
            <a:r>
              <a:rPr sz="1400" b="0" i="0">
                <a:solidFill>
                  <a:srgbClr val="2A333B"/>
                </a:solidFill>
                <a:latin typeface="Calibri"/>
              </a:rPr>
              <a:t>It does not read the institution's files by itself. What it knows about a task is what you paste or attach — the relevant content has to be brought to it, and curated on the way in (context window, Lesson 1).</a:t>
            </a:r>
          </a:p>
        </p:txBody>
      </p:sp>
      <p:sp>
        <p:nvSpPr>
          <p:cNvPr id="10" name="Rectangle 9"/>
          <p:cNvSpPr/>
          <p:nvPr/>
        </p:nvSpPr>
        <p:spPr>
          <a:xfrm>
            <a:off x="6199632" y="1572768"/>
            <a:ext cx="82296" cy="16459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310128"/>
            <a:ext cx="5440680" cy="16459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201168"/>
          <a:lstStyle/>
          <a:p>
            <a:pPr algn="l"/>
            <a:r>
              <a:rPr sz="1800" b="1" i="0">
                <a:solidFill>
                  <a:srgbClr val="1C242B"/>
                </a:solidFill>
                <a:latin typeface="Cambria"/>
              </a:rPr>
              <a:t>Weaker on general work</a:t>
            </a:r>
          </a:p>
          <a:p>
            <a:pPr algn="l">
              <a:spcBef>
                <a:spcPts val="400"/>
              </a:spcBef>
            </a:pPr>
            <a:r>
              <a:rPr sz="1400" b="0" i="0">
                <a:solidFill>
                  <a:srgbClr val="2A333B"/>
                </a:solidFill>
                <a:latin typeface="Calibri"/>
              </a:rPr>
              <a:t>Shorter effective context and fewer capabilities than a free-tier tool. Sending ordinary drafting or research work here costs you quality and buys you nothing.</a:t>
            </a:r>
          </a:p>
        </p:txBody>
      </p:sp>
      <p:sp>
        <p:nvSpPr>
          <p:cNvPr id="12" name="Rectangle 11"/>
          <p:cNvSpPr/>
          <p:nvPr/>
        </p:nvSpPr>
        <p:spPr>
          <a:xfrm>
            <a:off x="548640" y="3310128"/>
            <a:ext cx="82296" cy="16459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3310128"/>
            <a:ext cx="5440680" cy="16459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201168"/>
          <a:lstStyle/>
          <a:p>
            <a:pPr algn="l"/>
            <a:r>
              <a:rPr sz="1800" b="1" i="0">
                <a:solidFill>
                  <a:srgbClr val="1C242B"/>
                </a:solidFill>
                <a:latin typeface="Cambria"/>
              </a:rPr>
              <a:t>Anonymise anyway</a:t>
            </a:r>
          </a:p>
          <a:p>
            <a:pPr algn="l">
              <a:spcBef>
                <a:spcPts val="400"/>
              </a:spcBef>
            </a:pPr>
            <a:r>
              <a:rPr sz="1400" b="0" i="0">
                <a:solidFill>
                  <a:srgbClr val="2A333B"/>
                </a:solidFill>
                <a:latin typeface="Calibri"/>
              </a:rPr>
              <a:t>The tenant boundary does not lift the anonymise-before-upload rule. A document carrying personal or sensitive information is anonymised before it is attached here too.</a:t>
            </a:r>
          </a:p>
        </p:txBody>
      </p:sp>
      <p:sp>
        <p:nvSpPr>
          <p:cNvPr id="14" name="Rectangle 13"/>
          <p:cNvSpPr/>
          <p:nvPr/>
        </p:nvSpPr>
        <p:spPr>
          <a:xfrm>
            <a:off x="6199632" y="3310128"/>
            <a:ext cx="82296" cy="16459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5175504"/>
            <a:ext cx="11091672" cy="713232"/>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900" b="1" i="0">
                <a:solidFill>
                  <a:srgbClr val="FFFFFF"/>
                </a:solidFill>
                <a:latin typeface="Cambria"/>
              </a:rPr>
              <a:t>Reserve it for the sensitive work</a:t>
            </a:r>
          </a:p>
          <a:p>
            <a:pPr algn="ctr">
              <a:spcBef>
                <a:spcPts val="600"/>
              </a:spcBef>
            </a:pPr>
            <a:r>
              <a:rPr sz="1300" b="0" i="0">
                <a:solidFill>
                  <a:srgbClr val="FFFFFF"/>
                </a:solidFill>
                <a:latin typeface="Calibri"/>
              </a:rPr>
              <a:t>The boundary is the whole reason this lane exists — and the reason everything else belongs somewhere else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Adobe Acrobat in Teams and Copilot</a:t>
            </a:r>
          </a:p>
        </p:txBody>
      </p:sp>
      <p:sp>
        <p:nvSpPr>
          <p:cNvPr id="3" name="Rounded Rectangle 2"/>
          <p:cNvSpPr/>
          <p:nvPr/>
        </p:nvSpPr>
        <p:spPr>
          <a:xfrm>
            <a:off x="8714232" y="457200"/>
            <a:ext cx="2926080" cy="329184"/>
          </a:xfrm>
          <a:prstGeom prst="round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SENSITIVE LANE · COPILOT CHAT (BASIC)</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11091672" cy="786384"/>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600" b="1" i="0">
                <a:solidFill>
                  <a:srgbClr val="FFFFFF"/>
                </a:solidFill>
                <a:latin typeface="Cambria"/>
              </a:rPr>
              <a:t>A call document lands as a PDF in a Teams channel: read it in high fidelity, and collect the unit's comments in that one file instead of reconciling four separate attachments</a:t>
            </a:r>
          </a:p>
        </p:txBody>
      </p:sp>
      <p:sp>
        <p:nvSpPr>
          <p:cNvPr id="7" name="Rectangle 6"/>
          <p:cNvSpPr/>
          <p:nvPr/>
        </p:nvSpPr>
        <p:spPr>
          <a:xfrm>
            <a:off x="548640" y="2103120"/>
            <a:ext cx="5440680" cy="23957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146304"/>
          <a:lstStyle/>
          <a:p>
            <a:pPr algn="l"/>
            <a:r>
              <a:rPr sz="1800" b="1" i="0">
                <a:solidFill>
                  <a:srgbClr val="1C242B"/>
                </a:solidFill>
                <a:latin typeface="Cambria"/>
              </a:rPr>
              <a:t>Free to use</a:t>
            </a:r>
          </a:p>
          <a:p>
            <a:pPr>
              <a:spcBef>
                <a:spcPts val="500"/>
              </a:spcBef>
            </a:pPr>
            <a:r>
              <a:rPr sz="1150" b="0" i="0">
                <a:solidFill>
                  <a:srgbClr val="2A333B"/>
                </a:solidFill>
                <a:latin typeface="Calibri"/>
              </a:rPr>
              <a:t>·  High-quality viewing — high-fidelity PDFs opened inside Teams, Outlook and Microsoft 365</a:t>
            </a:r>
          </a:p>
          <a:p>
            <a:pPr>
              <a:spcBef>
                <a:spcPts val="500"/>
              </a:spcBef>
            </a:pPr>
            <a:r>
              <a:rPr sz="1150" b="0" i="0">
                <a:solidFill>
                  <a:srgbClr val="2A333B"/>
                </a:solidFill>
                <a:latin typeface="Calibri"/>
              </a:rPr>
              <a:t>·  Central access to PDFs — channel and chat files, OneDrive and your own machine, in one place</a:t>
            </a:r>
          </a:p>
          <a:p>
            <a:pPr>
              <a:spcBef>
                <a:spcPts val="500"/>
              </a:spcBef>
            </a:pPr>
            <a:r>
              <a:rPr sz="1150" b="0" i="0">
                <a:solidFill>
                  <a:srgbClr val="2A333B"/>
                </a:solidFill>
                <a:latin typeface="Calibri"/>
              </a:rPr>
              <a:t>·  Streamline PDF review — the unit's feedback collected in a single PDF inside Teams (not on mobile)</a:t>
            </a:r>
          </a:p>
          <a:p>
            <a:pPr>
              <a:spcBef>
                <a:spcPts val="500"/>
              </a:spcBef>
            </a:pPr>
            <a:r>
              <a:rPr sz="1150" b="0" i="0">
                <a:solidFill>
                  <a:srgbClr val="2A333B"/>
                </a:solidFill>
                <a:latin typeface="Calibri"/>
              </a:rPr>
              <a:t>·  Keep reviewers informed — a reviewer is notified when someone replies to their comment</a:t>
            </a:r>
          </a:p>
          <a:p>
            <a:pPr>
              <a:spcBef>
                <a:spcPts val="500"/>
              </a:spcBef>
            </a:pPr>
            <a:r>
              <a:rPr sz="1150" b="0" i="0">
                <a:solidFill>
                  <a:srgbClr val="2A333B"/>
                </a:solidFill>
                <a:latin typeface="Calibri"/>
              </a:rPr>
              <a:t>·  Collaborate with confidence — versions retained in SharePoint or OneDrive</a:t>
            </a:r>
          </a:p>
        </p:txBody>
      </p:sp>
      <p:sp>
        <p:nvSpPr>
          <p:cNvPr id="8" name="Rectangle 7"/>
          <p:cNvSpPr/>
          <p:nvPr/>
        </p:nvSpPr>
        <p:spPr>
          <a:xfrm>
            <a:off x="548640" y="2103120"/>
            <a:ext cx="82296" cy="23957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9632" y="2103120"/>
            <a:ext cx="5440680" cy="115214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Not available — Premium (needs an Acrobat subscription)</a:t>
            </a:r>
          </a:p>
          <a:p>
            <a:pPr>
              <a:spcBef>
                <a:spcPts val="300"/>
              </a:spcBef>
            </a:pPr>
            <a:r>
              <a:rPr sz="1100" b="0" i="0">
                <a:solidFill>
                  <a:srgbClr val="2A333B"/>
                </a:solidFill>
                <a:latin typeface="Calibri"/>
              </a:rPr>
              <a:t>Convert PDFs to Word, Excel and PowerPoint, or to an image · combine multiple documents into one PDF · delete, rotate, extract, insert or reorder pages · reduce the size of a PDF · add a password</a:t>
            </a:r>
          </a:p>
        </p:txBody>
      </p:sp>
      <p:sp>
        <p:nvSpPr>
          <p:cNvPr id="10" name="Rectangle 9"/>
          <p:cNvSpPr/>
          <p:nvPr/>
        </p:nvSpPr>
        <p:spPr>
          <a:xfrm>
            <a:off x="6199632" y="2103120"/>
            <a:ext cx="82296" cy="115214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9632" y="3346704"/>
            <a:ext cx="5440680" cy="115214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Not available — AI Assistant (needs the add-on)</a:t>
            </a:r>
          </a:p>
          <a:p>
            <a:pPr>
              <a:spcBef>
                <a:spcPts val="300"/>
              </a:spcBef>
            </a:pPr>
            <a:r>
              <a:rPr sz="1100" b="0" i="0">
                <a:solidFill>
                  <a:srgbClr val="2A333B"/>
                </a:solidFill>
                <a:latin typeface="Calibri"/>
              </a:rPr>
              <a:t>Answers about a document with attributions back to the source · drafting from your own documents · meeting transcript summaries</a:t>
            </a:r>
          </a:p>
        </p:txBody>
      </p:sp>
      <p:sp>
        <p:nvSpPr>
          <p:cNvPr id="12" name="Rectangle 11"/>
          <p:cNvSpPr/>
          <p:nvPr/>
        </p:nvSpPr>
        <p:spPr>
          <a:xfrm>
            <a:off x="6199632" y="3346704"/>
            <a:ext cx="82296" cy="115214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608576"/>
            <a:ext cx="11091672" cy="6766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you do</a:t>
            </a:r>
          </a:p>
          <a:p>
            <a:pPr>
              <a:spcBef>
                <a:spcPts val="300"/>
              </a:spcBef>
            </a:pPr>
            <a:r>
              <a:rPr sz="1200" b="0" i="0">
                <a:solidFill>
                  <a:srgbClr val="2A333B"/>
                </a:solidFill>
                <a:latin typeface="Calibri"/>
              </a:rPr>
              <a:t>Open the PDF from the channel → Comment → share the review back to the channel, so every reply lands on the same file</a:t>
            </a:r>
          </a:p>
        </p:txBody>
      </p:sp>
      <p:sp>
        <p:nvSpPr>
          <p:cNvPr id="14" name="Rectangle 13"/>
          <p:cNvSpPr/>
          <p:nvPr/>
        </p:nvSpPr>
        <p:spPr>
          <a:xfrm>
            <a:off x="548640" y="4608576"/>
            <a:ext cx="82296" cy="67665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5394960"/>
            <a:ext cx="11091672" cy="585216"/>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500" b="1" i="0">
                <a:solidFill>
                  <a:srgbClr val="FFFFFF"/>
                </a:solidFill>
                <a:latin typeface="Cambria"/>
              </a:rPr>
              <a:t>Plan the workflow around the free features — the paid tiers are not part of the institutional licence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Prompt Coach — your own prompt, critiqued</a:t>
            </a:r>
          </a:p>
        </p:txBody>
      </p:sp>
      <p:sp>
        <p:nvSpPr>
          <p:cNvPr id="3" name="Rounded Rectangle 2"/>
          <p:cNvSpPr/>
          <p:nvPr/>
        </p:nvSpPr>
        <p:spPr>
          <a:xfrm>
            <a:off x="8714232" y="457200"/>
            <a:ext cx="2926080" cy="329184"/>
          </a:xfrm>
          <a:prstGeom prst="round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SENSITIVE LANE · COPILOT CHAT (BASIC)</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11091672" cy="7315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700" b="1" i="0">
                <a:solidFill>
                  <a:srgbClr val="FFFFFF"/>
                </a:solidFill>
                <a:latin typeface="Cambria"/>
              </a:rPr>
              <a:t>Take one of the three ICC prompts from your Lesson 1 assignment, paste it in, and ask for a critique and a rewrite</a:t>
            </a:r>
          </a:p>
        </p:txBody>
      </p:sp>
      <p:sp>
        <p:nvSpPr>
          <p:cNvPr id="7" name="Rectangle 6"/>
          <p:cNvSpPr/>
          <p:nvPr/>
        </p:nvSpPr>
        <p:spPr>
          <a:xfrm>
            <a:off x="548640" y="2084831"/>
            <a:ext cx="11091672" cy="85953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you type</a:t>
            </a:r>
          </a:p>
          <a:p>
            <a:pPr>
              <a:spcBef>
                <a:spcPts val="300"/>
              </a:spcBef>
            </a:pPr>
            <a:r>
              <a:rPr sz="1250" b="0" i="0">
                <a:solidFill>
                  <a:srgbClr val="2A333B"/>
                </a:solidFill>
                <a:latin typeface="Calibri"/>
              </a:rPr>
              <a:t>“Here is a prompt I wrote and the goal it was meant to serve. Critique it against that goal, then give me an improved version and explain each change.”</a:t>
            </a:r>
          </a:p>
        </p:txBody>
      </p:sp>
      <p:sp>
        <p:nvSpPr>
          <p:cNvPr id="8" name="Rectangle 7"/>
          <p:cNvSpPr/>
          <p:nvPr/>
        </p:nvSpPr>
        <p:spPr>
          <a:xfrm>
            <a:off x="548640" y="2084831"/>
            <a:ext cx="82296" cy="85953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090672"/>
            <a:ext cx="5440680" cy="128016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comes back</a:t>
            </a:r>
          </a:p>
          <a:p>
            <a:pPr>
              <a:spcBef>
                <a:spcPts val="300"/>
              </a:spcBef>
            </a:pPr>
            <a:r>
              <a:rPr sz="1150" b="0" i="0">
                <a:solidFill>
                  <a:srgbClr val="2A333B"/>
                </a:solidFill>
                <a:latin typeface="Calibri"/>
              </a:rPr>
              <a:t>·  A critique of your prompt against the goal you stated</a:t>
            </a:r>
          </a:p>
          <a:p>
            <a:pPr>
              <a:spcBef>
                <a:spcPts val="300"/>
              </a:spcBef>
            </a:pPr>
            <a:r>
              <a:rPr sz="1150" b="0" i="0">
                <a:solidFill>
                  <a:srgbClr val="2A333B"/>
                </a:solidFill>
                <a:latin typeface="Calibri"/>
              </a:rPr>
              <a:t>·  An improved version, ready to paste</a:t>
            </a:r>
          </a:p>
          <a:p>
            <a:pPr>
              <a:spcBef>
                <a:spcPts val="300"/>
              </a:spcBef>
            </a:pPr>
            <a:r>
              <a:rPr sz="1150" b="0" i="0">
                <a:solidFill>
                  <a:srgbClr val="2A333B"/>
                </a:solidFill>
                <a:latin typeface="Calibri"/>
              </a:rPr>
              <a:t>·  The reasoning behind each change — so the next prompt is better before it is critiqued</a:t>
            </a:r>
          </a:p>
        </p:txBody>
      </p:sp>
      <p:sp>
        <p:nvSpPr>
          <p:cNvPr id="10" name="Rectangle 9"/>
          <p:cNvSpPr/>
          <p:nvPr/>
        </p:nvSpPr>
        <p:spPr>
          <a:xfrm>
            <a:off x="548640" y="3090672"/>
            <a:ext cx="82296" cy="128016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9632" y="3090672"/>
            <a:ext cx="5440680" cy="128016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The Lesson 1 link</a:t>
            </a:r>
          </a:p>
          <a:p>
            <a:pPr>
              <a:spcBef>
                <a:spcPts val="300"/>
              </a:spcBef>
            </a:pPr>
            <a:r>
              <a:rPr sz="1150" b="0" i="0">
                <a:solidFill>
                  <a:srgbClr val="2A333B"/>
                </a:solidFill>
                <a:latin typeface="Calibri"/>
              </a:rPr>
              <a:t>·  Meta-prompting, packaged as an agent: the model as your prompt engineer, with the coach persona already built in</a:t>
            </a:r>
          </a:p>
          <a:p>
            <a:pPr>
              <a:spcBef>
                <a:spcPts val="300"/>
              </a:spcBef>
            </a:pPr>
            <a:r>
              <a:rPr sz="1150" b="0" i="0">
                <a:solidFill>
                  <a:srgbClr val="2A333B"/>
                </a:solidFill>
                <a:latin typeface="Calibri"/>
              </a:rPr>
              <a:t>·  Keep the improved prompt — it is the first entry in your prompt library</a:t>
            </a:r>
          </a:p>
        </p:txBody>
      </p:sp>
      <p:sp>
        <p:nvSpPr>
          <p:cNvPr id="12" name="Rectangle 11"/>
          <p:cNvSpPr/>
          <p:nvPr/>
        </p:nvSpPr>
        <p:spPr>
          <a:xfrm>
            <a:off x="6199632" y="3090672"/>
            <a:ext cx="82296" cy="128016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535424"/>
            <a:ext cx="1109167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600" b="1" i="0">
                <a:solidFill>
                  <a:srgbClr val="FFFFFF"/>
                </a:solidFill>
                <a:latin typeface="Cambria"/>
              </a:rPr>
              <a:t>▶ LIVE DEMO — Prompt Coach on an ICC prompt from the debrief — with the author's permission</a:t>
            </a:r>
          </a:p>
        </p:txBody>
      </p:sp>
      <p:sp>
        <p:nvSpPr>
          <p:cNvPr id="14" name="Rectangle 13"/>
          <p:cNvSpPr/>
          <p:nvPr/>
        </p:nvSpPr>
        <p:spPr>
          <a:xfrm>
            <a:off x="548640" y="4535424"/>
            <a:ext cx="9144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4535424"/>
            <a:ext cx="45720"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5193792"/>
            <a:ext cx="11091672" cy="365760"/>
          </a:xfrm>
          <a:prstGeom prst="rect">
            <a:avLst/>
          </a:prstGeom>
          <a:noFill/>
        </p:spPr>
        <p:txBody>
          <a:bodyPr wrap="square">
            <a:spAutoFit/>
          </a:bodyPr>
          <a:lstStyle/>
          <a:p>
            <a:pPr algn="l"/>
            <a:r>
              <a:rPr sz="1100" b="0" i="1">
                <a:solidFill>
                  <a:srgbClr val="6B747D"/>
                </a:solidFill>
                <a:latin typeface="Calibri"/>
              </a:rPr>
              <a:t>A prompt is worth improving once and reusing twenty times — that is what a prompt library is for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Study and Learn — concepts, flashcards, quizzes</a:t>
            </a:r>
          </a:p>
        </p:txBody>
      </p:sp>
      <p:sp>
        <p:nvSpPr>
          <p:cNvPr id="3" name="Rounded Rectangle 2"/>
          <p:cNvSpPr/>
          <p:nvPr/>
        </p:nvSpPr>
        <p:spPr>
          <a:xfrm>
            <a:off x="8714232" y="457200"/>
            <a:ext cx="2926080" cy="329184"/>
          </a:xfrm>
          <a:prstGeom prst="round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SENSITIVE LANE · COPILOT CHAT (BASIC)</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11091672" cy="786384"/>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600" b="1" i="0">
                <a:solidFill>
                  <a:srgbClr val="FFFFFF"/>
                </a:solidFill>
                <a:latin typeface="Cambria"/>
              </a:rPr>
              <a:t>Explain a concept from your Anchor Project's domain — eligible costs, say — then turn the explanation into flashcards and a five-question quiz for a junior colleague</a:t>
            </a:r>
          </a:p>
        </p:txBody>
      </p:sp>
      <p:sp>
        <p:nvSpPr>
          <p:cNvPr id="7" name="Rectangle 6"/>
          <p:cNvSpPr/>
          <p:nvPr/>
        </p:nvSpPr>
        <p:spPr>
          <a:xfrm>
            <a:off x="548640" y="2157984"/>
            <a:ext cx="3557016" cy="987552"/>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500" b="1" i="0">
                <a:solidFill>
                  <a:srgbClr val="1C242B"/>
                </a:solidFill>
                <a:latin typeface="Cambria"/>
              </a:rPr>
              <a:t>Understand</a:t>
            </a:r>
          </a:p>
          <a:p>
            <a:pPr>
              <a:spcBef>
                <a:spcPts val="300"/>
              </a:spcBef>
            </a:pPr>
            <a:r>
              <a:rPr sz="1150" b="0" i="0">
                <a:solidFill>
                  <a:srgbClr val="2A333B"/>
                </a:solidFill>
                <a:latin typeface="Calibri"/>
              </a:rPr>
              <a:t>A concept explained conversationally, at the depth you ask for</a:t>
            </a:r>
          </a:p>
        </p:txBody>
      </p:sp>
      <p:sp>
        <p:nvSpPr>
          <p:cNvPr id="8" name="Rectangle 7"/>
          <p:cNvSpPr/>
          <p:nvPr/>
        </p:nvSpPr>
        <p:spPr>
          <a:xfrm>
            <a:off x="548640" y="2157984"/>
            <a:ext cx="82296" cy="987552"/>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15968" y="2157984"/>
            <a:ext cx="3557016" cy="987552"/>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500" b="1" i="0">
                <a:solidFill>
                  <a:srgbClr val="1C242B"/>
                </a:solidFill>
                <a:latin typeface="Cambria"/>
              </a:rPr>
              <a:t>Practise</a:t>
            </a:r>
          </a:p>
          <a:p>
            <a:pPr>
              <a:spcBef>
                <a:spcPts val="300"/>
              </a:spcBef>
            </a:pPr>
            <a:r>
              <a:rPr sz="1150" b="0" i="0">
                <a:solidFill>
                  <a:srgbClr val="2A333B"/>
                </a:solidFill>
                <a:latin typeface="Calibri"/>
              </a:rPr>
              <a:t>Flashcards generated from the explanation, for spaced repetition</a:t>
            </a:r>
          </a:p>
        </p:txBody>
      </p:sp>
      <p:sp>
        <p:nvSpPr>
          <p:cNvPr id="10" name="Rectangle 9"/>
          <p:cNvSpPr/>
          <p:nvPr/>
        </p:nvSpPr>
        <p:spPr>
          <a:xfrm>
            <a:off x="4315968" y="2157984"/>
            <a:ext cx="82296" cy="987552"/>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83296" y="2157984"/>
            <a:ext cx="3557016" cy="987552"/>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500" b="1" i="0">
                <a:solidFill>
                  <a:srgbClr val="1C242B"/>
                </a:solidFill>
                <a:latin typeface="Cambria"/>
              </a:rPr>
              <a:t>Check</a:t>
            </a:r>
          </a:p>
          <a:p>
            <a:pPr>
              <a:spcBef>
                <a:spcPts val="300"/>
              </a:spcBef>
            </a:pPr>
            <a:r>
              <a:rPr sz="1150" b="0" i="0">
                <a:solidFill>
                  <a:srgbClr val="2A333B"/>
                </a:solidFill>
                <a:latin typeface="Calibri"/>
              </a:rPr>
              <a:t>A study guide and a quiz — what the learner can actually do</a:t>
            </a:r>
          </a:p>
        </p:txBody>
      </p:sp>
      <p:sp>
        <p:nvSpPr>
          <p:cNvPr id="12" name="Rectangle 11"/>
          <p:cNvSpPr/>
          <p:nvPr/>
        </p:nvSpPr>
        <p:spPr>
          <a:xfrm>
            <a:off x="8083296" y="2157984"/>
            <a:ext cx="82296" cy="987552"/>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10128"/>
            <a:ext cx="11091672" cy="7315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it needs</a:t>
            </a:r>
          </a:p>
          <a:p>
            <a:pPr>
              <a:spcBef>
                <a:spcPts val="300"/>
              </a:spcBef>
            </a:pPr>
            <a:r>
              <a:rPr sz="1150" b="0" i="0">
                <a:solidFill>
                  <a:srgbClr val="2A333B"/>
                </a:solidFill>
                <a:latin typeface="Calibri"/>
              </a:rPr>
              <a:t>A Microsoft 365 Education account (Entra ID). No Copilot licence required.</a:t>
            </a:r>
          </a:p>
        </p:txBody>
      </p:sp>
      <p:sp>
        <p:nvSpPr>
          <p:cNvPr id="14" name="Rectangle 13"/>
          <p:cNvSpPr/>
          <p:nvPr/>
        </p:nvSpPr>
        <p:spPr>
          <a:xfrm>
            <a:off x="548640" y="3310128"/>
            <a:ext cx="82296" cy="7315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4206240"/>
            <a:ext cx="1109167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600" b="1" i="0">
                <a:solidFill>
                  <a:srgbClr val="FFFFFF"/>
                </a:solidFill>
                <a:latin typeface="Cambria"/>
              </a:rPr>
              <a:t>▶ LIVE DEMO — The concept explained, then flashcards and a five-question quiz built from it</a:t>
            </a:r>
          </a:p>
        </p:txBody>
      </p:sp>
      <p:sp>
        <p:nvSpPr>
          <p:cNvPr id="16" name="Rectangle 15"/>
          <p:cNvSpPr/>
          <p:nvPr/>
        </p:nvSpPr>
        <p:spPr>
          <a:xfrm>
            <a:off x="548640" y="4206240"/>
            <a:ext cx="9144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206240"/>
            <a:ext cx="45720"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864608"/>
            <a:ext cx="11091672" cy="84124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Why it matters for the assignment</a:t>
            </a:r>
          </a:p>
          <a:p>
            <a:pPr>
              <a:spcBef>
                <a:spcPts val="300"/>
              </a:spcBef>
            </a:pPr>
            <a:r>
              <a:rPr sz="1150" b="0" i="0">
                <a:solidFill>
                  <a:srgbClr val="2A333B"/>
                </a:solidFill>
                <a:latin typeface="Calibri"/>
              </a:rPr>
              <a:t>Your deliverable is a presentation designed to facilitate learning outcomes. This is where you find out whether they land — build the quiz, and the gaps in the presentation show up as questions nobody can answer.</a:t>
            </a:r>
          </a:p>
        </p:txBody>
      </p:sp>
      <p:sp>
        <p:nvSpPr>
          <p:cNvPr id="19" name="Rectangle 18"/>
          <p:cNvSpPr/>
          <p:nvPr/>
        </p:nvSpPr>
        <p:spPr>
          <a:xfrm>
            <a:off x="548640" y="4864608"/>
            <a:ext cx="82296" cy="84124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Canva in Teams — prototype the presentation</a:t>
            </a:r>
          </a:p>
        </p:txBody>
      </p:sp>
      <p:sp>
        <p:nvSpPr>
          <p:cNvPr id="3" name="Rounded Rectangle 2"/>
          <p:cNvSpPr/>
          <p:nvPr/>
        </p:nvSpPr>
        <p:spPr>
          <a:xfrm>
            <a:off x="8714232" y="457200"/>
            <a:ext cx="2926080" cy="329184"/>
          </a:xfrm>
          <a:prstGeom prst="round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SENSITIVE LANE · COPILOT CHAT (BASIC)</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11091672" cy="7315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700" b="1" i="0">
                <a:solidFill>
                  <a:srgbClr val="FFFFFF"/>
                </a:solidFill>
                <a:latin typeface="Cambria"/>
              </a:rPr>
              <a:t>Prototype the structure of your assignment presentation as a multi-page design, previewed and commented on without leaving Teams</a:t>
            </a:r>
          </a:p>
        </p:txBody>
      </p:sp>
      <p:sp>
        <p:nvSpPr>
          <p:cNvPr id="7" name="Rectangle 6"/>
          <p:cNvSpPr/>
          <p:nvPr/>
        </p:nvSpPr>
        <p:spPr>
          <a:xfrm>
            <a:off x="548640" y="2029968"/>
            <a:ext cx="11091672" cy="109728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400" b="1" i="0">
                <a:solidFill>
                  <a:srgbClr val="1C242B"/>
                </a:solidFill>
                <a:latin typeface="Cambria"/>
              </a:rPr>
              <a:t>What the Teams app gives you</a:t>
            </a:r>
          </a:p>
          <a:p>
            <a:pPr>
              <a:spcBef>
                <a:spcPts val="300"/>
              </a:spcBef>
            </a:pPr>
            <a:r>
              <a:rPr sz="1200" b="0" i="0">
                <a:solidFill>
                  <a:srgbClr val="2A333B"/>
                </a:solidFill>
                <a:latin typeface="Calibri"/>
              </a:rPr>
              <a:t>·  Design notifications and updates in one place, without leaving Teams</a:t>
            </a:r>
          </a:p>
          <a:p>
            <a:pPr>
              <a:spcBef>
                <a:spcPts val="300"/>
              </a:spcBef>
            </a:pPr>
            <a:r>
              <a:rPr sz="1200" b="0" i="0">
                <a:solidFill>
                  <a:srgbClr val="2A333B"/>
                </a:solidFill>
                <a:latin typeface="Calibri"/>
              </a:rPr>
              <a:t>·  Colleagues invited to preview or collaborate on a design</a:t>
            </a:r>
          </a:p>
          <a:p>
            <a:pPr>
              <a:spcBef>
                <a:spcPts val="300"/>
              </a:spcBef>
            </a:pPr>
            <a:r>
              <a:rPr sz="1200" b="0" i="0">
                <a:solidFill>
                  <a:srgbClr val="2A333B"/>
                </a:solidFill>
                <a:latin typeface="Calibri"/>
              </a:rPr>
              <a:t>·  Multi-page designs viewed inside Teams</a:t>
            </a:r>
          </a:p>
        </p:txBody>
      </p:sp>
      <p:sp>
        <p:nvSpPr>
          <p:cNvPr id="8" name="Rectangle 7"/>
          <p:cNvSpPr/>
          <p:nvPr/>
        </p:nvSpPr>
        <p:spPr>
          <a:xfrm>
            <a:off x="548640" y="2029968"/>
            <a:ext cx="82296" cy="109728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236976"/>
            <a:ext cx="11091672" cy="91440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400" b="1" i="0">
                <a:solidFill>
                  <a:srgbClr val="1C242B"/>
                </a:solidFill>
                <a:latin typeface="Cambria"/>
              </a:rPr>
              <a:t>Prototyping only</a:t>
            </a:r>
          </a:p>
          <a:p>
            <a:pPr>
              <a:spcBef>
                <a:spcPts val="300"/>
              </a:spcBef>
            </a:pPr>
            <a:r>
              <a:rPr sz="1200" b="0" i="0">
                <a:solidFill>
                  <a:srgbClr val="2A333B"/>
                </a:solidFill>
                <a:latin typeface="Calibri"/>
              </a:rPr>
              <a:t>·  The structure and the look of the presentation — the order of the sections, what goes on a page, where the examples sit</a:t>
            </a:r>
          </a:p>
          <a:p>
            <a:pPr>
              <a:spcBef>
                <a:spcPts val="300"/>
              </a:spcBef>
            </a:pPr>
            <a:r>
              <a:rPr sz="1200" b="0" i="0">
                <a:solidFill>
                  <a:srgbClr val="2A333B"/>
                </a:solidFill>
                <a:latin typeface="Calibri"/>
              </a:rPr>
              <a:t>·  Not the finished deck: that is the next slide</a:t>
            </a:r>
          </a:p>
        </p:txBody>
      </p:sp>
      <p:sp>
        <p:nvSpPr>
          <p:cNvPr id="10" name="Rectangle 9"/>
          <p:cNvSpPr/>
          <p:nvPr/>
        </p:nvSpPr>
        <p:spPr>
          <a:xfrm>
            <a:off x="548640" y="3236976"/>
            <a:ext cx="82296" cy="9144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4261104"/>
            <a:ext cx="11091672" cy="6766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you do</a:t>
            </a:r>
          </a:p>
          <a:p>
            <a:pPr>
              <a:spcBef>
                <a:spcPts val="300"/>
              </a:spcBef>
            </a:pPr>
            <a:r>
              <a:rPr sz="1200" b="0" i="0">
                <a:solidFill>
                  <a:srgbClr val="2A333B"/>
                </a:solidFill>
                <a:latin typeface="Calibri"/>
              </a:rPr>
              <a:t>New multi-page design → one page per section of the presentation → share it to the channel and let the comments come back in Teams</a:t>
            </a:r>
          </a:p>
        </p:txBody>
      </p:sp>
      <p:sp>
        <p:nvSpPr>
          <p:cNvPr id="12" name="Rectangle 11"/>
          <p:cNvSpPr/>
          <p:nvPr/>
        </p:nvSpPr>
        <p:spPr>
          <a:xfrm>
            <a:off x="548640" y="4261104"/>
            <a:ext cx="82296" cy="676656"/>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5047488"/>
            <a:ext cx="11091672" cy="713232"/>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500" b="1" i="0">
                <a:solidFill>
                  <a:srgbClr val="FFFFFF"/>
                </a:solidFill>
                <a:latin typeface="Cambria"/>
              </a:rPr>
              <a:t>A third-party design platform surfaced inside Teams</a:t>
            </a:r>
          </a:p>
          <a:p>
            <a:pPr algn="ctr">
              <a:spcBef>
                <a:spcPts val="600"/>
              </a:spcBef>
            </a:pPr>
            <a:r>
              <a:rPr sz="1300" b="0" i="0">
                <a:solidFill>
                  <a:srgbClr val="FFFFFF"/>
                </a:solidFill>
                <a:latin typeface="Calibri"/>
              </a:rPr>
              <a:t>The design leaves the institutional tenant, so the routing rule applies to it: anonymised, non-sensitive content only</a:t>
            </a:r>
          </a:p>
        </p:txBody>
      </p:sp>
      <p:sp>
        <p:nvSpPr>
          <p:cNvPr id="14" name="TextBox 13"/>
          <p:cNvSpPr txBox="1"/>
          <p:nvPr/>
        </p:nvSpPr>
        <p:spPr>
          <a:xfrm>
            <a:off x="548640" y="5852160"/>
            <a:ext cx="11091672" cy="365760"/>
          </a:xfrm>
          <a:prstGeom prst="rect">
            <a:avLst/>
          </a:prstGeom>
          <a:noFill/>
        </p:spPr>
        <p:txBody>
          <a:bodyPr wrap="square">
            <a:spAutoFit/>
          </a:bodyPr>
          <a:lstStyle/>
          <a:p>
            <a:pPr algn="l"/>
            <a:r>
              <a:rPr sz="1100" b="0" i="1">
                <a:solidFill>
                  <a:srgbClr val="6B747D"/>
                </a:solidFill>
                <a:latin typeface="Calibri"/>
              </a:rPr>
              <a:t>Prototype first, build second — a structure is cheap to change, a finished deck is not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genspark.ai — build the actual presentation</a:t>
            </a:r>
          </a:p>
        </p:txBody>
      </p:sp>
      <p:sp>
        <p:nvSpPr>
          <p:cNvPr id="3" name="Rounded Rectangle 2"/>
          <p:cNvSpPr/>
          <p:nvPr/>
        </p:nvSpPr>
        <p:spPr>
          <a:xfrm>
            <a:off x="8714232" y="457200"/>
            <a:ext cx="2926080" cy="329184"/>
          </a:xfrm>
          <a:prstGeom prst="round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SENSITIVE LANE · COPILOT CHAT (BASIC)</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11091672" cy="7315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700" b="1" i="0">
                <a:solidFill>
                  <a:srgbClr val="FFFFFF"/>
                </a:solidFill>
                <a:latin typeface="Cambria"/>
              </a:rPr>
              <a:t>Hand the approved prototype and the drafted content to genspark.ai and get the presentation itself back</a:t>
            </a:r>
          </a:p>
        </p:txBody>
      </p:sp>
      <p:sp>
        <p:nvSpPr>
          <p:cNvPr id="7" name="Rectangle 6"/>
          <p:cNvSpPr/>
          <p:nvPr/>
        </p:nvSpPr>
        <p:spPr>
          <a:xfrm>
            <a:off x="548640" y="2084831"/>
            <a:ext cx="3557016" cy="100584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500" b="1" i="0">
                <a:solidFill>
                  <a:srgbClr val="1C242B"/>
                </a:solidFill>
                <a:latin typeface="Cambria"/>
              </a:rPr>
              <a:t>1 · Prototype</a:t>
            </a:r>
          </a:p>
          <a:p>
            <a:pPr>
              <a:spcBef>
                <a:spcPts val="300"/>
              </a:spcBef>
            </a:pPr>
            <a:r>
              <a:rPr sz="1150" b="0" i="0">
                <a:solidFill>
                  <a:srgbClr val="2A333B"/>
                </a:solidFill>
                <a:latin typeface="Calibri"/>
              </a:rPr>
              <a:t>Canva in Teams — the structure, agreed before anything is built</a:t>
            </a:r>
          </a:p>
        </p:txBody>
      </p:sp>
      <p:sp>
        <p:nvSpPr>
          <p:cNvPr id="8" name="Rectangle 7"/>
          <p:cNvSpPr/>
          <p:nvPr/>
        </p:nvSpPr>
        <p:spPr>
          <a:xfrm>
            <a:off x="548640" y="2084831"/>
            <a:ext cx="82296" cy="100584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15968" y="2084831"/>
            <a:ext cx="3557016" cy="100584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500" b="1" i="0">
                <a:solidFill>
                  <a:srgbClr val="1C242B"/>
                </a:solidFill>
                <a:latin typeface="Cambria"/>
              </a:rPr>
              <a:t>2 · Content</a:t>
            </a:r>
          </a:p>
          <a:p>
            <a:pPr>
              <a:spcBef>
                <a:spcPts val="300"/>
              </a:spcBef>
            </a:pPr>
            <a:r>
              <a:rPr sz="1150" b="0" i="0">
                <a:solidFill>
                  <a:srgbClr val="2A333B"/>
                </a:solidFill>
                <a:latin typeface="Calibri"/>
              </a:rPr>
              <a:t>Drafted in whichever lane the topic routes to, and checked</a:t>
            </a:r>
          </a:p>
        </p:txBody>
      </p:sp>
      <p:sp>
        <p:nvSpPr>
          <p:cNvPr id="10" name="Rectangle 9"/>
          <p:cNvSpPr/>
          <p:nvPr/>
        </p:nvSpPr>
        <p:spPr>
          <a:xfrm>
            <a:off x="4315968" y="2084831"/>
            <a:ext cx="82296" cy="100584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83296" y="2084831"/>
            <a:ext cx="3557016" cy="100584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500" b="1" i="0">
                <a:solidFill>
                  <a:srgbClr val="1C242B"/>
                </a:solidFill>
                <a:latin typeface="Cambria"/>
              </a:rPr>
              <a:t>3 · Deck</a:t>
            </a:r>
          </a:p>
          <a:p>
            <a:pPr>
              <a:spcBef>
                <a:spcPts val="300"/>
              </a:spcBef>
            </a:pPr>
            <a:r>
              <a:rPr sz="1150" b="0" i="0">
                <a:solidFill>
                  <a:srgbClr val="2A333B"/>
                </a:solidFill>
                <a:latin typeface="Calibri"/>
              </a:rPr>
              <a:t>genspark.ai — the presentation itself, from the prototype and the approved content</a:t>
            </a:r>
          </a:p>
        </p:txBody>
      </p:sp>
      <p:sp>
        <p:nvSpPr>
          <p:cNvPr id="12" name="Rectangle 11"/>
          <p:cNvSpPr/>
          <p:nvPr/>
        </p:nvSpPr>
        <p:spPr>
          <a:xfrm>
            <a:off x="8083296" y="2084831"/>
            <a:ext cx="82296" cy="100584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218688"/>
            <a:ext cx="11091672" cy="84124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you type</a:t>
            </a:r>
          </a:p>
          <a:p>
            <a:pPr>
              <a:spcBef>
                <a:spcPts val="300"/>
              </a:spcBef>
            </a:pPr>
            <a:r>
              <a:rPr sz="1200" b="0" i="0">
                <a:solidFill>
                  <a:srgbClr val="2A333B"/>
                </a:solidFill>
                <a:latin typeface="Calibri"/>
              </a:rPr>
              <a:t>“Build a 12-slide educational presentation on &lt;topic&gt; from this outline. Audience: research management administrators. One idea per slide, a worked example every third slide, and a five-question quiz at the end.”</a:t>
            </a:r>
          </a:p>
        </p:txBody>
      </p:sp>
      <p:sp>
        <p:nvSpPr>
          <p:cNvPr id="14" name="Rectangle 13"/>
          <p:cNvSpPr/>
          <p:nvPr/>
        </p:nvSpPr>
        <p:spPr>
          <a:xfrm>
            <a:off x="548640" y="3218688"/>
            <a:ext cx="82296" cy="84124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4187952"/>
            <a:ext cx="11091672" cy="78638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700" b="1" i="0">
                <a:solidFill>
                  <a:srgbClr val="FFFFFF"/>
                </a:solidFill>
                <a:latin typeface="Cambria"/>
              </a:rPr>
              <a:t>Outside the institutional tenant — anonymised, non-sensitive content only</a:t>
            </a:r>
          </a:p>
          <a:p>
            <a:pPr algn="ctr">
              <a:spcBef>
                <a:spcPts val="600"/>
              </a:spcBef>
            </a:pPr>
            <a:r>
              <a:rPr sz="1300" b="0" i="0">
                <a:solidFill>
                  <a:srgbClr val="FFFFFF"/>
                </a:solidFill>
                <a:latin typeface="Calibri"/>
              </a:rPr>
              <a:t>The routing rule applies to every step of a chain, not only to the first one</a:t>
            </a:r>
          </a:p>
        </p:txBody>
      </p:sp>
      <p:sp>
        <p:nvSpPr>
          <p:cNvPr id="16" name="TextBox 15"/>
          <p:cNvSpPr txBox="1"/>
          <p:nvPr/>
        </p:nvSpPr>
        <p:spPr>
          <a:xfrm>
            <a:off x="548640" y="5138928"/>
            <a:ext cx="11091672" cy="365760"/>
          </a:xfrm>
          <a:prstGeom prst="rect">
            <a:avLst/>
          </a:prstGeom>
          <a:noFill/>
        </p:spPr>
        <p:txBody>
          <a:bodyPr wrap="square">
            <a:spAutoFit/>
          </a:bodyPr>
          <a:lstStyle/>
          <a:p>
            <a:pPr algn="l"/>
            <a:r>
              <a:rPr sz="1200" b="0" i="0">
                <a:solidFill>
                  <a:srgbClr val="6B747D"/>
                </a:solidFill>
                <a:latin typeface="Calibri"/>
              </a:rPr>
              <a:t>The presentation itself is next week's deliverable — Segment 5 gives you the rest of the assignment</a:t>
            </a:r>
          </a:p>
        </p:txBody>
      </p:sp>
      <p:sp>
        <p:nvSpPr>
          <p:cNvPr id="17" name="TextBox 16"/>
          <p:cNvSpPr txBox="1"/>
          <p:nvPr/>
        </p:nvSpPr>
        <p:spPr>
          <a:xfrm>
            <a:off x="548640" y="5541264"/>
            <a:ext cx="11091672" cy="365760"/>
          </a:xfrm>
          <a:prstGeom prst="rect">
            <a:avLst/>
          </a:prstGeom>
          <a:noFill/>
        </p:spPr>
        <p:txBody>
          <a:bodyPr wrap="square">
            <a:spAutoFit/>
          </a:bodyPr>
          <a:lstStyle/>
          <a:p>
            <a:pPr algn="l"/>
            <a:r>
              <a:rPr sz="1100" b="0" i="1">
                <a:solidFill>
                  <a:srgbClr val="6B747D"/>
                </a:solidFill>
                <a:latin typeface="Calibri"/>
              </a:rPr>
              <a:t>Every step names its tool, its input, its output — and its lane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0" cy="635508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0" b="1" i="0">
                <a:solidFill>
                  <a:srgbClr val="FFFFFF"/>
                </a:solidFill>
                <a:latin typeface="Cambria"/>
              </a:rPr>
              <a:t>4</a:t>
            </a:r>
          </a:p>
        </p:txBody>
      </p:sp>
      <p:sp>
        <p:nvSpPr>
          <p:cNvPr id="3" name="TextBox 2"/>
          <p:cNvSpPr txBox="1"/>
          <p:nvPr/>
        </p:nvSpPr>
        <p:spPr>
          <a:xfrm>
            <a:off x="3474720" y="1920240"/>
            <a:ext cx="8138160" cy="1371600"/>
          </a:xfrm>
          <a:prstGeom prst="rect">
            <a:avLst/>
          </a:prstGeom>
          <a:noFill/>
        </p:spPr>
        <p:txBody>
          <a:bodyPr wrap="square" anchor="b">
            <a:spAutoFit/>
          </a:bodyPr>
          <a:lstStyle/>
          <a:p>
            <a:pPr algn="l"/>
            <a:r>
              <a:rPr sz="3400" b="1" i="0">
                <a:solidFill>
                  <a:srgbClr val="1C242B"/>
                </a:solidFill>
                <a:latin typeface="Cambria"/>
              </a:rPr>
              <a:t>Gemini in depth (+ NotebookLM preview)</a:t>
            </a:r>
          </a:p>
        </p:txBody>
      </p:sp>
      <p:sp>
        <p:nvSpPr>
          <p:cNvPr id="4" name="Rectangle 3"/>
          <p:cNvSpPr/>
          <p:nvPr/>
        </p:nvSpPr>
        <p:spPr>
          <a:xfrm>
            <a:off x="3474720" y="3401568"/>
            <a:ext cx="1097280" cy="3175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0" y="3566160"/>
            <a:ext cx="8138160" cy="457200"/>
          </a:xfrm>
          <a:prstGeom prst="rect">
            <a:avLst/>
          </a:prstGeom>
          <a:noFill/>
        </p:spPr>
        <p:txBody>
          <a:bodyPr wrap="square">
            <a:spAutoFit/>
          </a:bodyPr>
          <a:lstStyle/>
          <a:p>
            <a:pPr algn="l"/>
            <a:r>
              <a:rPr sz="1800" b="1" i="0">
                <a:solidFill>
                  <a:srgbClr val="6A4CBC"/>
                </a:solidFill>
                <a:latin typeface="Calibri"/>
              </a:rPr>
              <a:t>15 min · Live facilitator demo</a:t>
            </a:r>
          </a:p>
        </p:txBody>
      </p:sp>
      <p:sp>
        <p:nvSpPr>
          <p:cNvPr id="6" name="TextBox 5"/>
          <p:cNvSpPr txBox="1"/>
          <p:nvPr/>
        </p:nvSpPr>
        <p:spPr>
          <a:xfrm>
            <a:off x="3474720" y="4023360"/>
            <a:ext cx="8138160" cy="365760"/>
          </a:xfrm>
          <a:prstGeom prst="rect">
            <a:avLst/>
          </a:prstGeom>
          <a:noFill/>
        </p:spPr>
        <p:txBody>
          <a:bodyPr wrap="square">
            <a:spAutoFit/>
          </a:bodyPr>
          <a:lstStyle/>
          <a:p>
            <a:pPr algn="l"/>
            <a:r>
              <a:rPr sz="1200" b="0" i="0">
                <a:solidFill>
                  <a:srgbClr val="6B747D"/>
                </a:solidFill>
                <a:latin typeface="Calibri"/>
              </a:rPr>
              <a:t>Segment 4 of 5 · Daily Driver · Google Gemini</a:t>
            </a:r>
          </a:p>
        </p:txBody>
      </p:sp>
      <p:sp>
        <p:nvSpPr>
          <p:cNvPr id="7" name="Rectangle 6"/>
          <p:cNvSpPr/>
          <p:nvPr/>
        </p:nvSpPr>
        <p:spPr>
          <a:xfrm>
            <a:off x="34747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605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8463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32120" y="5989320"/>
            <a:ext cx="502920" cy="7315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What the Daily Driver adds</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88720"/>
            <a:ext cx="11091672" cy="365760"/>
          </a:xfrm>
          <a:prstGeom prst="rect">
            <a:avLst/>
          </a:prstGeom>
          <a:noFill/>
        </p:spPr>
        <p:txBody>
          <a:bodyPr wrap="square">
            <a:spAutoFit/>
          </a:bodyPr>
          <a:lstStyle/>
          <a:p>
            <a:pPr algn="l"/>
            <a:r>
              <a:rPr sz="1300" b="0" i="0">
                <a:solidFill>
                  <a:srgbClr val="6B747D"/>
                </a:solidFill>
                <a:latin typeface="Calibri"/>
              </a:rPr>
              <a:t>Ten free-tier capabilities, one research-management scenario each, all of them on your own Anchor Project material</a:t>
            </a:r>
          </a:p>
        </p:txBody>
      </p:sp>
      <p:sp>
        <p:nvSpPr>
          <p:cNvPr id="7" name="Rectangle 6"/>
          <p:cNvSpPr/>
          <p:nvPr/>
        </p:nvSpPr>
        <p:spPr>
          <a:xfrm>
            <a:off x="548640" y="1700784"/>
            <a:ext cx="3557016" cy="2139696"/>
          </a:xfrm>
          <a:prstGeom prst="rect">
            <a:avLst/>
          </a:prstGeom>
          <a:solidFill>
            <a:srgbClr val="EBE6F7"/>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146304"/>
          <a:lstStyle/>
          <a:p>
            <a:pPr algn="l"/>
            <a:r>
              <a:rPr sz="1800" b="1" i="0">
                <a:solidFill>
                  <a:srgbClr val="1C242B"/>
                </a:solidFill>
                <a:latin typeface="Cambria"/>
              </a:rPr>
              <a:t>Live on screen</a:t>
            </a:r>
          </a:p>
          <a:p>
            <a:pPr>
              <a:spcBef>
                <a:spcPts val="500"/>
              </a:spcBef>
            </a:pPr>
            <a:r>
              <a:rPr sz="1250" b="0" i="0">
                <a:solidFill>
                  <a:srgbClr val="2A333B"/>
                </a:solidFill>
                <a:latin typeface="Calibri"/>
              </a:rPr>
              <a:t>·  File and image upload</a:t>
            </a:r>
          </a:p>
          <a:p>
            <a:pPr>
              <a:spcBef>
                <a:spcPts val="500"/>
              </a:spcBef>
            </a:pPr>
            <a:r>
              <a:rPr sz="1250" b="0" i="0">
                <a:solidFill>
                  <a:srgbClr val="2A333B"/>
                </a:solidFill>
                <a:latin typeface="Calibri"/>
              </a:rPr>
              <a:t>·  Long context</a:t>
            </a:r>
          </a:p>
          <a:p>
            <a:pPr>
              <a:spcBef>
                <a:spcPts val="500"/>
              </a:spcBef>
            </a:pPr>
            <a:r>
              <a:rPr sz="1250" b="0" i="0">
                <a:solidFill>
                  <a:srgbClr val="2A333B"/>
                </a:solidFill>
                <a:latin typeface="Calibri"/>
              </a:rPr>
              <a:t>·  Gems — persistent context</a:t>
            </a:r>
          </a:p>
          <a:p>
            <a:pPr>
              <a:spcBef>
                <a:spcPts val="500"/>
              </a:spcBef>
            </a:pPr>
            <a:r>
              <a:rPr sz="1250" b="0" i="0">
                <a:solidFill>
                  <a:srgbClr val="2A333B"/>
                </a:solidFill>
                <a:latin typeface="Calibri"/>
              </a:rPr>
              <a:t>·  Canvas</a:t>
            </a:r>
          </a:p>
        </p:txBody>
      </p:sp>
      <p:sp>
        <p:nvSpPr>
          <p:cNvPr id="8" name="Rectangle 7"/>
          <p:cNvSpPr/>
          <p:nvPr/>
        </p:nvSpPr>
        <p:spPr>
          <a:xfrm>
            <a:off x="548640" y="1700784"/>
            <a:ext cx="82296" cy="213969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15968" y="1700784"/>
            <a:ext cx="3557016" cy="213969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146304"/>
          <a:lstStyle/>
          <a:p>
            <a:pPr algn="l"/>
            <a:r>
              <a:rPr sz="1800" b="1" i="0">
                <a:solidFill>
                  <a:srgbClr val="1C242B"/>
                </a:solidFill>
                <a:latin typeface="Cambria"/>
              </a:rPr>
              <a:t>Prepared result</a:t>
            </a:r>
          </a:p>
          <a:p>
            <a:pPr>
              <a:spcBef>
                <a:spcPts val="500"/>
              </a:spcBef>
            </a:pPr>
            <a:r>
              <a:rPr sz="1250" b="0" i="0">
                <a:solidFill>
                  <a:srgbClr val="2A333B"/>
                </a:solidFill>
                <a:latin typeface="Calibri"/>
              </a:rPr>
              <a:t>·  Deep Research</a:t>
            </a:r>
          </a:p>
          <a:p>
            <a:pPr>
              <a:spcBef>
                <a:spcPts val="500"/>
              </a:spcBef>
            </a:pPr>
            <a:r>
              <a:rPr sz="1250" b="0" i="0">
                <a:solidFill>
                  <a:srgbClr val="2A333B"/>
                </a:solidFill>
                <a:latin typeface="Calibri"/>
              </a:rPr>
              <a:t>·  Image generation and editing</a:t>
            </a:r>
          </a:p>
        </p:txBody>
      </p:sp>
      <p:sp>
        <p:nvSpPr>
          <p:cNvPr id="10" name="Rectangle 9"/>
          <p:cNvSpPr/>
          <p:nvPr/>
        </p:nvSpPr>
        <p:spPr>
          <a:xfrm>
            <a:off x="4315968" y="1700784"/>
            <a:ext cx="82296" cy="2139696"/>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83296" y="1700784"/>
            <a:ext cx="3557016" cy="213969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146304"/>
          <a:lstStyle/>
          <a:p>
            <a:pPr algn="l"/>
            <a:r>
              <a:rPr sz="1800" b="1" i="0">
                <a:solidFill>
                  <a:srgbClr val="1C242B"/>
                </a:solidFill>
                <a:latin typeface="Cambria"/>
              </a:rPr>
              <a:t>Named, not demonstrated</a:t>
            </a:r>
          </a:p>
          <a:p>
            <a:pPr>
              <a:spcBef>
                <a:spcPts val="500"/>
              </a:spcBef>
            </a:pPr>
            <a:r>
              <a:rPr sz="1250" b="0" i="0">
                <a:solidFill>
                  <a:srgbClr val="2A333B"/>
                </a:solidFill>
                <a:latin typeface="Calibri"/>
              </a:rPr>
              <a:t>·  Google Workspace hooks</a:t>
            </a:r>
          </a:p>
          <a:p>
            <a:pPr>
              <a:spcBef>
                <a:spcPts val="500"/>
              </a:spcBef>
            </a:pPr>
            <a:r>
              <a:rPr sz="1250" b="0" i="0">
                <a:solidFill>
                  <a:srgbClr val="2A333B"/>
                </a:solidFill>
                <a:latin typeface="Calibri"/>
              </a:rPr>
              <a:t>·  Gemini Live and mobile</a:t>
            </a:r>
          </a:p>
          <a:p>
            <a:pPr>
              <a:spcBef>
                <a:spcPts val="500"/>
              </a:spcBef>
            </a:pPr>
            <a:r>
              <a:rPr sz="1250" b="0" i="0">
                <a:solidFill>
                  <a:srgbClr val="2A333B"/>
                </a:solidFill>
                <a:latin typeface="Calibri"/>
              </a:rPr>
              <a:t>·  Guided Learning mode</a:t>
            </a:r>
          </a:p>
          <a:p>
            <a:pPr>
              <a:spcBef>
                <a:spcPts val="500"/>
              </a:spcBef>
            </a:pPr>
            <a:r>
              <a:rPr sz="1250" b="0" i="0">
                <a:solidFill>
                  <a:srgbClr val="2A333B"/>
                </a:solidFill>
                <a:latin typeface="Calibri"/>
              </a:rPr>
              <a:t>·  Saved info</a:t>
            </a:r>
          </a:p>
        </p:txBody>
      </p:sp>
      <p:sp>
        <p:nvSpPr>
          <p:cNvPr id="12" name="Rectangle 11"/>
          <p:cNvSpPr/>
          <p:nvPr/>
        </p:nvSpPr>
        <p:spPr>
          <a:xfrm>
            <a:off x="8083296" y="1700784"/>
            <a:ext cx="82296" cy="2139696"/>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059936"/>
            <a:ext cx="11091672" cy="9144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900" b="1" i="0">
                <a:solidFill>
                  <a:srgbClr val="FFFFFF"/>
                </a:solidFill>
                <a:latin typeface="Cambria"/>
              </a:rPr>
              <a:t>Free tier at the time of writing — September 2026</a:t>
            </a:r>
          </a:p>
          <a:p>
            <a:pPr algn="ctr">
              <a:spcBef>
                <a:spcPts val="600"/>
              </a:spcBef>
            </a:pPr>
            <a:r>
              <a:rPr sz="1300" b="0" i="0">
                <a:solidFill>
                  <a:srgbClr val="FFFFFF"/>
                </a:solidFill>
                <a:latin typeface="Calibri"/>
              </a:rPr>
              <a:t>Google moves capabilities between plans month to month. What is demonstrated today was checked in this account last week; check yours before you build a workflow on any one of them.</a:t>
            </a:r>
          </a:p>
        </p:txBody>
      </p:sp>
      <p:sp>
        <p:nvSpPr>
          <p:cNvPr id="14" name="TextBox 13"/>
          <p:cNvSpPr txBox="1"/>
          <p:nvPr/>
        </p:nvSpPr>
        <p:spPr>
          <a:xfrm>
            <a:off x="548640" y="5138928"/>
            <a:ext cx="11091672" cy="365760"/>
          </a:xfrm>
          <a:prstGeom prst="rect">
            <a:avLst/>
          </a:prstGeom>
          <a:noFill/>
        </p:spPr>
        <p:txBody>
          <a:bodyPr wrap="square">
            <a:spAutoFit/>
          </a:bodyPr>
          <a:lstStyle/>
          <a:p>
            <a:pPr algn="l"/>
            <a:r>
              <a:rPr sz="1150" b="0" i="1">
                <a:solidFill>
                  <a:srgbClr val="6B747D"/>
                </a:solidFill>
                <a:latin typeface="Calibri"/>
              </a:rPr>
              <a:t>Everything on screen is anonymised or fictional — the “what must never enter Gemini” list from Segment 2 stays on the second monitor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File and image upload</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11091672" cy="80467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600" b="1" i="0">
                <a:solidFill>
                  <a:srgbClr val="FFFFFF"/>
                </a:solidFill>
                <a:latin typeface="Cambria"/>
              </a:rPr>
              <a:t>An anonymised call document as a PDF and a photographed budget table as an image, in the same question — the checklist out of one, a reading of the numbers out of the other</a:t>
            </a:r>
          </a:p>
        </p:txBody>
      </p:sp>
      <p:sp>
        <p:nvSpPr>
          <p:cNvPr id="7" name="Rectangle 6"/>
          <p:cNvSpPr/>
          <p:nvPr/>
        </p:nvSpPr>
        <p:spPr>
          <a:xfrm>
            <a:off x="548640" y="2121408"/>
            <a:ext cx="11091672" cy="96926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you type</a:t>
            </a:r>
          </a:p>
          <a:p>
            <a:pPr>
              <a:spcBef>
                <a:spcPts val="300"/>
              </a:spcBef>
            </a:pPr>
            <a:r>
              <a:rPr sz="1250" b="0" i="0">
                <a:solidFill>
                  <a:srgbClr val="2A333B"/>
                </a:solidFill>
                <a:latin typeface="Calibri"/>
              </a:rPr>
              <a:t>“You are advising a research management office. From the attached call document, give me the eligibility criteria as a checklist we can tick off. From the attached table image, tell me which cost lines sit above the call's caps. Ask me before assuming anything the documents do not state.”</a:t>
            </a:r>
          </a:p>
        </p:txBody>
      </p:sp>
      <p:sp>
        <p:nvSpPr>
          <p:cNvPr id="8" name="Rectangle 7"/>
          <p:cNvSpPr/>
          <p:nvPr/>
        </p:nvSpPr>
        <p:spPr>
          <a:xfrm>
            <a:off x="548640" y="2121408"/>
            <a:ext cx="82296" cy="969264"/>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236976"/>
            <a:ext cx="5440680" cy="138988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comes back</a:t>
            </a:r>
          </a:p>
          <a:p>
            <a:pPr>
              <a:spcBef>
                <a:spcPts val="300"/>
              </a:spcBef>
            </a:pPr>
            <a:r>
              <a:rPr sz="1150" b="0" i="0">
                <a:solidFill>
                  <a:srgbClr val="2A333B"/>
                </a:solidFill>
                <a:latin typeface="Calibri"/>
              </a:rPr>
              <a:t>·  A checklist you can paste into the project's guide page</a:t>
            </a:r>
          </a:p>
          <a:p>
            <a:pPr>
              <a:spcBef>
                <a:spcPts val="300"/>
              </a:spcBef>
            </a:pPr>
            <a:r>
              <a:rPr sz="1150" b="0" i="0">
                <a:solidFill>
                  <a:srgbClr val="2A333B"/>
                </a:solidFill>
                <a:latin typeface="Calibri"/>
              </a:rPr>
              <a:t>·  A reading of a table that only ever existed as a photograph</a:t>
            </a:r>
          </a:p>
          <a:p>
            <a:pPr>
              <a:spcBef>
                <a:spcPts val="300"/>
              </a:spcBef>
            </a:pPr>
            <a:r>
              <a:rPr sz="1150" b="0" i="0">
                <a:solidFill>
                  <a:srgbClr val="2A333B"/>
                </a:solidFill>
                <a:latin typeface="Calibri"/>
              </a:rPr>
              <a:t>·  Its own questions, where the documents are silent — the ask-me-first pattern from Lesson 1</a:t>
            </a:r>
          </a:p>
        </p:txBody>
      </p:sp>
      <p:sp>
        <p:nvSpPr>
          <p:cNvPr id="10" name="Rectangle 9"/>
          <p:cNvSpPr/>
          <p:nvPr/>
        </p:nvSpPr>
        <p:spPr>
          <a:xfrm>
            <a:off x="548640" y="3236976"/>
            <a:ext cx="82296" cy="1389888"/>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9632" y="3236976"/>
            <a:ext cx="5440680" cy="138988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Before anything is uploaded</a:t>
            </a:r>
          </a:p>
          <a:p>
            <a:pPr>
              <a:spcBef>
                <a:spcPts val="300"/>
              </a:spcBef>
            </a:pPr>
            <a:r>
              <a:rPr sz="1150" b="0" i="0">
                <a:solidFill>
                  <a:srgbClr val="2A333B"/>
                </a:solidFill>
                <a:latin typeface="Calibri"/>
              </a:rPr>
              <a:t>·  Both files are cleared first: the call document anonymised where your copy carries internal notes, the budget table fictional — names, sums and partners changed before the screenshot</a:t>
            </a:r>
          </a:p>
          <a:p>
            <a:pPr>
              <a:spcBef>
                <a:spcPts val="300"/>
              </a:spcBef>
            </a:pPr>
            <a:r>
              <a:rPr sz="1150" b="0" i="0">
                <a:solidFill>
                  <a:srgbClr val="2A333B"/>
                </a:solidFill>
                <a:latin typeface="Calibri"/>
              </a:rPr>
              <a:t>·  A document with personal or sensitive information does not come here at all (Segment 2)</a:t>
            </a:r>
          </a:p>
        </p:txBody>
      </p:sp>
      <p:sp>
        <p:nvSpPr>
          <p:cNvPr id="12" name="Rectangle 11"/>
          <p:cNvSpPr/>
          <p:nvPr/>
        </p:nvSpPr>
        <p:spPr>
          <a:xfrm>
            <a:off x="6199632" y="3236976"/>
            <a:ext cx="82296" cy="1389888"/>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791456"/>
            <a:ext cx="11091672" cy="5029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600" b="1" i="0">
                <a:solidFill>
                  <a:srgbClr val="FFFFFF"/>
                </a:solidFill>
                <a:latin typeface="Cambria"/>
              </a:rPr>
              <a:t>▶ LIVE DEMO — PDF and screenshot attached to one prompt — eligibility checklist and the table read back</a:t>
            </a:r>
          </a:p>
        </p:txBody>
      </p:sp>
      <p:sp>
        <p:nvSpPr>
          <p:cNvPr id="14" name="Rectangle 13"/>
          <p:cNvSpPr/>
          <p:nvPr/>
        </p:nvSpPr>
        <p:spPr>
          <a:xfrm>
            <a:off x="548640" y="4791456"/>
            <a:ext cx="9144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4791456"/>
            <a:ext cx="45720" cy="5029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5449824"/>
            <a:ext cx="11091672" cy="365760"/>
          </a:xfrm>
          <a:prstGeom prst="rect">
            <a:avLst/>
          </a:prstGeom>
          <a:noFill/>
        </p:spPr>
        <p:txBody>
          <a:bodyPr wrap="square">
            <a:spAutoFit/>
          </a:bodyPr>
          <a:lstStyle/>
          <a:p>
            <a:pPr algn="l"/>
            <a:r>
              <a:rPr sz="1100" b="0" i="1">
                <a:solidFill>
                  <a:srgbClr val="6B747D"/>
                </a:solidFill>
                <a:latin typeface="Calibri"/>
              </a:rPr>
              <a:t>A photograph of a table is a document too — and it is anonymised the same way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Long context</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11091672" cy="76809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600" b="1" i="0">
                <a:solidFill>
                  <a:srgbClr val="FFFFFF"/>
                </a:solidFill>
                <a:latin typeface="Cambria"/>
              </a:rPr>
              <a:t>A funder's guidelines pasted in whole rather than in extracts, and the answer that matters: what changed since last year's call, section by section</a:t>
            </a:r>
          </a:p>
        </p:txBody>
      </p:sp>
      <p:sp>
        <p:nvSpPr>
          <p:cNvPr id="7" name="Rectangle 6"/>
          <p:cNvSpPr/>
          <p:nvPr/>
        </p:nvSpPr>
        <p:spPr>
          <a:xfrm>
            <a:off x="548640" y="2084831"/>
            <a:ext cx="11091672" cy="85953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you type</a:t>
            </a:r>
          </a:p>
          <a:p>
            <a:pPr>
              <a:spcBef>
                <a:spcPts val="300"/>
              </a:spcBef>
            </a:pPr>
            <a:r>
              <a:rPr sz="1250" b="0" i="0">
                <a:solidFill>
                  <a:srgbClr val="2A333B"/>
                </a:solidFill>
                <a:latin typeface="Calibri"/>
              </a:rPr>
              <a:t>“Here is the funder's guideline document. Summarise it as the ten things our office has to do differently from last year's call, each with the section it comes from.”</a:t>
            </a:r>
          </a:p>
        </p:txBody>
      </p:sp>
      <p:sp>
        <p:nvSpPr>
          <p:cNvPr id="8" name="Rectangle 7"/>
          <p:cNvSpPr/>
          <p:nvPr/>
        </p:nvSpPr>
        <p:spPr>
          <a:xfrm>
            <a:off x="548640" y="2084831"/>
            <a:ext cx="82296" cy="85953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090672"/>
            <a:ext cx="5440680" cy="138988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Why it holds</a:t>
            </a:r>
          </a:p>
          <a:p>
            <a:pPr>
              <a:spcBef>
                <a:spcPts val="300"/>
              </a:spcBef>
            </a:pPr>
            <a:r>
              <a:rPr sz="1150" b="0" i="0">
                <a:solidFill>
                  <a:srgbClr val="2A333B"/>
                </a:solidFill>
                <a:latin typeface="Calibri"/>
              </a:rPr>
              <a:t>·  The whole guideline goes in at once instead of in extracts, and the answer can cite across all of it</a:t>
            </a:r>
          </a:p>
          <a:p>
            <a:pPr>
              <a:spcBef>
                <a:spcPts val="300"/>
              </a:spcBef>
            </a:pPr>
            <a:r>
              <a:rPr sz="1150" b="0" i="0">
                <a:solidFill>
                  <a:srgbClr val="2A333B"/>
                </a:solidFill>
                <a:latin typeface="Calibri"/>
              </a:rPr>
              <a:t>·  The free tier's window is smaller than the paid plans'; a very long document may still have to be split</a:t>
            </a:r>
          </a:p>
        </p:txBody>
      </p:sp>
      <p:sp>
        <p:nvSpPr>
          <p:cNvPr id="10" name="Rectangle 9"/>
          <p:cNvSpPr/>
          <p:nvPr/>
        </p:nvSpPr>
        <p:spPr>
          <a:xfrm>
            <a:off x="548640" y="3090672"/>
            <a:ext cx="82296" cy="1389888"/>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9632" y="3090672"/>
            <a:ext cx="5440680" cy="138988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It does not lift Lesson 1's rule</a:t>
            </a:r>
          </a:p>
          <a:p>
            <a:pPr>
              <a:spcBef>
                <a:spcPts val="300"/>
              </a:spcBef>
            </a:pPr>
            <a:r>
              <a:rPr sz="1150" b="0" i="0">
                <a:solidFill>
                  <a:srgbClr val="2A333B"/>
                </a:solidFill>
                <a:latin typeface="Calibri"/>
              </a:rPr>
              <a:t>·  More context is not better context. A guideline plus four unrelated documents gives you a worse summary, not a fuller one</a:t>
            </a:r>
          </a:p>
          <a:p>
            <a:pPr>
              <a:spcBef>
                <a:spcPts val="300"/>
              </a:spcBef>
            </a:pPr>
            <a:r>
              <a:rPr sz="1150" b="0" i="0">
                <a:solidFill>
                  <a:srgbClr val="2A333B"/>
                </a:solidFill>
                <a:latin typeface="Calibri"/>
              </a:rPr>
              <a:t>·  Curate on the way in: one document, one question, one job</a:t>
            </a:r>
          </a:p>
        </p:txBody>
      </p:sp>
      <p:sp>
        <p:nvSpPr>
          <p:cNvPr id="12" name="Rectangle 11"/>
          <p:cNvSpPr/>
          <p:nvPr/>
        </p:nvSpPr>
        <p:spPr>
          <a:xfrm>
            <a:off x="6199632" y="3090672"/>
            <a:ext cx="82296" cy="1389888"/>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645152"/>
            <a:ext cx="11091672" cy="5029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600" b="1" i="0">
                <a:solidFill>
                  <a:srgbClr val="FFFFFF"/>
                </a:solidFill>
                <a:latin typeface="Cambria"/>
              </a:rPr>
              <a:t>▶ LIVE DEMO — One long guideline document in, a structured summary out</a:t>
            </a:r>
          </a:p>
        </p:txBody>
      </p:sp>
      <p:sp>
        <p:nvSpPr>
          <p:cNvPr id="14" name="Rectangle 13"/>
          <p:cNvSpPr/>
          <p:nvPr/>
        </p:nvSpPr>
        <p:spPr>
          <a:xfrm>
            <a:off x="548640" y="4645152"/>
            <a:ext cx="9144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4645152"/>
            <a:ext cx="45720" cy="5029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5303520"/>
            <a:ext cx="11091672" cy="365760"/>
          </a:xfrm>
          <a:prstGeom prst="rect">
            <a:avLst/>
          </a:prstGeom>
          <a:noFill/>
        </p:spPr>
        <p:txBody>
          <a:bodyPr wrap="square">
            <a:spAutoFit/>
          </a:bodyPr>
          <a:lstStyle/>
          <a:p>
            <a:pPr algn="l"/>
            <a:r>
              <a:rPr sz="1100" b="0" i="1">
                <a:solidFill>
                  <a:srgbClr val="6B747D"/>
                </a:solidFill>
                <a:latin typeface="Calibri"/>
              </a:rPr>
              <a:t>The window is what you may bring, not what you should bring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Gems — persistent context</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11091672" cy="76809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600" b="1" i="0">
                <a:solidFill>
                  <a:srgbClr val="FFFFFF"/>
                </a:solidFill>
                <a:latin typeface="Cambria"/>
              </a:rPr>
              <a:t>Build one Gem for your Anchor Project, and every chat you open afterwards already knows the project, the funder and the rules you work under</a:t>
            </a:r>
          </a:p>
        </p:txBody>
      </p:sp>
      <p:sp>
        <p:nvSpPr>
          <p:cNvPr id="7" name="Rectangle 6"/>
          <p:cNvSpPr/>
          <p:nvPr/>
        </p:nvSpPr>
        <p:spPr>
          <a:xfrm>
            <a:off x="548640" y="2066543"/>
            <a:ext cx="3557016" cy="151790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400" b="1" i="0">
                <a:solidFill>
                  <a:srgbClr val="1C242B"/>
                </a:solidFill>
                <a:latin typeface="Cambria"/>
              </a:rPr>
              <a:t>Name and purpose</a:t>
            </a:r>
          </a:p>
          <a:p>
            <a:pPr>
              <a:spcBef>
                <a:spcPts val="300"/>
              </a:spcBef>
            </a:pPr>
            <a:r>
              <a:rPr sz="1150" b="0" i="0">
                <a:solidFill>
                  <a:srgbClr val="2A333B"/>
                </a:solidFill>
                <a:latin typeface="Calibri"/>
              </a:rPr>
              <a:t>“Anchor Project assistant” — one Gem per project, not one per task</a:t>
            </a:r>
          </a:p>
        </p:txBody>
      </p:sp>
      <p:sp>
        <p:nvSpPr>
          <p:cNvPr id="8" name="Rectangle 7"/>
          <p:cNvSpPr/>
          <p:nvPr/>
        </p:nvSpPr>
        <p:spPr>
          <a:xfrm>
            <a:off x="548640" y="2066543"/>
            <a:ext cx="82296" cy="1517904"/>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15968" y="2066543"/>
            <a:ext cx="3557016" cy="151790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400" b="1" i="0">
                <a:solidFill>
                  <a:srgbClr val="1C242B"/>
                </a:solidFill>
                <a:latin typeface="Cambria"/>
              </a:rPr>
              <a:t>Standing instructions</a:t>
            </a:r>
          </a:p>
          <a:p>
            <a:pPr>
              <a:spcBef>
                <a:spcPts val="300"/>
              </a:spcBef>
            </a:pPr>
            <a:r>
              <a:rPr sz="1150" b="0" i="0">
                <a:solidFill>
                  <a:srgbClr val="2A333B"/>
                </a:solidFill>
                <a:latin typeface="Calibri"/>
              </a:rPr>
              <a:t>·  Your Lesson 1 ICC prompt, promoted: what it should do, who it is advising, the constraints it always works under — written once, applied to every future chat</a:t>
            </a:r>
          </a:p>
          <a:p>
            <a:pPr>
              <a:spcBef>
                <a:spcPts val="300"/>
              </a:spcBef>
            </a:pPr>
            <a:r>
              <a:rPr sz="1150" b="0" i="0">
                <a:solidFill>
                  <a:srgbClr val="2A333B"/>
                </a:solidFill>
                <a:latin typeface="Calibri"/>
              </a:rPr>
              <a:t>·  The reverse prompt becomes its opening move: ask me what you need before you answer</a:t>
            </a:r>
          </a:p>
        </p:txBody>
      </p:sp>
      <p:sp>
        <p:nvSpPr>
          <p:cNvPr id="10" name="Rectangle 9"/>
          <p:cNvSpPr/>
          <p:nvPr/>
        </p:nvSpPr>
        <p:spPr>
          <a:xfrm>
            <a:off x="4315968" y="2066543"/>
            <a:ext cx="82296" cy="1517904"/>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83296" y="2066543"/>
            <a:ext cx="3557016" cy="151790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400" b="1" i="0">
                <a:solidFill>
                  <a:srgbClr val="1C242B"/>
                </a:solidFill>
                <a:latin typeface="Cambria"/>
              </a:rPr>
              <a:t>Reference files</a:t>
            </a:r>
          </a:p>
          <a:p>
            <a:pPr>
              <a:spcBef>
                <a:spcPts val="300"/>
              </a:spcBef>
            </a:pPr>
            <a:r>
              <a:rPr sz="1150" b="0" i="0">
                <a:solidFill>
                  <a:srgbClr val="2A333B"/>
                </a:solidFill>
                <a:latin typeface="Calibri"/>
              </a:rPr>
              <a:t>The project description, the call text, your own notes — up to the free tier's reference-file limit</a:t>
            </a:r>
          </a:p>
        </p:txBody>
      </p:sp>
      <p:sp>
        <p:nvSpPr>
          <p:cNvPr id="12" name="Rectangle 11"/>
          <p:cNvSpPr/>
          <p:nvPr/>
        </p:nvSpPr>
        <p:spPr>
          <a:xfrm>
            <a:off x="8083296" y="2066543"/>
            <a:ext cx="82296" cy="1517904"/>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730752"/>
            <a:ext cx="11091672" cy="5029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600" b="1" i="0">
                <a:solidFill>
                  <a:srgbClr val="FFFFFF"/>
                </a:solidFill>
                <a:latin typeface="Cambria"/>
              </a:rPr>
              <a:t>▶ LIVE DEMO — A Gem built from scratch — name, instructions, reference files, then the first chat that already knows the project</a:t>
            </a:r>
          </a:p>
        </p:txBody>
      </p:sp>
      <p:sp>
        <p:nvSpPr>
          <p:cNvPr id="14" name="Rectangle 13"/>
          <p:cNvSpPr/>
          <p:nvPr/>
        </p:nvSpPr>
        <p:spPr>
          <a:xfrm>
            <a:off x="548640" y="3730752"/>
            <a:ext cx="9144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730752"/>
            <a:ext cx="45720" cy="5029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425696"/>
            <a:ext cx="11091672" cy="9144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2000" b="1" i="0">
                <a:solidFill>
                  <a:srgbClr val="FFFFFF"/>
                </a:solidFill>
                <a:latin typeface="Cambria"/>
              </a:rPr>
              <a:t>This is the Level 3 move</a:t>
            </a:r>
          </a:p>
          <a:p>
            <a:pPr algn="ctr">
              <a:spcBef>
                <a:spcPts val="600"/>
              </a:spcBef>
            </a:pPr>
            <a:r>
              <a:rPr sz="1300" b="0" i="0">
                <a:solidFill>
                  <a:srgbClr val="FFFFFF"/>
                </a:solidFill>
                <a:latin typeface="Calibri"/>
              </a:rPr>
              <a:t>Level 2 was writing a good prompt every time. Level 3 is building the workspace that no longer needs you to — persistent context, ready before the question. The assignment lays the foundation for Level 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Deep Research</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11091672" cy="76809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600" b="1" i="0">
                <a:solidFill>
                  <a:srgbClr val="FFFFFF"/>
                </a:solidFill>
                <a:latin typeface="Cambria"/>
              </a:rPr>
              <a:t>One question about the funding landscape, answered as a briefing with its sources — the work that used to be an afternoon of opening funder pages</a:t>
            </a:r>
          </a:p>
        </p:txBody>
      </p:sp>
      <p:sp>
        <p:nvSpPr>
          <p:cNvPr id="7" name="Rectangle 6"/>
          <p:cNvSpPr/>
          <p:nvPr/>
        </p:nvSpPr>
        <p:spPr>
          <a:xfrm>
            <a:off x="548640" y="2048256"/>
            <a:ext cx="3557016" cy="131673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400" b="1" i="0">
                <a:solidFill>
                  <a:srgbClr val="1C242B"/>
                </a:solidFill>
                <a:latin typeface="Cambria"/>
              </a:rPr>
              <a:t>What comes back</a:t>
            </a:r>
          </a:p>
          <a:p>
            <a:pPr>
              <a:spcBef>
                <a:spcPts val="300"/>
              </a:spcBef>
            </a:pPr>
            <a:r>
              <a:rPr sz="1150" b="0" i="0">
                <a:solidFill>
                  <a:srgbClr val="2A333B"/>
                </a:solidFill>
                <a:latin typeface="Calibri"/>
              </a:rPr>
              <a:t>A briefing rather than a chat answer: sections, a source list, and a statement of what it could not find</a:t>
            </a:r>
          </a:p>
        </p:txBody>
      </p:sp>
      <p:sp>
        <p:nvSpPr>
          <p:cNvPr id="8" name="Rectangle 7"/>
          <p:cNvSpPr/>
          <p:nvPr/>
        </p:nvSpPr>
        <p:spPr>
          <a:xfrm>
            <a:off x="548640" y="2048256"/>
            <a:ext cx="82296" cy="131673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15968" y="2048256"/>
            <a:ext cx="3557016" cy="131673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400" b="1" i="0">
                <a:solidFill>
                  <a:srgbClr val="1C242B"/>
                </a:solidFill>
                <a:latin typeface="Cambria"/>
              </a:rPr>
              <a:t>The cap</a:t>
            </a:r>
          </a:p>
          <a:p>
            <a:pPr>
              <a:spcBef>
                <a:spcPts val="300"/>
              </a:spcBef>
            </a:pPr>
            <a:r>
              <a:rPr sz="1150" b="0" i="0">
                <a:solidFill>
                  <a:srgbClr val="2A333B"/>
                </a:solidFill>
                <a:latin typeface="Calibri"/>
              </a:rPr>
              <a:t>The free tier allows a small number of reports a month, and a run takes minutes rather than seconds — this one was started last night</a:t>
            </a:r>
          </a:p>
        </p:txBody>
      </p:sp>
      <p:sp>
        <p:nvSpPr>
          <p:cNvPr id="10" name="Rectangle 9"/>
          <p:cNvSpPr/>
          <p:nvPr/>
        </p:nvSpPr>
        <p:spPr>
          <a:xfrm>
            <a:off x="4315968" y="2048256"/>
            <a:ext cx="82296" cy="131673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83296" y="2048256"/>
            <a:ext cx="3557016" cy="131673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400" b="1" i="0">
                <a:solidFill>
                  <a:srgbClr val="1C242B"/>
                </a:solidFill>
                <a:latin typeface="Cambria"/>
              </a:rPr>
              <a:t>Check it anyway</a:t>
            </a:r>
          </a:p>
          <a:p>
            <a:pPr>
              <a:spcBef>
                <a:spcPts val="300"/>
              </a:spcBef>
            </a:pPr>
            <a:r>
              <a:rPr sz="1150" b="0" i="0">
                <a:solidFill>
                  <a:srgbClr val="2A333B"/>
                </a:solidFill>
                <a:latin typeface="Calibri"/>
              </a:rPr>
              <a:t>It lists its sources so you can open them. A deadline that is not in the source is not a deadline</a:t>
            </a:r>
          </a:p>
        </p:txBody>
      </p:sp>
      <p:sp>
        <p:nvSpPr>
          <p:cNvPr id="12" name="Rectangle 11"/>
          <p:cNvSpPr/>
          <p:nvPr/>
        </p:nvSpPr>
        <p:spPr>
          <a:xfrm>
            <a:off x="8083296" y="2048256"/>
            <a:ext cx="82296" cy="131673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511296"/>
            <a:ext cx="11091672" cy="896112"/>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you type</a:t>
            </a:r>
          </a:p>
          <a:p>
            <a:pPr>
              <a:spcBef>
                <a:spcPts val="300"/>
              </a:spcBef>
            </a:pPr>
            <a:r>
              <a:rPr sz="1250" b="0" i="0">
                <a:solidFill>
                  <a:srgbClr val="2A333B"/>
                </a:solidFill>
                <a:latin typeface="Calibri"/>
              </a:rPr>
              <a:t>“Which national and European funders opened calls in the last twelve months for work in my Anchor Project's field? For each: the funder, what it funds, the deadline pattern, and the source you found it in.”</a:t>
            </a:r>
          </a:p>
        </p:txBody>
      </p:sp>
      <p:sp>
        <p:nvSpPr>
          <p:cNvPr id="14" name="Rectangle 13"/>
          <p:cNvSpPr/>
          <p:nvPr/>
        </p:nvSpPr>
        <p:spPr>
          <a:xfrm>
            <a:off x="548640" y="3511296"/>
            <a:ext cx="82296" cy="89611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4553712"/>
            <a:ext cx="11091672" cy="65836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500" b="1" i="0">
                <a:solidFill>
                  <a:srgbClr val="FFFFFF"/>
                </a:solidFill>
                <a:latin typeface="Cambria"/>
              </a:rPr>
              <a:t>On screen today: a report run last night, and the prompt that produced it</a:t>
            </a:r>
          </a:p>
        </p:txBody>
      </p:sp>
      <p:sp>
        <p:nvSpPr>
          <p:cNvPr id="16" name="TextBox 15"/>
          <p:cNvSpPr txBox="1"/>
          <p:nvPr/>
        </p:nvSpPr>
        <p:spPr>
          <a:xfrm>
            <a:off x="548640" y="5340096"/>
            <a:ext cx="11091672" cy="365760"/>
          </a:xfrm>
          <a:prstGeom prst="rect">
            <a:avLst/>
          </a:prstGeom>
          <a:noFill/>
        </p:spPr>
        <p:txBody>
          <a:bodyPr wrap="square">
            <a:spAutoFit/>
          </a:bodyPr>
          <a:lstStyle/>
          <a:p>
            <a:pPr algn="l"/>
            <a:r>
              <a:rPr sz="1100" b="0" i="1">
                <a:solidFill>
                  <a:srgbClr val="6B747D"/>
                </a:solidFill>
                <a:latin typeface="Calibri"/>
              </a:rPr>
              <a:t>A monthly cap is a planning constraint: decide what the question is before you spend one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Canvas</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11091672" cy="76809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600" b="1" i="0">
                <a:solidFill>
                  <a:srgbClr val="FFFFFF"/>
                </a:solidFill>
                <a:latin typeface="Cambria"/>
              </a:rPr>
              <a:t>Draft the outline of your assignment presentation, then rewrite one section at a time without losing the rest</a:t>
            </a:r>
          </a:p>
        </p:txBody>
      </p:sp>
      <p:sp>
        <p:nvSpPr>
          <p:cNvPr id="7" name="Rectangle 6"/>
          <p:cNvSpPr/>
          <p:nvPr/>
        </p:nvSpPr>
        <p:spPr>
          <a:xfrm>
            <a:off x="548640" y="2084831"/>
            <a:ext cx="11091672" cy="896112"/>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you type</a:t>
            </a:r>
          </a:p>
          <a:p>
            <a:pPr>
              <a:spcBef>
                <a:spcPts val="300"/>
              </a:spcBef>
            </a:pPr>
            <a:r>
              <a:rPr sz="1250" b="0" i="0">
                <a:solidFill>
                  <a:srgbClr val="2A333B"/>
                </a:solidFill>
                <a:latin typeface="Calibri"/>
              </a:rPr>
              <a:t>“Draft the outline of a 20-minute presentation that teaches a junior colleague how our office handles reporting periods. Sections, one learning outcome each, and where an example goes.”</a:t>
            </a:r>
          </a:p>
        </p:txBody>
      </p:sp>
      <p:sp>
        <p:nvSpPr>
          <p:cNvPr id="8" name="Rectangle 7"/>
          <p:cNvSpPr/>
          <p:nvPr/>
        </p:nvSpPr>
        <p:spPr>
          <a:xfrm>
            <a:off x="548640" y="2084831"/>
            <a:ext cx="82296" cy="89611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127248"/>
            <a:ext cx="5440680" cy="131673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Canvas is</a:t>
            </a:r>
          </a:p>
          <a:p>
            <a:pPr>
              <a:spcBef>
                <a:spcPts val="300"/>
              </a:spcBef>
            </a:pPr>
            <a:r>
              <a:rPr sz="1150" b="0" i="0">
                <a:solidFill>
                  <a:srgbClr val="2A333B"/>
                </a:solidFill>
                <a:latin typeface="Calibri"/>
              </a:rPr>
              <a:t>·  A document beside the chat, edited in place — not a wall of chat text you have to copy out</a:t>
            </a:r>
          </a:p>
          <a:p>
            <a:pPr>
              <a:spcBef>
                <a:spcPts val="300"/>
              </a:spcBef>
            </a:pPr>
            <a:r>
              <a:rPr sz="1150" b="0" i="0">
                <a:solidFill>
                  <a:srgbClr val="2A333B"/>
                </a:solidFill>
                <a:latin typeface="Calibri"/>
              </a:rPr>
              <a:t>·  Rewrite one section and the rest stays where it was</a:t>
            </a:r>
          </a:p>
        </p:txBody>
      </p:sp>
      <p:sp>
        <p:nvSpPr>
          <p:cNvPr id="10" name="Rectangle 9"/>
          <p:cNvSpPr/>
          <p:nvPr/>
        </p:nvSpPr>
        <p:spPr>
          <a:xfrm>
            <a:off x="548640" y="3127248"/>
            <a:ext cx="82296" cy="131673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9632" y="3127248"/>
            <a:ext cx="5440680" cy="131673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you take away</a:t>
            </a:r>
          </a:p>
          <a:p>
            <a:pPr>
              <a:spcBef>
                <a:spcPts val="300"/>
              </a:spcBef>
            </a:pPr>
            <a:r>
              <a:rPr sz="1150" b="0" i="0">
                <a:solidFill>
                  <a:srgbClr val="2A333B"/>
                </a:solidFill>
                <a:latin typeface="Calibri"/>
              </a:rPr>
              <a:t>·  A structured draft you can export and keep working on</a:t>
            </a:r>
          </a:p>
          <a:p>
            <a:pPr>
              <a:spcBef>
                <a:spcPts val="300"/>
              </a:spcBef>
            </a:pPr>
            <a:r>
              <a:rPr sz="1150" b="0" i="0">
                <a:solidFill>
                  <a:srgbClr val="2A333B"/>
                </a:solidFill>
                <a:latin typeface="Calibri"/>
              </a:rPr>
              <a:t>·  This is the assignment's deliverable, started: an educational presentation on a topic you pick</a:t>
            </a:r>
          </a:p>
        </p:txBody>
      </p:sp>
      <p:sp>
        <p:nvSpPr>
          <p:cNvPr id="12" name="Rectangle 11"/>
          <p:cNvSpPr/>
          <p:nvPr/>
        </p:nvSpPr>
        <p:spPr>
          <a:xfrm>
            <a:off x="6199632" y="3127248"/>
            <a:ext cx="82296" cy="131673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608576"/>
            <a:ext cx="11091672" cy="5029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600" b="1" i="0">
                <a:solidFill>
                  <a:srgbClr val="FFFFFF"/>
                </a:solidFill>
                <a:latin typeface="Cambria"/>
              </a:rPr>
              <a:t>▶ LIVE DEMO — The outline drafted in Canvas, then one section rewritten in place</a:t>
            </a:r>
          </a:p>
        </p:txBody>
      </p:sp>
      <p:sp>
        <p:nvSpPr>
          <p:cNvPr id="14" name="Rectangle 13"/>
          <p:cNvSpPr/>
          <p:nvPr/>
        </p:nvSpPr>
        <p:spPr>
          <a:xfrm>
            <a:off x="548640" y="4608576"/>
            <a:ext cx="9144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4608576"/>
            <a:ext cx="45720" cy="5029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5266944"/>
            <a:ext cx="11091672" cy="365760"/>
          </a:xfrm>
          <a:prstGeom prst="rect">
            <a:avLst/>
          </a:prstGeom>
          <a:noFill/>
        </p:spPr>
        <p:txBody>
          <a:bodyPr wrap="square">
            <a:spAutoFit/>
          </a:bodyPr>
          <a:lstStyle/>
          <a:p>
            <a:pPr algn="l"/>
            <a:r>
              <a:rPr sz="1100" b="0" i="1">
                <a:solidFill>
                  <a:srgbClr val="6B747D"/>
                </a:solidFill>
                <a:latin typeface="Calibri"/>
              </a:rPr>
              <a:t>Structured outputs are what the next step in a workflow can actually use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Google Workspace hooks</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11091672" cy="80467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600" b="1" i="0">
                <a:solidFill>
                  <a:srgbClr val="FFFFFF"/>
                </a:solidFill>
                <a:latin typeface="Cambria"/>
              </a:rPr>
              <a:t>“Summarise the three call documents in this Drive folder, and draft the reply to the funder's email” — the chat reaching into Drive, Docs and Gmail on its own</a:t>
            </a:r>
          </a:p>
        </p:txBody>
      </p:sp>
      <p:sp>
        <p:nvSpPr>
          <p:cNvPr id="7" name="Rectangle 6"/>
          <p:cNvSpPr/>
          <p:nvPr/>
        </p:nvSpPr>
        <p:spPr>
          <a:xfrm>
            <a:off x="548640" y="2139696"/>
            <a:ext cx="5440680" cy="1536192"/>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Not on the free tier at the time of writing</a:t>
            </a:r>
          </a:p>
          <a:p>
            <a:pPr>
              <a:spcBef>
                <a:spcPts val="300"/>
              </a:spcBef>
            </a:pPr>
            <a:r>
              <a:rPr sz="1200" b="0" i="0">
                <a:solidFill>
                  <a:srgbClr val="2A333B"/>
                </a:solidFill>
                <a:latin typeface="Calibri"/>
              </a:rPr>
              <a:t>·  The Drive, Docs and Gmail connections are limited or absent on the free tier — this is the clearest place the paid plans start</a:t>
            </a:r>
          </a:p>
          <a:p>
            <a:pPr>
              <a:spcBef>
                <a:spcPts val="300"/>
              </a:spcBef>
            </a:pPr>
            <a:r>
              <a:rPr sz="1200" b="0" i="0">
                <a:solidFill>
                  <a:srgbClr val="2A333B"/>
                </a:solidFill>
                <a:latin typeface="Calibri"/>
              </a:rPr>
              <a:t>·  Shown here so you recognise it in a comparison table, not because you are expected to have it</a:t>
            </a:r>
          </a:p>
        </p:txBody>
      </p:sp>
      <p:sp>
        <p:nvSpPr>
          <p:cNvPr id="8" name="Rectangle 7"/>
          <p:cNvSpPr/>
          <p:nvPr/>
        </p:nvSpPr>
        <p:spPr>
          <a:xfrm>
            <a:off x="548640" y="2139696"/>
            <a:ext cx="82296" cy="1536192"/>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9632" y="2139696"/>
            <a:ext cx="5440680" cy="1536192"/>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you do instead</a:t>
            </a:r>
          </a:p>
          <a:p>
            <a:pPr>
              <a:spcBef>
                <a:spcPts val="300"/>
              </a:spcBef>
            </a:pPr>
            <a:r>
              <a:rPr sz="1200" b="0" i="0">
                <a:solidFill>
                  <a:srgbClr val="2A333B"/>
                </a:solidFill>
                <a:latin typeface="Calibri"/>
              </a:rPr>
              <a:t>·  Upload the three documents to the chat, or attach them to the project's Gem once and stop attaching them</a:t>
            </a:r>
          </a:p>
          <a:p>
            <a:pPr>
              <a:spcBef>
                <a:spcPts val="300"/>
              </a:spcBef>
            </a:pPr>
            <a:r>
              <a:rPr sz="1200" b="0" i="0">
                <a:solidFill>
                  <a:srgbClr val="2A333B"/>
                </a:solidFill>
                <a:latin typeface="Calibri"/>
              </a:rPr>
              <a:t>·  The manual step is the upload; everything after it is the same</a:t>
            </a:r>
          </a:p>
        </p:txBody>
      </p:sp>
      <p:sp>
        <p:nvSpPr>
          <p:cNvPr id="10" name="Rectangle 9"/>
          <p:cNvSpPr/>
          <p:nvPr/>
        </p:nvSpPr>
        <p:spPr>
          <a:xfrm>
            <a:off x="6199632" y="2139696"/>
            <a:ext cx="82296" cy="153619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877056"/>
            <a:ext cx="11091672" cy="768096"/>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700" b="1" i="0">
                <a:solidFill>
                  <a:srgbClr val="FFFFFF"/>
                </a:solidFill>
                <a:latin typeface="Cambria"/>
              </a:rPr>
              <a:t>A capability you do not have is still a capability you have to plan around</a:t>
            </a:r>
          </a:p>
        </p:txBody>
      </p:sp>
      <p:sp>
        <p:nvSpPr>
          <p:cNvPr id="12" name="TextBox 11"/>
          <p:cNvSpPr txBox="1"/>
          <p:nvPr/>
        </p:nvSpPr>
        <p:spPr>
          <a:xfrm>
            <a:off x="548640" y="4828032"/>
            <a:ext cx="11091672" cy="365760"/>
          </a:xfrm>
          <a:prstGeom prst="rect">
            <a:avLst/>
          </a:prstGeom>
          <a:noFill/>
        </p:spPr>
        <p:txBody>
          <a:bodyPr wrap="square">
            <a:spAutoFit/>
          </a:bodyPr>
          <a:lstStyle/>
          <a:p>
            <a:pPr algn="l"/>
            <a:r>
              <a:rPr sz="1100" b="0" i="1">
                <a:solidFill>
                  <a:srgbClr val="6B747D"/>
                </a:solidFill>
                <a:latin typeface="Calibri"/>
              </a:rPr>
              <a:t>Check this one before your workflow blueprint depends on it — the boundary moves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Image generation and editing</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11091672" cy="76809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600" b="1" i="0">
                <a:solidFill>
                  <a:srgbClr val="FFFFFF"/>
                </a:solidFill>
                <a:latin typeface="Cambria"/>
              </a:rPr>
              <a:t>The one diagram your presentation needs — described in a sentence, adjusted in another, and dropped onto the slide</a:t>
            </a:r>
          </a:p>
        </p:txBody>
      </p:sp>
      <p:sp>
        <p:nvSpPr>
          <p:cNvPr id="7" name="Rectangle 6"/>
          <p:cNvSpPr/>
          <p:nvPr/>
        </p:nvSpPr>
        <p:spPr>
          <a:xfrm>
            <a:off x="548640" y="2084831"/>
            <a:ext cx="11091672" cy="85953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you type</a:t>
            </a:r>
          </a:p>
          <a:p>
            <a:pPr>
              <a:spcBef>
                <a:spcPts val="300"/>
              </a:spcBef>
            </a:pPr>
            <a:r>
              <a:rPr sz="1250" b="0" i="0">
                <a:solidFill>
                  <a:srgbClr val="2A333B"/>
                </a:solidFill>
                <a:latin typeface="Calibri"/>
              </a:rPr>
              <a:t>“A simple flow diagram for a slide: proposal → evaluation → grant agreement → reporting. Four boxes, one arrow each, no decoration, labels in English.”</a:t>
            </a:r>
          </a:p>
        </p:txBody>
      </p:sp>
      <p:sp>
        <p:nvSpPr>
          <p:cNvPr id="8" name="Rectangle 7"/>
          <p:cNvSpPr/>
          <p:nvPr/>
        </p:nvSpPr>
        <p:spPr>
          <a:xfrm>
            <a:off x="548640" y="2084831"/>
            <a:ext cx="82296" cy="85953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090672"/>
            <a:ext cx="5440680" cy="138988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it is good for</a:t>
            </a:r>
          </a:p>
          <a:p>
            <a:pPr>
              <a:spcBef>
                <a:spcPts val="300"/>
              </a:spcBef>
            </a:pPr>
            <a:r>
              <a:rPr sz="1150" b="0" i="0">
                <a:solidFill>
                  <a:srgbClr val="2A333B"/>
                </a:solidFill>
                <a:latin typeface="Calibri"/>
              </a:rPr>
              <a:t>·  The diagram a presentation needs and nobody has time to draw</a:t>
            </a:r>
          </a:p>
          <a:p>
            <a:pPr>
              <a:spcBef>
                <a:spcPts val="300"/>
              </a:spcBef>
            </a:pPr>
            <a:r>
              <a:rPr sz="1150" b="0" i="0">
                <a:solidFill>
                  <a:srgbClr val="2A333B"/>
                </a:solidFill>
                <a:latin typeface="Calibri"/>
              </a:rPr>
              <a:t>·  Editing what came back — “make the third box the widest” — instead of starting again</a:t>
            </a:r>
          </a:p>
        </p:txBody>
      </p:sp>
      <p:sp>
        <p:nvSpPr>
          <p:cNvPr id="10" name="Rectangle 9"/>
          <p:cNvSpPr/>
          <p:nvPr/>
        </p:nvSpPr>
        <p:spPr>
          <a:xfrm>
            <a:off x="548640" y="3090672"/>
            <a:ext cx="82296" cy="1389888"/>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9632" y="3090672"/>
            <a:ext cx="5440680" cy="138988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it is not for</a:t>
            </a:r>
          </a:p>
          <a:p>
            <a:pPr>
              <a:spcBef>
                <a:spcPts val="300"/>
              </a:spcBef>
            </a:pPr>
            <a:r>
              <a:rPr sz="1150" b="0" i="0">
                <a:solidFill>
                  <a:srgbClr val="2A333B"/>
                </a:solidFill>
                <a:latin typeface="Calibri"/>
              </a:rPr>
              <a:t>·  Anything that has to be true: it draws what a chart looks like, not your figures</a:t>
            </a:r>
          </a:p>
          <a:p>
            <a:pPr>
              <a:spcBef>
                <a:spcPts val="300"/>
              </a:spcBef>
            </a:pPr>
            <a:r>
              <a:rPr sz="1150" b="0" i="0">
                <a:solidFill>
                  <a:srgbClr val="2A333B"/>
                </a:solidFill>
                <a:latin typeface="Calibri"/>
              </a:rPr>
              <a:t>·  Faces, logos, institutional identity — none of that comes out of a generator and into an official document</a:t>
            </a:r>
          </a:p>
        </p:txBody>
      </p:sp>
      <p:sp>
        <p:nvSpPr>
          <p:cNvPr id="12" name="Rectangle 11"/>
          <p:cNvSpPr/>
          <p:nvPr/>
        </p:nvSpPr>
        <p:spPr>
          <a:xfrm>
            <a:off x="6199632" y="3090672"/>
            <a:ext cx="82296" cy="1389888"/>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645152"/>
            <a:ext cx="11091672" cy="65836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500" b="1" i="0">
                <a:solidFill>
                  <a:srgbClr val="FFFFFF"/>
                </a:solidFill>
                <a:latin typeface="Cambria"/>
              </a:rPr>
              <a:t>On screen today: the diagram this prompt produced, before and after one edit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Gemini Live and mobile</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11091672" cy="76809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600" b="1" i="0">
                <a:solidFill>
                  <a:srgbClr val="FFFFFF"/>
                </a:solidFill>
                <a:latin typeface="Cambria"/>
              </a:rPr>
              <a:t>Rehearse the presentation out loud, in the car or on the tram, and let it ask you the questions your audience will</a:t>
            </a:r>
          </a:p>
        </p:txBody>
      </p:sp>
      <p:sp>
        <p:nvSpPr>
          <p:cNvPr id="7" name="Rectangle 6"/>
          <p:cNvSpPr/>
          <p:nvPr/>
        </p:nvSpPr>
        <p:spPr>
          <a:xfrm>
            <a:off x="548640" y="2139696"/>
            <a:ext cx="5440680" cy="170078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Voice, both ways</a:t>
            </a:r>
          </a:p>
          <a:p>
            <a:pPr>
              <a:spcBef>
                <a:spcPts val="300"/>
              </a:spcBef>
            </a:pPr>
            <a:r>
              <a:rPr sz="1200" b="0" i="0">
                <a:solidFill>
                  <a:srgbClr val="2A333B"/>
                </a:solidFill>
                <a:latin typeface="Calibri"/>
              </a:rPr>
              <a:t>Talk through your section on the way to work and get questioned on it — the rehearsal that finds the slide you cannot explain</a:t>
            </a:r>
          </a:p>
        </p:txBody>
      </p:sp>
      <p:sp>
        <p:nvSpPr>
          <p:cNvPr id="8" name="Rectangle 7"/>
          <p:cNvSpPr/>
          <p:nvPr/>
        </p:nvSpPr>
        <p:spPr>
          <a:xfrm>
            <a:off x="548640" y="2139696"/>
            <a:ext cx="82296" cy="1700784"/>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9632" y="2139696"/>
            <a:ext cx="5440680" cy="170078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Same account, same Gems</a:t>
            </a:r>
          </a:p>
          <a:p>
            <a:pPr>
              <a:spcBef>
                <a:spcPts val="300"/>
              </a:spcBef>
            </a:pPr>
            <a:r>
              <a:rPr sz="1200" b="0" i="0">
                <a:solidFill>
                  <a:srgbClr val="2A333B"/>
                </a:solidFill>
                <a:latin typeface="Calibri"/>
              </a:rPr>
              <a:t>The mobile app is the same workspace: the Anchor Project Gem you built ten minutes ago is already there</a:t>
            </a:r>
          </a:p>
        </p:txBody>
      </p:sp>
      <p:sp>
        <p:nvSpPr>
          <p:cNvPr id="10" name="Rectangle 9"/>
          <p:cNvSpPr/>
          <p:nvPr/>
        </p:nvSpPr>
        <p:spPr>
          <a:xfrm>
            <a:off x="6199632" y="2139696"/>
            <a:ext cx="82296" cy="1700784"/>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4096512"/>
            <a:ext cx="11091672" cy="82296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700" b="1" i="0">
                <a:solidFill>
                  <a:srgbClr val="FFFFFF"/>
                </a:solidFill>
                <a:latin typeface="Cambria"/>
              </a:rPr>
              <a:t>The one capability you use with your hands full</a:t>
            </a:r>
          </a:p>
        </p:txBody>
      </p:sp>
      <p:sp>
        <p:nvSpPr>
          <p:cNvPr id="12" name="TextBox 11"/>
          <p:cNvSpPr txBox="1"/>
          <p:nvPr/>
        </p:nvSpPr>
        <p:spPr>
          <a:xfrm>
            <a:off x="548640" y="5102352"/>
            <a:ext cx="11091672" cy="365760"/>
          </a:xfrm>
          <a:prstGeom prst="rect">
            <a:avLst/>
          </a:prstGeom>
          <a:noFill/>
        </p:spPr>
        <p:txBody>
          <a:bodyPr wrap="square">
            <a:spAutoFit/>
          </a:bodyPr>
          <a:lstStyle/>
          <a:p>
            <a:pPr algn="l"/>
            <a:r>
              <a:rPr sz="1150" b="0" i="1">
                <a:solidFill>
                  <a:srgbClr val="6B747D"/>
                </a:solidFill>
                <a:latin typeface="Calibri"/>
              </a:rPr>
              <a:t>Voice is still an upload: what you say out loud goes to the same place a pasted document would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Guided Learning mode</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11091672" cy="76809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600" b="1" i="0">
                <a:solidFill>
                  <a:srgbClr val="FFFFFF"/>
                </a:solidFill>
                <a:latin typeface="Cambria"/>
              </a:rPr>
              <a:t>Learn a concept from your Anchor Project's domain the way you will have to teach it — step by step, questions first</a:t>
            </a:r>
          </a:p>
        </p:txBody>
      </p:sp>
      <p:sp>
        <p:nvSpPr>
          <p:cNvPr id="7" name="Rectangle 6"/>
          <p:cNvSpPr/>
          <p:nvPr/>
        </p:nvSpPr>
        <p:spPr>
          <a:xfrm>
            <a:off x="548640" y="2084831"/>
            <a:ext cx="11091672" cy="85953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you type</a:t>
            </a:r>
          </a:p>
          <a:p>
            <a:pPr>
              <a:spcBef>
                <a:spcPts val="300"/>
              </a:spcBef>
            </a:pPr>
            <a:r>
              <a:rPr sz="1250" b="0" i="0">
                <a:solidFill>
                  <a:srgbClr val="2A333B"/>
                </a:solidFill>
                <a:latin typeface="Calibri"/>
              </a:rPr>
              <a:t>“Teach me how indirect costs work in this funder's scheme. Do not give me the answer — take me through it, and check whether I followed.”</a:t>
            </a:r>
          </a:p>
        </p:txBody>
      </p:sp>
      <p:sp>
        <p:nvSpPr>
          <p:cNvPr id="8" name="Rectangle 7"/>
          <p:cNvSpPr/>
          <p:nvPr/>
        </p:nvSpPr>
        <p:spPr>
          <a:xfrm>
            <a:off x="548640" y="2084831"/>
            <a:ext cx="82296" cy="85953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090672"/>
            <a:ext cx="5440680" cy="175564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changes</a:t>
            </a:r>
          </a:p>
          <a:p>
            <a:pPr>
              <a:spcBef>
                <a:spcPts val="300"/>
              </a:spcBef>
            </a:pPr>
            <a:r>
              <a:rPr sz="1200" b="0" i="0">
                <a:solidFill>
                  <a:srgbClr val="2A333B"/>
                </a:solidFill>
                <a:latin typeface="Calibri"/>
              </a:rPr>
              <a:t>It asks you questions instead of answering yours, and stops when you have got there rather than when it has finished</a:t>
            </a:r>
          </a:p>
        </p:txBody>
      </p:sp>
      <p:sp>
        <p:nvSpPr>
          <p:cNvPr id="10" name="Rectangle 9"/>
          <p:cNvSpPr/>
          <p:nvPr/>
        </p:nvSpPr>
        <p:spPr>
          <a:xfrm>
            <a:off x="548640" y="3090672"/>
            <a:ext cx="82296" cy="1755648"/>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9632" y="3090672"/>
            <a:ext cx="5440680" cy="175564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Why it is on this list</a:t>
            </a:r>
          </a:p>
          <a:p>
            <a:pPr>
              <a:spcBef>
                <a:spcPts val="300"/>
              </a:spcBef>
            </a:pPr>
            <a:r>
              <a:rPr sz="1200" b="0" i="0">
                <a:solidFill>
                  <a:srgbClr val="2A333B"/>
                </a:solidFill>
                <a:latin typeface="Calibri"/>
              </a:rPr>
              <a:t>Your deliverable is a presentation that has to produce learning outcomes. This is a worked example of the shape you are being asked to build — watch what it does with a concept, then do that</a:t>
            </a:r>
          </a:p>
        </p:txBody>
      </p:sp>
      <p:sp>
        <p:nvSpPr>
          <p:cNvPr id="12" name="Rectangle 11"/>
          <p:cNvSpPr/>
          <p:nvPr/>
        </p:nvSpPr>
        <p:spPr>
          <a:xfrm>
            <a:off x="6199632" y="3090672"/>
            <a:ext cx="82296" cy="1755648"/>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5047488"/>
            <a:ext cx="11091672" cy="365760"/>
          </a:xfrm>
          <a:prstGeom prst="rect">
            <a:avLst/>
          </a:prstGeom>
          <a:noFill/>
        </p:spPr>
        <p:txBody>
          <a:bodyPr wrap="square">
            <a:spAutoFit/>
          </a:bodyPr>
          <a:lstStyle/>
          <a:p>
            <a:pPr algn="l"/>
            <a:r>
              <a:rPr sz="1150" b="0" i="1">
                <a:solidFill>
                  <a:srgbClr val="6B747D"/>
                </a:solidFill>
                <a:latin typeface="Calibri"/>
              </a:rPr>
              <a:t>A concept explained to you badly is a concept you are about to explain badly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Saved info — the lightweight Gem</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11091672" cy="76809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600" b="1" i="0">
                <a:solidFill>
                  <a:srgbClr val="FFFFFF"/>
                </a:solidFill>
                <a:latin typeface="Cambria"/>
              </a:rPr>
              <a:t>Stop opening every conversation by explaining who you are and what your office does</a:t>
            </a:r>
          </a:p>
        </p:txBody>
      </p:sp>
      <p:sp>
        <p:nvSpPr>
          <p:cNvPr id="7" name="Rectangle 6"/>
          <p:cNvSpPr/>
          <p:nvPr/>
        </p:nvSpPr>
        <p:spPr>
          <a:xfrm>
            <a:off x="548640" y="2139696"/>
            <a:ext cx="5440680" cy="16459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Three facts, once</a:t>
            </a:r>
          </a:p>
          <a:p>
            <a:pPr>
              <a:spcBef>
                <a:spcPts val="300"/>
              </a:spcBef>
            </a:pPr>
            <a:r>
              <a:rPr sz="1200" b="0" i="0">
                <a:solidFill>
                  <a:srgbClr val="2A333B"/>
                </a:solidFill>
                <a:latin typeface="Calibri"/>
              </a:rPr>
              <a:t>Your role, your institution, the field your Anchor Project sits in — and every new chat starts from them instead of from nothing</a:t>
            </a:r>
          </a:p>
        </p:txBody>
      </p:sp>
      <p:sp>
        <p:nvSpPr>
          <p:cNvPr id="8" name="Rectangle 7"/>
          <p:cNvSpPr/>
          <p:nvPr/>
        </p:nvSpPr>
        <p:spPr>
          <a:xfrm>
            <a:off x="548640" y="2139696"/>
            <a:ext cx="82296" cy="16459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9632" y="2139696"/>
            <a:ext cx="5440680" cy="16459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The lightweight version of a Gem</a:t>
            </a:r>
          </a:p>
          <a:p>
            <a:pPr>
              <a:spcBef>
                <a:spcPts val="300"/>
              </a:spcBef>
            </a:pPr>
            <a:r>
              <a:rPr sz="1200" b="0" i="0">
                <a:solidFill>
                  <a:srgbClr val="2A333B"/>
                </a:solidFill>
                <a:latin typeface="Calibri"/>
              </a:rPr>
              <a:t>Saved info follows you everywhere; a Gem is one project's workspace. Standing facts here, project context there</a:t>
            </a:r>
          </a:p>
        </p:txBody>
      </p:sp>
      <p:sp>
        <p:nvSpPr>
          <p:cNvPr id="10" name="Rectangle 9"/>
          <p:cNvSpPr/>
          <p:nvPr/>
        </p:nvSpPr>
        <p:spPr>
          <a:xfrm>
            <a:off x="6199632" y="2139696"/>
            <a:ext cx="82296" cy="16459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4023360"/>
            <a:ext cx="11091672" cy="96926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does not go in here</a:t>
            </a:r>
          </a:p>
          <a:p>
            <a:pPr>
              <a:spcBef>
                <a:spcPts val="300"/>
              </a:spcBef>
            </a:pPr>
            <a:r>
              <a:rPr sz="1200" b="0" i="0">
                <a:solidFill>
                  <a:srgbClr val="2A333B"/>
                </a:solidFill>
                <a:latin typeface="Calibri"/>
              </a:rPr>
              <a:t>Nothing from the Segment 2 list. Saved info is stored on your personal Google account and read by every chat you open — it is the last place a colleague's name or an unsubmitted figure belongs.</a:t>
            </a:r>
          </a:p>
        </p:txBody>
      </p:sp>
      <p:sp>
        <p:nvSpPr>
          <p:cNvPr id="12" name="Rectangle 11"/>
          <p:cNvSpPr/>
          <p:nvPr/>
        </p:nvSpPr>
        <p:spPr>
          <a:xfrm>
            <a:off x="548640" y="4023360"/>
            <a:ext cx="82296" cy="96926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5175504"/>
            <a:ext cx="11091672" cy="365760"/>
          </a:xfrm>
          <a:prstGeom prst="rect">
            <a:avLst/>
          </a:prstGeom>
          <a:noFill/>
        </p:spPr>
        <p:txBody>
          <a:bodyPr wrap="square">
            <a:spAutoFit/>
          </a:bodyPr>
          <a:lstStyle/>
          <a:p>
            <a:pPr algn="l"/>
            <a:r>
              <a:rPr sz="1150" b="0" i="1">
                <a:solidFill>
                  <a:srgbClr val="6B747D"/>
                </a:solidFill>
                <a:latin typeface="Calibri"/>
              </a:rPr>
              <a:t>Standing context is a convenience; it is not a place to keep anything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NotebookLM: a YouTube link becomes a source</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11091672" cy="804672"/>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600" b="1" i="0">
                <a:solidFill>
                  <a:srgbClr val="FFFFFF"/>
                </a:solidFill>
                <a:latin typeface="Cambria"/>
              </a:rPr>
              <a:t>A funder's recorded information session on YouTube — an hour of video nobody will rewatch — turned into a text source you can question and quote</a:t>
            </a:r>
          </a:p>
        </p:txBody>
      </p:sp>
      <p:sp>
        <p:nvSpPr>
          <p:cNvPr id="7" name="TextBox 6"/>
          <p:cNvSpPr txBox="1"/>
          <p:nvPr/>
        </p:nvSpPr>
        <p:spPr>
          <a:xfrm>
            <a:off x="548640" y="2084832"/>
            <a:ext cx="11091672" cy="365760"/>
          </a:xfrm>
          <a:prstGeom prst="rect">
            <a:avLst/>
          </a:prstGeom>
          <a:noFill/>
        </p:spPr>
        <p:txBody>
          <a:bodyPr wrap="square">
            <a:spAutoFit/>
          </a:bodyPr>
          <a:lstStyle/>
          <a:p>
            <a:pPr algn="l"/>
            <a:r>
              <a:rPr sz="1150" b="0" i="1">
                <a:solidFill>
                  <a:srgbClr val="6B747D"/>
                </a:solidFill>
                <a:latin typeface="Calibri"/>
              </a:rPr>
              <a:t>The Lesson 3 tool — what it is for today, the walkthrough next week</a:t>
            </a:r>
          </a:p>
        </p:txBody>
      </p:sp>
      <p:sp>
        <p:nvSpPr>
          <p:cNvPr id="8" name="Rectangle 7"/>
          <p:cNvSpPr/>
          <p:nvPr/>
        </p:nvSpPr>
        <p:spPr>
          <a:xfrm>
            <a:off x="548640" y="2487168"/>
            <a:ext cx="5440680" cy="2066543"/>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you get</a:t>
            </a:r>
          </a:p>
          <a:p>
            <a:pPr>
              <a:spcBef>
                <a:spcPts val="300"/>
              </a:spcBef>
            </a:pPr>
            <a:r>
              <a:rPr sz="1200" b="0" i="0">
                <a:solidFill>
                  <a:srgbClr val="2A333B"/>
                </a:solidFill>
                <a:latin typeface="Calibri"/>
              </a:rPr>
              <a:t>·  The spoken hour as a text source the notebook can quote, with the point in the recording each answer came from</a:t>
            </a:r>
          </a:p>
          <a:p>
            <a:pPr>
              <a:spcBef>
                <a:spcPts val="300"/>
              </a:spcBef>
            </a:pPr>
            <a:r>
              <a:rPr sz="1200" b="0" i="0">
                <a:solidFill>
                  <a:srgbClr val="2A333B"/>
                </a:solidFill>
                <a:latin typeface="Calibri"/>
              </a:rPr>
              <a:t>·  Searchable: “what did they say about co-financing?” instead of scrubbing a timeline</a:t>
            </a:r>
          </a:p>
        </p:txBody>
      </p:sp>
      <p:sp>
        <p:nvSpPr>
          <p:cNvPr id="9" name="Rectangle 8"/>
          <p:cNvSpPr/>
          <p:nvPr/>
        </p:nvSpPr>
        <p:spPr>
          <a:xfrm>
            <a:off x="548640" y="2487168"/>
            <a:ext cx="82296" cy="2066543"/>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99632" y="2487168"/>
            <a:ext cx="5440680" cy="2066543"/>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it needs</a:t>
            </a:r>
          </a:p>
          <a:p>
            <a:pPr>
              <a:spcBef>
                <a:spcPts val="300"/>
              </a:spcBef>
            </a:pPr>
            <a:r>
              <a:rPr sz="1200" b="0" i="0">
                <a:solidFill>
                  <a:srgbClr val="2A333B"/>
                </a:solidFill>
                <a:latin typeface="Calibri"/>
              </a:rPr>
              <a:t>·  A public YouTube video with captions — the captions are what the notebook actually reads, so a recording without them is not a source</a:t>
            </a:r>
          </a:p>
          <a:p>
            <a:pPr>
              <a:spcBef>
                <a:spcPts val="300"/>
              </a:spcBef>
            </a:pPr>
            <a:r>
              <a:rPr sz="1200" b="0" i="0">
                <a:solidFill>
                  <a:srgbClr val="2A333B"/>
                </a:solidFill>
                <a:latin typeface="Calibri"/>
              </a:rPr>
              <a:t>·  No link goes in this deck: the scenario is described, and the recording you use on the day is your own</a:t>
            </a:r>
          </a:p>
        </p:txBody>
      </p:sp>
      <p:sp>
        <p:nvSpPr>
          <p:cNvPr id="11" name="Rectangle 10"/>
          <p:cNvSpPr/>
          <p:nvPr/>
        </p:nvSpPr>
        <p:spPr>
          <a:xfrm>
            <a:off x="6199632" y="2487168"/>
            <a:ext cx="82296" cy="2066543"/>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4791456"/>
            <a:ext cx="11091672" cy="365760"/>
          </a:xfrm>
          <a:prstGeom prst="rect">
            <a:avLst/>
          </a:prstGeom>
          <a:noFill/>
        </p:spPr>
        <p:txBody>
          <a:bodyPr wrap="square">
            <a:spAutoFit/>
          </a:bodyPr>
          <a:lstStyle/>
          <a:p>
            <a:pPr algn="l"/>
            <a:r>
              <a:rPr sz="1200" b="0" i="1">
                <a:solidFill>
                  <a:srgbClr val="6B747D"/>
                </a:solidFill>
                <a:latin typeface="Calibri"/>
              </a:rPr>
              <a:t>The hour of video you could not cite becomes a source you can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NotebookLM: several documents, one notebook</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11091672" cy="804672"/>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600" b="1" i="0">
                <a:solidFill>
                  <a:srgbClr val="FFFFFF"/>
                </a:solidFill>
                <a:latin typeface="Cambria"/>
              </a:rPr>
              <a:t>Everything the office holds on one call — the document, the guidelines, the FAQ and your own notes — answering as one source, with citations</a:t>
            </a:r>
          </a:p>
        </p:txBody>
      </p:sp>
      <p:sp>
        <p:nvSpPr>
          <p:cNvPr id="7" name="TextBox 6"/>
          <p:cNvSpPr txBox="1"/>
          <p:nvPr/>
        </p:nvSpPr>
        <p:spPr>
          <a:xfrm>
            <a:off x="548640" y="2084832"/>
            <a:ext cx="11091672" cy="365760"/>
          </a:xfrm>
          <a:prstGeom prst="rect">
            <a:avLst/>
          </a:prstGeom>
          <a:noFill/>
        </p:spPr>
        <p:txBody>
          <a:bodyPr wrap="square">
            <a:spAutoFit/>
          </a:bodyPr>
          <a:lstStyle/>
          <a:p>
            <a:pPr algn="l"/>
            <a:r>
              <a:rPr sz="1150" b="0" i="1">
                <a:solidFill>
                  <a:srgbClr val="6B747D"/>
                </a:solidFill>
                <a:latin typeface="Calibri"/>
              </a:rPr>
              <a:t>The Lesson 3 tool — what it is for today, the walkthrough next week</a:t>
            </a:r>
          </a:p>
        </p:txBody>
      </p:sp>
      <p:sp>
        <p:nvSpPr>
          <p:cNvPr id="8" name="Rectangle 7"/>
          <p:cNvSpPr/>
          <p:nvPr/>
        </p:nvSpPr>
        <p:spPr>
          <a:xfrm>
            <a:off x="548640" y="2487168"/>
            <a:ext cx="5440680" cy="2066543"/>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Four sources, one question</a:t>
            </a:r>
          </a:p>
          <a:p>
            <a:pPr>
              <a:spcBef>
                <a:spcPts val="300"/>
              </a:spcBef>
            </a:pPr>
            <a:r>
              <a:rPr sz="1200" b="0" i="0">
                <a:solidFill>
                  <a:srgbClr val="2A333B"/>
                </a:solidFill>
                <a:latin typeface="Calibri"/>
              </a:rPr>
              <a:t>·  The call document, the funder's guidelines, the FAQ and your own notes in one notebook</a:t>
            </a:r>
          </a:p>
          <a:p>
            <a:pPr>
              <a:spcBef>
                <a:spcPts val="300"/>
              </a:spcBef>
            </a:pPr>
            <a:r>
              <a:rPr sz="1200" b="0" i="0">
                <a:solidFill>
                  <a:srgbClr val="2A333B"/>
                </a:solidFill>
                <a:latin typeface="Calibri"/>
              </a:rPr>
              <a:t>·  Ask it once — “what does eligibility actually require?” — and the answer says which of the four it came from</a:t>
            </a:r>
          </a:p>
        </p:txBody>
      </p:sp>
      <p:sp>
        <p:nvSpPr>
          <p:cNvPr id="9" name="Rectangle 8"/>
          <p:cNvSpPr/>
          <p:nvPr/>
        </p:nvSpPr>
        <p:spPr>
          <a:xfrm>
            <a:off x="548640" y="2487168"/>
            <a:ext cx="82296" cy="2066543"/>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99632" y="2487168"/>
            <a:ext cx="5440680" cy="2066543"/>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The answer to “more context is not better context”</a:t>
            </a:r>
          </a:p>
          <a:p>
            <a:pPr>
              <a:spcBef>
                <a:spcPts val="300"/>
              </a:spcBef>
            </a:pPr>
            <a:r>
              <a:rPr sz="1200" b="0" i="0">
                <a:solidFill>
                  <a:srgbClr val="2A333B"/>
                </a:solidFill>
                <a:latin typeface="Calibri"/>
              </a:rPr>
              <a:t>·  It answers from the sources you gave it and says so, rather than from everything it has ever read</a:t>
            </a:r>
          </a:p>
          <a:p>
            <a:pPr>
              <a:spcBef>
                <a:spcPts val="300"/>
              </a:spcBef>
            </a:pPr>
            <a:r>
              <a:rPr sz="1200" b="0" i="0">
                <a:solidFill>
                  <a:srgbClr val="2A333B"/>
                </a:solidFill>
                <a:latin typeface="Calibri"/>
              </a:rPr>
              <a:t>·  Curation stops being a discipline you have to remember and becomes the shape of the tool</a:t>
            </a:r>
          </a:p>
        </p:txBody>
      </p:sp>
      <p:sp>
        <p:nvSpPr>
          <p:cNvPr id="11" name="Rectangle 10"/>
          <p:cNvSpPr/>
          <p:nvPr/>
        </p:nvSpPr>
        <p:spPr>
          <a:xfrm>
            <a:off x="6199632" y="2487168"/>
            <a:ext cx="82296" cy="2066543"/>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4773168"/>
            <a:ext cx="11091672" cy="365760"/>
          </a:xfrm>
          <a:prstGeom prst="rect">
            <a:avLst/>
          </a:prstGeom>
          <a:noFill/>
        </p:spPr>
        <p:txBody>
          <a:bodyPr wrap="square">
            <a:spAutoFit/>
          </a:bodyPr>
          <a:lstStyle/>
          <a:p>
            <a:pPr algn="l"/>
            <a:r>
              <a:rPr sz="1200" b="0" i="1">
                <a:solidFill>
                  <a:srgbClr val="6B747D"/>
                </a:solidFill>
                <a:latin typeface="Calibri"/>
              </a:rPr>
              <a:t>Source-grounded: every claim carries the document it came from, so checking it takes one click rather than one afternoon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NotebookLM: a notebook as the project folder</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11091672" cy="804672"/>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600" b="1" i="0">
                <a:solidFill>
                  <a:srgbClr val="FFFFFF"/>
                </a:solidFill>
                <a:latin typeface="Cambria"/>
              </a:rPr>
              <a:t>Link the Anchor Project's notebook into a conversation, and stop re-uploading the same four documents every time you open one</a:t>
            </a:r>
          </a:p>
        </p:txBody>
      </p:sp>
      <p:sp>
        <p:nvSpPr>
          <p:cNvPr id="7" name="TextBox 6"/>
          <p:cNvSpPr txBox="1"/>
          <p:nvPr/>
        </p:nvSpPr>
        <p:spPr>
          <a:xfrm>
            <a:off x="548640" y="2084832"/>
            <a:ext cx="11091672" cy="365760"/>
          </a:xfrm>
          <a:prstGeom prst="rect">
            <a:avLst/>
          </a:prstGeom>
          <a:noFill/>
        </p:spPr>
        <p:txBody>
          <a:bodyPr wrap="square">
            <a:spAutoFit/>
          </a:bodyPr>
          <a:lstStyle/>
          <a:p>
            <a:pPr algn="l"/>
            <a:r>
              <a:rPr sz="1150" b="0" i="1">
                <a:solidFill>
                  <a:srgbClr val="6B747D"/>
                </a:solidFill>
                <a:latin typeface="Calibri"/>
              </a:rPr>
              <a:t>The Lesson 3 tool — what it is for today, the walkthrough next week</a:t>
            </a:r>
          </a:p>
        </p:txBody>
      </p:sp>
      <p:sp>
        <p:nvSpPr>
          <p:cNvPr id="8" name="Rectangle 7"/>
          <p:cNvSpPr/>
          <p:nvPr/>
        </p:nvSpPr>
        <p:spPr>
          <a:xfrm>
            <a:off x="548640" y="2487168"/>
            <a:ext cx="5440680" cy="2066543"/>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What it changes</a:t>
            </a:r>
          </a:p>
          <a:p>
            <a:pPr>
              <a:spcBef>
                <a:spcPts val="300"/>
              </a:spcBef>
            </a:pPr>
            <a:r>
              <a:rPr sz="1200" b="0" i="0">
                <a:solidFill>
                  <a:srgbClr val="2A333B"/>
                </a:solidFill>
                <a:latin typeface="Calibri"/>
              </a:rPr>
              <a:t>·  The notebook becomes the project's folder inside a conversation: the Anchor Project's sources travel with the chat</a:t>
            </a:r>
          </a:p>
          <a:p>
            <a:pPr>
              <a:spcBef>
                <a:spcPts val="300"/>
              </a:spcBef>
            </a:pPr>
            <a:r>
              <a:rPr sz="1200" b="0" i="0">
                <a:solidFill>
                  <a:srgbClr val="2A333B"/>
                </a:solidFill>
                <a:latin typeface="Calibri"/>
              </a:rPr>
              <a:t>·  Persistent context again, one level up — a Gem knows how you work, a notebook knows what you are working from</a:t>
            </a:r>
          </a:p>
        </p:txBody>
      </p:sp>
      <p:sp>
        <p:nvSpPr>
          <p:cNvPr id="9" name="Rectangle 8"/>
          <p:cNvSpPr/>
          <p:nvPr/>
        </p:nvSpPr>
        <p:spPr>
          <a:xfrm>
            <a:off x="548640" y="2487168"/>
            <a:ext cx="82296" cy="2066543"/>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99632" y="2487168"/>
            <a:ext cx="5440680" cy="2066543"/>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Check before you promise it</a:t>
            </a:r>
          </a:p>
          <a:p>
            <a:pPr>
              <a:spcBef>
                <a:spcPts val="300"/>
              </a:spcBef>
            </a:pPr>
            <a:r>
              <a:rPr sz="1200" b="0" i="0">
                <a:solidFill>
                  <a:srgbClr val="2A333B"/>
                </a:solidFill>
                <a:latin typeface="Calibri"/>
              </a:rPr>
              <a:t>·  Google folded NotebookLM into the Gemini family in 2026 — the product itself was renamed “Gemini Notebook” in mid-2026, and the notebook-to-chat link arrived on paid plans first</a:t>
            </a:r>
          </a:p>
          <a:p>
            <a:pPr>
              <a:spcBef>
                <a:spcPts val="300"/>
              </a:spcBef>
            </a:pPr>
            <a:r>
              <a:rPr sz="1200" b="0" i="0">
                <a:solidFill>
                  <a:srgbClr val="2A333B"/>
                </a:solidFill>
                <a:latin typeface="Calibri"/>
              </a:rPr>
              <a:t>·  Any step of this that is paid-only on the day is marked on the slide before delivery</a:t>
            </a:r>
          </a:p>
        </p:txBody>
      </p:sp>
      <p:sp>
        <p:nvSpPr>
          <p:cNvPr id="11" name="Rectangle 10"/>
          <p:cNvSpPr/>
          <p:nvPr/>
        </p:nvSpPr>
        <p:spPr>
          <a:xfrm>
            <a:off x="6199632" y="2487168"/>
            <a:ext cx="82296" cy="2066543"/>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4773168"/>
            <a:ext cx="11091672" cy="74980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600" b="1" i="0">
                <a:solidFill>
                  <a:srgbClr val="FFFFFF"/>
                </a:solidFill>
                <a:latin typeface="Cambria"/>
              </a:rPr>
              <a:t>Next week: the notebook itself. Today: what it is for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Chaining what you have just seen</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88720"/>
            <a:ext cx="11091672" cy="365760"/>
          </a:xfrm>
          <a:prstGeom prst="rect">
            <a:avLst/>
          </a:prstGeom>
          <a:noFill/>
        </p:spPr>
        <p:txBody>
          <a:bodyPr wrap="square">
            <a:spAutoFit/>
          </a:bodyPr>
          <a:lstStyle/>
          <a:p>
            <a:pPr algn="l"/>
            <a:r>
              <a:rPr sz="1300" b="0" i="0">
                <a:solidFill>
                  <a:srgbClr val="6B747D"/>
                </a:solidFill>
                <a:latin typeface="Calibri"/>
              </a:rPr>
              <a:t>No single capability on its own is the interesting part. Two of them in a row, with a reason for the order, is a workflow.</a:t>
            </a:r>
          </a:p>
        </p:txBody>
      </p:sp>
      <p:sp>
        <p:nvSpPr>
          <p:cNvPr id="7" name="Rectangle 6"/>
          <p:cNvSpPr/>
          <p:nvPr/>
        </p:nvSpPr>
        <p:spPr>
          <a:xfrm>
            <a:off x="548640" y="1700784"/>
            <a:ext cx="5440680" cy="2377440"/>
          </a:xfrm>
          <a:prstGeom prst="rect">
            <a:avLst/>
          </a:prstGeom>
          <a:solidFill>
            <a:srgbClr val="EBE6F7"/>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164592"/>
          <a:lstStyle/>
          <a:p>
            <a:pPr algn="l"/>
            <a:r>
              <a:rPr sz="1800" b="1" i="0">
                <a:solidFill>
                  <a:srgbClr val="1C242B"/>
                </a:solidFill>
                <a:latin typeface="Cambria"/>
              </a:rPr>
              <a:t>Upload → Gem → Canvas</a:t>
            </a:r>
          </a:p>
          <a:p>
            <a:pPr>
              <a:spcBef>
                <a:spcPts val="500"/>
              </a:spcBef>
            </a:pPr>
            <a:r>
              <a:rPr sz="1250" b="0" i="0">
                <a:solidFill>
                  <a:srgbClr val="2A333B"/>
                </a:solidFill>
                <a:latin typeface="Calibri"/>
              </a:rPr>
              <a:t>·  Upload the anonymised call document and read the eligibility criteria out of it</a:t>
            </a:r>
          </a:p>
          <a:p>
            <a:pPr>
              <a:spcBef>
                <a:spcPts val="500"/>
              </a:spcBef>
            </a:pPr>
            <a:r>
              <a:rPr sz="1250" b="0" i="0">
                <a:solidFill>
                  <a:srgbClr val="2A333B"/>
                </a:solidFill>
                <a:latin typeface="Calibri"/>
              </a:rPr>
              <a:t>·  Put the project's standing context in a Gem, so the next chat starts where this one ended</a:t>
            </a:r>
          </a:p>
          <a:p>
            <a:pPr>
              <a:spcBef>
                <a:spcPts val="500"/>
              </a:spcBef>
            </a:pPr>
            <a:r>
              <a:rPr sz="1250" b="0" i="0">
                <a:solidFill>
                  <a:srgbClr val="2A333B"/>
                </a:solidFill>
                <a:latin typeface="Calibri"/>
              </a:rPr>
              <a:t>·  Draft the presentation in Canvas, from a workspace that already knows the project</a:t>
            </a:r>
          </a:p>
        </p:txBody>
      </p:sp>
      <p:sp>
        <p:nvSpPr>
          <p:cNvPr id="8" name="Rectangle 7"/>
          <p:cNvSpPr/>
          <p:nvPr/>
        </p:nvSpPr>
        <p:spPr>
          <a:xfrm>
            <a:off x="548640" y="1700784"/>
            <a:ext cx="82296" cy="237744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9632" y="1700784"/>
            <a:ext cx="5440680" cy="237744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164592"/>
          <a:lstStyle/>
          <a:p>
            <a:pPr algn="l"/>
            <a:r>
              <a:rPr sz="1800" b="1" i="0">
                <a:solidFill>
                  <a:srgbClr val="1C242B"/>
                </a:solidFill>
                <a:latin typeface="Cambria"/>
              </a:rPr>
              <a:t>Notebook → chat → draft</a:t>
            </a:r>
          </a:p>
          <a:p>
            <a:pPr>
              <a:spcBef>
                <a:spcPts val="500"/>
              </a:spcBef>
            </a:pPr>
            <a:r>
              <a:rPr sz="1250" b="0" i="0">
                <a:solidFill>
                  <a:srgbClr val="2A333B"/>
                </a:solidFill>
                <a:latin typeface="Calibri"/>
              </a:rPr>
              <a:t>·  Aggregate the call's four documents in one notebook, source-grounded</a:t>
            </a:r>
          </a:p>
          <a:p>
            <a:pPr>
              <a:spcBef>
                <a:spcPts val="500"/>
              </a:spcBef>
            </a:pPr>
            <a:r>
              <a:rPr sz="1250" b="0" i="0">
                <a:solidFill>
                  <a:srgbClr val="2A333B"/>
                </a:solidFill>
                <a:latin typeface="Calibri"/>
              </a:rPr>
              <a:t>·  Link the notebook into a chat as the project's folder</a:t>
            </a:r>
          </a:p>
          <a:p>
            <a:pPr>
              <a:spcBef>
                <a:spcPts val="500"/>
              </a:spcBef>
            </a:pPr>
            <a:r>
              <a:rPr sz="1250" b="0" i="0">
                <a:solidFill>
                  <a:srgbClr val="2A333B"/>
                </a:solidFill>
                <a:latin typeface="Calibri"/>
              </a:rPr>
              <a:t>·  Draft from sources you can cite, instead of from a conversation you have to trust</a:t>
            </a:r>
          </a:p>
        </p:txBody>
      </p:sp>
      <p:sp>
        <p:nvSpPr>
          <p:cNvPr id="10" name="Rectangle 9"/>
          <p:cNvSpPr/>
          <p:nvPr/>
        </p:nvSpPr>
        <p:spPr>
          <a:xfrm>
            <a:off x="6199632" y="1700784"/>
            <a:ext cx="82296" cy="237744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4297680"/>
            <a:ext cx="11091672" cy="932688"/>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2100" b="1" i="0">
                <a:solidFill>
                  <a:srgbClr val="FFFFFF"/>
                </a:solidFill>
                <a:latin typeface="Cambria"/>
              </a:rPr>
              <a:t>This is the assignment</a:t>
            </a:r>
          </a:p>
          <a:p>
            <a:pPr algn="ctr">
              <a:spcBef>
                <a:spcPts val="600"/>
              </a:spcBef>
            </a:pPr>
            <a:r>
              <a:rPr sz="1300" b="0" i="0">
                <a:solidFill>
                  <a:srgbClr val="FFFFFF"/>
                </a:solidFill>
                <a:latin typeface="Calibri"/>
              </a:rPr>
              <a:t>Next segment: chain the tools and capabilities from both weeks into one workflow, and justify every step — which tool, why that one, and what the step before it had to produce.</a:t>
            </a:r>
          </a:p>
        </p:txBody>
      </p:sp>
      <p:sp>
        <p:nvSpPr>
          <p:cNvPr id="12" name="TextBox 11"/>
          <p:cNvSpPr txBox="1"/>
          <p:nvPr/>
        </p:nvSpPr>
        <p:spPr>
          <a:xfrm>
            <a:off x="548640" y="5431536"/>
            <a:ext cx="11091672" cy="365760"/>
          </a:xfrm>
          <a:prstGeom prst="rect">
            <a:avLst/>
          </a:prstGeom>
          <a:noFill/>
        </p:spPr>
        <p:txBody>
          <a:bodyPr wrap="square">
            <a:spAutoFit/>
          </a:bodyPr>
          <a:lstStyle/>
          <a:p>
            <a:pPr algn="l"/>
            <a:r>
              <a:rPr sz="1150" b="0" i="1">
                <a:solidFill>
                  <a:srgbClr val="6B747D"/>
                </a:solidFill>
                <a:latin typeface="Calibri"/>
              </a:rPr>
              <a:t>Level 3 was persistent context. Level 4 is orchestration — and the blueprint you write this week is its foundation.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0" cy="635508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0" b="1" i="0">
                <a:solidFill>
                  <a:srgbClr val="FFFFFF"/>
                </a:solidFill>
                <a:latin typeface="Cambria"/>
              </a:rPr>
              <a:t>5</a:t>
            </a:r>
          </a:p>
        </p:txBody>
      </p:sp>
      <p:sp>
        <p:nvSpPr>
          <p:cNvPr id="3" name="TextBox 2"/>
          <p:cNvSpPr txBox="1"/>
          <p:nvPr/>
        </p:nvSpPr>
        <p:spPr>
          <a:xfrm>
            <a:off x="3474720" y="1920240"/>
            <a:ext cx="8138160" cy="1371600"/>
          </a:xfrm>
          <a:prstGeom prst="rect">
            <a:avLst/>
          </a:prstGeom>
          <a:noFill/>
        </p:spPr>
        <p:txBody>
          <a:bodyPr wrap="square" anchor="b">
            <a:spAutoFit/>
          </a:bodyPr>
          <a:lstStyle/>
          <a:p>
            <a:pPr algn="l"/>
            <a:r>
              <a:rPr sz="3400" b="1" i="0">
                <a:solidFill>
                  <a:srgbClr val="1C242B"/>
                </a:solidFill>
                <a:latin typeface="Cambria"/>
              </a:rPr>
              <a:t>Assignment briefing + close</a:t>
            </a:r>
          </a:p>
        </p:txBody>
      </p:sp>
      <p:sp>
        <p:nvSpPr>
          <p:cNvPr id="4" name="Rectangle 3"/>
          <p:cNvSpPr/>
          <p:nvPr/>
        </p:nvSpPr>
        <p:spPr>
          <a:xfrm>
            <a:off x="3474720" y="3401568"/>
            <a:ext cx="1097280" cy="3175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0" y="3566160"/>
            <a:ext cx="8138160" cy="457200"/>
          </a:xfrm>
          <a:prstGeom prst="rect">
            <a:avLst/>
          </a:prstGeom>
          <a:noFill/>
        </p:spPr>
        <p:txBody>
          <a:bodyPr wrap="square">
            <a:spAutoFit/>
          </a:bodyPr>
          <a:lstStyle/>
          <a:p>
            <a:pPr algn="l"/>
            <a:r>
              <a:rPr sz="1800" b="1" i="0">
                <a:solidFill>
                  <a:srgbClr val="3E4C59"/>
                </a:solidFill>
                <a:latin typeface="Calibri"/>
              </a:rPr>
              <a:t>8 min · Presentation + Q&amp;A</a:t>
            </a:r>
          </a:p>
        </p:txBody>
      </p:sp>
      <p:sp>
        <p:nvSpPr>
          <p:cNvPr id="6" name="TextBox 5"/>
          <p:cNvSpPr txBox="1"/>
          <p:nvPr/>
        </p:nvSpPr>
        <p:spPr>
          <a:xfrm>
            <a:off x="3474720" y="4023360"/>
            <a:ext cx="8138160" cy="365760"/>
          </a:xfrm>
          <a:prstGeom prst="rect">
            <a:avLst/>
          </a:prstGeom>
          <a:noFill/>
        </p:spPr>
        <p:txBody>
          <a:bodyPr wrap="square">
            <a:spAutoFit/>
          </a:bodyPr>
          <a:lstStyle/>
          <a:p>
            <a:pPr algn="l"/>
            <a:r>
              <a:rPr sz="1200" b="0" i="0">
                <a:solidFill>
                  <a:srgbClr val="6B747D"/>
                </a:solidFill>
                <a:latin typeface="Calibri"/>
              </a:rPr>
              <a:t>Segment 5 of 5</a:t>
            </a:r>
          </a:p>
        </p:txBody>
      </p:sp>
      <p:sp>
        <p:nvSpPr>
          <p:cNvPr id="7" name="Rectangle 6"/>
          <p:cNvSpPr/>
          <p:nvPr/>
        </p:nvSpPr>
        <p:spPr>
          <a:xfrm>
            <a:off x="34747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605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8463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321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5989320"/>
            <a:ext cx="502920" cy="73152"/>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Assignment: your first workflow orchestration</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170432"/>
            <a:ext cx="11091672" cy="749808"/>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2100" b="1" i="0">
                <a:solidFill>
                  <a:srgbClr val="FFFFFF"/>
                </a:solidFill>
                <a:latin typeface="Cambria"/>
              </a:rPr>
              <a:t>Run the roadmap on a topic of your own</a:t>
            </a:r>
          </a:p>
          <a:p>
            <a:pPr algn="ctr">
              <a:spcBef>
                <a:spcPts val="600"/>
              </a:spcBef>
            </a:pPr>
            <a:r>
              <a:rPr sz="1300" b="0" i="0">
                <a:solidFill>
                  <a:srgbClr val="FFFFFF"/>
                </a:solidFill>
                <a:latin typeface="Calibri"/>
              </a:rPr>
              <a:t>Chain all the tools and capabilities the course has introduced so far into one multi-step workflow orchestration — end to end, on a topic you pick.</a:t>
            </a:r>
          </a:p>
        </p:txBody>
      </p:sp>
      <p:sp>
        <p:nvSpPr>
          <p:cNvPr id="6" name="Rectangle 5"/>
          <p:cNvSpPr/>
          <p:nvPr/>
        </p:nvSpPr>
        <p:spPr>
          <a:xfrm>
            <a:off x="548640" y="2066543"/>
            <a:ext cx="566928" cy="84124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Cambria"/>
              </a:rPr>
              <a:t>1</a:t>
            </a:r>
          </a:p>
        </p:txBody>
      </p:sp>
      <p:sp>
        <p:nvSpPr>
          <p:cNvPr id="7" name="Rectangle 6"/>
          <p:cNvSpPr/>
          <p:nvPr/>
        </p:nvSpPr>
        <p:spPr>
          <a:xfrm>
            <a:off x="1280160" y="2066543"/>
            <a:ext cx="10360152" cy="84124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500" b="1" i="0">
                <a:solidFill>
                  <a:srgbClr val="1C242B"/>
                </a:solidFill>
                <a:latin typeface="Cambria"/>
              </a:rPr>
              <a:t>Deliverable</a:t>
            </a:r>
            <a:r>
              <a:rPr sz="1300" b="0" i="0">
                <a:solidFill>
                  <a:srgbClr val="2A333B"/>
                </a:solidFill>
                <a:latin typeface="Calibri"/>
              </a:rPr>
              <a:t>  —  A presentation on a hand-picked topic, designed for educational purposes and intended to facilitate learning outcomes.</a:t>
            </a:r>
          </a:p>
        </p:txBody>
      </p:sp>
      <p:sp>
        <p:nvSpPr>
          <p:cNvPr id="8" name="Rectangle 7"/>
          <p:cNvSpPr/>
          <p:nvPr/>
        </p:nvSpPr>
        <p:spPr>
          <a:xfrm>
            <a:off x="1280160" y="2066543"/>
            <a:ext cx="82296" cy="84124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980944"/>
            <a:ext cx="566928" cy="84124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Cambria"/>
              </a:rPr>
              <a:t>2</a:t>
            </a:r>
          </a:p>
        </p:txBody>
      </p:sp>
      <p:sp>
        <p:nvSpPr>
          <p:cNvPr id="10" name="Rectangle 9"/>
          <p:cNvSpPr/>
          <p:nvPr/>
        </p:nvSpPr>
        <p:spPr>
          <a:xfrm>
            <a:off x="1280160" y="2980944"/>
            <a:ext cx="10360152" cy="84124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500" b="1" i="0">
                <a:solidFill>
                  <a:srgbClr val="1C242B"/>
                </a:solidFill>
                <a:latin typeface="Cambria"/>
              </a:rPr>
              <a:t>Blueprint</a:t>
            </a:r>
            <a:r>
              <a:rPr sz="1300" b="0" i="0">
                <a:solidFill>
                  <a:srgbClr val="2A333B"/>
                </a:solidFill>
                <a:latin typeface="Calibri"/>
              </a:rPr>
              <a:t>  —  The roadmap on the next four slides, adapted to your topic — for each step: the tool, the input, the output, detailed guidelines for running it, and a justification for why that tool at that step. Every step you change, drop or add carries a line saying why.</a:t>
            </a:r>
          </a:p>
        </p:txBody>
      </p:sp>
      <p:sp>
        <p:nvSpPr>
          <p:cNvPr id="11" name="Rectangle 10"/>
          <p:cNvSpPr/>
          <p:nvPr/>
        </p:nvSpPr>
        <p:spPr>
          <a:xfrm>
            <a:off x="1280160" y="2980944"/>
            <a:ext cx="82296" cy="84124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895344"/>
            <a:ext cx="566928" cy="84124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Cambria"/>
              </a:rPr>
              <a:t>3</a:t>
            </a:r>
          </a:p>
        </p:txBody>
      </p:sp>
      <p:sp>
        <p:nvSpPr>
          <p:cNvPr id="13" name="Rectangle 12"/>
          <p:cNvSpPr/>
          <p:nvPr/>
        </p:nvSpPr>
        <p:spPr>
          <a:xfrm>
            <a:off x="1280160" y="3895344"/>
            <a:ext cx="10360152" cy="84124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500" b="1" i="0">
                <a:solidFill>
                  <a:srgbClr val="1C242B"/>
                </a:solidFill>
                <a:latin typeface="Cambria"/>
              </a:rPr>
              <a:t>Routing</a:t>
            </a:r>
            <a:r>
              <a:rPr sz="1300" b="0" i="0">
                <a:solidFill>
                  <a:srgbClr val="2A333B"/>
                </a:solidFill>
                <a:latin typeface="Calibri"/>
              </a:rPr>
              <a:t>  —  Every step that touches sensitive data goes to the correct lane, documents are anonymised before upload, and the blueprint states the lane per step.</a:t>
            </a:r>
          </a:p>
        </p:txBody>
      </p:sp>
      <p:sp>
        <p:nvSpPr>
          <p:cNvPr id="14" name="Rectangle 13"/>
          <p:cNvSpPr/>
          <p:nvPr/>
        </p:nvSpPr>
        <p:spPr>
          <a:xfrm>
            <a:off x="1280160" y="3895344"/>
            <a:ext cx="82296" cy="84124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4864608"/>
            <a:ext cx="11091672" cy="365760"/>
          </a:xfrm>
          <a:prstGeom prst="rect">
            <a:avLst/>
          </a:prstGeom>
          <a:noFill/>
        </p:spPr>
        <p:txBody>
          <a:bodyPr wrap="square">
            <a:spAutoFit/>
          </a:bodyPr>
          <a:lstStyle/>
          <a:p>
            <a:pPr algn="l"/>
            <a:r>
              <a:rPr sz="1100" b="0" i="0">
                <a:solidFill>
                  <a:srgbClr val="6B747D"/>
                </a:solidFill>
                <a:latin typeface="Calibri"/>
              </a:rPr>
              <a:t>What you hand in</a:t>
            </a:r>
          </a:p>
        </p:txBody>
      </p:sp>
      <p:sp>
        <p:nvSpPr>
          <p:cNvPr id="16" name="Rectangle 15"/>
          <p:cNvSpPr/>
          <p:nvPr/>
        </p:nvSpPr>
        <p:spPr>
          <a:xfrm>
            <a:off x="548640" y="5138928"/>
            <a:ext cx="3557016" cy="85953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250" b="1" i="0">
                <a:solidFill>
                  <a:srgbClr val="1C242B"/>
                </a:solidFill>
                <a:latin typeface="Cambria"/>
              </a:rPr>
              <a:t>The blueprint</a:t>
            </a:r>
          </a:p>
          <a:p>
            <a:pPr>
              <a:spcBef>
                <a:spcPts val="300"/>
              </a:spcBef>
            </a:pPr>
            <a:r>
              <a:rPr sz="1100" b="0" i="0">
                <a:solidFill>
                  <a:srgbClr val="2A333B"/>
                </a:solidFill>
                <a:latin typeface="Calibri"/>
              </a:rPr>
              <a:t>Nine rows or your own number, each with its justification — plus the chain drawn as a diagram.</a:t>
            </a:r>
          </a:p>
        </p:txBody>
      </p:sp>
      <p:sp>
        <p:nvSpPr>
          <p:cNvPr id="17" name="Rectangle 16"/>
          <p:cNvSpPr/>
          <p:nvPr/>
        </p:nvSpPr>
        <p:spPr>
          <a:xfrm>
            <a:off x="548640" y="5138928"/>
            <a:ext cx="82296" cy="859536"/>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15968" y="5138928"/>
            <a:ext cx="3557016" cy="85953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250" b="1" i="0">
                <a:solidFill>
                  <a:srgbClr val="1C242B"/>
                </a:solidFill>
                <a:latin typeface="Cambria"/>
              </a:rPr>
              <a:t>The presentation</a:t>
            </a:r>
          </a:p>
          <a:p>
            <a:pPr>
              <a:spcBef>
                <a:spcPts val="300"/>
              </a:spcBef>
            </a:pPr>
            <a:r>
              <a:rPr sz="1100" b="0" i="0">
                <a:solidFill>
                  <a:srgbClr val="2A333B"/>
                </a:solidFill>
                <a:latin typeface="Calibri"/>
              </a:rPr>
              <a:t>On your topic, teaching something, with the practice material step 8 produces.</a:t>
            </a:r>
          </a:p>
        </p:txBody>
      </p:sp>
      <p:sp>
        <p:nvSpPr>
          <p:cNvPr id="19" name="Rectangle 18"/>
          <p:cNvSpPr/>
          <p:nvPr/>
        </p:nvSpPr>
        <p:spPr>
          <a:xfrm>
            <a:off x="4315968" y="5138928"/>
            <a:ext cx="82296" cy="859536"/>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83296" y="5138928"/>
            <a:ext cx="3557016" cy="85953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250" b="1" i="0">
                <a:solidFill>
                  <a:srgbClr val="1C242B"/>
                </a:solidFill>
                <a:latin typeface="Cambria"/>
              </a:rPr>
              <a:t>The AI-use log</a:t>
            </a:r>
          </a:p>
          <a:p>
            <a:pPr>
              <a:spcBef>
                <a:spcPts val="300"/>
              </a:spcBef>
            </a:pPr>
            <a:r>
              <a:rPr sz="1100" b="0" i="0">
                <a:solidFill>
                  <a:srgbClr val="2A333B"/>
                </a:solidFill>
                <a:latin typeface="Calibri"/>
              </a:rPr>
              <a:t>Tool, date and purpose per step — the declaration on your last slide.</a:t>
            </a:r>
          </a:p>
        </p:txBody>
      </p:sp>
      <p:sp>
        <p:nvSpPr>
          <p:cNvPr id="21" name="Rectangle 20"/>
          <p:cNvSpPr/>
          <p:nvPr/>
        </p:nvSpPr>
        <p:spPr>
          <a:xfrm>
            <a:off x="8083296" y="5138928"/>
            <a:ext cx="82296" cy="859536"/>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6089904"/>
            <a:ext cx="11091672" cy="365760"/>
          </a:xfrm>
          <a:prstGeom prst="rect">
            <a:avLst/>
          </a:prstGeom>
          <a:noFill/>
        </p:spPr>
        <p:txBody>
          <a:bodyPr wrap="square">
            <a:spAutoFit/>
          </a:bodyPr>
          <a:lstStyle/>
          <a:p>
            <a:pPr algn="ctr"/>
            <a:r>
              <a:rPr sz="1250" b="0" i="1">
                <a:solidFill>
                  <a:srgbClr val="6B747D"/>
                </a:solidFill>
                <a:latin typeface="Calibri"/>
              </a:rPr>
              <a:t>The roadmap is next — that is the blueprint, already written. Your job is to run it and to justify every change you make to it.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The roadmap: nine steps, end to end</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52144"/>
            <a:ext cx="11091672" cy="365760"/>
          </a:xfrm>
          <a:prstGeom prst="rect">
            <a:avLst/>
          </a:prstGeom>
          <a:noFill/>
        </p:spPr>
        <p:txBody>
          <a:bodyPr wrap="square">
            <a:spAutoFit/>
          </a:bodyPr>
          <a:lstStyle/>
          <a:p>
            <a:pPr algn="l"/>
            <a:r>
              <a:rPr sz="1300" b="0" i="0">
                <a:solidFill>
                  <a:srgbClr val="6B747D"/>
                </a:solidFill>
                <a:latin typeface="Calibri"/>
              </a:rPr>
              <a:t>The chain crosses lanes four times — the colour down each card's edge is the lane its tool belongs to, and no step inherits a lane from the step before it</a:t>
            </a:r>
          </a:p>
        </p:txBody>
      </p:sp>
      <p:sp>
        <p:nvSpPr>
          <p:cNvPr id="6" name="TextBox 5"/>
          <p:cNvSpPr txBox="1"/>
          <p:nvPr/>
        </p:nvSpPr>
        <p:spPr>
          <a:xfrm>
            <a:off x="548640" y="1536192"/>
            <a:ext cx="11091672" cy="365760"/>
          </a:xfrm>
          <a:prstGeom prst="rect">
            <a:avLst/>
          </a:prstGeom>
          <a:noFill/>
        </p:spPr>
        <p:txBody>
          <a:bodyPr wrap="square">
            <a:spAutoFit/>
          </a:bodyPr>
          <a:lstStyle/>
          <a:p>
            <a:pPr algn="l"/>
            <a:r>
              <a:rPr sz="1050" b="0" i="0">
                <a:solidFill>
                  <a:srgbClr val="3E4C59"/>
                </a:solidFill>
                <a:latin typeface="Calibri"/>
              </a:rPr>
              <a:t>STEPS 1–5 · FRAME AND GATHER</a:t>
            </a:r>
          </a:p>
        </p:txBody>
      </p:sp>
      <p:sp>
        <p:nvSpPr>
          <p:cNvPr id="7" name="Rectangle 6"/>
          <p:cNvSpPr/>
          <p:nvPr/>
        </p:nvSpPr>
        <p:spPr>
          <a:xfrm>
            <a:off x="548640" y="1773936"/>
            <a:ext cx="1925726" cy="11887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18872" bIns="36576"/>
          <a:lstStyle/>
          <a:p>
            <a:pPr algn="l"/>
            <a:r>
              <a:rPr sz="850" b="1" i="0">
                <a:solidFill>
                  <a:srgbClr val="6B747D"/>
                </a:solidFill>
                <a:latin typeface="Calibri"/>
              </a:rPr>
              <a:t>STEP 1</a:t>
            </a:r>
          </a:p>
          <a:p>
            <a:pPr>
              <a:spcBef>
                <a:spcPts val="200"/>
              </a:spcBef>
            </a:pPr>
            <a:r>
              <a:rPr sz="1250" b="1" i="0">
                <a:solidFill>
                  <a:srgbClr val="1C242B"/>
                </a:solidFill>
                <a:latin typeface="Cambria"/>
              </a:rPr>
              <a:t>Frame the topic</a:t>
            </a:r>
          </a:p>
          <a:p>
            <a:pPr>
              <a:spcBef>
                <a:spcPts val="300"/>
              </a:spcBef>
            </a:pPr>
            <a:r>
              <a:rPr sz="950" b="1" i="0">
                <a:solidFill>
                  <a:srgbClr val="6A4CBC"/>
                </a:solidFill>
                <a:latin typeface="Calibri"/>
              </a:rPr>
              <a:t>Gemini · Guided Learning</a:t>
            </a:r>
          </a:p>
        </p:txBody>
      </p:sp>
      <p:sp>
        <p:nvSpPr>
          <p:cNvPr id="8" name="Rectangle 7"/>
          <p:cNvSpPr/>
          <p:nvPr/>
        </p:nvSpPr>
        <p:spPr>
          <a:xfrm>
            <a:off x="548640" y="1773936"/>
            <a:ext cx="82296" cy="11887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74366" y="2212848"/>
            <a:ext cx="365760" cy="365760"/>
          </a:xfrm>
          <a:prstGeom prst="rect">
            <a:avLst/>
          </a:prstGeom>
          <a:noFill/>
        </p:spPr>
        <p:txBody>
          <a:bodyPr wrap="square">
            <a:spAutoFit/>
          </a:bodyPr>
          <a:lstStyle/>
          <a:p>
            <a:pPr algn="ctr"/>
            <a:r>
              <a:rPr sz="1500" b="0" i="0">
                <a:solidFill>
                  <a:srgbClr val="6B747D"/>
                </a:solidFill>
                <a:latin typeface="Calibri"/>
              </a:rPr>
              <a:t>→</a:t>
            </a:r>
          </a:p>
        </p:txBody>
      </p:sp>
      <p:sp>
        <p:nvSpPr>
          <p:cNvPr id="10" name="Rectangle 9"/>
          <p:cNvSpPr/>
          <p:nvPr/>
        </p:nvSpPr>
        <p:spPr>
          <a:xfrm>
            <a:off x="2840126" y="1773936"/>
            <a:ext cx="1925726" cy="11887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18872" bIns="36576"/>
          <a:lstStyle/>
          <a:p>
            <a:pPr algn="l"/>
            <a:r>
              <a:rPr sz="850" b="1" i="0">
                <a:solidFill>
                  <a:srgbClr val="6B747D"/>
                </a:solidFill>
                <a:latin typeface="Calibri"/>
              </a:rPr>
              <a:t>STEP 2</a:t>
            </a:r>
          </a:p>
          <a:p>
            <a:pPr>
              <a:spcBef>
                <a:spcPts val="200"/>
              </a:spcBef>
            </a:pPr>
            <a:r>
              <a:rPr sz="1250" b="1" i="0">
                <a:solidFill>
                  <a:srgbClr val="1C242B"/>
                </a:solidFill>
                <a:latin typeface="Cambria"/>
              </a:rPr>
              <a:t>Write the prompts</a:t>
            </a:r>
          </a:p>
          <a:p>
            <a:pPr>
              <a:spcBef>
                <a:spcPts val="300"/>
              </a:spcBef>
            </a:pPr>
            <a:r>
              <a:rPr sz="950" b="1" i="0">
                <a:solidFill>
                  <a:srgbClr val="0E7C7B"/>
                </a:solidFill>
                <a:latin typeface="Calibri"/>
              </a:rPr>
              <a:t>Prompt Coach</a:t>
            </a:r>
          </a:p>
        </p:txBody>
      </p:sp>
      <p:sp>
        <p:nvSpPr>
          <p:cNvPr id="11" name="Rectangle 10"/>
          <p:cNvSpPr/>
          <p:nvPr/>
        </p:nvSpPr>
        <p:spPr>
          <a:xfrm>
            <a:off x="2840126" y="1773936"/>
            <a:ext cx="82296" cy="11887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65852" y="2212848"/>
            <a:ext cx="365760" cy="365760"/>
          </a:xfrm>
          <a:prstGeom prst="rect">
            <a:avLst/>
          </a:prstGeom>
          <a:noFill/>
        </p:spPr>
        <p:txBody>
          <a:bodyPr wrap="square">
            <a:spAutoFit/>
          </a:bodyPr>
          <a:lstStyle/>
          <a:p>
            <a:pPr algn="ctr"/>
            <a:r>
              <a:rPr sz="1500" b="0" i="0">
                <a:solidFill>
                  <a:srgbClr val="6B747D"/>
                </a:solidFill>
                <a:latin typeface="Calibri"/>
              </a:rPr>
              <a:t>→</a:t>
            </a:r>
          </a:p>
        </p:txBody>
      </p:sp>
      <p:sp>
        <p:nvSpPr>
          <p:cNvPr id="13" name="Rectangle 12"/>
          <p:cNvSpPr/>
          <p:nvPr/>
        </p:nvSpPr>
        <p:spPr>
          <a:xfrm>
            <a:off x="5131612" y="1773936"/>
            <a:ext cx="1925726" cy="11887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18872" bIns="36576"/>
          <a:lstStyle/>
          <a:p>
            <a:pPr algn="l"/>
            <a:r>
              <a:rPr sz="850" b="1" i="0">
                <a:solidFill>
                  <a:srgbClr val="6B747D"/>
                </a:solidFill>
                <a:latin typeface="Calibri"/>
              </a:rPr>
              <a:t>STEP 3</a:t>
            </a:r>
          </a:p>
          <a:p>
            <a:pPr>
              <a:spcBef>
                <a:spcPts val="200"/>
              </a:spcBef>
            </a:pPr>
            <a:r>
              <a:rPr sz="1250" b="1" i="0">
                <a:solidFill>
                  <a:srgbClr val="1C242B"/>
                </a:solidFill>
                <a:latin typeface="Cambria"/>
              </a:rPr>
              <a:t>Clear the sources</a:t>
            </a:r>
          </a:p>
          <a:p>
            <a:pPr>
              <a:spcBef>
                <a:spcPts val="300"/>
              </a:spcBef>
            </a:pPr>
            <a:r>
              <a:rPr sz="950" b="1" i="0">
                <a:solidFill>
                  <a:srgbClr val="0E7C7B"/>
                </a:solidFill>
                <a:latin typeface="Calibri"/>
              </a:rPr>
              <a:t>Adobe Acrobat in Teams</a:t>
            </a:r>
          </a:p>
        </p:txBody>
      </p:sp>
      <p:sp>
        <p:nvSpPr>
          <p:cNvPr id="14" name="Rectangle 13"/>
          <p:cNvSpPr/>
          <p:nvPr/>
        </p:nvSpPr>
        <p:spPr>
          <a:xfrm>
            <a:off x="5131612" y="1773936"/>
            <a:ext cx="82296" cy="11887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57339" y="2212848"/>
            <a:ext cx="365760" cy="365760"/>
          </a:xfrm>
          <a:prstGeom prst="rect">
            <a:avLst/>
          </a:prstGeom>
          <a:noFill/>
        </p:spPr>
        <p:txBody>
          <a:bodyPr wrap="square">
            <a:spAutoFit/>
          </a:bodyPr>
          <a:lstStyle/>
          <a:p>
            <a:pPr algn="ctr"/>
            <a:r>
              <a:rPr sz="1500" b="0" i="0">
                <a:solidFill>
                  <a:srgbClr val="6B747D"/>
                </a:solidFill>
                <a:latin typeface="Calibri"/>
              </a:rPr>
              <a:t>→</a:t>
            </a:r>
          </a:p>
        </p:txBody>
      </p:sp>
      <p:sp>
        <p:nvSpPr>
          <p:cNvPr id="16" name="Rectangle 15"/>
          <p:cNvSpPr/>
          <p:nvPr/>
        </p:nvSpPr>
        <p:spPr>
          <a:xfrm>
            <a:off x="7423099" y="1773936"/>
            <a:ext cx="1925726" cy="11887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18872" bIns="36576"/>
          <a:lstStyle/>
          <a:p>
            <a:pPr algn="l"/>
            <a:r>
              <a:rPr sz="850" b="1" i="0">
                <a:solidFill>
                  <a:srgbClr val="6B747D"/>
                </a:solidFill>
                <a:latin typeface="Calibri"/>
              </a:rPr>
              <a:t>STEP 4</a:t>
            </a:r>
          </a:p>
          <a:p>
            <a:pPr>
              <a:spcBef>
                <a:spcPts val="200"/>
              </a:spcBef>
            </a:pPr>
            <a:r>
              <a:rPr sz="1250" b="1" i="0">
                <a:solidFill>
                  <a:srgbClr val="1C242B"/>
                </a:solidFill>
                <a:latin typeface="Cambria"/>
              </a:rPr>
              <a:t>Research the gaps</a:t>
            </a:r>
          </a:p>
          <a:p>
            <a:pPr>
              <a:spcBef>
                <a:spcPts val="300"/>
              </a:spcBef>
            </a:pPr>
            <a:r>
              <a:rPr sz="950" b="1" i="0">
                <a:solidFill>
                  <a:srgbClr val="6A4CBC"/>
                </a:solidFill>
                <a:latin typeface="Calibri"/>
              </a:rPr>
              <a:t>Gemini · Deep Research</a:t>
            </a:r>
          </a:p>
        </p:txBody>
      </p:sp>
      <p:sp>
        <p:nvSpPr>
          <p:cNvPr id="17" name="Rectangle 16"/>
          <p:cNvSpPr/>
          <p:nvPr/>
        </p:nvSpPr>
        <p:spPr>
          <a:xfrm>
            <a:off x="7423099" y="1773936"/>
            <a:ext cx="82296" cy="11887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48825" y="2212848"/>
            <a:ext cx="365760" cy="365760"/>
          </a:xfrm>
          <a:prstGeom prst="rect">
            <a:avLst/>
          </a:prstGeom>
          <a:noFill/>
        </p:spPr>
        <p:txBody>
          <a:bodyPr wrap="square">
            <a:spAutoFit/>
          </a:bodyPr>
          <a:lstStyle/>
          <a:p>
            <a:pPr algn="ctr"/>
            <a:r>
              <a:rPr sz="1500" b="0" i="0">
                <a:solidFill>
                  <a:srgbClr val="6B747D"/>
                </a:solidFill>
                <a:latin typeface="Calibri"/>
              </a:rPr>
              <a:t>→</a:t>
            </a:r>
          </a:p>
        </p:txBody>
      </p:sp>
      <p:sp>
        <p:nvSpPr>
          <p:cNvPr id="19" name="Rectangle 18"/>
          <p:cNvSpPr/>
          <p:nvPr/>
        </p:nvSpPr>
        <p:spPr>
          <a:xfrm>
            <a:off x="9714585" y="1773936"/>
            <a:ext cx="1925726" cy="11887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18872" bIns="36576"/>
          <a:lstStyle/>
          <a:p>
            <a:pPr algn="l"/>
            <a:r>
              <a:rPr sz="850" b="1" i="0">
                <a:solidFill>
                  <a:srgbClr val="6B747D"/>
                </a:solidFill>
                <a:latin typeface="Calibri"/>
              </a:rPr>
              <a:t>STEP 5</a:t>
            </a:r>
          </a:p>
          <a:p>
            <a:pPr>
              <a:spcBef>
                <a:spcPts val="200"/>
              </a:spcBef>
            </a:pPr>
            <a:r>
              <a:rPr sz="1250" b="1" i="0">
                <a:solidFill>
                  <a:srgbClr val="1C242B"/>
                </a:solidFill>
                <a:latin typeface="Cambria"/>
              </a:rPr>
              <a:t>Aggregate and ground</a:t>
            </a:r>
          </a:p>
          <a:p>
            <a:pPr>
              <a:spcBef>
                <a:spcPts val="300"/>
              </a:spcBef>
            </a:pPr>
            <a:r>
              <a:rPr sz="950" b="1" i="0">
                <a:solidFill>
                  <a:srgbClr val="6A4CBC"/>
                </a:solidFill>
                <a:latin typeface="Calibri"/>
              </a:rPr>
              <a:t>NotebookLM</a:t>
            </a:r>
          </a:p>
        </p:txBody>
      </p:sp>
      <p:sp>
        <p:nvSpPr>
          <p:cNvPr id="20" name="Rectangle 19"/>
          <p:cNvSpPr/>
          <p:nvPr/>
        </p:nvSpPr>
        <p:spPr>
          <a:xfrm>
            <a:off x="9714585" y="1773936"/>
            <a:ext cx="82296" cy="11887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108960"/>
            <a:ext cx="11091672" cy="365760"/>
          </a:xfrm>
          <a:prstGeom prst="rect">
            <a:avLst/>
          </a:prstGeom>
          <a:noFill/>
        </p:spPr>
        <p:txBody>
          <a:bodyPr wrap="square">
            <a:spAutoFit/>
          </a:bodyPr>
          <a:lstStyle/>
          <a:p>
            <a:pPr algn="l"/>
            <a:r>
              <a:rPr sz="1050" b="0" i="0">
                <a:solidFill>
                  <a:srgbClr val="3E4C59"/>
                </a:solidFill>
                <a:latin typeface="Calibri"/>
              </a:rPr>
              <a:t>…THEN STEPS 6–9 · DRAFT, TEACH AND BUILD</a:t>
            </a:r>
          </a:p>
        </p:txBody>
      </p:sp>
      <p:sp>
        <p:nvSpPr>
          <p:cNvPr id="22" name="Rectangle 21"/>
          <p:cNvSpPr/>
          <p:nvPr/>
        </p:nvSpPr>
        <p:spPr>
          <a:xfrm>
            <a:off x="548640" y="3346704"/>
            <a:ext cx="1925726" cy="11887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18872" bIns="36576"/>
          <a:lstStyle/>
          <a:p>
            <a:pPr algn="l"/>
            <a:r>
              <a:rPr sz="850" b="1" i="0">
                <a:solidFill>
                  <a:srgbClr val="6B747D"/>
                </a:solidFill>
                <a:latin typeface="Calibri"/>
              </a:rPr>
              <a:t>STEP 6</a:t>
            </a:r>
          </a:p>
          <a:p>
            <a:pPr>
              <a:spcBef>
                <a:spcPts val="200"/>
              </a:spcBef>
            </a:pPr>
            <a:r>
              <a:rPr sz="1250" b="1" i="0">
                <a:solidFill>
                  <a:srgbClr val="1C242B"/>
                </a:solidFill>
                <a:latin typeface="Cambria"/>
              </a:rPr>
              <a:t>Draft the outline</a:t>
            </a:r>
          </a:p>
          <a:p>
            <a:pPr>
              <a:spcBef>
                <a:spcPts val="300"/>
              </a:spcBef>
            </a:pPr>
            <a:r>
              <a:rPr sz="950" b="1" i="0">
                <a:solidFill>
                  <a:srgbClr val="6A4CBC"/>
                </a:solidFill>
                <a:latin typeface="Calibri"/>
              </a:rPr>
              <a:t>Gemini · Gem + Canvas</a:t>
            </a:r>
          </a:p>
        </p:txBody>
      </p:sp>
      <p:sp>
        <p:nvSpPr>
          <p:cNvPr id="23" name="Rectangle 22"/>
          <p:cNvSpPr/>
          <p:nvPr/>
        </p:nvSpPr>
        <p:spPr>
          <a:xfrm>
            <a:off x="548640" y="3346704"/>
            <a:ext cx="82296" cy="11887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474366" y="3785616"/>
            <a:ext cx="365760" cy="365760"/>
          </a:xfrm>
          <a:prstGeom prst="rect">
            <a:avLst/>
          </a:prstGeom>
          <a:noFill/>
        </p:spPr>
        <p:txBody>
          <a:bodyPr wrap="square">
            <a:spAutoFit/>
          </a:bodyPr>
          <a:lstStyle/>
          <a:p>
            <a:pPr algn="ctr"/>
            <a:r>
              <a:rPr sz="1500" b="0" i="0">
                <a:solidFill>
                  <a:srgbClr val="6B747D"/>
                </a:solidFill>
                <a:latin typeface="Calibri"/>
              </a:rPr>
              <a:t>→</a:t>
            </a:r>
          </a:p>
        </p:txBody>
      </p:sp>
      <p:sp>
        <p:nvSpPr>
          <p:cNvPr id="25" name="Rectangle 24"/>
          <p:cNvSpPr/>
          <p:nvPr/>
        </p:nvSpPr>
        <p:spPr>
          <a:xfrm>
            <a:off x="2840126" y="3346704"/>
            <a:ext cx="1925726" cy="11887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18872" bIns="36576"/>
          <a:lstStyle/>
          <a:p>
            <a:pPr algn="l"/>
            <a:r>
              <a:rPr sz="850" b="1" i="0">
                <a:solidFill>
                  <a:srgbClr val="6B747D"/>
                </a:solidFill>
                <a:latin typeface="Calibri"/>
              </a:rPr>
              <a:t>STEP 7</a:t>
            </a:r>
          </a:p>
          <a:p>
            <a:pPr>
              <a:spcBef>
                <a:spcPts val="200"/>
              </a:spcBef>
            </a:pPr>
            <a:r>
              <a:rPr sz="1250" b="1" i="0">
                <a:solidFill>
                  <a:srgbClr val="1C242B"/>
                </a:solidFill>
                <a:latin typeface="Cambria"/>
              </a:rPr>
              <a:t>Make the visuals</a:t>
            </a:r>
          </a:p>
          <a:p>
            <a:pPr>
              <a:spcBef>
                <a:spcPts val="300"/>
              </a:spcBef>
            </a:pPr>
            <a:r>
              <a:rPr sz="950" b="1" i="0">
                <a:solidFill>
                  <a:srgbClr val="6A4CBC"/>
                </a:solidFill>
                <a:latin typeface="Calibri"/>
              </a:rPr>
              <a:t>Gemini · image generation</a:t>
            </a:r>
          </a:p>
        </p:txBody>
      </p:sp>
      <p:sp>
        <p:nvSpPr>
          <p:cNvPr id="26" name="Rectangle 25"/>
          <p:cNvSpPr/>
          <p:nvPr/>
        </p:nvSpPr>
        <p:spPr>
          <a:xfrm>
            <a:off x="2840126" y="3346704"/>
            <a:ext cx="82296" cy="11887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65852" y="3785616"/>
            <a:ext cx="365760" cy="365760"/>
          </a:xfrm>
          <a:prstGeom prst="rect">
            <a:avLst/>
          </a:prstGeom>
          <a:noFill/>
        </p:spPr>
        <p:txBody>
          <a:bodyPr wrap="square">
            <a:spAutoFit/>
          </a:bodyPr>
          <a:lstStyle/>
          <a:p>
            <a:pPr algn="ctr"/>
            <a:r>
              <a:rPr sz="1500" b="0" i="0">
                <a:solidFill>
                  <a:srgbClr val="6B747D"/>
                </a:solidFill>
                <a:latin typeface="Calibri"/>
              </a:rPr>
              <a:t>→</a:t>
            </a:r>
          </a:p>
        </p:txBody>
      </p:sp>
      <p:sp>
        <p:nvSpPr>
          <p:cNvPr id="28" name="Rectangle 27"/>
          <p:cNvSpPr/>
          <p:nvPr/>
        </p:nvSpPr>
        <p:spPr>
          <a:xfrm>
            <a:off x="5131612" y="3346704"/>
            <a:ext cx="1925726" cy="11887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18872" bIns="36576"/>
          <a:lstStyle/>
          <a:p>
            <a:pPr algn="l"/>
            <a:r>
              <a:rPr sz="850" b="1" i="0">
                <a:solidFill>
                  <a:srgbClr val="6B747D"/>
                </a:solidFill>
                <a:latin typeface="Calibri"/>
              </a:rPr>
              <a:t>STEP 8</a:t>
            </a:r>
          </a:p>
          <a:p>
            <a:pPr>
              <a:spcBef>
                <a:spcPts val="200"/>
              </a:spcBef>
            </a:pPr>
            <a:r>
              <a:rPr sz="1250" b="1" i="0">
                <a:solidFill>
                  <a:srgbClr val="1C242B"/>
                </a:solidFill>
                <a:latin typeface="Cambria"/>
              </a:rPr>
              <a:t>Make it teach</a:t>
            </a:r>
          </a:p>
          <a:p>
            <a:pPr>
              <a:spcBef>
                <a:spcPts val="300"/>
              </a:spcBef>
            </a:pPr>
            <a:r>
              <a:rPr sz="950" b="1" i="0">
                <a:solidFill>
                  <a:srgbClr val="0E7C7B"/>
                </a:solidFill>
                <a:latin typeface="Calibri"/>
              </a:rPr>
              <a:t>Study and Learn</a:t>
            </a:r>
          </a:p>
        </p:txBody>
      </p:sp>
      <p:sp>
        <p:nvSpPr>
          <p:cNvPr id="29" name="Rectangle 28"/>
          <p:cNvSpPr/>
          <p:nvPr/>
        </p:nvSpPr>
        <p:spPr>
          <a:xfrm>
            <a:off x="5131612" y="3346704"/>
            <a:ext cx="82296" cy="11887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57339" y="3785616"/>
            <a:ext cx="365760" cy="365760"/>
          </a:xfrm>
          <a:prstGeom prst="rect">
            <a:avLst/>
          </a:prstGeom>
          <a:noFill/>
        </p:spPr>
        <p:txBody>
          <a:bodyPr wrap="square">
            <a:spAutoFit/>
          </a:bodyPr>
          <a:lstStyle/>
          <a:p>
            <a:pPr algn="ctr"/>
            <a:r>
              <a:rPr sz="1500" b="0" i="0">
                <a:solidFill>
                  <a:srgbClr val="6B747D"/>
                </a:solidFill>
                <a:latin typeface="Calibri"/>
              </a:rPr>
              <a:t>→</a:t>
            </a:r>
          </a:p>
        </p:txBody>
      </p:sp>
      <p:sp>
        <p:nvSpPr>
          <p:cNvPr id="31" name="Rectangle 30"/>
          <p:cNvSpPr/>
          <p:nvPr/>
        </p:nvSpPr>
        <p:spPr>
          <a:xfrm>
            <a:off x="7423099" y="3346704"/>
            <a:ext cx="1925726" cy="11887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18872" bIns="36576"/>
          <a:lstStyle/>
          <a:p>
            <a:pPr algn="l"/>
            <a:r>
              <a:rPr sz="850" b="1" i="0">
                <a:solidFill>
                  <a:srgbClr val="6B747D"/>
                </a:solidFill>
                <a:latin typeface="Calibri"/>
              </a:rPr>
              <a:t>STEP 9</a:t>
            </a:r>
          </a:p>
          <a:p>
            <a:pPr>
              <a:spcBef>
                <a:spcPts val="200"/>
              </a:spcBef>
            </a:pPr>
            <a:r>
              <a:rPr sz="1250" b="1" i="0">
                <a:solidFill>
                  <a:srgbClr val="1C242B"/>
                </a:solidFill>
                <a:latin typeface="Cambria"/>
              </a:rPr>
              <a:t>Prototype and build</a:t>
            </a:r>
          </a:p>
          <a:p>
            <a:pPr>
              <a:spcBef>
                <a:spcPts val="300"/>
              </a:spcBef>
            </a:pPr>
            <a:r>
              <a:rPr sz="950" b="1" i="0">
                <a:solidFill>
                  <a:srgbClr val="3E4C59"/>
                </a:solidFill>
                <a:latin typeface="Calibri"/>
              </a:rPr>
              <a:t>Canva → genspark.ai</a:t>
            </a:r>
          </a:p>
        </p:txBody>
      </p:sp>
      <p:sp>
        <p:nvSpPr>
          <p:cNvPr id="32" name="Rectangle 31"/>
          <p:cNvSpPr/>
          <p:nvPr/>
        </p:nvSpPr>
        <p:spPr>
          <a:xfrm>
            <a:off x="7423099" y="3346704"/>
            <a:ext cx="82296" cy="11887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48825" y="3785616"/>
            <a:ext cx="365760" cy="365760"/>
          </a:xfrm>
          <a:prstGeom prst="rect">
            <a:avLst/>
          </a:prstGeom>
          <a:noFill/>
        </p:spPr>
        <p:txBody>
          <a:bodyPr wrap="square">
            <a:spAutoFit/>
          </a:bodyPr>
          <a:lstStyle/>
          <a:p>
            <a:pPr algn="ctr"/>
            <a:r>
              <a:rPr sz="1500" b="0" i="0">
                <a:solidFill>
                  <a:srgbClr val="6B747D"/>
                </a:solidFill>
                <a:latin typeface="Calibri"/>
              </a:rPr>
              <a:t>→</a:t>
            </a:r>
          </a:p>
        </p:txBody>
      </p:sp>
      <p:sp>
        <p:nvSpPr>
          <p:cNvPr id="34" name="Rectangle 33"/>
          <p:cNvSpPr/>
          <p:nvPr/>
        </p:nvSpPr>
        <p:spPr>
          <a:xfrm>
            <a:off x="9714585" y="3346704"/>
            <a:ext cx="1925726" cy="1188720"/>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164592" tIns="118872"/>
          <a:lstStyle/>
          <a:p>
            <a:pPr algn="ctr"/>
            <a:r>
              <a:rPr sz="850" b="1" i="0">
                <a:solidFill>
                  <a:srgbClr val="FFFFFF"/>
                </a:solidFill>
                <a:latin typeface="Calibri"/>
              </a:rPr>
              <a:t>OUT</a:t>
            </a:r>
          </a:p>
          <a:p>
            <a:pPr>
              <a:spcBef>
                <a:spcPts val="200"/>
              </a:spcBef>
            </a:pPr>
            <a:r>
              <a:rPr sz="1250" b="1" i="0">
                <a:solidFill>
                  <a:srgbClr val="FFFFFF"/>
                </a:solidFill>
                <a:latin typeface="Cambria"/>
              </a:rPr>
              <a:t>The presentation</a:t>
            </a:r>
          </a:p>
          <a:p>
            <a:pPr>
              <a:spcBef>
                <a:spcPts val="300"/>
              </a:spcBef>
            </a:pPr>
            <a:r>
              <a:rPr sz="950" b="0" i="0">
                <a:solidFill>
                  <a:srgbClr val="FFFFFF"/>
                </a:solidFill>
                <a:latin typeface="Calibri"/>
              </a:rPr>
              <a:t>Teaches something · cites its sources · declares its AI use</a:t>
            </a:r>
          </a:p>
        </p:txBody>
      </p:sp>
      <p:sp>
        <p:nvSpPr>
          <p:cNvPr id="35" name="TextBox 34"/>
          <p:cNvSpPr txBox="1"/>
          <p:nvPr/>
        </p:nvSpPr>
        <p:spPr>
          <a:xfrm>
            <a:off x="548640" y="4590288"/>
            <a:ext cx="11091672" cy="365760"/>
          </a:xfrm>
          <a:prstGeom prst="rect">
            <a:avLst/>
          </a:prstGeom>
          <a:noFill/>
        </p:spPr>
        <p:txBody>
          <a:bodyPr wrap="square">
            <a:spAutoFit/>
          </a:bodyPr>
          <a:lstStyle/>
          <a:p>
            <a:pPr algn="l"/>
            <a:r>
              <a:rPr sz="1100" b="0" i="1">
                <a:solidFill>
                  <a:srgbClr val="6B747D"/>
                </a:solidFill>
                <a:latin typeface="Calibri"/>
              </a:rPr>
              <a:t>Steps 7 and 8 are independent — run them in either order, or at the same time. Everything else waits for the step before it.</a:t>
            </a:r>
          </a:p>
        </p:txBody>
      </p:sp>
      <p:sp>
        <p:nvSpPr>
          <p:cNvPr id="36" name="Rectangle 35"/>
          <p:cNvSpPr/>
          <p:nvPr/>
        </p:nvSpPr>
        <p:spPr>
          <a:xfrm>
            <a:off x="548640" y="4882896"/>
            <a:ext cx="11091672" cy="694944"/>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600" b="1" i="0">
                <a:solidFill>
                  <a:srgbClr val="FFFFFF"/>
                </a:solidFill>
                <a:latin typeface="Cambria"/>
              </a:rPr>
              <a:t>The gate that is not a step: check every output before it becomes the next step's input</a:t>
            </a:r>
          </a:p>
          <a:p>
            <a:pPr algn="ctr">
              <a:spcBef>
                <a:spcPts val="600"/>
              </a:spcBef>
            </a:pPr>
            <a:r>
              <a:rPr sz="1300" b="0" i="0">
                <a:solidFill>
                  <a:srgbClr val="FFFFFF"/>
                </a:solidFill>
                <a:latin typeface="Calibri"/>
              </a:rPr>
              <a:t>…and log the tool, the date and what it was used for. That log is the AI-use declaration on your last slide.</a:t>
            </a:r>
          </a:p>
        </p:txBody>
      </p:sp>
      <p:sp>
        <p:nvSpPr>
          <p:cNvPr id="37" name="Rectangle 36"/>
          <p:cNvSpPr/>
          <p:nvPr/>
        </p:nvSpPr>
        <p:spPr>
          <a:xfrm>
            <a:off x="548640" y="5760720"/>
            <a:ext cx="146304" cy="146304"/>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6384" y="5687568"/>
            <a:ext cx="3657600" cy="365760"/>
          </a:xfrm>
          <a:prstGeom prst="rect">
            <a:avLst/>
          </a:prstGeom>
          <a:noFill/>
        </p:spPr>
        <p:txBody>
          <a:bodyPr wrap="square">
            <a:spAutoFit/>
          </a:bodyPr>
          <a:lstStyle/>
          <a:p>
            <a:pPr algn="l"/>
            <a:r>
              <a:rPr sz="1050" b="0" i="0">
                <a:solidFill>
                  <a:srgbClr val="2A333B"/>
                </a:solidFill>
                <a:latin typeface="Calibri"/>
              </a:rPr>
              <a:t>Sensitive Lane · Copilot Chat (Basic) — steps 2, 3, 8</a:t>
            </a:r>
          </a:p>
        </p:txBody>
      </p:sp>
      <p:sp>
        <p:nvSpPr>
          <p:cNvPr id="39" name="Rectangle 38"/>
          <p:cNvSpPr/>
          <p:nvPr/>
        </p:nvSpPr>
        <p:spPr>
          <a:xfrm>
            <a:off x="4297679" y="5760720"/>
            <a:ext cx="146304" cy="146304"/>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35423" y="5687568"/>
            <a:ext cx="3657600" cy="365760"/>
          </a:xfrm>
          <a:prstGeom prst="rect">
            <a:avLst/>
          </a:prstGeom>
          <a:noFill/>
        </p:spPr>
        <p:txBody>
          <a:bodyPr wrap="square">
            <a:spAutoFit/>
          </a:bodyPr>
          <a:lstStyle/>
          <a:p>
            <a:pPr algn="l"/>
            <a:r>
              <a:rPr sz="1050" b="0" i="0">
                <a:solidFill>
                  <a:srgbClr val="2A333B"/>
                </a:solidFill>
                <a:latin typeface="Calibri"/>
              </a:rPr>
              <a:t>Daily Driver · Google Gemini — steps 1, 4, 5, 6, 7</a:t>
            </a:r>
          </a:p>
        </p:txBody>
      </p:sp>
      <p:sp>
        <p:nvSpPr>
          <p:cNvPr id="41" name="Rectangle 40"/>
          <p:cNvSpPr/>
          <p:nvPr/>
        </p:nvSpPr>
        <p:spPr>
          <a:xfrm>
            <a:off x="8046719" y="5760720"/>
            <a:ext cx="146304" cy="14630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84463" y="5687568"/>
            <a:ext cx="3657600" cy="365760"/>
          </a:xfrm>
          <a:prstGeom prst="rect">
            <a:avLst/>
          </a:prstGeom>
          <a:noFill/>
        </p:spPr>
        <p:txBody>
          <a:bodyPr wrap="square">
            <a:spAutoFit/>
          </a:bodyPr>
          <a:lstStyle/>
          <a:p>
            <a:pPr algn="l"/>
            <a:r>
              <a:rPr sz="1050" b="0" i="0">
                <a:solidFill>
                  <a:srgbClr val="2A333B"/>
                </a:solidFill>
                <a:latin typeface="Calibri"/>
              </a:rPr>
              <a:t>Neither lane · cleared content only — Canva, genspark.ai, step 9</a:t>
            </a:r>
          </a:p>
        </p:txBody>
      </p:sp>
      <p:sp>
        <p:nvSpPr>
          <p:cNvPr id="43" name="TextBox 42"/>
          <p:cNvSpPr txBox="1"/>
          <p:nvPr/>
        </p:nvSpPr>
        <p:spPr>
          <a:xfrm>
            <a:off x="548640" y="6071616"/>
            <a:ext cx="11091672" cy="365760"/>
          </a:xfrm>
          <a:prstGeom prst="rect">
            <a:avLst/>
          </a:prstGeom>
          <a:noFill/>
        </p:spPr>
        <p:txBody>
          <a:bodyPr wrap="square">
            <a:spAutoFit/>
          </a:bodyPr>
          <a:lstStyle/>
          <a:p>
            <a:pPr algn="ctr"/>
            <a:r>
              <a:rPr sz="1250" b="0" i="1">
                <a:solidFill>
                  <a:srgbClr val="6B747D"/>
                </a:solidFill>
                <a:latin typeface="Calibri"/>
              </a:rPr>
              <a:t>Screenshot this slide and the next three — together they are the assignment.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The blueprint · steps 1–3</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15568"/>
            <a:ext cx="11091672" cy="365760"/>
          </a:xfrm>
          <a:prstGeom prst="rect">
            <a:avLst/>
          </a:prstGeom>
          <a:noFill/>
        </p:spPr>
        <p:txBody>
          <a:bodyPr wrap="square">
            <a:spAutoFit/>
          </a:bodyPr>
          <a:lstStyle/>
          <a:p>
            <a:pPr algn="l"/>
            <a:r>
              <a:rPr sz="1250" b="0" i="0">
                <a:solidFill>
                  <a:srgbClr val="6B747D"/>
                </a:solidFill>
                <a:latin typeface="Calibri"/>
              </a:rPr>
              <a:t>Frame the topic, write the prompts the rest of the chain runs on, and clear the sources — the gate everything after this depends on</a:t>
            </a:r>
          </a:p>
        </p:txBody>
      </p:sp>
      <p:sp>
        <p:nvSpPr>
          <p:cNvPr id="6" name="Rectangle 5"/>
          <p:cNvSpPr/>
          <p:nvPr/>
        </p:nvSpPr>
        <p:spPr>
          <a:xfrm>
            <a:off x="548640" y="1463040"/>
            <a:ext cx="11091672" cy="34747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a:lstStyle/>
          <a:p>
            <a:pPr algn="l"/>
            <a:r>
              <a:rPr sz="1400" b="1" i="0">
                <a:solidFill>
                  <a:srgbClr val="FFFFFF"/>
                </a:solidFill>
                <a:latin typeface="Cambria"/>
              </a:rPr>
              <a:t>1 · Frame the topic and its learning outcomes</a:t>
            </a:r>
          </a:p>
        </p:txBody>
      </p:sp>
      <p:sp>
        <p:nvSpPr>
          <p:cNvPr id="7" name="TextBox 6"/>
          <p:cNvSpPr txBox="1"/>
          <p:nvPr/>
        </p:nvSpPr>
        <p:spPr>
          <a:xfrm>
            <a:off x="548640" y="1527048"/>
            <a:ext cx="10890504" cy="365760"/>
          </a:xfrm>
          <a:prstGeom prst="rect">
            <a:avLst/>
          </a:prstGeom>
          <a:noFill/>
        </p:spPr>
        <p:txBody>
          <a:bodyPr wrap="none">
            <a:spAutoFit/>
          </a:bodyPr>
          <a:lstStyle/>
          <a:p>
            <a:pPr algn="r"/>
            <a:r>
              <a:rPr sz="1050" b="0" i="0">
                <a:solidFill>
                  <a:srgbClr val="FFFFFF"/>
                </a:solidFill>
                <a:latin typeface="Calibri"/>
              </a:rPr>
              <a:t>Gemini · Guided Learning, with ask-me-first   ·   Daily Driver</a:t>
            </a:r>
          </a:p>
        </p:txBody>
      </p:sp>
      <p:sp>
        <p:nvSpPr>
          <p:cNvPr id="8" name="Rectangle 7"/>
          <p:cNvSpPr/>
          <p:nvPr/>
        </p:nvSpPr>
        <p:spPr>
          <a:xfrm>
            <a:off x="548640" y="1865376"/>
            <a:ext cx="2306247"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IN</a:t>
            </a:r>
          </a:p>
          <a:p>
            <a:pPr>
              <a:spcBef>
                <a:spcPts val="300"/>
              </a:spcBef>
            </a:pPr>
            <a:r>
              <a:rPr sz="950" b="0" i="0">
                <a:solidFill>
                  <a:srgbClr val="2A333B"/>
                </a:solidFill>
                <a:latin typeface="Calibri"/>
              </a:rPr>
              <a:t>A candidate topic, who the audience is, how long the presentation runs</a:t>
            </a:r>
          </a:p>
        </p:txBody>
      </p:sp>
      <p:sp>
        <p:nvSpPr>
          <p:cNvPr id="9" name="Rectangle 8"/>
          <p:cNvSpPr/>
          <p:nvPr/>
        </p:nvSpPr>
        <p:spPr>
          <a:xfrm>
            <a:off x="548640" y="1865376"/>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64615" y="1865376"/>
            <a:ext cx="2306247"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OUT</a:t>
            </a:r>
          </a:p>
          <a:p>
            <a:pPr>
              <a:spcBef>
                <a:spcPts val="300"/>
              </a:spcBef>
            </a:pPr>
            <a:r>
              <a:rPr sz="950" b="0" i="0">
                <a:solidFill>
                  <a:srgbClr val="2A333B"/>
                </a:solidFill>
                <a:latin typeface="Calibri"/>
              </a:rPr>
              <a:t>A topic statement, an audience profile, and three learning outcomes</a:t>
            </a:r>
          </a:p>
        </p:txBody>
      </p:sp>
      <p:sp>
        <p:nvSpPr>
          <p:cNvPr id="11" name="Rectangle 10"/>
          <p:cNvSpPr/>
          <p:nvPr/>
        </p:nvSpPr>
        <p:spPr>
          <a:xfrm>
            <a:off x="2964615" y="1865376"/>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380590" y="1865376"/>
            <a:ext cx="307499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HOW TO RUN IT</a:t>
            </a:r>
          </a:p>
          <a:p>
            <a:pPr>
              <a:spcBef>
                <a:spcPts val="300"/>
              </a:spcBef>
            </a:pPr>
            <a:r>
              <a:rPr sz="950" b="0" i="0">
                <a:solidFill>
                  <a:srgbClr val="2A333B"/>
                </a:solidFill>
                <a:latin typeface="Calibri"/>
              </a:rPr>
              <a:t>Give Guided Learning the ask-me-first prompt from Lesson 1 and answer its questions. Make it reject any outcome that is not observable — “understand eligible costs” is not one, “decide whether a cost is eligible and say why” is. Stop at three.</a:t>
            </a:r>
          </a:p>
        </p:txBody>
      </p:sp>
      <p:sp>
        <p:nvSpPr>
          <p:cNvPr id="13" name="Rectangle 12"/>
          <p:cNvSpPr/>
          <p:nvPr/>
        </p:nvSpPr>
        <p:spPr>
          <a:xfrm>
            <a:off x="5380590" y="1865376"/>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565315" y="1865376"/>
            <a:ext cx="307499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WHY THIS TOOL, HERE</a:t>
            </a:r>
          </a:p>
          <a:p>
            <a:pPr>
              <a:spcBef>
                <a:spcPts val="300"/>
              </a:spcBef>
            </a:pPr>
            <a:r>
              <a:rPr sz="950" b="0" i="0">
                <a:solidFill>
                  <a:srgbClr val="2A333B"/>
                </a:solidFill>
                <a:latin typeface="Calibri"/>
              </a:rPr>
              <a:t>Guided Learning tutors instead of answering, so the outcomes come out of your head rather than the model's — and an outcome you did not write yourself cannot be taught. The topic is public, so this is Daily Driver work.</a:t>
            </a:r>
          </a:p>
        </p:txBody>
      </p:sp>
      <p:sp>
        <p:nvSpPr>
          <p:cNvPr id="15" name="Rectangle 14"/>
          <p:cNvSpPr/>
          <p:nvPr/>
        </p:nvSpPr>
        <p:spPr>
          <a:xfrm>
            <a:off x="8565315" y="1865376"/>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72384"/>
            <a:ext cx="11091672" cy="347472"/>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a:lstStyle/>
          <a:p>
            <a:pPr algn="l"/>
            <a:r>
              <a:rPr sz="1400" b="1" i="0">
                <a:solidFill>
                  <a:srgbClr val="FFFFFF"/>
                </a:solidFill>
                <a:latin typeface="Cambria"/>
              </a:rPr>
              <a:t>2 · Write the prompt set the chain runs on</a:t>
            </a:r>
          </a:p>
        </p:txBody>
      </p:sp>
      <p:sp>
        <p:nvSpPr>
          <p:cNvPr id="17" name="TextBox 16"/>
          <p:cNvSpPr txBox="1"/>
          <p:nvPr/>
        </p:nvSpPr>
        <p:spPr>
          <a:xfrm>
            <a:off x="548640" y="3136392"/>
            <a:ext cx="10890504" cy="365760"/>
          </a:xfrm>
          <a:prstGeom prst="rect">
            <a:avLst/>
          </a:prstGeom>
          <a:noFill/>
        </p:spPr>
        <p:txBody>
          <a:bodyPr wrap="none">
            <a:spAutoFit/>
          </a:bodyPr>
          <a:lstStyle/>
          <a:p>
            <a:pPr algn="r"/>
            <a:r>
              <a:rPr sz="1050" b="0" i="0">
                <a:solidFill>
                  <a:srgbClr val="FFFFFF"/>
                </a:solidFill>
                <a:latin typeface="Calibri"/>
              </a:rPr>
              <a:t>Prompt Coach · Copilot Chat (Basic)   ·   Sensitive Lane</a:t>
            </a:r>
          </a:p>
        </p:txBody>
      </p:sp>
      <p:sp>
        <p:nvSpPr>
          <p:cNvPr id="18" name="Rectangle 17"/>
          <p:cNvSpPr/>
          <p:nvPr/>
        </p:nvSpPr>
        <p:spPr>
          <a:xfrm>
            <a:off x="548640" y="3474720"/>
            <a:ext cx="2306247"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IN</a:t>
            </a:r>
          </a:p>
          <a:p>
            <a:pPr>
              <a:spcBef>
                <a:spcPts val="300"/>
              </a:spcBef>
            </a:pPr>
            <a:r>
              <a:rPr sz="950" b="0" i="0">
                <a:solidFill>
                  <a:srgbClr val="2A333B"/>
                </a:solidFill>
                <a:latin typeface="Calibri"/>
              </a:rPr>
              <a:t>One draft ICC prompt per step still to come, plus step 1's outcomes</a:t>
            </a:r>
          </a:p>
        </p:txBody>
      </p:sp>
      <p:sp>
        <p:nvSpPr>
          <p:cNvPr id="19" name="Rectangle 18"/>
          <p:cNvSpPr/>
          <p:nvPr/>
        </p:nvSpPr>
        <p:spPr>
          <a:xfrm>
            <a:off x="548640" y="3474720"/>
            <a:ext cx="82296" cy="113385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64615" y="3474720"/>
            <a:ext cx="2306247"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OUT</a:t>
            </a:r>
          </a:p>
          <a:p>
            <a:pPr>
              <a:spcBef>
                <a:spcPts val="300"/>
              </a:spcBef>
            </a:pPr>
            <a:r>
              <a:rPr sz="950" b="0" i="0">
                <a:solidFill>
                  <a:srgbClr val="2A333B"/>
                </a:solidFill>
                <a:latin typeface="Calibri"/>
              </a:rPr>
              <a:t>A critiqued, task-specific prompt per step, saved under its step number</a:t>
            </a:r>
          </a:p>
        </p:txBody>
      </p:sp>
      <p:sp>
        <p:nvSpPr>
          <p:cNvPr id="21" name="Rectangle 20"/>
          <p:cNvSpPr/>
          <p:nvPr/>
        </p:nvSpPr>
        <p:spPr>
          <a:xfrm>
            <a:off x="2964615" y="3474720"/>
            <a:ext cx="82296" cy="113385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80590" y="3474720"/>
            <a:ext cx="307499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HOW TO RUN IT</a:t>
            </a:r>
          </a:p>
          <a:p>
            <a:pPr>
              <a:spcBef>
                <a:spcPts val="300"/>
              </a:spcBef>
            </a:pPr>
            <a:r>
              <a:rPr sz="950" b="0" i="0">
                <a:solidFill>
                  <a:srgbClr val="2A333B"/>
                </a:solidFill>
                <a:latin typeface="Calibri"/>
              </a:rPr>
              <a:t>One draft at a time, with the job stated — “this runs against a 40-page PDF in Gemini and has to return an eligibility checklist”. Ask for a critique and an improved version; keep the improvement only if you can say what changed.</a:t>
            </a:r>
          </a:p>
        </p:txBody>
      </p:sp>
      <p:sp>
        <p:nvSpPr>
          <p:cNvPr id="23" name="Rectangle 22"/>
          <p:cNvSpPr/>
          <p:nvPr/>
        </p:nvSpPr>
        <p:spPr>
          <a:xfrm>
            <a:off x="5380590" y="3474720"/>
            <a:ext cx="82296" cy="113385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65315" y="3474720"/>
            <a:ext cx="307499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WHY THIS TOOL, HERE</a:t>
            </a:r>
          </a:p>
          <a:p>
            <a:pPr>
              <a:spcBef>
                <a:spcPts val="300"/>
              </a:spcBef>
            </a:pPr>
            <a:r>
              <a:rPr sz="950" b="0" i="0">
                <a:solidFill>
                  <a:srgbClr val="2A333B"/>
                </a:solidFill>
                <a:latin typeface="Calibri"/>
              </a:rPr>
              <a:t>Lesson 1's meta-prompting as a packaged agent, coach persona included. A purpose-built prompt agent is not a general task, so the asymmetric rule holds — and nothing but prompts goes in.</a:t>
            </a:r>
          </a:p>
        </p:txBody>
      </p:sp>
      <p:sp>
        <p:nvSpPr>
          <p:cNvPr id="25" name="Rectangle 24"/>
          <p:cNvSpPr/>
          <p:nvPr/>
        </p:nvSpPr>
        <p:spPr>
          <a:xfrm>
            <a:off x="8565315" y="3474720"/>
            <a:ext cx="82296" cy="113385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81728"/>
            <a:ext cx="11091672" cy="347472"/>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a:lstStyle/>
          <a:p>
            <a:pPr algn="l"/>
            <a:r>
              <a:rPr sz="1400" b="1" i="0">
                <a:solidFill>
                  <a:srgbClr val="FFFFFF"/>
                </a:solidFill>
                <a:latin typeface="Cambria"/>
              </a:rPr>
              <a:t>3 · Collect the sources and clear them</a:t>
            </a:r>
          </a:p>
        </p:txBody>
      </p:sp>
      <p:sp>
        <p:nvSpPr>
          <p:cNvPr id="27" name="TextBox 26"/>
          <p:cNvSpPr txBox="1"/>
          <p:nvPr/>
        </p:nvSpPr>
        <p:spPr>
          <a:xfrm>
            <a:off x="548640" y="4745736"/>
            <a:ext cx="10890504" cy="365760"/>
          </a:xfrm>
          <a:prstGeom prst="rect">
            <a:avLst/>
          </a:prstGeom>
          <a:noFill/>
        </p:spPr>
        <p:txBody>
          <a:bodyPr wrap="none">
            <a:spAutoFit/>
          </a:bodyPr>
          <a:lstStyle/>
          <a:p>
            <a:pPr algn="r"/>
            <a:r>
              <a:rPr sz="1050" b="0" i="0">
                <a:solidFill>
                  <a:srgbClr val="FFFFFF"/>
                </a:solidFill>
                <a:latin typeface="Calibri"/>
              </a:rPr>
              <a:t>Adobe Acrobat in Teams · Copilot Chat (Basic)   ·   Sensitive Lane</a:t>
            </a:r>
          </a:p>
        </p:txBody>
      </p:sp>
      <p:sp>
        <p:nvSpPr>
          <p:cNvPr id="28" name="Rectangle 27"/>
          <p:cNvSpPr/>
          <p:nvPr/>
        </p:nvSpPr>
        <p:spPr>
          <a:xfrm>
            <a:off x="548640" y="5084064"/>
            <a:ext cx="2306247"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IN</a:t>
            </a:r>
          </a:p>
          <a:p>
            <a:pPr>
              <a:spcBef>
                <a:spcPts val="300"/>
              </a:spcBef>
            </a:pPr>
            <a:r>
              <a:rPr sz="950" b="0" i="0">
                <a:solidFill>
                  <a:srgbClr val="2A333B"/>
                </a:solidFill>
                <a:latin typeface="Calibri"/>
              </a:rPr>
              <a:t>The PDFs your topic needs, gathered in one Teams channel</a:t>
            </a:r>
          </a:p>
        </p:txBody>
      </p:sp>
      <p:sp>
        <p:nvSpPr>
          <p:cNvPr id="29" name="Rectangle 28"/>
          <p:cNvSpPr/>
          <p:nvPr/>
        </p:nvSpPr>
        <p:spPr>
          <a:xfrm>
            <a:off x="548640" y="5084064"/>
            <a:ext cx="82296" cy="113385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964615" y="5084064"/>
            <a:ext cx="2306247"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OUT</a:t>
            </a:r>
          </a:p>
          <a:p>
            <a:pPr>
              <a:spcBef>
                <a:spcPts val="300"/>
              </a:spcBef>
            </a:pPr>
            <a:r>
              <a:rPr sz="950" b="0" i="0">
                <a:solidFill>
                  <a:srgbClr val="2A333B"/>
                </a:solidFill>
                <a:latin typeface="Calibri"/>
              </a:rPr>
              <a:t>One reviewed source set, each file marked cleared, anonymised or unusable</a:t>
            </a:r>
          </a:p>
        </p:txBody>
      </p:sp>
      <p:sp>
        <p:nvSpPr>
          <p:cNvPr id="31" name="Rectangle 30"/>
          <p:cNvSpPr/>
          <p:nvPr/>
        </p:nvSpPr>
        <p:spPr>
          <a:xfrm>
            <a:off x="2964615" y="5084064"/>
            <a:ext cx="82296" cy="113385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380590" y="5084064"/>
            <a:ext cx="307499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HOW TO RUN IT</a:t>
            </a:r>
          </a:p>
          <a:p>
            <a:pPr>
              <a:spcBef>
                <a:spcPts val="300"/>
              </a:spcBef>
            </a:pPr>
            <a:r>
              <a:rPr sz="950" b="0" i="0">
                <a:solidFill>
                  <a:srgbClr val="2A333B"/>
                </a:solidFill>
                <a:latin typeface="Calibri"/>
              </a:rPr>
              <a:t>Read them in the high-fidelity viewer; collect every comment in one PDF instead of reconciling attachments. Run the Lesson 1 anonymisation checklist over each file and record the verdict. Free features only — convert and combine are premium.</a:t>
            </a:r>
          </a:p>
        </p:txBody>
      </p:sp>
      <p:sp>
        <p:nvSpPr>
          <p:cNvPr id="33" name="Rectangle 32"/>
          <p:cNvSpPr/>
          <p:nvPr/>
        </p:nvSpPr>
        <p:spPr>
          <a:xfrm>
            <a:off x="5380590" y="5084064"/>
            <a:ext cx="82296" cy="113385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565315" y="5084064"/>
            <a:ext cx="307499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WHY THIS TOOL, HERE</a:t>
            </a:r>
          </a:p>
          <a:p>
            <a:pPr>
              <a:spcBef>
                <a:spcPts val="300"/>
              </a:spcBef>
            </a:pPr>
            <a:r>
              <a:rPr sz="950" b="0" i="0">
                <a:solidFill>
                  <a:srgbClr val="2A333B"/>
                </a:solidFill>
                <a:latin typeface="Calibri"/>
              </a:rPr>
              <a:t>The gate the rest of the chain depends on. Acrobat is where institutional PDFs already are, the review runs in one thread, and clearance is decided once — here — instead of six times further down the chain.</a:t>
            </a:r>
          </a:p>
        </p:txBody>
      </p:sp>
      <p:sp>
        <p:nvSpPr>
          <p:cNvPr id="35" name="Rectangle 34"/>
          <p:cNvSpPr/>
          <p:nvPr/>
        </p:nvSpPr>
        <p:spPr>
          <a:xfrm>
            <a:off x="8565315" y="5084064"/>
            <a:ext cx="82296" cy="113385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The blueprint · steps 4–6</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15568"/>
            <a:ext cx="11091672" cy="365760"/>
          </a:xfrm>
          <a:prstGeom prst="rect">
            <a:avLst/>
          </a:prstGeom>
          <a:noFill/>
        </p:spPr>
        <p:txBody>
          <a:bodyPr wrap="square">
            <a:spAutoFit/>
          </a:bodyPr>
          <a:lstStyle/>
          <a:p>
            <a:pPr algn="l"/>
            <a:r>
              <a:rPr sz="1250" b="0" i="0">
                <a:solidFill>
                  <a:srgbClr val="6B747D"/>
                </a:solidFill>
                <a:latin typeface="Calibri"/>
              </a:rPr>
              <a:t>Fill the gaps, ground every claim in a source, and draft the outline in the workspace that already knows your topic</a:t>
            </a:r>
          </a:p>
        </p:txBody>
      </p:sp>
      <p:sp>
        <p:nvSpPr>
          <p:cNvPr id="6" name="Rectangle 5"/>
          <p:cNvSpPr/>
          <p:nvPr/>
        </p:nvSpPr>
        <p:spPr>
          <a:xfrm>
            <a:off x="548640" y="1463040"/>
            <a:ext cx="11091672" cy="34747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a:lstStyle/>
          <a:p>
            <a:pPr algn="l"/>
            <a:r>
              <a:rPr sz="1400" b="1" i="0">
                <a:solidFill>
                  <a:srgbClr val="FFFFFF"/>
                </a:solidFill>
                <a:latin typeface="Cambria"/>
              </a:rPr>
              <a:t>4 · Research what the sources do not cover</a:t>
            </a:r>
          </a:p>
        </p:txBody>
      </p:sp>
      <p:sp>
        <p:nvSpPr>
          <p:cNvPr id="7" name="TextBox 6"/>
          <p:cNvSpPr txBox="1"/>
          <p:nvPr/>
        </p:nvSpPr>
        <p:spPr>
          <a:xfrm>
            <a:off x="548640" y="1527048"/>
            <a:ext cx="10890504" cy="365760"/>
          </a:xfrm>
          <a:prstGeom prst="rect">
            <a:avLst/>
          </a:prstGeom>
          <a:noFill/>
        </p:spPr>
        <p:txBody>
          <a:bodyPr wrap="none">
            <a:spAutoFit/>
          </a:bodyPr>
          <a:lstStyle/>
          <a:p>
            <a:pPr algn="r"/>
            <a:r>
              <a:rPr sz="1050" b="0" i="0">
                <a:solidFill>
                  <a:srgbClr val="FFFFFF"/>
                </a:solidFill>
                <a:latin typeface="Calibri"/>
              </a:rPr>
              <a:t>Gemini · Deep Research   ·   Daily Driver</a:t>
            </a:r>
          </a:p>
        </p:txBody>
      </p:sp>
      <p:sp>
        <p:nvSpPr>
          <p:cNvPr id="8" name="Rectangle 7"/>
          <p:cNvSpPr/>
          <p:nvPr/>
        </p:nvSpPr>
        <p:spPr>
          <a:xfrm>
            <a:off x="548640" y="1865376"/>
            <a:ext cx="2306247"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IN</a:t>
            </a:r>
          </a:p>
          <a:p>
            <a:pPr>
              <a:spcBef>
                <a:spcPts val="300"/>
              </a:spcBef>
            </a:pPr>
            <a:r>
              <a:rPr sz="950" b="0" i="0">
                <a:solidFill>
                  <a:srgbClr val="2A333B"/>
                </a:solidFill>
                <a:latin typeface="Calibri"/>
              </a:rPr>
              <a:t>The coverage gap from step 3, written as one research question</a:t>
            </a:r>
          </a:p>
        </p:txBody>
      </p:sp>
      <p:sp>
        <p:nvSpPr>
          <p:cNvPr id="9" name="Rectangle 8"/>
          <p:cNvSpPr/>
          <p:nvPr/>
        </p:nvSpPr>
        <p:spPr>
          <a:xfrm>
            <a:off x="548640" y="1865376"/>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64615" y="1865376"/>
            <a:ext cx="2306247"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OUT</a:t>
            </a:r>
          </a:p>
          <a:p>
            <a:pPr>
              <a:spcBef>
                <a:spcPts val="300"/>
              </a:spcBef>
            </a:pPr>
            <a:r>
              <a:rPr sz="950" b="0" i="0">
                <a:solidFill>
                  <a:srgbClr val="2A333B"/>
                </a:solidFill>
                <a:latin typeface="Calibri"/>
              </a:rPr>
              <a:t>A cited briefing with a source list you can open, kept as a file</a:t>
            </a:r>
          </a:p>
        </p:txBody>
      </p:sp>
      <p:sp>
        <p:nvSpPr>
          <p:cNvPr id="11" name="Rectangle 10"/>
          <p:cNvSpPr/>
          <p:nvPr/>
        </p:nvSpPr>
        <p:spPr>
          <a:xfrm>
            <a:off x="2964615" y="1865376"/>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380590" y="1865376"/>
            <a:ext cx="307499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HOW TO RUN IT</a:t>
            </a:r>
          </a:p>
          <a:p>
            <a:pPr>
              <a:spcBef>
                <a:spcPts val="300"/>
              </a:spcBef>
            </a:pPr>
            <a:r>
              <a:rPr sz="950" b="0" i="0">
                <a:solidFill>
                  <a:srgbClr val="2A333B"/>
                </a:solidFill>
                <a:latin typeface="Calibri"/>
              </a:rPr>
              <a:t>One question, not five. Ask for sources per claim, open at least three of them, and check they say what the briefing says. The free tier caps reports per month, so write the question before you spend one.</a:t>
            </a:r>
          </a:p>
        </p:txBody>
      </p:sp>
      <p:sp>
        <p:nvSpPr>
          <p:cNvPr id="13" name="Rectangle 12"/>
          <p:cNvSpPr/>
          <p:nvPr/>
        </p:nvSpPr>
        <p:spPr>
          <a:xfrm>
            <a:off x="5380590" y="1865376"/>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565315" y="1865376"/>
            <a:ext cx="307499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WHY THIS TOOL, HERE</a:t>
            </a:r>
          </a:p>
          <a:p>
            <a:pPr>
              <a:spcBef>
                <a:spcPts val="300"/>
              </a:spcBef>
            </a:pPr>
            <a:r>
              <a:rPr sz="950" b="0" i="0">
                <a:solidFill>
                  <a:srgbClr val="2A333B"/>
                </a:solidFill>
                <a:latin typeface="Calibri"/>
              </a:rPr>
              <a:t>The gap is public knowledge, so it is Daily Driver work — and Deep Research reads more sources than you will and hands back citations you can trace. Verification is cheapest here: a bad claim caught now never reaches a slide.</a:t>
            </a:r>
          </a:p>
        </p:txBody>
      </p:sp>
      <p:sp>
        <p:nvSpPr>
          <p:cNvPr id="15" name="Rectangle 14"/>
          <p:cNvSpPr/>
          <p:nvPr/>
        </p:nvSpPr>
        <p:spPr>
          <a:xfrm>
            <a:off x="8565315" y="1865376"/>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72384"/>
            <a:ext cx="11091672" cy="34747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a:lstStyle/>
          <a:p>
            <a:pPr algn="l"/>
            <a:r>
              <a:rPr sz="1400" b="1" i="0">
                <a:solidFill>
                  <a:srgbClr val="FFFFFF"/>
                </a:solidFill>
                <a:latin typeface="Cambria"/>
              </a:rPr>
              <a:t>5 · Aggregate everything into one grounded notebook</a:t>
            </a:r>
          </a:p>
        </p:txBody>
      </p:sp>
      <p:sp>
        <p:nvSpPr>
          <p:cNvPr id="17" name="TextBox 16"/>
          <p:cNvSpPr txBox="1"/>
          <p:nvPr/>
        </p:nvSpPr>
        <p:spPr>
          <a:xfrm>
            <a:off x="548640" y="3136392"/>
            <a:ext cx="10890504" cy="365760"/>
          </a:xfrm>
          <a:prstGeom prst="rect">
            <a:avLst/>
          </a:prstGeom>
          <a:noFill/>
        </p:spPr>
        <p:txBody>
          <a:bodyPr wrap="none">
            <a:spAutoFit/>
          </a:bodyPr>
          <a:lstStyle/>
          <a:p>
            <a:pPr algn="r"/>
            <a:r>
              <a:rPr sz="1050" b="0" i="0">
                <a:solidFill>
                  <a:srgbClr val="FFFFFF"/>
                </a:solidFill>
                <a:latin typeface="Calibri"/>
              </a:rPr>
              <a:t>NotebookLM (Gemini Notebook)   ·   Daily Driver</a:t>
            </a:r>
          </a:p>
        </p:txBody>
      </p:sp>
      <p:sp>
        <p:nvSpPr>
          <p:cNvPr id="18" name="Rectangle 17"/>
          <p:cNvSpPr/>
          <p:nvPr/>
        </p:nvSpPr>
        <p:spPr>
          <a:xfrm>
            <a:off x="548640" y="3474720"/>
            <a:ext cx="2306247"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IN</a:t>
            </a:r>
          </a:p>
          <a:p>
            <a:pPr>
              <a:spcBef>
                <a:spcPts val="300"/>
              </a:spcBef>
            </a:pPr>
            <a:r>
              <a:rPr sz="950" b="0" i="0">
                <a:solidFill>
                  <a:srgbClr val="2A333B"/>
                </a:solidFill>
                <a:latin typeface="Calibri"/>
              </a:rPr>
              <a:t>The cleared sources, the briefing, and your own notes</a:t>
            </a:r>
          </a:p>
        </p:txBody>
      </p:sp>
      <p:sp>
        <p:nvSpPr>
          <p:cNvPr id="19" name="Rectangle 18"/>
          <p:cNvSpPr/>
          <p:nvPr/>
        </p:nvSpPr>
        <p:spPr>
          <a:xfrm>
            <a:off x="548640" y="3474720"/>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64615" y="3474720"/>
            <a:ext cx="2306247"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OUT</a:t>
            </a:r>
          </a:p>
          <a:p>
            <a:pPr>
              <a:spcBef>
                <a:spcPts val="300"/>
              </a:spcBef>
            </a:pPr>
            <a:r>
              <a:rPr sz="950" b="0" i="0">
                <a:solidFill>
                  <a:srgbClr val="2A333B"/>
                </a:solidFill>
                <a:latin typeface="Calibri"/>
              </a:rPr>
              <a:t>Answers that cite their source, and the list of what the presentation must cover</a:t>
            </a:r>
          </a:p>
        </p:txBody>
      </p:sp>
      <p:sp>
        <p:nvSpPr>
          <p:cNvPr id="21" name="Rectangle 20"/>
          <p:cNvSpPr/>
          <p:nvPr/>
        </p:nvSpPr>
        <p:spPr>
          <a:xfrm>
            <a:off x="2964615" y="3474720"/>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80590" y="3474720"/>
            <a:ext cx="307499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HOW TO RUN IT</a:t>
            </a:r>
          </a:p>
          <a:p>
            <a:pPr>
              <a:spcBef>
                <a:spcPts val="300"/>
              </a:spcBef>
            </a:pPr>
            <a:r>
              <a:rPr sz="950" b="0" i="0">
                <a:solidFill>
                  <a:srgbClr val="2A333B"/>
                </a:solidFill>
                <a:latin typeface="Calibri"/>
              </a:rPr>
              <a:t>One notebook per topic. Add the sources, then ask the coverage question — what does a newcomer need to know, and which source says it? An answer without a citation is dropped or re-sourced. Free-tier dependent: fall back to file upload, and say so.</a:t>
            </a:r>
          </a:p>
        </p:txBody>
      </p:sp>
      <p:sp>
        <p:nvSpPr>
          <p:cNvPr id="23" name="Rectangle 22"/>
          <p:cNvSpPr/>
          <p:nvPr/>
        </p:nvSpPr>
        <p:spPr>
          <a:xfrm>
            <a:off x="5380590" y="3474720"/>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65315" y="3474720"/>
            <a:ext cx="307499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WHY THIS TOOL, HERE</a:t>
            </a:r>
          </a:p>
          <a:p>
            <a:pPr>
              <a:spcBef>
                <a:spcPts val="300"/>
              </a:spcBef>
            </a:pPr>
            <a:r>
              <a:rPr sz="950" b="0" i="0">
                <a:solidFill>
                  <a:srgbClr val="2A333B"/>
                </a:solidFill>
                <a:latin typeface="Calibri"/>
              </a:rPr>
              <a:t>The answer to “more context is not better context”: the notebook answers only from what you gave it and names the source, so every claim has an address. Grounding before drafting is what stops the next step inventing.</a:t>
            </a:r>
          </a:p>
        </p:txBody>
      </p:sp>
      <p:sp>
        <p:nvSpPr>
          <p:cNvPr id="25" name="Rectangle 24"/>
          <p:cNvSpPr/>
          <p:nvPr/>
        </p:nvSpPr>
        <p:spPr>
          <a:xfrm>
            <a:off x="8565315" y="3474720"/>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81728"/>
            <a:ext cx="11091672" cy="34747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a:lstStyle/>
          <a:p>
            <a:pPr algn="l"/>
            <a:r>
              <a:rPr sz="1400" b="1" i="0">
                <a:solidFill>
                  <a:srgbClr val="FFFFFF"/>
                </a:solidFill>
                <a:latin typeface="Cambria"/>
              </a:rPr>
              <a:t>6 · Draft the outline against the outcomes</a:t>
            </a:r>
          </a:p>
        </p:txBody>
      </p:sp>
      <p:sp>
        <p:nvSpPr>
          <p:cNvPr id="27" name="TextBox 26"/>
          <p:cNvSpPr txBox="1"/>
          <p:nvPr/>
        </p:nvSpPr>
        <p:spPr>
          <a:xfrm>
            <a:off x="548640" y="4745736"/>
            <a:ext cx="10890504" cy="365760"/>
          </a:xfrm>
          <a:prstGeom prst="rect">
            <a:avLst/>
          </a:prstGeom>
          <a:noFill/>
        </p:spPr>
        <p:txBody>
          <a:bodyPr wrap="none">
            <a:spAutoFit/>
          </a:bodyPr>
          <a:lstStyle/>
          <a:p>
            <a:pPr algn="r"/>
            <a:r>
              <a:rPr sz="1050" b="0" i="0">
                <a:solidFill>
                  <a:srgbClr val="FFFFFF"/>
                </a:solidFill>
                <a:latin typeface="Calibri"/>
              </a:rPr>
              <a:t>Gemini · a Gem, with file upload, long context and Canvas   ·   Daily Driver</a:t>
            </a:r>
          </a:p>
        </p:txBody>
      </p:sp>
      <p:sp>
        <p:nvSpPr>
          <p:cNvPr id="28" name="Rectangle 27"/>
          <p:cNvSpPr/>
          <p:nvPr/>
        </p:nvSpPr>
        <p:spPr>
          <a:xfrm>
            <a:off x="548640" y="5084064"/>
            <a:ext cx="2306247"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IN</a:t>
            </a:r>
          </a:p>
          <a:p>
            <a:pPr>
              <a:spcBef>
                <a:spcPts val="300"/>
              </a:spcBef>
            </a:pPr>
            <a:r>
              <a:rPr sz="950" b="0" i="0">
                <a:solidFill>
                  <a:srgbClr val="2A333B"/>
                </a:solidFill>
                <a:latin typeface="Calibri"/>
              </a:rPr>
              <a:t>The three outcomes, the coverage list, the cleared sources</a:t>
            </a:r>
          </a:p>
        </p:txBody>
      </p:sp>
      <p:sp>
        <p:nvSpPr>
          <p:cNvPr id="29" name="Rectangle 28"/>
          <p:cNvSpPr/>
          <p:nvPr/>
        </p:nvSpPr>
        <p:spPr>
          <a:xfrm>
            <a:off x="548640" y="5084064"/>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964615" y="5084064"/>
            <a:ext cx="2306247"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OUT</a:t>
            </a:r>
          </a:p>
          <a:p>
            <a:pPr>
              <a:spcBef>
                <a:spcPts val="300"/>
              </a:spcBef>
            </a:pPr>
            <a:r>
              <a:rPr sz="950" b="0" i="0">
                <a:solidFill>
                  <a:srgbClr val="2A333B"/>
                </a:solidFill>
                <a:latin typeface="Calibri"/>
              </a:rPr>
              <a:t>A section-by-section outline, each section tagged with the outcome it serves</a:t>
            </a:r>
          </a:p>
        </p:txBody>
      </p:sp>
      <p:sp>
        <p:nvSpPr>
          <p:cNvPr id="31" name="Rectangle 30"/>
          <p:cNvSpPr/>
          <p:nvPr/>
        </p:nvSpPr>
        <p:spPr>
          <a:xfrm>
            <a:off x="2964615" y="5084064"/>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380590" y="5084064"/>
            <a:ext cx="307499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HOW TO RUN IT</a:t>
            </a:r>
          </a:p>
          <a:p>
            <a:pPr>
              <a:spcBef>
                <a:spcPts val="300"/>
              </a:spcBef>
            </a:pPr>
            <a:r>
              <a:rPr sz="950" b="0" i="0">
                <a:solidFill>
                  <a:srgbClr val="2A333B"/>
                </a:solidFill>
                <a:latin typeface="Calibri"/>
              </a:rPr>
              <a:t>Build the Gem first — Lesson 1's reverse prompt as standing instructions, the topic statement, the cleared sources as reference files. Then draft in Canvas and iterate one section at a time. Cut any section that serves no outcome; that is the test.</a:t>
            </a:r>
          </a:p>
        </p:txBody>
      </p:sp>
      <p:sp>
        <p:nvSpPr>
          <p:cNvPr id="33" name="Rectangle 32"/>
          <p:cNvSpPr/>
          <p:nvPr/>
        </p:nvSpPr>
        <p:spPr>
          <a:xfrm>
            <a:off x="5380590" y="5084064"/>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565315" y="5084064"/>
            <a:ext cx="307499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WHY THIS TOOL, HERE</a:t>
            </a:r>
          </a:p>
          <a:p>
            <a:pPr>
              <a:spcBef>
                <a:spcPts val="300"/>
              </a:spcBef>
            </a:pPr>
            <a:r>
              <a:rPr sz="950" b="0" i="0">
                <a:solidFill>
                  <a:srgbClr val="2A333B"/>
                </a:solidFill>
                <a:latin typeface="Calibri"/>
              </a:rPr>
              <a:t>The Gem is the persistent, domain-aware workspace — that is Level 3, and it is why every later chat already knows the topic. Canvas keeps the draft editable in pieces, so an iteration costs one section, not the document.</a:t>
            </a:r>
          </a:p>
        </p:txBody>
      </p:sp>
      <p:sp>
        <p:nvSpPr>
          <p:cNvPr id="35" name="Rectangle 34"/>
          <p:cNvSpPr/>
          <p:nvPr/>
        </p:nvSpPr>
        <p:spPr>
          <a:xfrm>
            <a:off x="8565315" y="5084064"/>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The blueprint · steps 7–9</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15568"/>
            <a:ext cx="11091672" cy="365760"/>
          </a:xfrm>
          <a:prstGeom prst="rect">
            <a:avLst/>
          </a:prstGeom>
          <a:noFill/>
        </p:spPr>
        <p:txBody>
          <a:bodyPr wrap="square">
            <a:spAutoFit/>
          </a:bodyPr>
          <a:lstStyle/>
          <a:p>
            <a:pPr algn="l"/>
            <a:r>
              <a:rPr sz="1250" b="0" i="0">
                <a:solidFill>
                  <a:srgbClr val="6B747D"/>
                </a:solidFill>
                <a:latin typeface="Calibri"/>
              </a:rPr>
              <a:t>Make the visuals, turn the content into something that teaches, and build the deck from an approved structure</a:t>
            </a:r>
          </a:p>
        </p:txBody>
      </p:sp>
      <p:sp>
        <p:nvSpPr>
          <p:cNvPr id="6" name="Rectangle 5"/>
          <p:cNvSpPr/>
          <p:nvPr/>
        </p:nvSpPr>
        <p:spPr>
          <a:xfrm>
            <a:off x="548640" y="1463040"/>
            <a:ext cx="11091672" cy="34747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a:lstStyle/>
          <a:p>
            <a:pPr algn="l"/>
            <a:r>
              <a:rPr sz="1400" b="1" i="0">
                <a:solidFill>
                  <a:srgbClr val="FFFFFF"/>
                </a:solidFill>
                <a:latin typeface="Cambria"/>
              </a:rPr>
              <a:t>7 · Generate the section visuals</a:t>
            </a:r>
          </a:p>
        </p:txBody>
      </p:sp>
      <p:sp>
        <p:nvSpPr>
          <p:cNvPr id="7" name="TextBox 6"/>
          <p:cNvSpPr txBox="1"/>
          <p:nvPr/>
        </p:nvSpPr>
        <p:spPr>
          <a:xfrm>
            <a:off x="548640" y="1527048"/>
            <a:ext cx="10890504" cy="365760"/>
          </a:xfrm>
          <a:prstGeom prst="rect">
            <a:avLst/>
          </a:prstGeom>
          <a:noFill/>
        </p:spPr>
        <p:txBody>
          <a:bodyPr wrap="none">
            <a:spAutoFit/>
          </a:bodyPr>
          <a:lstStyle/>
          <a:p>
            <a:pPr algn="r"/>
            <a:r>
              <a:rPr sz="1050" b="0" i="0">
                <a:solidFill>
                  <a:srgbClr val="FFFFFF"/>
                </a:solidFill>
                <a:latin typeface="Calibri"/>
              </a:rPr>
              <a:t>Gemini · image generation   ·   Daily Driver</a:t>
            </a:r>
          </a:p>
        </p:txBody>
      </p:sp>
      <p:sp>
        <p:nvSpPr>
          <p:cNvPr id="8" name="Rectangle 7"/>
          <p:cNvSpPr/>
          <p:nvPr/>
        </p:nvSpPr>
        <p:spPr>
          <a:xfrm>
            <a:off x="548640" y="1865376"/>
            <a:ext cx="2306247"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IN</a:t>
            </a:r>
          </a:p>
          <a:p>
            <a:pPr>
              <a:spcBef>
                <a:spcPts val="300"/>
              </a:spcBef>
            </a:pPr>
            <a:r>
              <a:rPr sz="950" b="0" i="0">
                <a:solidFill>
                  <a:srgbClr val="2A333B"/>
                </a:solidFill>
                <a:latin typeface="Calibri"/>
              </a:rPr>
              <a:t>One outline section, plus a written description of the diagram it needs</a:t>
            </a:r>
          </a:p>
        </p:txBody>
      </p:sp>
      <p:sp>
        <p:nvSpPr>
          <p:cNvPr id="9" name="Rectangle 8"/>
          <p:cNvSpPr/>
          <p:nvPr/>
        </p:nvSpPr>
        <p:spPr>
          <a:xfrm>
            <a:off x="548640" y="1865376"/>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64615" y="1865376"/>
            <a:ext cx="2306247"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OUT</a:t>
            </a:r>
          </a:p>
          <a:p>
            <a:pPr>
              <a:spcBef>
                <a:spcPts val="300"/>
              </a:spcBef>
            </a:pPr>
            <a:r>
              <a:rPr sz="950" b="0" i="0">
                <a:solidFill>
                  <a:srgbClr val="2A333B"/>
                </a:solidFill>
                <a:latin typeface="Calibri"/>
              </a:rPr>
              <a:t>A diagram-style illustration for each section that needs one</a:t>
            </a:r>
          </a:p>
        </p:txBody>
      </p:sp>
      <p:sp>
        <p:nvSpPr>
          <p:cNvPr id="11" name="Rectangle 10"/>
          <p:cNvSpPr/>
          <p:nvPr/>
        </p:nvSpPr>
        <p:spPr>
          <a:xfrm>
            <a:off x="2964615" y="1865376"/>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380590" y="1865376"/>
            <a:ext cx="307499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HOW TO RUN IT</a:t>
            </a:r>
          </a:p>
          <a:p>
            <a:pPr>
              <a:spcBef>
                <a:spcPts val="300"/>
              </a:spcBef>
            </a:pPr>
            <a:r>
              <a:rPr sz="950" b="0" i="0">
                <a:solidFill>
                  <a:srgbClr val="2A333B"/>
                </a:solidFill>
                <a:latin typeface="Calibri"/>
              </a:rPr>
              <a:t>Describe the relationship, not the picture — “three stages, each feeding the next, the middle one highlighted”. Then read the labels: text inside generated images is often wrong, and the fix is to regenerate, not to patch.</a:t>
            </a:r>
          </a:p>
        </p:txBody>
      </p:sp>
      <p:sp>
        <p:nvSpPr>
          <p:cNvPr id="13" name="Rectangle 12"/>
          <p:cNvSpPr/>
          <p:nvPr/>
        </p:nvSpPr>
        <p:spPr>
          <a:xfrm>
            <a:off x="5380590" y="1865376"/>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565315" y="1865376"/>
            <a:ext cx="307499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WHY THIS TOOL, HERE</a:t>
            </a:r>
          </a:p>
          <a:p>
            <a:pPr>
              <a:spcBef>
                <a:spcPts val="300"/>
              </a:spcBef>
            </a:pPr>
            <a:r>
              <a:rPr sz="950" b="0" i="0">
                <a:solidFill>
                  <a:srgbClr val="2A333B"/>
                </a:solidFill>
                <a:latin typeface="Calibri"/>
              </a:rPr>
              <a:t>The visual has to serve the outcome, and making it is the cheapest way to find out whether it does. Public topic, no personal data in the description — Daily Driver, and nothing here goes near the Sensitive Lane.</a:t>
            </a:r>
          </a:p>
        </p:txBody>
      </p:sp>
      <p:sp>
        <p:nvSpPr>
          <p:cNvPr id="15" name="Rectangle 14"/>
          <p:cNvSpPr/>
          <p:nvPr/>
        </p:nvSpPr>
        <p:spPr>
          <a:xfrm>
            <a:off x="8565315" y="1865376"/>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72384"/>
            <a:ext cx="11091672" cy="347472"/>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a:lstStyle/>
          <a:p>
            <a:pPr algn="l"/>
            <a:r>
              <a:rPr sz="1400" b="1" i="0">
                <a:solidFill>
                  <a:srgbClr val="FFFFFF"/>
                </a:solidFill>
                <a:latin typeface="Cambria"/>
              </a:rPr>
              <a:t>8 · Turn the content into learning material</a:t>
            </a:r>
          </a:p>
        </p:txBody>
      </p:sp>
      <p:sp>
        <p:nvSpPr>
          <p:cNvPr id="17" name="TextBox 16"/>
          <p:cNvSpPr txBox="1"/>
          <p:nvPr/>
        </p:nvSpPr>
        <p:spPr>
          <a:xfrm>
            <a:off x="548640" y="3136392"/>
            <a:ext cx="10890504" cy="365760"/>
          </a:xfrm>
          <a:prstGeom prst="rect">
            <a:avLst/>
          </a:prstGeom>
          <a:noFill/>
        </p:spPr>
        <p:txBody>
          <a:bodyPr wrap="none">
            <a:spAutoFit/>
          </a:bodyPr>
          <a:lstStyle/>
          <a:p>
            <a:pPr algn="r"/>
            <a:r>
              <a:rPr sz="1050" b="0" i="0">
                <a:solidFill>
                  <a:srgbClr val="FFFFFF"/>
                </a:solidFill>
                <a:latin typeface="Calibri"/>
              </a:rPr>
              <a:t>Study and Learn · Copilot Chat (Basic)   ·   Sensitive Lane</a:t>
            </a:r>
          </a:p>
        </p:txBody>
      </p:sp>
      <p:sp>
        <p:nvSpPr>
          <p:cNvPr id="18" name="Rectangle 17"/>
          <p:cNvSpPr/>
          <p:nvPr/>
        </p:nvSpPr>
        <p:spPr>
          <a:xfrm>
            <a:off x="548640" y="3474720"/>
            <a:ext cx="2306247"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IN</a:t>
            </a:r>
          </a:p>
          <a:p>
            <a:pPr>
              <a:spcBef>
                <a:spcPts val="300"/>
              </a:spcBef>
            </a:pPr>
            <a:r>
              <a:rPr sz="950" b="0" i="0">
                <a:solidFill>
                  <a:srgbClr val="2A333B"/>
                </a:solidFill>
                <a:latin typeface="Calibri"/>
              </a:rPr>
              <a:t>The outline, and the concepts each learning outcome depends on</a:t>
            </a:r>
          </a:p>
        </p:txBody>
      </p:sp>
      <p:sp>
        <p:nvSpPr>
          <p:cNvPr id="19" name="Rectangle 18"/>
          <p:cNvSpPr/>
          <p:nvPr/>
        </p:nvSpPr>
        <p:spPr>
          <a:xfrm>
            <a:off x="548640" y="3474720"/>
            <a:ext cx="82296" cy="113385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64615" y="3474720"/>
            <a:ext cx="2306247"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OUT</a:t>
            </a:r>
          </a:p>
          <a:p>
            <a:pPr>
              <a:spcBef>
                <a:spcPts val="300"/>
              </a:spcBef>
            </a:pPr>
            <a:r>
              <a:rPr sz="950" b="0" i="0">
                <a:solidFill>
                  <a:srgbClr val="2A333B"/>
                </a:solidFill>
                <a:latin typeface="Calibri"/>
              </a:rPr>
              <a:t>An explanation, a flashcard set and a five-question quiz per outcome</a:t>
            </a:r>
          </a:p>
        </p:txBody>
      </p:sp>
      <p:sp>
        <p:nvSpPr>
          <p:cNvPr id="21" name="Rectangle 20"/>
          <p:cNvSpPr/>
          <p:nvPr/>
        </p:nvSpPr>
        <p:spPr>
          <a:xfrm>
            <a:off x="2964615" y="3474720"/>
            <a:ext cx="82296" cy="113385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80590" y="3474720"/>
            <a:ext cx="307499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HOW TO RUN IT</a:t>
            </a:r>
          </a:p>
          <a:p>
            <a:pPr>
              <a:spcBef>
                <a:spcPts val="300"/>
              </a:spcBef>
            </a:pPr>
            <a:r>
              <a:rPr sz="950" b="0" i="0">
                <a:solidFill>
                  <a:srgbClr val="2A333B"/>
                </a:solidFill>
                <a:latin typeface="Calibri"/>
              </a:rPr>
              <a:t>One outcome at a time: the explanation first, read as a learner would; then flashcards on the terms; then the quiz. Throw away any question answerable without having seen the presentation, and paste the result back into the outline.</a:t>
            </a:r>
          </a:p>
        </p:txBody>
      </p:sp>
      <p:sp>
        <p:nvSpPr>
          <p:cNvPr id="23" name="Rectangle 22"/>
          <p:cNvSpPr/>
          <p:nvPr/>
        </p:nvSpPr>
        <p:spPr>
          <a:xfrm>
            <a:off x="5380590" y="3474720"/>
            <a:ext cx="82296" cy="113385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65315" y="3474720"/>
            <a:ext cx="307499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WHY THIS TOOL, HERE</a:t>
            </a:r>
          </a:p>
          <a:p>
            <a:pPr>
              <a:spcBef>
                <a:spcPts val="300"/>
              </a:spcBef>
            </a:pPr>
            <a:r>
              <a:rPr sz="950" b="0" i="0">
                <a:solidFill>
                  <a:srgbClr val="2A333B"/>
                </a:solidFill>
                <a:latin typeface="Calibri"/>
              </a:rPr>
              <a:t>The step that makes the deliverable teach rather than tell. Study and Learn was built with learning scientists for explanation, practice and retrieval — the only tool in the course that produces the practice half of an outcome.</a:t>
            </a:r>
          </a:p>
        </p:txBody>
      </p:sp>
      <p:sp>
        <p:nvSpPr>
          <p:cNvPr id="25" name="Rectangle 24"/>
          <p:cNvSpPr/>
          <p:nvPr/>
        </p:nvSpPr>
        <p:spPr>
          <a:xfrm>
            <a:off x="8565315" y="3474720"/>
            <a:ext cx="82296" cy="113385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81728"/>
            <a:ext cx="11091672" cy="347472"/>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a:lstStyle/>
          <a:p>
            <a:pPr algn="l"/>
            <a:r>
              <a:rPr sz="1400" b="1" i="0">
                <a:solidFill>
                  <a:srgbClr val="FFFFFF"/>
                </a:solidFill>
                <a:latin typeface="Cambria"/>
              </a:rPr>
              <a:t>9 · Prototype the structure, cut the excerpt, build the deck</a:t>
            </a:r>
          </a:p>
        </p:txBody>
      </p:sp>
      <p:sp>
        <p:nvSpPr>
          <p:cNvPr id="27" name="TextBox 26"/>
          <p:cNvSpPr txBox="1"/>
          <p:nvPr/>
        </p:nvSpPr>
        <p:spPr>
          <a:xfrm>
            <a:off x="548640" y="4745736"/>
            <a:ext cx="10890504" cy="365760"/>
          </a:xfrm>
          <a:prstGeom prst="rect">
            <a:avLst/>
          </a:prstGeom>
          <a:noFill/>
        </p:spPr>
        <p:txBody>
          <a:bodyPr wrap="none">
            <a:spAutoFit/>
          </a:bodyPr>
          <a:lstStyle/>
          <a:p>
            <a:pPr algn="r"/>
            <a:r>
              <a:rPr sz="1050" b="0" i="0">
                <a:solidFill>
                  <a:srgbClr val="FFFFFF"/>
                </a:solidFill>
                <a:latin typeface="Calibri"/>
              </a:rPr>
              <a:t>Canva (Teams app) → genspark.ai   ·   Neither lane · cleared content only</a:t>
            </a:r>
          </a:p>
        </p:txBody>
      </p:sp>
      <p:sp>
        <p:nvSpPr>
          <p:cNvPr id="28" name="Rectangle 27"/>
          <p:cNvSpPr/>
          <p:nvPr/>
        </p:nvSpPr>
        <p:spPr>
          <a:xfrm>
            <a:off x="548640" y="5084064"/>
            <a:ext cx="2306247"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IN</a:t>
            </a:r>
          </a:p>
          <a:p>
            <a:pPr>
              <a:spcBef>
                <a:spcPts val="300"/>
              </a:spcBef>
            </a:pPr>
            <a:r>
              <a:rPr sz="950" b="0" i="0">
                <a:solidFill>
                  <a:srgbClr val="2A333B"/>
                </a:solidFill>
                <a:latin typeface="Calibri"/>
              </a:rPr>
              <a:t>The approved outline, the visuals, the learning material</a:t>
            </a:r>
          </a:p>
        </p:txBody>
      </p:sp>
      <p:sp>
        <p:nvSpPr>
          <p:cNvPr id="29" name="Rectangle 28"/>
          <p:cNvSpPr/>
          <p:nvPr/>
        </p:nvSpPr>
        <p:spPr>
          <a:xfrm>
            <a:off x="548640" y="5084064"/>
            <a:ext cx="82296" cy="1133856"/>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964615" y="5084064"/>
            <a:ext cx="2306247"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OUT</a:t>
            </a:r>
          </a:p>
          <a:p>
            <a:pPr>
              <a:spcBef>
                <a:spcPts val="300"/>
              </a:spcBef>
            </a:pPr>
            <a:r>
              <a:rPr sz="950" b="0" i="0">
                <a:solidFill>
                  <a:srgbClr val="2A333B"/>
                </a:solidFill>
                <a:latin typeface="Calibri"/>
              </a:rPr>
              <a:t>The finished presentation, and a short video excerpt for the opening</a:t>
            </a:r>
          </a:p>
        </p:txBody>
      </p:sp>
      <p:sp>
        <p:nvSpPr>
          <p:cNvPr id="31" name="Rectangle 30"/>
          <p:cNvSpPr/>
          <p:nvPr/>
        </p:nvSpPr>
        <p:spPr>
          <a:xfrm>
            <a:off x="2964615" y="5084064"/>
            <a:ext cx="82296" cy="1133856"/>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380590" y="5084064"/>
            <a:ext cx="307499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HOW TO RUN IT</a:t>
            </a:r>
          </a:p>
          <a:p>
            <a:pPr>
              <a:spcBef>
                <a:spcPts val="300"/>
              </a:spcBef>
            </a:pPr>
            <a:r>
              <a:rPr sz="950" b="0" i="0">
                <a:solidFill>
                  <a:srgbClr val="2A333B"/>
                </a:solidFill>
                <a:latin typeface="Calibri"/>
              </a:rPr>
              <a:t>Prototype the page structure in Canva and preview it in Teams so a colleague can comment before content goes in; cut a 20–40 second excerpt there. Then hand the approved prototype and the drafted content to genspark.ai. Rehearse once out loud.</a:t>
            </a:r>
          </a:p>
        </p:txBody>
      </p:sp>
      <p:sp>
        <p:nvSpPr>
          <p:cNvPr id="33" name="Rectangle 32"/>
          <p:cNvSpPr/>
          <p:nvPr/>
        </p:nvSpPr>
        <p:spPr>
          <a:xfrm>
            <a:off x="5380590" y="5084064"/>
            <a:ext cx="82296" cy="1133856"/>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565315" y="5084064"/>
            <a:ext cx="307499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000" b="1" i="0">
                <a:solidFill>
                  <a:srgbClr val="1C242B"/>
                </a:solidFill>
                <a:latin typeface="Cambria"/>
              </a:rPr>
              <a:t>WHY THIS TOOL, HERE</a:t>
            </a:r>
          </a:p>
          <a:p>
            <a:pPr>
              <a:spcBef>
                <a:spcPts val="300"/>
              </a:spcBef>
            </a:pPr>
            <a:r>
              <a:rPr sz="950" b="0" i="0">
                <a:solidFill>
                  <a:srgbClr val="2A333B"/>
                </a:solidFill>
                <a:latin typeface="Calibri"/>
              </a:rPr>
              <a:t>Separating structure from content is what stops a deck being rewritten twice. Both tools sit outside the institutional tenant, which is exactly why nothing that failed step 3's clearance goes into either.</a:t>
            </a:r>
          </a:p>
        </p:txBody>
      </p:sp>
      <p:sp>
        <p:nvSpPr>
          <p:cNvPr id="35" name="Rectangle 34"/>
          <p:cNvSpPr/>
          <p:nvPr/>
        </p:nvSpPr>
        <p:spPr>
          <a:xfrm>
            <a:off x="8565315" y="5084064"/>
            <a:ext cx="82296" cy="1133856"/>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The outcome, on the 7 Levels map</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88720"/>
            <a:ext cx="11091672" cy="365760"/>
          </a:xfrm>
          <a:prstGeom prst="rect">
            <a:avLst/>
          </a:prstGeom>
          <a:noFill/>
        </p:spPr>
        <p:txBody>
          <a:bodyPr wrap="square">
            <a:spAutoFit/>
          </a:bodyPr>
          <a:lstStyle/>
          <a:p>
            <a:pPr algn="l"/>
            <a:r>
              <a:rPr sz="1300" b="0" i="0">
                <a:solidFill>
                  <a:srgbClr val="6B747D"/>
                </a:solidFill>
                <a:latin typeface="Calibri"/>
              </a:rPr>
              <a:t>Three rows of the map from Lesson 1 — where last week left you, where this week puts you, and what the roadmap is the foundation of</a:t>
            </a:r>
          </a:p>
        </p:txBody>
      </p:sp>
      <p:sp>
        <p:nvSpPr>
          <p:cNvPr id="6" name="Rectangle 5"/>
          <p:cNvSpPr/>
          <p:nvPr/>
        </p:nvSpPr>
        <p:spPr>
          <a:xfrm>
            <a:off x="548640" y="1627632"/>
            <a:ext cx="566928" cy="96926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Cambria"/>
              </a:rPr>
              <a:t>2</a:t>
            </a:r>
          </a:p>
        </p:txBody>
      </p:sp>
      <p:sp>
        <p:nvSpPr>
          <p:cNvPr id="7" name="Rectangle 6"/>
          <p:cNvSpPr/>
          <p:nvPr/>
        </p:nvSpPr>
        <p:spPr>
          <a:xfrm>
            <a:off x="1280160" y="1627632"/>
            <a:ext cx="10360152" cy="96926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500" b="1" i="0">
                <a:solidFill>
                  <a:srgbClr val="1C242B"/>
                </a:solidFill>
                <a:latin typeface="Cambria"/>
              </a:rPr>
              <a:t>Level 2 · Prompt Crafter</a:t>
            </a:r>
            <a:r>
              <a:rPr sz="1300" b="0" i="0">
                <a:solidFill>
                  <a:srgbClr val="2A333B"/>
                </a:solidFill>
                <a:latin typeface="Calibri"/>
              </a:rPr>
              <a:t>  —  Structured prompts, examples, iteration.</a:t>
            </a:r>
          </a:p>
          <a:p>
            <a:r>
              <a:rPr sz="1200" b="1" i="0">
                <a:solidFill>
                  <a:srgbClr val="6B747D"/>
                </a:solidFill>
                <a:latin typeface="Calibri"/>
              </a:rPr>
              <a:t>Done — that was last week's assignment.</a:t>
            </a:r>
          </a:p>
        </p:txBody>
      </p:sp>
      <p:sp>
        <p:nvSpPr>
          <p:cNvPr id="8" name="Rectangle 7"/>
          <p:cNvSpPr/>
          <p:nvPr/>
        </p:nvSpPr>
        <p:spPr>
          <a:xfrm>
            <a:off x="1280160" y="1627632"/>
            <a:ext cx="82296" cy="96926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706624"/>
            <a:ext cx="566928" cy="969264"/>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Cambria"/>
              </a:rPr>
              <a:t>3</a:t>
            </a:r>
          </a:p>
        </p:txBody>
      </p:sp>
      <p:sp>
        <p:nvSpPr>
          <p:cNvPr id="10" name="Rectangle 9"/>
          <p:cNvSpPr/>
          <p:nvPr/>
        </p:nvSpPr>
        <p:spPr>
          <a:xfrm>
            <a:off x="1280160" y="2706624"/>
            <a:ext cx="10360152" cy="96926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500" b="1" i="0">
                <a:solidFill>
                  <a:srgbClr val="1C242B"/>
                </a:solidFill>
                <a:latin typeface="Cambria"/>
              </a:rPr>
              <a:t>Level 3 · Power User</a:t>
            </a:r>
            <a:r>
              <a:rPr sz="1300" b="0" i="0">
                <a:solidFill>
                  <a:srgbClr val="2A333B"/>
                </a:solidFill>
                <a:latin typeface="Calibri"/>
              </a:rPr>
              <a:t>  —  Persistent context: dedicated workspaces that already know your domain.</a:t>
            </a:r>
          </a:p>
          <a:p>
            <a:r>
              <a:rPr sz="1200" b="1" i="0">
                <a:solidFill>
                  <a:srgbClr val="1C242B"/>
                </a:solidFill>
                <a:latin typeface="Calibri"/>
              </a:rPr>
              <a:t>Reached this week — as soon as the Gem you saw built is your own, which is step 6 of the roadmap.</a:t>
            </a:r>
          </a:p>
        </p:txBody>
      </p:sp>
      <p:sp>
        <p:nvSpPr>
          <p:cNvPr id="11" name="Rectangle 10"/>
          <p:cNvSpPr/>
          <p:nvPr/>
        </p:nvSpPr>
        <p:spPr>
          <a:xfrm>
            <a:off x="1280160" y="2706624"/>
            <a:ext cx="82296" cy="969264"/>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785615"/>
            <a:ext cx="566928" cy="96926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Cambria"/>
              </a:rPr>
              <a:t>4</a:t>
            </a:r>
          </a:p>
        </p:txBody>
      </p:sp>
      <p:sp>
        <p:nvSpPr>
          <p:cNvPr id="13" name="Rectangle 12"/>
          <p:cNvSpPr/>
          <p:nvPr/>
        </p:nvSpPr>
        <p:spPr>
          <a:xfrm>
            <a:off x="1280160" y="3785615"/>
            <a:ext cx="10360152" cy="96926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82880" tIns="36576" bIns="36576"/>
          <a:lstStyle/>
          <a:p>
            <a:pPr algn="l"/>
            <a:r>
              <a:rPr sz="1500" b="1" i="0">
                <a:solidFill>
                  <a:srgbClr val="1C242B"/>
                </a:solidFill>
                <a:latin typeface="Cambria"/>
              </a:rPr>
              <a:t>Level 4 · Tool Orchestrator</a:t>
            </a:r>
            <a:r>
              <a:rPr sz="1300" b="0" i="0">
                <a:solidFill>
                  <a:srgbClr val="2A333B"/>
                </a:solidFill>
                <a:latin typeface="Calibri"/>
              </a:rPr>
              <a:t>  —  The right specialised tool per step: NotebookLM for documents, Perplexity for cited research.</a:t>
            </a:r>
          </a:p>
          <a:p>
            <a:r>
              <a:rPr sz="1200" b="1" i="0">
                <a:solidFill>
                  <a:srgbClr val="3E4C59"/>
                </a:solidFill>
                <a:latin typeface="Calibri"/>
              </a:rPr>
              <a:t>Founded, not yet reached — the roadmap is the orchestration written down; Lessons 3 and 4 hand you the specialised tools to put in it.</a:t>
            </a:r>
          </a:p>
        </p:txBody>
      </p:sp>
      <p:sp>
        <p:nvSpPr>
          <p:cNvPr id="14" name="Rectangle 13"/>
          <p:cNvSpPr/>
          <p:nvPr/>
        </p:nvSpPr>
        <p:spPr>
          <a:xfrm>
            <a:off x="1280160" y="3785615"/>
            <a:ext cx="82296" cy="96926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4956048"/>
            <a:ext cx="11091672" cy="859536"/>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2000" b="1" i="0">
                <a:solidFill>
                  <a:srgbClr val="FFFFFF"/>
                </a:solidFill>
                <a:latin typeface="Cambria"/>
              </a:rPr>
              <a:t>Level 3 achieved · foundation for Level 4 established</a:t>
            </a:r>
          </a:p>
          <a:p>
            <a:pPr algn="ctr">
              <a:spcBef>
                <a:spcPts val="600"/>
              </a:spcBef>
            </a:pPr>
            <a:r>
              <a:rPr sz="1300" b="0" i="0">
                <a:solidFill>
                  <a:srgbClr val="FFFFFF"/>
                </a:solidFill>
                <a:latin typeface="Calibri"/>
              </a:rPr>
              <a:t>A persistent, domain-aware workspace — and the right tool per step, chained.</a:t>
            </a:r>
          </a:p>
        </p:txBody>
      </p:sp>
      <p:sp>
        <p:nvSpPr>
          <p:cNvPr id="16" name="TextBox 15"/>
          <p:cNvSpPr txBox="1"/>
          <p:nvPr/>
        </p:nvSpPr>
        <p:spPr>
          <a:xfrm>
            <a:off x="548640" y="5907024"/>
            <a:ext cx="11091672" cy="365760"/>
          </a:xfrm>
          <a:prstGeom prst="rect">
            <a:avLst/>
          </a:prstGeom>
          <a:noFill/>
        </p:spPr>
        <p:txBody>
          <a:bodyPr wrap="square">
            <a:spAutoFit/>
          </a:bodyPr>
          <a:lstStyle/>
          <a:p>
            <a:pPr algn="l"/>
            <a:r>
              <a:rPr sz="1150" b="0" i="1">
                <a:solidFill>
                  <a:srgbClr val="6B747D"/>
                </a:solidFill>
                <a:latin typeface="Calibri"/>
              </a:rPr>
              <a:t>Nobody reaches a level by owning a tool. Level 3 is a workspace you work inside; Level 4 is a chain you can justify.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Effort and where the work is shown</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52144"/>
            <a:ext cx="11091672" cy="365760"/>
          </a:xfrm>
          <a:prstGeom prst="rect">
            <a:avLst/>
          </a:prstGeom>
          <a:noFill/>
        </p:spPr>
        <p:txBody>
          <a:bodyPr wrap="square">
            <a:spAutoFit/>
          </a:bodyPr>
          <a:lstStyle/>
          <a:p>
            <a:pPr algn="l"/>
            <a:r>
              <a:rPr sz="1300" b="0" i="0">
                <a:solidFill>
                  <a:srgbClr val="6B747D"/>
                </a:solidFill>
                <a:latin typeface="Calibri"/>
              </a:rPr>
              <a:t>Two weeks, the blueprint first — and two places where the work gets looked at</a:t>
            </a:r>
          </a:p>
        </p:txBody>
      </p:sp>
      <p:sp>
        <p:nvSpPr>
          <p:cNvPr id="6" name="Rectangle 5"/>
          <p:cNvSpPr/>
          <p:nvPr/>
        </p:nvSpPr>
        <p:spPr>
          <a:xfrm>
            <a:off x="548640" y="1481328"/>
            <a:ext cx="5440680" cy="138988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146304"/>
          <a:lstStyle/>
          <a:p>
            <a:pPr algn="l"/>
            <a:r>
              <a:rPr sz="1800" b="1" i="0">
                <a:solidFill>
                  <a:srgbClr val="1C242B"/>
                </a:solidFill>
                <a:latin typeface="Cambria"/>
              </a:rPr>
              <a:t>3–4 hours across the two weeks</a:t>
            </a:r>
          </a:p>
          <a:p>
            <a:pPr algn="l">
              <a:spcBef>
                <a:spcPts val="400"/>
              </a:spcBef>
            </a:pPr>
            <a:r>
              <a:rPr sz="1400" b="0" i="0">
                <a:solidFill>
                  <a:srgbClr val="2A333B"/>
                </a:solidFill>
                <a:latin typeface="Calibri"/>
              </a:rPr>
              <a:t>The blueprint first, then the presentation. Nine steps is the roadmap's shape, not a quota — merge two or drop one, and spend what you saved on the justification. Twenty minutes at a time beats one long Sunday.</a:t>
            </a:r>
          </a:p>
        </p:txBody>
      </p:sp>
      <p:sp>
        <p:nvSpPr>
          <p:cNvPr id="7" name="Rectangle 6"/>
          <p:cNvSpPr/>
          <p:nvPr/>
        </p:nvSpPr>
        <p:spPr>
          <a:xfrm>
            <a:off x="548640" y="1481328"/>
            <a:ext cx="82296" cy="138988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99632" y="1481328"/>
            <a:ext cx="5440680" cy="138988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146304"/>
          <a:lstStyle/>
          <a:p>
            <a:pPr algn="l"/>
            <a:r>
              <a:rPr sz="1800" b="1" i="0">
                <a:solidFill>
                  <a:srgbClr val="1C242B"/>
                </a:solidFill>
                <a:latin typeface="Cambria"/>
              </a:rPr>
              <a:t>Where the work is shown</a:t>
            </a:r>
          </a:p>
          <a:p>
            <a:pPr>
              <a:spcBef>
                <a:spcPts val="500"/>
              </a:spcBef>
            </a:pPr>
            <a:r>
              <a:rPr sz="1250" b="0" i="0">
                <a:solidFill>
                  <a:srgbClr val="2A333B"/>
                </a:solidFill>
                <a:latin typeface="Calibri"/>
              </a:rPr>
              <a:t>·  Practice Week 1's drop-in (W3) — troubleshooting a half-built chain</a:t>
            </a:r>
          </a:p>
          <a:p>
            <a:pPr>
              <a:spcBef>
                <a:spcPts val="500"/>
              </a:spcBef>
            </a:pPr>
            <a:r>
              <a:rPr sz="1250" b="0" i="0">
                <a:solidFill>
                  <a:srgbClr val="2A333B"/>
                </a:solidFill>
                <a:latin typeface="Calibri"/>
              </a:rPr>
              <a:t>·  The Lesson 3 debrief (W4) — 2–3 volunteers present blueprint and presentation</a:t>
            </a:r>
          </a:p>
        </p:txBody>
      </p:sp>
      <p:sp>
        <p:nvSpPr>
          <p:cNvPr id="9" name="Rectangle 8"/>
          <p:cNvSpPr/>
          <p:nvPr/>
        </p:nvSpPr>
        <p:spPr>
          <a:xfrm>
            <a:off x="6199632" y="1481328"/>
            <a:ext cx="82296" cy="138988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035808"/>
            <a:ext cx="11091672" cy="365760"/>
          </a:xfrm>
          <a:prstGeom prst="rect">
            <a:avLst/>
          </a:prstGeom>
          <a:noFill/>
        </p:spPr>
        <p:txBody>
          <a:bodyPr wrap="square">
            <a:spAutoFit/>
          </a:bodyPr>
          <a:lstStyle/>
          <a:p>
            <a:pPr algn="l"/>
            <a:r>
              <a:rPr sz="1100" b="0" i="0">
                <a:solidFill>
                  <a:srgbClr val="6B747D"/>
                </a:solidFill>
                <a:latin typeface="Calibri"/>
              </a:rPr>
              <a:t>What “done” looks like</a:t>
            </a:r>
          </a:p>
        </p:txBody>
      </p:sp>
      <p:sp>
        <p:nvSpPr>
          <p:cNvPr id="11" name="Rectangle 10"/>
          <p:cNvSpPr/>
          <p:nvPr/>
        </p:nvSpPr>
        <p:spPr>
          <a:xfrm>
            <a:off x="548640" y="3310128"/>
            <a:ext cx="3557016" cy="138988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A blueprint with reasons in it</a:t>
            </a:r>
          </a:p>
          <a:p>
            <a:pPr>
              <a:spcBef>
                <a:spcPts val="300"/>
              </a:spcBef>
            </a:pPr>
            <a:r>
              <a:rPr sz="1150" b="0" i="0">
                <a:solidFill>
                  <a:srgbClr val="2A333B"/>
                </a:solidFill>
                <a:latin typeface="Calibri"/>
              </a:rPr>
              <a:t>Every row carries a justification — and the chain is drawn, not just listed. A row whose WHY is “because it was on the slide” is not done.</a:t>
            </a:r>
          </a:p>
        </p:txBody>
      </p:sp>
      <p:sp>
        <p:nvSpPr>
          <p:cNvPr id="12" name="Rectangle 11"/>
          <p:cNvSpPr/>
          <p:nvPr/>
        </p:nvSpPr>
        <p:spPr>
          <a:xfrm>
            <a:off x="548640" y="3310128"/>
            <a:ext cx="82296" cy="138988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3310128"/>
            <a:ext cx="3557016" cy="138988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A presentation that teaches</a:t>
            </a:r>
          </a:p>
          <a:p>
            <a:pPr>
              <a:spcBef>
                <a:spcPts val="300"/>
              </a:spcBef>
            </a:pPr>
            <a:r>
              <a:rPr sz="1150" b="0" i="0">
                <a:solidFill>
                  <a:srgbClr val="2A333B"/>
                </a:solidFill>
                <a:latin typeface="Calibri"/>
              </a:rPr>
              <a:t>It serves three stated learning outcomes and carries the practice material from step 8 — an explanation, flashcards and a quiz.</a:t>
            </a:r>
          </a:p>
        </p:txBody>
      </p:sp>
      <p:sp>
        <p:nvSpPr>
          <p:cNvPr id="14" name="Rectangle 13"/>
          <p:cNvSpPr/>
          <p:nvPr/>
        </p:nvSpPr>
        <p:spPr>
          <a:xfrm>
            <a:off x="4315968" y="3310128"/>
            <a:ext cx="82296" cy="138988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83296" y="3310128"/>
            <a:ext cx="3557016" cy="138988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182880" tIns="128016" bIns="36576"/>
          <a:lstStyle/>
          <a:p>
            <a:pPr algn="l"/>
            <a:r>
              <a:rPr sz="1300" b="1" i="0">
                <a:solidFill>
                  <a:srgbClr val="1C242B"/>
                </a:solidFill>
                <a:latin typeface="Cambria"/>
              </a:rPr>
              <a:t>An AI-use log</a:t>
            </a:r>
          </a:p>
          <a:p>
            <a:pPr>
              <a:spcBef>
                <a:spcPts val="300"/>
              </a:spcBef>
            </a:pPr>
            <a:r>
              <a:rPr sz="1150" b="0" i="0">
                <a:solidFill>
                  <a:srgbClr val="2A333B"/>
                </a:solidFill>
                <a:latin typeface="Calibri"/>
              </a:rPr>
              <a:t>Tool, date and purpose per step, ending up as the declaration on the presentation's last slide.</a:t>
            </a:r>
          </a:p>
        </p:txBody>
      </p:sp>
      <p:sp>
        <p:nvSpPr>
          <p:cNvPr id="16" name="Rectangle 15"/>
          <p:cNvSpPr/>
          <p:nvPr/>
        </p:nvSpPr>
        <p:spPr>
          <a:xfrm>
            <a:off x="8083296" y="3310128"/>
            <a:ext cx="82296" cy="138988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901184"/>
            <a:ext cx="11091672" cy="786384"/>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900" b="1" i="0">
                <a:solidFill>
                  <a:srgbClr val="FFFFFF"/>
                </a:solidFill>
                <a:latin typeface="Cambria"/>
              </a:rPr>
              <a:t>A chain does not inherit a lane from its first step</a:t>
            </a:r>
          </a:p>
          <a:p>
            <a:pPr algn="ctr">
              <a:spcBef>
                <a:spcPts val="600"/>
              </a:spcBef>
            </a:pPr>
            <a:r>
              <a:rPr sz="1300" b="0" i="0">
                <a:solidFill>
                  <a:srgbClr val="FFFFFF"/>
                </a:solidFill>
                <a:latin typeface="Calibri"/>
              </a:rPr>
              <a:t>Every step is routed on its own — and nothing that failed step 3's clearance goes into Canva or genspark.ai.</a:t>
            </a:r>
          </a:p>
        </p:txBody>
      </p:sp>
      <p:sp>
        <p:nvSpPr>
          <p:cNvPr id="18" name="TextBox 17"/>
          <p:cNvSpPr txBox="1"/>
          <p:nvPr/>
        </p:nvSpPr>
        <p:spPr>
          <a:xfrm>
            <a:off x="548640" y="5833872"/>
            <a:ext cx="11091672" cy="365760"/>
          </a:xfrm>
          <a:prstGeom prst="rect">
            <a:avLst/>
          </a:prstGeom>
          <a:noFill/>
        </p:spPr>
        <p:txBody>
          <a:bodyPr wrap="square">
            <a:spAutoFit/>
          </a:bodyPr>
          <a:lstStyle/>
          <a:p>
            <a:pPr algn="ctr"/>
            <a:r>
              <a:rPr sz="1150" b="0" i="1">
                <a:solidFill>
                  <a:srgbClr val="6B747D"/>
                </a:solidFill>
                <a:latin typeface="Calibri"/>
              </a:rPr>
              <a:t>Stuck on a step? That is what Practice Week 1's drop-in is for — bring the blueprint even if nothing runs yet.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Next: Practice Week 1 and Lesson 3</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88720"/>
            <a:ext cx="11091672" cy="365760"/>
          </a:xfrm>
          <a:prstGeom prst="rect">
            <a:avLst/>
          </a:prstGeom>
          <a:noFill/>
        </p:spPr>
        <p:txBody>
          <a:bodyPr wrap="square">
            <a:spAutoFit/>
          </a:bodyPr>
          <a:lstStyle/>
          <a:p>
            <a:pPr algn="l"/>
            <a:r>
              <a:rPr sz="1300" b="0" i="0">
                <a:solidFill>
                  <a:srgbClr val="6B747D"/>
                </a:solidFill>
                <a:latin typeface="Calibri"/>
              </a:rPr>
              <a:t>No new material next week. The week after, the first piece of the system this course is building</a:t>
            </a:r>
          </a:p>
        </p:txBody>
      </p:sp>
      <p:sp>
        <p:nvSpPr>
          <p:cNvPr id="6" name="Rectangle 5"/>
          <p:cNvSpPr/>
          <p:nvPr/>
        </p:nvSpPr>
        <p:spPr>
          <a:xfrm>
            <a:off x="548640" y="1700784"/>
            <a:ext cx="5440680" cy="182880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164592"/>
          <a:lstStyle/>
          <a:p>
            <a:pPr algn="l"/>
            <a:r>
              <a:rPr sz="1800" b="1" i="0">
                <a:solidFill>
                  <a:srgbClr val="1C242B"/>
                </a:solidFill>
                <a:latin typeface="Cambria"/>
              </a:rPr>
              <a:t>Practice Week 1 · W3</a:t>
            </a:r>
          </a:p>
          <a:p>
            <a:pPr>
              <a:spcBef>
                <a:spcPts val="500"/>
              </a:spcBef>
            </a:pPr>
            <a:r>
              <a:rPr sz="1300" b="0" i="0">
                <a:solidFill>
                  <a:srgbClr val="2A333B"/>
                </a:solidFill>
                <a:latin typeface="Calibri"/>
              </a:rPr>
              <a:t>·  An optional, facilitated drop-in — no new material, and no obligation to come</a:t>
            </a:r>
          </a:p>
          <a:p>
            <a:pPr>
              <a:spcBef>
                <a:spcPts val="500"/>
              </a:spcBef>
            </a:pPr>
            <a:r>
              <a:rPr sz="1300" b="0" i="0">
                <a:solidFill>
                  <a:srgbClr val="2A333B"/>
                </a:solidFill>
                <a:latin typeface="Calibri"/>
              </a:rPr>
              <a:t>·  Bring the blueprint and the lane questions it raised</a:t>
            </a:r>
          </a:p>
          <a:p>
            <a:pPr>
              <a:spcBef>
                <a:spcPts val="500"/>
              </a:spcBef>
            </a:pPr>
            <a:r>
              <a:rPr sz="1300" b="0" i="0">
                <a:solidFill>
                  <a:srgbClr val="2A333B"/>
                </a:solidFill>
                <a:latin typeface="Calibri"/>
              </a:rPr>
              <a:t>·  Bring any Gemini free-tier surprise you hit — that is what the hour is for</a:t>
            </a:r>
          </a:p>
        </p:txBody>
      </p:sp>
      <p:sp>
        <p:nvSpPr>
          <p:cNvPr id="7" name="Rectangle 6"/>
          <p:cNvSpPr/>
          <p:nvPr/>
        </p:nvSpPr>
        <p:spPr>
          <a:xfrm>
            <a:off x="548640" y="1700784"/>
            <a:ext cx="82296" cy="18288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99632" y="1700784"/>
            <a:ext cx="5440680" cy="182880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28600" tIns="164592"/>
          <a:lstStyle/>
          <a:p>
            <a:pPr algn="l"/>
            <a:r>
              <a:rPr sz="1800" b="1" i="0">
                <a:solidFill>
                  <a:srgbClr val="1C242B"/>
                </a:solidFill>
                <a:latin typeface="Cambria"/>
              </a:rPr>
              <a:t>Lesson 3 · W4</a:t>
            </a:r>
          </a:p>
          <a:p>
            <a:pPr>
              <a:spcBef>
                <a:spcPts val="500"/>
              </a:spcBef>
            </a:pPr>
            <a:r>
              <a:rPr sz="1300" b="0" i="0">
                <a:solidFill>
                  <a:srgbClr val="2A333B"/>
                </a:solidFill>
                <a:latin typeface="Calibri"/>
              </a:rPr>
              <a:t>·  NotebookLM properly, not at scenario level</a:t>
            </a:r>
          </a:p>
          <a:p>
            <a:pPr>
              <a:spcBef>
                <a:spcPts val="500"/>
              </a:spcBef>
            </a:pPr>
            <a:r>
              <a:rPr sz="1300" b="0" i="0">
                <a:solidFill>
                  <a:srgbClr val="2A333B"/>
                </a:solidFill>
                <a:latin typeface="Calibri"/>
              </a:rPr>
              <a:t>·  Perplexity for cited research you can trace back to a source</a:t>
            </a:r>
          </a:p>
          <a:p>
            <a:pPr>
              <a:spcBef>
                <a:spcPts val="500"/>
              </a:spcBef>
            </a:pPr>
            <a:r>
              <a:rPr sz="1300" b="0" i="0">
                <a:solidFill>
                  <a:srgbClr val="2A333B"/>
                </a:solidFill>
                <a:latin typeface="Calibri"/>
              </a:rPr>
              <a:t>·  The Wiki Sandbox — the first piece of your KM System, and what the rest of the course is built on</a:t>
            </a:r>
          </a:p>
        </p:txBody>
      </p:sp>
      <p:sp>
        <p:nvSpPr>
          <p:cNvPr id="9" name="Rectangle 8"/>
          <p:cNvSpPr/>
          <p:nvPr/>
        </p:nvSpPr>
        <p:spPr>
          <a:xfrm>
            <a:off x="6199632" y="1700784"/>
            <a:ext cx="82296" cy="18288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4069080"/>
            <a:ext cx="11091672" cy="969264"/>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2100" b="1" i="0">
                <a:solidFill>
                  <a:srgbClr val="FFFFFF"/>
                </a:solidFill>
                <a:latin typeface="Cambria"/>
              </a:rPr>
              <a:t>A workflow you can justify, step by step</a:t>
            </a:r>
          </a:p>
          <a:p>
            <a:pPr algn="ctr">
              <a:spcBef>
                <a:spcPts val="600"/>
              </a:spcBef>
            </a:pPr>
            <a:r>
              <a:rPr sz="1300" b="0" i="0">
                <a:solidFill>
                  <a:srgbClr val="FFFFFF"/>
                </a:solidFill>
                <a:latin typeface="Calibri"/>
              </a:rPr>
              <a:t>Bring the blueprint to the drop-in, and the whole chain to the Lesson 3 debrief.</a:t>
            </a:r>
          </a:p>
        </p:txBody>
      </p:sp>
      <p:sp>
        <p:nvSpPr>
          <p:cNvPr id="11" name="TextBox 10"/>
          <p:cNvSpPr txBox="1"/>
          <p:nvPr/>
        </p:nvSpPr>
        <p:spPr>
          <a:xfrm>
            <a:off x="548640" y="5303520"/>
            <a:ext cx="11091672" cy="365760"/>
          </a:xfrm>
          <a:prstGeom prst="rect">
            <a:avLst/>
          </a:prstGeom>
          <a:noFill/>
        </p:spPr>
        <p:txBody>
          <a:bodyPr wrap="square">
            <a:spAutoFit/>
          </a:bodyPr>
          <a:lstStyle/>
          <a:p>
            <a:pPr algn="ctr"/>
            <a:r>
              <a:rPr sz="1300" b="0" i="1">
                <a:solidFill>
                  <a:srgbClr val="6B747D"/>
                </a:solidFill>
                <a:latin typeface="Calibri"/>
              </a:rPr>
              <a:t>Questions now — the roadmap stays up.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C242B"/>
      </a:dk2>
      <a:lt2>
        <a:srgbClr val="EEECE1"/>
      </a:lt2>
      <a:accent1>
        <a:srgbClr val="0E7C7B"/>
      </a:accent1>
      <a:accent2>
        <a:srgbClr val="6A4CBC"/>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