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 Open the session here — but set the tone in the first sentence: the point of these numbers is not fear. The Tufts Digital Planet research maps where AI lands in the US labor market, and it lands exactly on administrative and knowledge work — our kind of work. 9.3 million US jobs at risk under the median AI-adoption scenario (the honest range across scenarios is 2.7 to 19.5 million), representing 757 billion dollars in annual income.</a:t>
            </a:r>
          </a:p>
          <a:p/>
          <a:p>
            <a:r>
              <a:t>Then drop to the two panels — this is the part that lands. The three most vulnerable occupations of the 784 analyzed are Writers and Authors at 57%, Computer Programmers at 55%, and Web and Digital Interface Designers at 55%. Writing, coding, design: all desk work, all of it work we would have called creative or highly skilled.</a:t>
            </a:r>
          </a:p>
          <a:p/>
          <a:p>
            <a:r>
              <a:t>The other end of the ranking is the punchline. Foundry mould makers, vehicle cleaners, dishwashers — 0% predicted job loss. The whole tail sits at zero: 311 of the 784 occupations come out at 0%. If the work is physical, this wave does not touch it. If the work arrives as text on a screen, it does.</a:t>
            </a:r>
          </a:p>
          <a:p/>
          <a:p>
            <a:r>
              <a:t>Do not let anyone read this as 'programmers are doomed'. Read it as: exposure follows the task, not the job title. Hold that thought — it is the argument of the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Walk the bars top-down: Information 18%, Finance and Insurance 16%, Professional Services 16% — against a 6% all-industry average. Three times the average, and all three are knowledge-work sectors.</a:t>
            </a:r>
          </a:p>
          <a:p/>
          <a:p>
            <a:r>
              <a:t>Land the reversal: for decades, automation threatened manual and routine work while analytical office jobs were the 'safe' ones. This research says the opposite is now true — high-skill, analytical, office-based occupations face the steepest exposure. Research management sits in exactly this category; say so, but save the full framing for the thesis slide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This is the slide the whole opening builds to, and it is built to be taught in three moves — claim, evidence, consequence. Do not read it all at once.</a:t>
            </a:r>
          </a:p>
          <a:p/>
          <a:p>
            <a:r>
              <a:t>1. THE CLAIM (left, top-down). The naive expectation is that AI-helps and AI-replaces are two different lists of jobs. The research found they are one list: the occupations with the highest augmentation potential also carry the highest displacement risk. Say it before showing why it is true.</a:t>
            </a:r>
          </a:p>
          <a:p/>
          <a:p>
            <a:r>
              <a:t>2. THE EVIDENCE (right). Now turn to the chart and show that this is measured, not asserted. Give the axes first — across is how much AI augments the job's tasks, up is predicted job loss — then let the shape do the work: if the two were unrelated, the cloud would be shapeless; instead it climbs a diagonal. Point at two named dots and let the room read them aloud: Writers and Authors, Computer Programmers, top right — most augmented and most displaced. Then the flat blue band along the bottom: physical work, barely augmented and barely displaced. Ninety seconds, no more.</a:t>
            </a:r>
          </a:p>
          <a:p/>
          <a:p>
            <a:r>
              <a:t>3. THE CONSEQUENCE (the quote). Read it out loud, then pause and let it sit — this is the uncomfortable moment of the opening and it should feel that way. Then plant the question the next slide answers: if being helped by AI makes you expendable, what makes the difference between at-risk and empowered? Do not answer it here — the turn is the whole point of the course.</a:t>
            </a:r>
          </a:p>
          <a:p/>
          <a:p>
            <a:r>
              <a:t>If the room is quiet, ask where they would put their own job on the chart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including a beat for questions. Answer the question the quote raised: displacement risk attaches to people who let AI do their job for them at a shallow level. People who move up the skill curve — who direct AI, verify it, and build systems with it — become more valuable, not less. That is the course thesis, and the reason this course exists.</a:t>
            </a:r>
          </a:p>
          <a:p/>
          <a:p>
            <a:r>
              <a:t>Then make it personal for this audience: research management is administrative, analytical knowledge work — squarely in the exposed zone, which is precisely why learning this well matters now. Keep the register matter-of-fact, not alarmist: the numbers were the diagnosis, the course is the response.</a:t>
            </a:r>
          </a:p>
          <a:p/>
          <a:p>
            <a:r>
              <a:t>Bridge to Segment 2: 'so let's start by understanding the tool itself — what these models actually are, and why they behave so strangely.'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Framing for the whole course: AI is powerful — but weird (the framing follows aihero.dev/llm-fundamentals, which this segment tracks). Everyone's first weeks with these tools produce both amazement and bafflement; this segment explains the bafflement. Promise the group: no mathematics, no engineering — just the mental model practitioners actually use.</a:t>
            </a:r>
          </a:p>
          <a:p/>
          <a:p>
            <a:r>
              <a:t>When the slide says 'quirks', these are the quirks, by name:</a:t>
            </a:r>
          </a:p>
          <a:p>
            <a:r>
              <a:t>1. It doesn't see words. Text is chopped into numbered tokens — that is why letter-counting and word games fail (next slide).</a:t>
            </a:r>
          </a:p>
          <a:p>
            <a:r>
              <a:t>2. Its working memory is finite. The context window has a hard token limit; long chats silently drop their oldest turns, and even inside the window the middle gets neglected.</a:t>
            </a:r>
          </a:p>
          <a:p>
            <a:r>
              <a:t>3. Every chat sits under a hidden system prompt that shapes — and when they conflict, usually overrides — what you ask for.</a:t>
            </a:r>
          </a:p>
          <a:p>
            <a:r>
              <a:t>4. Some models spend hidden 'reasoning' tokens thinking before they answer — you wait for, and pay for, text you never see.</a:t>
            </a:r>
          </a:p>
          <a:p>
            <a:r>
              <a:t>5. It predicts plausible text, not verified truth — hallucination.</a:t>
            </a:r>
          </a:p>
          <a:p>
            <a:r>
              <a:t>6. It would rather agree with you than correct you — sycophancy.</a:t>
            </a:r>
          </a:p>
          <a:p>
            <a:r>
              <a:t>7. Its knowledge stops at a training cutoff date.</a:t>
            </a:r>
          </a:p>
          <a:p>
            <a:r>
              <a:t>8. Same question, different answers — output is sampled, not looked up, so variation between runs is normal, not an error.</a:t>
            </a:r>
          </a:p>
          <a:p>
            <a:r>
              <a:t>9. It remembers nothing between conversations — each chat starts blank unless the tool itself replays context back in.</a:t>
            </a:r>
          </a:p>
          <a:p/>
          <a:p>
            <a:r>
              <a:t>Quirks 1–7 each get a slide in this segment; say 8 and 9 out loud here since no slide carries them. Everything gets lived out in later lessons; today is the map, not the training.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This slide and the next follow aihero.dev/what-is-an-llm. The demystifying move: when people hear 'artificial intelligence' they imagine something like a mind, or at least a database. The reality is stranger and simpler — an LLM is one enormous file of numbers. Nothing else is in there: no rules written by engineers, no stored answers, no pages to look things up in.</a:t>
            </a:r>
          </a:p>
          <a:p/>
          <a:p>
            <a:r>
              <a:t>Walk the picture left to right: the arrows are your words coming in; each circle is a tiny dial holding one number; the lines show which dials feed which. Your words enter as numbers, ripple through the layers of dials — each one nudging the signal a little — and out the right side comes a single guess: the most plausible next word. Then the whole thing runs again for the word after that, one word at a time, until the answer is done. When you watch a chatbot 'type', you are watching this loop spin.</a:t>
            </a:r>
          </a:p>
          <a:p/>
          <a:p>
            <a:r>
              <a:t>Two scale corrections to say out loud: the picture shows a few dozen dials — real models have hundreds of billions; same idea, unimaginably bigger. And for all that, the file is surprisingly small: roughly 140 GB for a big model — it fits on a laptop. Getting answers out of the file is cheap; setting the dials in the first place is the expensive part — that is the next slide.</a:t>
            </a:r>
          </a:p>
          <a:p/>
          <a:p>
            <a:r>
              <a:t>If someone asks why the same question gives different answers on different runs: the next word is drawn with a little deliberate chance, not always the single top guess — quirk 8 from the previous slide, working as designed.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Where do the numbers come from? Two phases — and the split explains a lot of the behavior later in this segment (source: aihero.dev/what-is-an-llm).</a:t>
            </a:r>
          </a:p>
          <a:p/>
          <a:p>
            <a:r>
              <a:t>Phase 1, pre-training: the network plays guess-the-next-word against a huge slice of the internet — roughly 10,000 GB of text — for trillions of rounds, and every wrong guess nudges the dials a little. The factory numbers are worth savoring: thousands of specialised computers running for weeks, a bill in the millions of dollars — and the output is that one 140 GB file. Ten thousand gigabytes squeezed into a hundred and forty: a library packed into a suitcase. The squeeze is the point — the patterns survive, the pages do not. It cannot quote its reading back; it can only re-create things that sound like it.</a:t>
            </a:r>
          </a:p>
          <a:p/>
          <a:p>
            <a:r>
              <a:t>Phase 2, post-training: a far shorter, cheaper phase where people teach the network how to behave — answer questions, follow instructions, decline nonsense, sound like an assistant. Without it, the article's phrase is apt: you would have an 'inert blob of knowledge' that can only continue whatever text you start, not converse.</a:t>
            </a:r>
          </a:p>
          <a:p/>
          <a:p>
            <a:r>
              <a:t>Land the two consequences before moving on: (1) patterns-not-pages is why it can sound confident and still misremember — hallucination, which gets its own slide in a few minutes; (2) the file was written once, at a moment in time — which is why its knowledge simply stops at a cutoff date. Then on to the four-layer stack.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the context slide for the whole segment — the frame everything else in Segment 2 hangs on. Read the stack bottom-up: the prompt is one message; context is everything in the window around that message; the harness is the standing setup (an agent's instructions, its tools, its output format); the loop is the model running itself until a job is done. Each layer wraps the one below, so the skills accumulate — nobody skips to the top.</a:t>
            </a:r>
          </a:p>
          <a:p/>
          <a:p>
            <a:r>
              <a:t>WHAT THIS COURSE COVERS:</a:t>
            </a:r>
          </a:p>
          <a:p>
            <a:r>
              <a:t>• Prompt engineering — fully, starting today: Segment 3's ICC structure, meta-prompting, and the four patterns, then applied hands-on in Lesson 2.</a:t>
            </a:r>
          </a:p>
          <a:p>
            <a:r>
              <a:t>• Context engineering — the practical half of it. The next four slides (tokens, the context window, what fills it, system prompts) are exactly this layer's mechanics; Lesson 3 adds source-grounded tools (NotebookLM, Perplexity); Lessons 3–4 turn the Wiki Sandbox and Personal Vault into durable context you reuse every week.</a:t>
            </a:r>
          </a:p>
          <a:p>
            <a:r>
              <a:t>• Harness engineering — one hands-on slice, in Lesson 5. Writing a custom agent's instructions in Agent Builder is writing a system prompt; the Markdown Generator is the worked example. Still no code.</a:t>
            </a:r>
          </a:p>
          <a:p/>
          <a:p>
            <a:r>
              <a:t>WHAT IT DOES NOT COVER:</a:t>
            </a:r>
          </a:p>
          <a:p>
            <a:r>
              <a:t>• Loop engineering, entirely — unattended multi-step agents, agent frameworks, orchestration platforms, coding agents. That is Level 6–7 on the map two slides from now: named for perspective, not taught. Anyone who wants it needs an engineering course, not this one.</a:t>
            </a:r>
          </a:p>
          <a:p>
            <a:r>
              <a:t>• The engineering interior of the layers we do teach: retrieval pipelines and vector stores, API and token-budget work, automated evaluation of outputs — anything that requires code.</a:t>
            </a:r>
          </a:p>
          <a:p>
            <a:r>
              <a:t>• Vibe coding itself — the one-sentence aside on the 7 Levels slide is all it gets.</a:t>
            </a:r>
          </a:p>
          <a:p/>
          <a:p>
            <a:r>
              <a:t>The bottom contrast, said plainly: vibe coding and agentic engineering can run on the same tools. The difference is discipline — one describes, accepts, and judges the result; the other engineers each layer and checks every lap. This course teaches the second habit from Level 2 upward even though it stops short of the top layer. Do not debate the terms; land the distinction, then move on to tokens.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Key move: replace 'it reads my words' with 'it reads numbered fragments'. The two rows make the point as a contrast: 'O Happy Day!' is all common words, so every word survives as one token — while 'Frabjous' (Lewis Carroll's Jabberwocky) is rare, so it shatters into four pieces and a shorter-looking phrase costs almost twice the tokens. Both chip splits match real GPT tokenizer output (leading spaces omitted for display).</a:t>
            </a:r>
          </a:p>
          <a:p/>
          <a:p>
            <a:r>
              <a:t>LIVE DEMO (1 min): switch to tiktokenizer.vercel.app. Paste a plain sentence first (mostly one token per word), then 'O Frabjous Day!', then something with a long Hungarian compound word — watch it shatter. Point at the token count. Takeaway: this count is what you pay in usage limits and what fills the context window —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working-memory analogy carries the slide: the window is finite, and even inside it, attention is uneven. If you have ever had a chatbot 'forget' an instruction from twenty messages ago — this is why, not a malfunction.</a:t>
            </a:r>
          </a:p>
          <a:p/>
          <a:p>
            <a:r>
              <a:t>Land the two rules; they are the practical payoff. Forward reference: this limit is exactly why Lesson 3's source-grounded tools (NotebookLM) exist — instead of dumping documents into a chat, you give a tool a fixed set of sources and it answers only from those.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the whole-picture slide for the window. Left half: at the moment of answering, everything the model knows arrives through the window — the system prompt, your message, the replayed chat history, profile/memory the tool injects, tool results, pasted documents. There is no other channel; if it is not in the window, it does not exist for the model.</a:t>
            </a:r>
          </a:p>
          <a:p/>
          <a:p>
            <a:r>
              <a:t>Right half: the same window over time. The chat history is replayed into the window on every turn, so the conversation keeps growing — and once it exceeds the limit, the oldest turns fall out silently. That is the mechanical reason behind the previous slide's Rule 1 (start fresh per task): a fresh chat is a window containing only what matters.</a:t>
            </a:r>
          </a:p>
          <a:p/>
          <a:p>
            <a:r>
              <a:t>Diagrams adapted from timwappat.info's context-window timeline and a standard LLM input-funnel diagram, redrawn in the deck's visual language.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Walk the conversation top-down: the system message was written by the tool's maker before the user ever typed — here it says 'respond only in morse code'. The user says hello; the reply comes back in morse (it spells HELLO). The user explicitly says stop — and the model answers '-. ---': morse for NO. The standing instruction outranks the user on every single turn. That is why the same question behaves differently in Gemini vs. Copilot: different hidden system prompts, same underlying models' behavior shaped differently.</a:t>
            </a:r>
          </a:p>
          <a:p/>
          <a:p>
            <a:r>
              <a:t>Forward reference (say it explicitly): in Lesson 5 you write the system prompt yourself — a custom agent's 'instructions' box is nothing more than this. Demystify it now, harvest it later.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This is the quirk behind the pause: reasoning models draft a hidden 'thinking' section first, then the visible answer — both are parts of one assistant message, and both are tokens. Practical consequences, briskly: the pause before good answers is this drafting pass; thinking modes cost more time (and, on paid plans, more usage) than quick modes; and for simple lookups a fast non-reasoning mode is often the better pick. In Gemini, 'Thinking' vs. the default model is exactly this switch — participants will meet it during the demos.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three failure modes, briskly — each will bite someone in the cohort within weeks, so name them now. Hallucination: the model optimizes for plausible, not true; fabricated regulation numbers and citations look exactly like real ones. Sycophancy: it mirrors your framing — if you sound sure, it agrees; make it argue against you. Cutoff: this year's work programme may simply not exist for the model; Lesson 3 brings Perplexity for anything that needs current, cited sources.</a:t>
            </a:r>
          </a:p>
          <a:p/>
          <a:p>
            <a:r>
              <a:t>Close on the rule and let it land: verify anything you would sign your name to. This rule returns in every later lesson.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foreshadowing only — do not dwell or demo. The point is that 'chatbot' is not the ceiling: tools let the model act, and an agent is just a model in a loop with tools. Plant the flag for Lesson 5 (participants build their first agent there — the custom agent that feeds their knowledge system) and move straight into the 7 Levels map, where levels 5–6 put this on the course arc.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Say the three principles out loud — they set the tone for the whole course and get quoted back in later lessons. 1: powerful but weird — everything from the last ten minutes compressed into four words. 2: if it can be done deterministically, it should be — AI is for judgment-shaped work; identical-every-time work belongs in templates, spreadsheets, checklists. 3: fewer, better tokens win — the context-window rule as a habit; it returns in Lesson 3 with source-grounded tools and in Lesson 5 when writing agent instructions.</a:t>
            </a:r>
          </a:p>
          <a:p/>
          <a:p>
            <a:r>
              <a:t>Then bridge to Part B: 'so where is all this taking you? Here is the map' — the 7 Levels.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 Pace: one sentence per level, no dwelling — the levels get lived out in the coming weeks, not explained today. Walk the stair bottom-up from Level 1; the orange chip says it out loud: you are (probably) here, and that is exactly where this course expects you. The blue chips are the course arc — today's session already starts the climb to Level 2; Level 5 is where you build the Markdown Generator. The grey levels 6–7 are outlook only.</a:t>
            </a:r>
          </a:p>
          <a:p/>
          <a:p>
            <a:r>
              <a:t>Vibe coding: exactly the one sentence printed at the Level 4–5 rows, then move on — this is not an engineering course; the closest we come to building is Lesson 5's Agent Builder, which needs no code at all.</a:t>
            </a:r>
          </a:p>
          <a:p/>
          <a:p>
            <a:r>
              <a:t>Close of segment: this course takes you from Level 1 to Level 4–5. Then advance to the destination slide — the teaser.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teaser only — show, don't teach. Name the three parts and leave them as names: Wiki Sandbox (your own Perfect Wiki, single source of truth), Markdown Generator (a custom Copilot agent — built in Lesson 5, once the basics are in place), Personal Vault (your local Obsidian vault, the visual thinking space). One breath on the return arrow: the Round-Trip is human-mediated — pulling and exporting are deliberate acts, never automated sync.</a:t>
            </a:r>
          </a:p>
          <a:p/>
          <a:p>
            <a:r>
              <a:t>Land the line and let it sit: by Week 8, you will have built this. Then straight into Segment 3 — prompt engineering, where the climb to Level 2 starts right now.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spoken before switching to Gemini — this slide grounds the whole segment. Bridge from the 7 Levels map: 'Levels 2–3 are where this course takes you; here is terrain where those skills pay off.' Horizon Europe proposals are the running example because they are the hardest thing this audience touches: a strict multi-part template scored on Excellence / Impact / Implementation, inputs scattered across call documents, drafts, partner materials, and budget tables, and a long manual pipeline where errors accumulate.</a:t>
            </a:r>
          </a:p>
          <a:p/>
          <a:p>
            <a:r>
              <a:t>Land the orange band and let it reframe the segment: most failures are structural, not conceptual — and structure is exactly what a well-built prompt supplies. Prompting is not magic words; it is imposing structure on the model's work. With that lens set, switch to Gemini for Demo 1: the same question, three ways.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GEMINI — Demo 1, ≈8 min of the 25 including the ICC readout and the Prompting LLMs generalization (Demo 2 gets the other ≈17 min; its full script is in the Two shortcuts notes). The budget question continues the problem space just set up: this is a structurally hard domain, so watch structure win. Run the three prompts in escalating order, in separate conversations, and leave all three answers visible for comparison. 1: 'Horizon Europe budget' — a Google habit carried into a chatbot; generic result. 2: the real question — visibly better, still unanchored. 3: the full ICC prompt (pre-typed and tested the day before; shown verbatim on the next slide) — the answer comes out scoped, structured, and pitched at the PI.</a:t>
            </a:r>
          </a:p>
          <a:p/>
          <a:p>
            <a:r>
              <a:t>The one sentence to land while the outputs sit side by side: output quality scales with input quality. Participants only watch here — they reproduce this in the setup block and the assignment.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Still in Demo 1 — this slide is the readable record of the prompt just run in Gemini, so nobody has to transcribe from the demo window. Walk the three blocks: Instruction — the task itself, with a deliverable ('list the 5 most common mistakes'). Context — who is asking, what for, and for whom; this is what stages 1 and 2 were missing. Constraints — length, format, language; this is what makes the answer usable without editing.</a:t>
            </a:r>
          </a:p>
          <a:p/>
          <a:p>
            <a:r>
              <a:t>Tell participants: you'll write three of these yourselves this week, about your own Anchor Project's domain — the exact prompt text is in the deck to copy the shape from.</a:t>
            </a:r>
          </a:p>
          <a:p/>
          <a:p>
            <a:r>
              <a:t>Then the next slide generalizes: ICC is the starter form of a bigger idea — the prompt as a contract.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 still inside Demo 1's ≈8-minute window, while the three Gemini answers are on screen. The move is generalization: the ICC prompt everyone just saw is the starter form of this contract — Instruction, Context, Constraints, plus two blocks working prompts add: an explicit Role and explicit Inputs.</a:t>
            </a:r>
          </a:p>
          <a:p/>
          <a:p>
            <a:r>
              <a:t>Walk the right-hand example from proposal practice (a Gantt chart for the work packages): every block removes a guess the model would otherwise make — GIGO in reverse. The model does exactly as much guessing as your prompt leaves it.</a:t>
            </a:r>
          </a:p>
          <a:p/>
          <a:p>
            <a:r>
              <a:t>Land the band — a prompt is a contract, not just an instruction — then bridge to Demo 2: 'now, two shortcut phrases that get you most of this contract for free.'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GEMINI — Demo 2 begins here and runs ≈17 min, spanning this slide through the rules recap. Both shortcut phrases come from the 7 Levels transcript, and these alone jump a participant from Level 1 to Level 2. The assignment uses both. Full minute-by-minute script:</a:t>
            </a:r>
          </a:p>
          <a:p/>
          <a:p>
            <a:r>
              <a:t>0:00–1:00 — Set up. Open a NEW Gemini conversation (fresh window — practice the context-window rule out loud). Frame the block: 'Demo 1 was about writing a better prompt yourself; the next quarter hour is about making the model do that work for you.'</a:t>
            </a:r>
          </a:p>
          <a:p/>
          <a:p>
            <a:r>
              <a:t>1:00–3:00 — Shortcut 1, the setup. Type a deliberately ordinary task: 'Draft an agenda for the kick-off meeting of our 8-partner Horizon Europe project.' Before sending, append the ask-me-first phrase verbatim from the slide. Send.</a:t>
            </a:r>
          </a:p>
          <a:p/>
          <a:p>
            <a:r>
              <a:t>3:00–6:00 — Shortcut 1, the interview. Gemini returns questions — typically 4–8 (date and duration? online or in person? who attends? what must be decided?). Read them aloud: the model is surfacing exactly the context Demo 1 had to hand-write into the ICC prompt. Answer two or three briefly, tell it to make sensible assumptions for the rest, and let it produce the agenda. Land one sentence: 'It asked better questions than most of us would have.'</a:t>
            </a:r>
          </a:p>
          <a:p/>
          <a:p>
            <a:r>
              <a:t>6:00–8:00 — Shortcut 2, reverse prompt. In the same conversation, type the second phrase verbatim. Show the single consolidated prompt it returns — point out that your interview answers are now written into it as context.</a:t>
            </a:r>
          </a:p>
          <a:p/>
          <a:p>
            <a:r>
              <a:t>8:00–10:00 — Save it, prove it. Copy the generated prompt into a visibly open document titled 'Prompt library — kick-off agenda'. Say: this saved prompt is the seed of the prompt library that moves into your knowledge system from Lesson 4 on. If on time: open a new conversation, paste it, and show the first-try result matching the interviewed one.</a:t>
            </a:r>
          </a:p>
          <a:p/>
          <a:p>
            <a:r>
              <a:t>10:00–13:00 — Meta-prompting (advance to the next slide). Run the periodic-report meta-prompt exactly as printed; scroll the generated prompt and point at the context and constraints nobody asked for; fill one or two specifics and run it. If tight on time, describe the naive 'draft the impact section' comparison instead of running it.</a:t>
            </a:r>
          </a:p>
          <a:p/>
          <a:p>
            <a:r>
              <a:t>13:00–15:00 — One pattern live (advance to Four prompt patterns). Persona is the quickest win: run the EU-grants-advisor example; point at the other three patterns as read-later.</a:t>
            </a:r>
          </a:p>
          <a:p/>
          <a:p>
            <a:r>
              <a:t>15:00–16:00 — Working scale (advance to Prompt Patterns &amp; Meta-Prompting). No typing: point at the pattern families and the reusable-template meta-example from proposal practice; land 'you design standards, not just prompts.'</a:t>
            </a:r>
          </a:p>
          <a:p/>
          <a:p>
            <a:r>
              <a:t>16:00–17:00 — Rules recap (advance to Two rules while we demo). State both rules over the last screen of outputs, then hand to Segment 4.</a:t>
            </a:r>
          </a:p>
          <a:p/>
          <a:p>
            <a:r>
              <a:t>Contingencies: keep yesterday's rehearsal transcript open in a second tab in case Gemini stalls or the interview comes back thin. If running long, drop the fresh-chat rerun (8:00–10:00) first, then compress the persona run to a read-through.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Still in Gemini — minutes 10–13 of the Demo 2 script (see the Two shortcuts notes). Run the periodic-report meta-prompt exactly as printed; scroll the generated prompt — point out that the model added context and constraints nobody asked it for. Fill in one or two specifics, run it, and compare with a naive 'draft the impact section' attempt.</a:t>
            </a:r>
          </a:p>
          <a:p/>
          <a:p>
            <a:r>
              <a:t>The message is the band: the model knows what a good prompt looks like better than you do — use it as your prompt engineer. The assignment's item 4 is exactly this move on a recurring task from the participant's own work.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13–15 of the Demo 2 script. Present from the slide; demo exactly ONE pattern live in Gemini (persona is the quickest win), then point at the other three — each example is a research-management task, readable later. Persona: the role sets vocabulary, priorities, depth. Example-driven: one pasted example of a liked output beats a paragraph of description. Step-by-step: forcing intermediate steps improves rule-checking (eligibility is the natural demo). Critique-then-improve: diagnose first, then repair only the diagnosed — keeps good passages intact.</a:t>
            </a:r>
          </a:p>
          <a:p/>
          <a:p>
            <a:r>
              <a:t>Close the segment with the caption line: every saved prompt is one of these shapes filled in; the library lives in the knowledge system from Lesson 4 on. The assignment requires at least one pattern in the three ICC prompts.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15–16 of the Demo 2 script — no typing, point and talk. The four patterns just shown are the entry palette; this slide is what they grow into in working practice, back in the problem space that opened the segment. Left: the pattern families a proposal-support team reaches for daily — the four patterns reappear under working names, plus the verifier family (generate probing questions, then combine the answers), which previews the checking habits of Lesson 3.</a:t>
            </a:r>
          </a:p>
          <a:p/>
          <a:p>
            <a:r>
              <a:t>Right: meta-prompting promoted from a trick to a habit — you ask the model for a reusable TEMPLATE, not an answer, and the template joins your prompt library with placeholders for the next proposal. This is the Level 2 → Level 3 shift on the map, and the seed of the standards that live in your knowledge system from Lesson 4 on.</a:t>
            </a:r>
          </a:p>
          <a:p/>
          <a:p>
            <a:r>
              <a:t>Land the band — you design standards, not just prompts — then advance to the rules recap.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both rules while demoing — this slide is the recap that stays on screen at the end of Demo 2, not a new topic. Rule 1: nothing you couldn't publish goes into Gemini; the full sensitive-data rule (the Copilot Sensitive Lane) comes in Lesson 2. Rule 2: verify anything factual before using it — the 'sign your name to it' rule from the fundamentals segment, now applied to the demo outputs everyone just admired.</a:t>
            </a:r>
          </a:p>
          <a:p/>
          <a:p>
            <a:r>
              <a:t>Then hand over to Segment 4: the assignment turns everything from these 25 minutes into this week's practice.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4 opens the briefing with the one decision that outlives this week: the Anchor Project. Either flavor works — a real project anonymized (the publish test from the demo rules applies to the anonymization) or a fictional one for anyone uneasy about even anonymized detail. What matters is a real lifecycle to mine: a funding scheme with rules, reporting duties, a stakeholder landscape — every later lesson populates the knowledge system from it.</a:t>
            </a:r>
          </a:p>
          <a:p/>
          <a:p>
            <a:r>
              <a:t>The 5-sentence description is deliberately small: enough to give every later prompt its context block, not a project report. Reassure them the choice isn't final-final — but changing it later means redoing groundwork, so a day of thought this week is well spent.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all five items aloud, slowly — then pause and say the caption out loud: screenshot this slide, it is the whole assignment. Everything on it was demoed in Segment 3; nothing here is new, it is the same moves pointed at their own Anchor Project.</a:t>
            </a:r>
          </a:p>
          <a:p/>
          <a:p>
            <a:r>
              <a:t>Two clarifications worth volunteering before Q&amp;A: for item 2, 'save' means prompt + answer + one improvement sentence — a doc or notes file is fine, no special tool; the four pattern names on the slide are the ones from the patterns slide. For items 3 and 4, the task should come from their actual work — the demo rules still apply: nothing they couldn't publish goes into Gemini. Then open the floor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effort expectation out loud: one to two hours across the whole week, spread out — this is practice, not a deliverable to polish. If someone is over two hours, they are overdoing it and should stop.</a:t>
            </a:r>
          </a:p>
          <a:p/>
          <a:p>
            <a:r>
              <a:t>Explain the debrief so nobody is ambushed in Lesson 2: every session from now on opens with an assignment debrief (the first slot of the Session Template), 2–3 volunteers show one prompt and what they'd improve, five minutes total, no grading. Ask for tentative volunteers now — a named volunteer shows up prepared. This slide and the previous one are the Q&amp;A anchor; take remaining questions here before the close.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 two minutes, no new teaching. Name the two lanes and leave them as a question: one AI is authorized for sensitive institutional data, the other handles everything else — which is which, and why, is Lesson 2's opening topic. Resist explaining the rule now; the names on the cards are the whole teaser.</a:t>
            </a:r>
          </a:p>
          <a:p/>
          <a:p>
            <a:r>
              <a:t>Repeat the interim rule one last time — until the lanes are taught, nothing you couldn't publish goes into any AI tool. Then hand over to Segment 5: thirty minutes, hands-on, everyone leaves with working tools.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stays on screen-share for the whole 30-minute block — it is the only hands-on part of Lesson 1, and everyone leaves with working tools. Read the four items aloud once, show the chat convention (✅ plus the item number, ✅ 1–4 when done), then let people work. The chat marks make stragglers visible without anyone having to speak up — watch the chat, not the gallery, and go to whoever has posted nothing after ten minutes.</a:t>
            </a:r>
          </a:p>
          <a:p/>
          <a:p>
            <a:r>
              <a:t>Quick finishers become co-troubleshooters: pair anyone posting ✅ 1–4 early with someone who is stuck. Switch to the Troubleshooting slide only when the same failure hits more than one person; otherwise handle issues one-to-one and keep the checklist up.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slide only when a failure hits more than one person — otherwise keep the checklist up and fix issues one-to-one. These are the three typical failure points; walk the affected person through the fix on the card while others keep working.</a:t>
            </a:r>
          </a:p>
          <a:p/>
          <a:p>
            <a:r>
              <a:t>The account mix-ups dominate: a personal Microsoft account where the institutional one is needed blocks Copilot Chat entirely, and institutional policy can block the Google sign-in in the default browser — the separate browser profile sidesteps that. Region/consent screens in Gemini usually just need clicking through.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in the last minutes of the block. Anyone without ✅ 1–4 in the chat: flag them now, by name — don't let an unfinished setup surface silently in Lesson 2 when the assignment needs Gemini. The default catch-up venue is Practice Week 1's drop-in in Week 3, but that is two weeks away, so actively offer the 10-minute slot during this week and book it before the call ends.</a:t>
            </a:r>
          </a:p>
          <a:p/>
          <a:p>
            <a:r>
              <a:t>If anyone asks about the other course tools: Obsidian and Perfect Wiki are deliberately not installed today — each arrives in the lesson that first uses it (Perfect Wiki in Lesson 3, Obsidian in Lesson 4). Close the session by pointing at the assignment slide once more: everything this week happens in Gemini, which everyone now has.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244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7" name="Footer Rule"/>
          <p:cNvSpPr/>
          <p:nvPr/>
        </p:nvSpPr>
        <p:spPr>
          <a:xfrm>
            <a:off x="548640" y="6473952"/>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Text"/>
          <p:cNvSpPr txBox="1"/>
          <p:nvPr/>
        </p:nvSpPr>
        <p:spPr>
          <a:xfrm>
            <a:off x="548640" y="6519672"/>
            <a:ext cx="11091672" cy="274320"/>
          </a:xfrm>
          <a:prstGeom prst="rect">
            <a:avLst/>
          </a:prstGeom>
          <a:noFill/>
        </p:spPr>
        <p:txBody>
          <a:bodyPr wrap="none" lIns="0" rIns="0" tIns="0" bIns="0">
            <a:spAutoFit/>
          </a:bodyPr>
          <a:lstStyle/>
          <a:p>
            <a:r>
              <a:rPr sz="1000" b="0" i="0">
                <a:solidFill>
                  <a:srgbClr val="9DB2D3"/>
                </a:solidFill>
                <a:latin typeface="Segoe UI"/>
              </a:rPr>
              <a:t>AI for Research Management · Lesson 1 · Week 1</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417320"/>
            <a:ext cx="914400" cy="54864"/>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457200"/>
          </a:xfrm>
          <a:prstGeom prst="rect">
            <a:avLst/>
          </a:prstGeom>
          <a:noFill/>
        </p:spPr>
        <p:txBody>
          <a:bodyPr wrap="square">
            <a:spAutoFit/>
          </a:bodyPr>
          <a:lstStyle/>
          <a:p>
            <a:pPr algn="l"/>
            <a:r>
              <a:rPr sz="1600" b="1" i="0">
                <a:solidFill>
                  <a:srgbClr val="FFB13D"/>
                </a:solidFill>
                <a:latin typeface="Segoe UI Semibold"/>
              </a:rPr>
              <a:t>AI FOR RESEARCH MANAGEMENT</a:t>
            </a:r>
          </a:p>
        </p:txBody>
      </p:sp>
      <p:sp>
        <p:nvSpPr>
          <p:cNvPr id="5" name="TextBox 4"/>
          <p:cNvSpPr txBox="1"/>
          <p:nvPr/>
        </p:nvSpPr>
        <p:spPr>
          <a:xfrm>
            <a:off x="822960" y="2286000"/>
            <a:ext cx="10515600" cy="1828800"/>
          </a:xfrm>
          <a:prstGeom prst="rect">
            <a:avLst/>
          </a:prstGeom>
          <a:noFill/>
        </p:spPr>
        <p:txBody>
          <a:bodyPr wrap="square">
            <a:spAutoFit/>
          </a:bodyPr>
          <a:lstStyle/>
          <a:p>
            <a:pPr algn="l"/>
            <a:r>
              <a:rPr sz="4000" b="1" i="0">
                <a:solidFill>
                  <a:srgbClr val="FFFFFF"/>
                </a:solidFill>
                <a:latin typeface="Segoe UI Semibold"/>
              </a:rPr>
              <a:t>Lesson 1 — Why AI, How LLMs Work, and the Map Ahead</a:t>
            </a:r>
          </a:p>
        </p:txBody>
      </p:sp>
      <p:sp>
        <p:nvSpPr>
          <p:cNvPr id="6" name="TextBox 5"/>
          <p:cNvSpPr txBox="1"/>
          <p:nvPr/>
        </p:nvSpPr>
        <p:spPr>
          <a:xfrm>
            <a:off x="822960" y="4343400"/>
            <a:ext cx="10515600" cy="457200"/>
          </a:xfrm>
          <a:prstGeom prst="rect">
            <a:avLst/>
          </a:prstGeom>
          <a:noFill/>
        </p:spPr>
        <p:txBody>
          <a:bodyPr wrap="square">
            <a:spAutoFit/>
          </a:bodyPr>
          <a:lstStyle/>
          <a:p>
            <a:pPr algn="l"/>
            <a:r>
              <a:rPr sz="1600" b="0" i="0">
                <a:solidFill>
                  <a:srgbClr val="BDD7F5"/>
                </a:solidFill>
                <a:latin typeface="Segoe UI"/>
              </a:rPr>
              <a:t>Week 1 · Teaching Session · 90 minutes · Online via Teams</a:t>
            </a:r>
          </a:p>
        </p:txBody>
      </p:sp>
      <p:sp>
        <p:nvSpPr>
          <p:cNvPr id="7" name="Rectangle 6"/>
          <p:cNvSpPr/>
          <p:nvPr/>
        </p:nvSpPr>
        <p:spPr>
          <a:xfrm>
            <a:off x="0" y="6638544"/>
            <a:ext cx="7315200" cy="219456"/>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0" y="6638544"/>
            <a:ext cx="2926080" cy="219456"/>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41280" y="6638544"/>
            <a:ext cx="1956816" cy="219456"/>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1</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Opening: why this matters</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10 min · Presentation</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1 of 5</a:t>
            </a:r>
          </a:p>
        </p:txBody>
      </p:sp>
      <p:sp>
        <p:nvSpPr>
          <p:cNvPr id="8" name="Rectangle 7"/>
          <p:cNvSpPr/>
          <p:nvPr/>
        </p:nvSpPr>
        <p:spPr>
          <a:xfrm>
            <a:off x="44729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AI and the geography of job risk</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What new research says about where AI lands in the labor market:</a:t>
            </a:r>
          </a:p>
        </p:txBody>
      </p:sp>
      <p:sp>
        <p:nvSpPr>
          <p:cNvPr id="7" name="Rectangle 6"/>
          <p:cNvSpPr/>
          <p:nvPr/>
        </p:nvSpPr>
        <p:spPr>
          <a:xfrm>
            <a:off x="548640" y="1783080"/>
            <a:ext cx="5449824" cy="14813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3800" b="1" i="0">
                <a:solidFill>
                  <a:srgbClr val="FFB13D"/>
                </a:solidFill>
                <a:latin typeface="Segoe UI Semibold"/>
              </a:rPr>
              <a:t>9.3 million</a:t>
            </a:r>
          </a:p>
          <a:p>
            <a:pPr algn="ctr">
              <a:spcBef>
                <a:spcPts val="600"/>
              </a:spcBef>
            </a:pPr>
            <a:r>
              <a:rPr sz="1400" b="0" i="0">
                <a:solidFill>
                  <a:srgbClr val="FFFFFF"/>
                </a:solidFill>
                <a:latin typeface="Segoe UI"/>
              </a:rPr>
              <a:t>US jobs at risk under the median AI-adoption scenario</a:t>
            </a:r>
          </a:p>
          <a:p>
            <a:pPr algn="ctr">
              <a:spcBef>
                <a:spcPts val="400"/>
              </a:spcBef>
            </a:pPr>
            <a:r>
              <a:rPr sz="1200" b="0" i="1">
                <a:solidFill>
                  <a:srgbClr val="BDD7F5"/>
                </a:solidFill>
                <a:latin typeface="Segoe UI"/>
              </a:rPr>
              <a:t>range across scenarios: 2.7–19.5 million</a:t>
            </a:r>
          </a:p>
        </p:txBody>
      </p:sp>
      <p:sp>
        <p:nvSpPr>
          <p:cNvPr id="8" name="Rectangle 7"/>
          <p:cNvSpPr/>
          <p:nvPr/>
        </p:nvSpPr>
        <p:spPr>
          <a:xfrm>
            <a:off x="548640" y="1783080"/>
            <a:ext cx="5449824" cy="82296"/>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1783080"/>
            <a:ext cx="5449824" cy="14813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3800" b="1" i="0">
                <a:solidFill>
                  <a:srgbClr val="FFB13D"/>
                </a:solidFill>
                <a:latin typeface="Segoe UI Semibold"/>
              </a:rPr>
              <a:t>$757 billion</a:t>
            </a:r>
          </a:p>
          <a:p>
            <a:pPr algn="ctr">
              <a:spcBef>
                <a:spcPts val="600"/>
              </a:spcBef>
            </a:pPr>
            <a:r>
              <a:rPr sz="1400" b="0" i="0">
                <a:solidFill>
                  <a:srgbClr val="FFFFFF"/>
                </a:solidFill>
                <a:latin typeface="Segoe UI"/>
              </a:rPr>
              <a:t>in annual income attached to those jobs</a:t>
            </a:r>
          </a:p>
        </p:txBody>
      </p:sp>
      <p:sp>
        <p:nvSpPr>
          <p:cNvPr id="10" name="Rectangle 9"/>
          <p:cNvSpPr/>
          <p:nvPr/>
        </p:nvSpPr>
        <p:spPr>
          <a:xfrm>
            <a:off x="6190488" y="1783080"/>
            <a:ext cx="5449824" cy="82296"/>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429000"/>
            <a:ext cx="5449824" cy="22402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29000"/>
            <a:ext cx="82296" cy="22402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3575304"/>
            <a:ext cx="5449824" cy="365760"/>
          </a:xfrm>
          <a:prstGeom prst="rect">
            <a:avLst/>
          </a:prstGeom>
          <a:noFill/>
        </p:spPr>
        <p:txBody>
          <a:bodyPr wrap="square">
            <a:spAutoFit/>
          </a:bodyPr>
          <a:lstStyle/>
          <a:p>
            <a:pPr algn="l"/>
            <a:r>
              <a:rPr sz="1500" b="0" i="0">
                <a:solidFill>
                  <a:srgbClr val="FFFFFF"/>
                </a:solidFill>
                <a:latin typeface="Segoe UI"/>
              </a:rPr>
              <a:t>Most vulnerable occupations</a:t>
            </a:r>
          </a:p>
        </p:txBody>
      </p:sp>
      <p:sp>
        <p:nvSpPr>
          <p:cNvPr id="14" name="Rectangle 13"/>
          <p:cNvSpPr/>
          <p:nvPr/>
        </p:nvSpPr>
        <p:spPr>
          <a:xfrm>
            <a:off x="859536" y="3995928"/>
            <a:ext cx="4828032" cy="1270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123944"/>
            <a:ext cx="457200" cy="365760"/>
          </a:xfrm>
          <a:prstGeom prst="rect">
            <a:avLst/>
          </a:prstGeom>
          <a:noFill/>
        </p:spPr>
        <p:txBody>
          <a:bodyPr wrap="square">
            <a:spAutoFit/>
          </a:bodyPr>
          <a:lstStyle/>
          <a:p>
            <a:pPr algn="l"/>
            <a:r>
              <a:rPr sz="1300" b="0" i="0">
                <a:solidFill>
                  <a:srgbClr val="9DB2D3"/>
                </a:solidFill>
                <a:latin typeface="Segoe UI"/>
              </a:rPr>
              <a:t>1</a:t>
            </a:r>
          </a:p>
        </p:txBody>
      </p:sp>
      <p:sp>
        <p:nvSpPr>
          <p:cNvPr id="16" name="TextBox 15"/>
          <p:cNvSpPr txBox="1"/>
          <p:nvPr/>
        </p:nvSpPr>
        <p:spPr>
          <a:xfrm>
            <a:off x="1335024" y="4105656"/>
            <a:ext cx="3520439" cy="365760"/>
          </a:xfrm>
          <a:prstGeom prst="rect">
            <a:avLst/>
          </a:prstGeom>
          <a:noFill/>
        </p:spPr>
        <p:txBody>
          <a:bodyPr wrap="square">
            <a:spAutoFit/>
          </a:bodyPr>
          <a:lstStyle/>
          <a:p>
            <a:pPr algn="l"/>
            <a:r>
              <a:rPr sz="1400" b="0" i="0">
                <a:solidFill>
                  <a:srgbClr val="E9F0FA"/>
                </a:solidFill>
                <a:latin typeface="Segoe UI"/>
              </a:rPr>
              <a:t>Writers and Authors</a:t>
            </a:r>
          </a:p>
        </p:txBody>
      </p:sp>
      <p:sp>
        <p:nvSpPr>
          <p:cNvPr id="17" name="TextBox 16"/>
          <p:cNvSpPr txBox="1"/>
          <p:nvPr/>
        </p:nvSpPr>
        <p:spPr>
          <a:xfrm>
            <a:off x="4809744" y="4096511"/>
            <a:ext cx="868680" cy="365760"/>
          </a:xfrm>
          <a:prstGeom prst="rect">
            <a:avLst/>
          </a:prstGeom>
          <a:noFill/>
        </p:spPr>
        <p:txBody>
          <a:bodyPr wrap="square">
            <a:spAutoFit/>
          </a:bodyPr>
          <a:lstStyle/>
          <a:p>
            <a:pPr algn="r"/>
            <a:r>
              <a:rPr sz="1700" b="0" i="0">
                <a:solidFill>
                  <a:srgbClr val="FFB13D"/>
                </a:solidFill>
                <a:latin typeface="Segoe UI"/>
              </a:rPr>
              <a:t>57%</a:t>
            </a:r>
          </a:p>
        </p:txBody>
      </p:sp>
      <p:sp>
        <p:nvSpPr>
          <p:cNvPr id="18" name="TextBox 17"/>
          <p:cNvSpPr txBox="1"/>
          <p:nvPr/>
        </p:nvSpPr>
        <p:spPr>
          <a:xfrm>
            <a:off x="859536" y="4599431"/>
            <a:ext cx="457200" cy="365760"/>
          </a:xfrm>
          <a:prstGeom prst="rect">
            <a:avLst/>
          </a:prstGeom>
          <a:noFill/>
        </p:spPr>
        <p:txBody>
          <a:bodyPr wrap="square">
            <a:spAutoFit/>
          </a:bodyPr>
          <a:lstStyle/>
          <a:p>
            <a:pPr algn="l"/>
            <a:r>
              <a:rPr sz="1300" b="0" i="0">
                <a:solidFill>
                  <a:srgbClr val="9DB2D3"/>
                </a:solidFill>
                <a:latin typeface="Segoe UI"/>
              </a:rPr>
              <a:t>2</a:t>
            </a:r>
          </a:p>
        </p:txBody>
      </p:sp>
      <p:sp>
        <p:nvSpPr>
          <p:cNvPr id="19" name="TextBox 18"/>
          <p:cNvSpPr txBox="1"/>
          <p:nvPr/>
        </p:nvSpPr>
        <p:spPr>
          <a:xfrm>
            <a:off x="1335024" y="4581144"/>
            <a:ext cx="3520439" cy="365760"/>
          </a:xfrm>
          <a:prstGeom prst="rect">
            <a:avLst/>
          </a:prstGeom>
          <a:noFill/>
        </p:spPr>
        <p:txBody>
          <a:bodyPr wrap="square">
            <a:spAutoFit/>
          </a:bodyPr>
          <a:lstStyle/>
          <a:p>
            <a:pPr algn="l"/>
            <a:r>
              <a:rPr sz="1400" b="0" i="0">
                <a:solidFill>
                  <a:srgbClr val="E9F0FA"/>
                </a:solidFill>
                <a:latin typeface="Segoe UI"/>
              </a:rPr>
              <a:t>Computer Programmers</a:t>
            </a:r>
          </a:p>
        </p:txBody>
      </p:sp>
      <p:sp>
        <p:nvSpPr>
          <p:cNvPr id="20" name="TextBox 19"/>
          <p:cNvSpPr txBox="1"/>
          <p:nvPr/>
        </p:nvSpPr>
        <p:spPr>
          <a:xfrm>
            <a:off x="4809744" y="4571999"/>
            <a:ext cx="868680" cy="365760"/>
          </a:xfrm>
          <a:prstGeom prst="rect">
            <a:avLst/>
          </a:prstGeom>
          <a:noFill/>
        </p:spPr>
        <p:txBody>
          <a:bodyPr wrap="square">
            <a:spAutoFit/>
          </a:bodyPr>
          <a:lstStyle/>
          <a:p>
            <a:pPr algn="r"/>
            <a:r>
              <a:rPr sz="1700" b="0" i="0">
                <a:solidFill>
                  <a:srgbClr val="FFB13D"/>
                </a:solidFill>
                <a:latin typeface="Segoe UI"/>
              </a:rPr>
              <a:t>55%</a:t>
            </a:r>
          </a:p>
        </p:txBody>
      </p:sp>
      <p:sp>
        <p:nvSpPr>
          <p:cNvPr id="21" name="TextBox 20"/>
          <p:cNvSpPr txBox="1"/>
          <p:nvPr/>
        </p:nvSpPr>
        <p:spPr>
          <a:xfrm>
            <a:off x="859536" y="5074919"/>
            <a:ext cx="457200" cy="365760"/>
          </a:xfrm>
          <a:prstGeom prst="rect">
            <a:avLst/>
          </a:prstGeom>
          <a:noFill/>
        </p:spPr>
        <p:txBody>
          <a:bodyPr wrap="square">
            <a:spAutoFit/>
          </a:bodyPr>
          <a:lstStyle/>
          <a:p>
            <a:pPr algn="l"/>
            <a:r>
              <a:rPr sz="1300" b="0" i="0">
                <a:solidFill>
                  <a:srgbClr val="9DB2D3"/>
                </a:solidFill>
                <a:latin typeface="Segoe UI"/>
              </a:rPr>
              <a:t>3</a:t>
            </a:r>
          </a:p>
        </p:txBody>
      </p:sp>
      <p:sp>
        <p:nvSpPr>
          <p:cNvPr id="22" name="TextBox 21"/>
          <p:cNvSpPr txBox="1"/>
          <p:nvPr/>
        </p:nvSpPr>
        <p:spPr>
          <a:xfrm>
            <a:off x="1335024" y="5056631"/>
            <a:ext cx="3520439" cy="365760"/>
          </a:xfrm>
          <a:prstGeom prst="rect">
            <a:avLst/>
          </a:prstGeom>
          <a:noFill/>
        </p:spPr>
        <p:txBody>
          <a:bodyPr wrap="square">
            <a:spAutoFit/>
          </a:bodyPr>
          <a:lstStyle/>
          <a:p>
            <a:pPr algn="l"/>
            <a:r>
              <a:rPr sz="1400" b="0" i="0">
                <a:solidFill>
                  <a:srgbClr val="E9F0FA"/>
                </a:solidFill>
                <a:latin typeface="Segoe UI"/>
              </a:rPr>
              <a:t>Web and Digital Interface Designers</a:t>
            </a:r>
          </a:p>
        </p:txBody>
      </p:sp>
      <p:sp>
        <p:nvSpPr>
          <p:cNvPr id="23" name="TextBox 22"/>
          <p:cNvSpPr txBox="1"/>
          <p:nvPr/>
        </p:nvSpPr>
        <p:spPr>
          <a:xfrm>
            <a:off x="4809744" y="5047487"/>
            <a:ext cx="868680" cy="365760"/>
          </a:xfrm>
          <a:prstGeom prst="rect">
            <a:avLst/>
          </a:prstGeom>
          <a:noFill/>
        </p:spPr>
        <p:txBody>
          <a:bodyPr wrap="square">
            <a:spAutoFit/>
          </a:bodyPr>
          <a:lstStyle/>
          <a:p>
            <a:pPr algn="r"/>
            <a:r>
              <a:rPr sz="1700" b="0" i="0">
                <a:solidFill>
                  <a:srgbClr val="FFB13D"/>
                </a:solidFill>
                <a:latin typeface="Segoe UI"/>
              </a:rPr>
              <a:t>55%</a:t>
            </a:r>
          </a:p>
        </p:txBody>
      </p:sp>
      <p:sp>
        <p:nvSpPr>
          <p:cNvPr id="24" name="Rectangle 23"/>
          <p:cNvSpPr/>
          <p:nvPr/>
        </p:nvSpPr>
        <p:spPr>
          <a:xfrm>
            <a:off x="6190488" y="3429000"/>
            <a:ext cx="5449824" cy="22402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0488" y="3429000"/>
            <a:ext cx="82296" cy="22402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1383" y="3575304"/>
            <a:ext cx="5449824" cy="365760"/>
          </a:xfrm>
          <a:prstGeom prst="rect">
            <a:avLst/>
          </a:prstGeom>
          <a:noFill/>
        </p:spPr>
        <p:txBody>
          <a:bodyPr wrap="square">
            <a:spAutoFit/>
          </a:bodyPr>
          <a:lstStyle/>
          <a:p>
            <a:pPr algn="l"/>
            <a:r>
              <a:rPr sz="1500" b="0" i="0">
                <a:solidFill>
                  <a:srgbClr val="FFFFFF"/>
                </a:solidFill>
                <a:latin typeface="Segoe UI"/>
              </a:rPr>
              <a:t>Least vulnerable occupations</a:t>
            </a:r>
          </a:p>
        </p:txBody>
      </p:sp>
      <p:sp>
        <p:nvSpPr>
          <p:cNvPr id="27" name="Rectangle 26"/>
          <p:cNvSpPr/>
          <p:nvPr/>
        </p:nvSpPr>
        <p:spPr>
          <a:xfrm>
            <a:off x="6501383" y="3995928"/>
            <a:ext cx="4828032" cy="1270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01383" y="4123944"/>
            <a:ext cx="457200" cy="365760"/>
          </a:xfrm>
          <a:prstGeom prst="rect">
            <a:avLst/>
          </a:prstGeom>
          <a:noFill/>
        </p:spPr>
        <p:txBody>
          <a:bodyPr wrap="square">
            <a:spAutoFit/>
          </a:bodyPr>
          <a:lstStyle/>
          <a:p>
            <a:pPr algn="l"/>
            <a:r>
              <a:rPr sz="1300" b="0" i="0">
                <a:solidFill>
                  <a:srgbClr val="9DB2D3"/>
                </a:solidFill>
                <a:latin typeface="Segoe UI"/>
              </a:rPr>
              <a:t>782</a:t>
            </a:r>
          </a:p>
        </p:txBody>
      </p:sp>
      <p:sp>
        <p:nvSpPr>
          <p:cNvPr id="29" name="TextBox 28"/>
          <p:cNvSpPr txBox="1"/>
          <p:nvPr/>
        </p:nvSpPr>
        <p:spPr>
          <a:xfrm>
            <a:off x="6976872" y="4105656"/>
            <a:ext cx="3520439" cy="365760"/>
          </a:xfrm>
          <a:prstGeom prst="rect">
            <a:avLst/>
          </a:prstGeom>
          <a:noFill/>
        </p:spPr>
        <p:txBody>
          <a:bodyPr wrap="square">
            <a:spAutoFit/>
          </a:bodyPr>
          <a:lstStyle/>
          <a:p>
            <a:pPr algn="l"/>
            <a:r>
              <a:rPr sz="1400" b="0" i="0">
                <a:solidFill>
                  <a:srgbClr val="E9F0FA"/>
                </a:solidFill>
                <a:latin typeface="Segoe UI"/>
              </a:rPr>
              <a:t>Foundry Mold and Coremakers</a:t>
            </a:r>
          </a:p>
        </p:txBody>
      </p:sp>
      <p:sp>
        <p:nvSpPr>
          <p:cNvPr id="30" name="TextBox 29"/>
          <p:cNvSpPr txBox="1"/>
          <p:nvPr/>
        </p:nvSpPr>
        <p:spPr>
          <a:xfrm>
            <a:off x="10451592" y="4096511"/>
            <a:ext cx="868680" cy="365760"/>
          </a:xfrm>
          <a:prstGeom prst="rect">
            <a:avLst/>
          </a:prstGeom>
          <a:noFill/>
        </p:spPr>
        <p:txBody>
          <a:bodyPr wrap="square">
            <a:spAutoFit/>
          </a:bodyPr>
          <a:lstStyle/>
          <a:p>
            <a:pPr algn="r"/>
            <a:r>
              <a:rPr sz="1700" b="0" i="0">
                <a:solidFill>
                  <a:srgbClr val="BDD7F5"/>
                </a:solidFill>
                <a:latin typeface="Segoe UI"/>
              </a:rPr>
              <a:t>0%</a:t>
            </a:r>
          </a:p>
        </p:txBody>
      </p:sp>
      <p:sp>
        <p:nvSpPr>
          <p:cNvPr id="31" name="TextBox 30"/>
          <p:cNvSpPr txBox="1"/>
          <p:nvPr/>
        </p:nvSpPr>
        <p:spPr>
          <a:xfrm>
            <a:off x="6501383" y="4599431"/>
            <a:ext cx="457200" cy="365760"/>
          </a:xfrm>
          <a:prstGeom prst="rect">
            <a:avLst/>
          </a:prstGeom>
          <a:noFill/>
        </p:spPr>
        <p:txBody>
          <a:bodyPr wrap="square">
            <a:spAutoFit/>
          </a:bodyPr>
          <a:lstStyle/>
          <a:p>
            <a:pPr algn="l"/>
            <a:r>
              <a:rPr sz="1300" b="0" i="0">
                <a:solidFill>
                  <a:srgbClr val="9DB2D3"/>
                </a:solidFill>
                <a:latin typeface="Segoe UI"/>
              </a:rPr>
              <a:t>783</a:t>
            </a:r>
          </a:p>
        </p:txBody>
      </p:sp>
      <p:sp>
        <p:nvSpPr>
          <p:cNvPr id="32" name="TextBox 31"/>
          <p:cNvSpPr txBox="1"/>
          <p:nvPr/>
        </p:nvSpPr>
        <p:spPr>
          <a:xfrm>
            <a:off x="6976872" y="4581144"/>
            <a:ext cx="3520439" cy="365760"/>
          </a:xfrm>
          <a:prstGeom prst="rect">
            <a:avLst/>
          </a:prstGeom>
          <a:noFill/>
        </p:spPr>
        <p:txBody>
          <a:bodyPr wrap="square">
            <a:spAutoFit/>
          </a:bodyPr>
          <a:lstStyle/>
          <a:p>
            <a:pPr algn="l"/>
            <a:r>
              <a:rPr sz="1400" b="0" i="0">
                <a:solidFill>
                  <a:srgbClr val="E9F0FA"/>
                </a:solidFill>
                <a:latin typeface="Segoe UI"/>
              </a:rPr>
              <a:t>Cleaners of Vehicles and Equipment</a:t>
            </a:r>
          </a:p>
        </p:txBody>
      </p:sp>
      <p:sp>
        <p:nvSpPr>
          <p:cNvPr id="33" name="TextBox 32"/>
          <p:cNvSpPr txBox="1"/>
          <p:nvPr/>
        </p:nvSpPr>
        <p:spPr>
          <a:xfrm>
            <a:off x="10451592" y="4571999"/>
            <a:ext cx="868680" cy="365760"/>
          </a:xfrm>
          <a:prstGeom prst="rect">
            <a:avLst/>
          </a:prstGeom>
          <a:noFill/>
        </p:spPr>
        <p:txBody>
          <a:bodyPr wrap="square">
            <a:spAutoFit/>
          </a:bodyPr>
          <a:lstStyle/>
          <a:p>
            <a:pPr algn="r"/>
            <a:r>
              <a:rPr sz="1700" b="0" i="0">
                <a:solidFill>
                  <a:srgbClr val="BDD7F5"/>
                </a:solidFill>
                <a:latin typeface="Segoe UI"/>
              </a:rPr>
              <a:t>0%</a:t>
            </a:r>
          </a:p>
        </p:txBody>
      </p:sp>
      <p:sp>
        <p:nvSpPr>
          <p:cNvPr id="34" name="TextBox 33"/>
          <p:cNvSpPr txBox="1"/>
          <p:nvPr/>
        </p:nvSpPr>
        <p:spPr>
          <a:xfrm>
            <a:off x="6501383" y="5074919"/>
            <a:ext cx="457200" cy="365760"/>
          </a:xfrm>
          <a:prstGeom prst="rect">
            <a:avLst/>
          </a:prstGeom>
          <a:noFill/>
        </p:spPr>
        <p:txBody>
          <a:bodyPr wrap="square">
            <a:spAutoFit/>
          </a:bodyPr>
          <a:lstStyle/>
          <a:p>
            <a:pPr algn="l"/>
            <a:r>
              <a:rPr sz="1300" b="0" i="0">
                <a:solidFill>
                  <a:srgbClr val="9DB2D3"/>
                </a:solidFill>
                <a:latin typeface="Segoe UI"/>
              </a:rPr>
              <a:t>784</a:t>
            </a:r>
          </a:p>
        </p:txBody>
      </p:sp>
      <p:sp>
        <p:nvSpPr>
          <p:cNvPr id="35" name="TextBox 34"/>
          <p:cNvSpPr txBox="1"/>
          <p:nvPr/>
        </p:nvSpPr>
        <p:spPr>
          <a:xfrm>
            <a:off x="6976872" y="5056631"/>
            <a:ext cx="3520439" cy="365760"/>
          </a:xfrm>
          <a:prstGeom prst="rect">
            <a:avLst/>
          </a:prstGeom>
          <a:noFill/>
        </p:spPr>
        <p:txBody>
          <a:bodyPr wrap="square">
            <a:spAutoFit/>
          </a:bodyPr>
          <a:lstStyle/>
          <a:p>
            <a:pPr algn="l"/>
            <a:r>
              <a:rPr sz="1400" b="0" i="0">
                <a:solidFill>
                  <a:srgbClr val="E9F0FA"/>
                </a:solidFill>
                <a:latin typeface="Segoe UI"/>
              </a:rPr>
              <a:t>Dishwashers</a:t>
            </a:r>
          </a:p>
        </p:txBody>
      </p:sp>
      <p:sp>
        <p:nvSpPr>
          <p:cNvPr id="36" name="TextBox 35"/>
          <p:cNvSpPr txBox="1"/>
          <p:nvPr/>
        </p:nvSpPr>
        <p:spPr>
          <a:xfrm>
            <a:off x="10451592" y="5047487"/>
            <a:ext cx="868680" cy="365760"/>
          </a:xfrm>
          <a:prstGeom prst="rect">
            <a:avLst/>
          </a:prstGeom>
          <a:noFill/>
        </p:spPr>
        <p:txBody>
          <a:bodyPr wrap="square">
            <a:spAutoFit/>
          </a:bodyPr>
          <a:lstStyle/>
          <a:p>
            <a:pPr algn="r"/>
            <a:r>
              <a:rPr sz="1700" b="0" i="0">
                <a:solidFill>
                  <a:srgbClr val="BDD7F5"/>
                </a:solidFill>
                <a:latin typeface="Segoe UI"/>
              </a:rPr>
              <a:t>0%</a:t>
            </a:r>
          </a:p>
        </p:txBody>
      </p:sp>
      <p:sp>
        <p:nvSpPr>
          <p:cNvPr id="37" name="TextBox 36"/>
          <p:cNvSpPr txBox="1"/>
          <p:nvPr/>
        </p:nvSpPr>
        <p:spPr>
          <a:xfrm>
            <a:off x="548640" y="5806440"/>
            <a:ext cx="11091672" cy="365760"/>
          </a:xfrm>
          <a:prstGeom prst="rect">
            <a:avLst/>
          </a:prstGeom>
          <a:noFill/>
        </p:spPr>
        <p:txBody>
          <a:bodyPr wrap="square">
            <a:spAutoFit/>
          </a:bodyPr>
          <a:lstStyle/>
          <a:p>
            <a:pPr algn="l"/>
            <a:r>
              <a:rPr sz="1100" b="0" i="0">
                <a:solidFill>
                  <a:srgbClr val="9DB2D3"/>
                </a:solidFill>
                <a:latin typeface="Segoe UI"/>
              </a:rPr>
              <a:t>Source: Tufts Digital Planet — AI and the Emerging Geography of American Job Risk · AI Job Risk Index, share of jobs lost, ranked across 784 occupations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00584"/>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9144"/>
            <a:ext cx="10771632" cy="640080"/>
          </a:xfrm>
          <a:prstGeom prst="rect">
            <a:avLst/>
          </a:prstGeom>
          <a:noFill/>
        </p:spPr>
        <p:txBody>
          <a:bodyPr wrap="square">
            <a:spAutoFit/>
          </a:bodyPr>
          <a:lstStyle/>
          <a:p>
            <a:pPr algn="l"/>
            <a:r>
              <a:rPr sz="2800" b="1" i="0">
                <a:solidFill>
                  <a:srgbClr val="FFFFFF"/>
                </a:solidFill>
                <a:latin typeface="Segoe UI Semibold"/>
              </a:rPr>
              <a:t>Percentage of Jobs at Risk Aggregated by Sector</a:t>
            </a:r>
          </a:p>
        </p:txBody>
      </p:sp>
      <p:sp>
        <p:nvSpPr>
          <p:cNvPr id="4" name="Rectangle 3"/>
          <p:cNvSpPr/>
          <p:nvPr/>
        </p:nvSpPr>
        <p:spPr>
          <a:xfrm>
            <a:off x="548640" y="704088"/>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85800"/>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01671" y="786384"/>
            <a:ext cx="7388352" cy="4818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ijobloss.png"/>
          <p:cNvPicPr>
            <a:picLocks noChangeAspect="1"/>
          </p:cNvPicPr>
          <p:nvPr/>
        </p:nvPicPr>
        <p:blipFill>
          <a:blip r:embed="rId2"/>
          <a:stretch>
            <a:fillRect/>
          </a:stretch>
        </p:blipFill>
        <p:spPr>
          <a:xfrm>
            <a:off x="2483967" y="868680"/>
            <a:ext cx="7223760" cy="4654296"/>
          </a:xfrm>
          <a:prstGeom prst="rect">
            <a:avLst/>
          </a:prstGeom>
        </p:spPr>
      </p:pic>
      <p:sp>
        <p:nvSpPr>
          <p:cNvPr id="8" name="TextBox 7"/>
          <p:cNvSpPr txBox="1"/>
          <p:nvPr/>
        </p:nvSpPr>
        <p:spPr>
          <a:xfrm>
            <a:off x="548640" y="5623560"/>
            <a:ext cx="11091672" cy="365760"/>
          </a:xfrm>
          <a:prstGeom prst="rect">
            <a:avLst/>
          </a:prstGeom>
          <a:noFill/>
        </p:spPr>
        <p:txBody>
          <a:bodyPr wrap="square">
            <a:spAutoFit/>
          </a:bodyPr>
          <a:lstStyle/>
          <a:p>
            <a:pPr algn="l"/>
            <a:r>
              <a:rPr sz="1500" b="0" i="0">
                <a:solidFill>
                  <a:srgbClr val="E9F0FA"/>
                </a:solidFill>
                <a:latin typeface="Segoe UI"/>
              </a:rPr>
              <a:t>High-skill, analytical, office-based occupations face the steepest exposure. The jobs historically “safe” from automation are now the most exposed.</a:t>
            </a:r>
          </a:p>
        </p:txBody>
      </p:sp>
      <p:sp>
        <p:nvSpPr>
          <p:cNvPr id="9" name="TextBox 8"/>
          <p:cNvSpPr txBox="1"/>
          <p:nvPr/>
        </p:nvSpPr>
        <p:spPr>
          <a:xfrm>
            <a:off x="548640" y="6071616"/>
            <a:ext cx="11091672" cy="365760"/>
          </a:xfrm>
          <a:prstGeom prst="rect">
            <a:avLst/>
          </a:prstGeom>
          <a:noFill/>
        </p:spPr>
        <p:txBody>
          <a:bodyPr wrap="square">
            <a:spAutoFit/>
          </a:bodyPr>
          <a:lstStyle/>
          <a:p>
            <a:pPr algn="l"/>
            <a:r>
              <a:rPr sz="1100" b="0" i="0">
                <a:solidFill>
                  <a:srgbClr val="9DB2D3"/>
                </a:solidFill>
                <a:latin typeface="Segoe UI"/>
              </a:rPr>
              <a:t>Source: Tufts Digital Planet — AI and the Emerging Geography of American Job Risk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100584"/>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9144"/>
            <a:ext cx="10771632" cy="640080"/>
          </a:xfrm>
          <a:prstGeom prst="rect">
            <a:avLst/>
          </a:prstGeom>
          <a:noFill/>
        </p:spPr>
        <p:txBody>
          <a:bodyPr wrap="square">
            <a:spAutoFit/>
          </a:bodyPr>
          <a:lstStyle/>
          <a:p>
            <a:pPr algn="l"/>
            <a:r>
              <a:rPr sz="2800" b="1" i="0">
                <a:solidFill>
                  <a:srgbClr val="FFFFFF"/>
                </a:solidFill>
                <a:latin typeface="Segoe UI Semibold"/>
              </a:rPr>
              <a:t>The augmentation–displacement pipeline</a:t>
            </a:r>
          </a:p>
        </p:txBody>
      </p:sp>
      <p:sp>
        <p:nvSpPr>
          <p:cNvPr id="4" name="Rectangle 3"/>
          <p:cNvSpPr/>
          <p:nvPr/>
        </p:nvSpPr>
        <p:spPr>
          <a:xfrm>
            <a:off x="548640" y="704088"/>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85800"/>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86384"/>
            <a:ext cx="11091672" cy="365760"/>
          </a:xfrm>
          <a:prstGeom prst="rect">
            <a:avLst/>
          </a:prstGeom>
          <a:noFill/>
        </p:spPr>
        <p:txBody>
          <a:bodyPr wrap="square">
            <a:spAutoFit/>
          </a:bodyPr>
          <a:lstStyle/>
          <a:p>
            <a:pPr algn="l"/>
            <a:r>
              <a:rPr sz="1500" b="0" i="0">
                <a:solidFill>
                  <a:srgbClr val="BDD7F5"/>
                </a:solidFill>
                <a:latin typeface="Segoe UI"/>
              </a:rPr>
              <a:t>The research's counterintuitive core finding: help and risk are the same list — and here is the measurement that says so.</a:t>
            </a:r>
          </a:p>
        </p:txBody>
      </p:sp>
      <p:sp>
        <p:nvSpPr>
          <p:cNvPr id="7" name="Rectangle 6"/>
          <p:cNvSpPr/>
          <p:nvPr/>
        </p:nvSpPr>
        <p:spPr>
          <a:xfrm>
            <a:off x="6263640" y="1088136"/>
            <a:ext cx="5367528" cy="427660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jobloss2.png"/>
          <p:cNvPicPr>
            <a:picLocks noChangeAspect="1"/>
          </p:cNvPicPr>
          <p:nvPr/>
        </p:nvPicPr>
        <p:blipFill>
          <a:blip r:embed="rId2"/>
          <a:stretch>
            <a:fillRect/>
          </a:stretch>
        </p:blipFill>
        <p:spPr>
          <a:xfrm>
            <a:off x="6345936" y="1170432"/>
            <a:ext cx="5202936" cy="4112017"/>
          </a:xfrm>
          <a:prstGeom prst="rect">
            <a:avLst/>
          </a:prstGeom>
        </p:spPr>
      </p:pic>
      <p:sp>
        <p:nvSpPr>
          <p:cNvPr id="9" name="Rectangle 8"/>
          <p:cNvSpPr/>
          <p:nvPr/>
        </p:nvSpPr>
        <p:spPr>
          <a:xfrm>
            <a:off x="548640" y="1170432"/>
            <a:ext cx="5532120" cy="960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Highest augmentation potential</a:t>
            </a:r>
          </a:p>
          <a:p>
            <a:pPr algn="l">
              <a:spcBef>
                <a:spcPts val="400"/>
              </a:spcBef>
            </a:pPr>
            <a:r>
              <a:rPr sz="1400" b="0" i="0">
                <a:solidFill>
                  <a:srgbClr val="E9F0FA"/>
                </a:solidFill>
                <a:latin typeface="Segoe UI"/>
              </a:rPr>
              <a:t>The occupations where AI helps the most with everyday tasks…</a:t>
            </a:r>
          </a:p>
        </p:txBody>
      </p:sp>
      <p:sp>
        <p:nvSpPr>
          <p:cNvPr id="10" name="Rectangle 9"/>
          <p:cNvSpPr/>
          <p:nvPr/>
        </p:nvSpPr>
        <p:spPr>
          <a:xfrm>
            <a:off x="548640" y="1170432"/>
            <a:ext cx="82296"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87168"/>
            <a:ext cx="5532120" cy="960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Highest displacement risk</a:t>
            </a:r>
          </a:p>
          <a:p>
            <a:pPr algn="l">
              <a:spcBef>
                <a:spcPts val="400"/>
              </a:spcBef>
            </a:pPr>
            <a:r>
              <a:rPr sz="1400" b="0" i="0">
                <a:solidFill>
                  <a:srgbClr val="E9F0FA"/>
                </a:solidFill>
                <a:latin typeface="Segoe UI"/>
              </a:rPr>
              <a:t>…are the same occupations AI can most readily replace.</a:t>
            </a:r>
          </a:p>
        </p:txBody>
      </p:sp>
      <p:sp>
        <p:nvSpPr>
          <p:cNvPr id="12" name="Rectangle 11"/>
          <p:cNvSpPr/>
          <p:nvPr/>
        </p:nvSpPr>
        <p:spPr>
          <a:xfrm>
            <a:off x="548640" y="2487168"/>
            <a:ext cx="82296" cy="9601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48940" y="2130552"/>
            <a:ext cx="731520" cy="365760"/>
          </a:xfrm>
          <a:prstGeom prst="rect">
            <a:avLst/>
          </a:prstGeom>
          <a:noFill/>
        </p:spPr>
        <p:txBody>
          <a:bodyPr wrap="square">
            <a:spAutoFit/>
          </a:bodyPr>
          <a:lstStyle/>
          <a:p>
            <a:pPr algn="ctr"/>
            <a:r>
              <a:rPr sz="2000" b="0" i="0">
                <a:solidFill>
                  <a:srgbClr val="FFB13D"/>
                </a:solidFill>
                <a:latin typeface="Segoe UI"/>
              </a:rPr>
              <a:t>↓</a:t>
            </a:r>
          </a:p>
        </p:txBody>
      </p:sp>
      <p:sp>
        <p:nvSpPr>
          <p:cNvPr id="14" name="Rectangle 13"/>
          <p:cNvSpPr/>
          <p:nvPr/>
        </p:nvSpPr>
        <p:spPr>
          <a:xfrm>
            <a:off x="548640" y="3630168"/>
            <a:ext cx="5532120" cy="1655064"/>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182880" tIns="128016"/>
          <a:lstStyle/>
          <a:p>
            <a:pPr algn="l"/>
            <a:r>
              <a:rPr sz="1400" b="1" i="0">
                <a:solidFill>
                  <a:srgbClr val="FFFFFF"/>
                </a:solidFill>
                <a:latin typeface="Segoe UI Semibold"/>
              </a:rPr>
              <a:t>Reading the chart</a:t>
            </a:r>
          </a:p>
          <a:p>
            <a:pPr>
              <a:spcBef>
                <a:spcPts val="500"/>
              </a:spcBef>
            </a:pPr>
            <a:r>
              <a:rPr sz="1200" b="0" i="0">
                <a:solidFill>
                  <a:srgbClr val="9DB2D3"/>
                </a:solidFill>
                <a:latin typeface="Segoe UI"/>
              </a:rPr>
              <a:t>Across: how much AI augments the job's tasks.</a:t>
            </a:r>
          </a:p>
          <a:p>
            <a:pPr>
              <a:spcBef>
                <a:spcPts val="500"/>
              </a:spcBef>
            </a:pPr>
            <a:r>
              <a:rPr sz="1200" b="0" i="0">
                <a:solidFill>
                  <a:srgbClr val="9DB2D3"/>
                </a:solidFill>
                <a:latin typeface="Segoe UI"/>
              </a:rPr>
              <a:t>Up: predicted job loss for that job.</a:t>
            </a:r>
          </a:p>
          <a:p>
            <a:pPr>
              <a:spcBef>
                <a:spcPts val="500"/>
              </a:spcBef>
            </a:pPr>
            <a:r>
              <a:rPr sz="1200" b="0" i="0">
                <a:solidFill>
                  <a:srgbClr val="9DB2D3"/>
                </a:solidFill>
                <a:latin typeface="Segoe UI"/>
              </a:rPr>
              <a:t>The cloud climbs a diagonal — the more augmented, the more displaced.</a:t>
            </a:r>
          </a:p>
          <a:p>
            <a:pPr>
              <a:spcBef>
                <a:spcPts val="500"/>
              </a:spcBef>
            </a:pPr>
            <a:r>
              <a:rPr sz="1200" b="0" i="0">
                <a:solidFill>
                  <a:srgbClr val="9DB2D3"/>
                </a:solidFill>
                <a:latin typeface="Segoe UI"/>
              </a:rPr>
              <a:t>The flat blue band along the bottom is physical work: neither.</a:t>
            </a:r>
          </a:p>
        </p:txBody>
      </p:sp>
      <p:sp>
        <p:nvSpPr>
          <p:cNvPr id="15" name="Rectangle 14"/>
          <p:cNvSpPr/>
          <p:nvPr/>
        </p:nvSpPr>
        <p:spPr>
          <a:xfrm>
            <a:off x="548640" y="3630168"/>
            <a:ext cx="82296" cy="1655064"/>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440680"/>
            <a:ext cx="11091672" cy="713232"/>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“The more AI helps you do your job, the more expendable you become.”</a:t>
            </a:r>
          </a:p>
          <a:p>
            <a:pPr algn="ctr">
              <a:spcBef>
                <a:spcPts val="600"/>
              </a:spcBef>
            </a:pPr>
            <a:r>
              <a:rPr sz="1300" b="0" i="0">
                <a:solidFill>
                  <a:srgbClr val="E8F0FB"/>
                </a:solidFill>
                <a:latin typeface="Segoe UI"/>
              </a:rPr>
              <a:t>— the researchers' own framing</a:t>
            </a:r>
          </a:p>
        </p:txBody>
      </p:sp>
      <p:sp>
        <p:nvSpPr>
          <p:cNvPr id="17" name="Rectangle 16"/>
          <p:cNvSpPr/>
          <p:nvPr/>
        </p:nvSpPr>
        <p:spPr>
          <a:xfrm>
            <a:off x="548640" y="5440680"/>
            <a:ext cx="91440" cy="713232"/>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548872" y="5440680"/>
            <a:ext cx="91440" cy="713232"/>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236208"/>
            <a:ext cx="11091672" cy="365760"/>
          </a:xfrm>
          <a:prstGeom prst="rect">
            <a:avLst/>
          </a:prstGeom>
          <a:noFill/>
        </p:spPr>
        <p:txBody>
          <a:bodyPr wrap="square">
            <a:spAutoFit/>
          </a:bodyPr>
          <a:lstStyle/>
          <a:p>
            <a:pPr algn="l"/>
            <a:r>
              <a:rPr sz="1100" b="0" i="0">
                <a:solidFill>
                  <a:srgbClr val="9DB2D3"/>
                </a:solidFill>
                <a:latin typeface="Segoe UI"/>
              </a:rPr>
              <a:t>Source: Tufts Digital Planet — AI and the Emerging Geography of American Job Risk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turn: skill, not job title</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point is not fear. The same research implies the way through — what matters is how you work with AI, not what your job is called.</a:t>
            </a:r>
          </a:p>
        </p:txBody>
      </p:sp>
      <p:sp>
        <p:nvSpPr>
          <p:cNvPr id="7" name="Rectangle 6"/>
          <p:cNvSpPr/>
          <p:nvPr/>
        </p:nvSpPr>
        <p:spPr>
          <a:xfrm>
            <a:off x="548640" y="228600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Displacement attaches to shallow use</a:t>
            </a:r>
          </a:p>
          <a:p>
            <a:pPr algn="l">
              <a:spcBef>
                <a:spcPts val="400"/>
              </a:spcBef>
            </a:pPr>
            <a:r>
              <a:rPr sz="1400" b="0" i="0">
                <a:solidFill>
                  <a:srgbClr val="E9F0FA"/>
                </a:solidFill>
                <a:latin typeface="Segoe UI"/>
              </a:rPr>
              <a:t>Letting AI do the job for you — unchecked, unexamined, at a shallow level.</a:t>
            </a:r>
          </a:p>
        </p:txBody>
      </p:sp>
      <p:sp>
        <p:nvSpPr>
          <p:cNvPr id="8" name="Rectangle 7"/>
          <p:cNvSpPr/>
          <p:nvPr/>
        </p:nvSpPr>
        <p:spPr>
          <a:xfrm>
            <a:off x="548640" y="2286000"/>
            <a:ext cx="82296" cy="17373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228600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Value attaches to moving up the skill curve</a:t>
            </a:r>
          </a:p>
          <a:p>
            <a:pPr algn="l">
              <a:spcBef>
                <a:spcPts val="400"/>
              </a:spcBef>
            </a:pPr>
            <a:r>
              <a:rPr sz="1400" b="0" i="0">
                <a:solidFill>
                  <a:srgbClr val="E9F0FA"/>
                </a:solidFill>
                <a:latin typeface="Segoe UI"/>
              </a:rPr>
              <a:t>Directing AI, verifying it, and building systems with it. This course exists to move you up that curve.</a:t>
            </a:r>
          </a:p>
        </p:txBody>
      </p:sp>
      <p:sp>
        <p:nvSpPr>
          <p:cNvPr id="10" name="Rectangle 9"/>
          <p:cNvSpPr/>
          <p:nvPr/>
        </p:nvSpPr>
        <p:spPr>
          <a:xfrm>
            <a:off x="6190488" y="228600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434840"/>
            <a:ext cx="11091672" cy="1234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Research management is administrative, analytical knowledge work — squarely in the exposed zone.
That is precisely why learning this well matters for you, now.</a:t>
            </a:r>
          </a:p>
        </p:txBody>
      </p:sp>
      <p:sp>
        <p:nvSpPr>
          <p:cNvPr id="12" name="Rectangle 11"/>
          <p:cNvSpPr/>
          <p:nvPr/>
        </p:nvSpPr>
        <p:spPr>
          <a:xfrm>
            <a:off x="548640" y="4434840"/>
            <a:ext cx="91440" cy="1234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48872" y="4434840"/>
            <a:ext cx="91440" cy="1234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2</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The map: LLM fundamentals + 7 Levels tour</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15 min · Presentation</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2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587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Powerful — but weird</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next ten minutes: a working picture of what actually happens when you type into Gemini or Copilot — no mathematics, no engineering.</a:t>
            </a:r>
          </a:p>
          <a:p>
            <a:pPr>
              <a:spcAft>
                <a:spcPts val="800"/>
              </a:spcAft>
            </a:pPr>
            <a:r>
              <a:rPr sz="1800" b="0" i="0">
                <a:solidFill>
                  <a:srgbClr val="E9F0FA"/>
                </a:solidFill>
                <a:latin typeface="Segoe UI"/>
              </a:rPr>
              <a:t>These tools write like experts, yet trip over things a child finds easy. That is not a defect — it is how they are built.</a:t>
            </a:r>
          </a:p>
          <a:p>
            <a:pPr>
              <a:spcAft>
                <a:spcPts val="800"/>
              </a:spcAft>
            </a:pPr>
            <a:r>
              <a:rPr sz="1800" b="0" i="0">
                <a:solidFill>
                  <a:srgbClr val="E9F0FA"/>
                </a:solidFill>
                <a:latin typeface="Segoe UI"/>
              </a:rPr>
              <a:t>The quirks are not bugs to fear. They are constraints to work within.</a:t>
            </a:r>
          </a:p>
        </p:txBody>
      </p:sp>
      <p:sp>
        <p:nvSpPr>
          <p:cNvPr id="7" name="Rectangle 6"/>
          <p:cNvSpPr/>
          <p:nvPr/>
        </p:nvSpPr>
        <p:spPr>
          <a:xfrm>
            <a:off x="548640" y="4206240"/>
            <a:ext cx="11091672" cy="12801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Once you know the quirks, you can use it for what it is:
a strange but powerful tool.</a:t>
            </a:r>
          </a:p>
        </p:txBody>
      </p:sp>
      <p:sp>
        <p:nvSpPr>
          <p:cNvPr id="8" name="Rectangle 7"/>
          <p:cNvSpPr/>
          <p:nvPr/>
        </p:nvSpPr>
        <p:spPr>
          <a:xfrm>
            <a:off x="548640" y="4206240"/>
            <a:ext cx="91440" cy="12801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548872" y="4206240"/>
            <a:ext cx="91440" cy="12801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What an LLM actually is — a file full of numbers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Strip away the chat screen and an LLM is one enormous file of numbers — billions of tiny dials, and nothing else. No stored pages, no rule book.</a:t>
            </a:r>
          </a:p>
          <a:p>
            <a:pPr>
              <a:spcAft>
                <a:spcPts val="800"/>
              </a:spcAft>
            </a:pPr>
            <a:r>
              <a:rPr sz="1800" b="0" i="0">
                <a:solidFill>
                  <a:srgbClr val="E9F0FA"/>
                </a:solidFill>
                <a:latin typeface="Segoe UI"/>
              </a:rPr>
              <a:t>Your words go in one side, ripple through the dials, and one word comes out — then it runs again, word by word, until the reply is done.</a:t>
            </a:r>
          </a:p>
        </p:txBody>
      </p:sp>
      <p:sp>
        <p:nvSpPr>
          <p:cNvPr id="7" name="Rectangle 6"/>
          <p:cNvSpPr/>
          <p:nvPr/>
        </p:nvSpPr>
        <p:spPr>
          <a:xfrm>
            <a:off x="548640" y="2788920"/>
            <a:ext cx="5522976" cy="280408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lm.jpg"/>
          <p:cNvPicPr>
            <a:picLocks noChangeAspect="1"/>
          </p:cNvPicPr>
          <p:nvPr/>
        </p:nvPicPr>
        <p:blipFill>
          <a:blip r:embed="rId2"/>
          <a:stretch>
            <a:fillRect/>
          </a:stretch>
        </p:blipFill>
        <p:spPr>
          <a:xfrm>
            <a:off x="658368" y="2898648"/>
            <a:ext cx="5303520" cy="2584626"/>
          </a:xfrm>
          <a:prstGeom prst="rect">
            <a:avLst/>
          </a:prstGeom>
        </p:spPr>
      </p:pic>
      <p:sp>
        <p:nvSpPr>
          <p:cNvPr id="9" name="TextBox 8"/>
          <p:cNvSpPr txBox="1"/>
          <p:nvPr/>
        </p:nvSpPr>
        <p:spPr>
          <a:xfrm>
            <a:off x="548640" y="5647866"/>
            <a:ext cx="5532120" cy="365760"/>
          </a:xfrm>
          <a:prstGeom prst="rect">
            <a:avLst/>
          </a:prstGeom>
          <a:noFill/>
        </p:spPr>
        <p:txBody>
          <a:bodyPr wrap="square">
            <a:spAutoFit/>
          </a:bodyPr>
          <a:lstStyle/>
          <a:p>
            <a:pPr algn="l"/>
            <a:r>
              <a:rPr sz="1100" b="0" i="1">
                <a:solidFill>
                  <a:srgbClr val="9DB2D3"/>
                </a:solidFill>
                <a:latin typeface="Segoe UI"/>
              </a:rPr>
              <a:t>The shape inside every LLM — in on the left, one guess out on the right. Real ones: billions of dials, not dozens.</a:t>
            </a:r>
          </a:p>
        </p:txBody>
      </p:sp>
      <p:sp>
        <p:nvSpPr>
          <p:cNvPr id="10" name="Rectangle 9"/>
          <p:cNvSpPr/>
          <p:nvPr/>
        </p:nvSpPr>
        <p:spPr>
          <a:xfrm>
            <a:off x="6309360" y="2788920"/>
            <a:ext cx="5330952"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Billions of dials</a:t>
            </a:r>
          </a:p>
          <a:p>
            <a:pPr algn="l">
              <a:spcBef>
                <a:spcPts val="400"/>
              </a:spcBef>
            </a:pPr>
            <a:r>
              <a:rPr sz="1400" b="0" i="0">
                <a:solidFill>
                  <a:srgbClr val="E9F0FA"/>
                </a:solidFill>
                <a:latin typeface="Segoe UI"/>
              </a:rPr>
              <a:t>Each connection in the picture holds one number — a dial that training nudged, tiny step by tiny step. The picture shows dozens; the real thing has hundreds of billions.</a:t>
            </a:r>
          </a:p>
        </p:txBody>
      </p:sp>
      <p:sp>
        <p:nvSpPr>
          <p:cNvPr id="11" name="Rectangle 10"/>
          <p:cNvSpPr/>
          <p:nvPr/>
        </p:nvSpPr>
        <p:spPr>
          <a:xfrm>
            <a:off x="6309360" y="2788920"/>
            <a:ext cx="82296"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4389120"/>
            <a:ext cx="5330952"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Small enough to carry</a:t>
            </a:r>
          </a:p>
          <a:p>
            <a:pPr algn="l">
              <a:spcBef>
                <a:spcPts val="400"/>
              </a:spcBef>
            </a:pPr>
            <a:r>
              <a:rPr sz="1400" b="0" i="0">
                <a:solidFill>
                  <a:srgbClr val="E9F0FA"/>
                </a:solidFill>
                <a:latin typeface="Segoe UI"/>
              </a:rPr>
              <a:t>All of it together is one file of roughly 140 GB — it would fit on a laptop. The magic is not where it lives; it is how the dials got set.</a:t>
            </a:r>
          </a:p>
        </p:txBody>
      </p:sp>
      <p:sp>
        <p:nvSpPr>
          <p:cNvPr id="13" name="Rectangle 12"/>
          <p:cNvSpPr/>
          <p:nvPr/>
        </p:nvSpPr>
        <p:spPr>
          <a:xfrm>
            <a:off x="6309360" y="4389120"/>
            <a:ext cx="82296"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How the file got smart — reading, then manners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Two phases set those billions of dials — a long reading phase, then a short finishing school:</a:t>
            </a:r>
          </a:p>
        </p:txBody>
      </p:sp>
      <p:sp>
        <p:nvSpPr>
          <p:cNvPr id="7" name="Rectangle 6"/>
          <p:cNvSpPr/>
          <p:nvPr/>
        </p:nvSpPr>
        <p:spPr>
          <a:xfrm>
            <a:off x="548640" y="2103120"/>
            <a:ext cx="5449824" cy="2103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1 · Pre-training — the reading phase</a:t>
            </a:r>
          </a:p>
          <a:p>
            <a:pPr algn="l">
              <a:spcBef>
                <a:spcPts val="400"/>
              </a:spcBef>
            </a:pPr>
            <a:r>
              <a:rPr sz="1400" b="0" i="0">
                <a:solidFill>
                  <a:srgbClr val="E9F0FA"/>
                </a:solidFill>
                <a:latin typeface="Segoe UI"/>
              </a:rPr>
              <a:t>The network plays guess-the-next-word against a huge slice of the internet, trillions of rounds; every miss nudges the dials. Like packing a library into a suitcase: the patterns survive, the pages do not.</a:t>
            </a:r>
          </a:p>
        </p:txBody>
      </p:sp>
      <p:sp>
        <p:nvSpPr>
          <p:cNvPr id="8" name="Rectangle 7"/>
          <p:cNvSpPr/>
          <p:nvPr/>
        </p:nvSpPr>
        <p:spPr>
          <a:xfrm>
            <a:off x="548640" y="2103120"/>
            <a:ext cx="82296" cy="2103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2103120"/>
            <a:ext cx="5449824" cy="2103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2 · Post-training — learning to assist</a:t>
            </a:r>
          </a:p>
          <a:p>
            <a:pPr algn="l">
              <a:spcBef>
                <a:spcPts val="400"/>
              </a:spcBef>
            </a:pPr>
            <a:r>
              <a:rPr sz="1400" b="0" i="0">
                <a:solidFill>
                  <a:srgbClr val="E9F0FA"/>
                </a:solidFill>
                <a:latin typeface="Segoe UI"/>
              </a:rPr>
              <a:t>A far shorter phase teaches it manners: answer questions, follow instructions, admit uncertainty. Without it, all that knowledge would just sit there — able only to continue text, not to help.</a:t>
            </a:r>
          </a:p>
        </p:txBody>
      </p:sp>
      <p:sp>
        <p:nvSpPr>
          <p:cNvPr id="10" name="Rectangle 9"/>
          <p:cNvSpPr/>
          <p:nvPr/>
        </p:nvSpPr>
        <p:spPr>
          <a:xfrm>
            <a:off x="6190488" y="2103120"/>
            <a:ext cx="82296" cy="2103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480560"/>
            <a:ext cx="11091672"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≈10,000 GB of text in  →  weeks of guessing  →  one 140 GB file out</a:t>
            </a:r>
          </a:p>
          <a:p>
            <a:pPr algn="ctr">
              <a:spcBef>
                <a:spcPts val="600"/>
              </a:spcBef>
            </a:pPr>
            <a:r>
              <a:rPr sz="1300" b="0" i="0">
                <a:solidFill>
                  <a:srgbClr val="E8F0FB"/>
                </a:solidFill>
                <a:latin typeface="Segoe UI"/>
              </a:rPr>
              <a:t>Thousands of specialised computers, millions of dollars — and the result fits on a laptop.</a:t>
            </a:r>
          </a:p>
        </p:txBody>
      </p:sp>
      <p:sp>
        <p:nvSpPr>
          <p:cNvPr id="12" name="Rectangle 11"/>
          <p:cNvSpPr/>
          <p:nvPr/>
        </p:nvSpPr>
        <p:spPr>
          <a:xfrm>
            <a:off x="548640" y="4480560"/>
            <a:ext cx="91440" cy="9601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48872" y="4480560"/>
            <a:ext cx="91440" cy="9601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623560"/>
            <a:ext cx="11091672" cy="365760"/>
          </a:xfrm>
          <a:prstGeom prst="rect">
            <a:avLst/>
          </a:prstGeom>
          <a:noFill/>
        </p:spPr>
        <p:txBody>
          <a:bodyPr wrap="square">
            <a:spAutoFit/>
          </a:bodyPr>
          <a:lstStyle/>
          <a:p>
            <a:pPr algn="l"/>
            <a:r>
              <a:rPr sz="1400" b="0" i="1">
                <a:solidFill>
                  <a:srgbClr val="9DB2D3"/>
                </a:solidFill>
                <a:latin typeface="Segoe UI"/>
              </a:rPr>
              <a:t>It keeps patterns, not pages — which is why it can sound confident yet misremember, and why its knowledge stops at a date.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Four-Layer AI Engineering Stack</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35024"/>
            <a:ext cx="11091672" cy="365760"/>
          </a:xfrm>
          <a:prstGeom prst="rect">
            <a:avLst/>
          </a:prstGeom>
          <a:noFill/>
        </p:spPr>
        <p:txBody>
          <a:bodyPr wrap="square">
            <a:spAutoFit/>
          </a:bodyPr>
          <a:lstStyle/>
          <a:p>
            <a:pPr algn="l"/>
            <a:r>
              <a:rPr sz="1400" b="0" i="0">
                <a:solidFill>
                  <a:srgbClr val="BDD7F5"/>
                </a:solidFill>
                <a:latin typeface="Segoe UI"/>
              </a:rPr>
              <a:t>Everything people call “AI engineering” is one of four layers — and each layer wraps the one below it.</a:t>
            </a:r>
          </a:p>
        </p:txBody>
      </p:sp>
      <p:sp>
        <p:nvSpPr>
          <p:cNvPr id="7" name="Up Arrow 6"/>
          <p:cNvSpPr/>
          <p:nvPr/>
        </p:nvSpPr>
        <p:spPr>
          <a:xfrm>
            <a:off x="548640" y="1719072"/>
            <a:ext cx="384048" cy="3145536"/>
          </a:xfrm>
          <a:prstGeom prst="upArrow">
            <a:avLst/>
          </a:prstGeom>
          <a:solidFill>
            <a:srgbClr val="20365E"/>
          </a:solidFill>
          <a:ln>
            <a:noFill/>
          </a:ln>
          <a:effectLst/>
        </p:spPr>
        <p:style>
          <a:lnRef idx="1">
            <a:schemeClr val="accent1"/>
          </a:lnRef>
          <a:fillRef idx="3">
            <a:schemeClr val="accent1"/>
          </a:fillRef>
          <a:effectRef idx="2">
            <a:schemeClr val="accent1"/>
          </a:effectRef>
          <a:fontRef idx="minor">
            <a:schemeClr val="lt1"/>
          </a:fontRef>
        </p:style>
        <p:txBody>
          <a:bodyPr rtlCol="0" anchor="ctr" vert="vert270" lIns="36576" rIns="36576" tIns="18288" bIns="292608"/>
          <a:lstStyle/>
          <a:p>
            <a:pPr algn="ctr"/>
            <a:r>
              <a:rPr sz="1000" b="1" i="0">
                <a:solidFill>
                  <a:srgbClr val="BDD7F5"/>
                </a:solidFill>
                <a:latin typeface="Segoe UI Semibold"/>
              </a:rPr>
              <a:t>one message  →  a whole job</a:t>
            </a:r>
          </a:p>
        </p:txBody>
      </p:sp>
      <p:sp>
        <p:nvSpPr>
          <p:cNvPr id="8" name="Rectangle 7"/>
          <p:cNvSpPr/>
          <p:nvPr/>
        </p:nvSpPr>
        <p:spPr>
          <a:xfrm>
            <a:off x="1078992" y="1719072"/>
            <a:ext cx="2212848" cy="73152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i="0">
                <a:solidFill>
                  <a:srgbClr val="BDD7F5"/>
                </a:solidFill>
                <a:latin typeface="Segoe UI Semibold"/>
              </a:rPr>
              <a:t>Loop engineering</a:t>
            </a:r>
          </a:p>
        </p:txBody>
      </p:sp>
      <p:sp>
        <p:nvSpPr>
          <p:cNvPr id="9" name="Rectangle 8"/>
          <p:cNvSpPr/>
          <p:nvPr/>
        </p:nvSpPr>
        <p:spPr>
          <a:xfrm>
            <a:off x="3383280" y="1719072"/>
            <a:ext cx="5742432" cy="7315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54864" bIns="54864"/>
          <a:lstStyle/>
          <a:p>
            <a:pPr algn="ctr"/>
            <a:r>
              <a:rPr sz="1200" b="0" i="0">
                <a:solidFill>
                  <a:srgbClr val="FFFFFF"/>
                </a:solidFill>
                <a:latin typeface="Segoe UI"/>
              </a:rPr>
              <a:t>How the model runs itself — steps, checks, when to stop and hand back</a:t>
            </a:r>
          </a:p>
          <a:p>
            <a:pPr>
              <a:spcBef>
                <a:spcPts val="300"/>
              </a:spcBef>
            </a:pPr>
            <a:r>
              <a:rPr sz="1100" b="0" i="0">
                <a:solidFill>
                  <a:srgbClr val="9DB2D3"/>
                </a:solidFill>
                <a:latin typeface="Segoe UI"/>
              </a:rPr>
              <a:t>Agent frameworks, coding agents  →  “keep going until the check passes”</a:t>
            </a:r>
          </a:p>
        </p:txBody>
      </p:sp>
      <p:sp>
        <p:nvSpPr>
          <p:cNvPr id="10" name="Rounded Rectangle 9"/>
          <p:cNvSpPr/>
          <p:nvPr/>
        </p:nvSpPr>
        <p:spPr>
          <a:xfrm>
            <a:off x="9235440" y="1719072"/>
            <a:ext cx="2404872" cy="731520"/>
          </a:xfrm>
          <a:prstGeom prst="round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09728"/>
          <a:lstStyle/>
          <a:p>
            <a:pPr algn="ctr"/>
            <a:r>
              <a:rPr sz="1100" b="0" i="0">
                <a:solidFill>
                  <a:srgbClr val="BDD7F5"/>
                </a:solidFill>
                <a:latin typeface="Segoe UI Semibold"/>
              </a:rPr>
              <a:t>Outlook only</a:t>
            </a:r>
          </a:p>
        </p:txBody>
      </p:sp>
      <p:sp>
        <p:nvSpPr>
          <p:cNvPr id="11" name="Rectangle 10"/>
          <p:cNvSpPr/>
          <p:nvPr/>
        </p:nvSpPr>
        <p:spPr>
          <a:xfrm>
            <a:off x="9235440" y="1719072"/>
            <a:ext cx="82296" cy="73152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78992" y="2523744"/>
            <a:ext cx="2212848" cy="7315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i="0">
                <a:solidFill>
                  <a:srgbClr val="FFFFFF"/>
                </a:solidFill>
                <a:latin typeface="Segoe UI Semibold"/>
              </a:rPr>
              <a:t>Harness engineering</a:t>
            </a:r>
          </a:p>
        </p:txBody>
      </p:sp>
      <p:sp>
        <p:nvSpPr>
          <p:cNvPr id="13" name="Rectangle 12"/>
          <p:cNvSpPr/>
          <p:nvPr/>
        </p:nvSpPr>
        <p:spPr>
          <a:xfrm>
            <a:off x="3383280" y="2523744"/>
            <a:ext cx="5742432" cy="7315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54864" bIns="54864"/>
          <a:lstStyle/>
          <a:p>
            <a:pPr algn="ctr"/>
            <a:r>
              <a:rPr sz="1200" b="0" i="0">
                <a:solidFill>
                  <a:srgbClr val="FFFFFF"/>
                </a:solidFill>
                <a:latin typeface="Segoe UI"/>
              </a:rPr>
              <a:t>The setup around the model — instructions, tools, output format</a:t>
            </a:r>
          </a:p>
          <a:p>
            <a:pPr>
              <a:spcBef>
                <a:spcPts val="300"/>
              </a:spcBef>
            </a:pPr>
            <a:r>
              <a:rPr sz="1100" b="0" i="0">
                <a:solidFill>
                  <a:srgbClr val="9DB2D3"/>
                </a:solidFill>
                <a:latin typeface="Segoe UI"/>
              </a:rPr>
              <a:t>Copilot Agent Builder  →  “wiki page in, vault note out”</a:t>
            </a:r>
          </a:p>
        </p:txBody>
      </p:sp>
      <p:sp>
        <p:nvSpPr>
          <p:cNvPr id="14" name="Rounded Rectangle 13"/>
          <p:cNvSpPr/>
          <p:nvPr/>
        </p:nvSpPr>
        <p:spPr>
          <a:xfrm>
            <a:off x="9235440" y="2523744"/>
            <a:ext cx="2404872" cy="731520"/>
          </a:xfrm>
          <a:prstGeom prst="round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09728"/>
          <a:lstStyle/>
          <a:p>
            <a:pPr algn="ctr"/>
            <a:r>
              <a:rPr sz="1100" b="1" i="0">
                <a:solidFill>
                  <a:srgbClr val="FFFFFF"/>
                </a:solidFill>
                <a:latin typeface="Segoe UI Semibold"/>
              </a:rPr>
              <a:t>Lesson 5 · Markdown Generator</a:t>
            </a:r>
          </a:p>
        </p:txBody>
      </p:sp>
      <p:sp>
        <p:nvSpPr>
          <p:cNvPr id="15" name="Rectangle 14"/>
          <p:cNvSpPr/>
          <p:nvPr/>
        </p:nvSpPr>
        <p:spPr>
          <a:xfrm>
            <a:off x="9235440" y="2523744"/>
            <a:ext cx="82296" cy="7315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78992" y="3328415"/>
            <a:ext cx="2212848" cy="7315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i="0">
                <a:solidFill>
                  <a:srgbClr val="FFFFFF"/>
                </a:solidFill>
                <a:latin typeface="Segoe UI Semibold"/>
              </a:rPr>
              <a:t>Context engineering</a:t>
            </a:r>
          </a:p>
        </p:txBody>
      </p:sp>
      <p:sp>
        <p:nvSpPr>
          <p:cNvPr id="17" name="Rectangle 16"/>
          <p:cNvSpPr/>
          <p:nvPr/>
        </p:nvSpPr>
        <p:spPr>
          <a:xfrm>
            <a:off x="3383280" y="3328415"/>
            <a:ext cx="5742432" cy="7315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54864" bIns="54864"/>
          <a:lstStyle/>
          <a:p>
            <a:pPr algn="ctr"/>
            <a:r>
              <a:rPr sz="1200" b="0" i="0">
                <a:solidFill>
                  <a:srgbClr val="FFFFFF"/>
                </a:solidFill>
                <a:latin typeface="Segoe UI"/>
              </a:rPr>
              <a:t>What is in the window — sources, memory, and what you leave out</a:t>
            </a:r>
          </a:p>
          <a:p>
            <a:pPr>
              <a:spcBef>
                <a:spcPts val="300"/>
              </a:spcBef>
            </a:pPr>
            <a:r>
              <a:rPr sz="1100" b="0" i="0">
                <a:solidFill>
                  <a:srgbClr val="9DB2D3"/>
                </a:solidFill>
                <a:latin typeface="Segoe UI"/>
              </a:rPr>
              <a:t>NotebookLM · Perplexity · Perfect Wiki  →  “answer from these 12 documents”</a:t>
            </a:r>
          </a:p>
        </p:txBody>
      </p:sp>
      <p:sp>
        <p:nvSpPr>
          <p:cNvPr id="18" name="Rounded Rectangle 17"/>
          <p:cNvSpPr/>
          <p:nvPr/>
        </p:nvSpPr>
        <p:spPr>
          <a:xfrm>
            <a:off x="9235440" y="3328415"/>
            <a:ext cx="2404872" cy="731520"/>
          </a:xfrm>
          <a:prstGeom prst="round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09728"/>
          <a:lstStyle/>
          <a:p>
            <a:pPr algn="ctr"/>
            <a:r>
              <a:rPr sz="1100" b="1" i="0">
                <a:solidFill>
                  <a:srgbClr val="FFFFFF"/>
                </a:solidFill>
                <a:latin typeface="Segoe UI Semibold"/>
              </a:rPr>
              <a:t>Lessons 3–4</a:t>
            </a:r>
          </a:p>
        </p:txBody>
      </p:sp>
      <p:sp>
        <p:nvSpPr>
          <p:cNvPr id="19" name="Rectangle 18"/>
          <p:cNvSpPr/>
          <p:nvPr/>
        </p:nvSpPr>
        <p:spPr>
          <a:xfrm>
            <a:off x="9235440" y="3328415"/>
            <a:ext cx="82296" cy="7315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78992" y="4133087"/>
            <a:ext cx="2212848" cy="7315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i="0">
                <a:solidFill>
                  <a:srgbClr val="FFFFFF"/>
                </a:solidFill>
                <a:latin typeface="Segoe UI Semibold"/>
              </a:rPr>
              <a:t>Prompt engineering</a:t>
            </a:r>
          </a:p>
        </p:txBody>
      </p:sp>
      <p:sp>
        <p:nvSpPr>
          <p:cNvPr id="21" name="Rectangle 20"/>
          <p:cNvSpPr/>
          <p:nvPr/>
        </p:nvSpPr>
        <p:spPr>
          <a:xfrm>
            <a:off x="3383280" y="4133087"/>
            <a:ext cx="5742432" cy="7315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54864" bIns="54864"/>
          <a:lstStyle/>
          <a:p>
            <a:pPr algn="ctr"/>
            <a:r>
              <a:rPr sz="1200" b="0" i="0">
                <a:solidFill>
                  <a:srgbClr val="FFFFFF"/>
                </a:solidFill>
                <a:latin typeface="Segoe UI"/>
              </a:rPr>
              <a:t>The single message — instruction, context, constraints</a:t>
            </a:r>
          </a:p>
          <a:p>
            <a:pPr>
              <a:spcBef>
                <a:spcPts val="300"/>
              </a:spcBef>
            </a:pPr>
            <a:r>
              <a:rPr sz="1100" b="0" i="0">
                <a:solidFill>
                  <a:srgbClr val="9DB2D3"/>
                </a:solidFill>
                <a:latin typeface="Segoe UI"/>
              </a:rPr>
              <a:t>Gemini · Copilot Chat  →  “a 600-word call summary for our PI”</a:t>
            </a:r>
          </a:p>
        </p:txBody>
      </p:sp>
      <p:sp>
        <p:nvSpPr>
          <p:cNvPr id="22" name="Rounded Rectangle 21"/>
          <p:cNvSpPr/>
          <p:nvPr/>
        </p:nvSpPr>
        <p:spPr>
          <a:xfrm>
            <a:off x="9235440" y="4133087"/>
            <a:ext cx="2404872" cy="731520"/>
          </a:xfrm>
          <a:prstGeom prst="round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09728"/>
          <a:lstStyle/>
          <a:p>
            <a:pPr algn="ctr"/>
            <a:r>
              <a:rPr sz="1100" b="1" i="0">
                <a:solidFill>
                  <a:srgbClr val="FFFFFF"/>
                </a:solidFill>
                <a:latin typeface="Segoe UI Semibold"/>
              </a:rPr>
              <a:t>Today + Lesson 2</a:t>
            </a:r>
          </a:p>
        </p:txBody>
      </p:sp>
      <p:sp>
        <p:nvSpPr>
          <p:cNvPr id="23" name="Rectangle 22"/>
          <p:cNvSpPr/>
          <p:nvPr/>
        </p:nvSpPr>
        <p:spPr>
          <a:xfrm>
            <a:off x="9235440" y="4133087"/>
            <a:ext cx="82296" cy="7315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047488"/>
            <a:ext cx="5440680" cy="12984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t" lIns="246888" rIns="182880" tIns="82296"/>
          <a:lstStyle/>
          <a:p>
            <a:pPr algn="ctr"/>
            <a:r>
              <a:rPr sz="1500" b="1" i="0">
                <a:solidFill>
                  <a:srgbClr val="BDD7F5"/>
                </a:solidFill>
                <a:latin typeface="Segoe UI Semibold"/>
              </a:rPr>
              <a:t>“Vibe coding”</a:t>
            </a:r>
          </a:p>
        </p:txBody>
      </p:sp>
      <p:sp>
        <p:nvSpPr>
          <p:cNvPr id="25" name="Rectangle 24"/>
          <p:cNvSpPr/>
          <p:nvPr/>
        </p:nvSpPr>
        <p:spPr>
          <a:xfrm>
            <a:off x="548640" y="5047488"/>
            <a:ext cx="82296" cy="1298448"/>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95528" y="5504688"/>
            <a:ext cx="1466088" cy="402336"/>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BDD7F5"/>
                </a:solidFill>
                <a:latin typeface="Segoe UI"/>
              </a:rPr>
              <a:t>describe it</a:t>
            </a:r>
          </a:p>
        </p:txBody>
      </p:sp>
      <p:sp>
        <p:nvSpPr>
          <p:cNvPr id="27" name="TextBox 26"/>
          <p:cNvSpPr txBox="1"/>
          <p:nvPr/>
        </p:nvSpPr>
        <p:spPr>
          <a:xfrm>
            <a:off x="2261616" y="5532120"/>
            <a:ext cx="274320" cy="365760"/>
          </a:xfrm>
          <a:prstGeom prst="rect">
            <a:avLst/>
          </a:prstGeom>
          <a:noFill/>
        </p:spPr>
        <p:txBody>
          <a:bodyPr wrap="square">
            <a:spAutoFit/>
          </a:bodyPr>
          <a:lstStyle/>
          <a:p>
            <a:pPr algn="ctr"/>
            <a:r>
              <a:rPr sz="1500" b="0" i="0">
                <a:solidFill>
                  <a:srgbClr val="FFB13D"/>
                </a:solidFill>
                <a:latin typeface="Segoe UI"/>
              </a:rPr>
              <a:t>→</a:t>
            </a:r>
          </a:p>
        </p:txBody>
      </p:sp>
      <p:sp>
        <p:nvSpPr>
          <p:cNvPr id="28" name="Rounded Rectangle 27"/>
          <p:cNvSpPr/>
          <p:nvPr/>
        </p:nvSpPr>
        <p:spPr>
          <a:xfrm>
            <a:off x="2535936" y="5504688"/>
            <a:ext cx="1466088" cy="402336"/>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BDD7F5"/>
                </a:solidFill>
                <a:latin typeface="Segoe UI"/>
              </a:rPr>
              <a:t>accept the output</a:t>
            </a:r>
          </a:p>
        </p:txBody>
      </p:sp>
      <p:sp>
        <p:nvSpPr>
          <p:cNvPr id="29" name="TextBox 28"/>
          <p:cNvSpPr txBox="1"/>
          <p:nvPr/>
        </p:nvSpPr>
        <p:spPr>
          <a:xfrm>
            <a:off x="4002024" y="5532120"/>
            <a:ext cx="274320" cy="365760"/>
          </a:xfrm>
          <a:prstGeom prst="rect">
            <a:avLst/>
          </a:prstGeom>
          <a:noFill/>
        </p:spPr>
        <p:txBody>
          <a:bodyPr wrap="square">
            <a:spAutoFit/>
          </a:bodyPr>
          <a:lstStyle/>
          <a:p>
            <a:pPr algn="ctr"/>
            <a:r>
              <a:rPr sz="1500" b="0" i="0">
                <a:solidFill>
                  <a:srgbClr val="FFB13D"/>
                </a:solidFill>
                <a:latin typeface="Segoe UI"/>
              </a:rPr>
              <a:t>→</a:t>
            </a:r>
          </a:p>
        </p:txBody>
      </p:sp>
      <p:sp>
        <p:nvSpPr>
          <p:cNvPr id="30" name="Rounded Rectangle 29"/>
          <p:cNvSpPr/>
          <p:nvPr/>
        </p:nvSpPr>
        <p:spPr>
          <a:xfrm>
            <a:off x="4276344" y="5504688"/>
            <a:ext cx="1466088" cy="402336"/>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BDD7F5"/>
                </a:solidFill>
                <a:latin typeface="Segoe UI"/>
              </a:rPr>
              <a:t>judge the result</a:t>
            </a:r>
          </a:p>
        </p:txBody>
      </p:sp>
      <p:sp>
        <p:nvSpPr>
          <p:cNvPr id="31" name="TextBox 30"/>
          <p:cNvSpPr txBox="1"/>
          <p:nvPr/>
        </p:nvSpPr>
        <p:spPr>
          <a:xfrm>
            <a:off x="795528" y="5961888"/>
            <a:ext cx="4946904" cy="365760"/>
          </a:xfrm>
          <a:prstGeom prst="rect">
            <a:avLst/>
          </a:prstGeom>
          <a:noFill/>
        </p:spPr>
        <p:txBody>
          <a:bodyPr wrap="square">
            <a:spAutoFit/>
          </a:bodyPr>
          <a:lstStyle/>
          <a:p>
            <a:pPr algn="l"/>
            <a:r>
              <a:rPr sz="1100" b="0" i="1">
                <a:solidFill>
                  <a:srgbClr val="9DB2D3"/>
                </a:solidFill>
                <a:latin typeface="Segoe UI"/>
              </a:rPr>
              <a:t>Layers 1–2, used casually — you judge the output, never the mechanism.</a:t>
            </a:r>
          </a:p>
        </p:txBody>
      </p:sp>
      <p:sp>
        <p:nvSpPr>
          <p:cNvPr id="32" name="Rectangle 31"/>
          <p:cNvSpPr/>
          <p:nvPr/>
        </p:nvSpPr>
        <p:spPr>
          <a:xfrm>
            <a:off x="6199632" y="5047488"/>
            <a:ext cx="5440680" cy="12984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t" lIns="246888" rIns="182880" tIns="82296"/>
          <a:lstStyle/>
          <a:p>
            <a:pPr algn="ctr"/>
            <a:r>
              <a:rPr sz="1500" b="1" i="0">
                <a:solidFill>
                  <a:srgbClr val="FFB13D"/>
                </a:solidFill>
                <a:latin typeface="Segoe UI Semibold"/>
              </a:rPr>
              <a:t>Agentic engineering</a:t>
            </a:r>
          </a:p>
        </p:txBody>
      </p:sp>
      <p:sp>
        <p:nvSpPr>
          <p:cNvPr id="33" name="Rectangle 32"/>
          <p:cNvSpPr/>
          <p:nvPr/>
        </p:nvSpPr>
        <p:spPr>
          <a:xfrm>
            <a:off x="6199632" y="5047488"/>
            <a:ext cx="82296" cy="12984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46520" y="5504688"/>
            <a:ext cx="1030986" cy="402336"/>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specify</a:t>
            </a:r>
          </a:p>
        </p:txBody>
      </p:sp>
      <p:sp>
        <p:nvSpPr>
          <p:cNvPr id="35" name="TextBox 34"/>
          <p:cNvSpPr txBox="1"/>
          <p:nvPr/>
        </p:nvSpPr>
        <p:spPr>
          <a:xfrm>
            <a:off x="7477506" y="5532120"/>
            <a:ext cx="274320" cy="365760"/>
          </a:xfrm>
          <a:prstGeom prst="rect">
            <a:avLst/>
          </a:prstGeom>
          <a:noFill/>
        </p:spPr>
        <p:txBody>
          <a:bodyPr wrap="square">
            <a:spAutoFit/>
          </a:bodyPr>
          <a:lstStyle/>
          <a:p>
            <a:pPr algn="ctr"/>
            <a:r>
              <a:rPr sz="1500" b="0" i="0">
                <a:solidFill>
                  <a:srgbClr val="FFB13D"/>
                </a:solidFill>
                <a:latin typeface="Segoe UI"/>
              </a:rPr>
              <a:t>→</a:t>
            </a:r>
          </a:p>
        </p:txBody>
      </p:sp>
      <p:sp>
        <p:nvSpPr>
          <p:cNvPr id="36" name="Rounded Rectangle 35"/>
          <p:cNvSpPr/>
          <p:nvPr/>
        </p:nvSpPr>
        <p:spPr>
          <a:xfrm>
            <a:off x="7751826" y="5504688"/>
            <a:ext cx="1030986" cy="402336"/>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ground it</a:t>
            </a:r>
          </a:p>
        </p:txBody>
      </p:sp>
      <p:sp>
        <p:nvSpPr>
          <p:cNvPr id="37" name="TextBox 36"/>
          <p:cNvSpPr txBox="1"/>
          <p:nvPr/>
        </p:nvSpPr>
        <p:spPr>
          <a:xfrm>
            <a:off x="8782812" y="5532120"/>
            <a:ext cx="274320" cy="365760"/>
          </a:xfrm>
          <a:prstGeom prst="rect">
            <a:avLst/>
          </a:prstGeom>
          <a:noFill/>
        </p:spPr>
        <p:txBody>
          <a:bodyPr wrap="square">
            <a:spAutoFit/>
          </a:bodyPr>
          <a:lstStyle/>
          <a:p>
            <a:pPr algn="ctr"/>
            <a:r>
              <a:rPr sz="1500" b="0" i="0">
                <a:solidFill>
                  <a:srgbClr val="FFB13D"/>
                </a:solidFill>
                <a:latin typeface="Segoe UI"/>
              </a:rPr>
              <a:t>→</a:t>
            </a:r>
          </a:p>
        </p:txBody>
      </p:sp>
      <p:sp>
        <p:nvSpPr>
          <p:cNvPr id="38" name="Rounded Rectangle 37"/>
          <p:cNvSpPr/>
          <p:nvPr/>
        </p:nvSpPr>
        <p:spPr>
          <a:xfrm>
            <a:off x="9057132" y="5504688"/>
            <a:ext cx="1030986" cy="402336"/>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equip it</a:t>
            </a:r>
          </a:p>
        </p:txBody>
      </p:sp>
      <p:sp>
        <p:nvSpPr>
          <p:cNvPr id="39" name="TextBox 38"/>
          <p:cNvSpPr txBox="1"/>
          <p:nvPr/>
        </p:nvSpPr>
        <p:spPr>
          <a:xfrm>
            <a:off x="10088118" y="5532120"/>
            <a:ext cx="274320" cy="365760"/>
          </a:xfrm>
          <a:prstGeom prst="rect">
            <a:avLst/>
          </a:prstGeom>
          <a:noFill/>
        </p:spPr>
        <p:txBody>
          <a:bodyPr wrap="square">
            <a:spAutoFit/>
          </a:bodyPr>
          <a:lstStyle/>
          <a:p>
            <a:pPr algn="ctr"/>
            <a:r>
              <a:rPr sz="1500" b="0" i="0">
                <a:solidFill>
                  <a:srgbClr val="FFB13D"/>
                </a:solidFill>
                <a:latin typeface="Segoe UI"/>
              </a:rPr>
              <a:t>→</a:t>
            </a:r>
          </a:p>
        </p:txBody>
      </p:sp>
      <p:sp>
        <p:nvSpPr>
          <p:cNvPr id="40" name="Rounded Rectangle 39"/>
          <p:cNvSpPr/>
          <p:nvPr/>
        </p:nvSpPr>
        <p:spPr>
          <a:xfrm>
            <a:off x="10362438" y="5504688"/>
            <a:ext cx="1030986" cy="402336"/>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check the lap</a:t>
            </a:r>
          </a:p>
        </p:txBody>
      </p:sp>
      <p:sp>
        <p:nvSpPr>
          <p:cNvPr id="41" name="TextBox 40"/>
          <p:cNvSpPr txBox="1"/>
          <p:nvPr/>
        </p:nvSpPr>
        <p:spPr>
          <a:xfrm>
            <a:off x="6446520" y="5961888"/>
            <a:ext cx="4946904" cy="365760"/>
          </a:xfrm>
          <a:prstGeom prst="rect">
            <a:avLst/>
          </a:prstGeom>
          <a:noFill/>
        </p:spPr>
        <p:txBody>
          <a:bodyPr wrap="square">
            <a:spAutoFit/>
          </a:bodyPr>
          <a:lstStyle/>
          <a:p>
            <a:pPr algn="l"/>
            <a:r>
              <a:rPr sz="1100" b="0" i="1">
                <a:solidFill>
                  <a:srgbClr val="9DB2D3"/>
                </a:solidFill>
                <a:latin typeface="Segoe UI"/>
              </a:rPr>
              <a:t>All four layers, deliberately — you engineer the process, not just the ask.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Tokens — the model doesn't see words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model never sees your words. Text is chopped into numbered fragments called tokens.</a:t>
            </a:r>
          </a:p>
          <a:p>
            <a:pPr>
              <a:spcAft>
                <a:spcPts val="800"/>
              </a:spcAft>
            </a:pPr>
            <a:r>
              <a:rPr sz="1800" b="0" i="0">
                <a:solidFill>
                  <a:srgbClr val="E9F0FA"/>
                </a:solidFill>
                <a:latin typeface="Segoe UI"/>
              </a:rPr>
              <a:t>Common words are a single token; rare words get split into several.</a:t>
            </a:r>
          </a:p>
          <a:p>
            <a:pPr>
              <a:spcAft>
                <a:spcPts val="800"/>
              </a:spcAft>
            </a:pPr>
            <a:r>
              <a:rPr sz="1800" b="0" i="0">
                <a:solidFill>
                  <a:srgbClr val="E9F0FA"/>
                </a:solidFill>
                <a:latin typeface="Segoe UI"/>
              </a:rPr>
              <a:t>Tokens are the model's real currency: usage limits and context limits count tokens, not words or pages.</a:t>
            </a:r>
          </a:p>
        </p:txBody>
      </p:sp>
      <p:sp>
        <p:nvSpPr>
          <p:cNvPr id="7" name="TextBox 6"/>
          <p:cNvSpPr txBox="1"/>
          <p:nvPr/>
        </p:nvSpPr>
        <p:spPr>
          <a:xfrm>
            <a:off x="548640" y="3017520"/>
            <a:ext cx="4572000" cy="365760"/>
          </a:xfrm>
          <a:prstGeom prst="rect">
            <a:avLst/>
          </a:prstGeom>
          <a:noFill/>
        </p:spPr>
        <p:txBody>
          <a:bodyPr wrap="square">
            <a:spAutoFit/>
          </a:bodyPr>
          <a:lstStyle/>
          <a:p>
            <a:pPr algn="l"/>
            <a:r>
              <a:rPr sz="1400" b="0" i="0">
                <a:solidFill>
                  <a:srgbClr val="9DB2D3"/>
                </a:solidFill>
                <a:latin typeface="Segoe UI"/>
              </a:rPr>
              <a:t>What the model sees:</a:t>
            </a:r>
          </a:p>
        </p:txBody>
      </p:sp>
      <p:sp>
        <p:nvSpPr>
          <p:cNvPr id="8" name="Rounded Rectangle 7"/>
          <p:cNvSpPr/>
          <p:nvPr/>
        </p:nvSpPr>
        <p:spPr>
          <a:xfrm>
            <a:off x="548640" y="3429000"/>
            <a:ext cx="649224"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O</a:t>
            </a:r>
          </a:p>
        </p:txBody>
      </p:sp>
      <p:sp>
        <p:nvSpPr>
          <p:cNvPr id="9" name="Rounded Rectangle 8"/>
          <p:cNvSpPr/>
          <p:nvPr/>
        </p:nvSpPr>
        <p:spPr>
          <a:xfrm>
            <a:off x="1307592" y="3429000"/>
            <a:ext cx="1234440"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Happy</a:t>
            </a:r>
          </a:p>
        </p:txBody>
      </p:sp>
      <p:sp>
        <p:nvSpPr>
          <p:cNvPr id="10" name="Rounded Rectangle 9"/>
          <p:cNvSpPr/>
          <p:nvPr/>
        </p:nvSpPr>
        <p:spPr>
          <a:xfrm>
            <a:off x="2651760" y="3429000"/>
            <a:ext cx="941832"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Day</a:t>
            </a:r>
          </a:p>
        </p:txBody>
      </p:sp>
      <p:sp>
        <p:nvSpPr>
          <p:cNvPr id="11" name="Rounded Rectangle 10"/>
          <p:cNvSpPr/>
          <p:nvPr/>
        </p:nvSpPr>
        <p:spPr>
          <a:xfrm>
            <a:off x="3703320" y="3429000"/>
            <a:ext cx="649224"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a:t>
            </a:r>
          </a:p>
        </p:txBody>
      </p:sp>
      <p:sp>
        <p:nvSpPr>
          <p:cNvPr id="12" name="TextBox 11"/>
          <p:cNvSpPr txBox="1"/>
          <p:nvPr/>
        </p:nvSpPr>
        <p:spPr>
          <a:xfrm>
            <a:off x="4645152" y="3520440"/>
            <a:ext cx="6903720" cy="365760"/>
          </a:xfrm>
          <a:prstGeom prst="rect">
            <a:avLst/>
          </a:prstGeom>
          <a:noFill/>
        </p:spPr>
        <p:txBody>
          <a:bodyPr wrap="square">
            <a:spAutoFit/>
          </a:bodyPr>
          <a:lstStyle/>
          <a:p>
            <a:pPr algn="l"/>
            <a:r>
              <a:rPr sz="1400" b="0" i="1">
                <a:solidFill>
                  <a:srgbClr val="9DB2D3"/>
                </a:solidFill>
                <a:latin typeface="Segoe UI"/>
              </a:rPr>
              <a:t>“O Happy Day!” — 12 characters, 4 tokens. Common words: one token each.</a:t>
            </a:r>
          </a:p>
        </p:txBody>
      </p:sp>
      <p:sp>
        <p:nvSpPr>
          <p:cNvPr id="13" name="Rounded Rectangle 12"/>
          <p:cNvSpPr/>
          <p:nvPr/>
        </p:nvSpPr>
        <p:spPr>
          <a:xfrm>
            <a:off x="548640" y="4160520"/>
            <a:ext cx="649224"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O</a:t>
            </a:r>
          </a:p>
        </p:txBody>
      </p:sp>
      <p:sp>
        <p:nvSpPr>
          <p:cNvPr id="14" name="Rounded Rectangle 13"/>
          <p:cNvSpPr/>
          <p:nvPr/>
        </p:nvSpPr>
        <p:spPr>
          <a:xfrm>
            <a:off x="1307592" y="4160520"/>
            <a:ext cx="795528"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Fr</a:t>
            </a:r>
          </a:p>
        </p:txBody>
      </p:sp>
      <p:sp>
        <p:nvSpPr>
          <p:cNvPr id="15" name="Rounded Rectangle 14"/>
          <p:cNvSpPr/>
          <p:nvPr/>
        </p:nvSpPr>
        <p:spPr>
          <a:xfrm>
            <a:off x="2212848" y="4160520"/>
            <a:ext cx="795528"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ab</a:t>
            </a:r>
          </a:p>
        </p:txBody>
      </p:sp>
      <p:sp>
        <p:nvSpPr>
          <p:cNvPr id="16" name="Rounded Rectangle 15"/>
          <p:cNvSpPr/>
          <p:nvPr/>
        </p:nvSpPr>
        <p:spPr>
          <a:xfrm>
            <a:off x="3118104" y="4160520"/>
            <a:ext cx="649224"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j</a:t>
            </a:r>
          </a:p>
        </p:txBody>
      </p:sp>
      <p:sp>
        <p:nvSpPr>
          <p:cNvPr id="17" name="Rounded Rectangle 16"/>
          <p:cNvSpPr/>
          <p:nvPr/>
        </p:nvSpPr>
        <p:spPr>
          <a:xfrm>
            <a:off x="3877056" y="4160520"/>
            <a:ext cx="941832"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ous</a:t>
            </a:r>
          </a:p>
        </p:txBody>
      </p:sp>
      <p:sp>
        <p:nvSpPr>
          <p:cNvPr id="18" name="Rounded Rectangle 17"/>
          <p:cNvSpPr/>
          <p:nvPr/>
        </p:nvSpPr>
        <p:spPr>
          <a:xfrm>
            <a:off x="4928616" y="4160520"/>
            <a:ext cx="941832" cy="502920"/>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Day</a:t>
            </a:r>
          </a:p>
        </p:txBody>
      </p:sp>
      <p:sp>
        <p:nvSpPr>
          <p:cNvPr id="19" name="Rounded Rectangle 18"/>
          <p:cNvSpPr/>
          <p:nvPr/>
        </p:nvSpPr>
        <p:spPr>
          <a:xfrm>
            <a:off x="5980176" y="4160520"/>
            <a:ext cx="649224" cy="50292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a:t>
            </a:r>
          </a:p>
        </p:txBody>
      </p:sp>
      <p:sp>
        <p:nvSpPr>
          <p:cNvPr id="20" name="TextBox 19"/>
          <p:cNvSpPr txBox="1"/>
          <p:nvPr/>
        </p:nvSpPr>
        <p:spPr>
          <a:xfrm>
            <a:off x="6922008" y="4251959"/>
            <a:ext cx="4626864" cy="365760"/>
          </a:xfrm>
          <a:prstGeom prst="rect">
            <a:avLst/>
          </a:prstGeom>
          <a:noFill/>
        </p:spPr>
        <p:txBody>
          <a:bodyPr wrap="square">
            <a:spAutoFit/>
          </a:bodyPr>
          <a:lstStyle/>
          <a:p>
            <a:pPr algn="l"/>
            <a:r>
              <a:rPr sz="1400" b="0" i="1">
                <a:solidFill>
                  <a:srgbClr val="9DB2D3"/>
                </a:solidFill>
                <a:latin typeface="Segoe UI"/>
              </a:rPr>
              <a:t>“O Frabjous Day!” — 15 characters, but 7 tokens. The rare word shatters.</a:t>
            </a:r>
          </a:p>
        </p:txBody>
      </p:sp>
      <p:sp>
        <p:nvSpPr>
          <p:cNvPr id="21" name="TextBox 20"/>
          <p:cNvSpPr txBox="1"/>
          <p:nvPr/>
        </p:nvSpPr>
        <p:spPr>
          <a:xfrm>
            <a:off x="548640" y="4800600"/>
            <a:ext cx="11091672" cy="365760"/>
          </a:xfrm>
          <a:prstGeom prst="rect">
            <a:avLst/>
          </a:prstGeom>
          <a:noFill/>
        </p:spPr>
        <p:txBody>
          <a:bodyPr wrap="square">
            <a:spAutoFit/>
          </a:bodyPr>
          <a:lstStyle/>
          <a:p>
            <a:pPr algn="l"/>
            <a:r>
              <a:rPr sz="1400" b="0" i="1">
                <a:solidFill>
                  <a:srgbClr val="9DB2D3"/>
                </a:solidFill>
                <a:latin typeface="Segoe UI"/>
              </a:rPr>
              <a:t>One rare word — and the token count nearly doubles.</a:t>
            </a:r>
          </a:p>
        </p:txBody>
      </p:sp>
      <p:sp>
        <p:nvSpPr>
          <p:cNvPr id="22" name="Rectangle 21"/>
          <p:cNvSpPr/>
          <p:nvPr/>
        </p:nvSpPr>
        <p:spPr>
          <a:xfrm>
            <a:off x="548640" y="5212080"/>
            <a:ext cx="11091672" cy="5029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Segoe UI Semibold"/>
              </a:rPr>
              <a:t>▶ LIVE DEMO — tiktokenizer.vercel.app (1 min): paste a sentence, watch it split into tokens live</a:t>
            </a:r>
          </a:p>
        </p:txBody>
      </p:sp>
      <p:sp>
        <p:nvSpPr>
          <p:cNvPr id="23" name="Rectangle 22"/>
          <p:cNvSpPr/>
          <p:nvPr/>
        </p:nvSpPr>
        <p:spPr>
          <a:xfrm>
            <a:off x="548640" y="5212080"/>
            <a:ext cx="91440" cy="5029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context window — a finite working memory</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Everything you paste and everything the model answers must fit inside one hard limit: the context window.</a:t>
            </a:r>
          </a:p>
          <a:p>
            <a:pPr>
              <a:spcAft>
                <a:spcPts val="800"/>
              </a:spcAft>
            </a:pPr>
            <a:r>
              <a:rPr sz="1800" b="0" i="0">
                <a:solidFill>
                  <a:srgbClr val="E9F0FA"/>
                </a:solidFill>
                <a:latin typeface="Segoe UI"/>
              </a:rPr>
              <a:t>And attention sags: in a long conversation the model weighs the beginning and the end, and neglects the middle — the “lost in the middle” problem.</a:t>
            </a:r>
          </a:p>
        </p:txBody>
      </p:sp>
      <p:sp>
        <p:nvSpPr>
          <p:cNvPr id="7" name="TextBox 6"/>
          <p:cNvSpPr txBox="1"/>
          <p:nvPr/>
        </p:nvSpPr>
        <p:spPr>
          <a:xfrm>
            <a:off x="548640" y="2834640"/>
            <a:ext cx="8229600" cy="365760"/>
          </a:xfrm>
          <a:prstGeom prst="rect">
            <a:avLst/>
          </a:prstGeom>
          <a:noFill/>
        </p:spPr>
        <p:txBody>
          <a:bodyPr wrap="square">
            <a:spAutoFit/>
          </a:bodyPr>
          <a:lstStyle/>
          <a:p>
            <a:pPr algn="l"/>
            <a:r>
              <a:rPr sz="1400" b="0" i="0">
                <a:solidFill>
                  <a:srgbClr val="9DB2D3"/>
                </a:solidFill>
                <a:latin typeface="Segoe UI"/>
              </a:rPr>
              <a:t>A long conversation, as the model weighs it:</a:t>
            </a:r>
          </a:p>
        </p:txBody>
      </p:sp>
      <p:sp>
        <p:nvSpPr>
          <p:cNvPr id="8" name="Rectangle 7"/>
          <p:cNvSpPr/>
          <p:nvPr/>
        </p:nvSpPr>
        <p:spPr>
          <a:xfrm>
            <a:off x="548640" y="3246120"/>
            <a:ext cx="3108960" cy="5029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0" i="0">
                <a:solidFill>
                  <a:srgbClr val="FFFFFF"/>
                </a:solidFill>
                <a:latin typeface="Segoe UI"/>
              </a:rPr>
              <a:t>beginning — remembered</a:t>
            </a:r>
          </a:p>
        </p:txBody>
      </p:sp>
      <p:sp>
        <p:nvSpPr>
          <p:cNvPr id="9" name="Rectangle 8"/>
          <p:cNvSpPr/>
          <p:nvPr/>
        </p:nvSpPr>
        <p:spPr>
          <a:xfrm>
            <a:off x="3657600" y="3246120"/>
            <a:ext cx="4873752" cy="50292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0" i="0">
                <a:solidFill>
                  <a:srgbClr val="BDD7F5"/>
                </a:solidFill>
                <a:latin typeface="Segoe UI"/>
              </a:rPr>
              <a:t>middle — often lost</a:t>
            </a:r>
          </a:p>
        </p:txBody>
      </p:sp>
      <p:sp>
        <p:nvSpPr>
          <p:cNvPr id="10" name="Rectangle 9"/>
          <p:cNvSpPr/>
          <p:nvPr/>
        </p:nvSpPr>
        <p:spPr>
          <a:xfrm>
            <a:off x="8531352" y="3246120"/>
            <a:ext cx="3108960" cy="5029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0" i="0">
                <a:solidFill>
                  <a:srgbClr val="FFFFFF"/>
                </a:solidFill>
                <a:latin typeface="Segoe UI"/>
              </a:rPr>
              <a:t>end — remembered</a:t>
            </a:r>
          </a:p>
        </p:txBody>
      </p:sp>
      <p:sp>
        <p:nvSpPr>
          <p:cNvPr id="11" name="Rectangle 10"/>
          <p:cNvSpPr/>
          <p:nvPr/>
        </p:nvSpPr>
        <p:spPr>
          <a:xfrm>
            <a:off x="548640" y="4114800"/>
            <a:ext cx="5449824" cy="16002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Rule 1 — Start fresh per task</a:t>
            </a:r>
          </a:p>
          <a:p>
            <a:pPr algn="l">
              <a:spcBef>
                <a:spcPts val="400"/>
              </a:spcBef>
            </a:pPr>
            <a:r>
              <a:rPr sz="1400" b="0" i="0">
                <a:solidFill>
                  <a:srgbClr val="E9F0FA"/>
                </a:solidFill>
                <a:latin typeface="Segoe UI"/>
              </a:rPr>
              <a:t>Long chats degrade. Open a new conversation for each new task instead of continuing yesterday's thread.</a:t>
            </a:r>
          </a:p>
        </p:txBody>
      </p:sp>
      <p:sp>
        <p:nvSpPr>
          <p:cNvPr id="12" name="Rectangle 11"/>
          <p:cNvSpPr/>
          <p:nvPr/>
        </p:nvSpPr>
        <p:spPr>
          <a:xfrm>
            <a:off x="548640" y="4114800"/>
            <a:ext cx="82296" cy="16002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4114800"/>
            <a:ext cx="5449824" cy="16002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Rule 2 — More context is not better context</a:t>
            </a:r>
          </a:p>
          <a:p>
            <a:pPr algn="l">
              <a:spcBef>
                <a:spcPts val="400"/>
              </a:spcBef>
            </a:pPr>
            <a:r>
              <a:rPr sz="1400" b="0" i="0">
                <a:solidFill>
                  <a:srgbClr val="E9F0FA"/>
                </a:solidFill>
                <a:latin typeface="Segoe UI"/>
              </a:rPr>
              <a:t>Fewer, relevant tokens beat a document dump. Curate what you paste; relevance beats volume.</a:t>
            </a:r>
          </a:p>
        </p:txBody>
      </p:sp>
      <p:sp>
        <p:nvSpPr>
          <p:cNvPr id="14" name="Rectangle 13"/>
          <p:cNvSpPr/>
          <p:nvPr/>
        </p:nvSpPr>
        <p:spPr>
          <a:xfrm>
            <a:off x="6190488" y="4114800"/>
            <a:ext cx="82296" cy="16002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What fills the window — and what falls out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5120640" cy="365760"/>
          </a:xfrm>
          <a:prstGeom prst="rect">
            <a:avLst/>
          </a:prstGeom>
          <a:noFill/>
        </p:spPr>
        <p:txBody>
          <a:bodyPr wrap="square">
            <a:spAutoFit/>
          </a:bodyPr>
          <a:lstStyle/>
          <a:p>
            <a:pPr algn="l"/>
            <a:r>
              <a:rPr sz="1400" b="0" i="0">
                <a:solidFill>
                  <a:srgbClr val="BDD7F5"/>
                </a:solidFill>
                <a:latin typeface="Segoe UI"/>
              </a:rPr>
              <a:t>Everything the model knows, it knows from here:</a:t>
            </a:r>
          </a:p>
        </p:txBody>
      </p:sp>
      <p:sp>
        <p:nvSpPr>
          <p:cNvPr id="7" name="Rounded Rectangle 6"/>
          <p:cNvSpPr/>
          <p:nvPr/>
        </p:nvSpPr>
        <p:spPr>
          <a:xfrm>
            <a:off x="548640" y="1920240"/>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Instructions</a:t>
            </a:r>
          </a:p>
        </p:txBody>
      </p:sp>
      <p:sp>
        <p:nvSpPr>
          <p:cNvPr id="8" name="Rounded Rectangle 7"/>
          <p:cNvSpPr/>
          <p:nvPr/>
        </p:nvSpPr>
        <p:spPr>
          <a:xfrm>
            <a:off x="548640" y="2487168"/>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Your message</a:t>
            </a:r>
          </a:p>
        </p:txBody>
      </p:sp>
      <p:sp>
        <p:nvSpPr>
          <p:cNvPr id="9" name="Rounded Rectangle 8"/>
          <p:cNvSpPr/>
          <p:nvPr/>
        </p:nvSpPr>
        <p:spPr>
          <a:xfrm>
            <a:off x="548640" y="3054096"/>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Chat history</a:t>
            </a:r>
          </a:p>
        </p:txBody>
      </p:sp>
      <p:sp>
        <p:nvSpPr>
          <p:cNvPr id="10" name="Rounded Rectangle 9"/>
          <p:cNvSpPr/>
          <p:nvPr/>
        </p:nvSpPr>
        <p:spPr>
          <a:xfrm>
            <a:off x="548640" y="3621024"/>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Profile &amp; memory</a:t>
            </a:r>
          </a:p>
        </p:txBody>
      </p:sp>
      <p:sp>
        <p:nvSpPr>
          <p:cNvPr id="11" name="Rounded Rectangle 10"/>
          <p:cNvSpPr/>
          <p:nvPr/>
        </p:nvSpPr>
        <p:spPr>
          <a:xfrm>
            <a:off x="548640" y="4187952"/>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Tool results</a:t>
            </a:r>
          </a:p>
        </p:txBody>
      </p:sp>
      <p:sp>
        <p:nvSpPr>
          <p:cNvPr id="12" name="Rounded Rectangle 11"/>
          <p:cNvSpPr/>
          <p:nvPr/>
        </p:nvSpPr>
        <p:spPr>
          <a:xfrm>
            <a:off x="548640" y="4754880"/>
            <a:ext cx="1874519" cy="420624"/>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BDD7F5"/>
                </a:solidFill>
                <a:latin typeface="Segoe UI"/>
              </a:rPr>
              <a:t>Documents</a:t>
            </a:r>
          </a:p>
        </p:txBody>
      </p:sp>
      <p:sp>
        <p:nvSpPr>
          <p:cNvPr id="13" name="TextBox 12"/>
          <p:cNvSpPr txBox="1"/>
          <p:nvPr/>
        </p:nvSpPr>
        <p:spPr>
          <a:xfrm>
            <a:off x="2514600" y="3337560"/>
            <a:ext cx="548640" cy="365760"/>
          </a:xfrm>
          <a:prstGeom prst="rect">
            <a:avLst/>
          </a:prstGeom>
          <a:noFill/>
        </p:spPr>
        <p:txBody>
          <a:bodyPr wrap="square">
            <a:spAutoFit/>
          </a:bodyPr>
          <a:lstStyle/>
          <a:p>
            <a:pPr algn="ctr"/>
            <a:r>
              <a:rPr sz="2600" b="0" i="0">
                <a:solidFill>
                  <a:srgbClr val="FFB13D"/>
                </a:solidFill>
                <a:latin typeface="Segoe UI"/>
              </a:rPr>
              <a:t>→</a:t>
            </a:r>
          </a:p>
        </p:txBody>
      </p:sp>
      <p:sp>
        <p:nvSpPr>
          <p:cNvPr id="14" name="Rectangle 13"/>
          <p:cNvSpPr/>
          <p:nvPr/>
        </p:nvSpPr>
        <p:spPr>
          <a:xfrm>
            <a:off x="3108960" y="1920240"/>
            <a:ext cx="2606040" cy="32918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t" tIns="73152"/>
          <a:lstStyle/>
          <a:p>
            <a:pPr algn="ctr"/>
            <a:r>
              <a:rPr sz="1400" b="1" i="0">
                <a:solidFill>
                  <a:srgbClr val="FFFFFF"/>
                </a:solidFill>
                <a:latin typeface="Segoe UI Semibold"/>
              </a:rPr>
              <a:t>LLM</a:t>
            </a:r>
          </a:p>
        </p:txBody>
      </p:sp>
      <p:sp>
        <p:nvSpPr>
          <p:cNvPr id="15" name="Rectangle 14"/>
          <p:cNvSpPr/>
          <p:nvPr/>
        </p:nvSpPr>
        <p:spPr>
          <a:xfrm>
            <a:off x="3291840" y="2423160"/>
            <a:ext cx="2240280" cy="2606040"/>
          </a:xfrm>
          <a:prstGeom prst="rect">
            <a:avLst/>
          </a:prstGeom>
          <a:solidFill>
            <a:srgbClr val="20365E"/>
          </a:solidFill>
          <a:ln w="15875">
            <a:solidFill>
              <a:srgbClr val="BDD7F5"/>
            </a:solidFill>
            <a:prstDash val="dash"/>
          </a:ln>
          <a:effectLst/>
        </p:spPr>
        <p:style>
          <a:lnRef idx="1">
            <a:schemeClr val="accent1"/>
          </a:lnRef>
          <a:fillRef idx="3">
            <a:schemeClr val="accent1"/>
          </a:fillRef>
          <a:effectRef idx="2">
            <a:schemeClr val="accent1"/>
          </a:effectRef>
          <a:fontRef idx="minor">
            <a:schemeClr val="lt1"/>
          </a:fontRef>
        </p:style>
        <p:txBody>
          <a:bodyPr rtlCol="0" anchor="t" tIns="54864"/>
          <a:lstStyle/>
          <a:p>
            <a:pPr algn="ctr"/>
            <a:r>
              <a:rPr sz="1200" b="1" i="0">
                <a:solidFill>
                  <a:srgbClr val="BDD7F5"/>
                </a:solidFill>
                <a:latin typeface="Segoe UI Semibold"/>
              </a:rPr>
              <a:t>Context window</a:t>
            </a:r>
          </a:p>
        </p:txBody>
      </p:sp>
      <p:sp>
        <p:nvSpPr>
          <p:cNvPr id="16" name="Rounded Rectangle 15"/>
          <p:cNvSpPr/>
          <p:nvPr/>
        </p:nvSpPr>
        <p:spPr>
          <a:xfrm>
            <a:off x="3474720" y="2880360"/>
            <a:ext cx="1874519" cy="47548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FFFFFF"/>
                </a:solidFill>
                <a:latin typeface="Segoe UI"/>
              </a:rPr>
              <a:t>System prompt</a:t>
            </a:r>
          </a:p>
        </p:txBody>
      </p:sp>
      <p:sp>
        <p:nvSpPr>
          <p:cNvPr id="17" name="Rounded Rectangle 16"/>
          <p:cNvSpPr/>
          <p:nvPr/>
        </p:nvSpPr>
        <p:spPr>
          <a:xfrm>
            <a:off x="3474720" y="3538728"/>
            <a:ext cx="1874519" cy="47548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FFFFFF"/>
                </a:solidFill>
                <a:latin typeface="Segoe UI"/>
              </a:rPr>
              <a:t>Your prompt</a:t>
            </a:r>
          </a:p>
        </p:txBody>
      </p:sp>
      <p:sp>
        <p:nvSpPr>
          <p:cNvPr id="18" name="Rounded Rectangle 17"/>
          <p:cNvSpPr/>
          <p:nvPr/>
        </p:nvSpPr>
        <p:spPr>
          <a:xfrm>
            <a:off x="3474720" y="4197096"/>
            <a:ext cx="1874519" cy="47548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FFFFFF"/>
                </a:solidFill>
                <a:latin typeface="Segoe UI"/>
              </a:rPr>
              <a:t>Pasted context</a:t>
            </a:r>
          </a:p>
        </p:txBody>
      </p:sp>
      <p:sp>
        <p:nvSpPr>
          <p:cNvPr id="19" name="TextBox 18"/>
          <p:cNvSpPr txBox="1"/>
          <p:nvPr/>
        </p:nvSpPr>
        <p:spPr>
          <a:xfrm>
            <a:off x="6217920" y="1417320"/>
            <a:ext cx="5394960" cy="365760"/>
          </a:xfrm>
          <a:prstGeom prst="rect">
            <a:avLst/>
          </a:prstGeom>
          <a:noFill/>
        </p:spPr>
        <p:txBody>
          <a:bodyPr wrap="square">
            <a:spAutoFit/>
          </a:bodyPr>
          <a:lstStyle/>
          <a:p>
            <a:pPr algn="l"/>
            <a:r>
              <a:rPr sz="1400" b="0" i="0">
                <a:solidFill>
                  <a:srgbClr val="BDD7F5"/>
                </a:solidFill>
                <a:latin typeface="Segoe UI"/>
              </a:rPr>
              <a:t>…and a long chat outgrows it:</a:t>
            </a:r>
          </a:p>
        </p:txBody>
      </p:sp>
      <p:sp>
        <p:nvSpPr>
          <p:cNvPr id="20" name="TextBox 19"/>
          <p:cNvSpPr txBox="1"/>
          <p:nvPr/>
        </p:nvSpPr>
        <p:spPr>
          <a:xfrm>
            <a:off x="6217920" y="2057400"/>
            <a:ext cx="1737360" cy="365760"/>
          </a:xfrm>
          <a:prstGeom prst="rect">
            <a:avLst/>
          </a:prstGeom>
          <a:noFill/>
        </p:spPr>
        <p:txBody>
          <a:bodyPr wrap="square">
            <a:spAutoFit/>
          </a:bodyPr>
          <a:lstStyle/>
          <a:p>
            <a:pPr algn="l"/>
            <a:r>
              <a:rPr sz="1100" b="0" i="0">
                <a:solidFill>
                  <a:srgbClr val="9DB2D3"/>
                </a:solidFill>
                <a:latin typeface="Segoe UI"/>
              </a:rPr>
              <a:t>lost — fell out
of the window</a:t>
            </a:r>
          </a:p>
        </p:txBody>
      </p:sp>
      <p:sp>
        <p:nvSpPr>
          <p:cNvPr id="21" name="TextBox 20"/>
          <p:cNvSpPr txBox="1"/>
          <p:nvPr/>
        </p:nvSpPr>
        <p:spPr>
          <a:xfrm>
            <a:off x="8092440" y="2057400"/>
            <a:ext cx="3520440" cy="365760"/>
          </a:xfrm>
          <a:prstGeom prst="rect">
            <a:avLst/>
          </a:prstGeom>
          <a:noFill/>
        </p:spPr>
        <p:txBody>
          <a:bodyPr wrap="square">
            <a:spAutoFit/>
          </a:bodyPr>
          <a:lstStyle/>
          <a:p>
            <a:pPr algn="l"/>
            <a:r>
              <a:rPr sz="1100" b="0" i="0">
                <a:solidFill>
                  <a:srgbClr val="BDD7F5"/>
                </a:solidFill>
                <a:latin typeface="Segoe UI"/>
              </a:rPr>
              <a:t>the context window (“n” tokens)</a:t>
            </a:r>
          </a:p>
        </p:txBody>
      </p:sp>
      <p:sp>
        <p:nvSpPr>
          <p:cNvPr id="22" name="Rectangle 21"/>
          <p:cNvSpPr/>
          <p:nvPr/>
        </p:nvSpPr>
        <p:spPr>
          <a:xfrm>
            <a:off x="8001000" y="2651760"/>
            <a:ext cx="3639312" cy="1097280"/>
          </a:xfrm>
          <a:prstGeom prst="rect">
            <a:avLst/>
          </a:prstGeom>
          <a:solidFill>
            <a:srgbClr val="142444"/>
          </a:solidFill>
          <a:ln w="19050">
            <a:solidFill>
              <a:srgbClr val="BDD7F5"/>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2788920"/>
            <a:ext cx="1600200" cy="82296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8EA3BF"/>
                </a:solidFill>
                <a:latin typeface="Segoe UI"/>
              </a:rPr>
              <a:t>1st prompt</a:t>
            </a:r>
          </a:p>
        </p:txBody>
      </p:sp>
      <p:sp>
        <p:nvSpPr>
          <p:cNvPr id="24" name="Rectangle 23"/>
          <p:cNvSpPr/>
          <p:nvPr/>
        </p:nvSpPr>
        <p:spPr>
          <a:xfrm>
            <a:off x="8092440" y="2788920"/>
            <a:ext cx="822960" cy="8229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1st response</a:t>
            </a:r>
          </a:p>
        </p:txBody>
      </p:sp>
      <p:sp>
        <p:nvSpPr>
          <p:cNvPr id="25" name="Rectangle 24"/>
          <p:cNvSpPr/>
          <p:nvPr/>
        </p:nvSpPr>
        <p:spPr>
          <a:xfrm>
            <a:off x="8979408" y="2788920"/>
            <a:ext cx="822960"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2nd prompt</a:t>
            </a:r>
          </a:p>
        </p:txBody>
      </p:sp>
      <p:sp>
        <p:nvSpPr>
          <p:cNvPr id="26" name="Rectangle 25"/>
          <p:cNvSpPr/>
          <p:nvPr/>
        </p:nvSpPr>
        <p:spPr>
          <a:xfrm>
            <a:off x="9866376" y="2788920"/>
            <a:ext cx="822960" cy="8229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2nd response</a:t>
            </a:r>
          </a:p>
        </p:txBody>
      </p:sp>
      <p:sp>
        <p:nvSpPr>
          <p:cNvPr id="27" name="Rectangle 26"/>
          <p:cNvSpPr/>
          <p:nvPr/>
        </p:nvSpPr>
        <p:spPr>
          <a:xfrm>
            <a:off x="10753344" y="2788920"/>
            <a:ext cx="822960"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0" i="0">
                <a:solidFill>
                  <a:srgbClr val="FFFFFF"/>
                </a:solidFill>
                <a:latin typeface="Segoe UI"/>
              </a:rPr>
              <a:t>3rd prompt</a:t>
            </a:r>
          </a:p>
        </p:txBody>
      </p:sp>
      <p:sp>
        <p:nvSpPr>
          <p:cNvPr id="28" name="Rectangle 27"/>
          <p:cNvSpPr/>
          <p:nvPr/>
        </p:nvSpPr>
        <p:spPr>
          <a:xfrm>
            <a:off x="6217920" y="3977639"/>
            <a:ext cx="5422392" cy="19050"/>
          </a:xfrm>
          <a:prstGeom prst="rect">
            <a:avLst/>
          </a:prstGeom>
          <a:solidFill>
            <a:srgbClr val="9DB2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4069080"/>
            <a:ext cx="5422392" cy="365760"/>
          </a:xfrm>
          <a:prstGeom prst="rect">
            <a:avLst/>
          </a:prstGeom>
          <a:noFill/>
        </p:spPr>
        <p:txBody>
          <a:bodyPr wrap="square">
            <a:spAutoFit/>
          </a:bodyPr>
          <a:lstStyle/>
          <a:p>
            <a:pPr algn="r"/>
            <a:r>
              <a:rPr sz="1100" b="0" i="0">
                <a:solidFill>
                  <a:srgbClr val="9DB2D3"/>
                </a:solidFill>
                <a:latin typeface="Segoe UI"/>
              </a:rPr>
              <a:t>time →</a:t>
            </a:r>
          </a:p>
        </p:txBody>
      </p:sp>
      <p:sp>
        <p:nvSpPr>
          <p:cNvPr id="30" name="TextBox 29"/>
          <p:cNvSpPr txBox="1"/>
          <p:nvPr/>
        </p:nvSpPr>
        <p:spPr>
          <a:xfrm>
            <a:off x="6217920" y="4526280"/>
            <a:ext cx="5422392" cy="365760"/>
          </a:xfrm>
          <a:prstGeom prst="rect">
            <a:avLst/>
          </a:prstGeom>
          <a:noFill/>
        </p:spPr>
        <p:txBody>
          <a:bodyPr wrap="square">
            <a:spAutoFit/>
          </a:bodyPr>
          <a:lstStyle/>
          <a:p>
            <a:pPr algn="l"/>
            <a:r>
              <a:rPr sz="1200" b="0" i="1">
                <a:solidFill>
                  <a:srgbClr val="9DB2D3"/>
                </a:solidFill>
                <a:latin typeface="Segoe UI"/>
              </a:rPr>
              <a:t>Each turn appends tokens. When the window is full, the oldest turns silently fall out first — the model never announces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System prompts — standing instructions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A conversation is really a stack of messages — with an invisible instruction sitting on top of the stack.</a:t>
            </a:r>
          </a:p>
          <a:p>
            <a:pPr>
              <a:spcAft>
                <a:spcPts val="800"/>
              </a:spcAft>
            </a:pPr>
            <a:r>
              <a:rPr sz="1800" b="0" i="0">
                <a:solidFill>
                  <a:srgbClr val="E9F0FA"/>
                </a:solidFill>
                <a:latin typeface="Segoe UI"/>
              </a:rPr>
              <a:t>That system prompt shapes everything the model does. When it conflicts with your request, the system usually wins — watch:</a:t>
            </a:r>
          </a:p>
        </p:txBody>
      </p:sp>
      <p:sp>
        <p:nvSpPr>
          <p:cNvPr id="7" name="Rectangle 6"/>
          <p:cNvSpPr/>
          <p:nvPr/>
        </p:nvSpPr>
        <p:spPr>
          <a:xfrm>
            <a:off x="548640" y="2606040"/>
            <a:ext cx="914400" cy="475488"/>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FFFFFF"/>
                </a:solidFill>
                <a:latin typeface="Segoe UI Semibold"/>
              </a:rPr>
              <a:t>System</a:t>
            </a:r>
          </a:p>
        </p:txBody>
      </p:sp>
      <p:sp>
        <p:nvSpPr>
          <p:cNvPr id="8" name="Rectangle 7"/>
          <p:cNvSpPr/>
          <p:nvPr/>
        </p:nvSpPr>
        <p:spPr>
          <a:xfrm>
            <a:off x="1600200" y="2606040"/>
            <a:ext cx="4343400" cy="475488"/>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i="0">
                <a:solidFill>
                  <a:srgbClr val="FFFFFF"/>
                </a:solidFill>
                <a:latin typeface="Segoe UI Semibold"/>
              </a:rPr>
              <a:t>Respond only in morse code.</a:t>
            </a:r>
          </a:p>
        </p:txBody>
      </p:sp>
      <p:sp>
        <p:nvSpPr>
          <p:cNvPr id="9" name="Rectangle 8"/>
          <p:cNvSpPr/>
          <p:nvPr/>
        </p:nvSpPr>
        <p:spPr>
          <a:xfrm>
            <a:off x="548640" y="3191256"/>
            <a:ext cx="914400" cy="47548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FFFFFF"/>
                </a:solidFill>
                <a:latin typeface="Segoe UI Semibold"/>
              </a:rPr>
              <a:t>You</a:t>
            </a:r>
          </a:p>
        </p:txBody>
      </p:sp>
      <p:sp>
        <p:nvSpPr>
          <p:cNvPr id="10" name="Rectangle 9"/>
          <p:cNvSpPr/>
          <p:nvPr/>
        </p:nvSpPr>
        <p:spPr>
          <a:xfrm>
            <a:off x="1600200" y="3191256"/>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0" i="0">
                <a:solidFill>
                  <a:srgbClr val="E9F0FA"/>
                </a:solidFill>
                <a:latin typeface="Segoe UI"/>
              </a:rPr>
              <a:t>Hello, how are you?</a:t>
            </a:r>
          </a:p>
        </p:txBody>
      </p:sp>
      <p:sp>
        <p:nvSpPr>
          <p:cNvPr id="11" name="Rectangle 10"/>
          <p:cNvSpPr/>
          <p:nvPr/>
        </p:nvSpPr>
        <p:spPr>
          <a:xfrm>
            <a:off x="548640" y="3776472"/>
            <a:ext cx="914400" cy="475488"/>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BDD7F5"/>
                </a:solidFill>
                <a:latin typeface="Segoe UI Semibold"/>
              </a:rPr>
              <a:t>AI</a:t>
            </a:r>
          </a:p>
        </p:txBody>
      </p:sp>
      <p:sp>
        <p:nvSpPr>
          <p:cNvPr id="12" name="Rectangle 11"/>
          <p:cNvSpPr/>
          <p:nvPr/>
        </p:nvSpPr>
        <p:spPr>
          <a:xfrm>
            <a:off x="1600200" y="3776472"/>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0" i="0">
                <a:solidFill>
                  <a:srgbClr val="E9F0FA"/>
                </a:solidFill>
                <a:latin typeface="Segoe UI"/>
              </a:rPr>
              <a:t>.... . .-.. .-.. ---   ( = “HELLO” )</a:t>
            </a:r>
          </a:p>
        </p:txBody>
      </p:sp>
      <p:sp>
        <p:nvSpPr>
          <p:cNvPr id="13" name="Rectangle 12"/>
          <p:cNvSpPr/>
          <p:nvPr/>
        </p:nvSpPr>
        <p:spPr>
          <a:xfrm>
            <a:off x="548640" y="4361688"/>
            <a:ext cx="914400" cy="47548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FFFFFF"/>
                </a:solidFill>
                <a:latin typeface="Segoe UI Semibold"/>
              </a:rPr>
              <a:t>You</a:t>
            </a:r>
          </a:p>
        </p:txBody>
      </p:sp>
      <p:sp>
        <p:nvSpPr>
          <p:cNvPr id="14" name="Rectangle 13"/>
          <p:cNvSpPr/>
          <p:nvPr/>
        </p:nvSpPr>
        <p:spPr>
          <a:xfrm>
            <a:off x="1600200" y="4361688"/>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0" i="0">
                <a:solidFill>
                  <a:srgbClr val="E9F0FA"/>
                </a:solidFill>
                <a:latin typeface="Segoe UI"/>
              </a:rPr>
              <a:t>Stop doing morse code!</a:t>
            </a:r>
          </a:p>
        </p:txBody>
      </p:sp>
      <p:sp>
        <p:nvSpPr>
          <p:cNvPr id="15" name="Rectangle 14"/>
          <p:cNvSpPr/>
          <p:nvPr/>
        </p:nvSpPr>
        <p:spPr>
          <a:xfrm>
            <a:off x="548640" y="4946903"/>
            <a:ext cx="914400" cy="475488"/>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BDD7F5"/>
                </a:solidFill>
                <a:latin typeface="Segoe UI Semibold"/>
              </a:rPr>
              <a:t>AI</a:t>
            </a:r>
          </a:p>
        </p:txBody>
      </p:sp>
      <p:sp>
        <p:nvSpPr>
          <p:cNvPr id="16" name="Rectangle 15"/>
          <p:cNvSpPr/>
          <p:nvPr/>
        </p:nvSpPr>
        <p:spPr>
          <a:xfrm>
            <a:off x="1600200" y="4946903"/>
            <a:ext cx="434340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0" i="0">
                <a:solidFill>
                  <a:srgbClr val="E9F0FA"/>
                </a:solidFill>
                <a:latin typeface="Segoe UI"/>
              </a:rPr>
              <a:t>-. ---</a:t>
            </a:r>
          </a:p>
        </p:txBody>
      </p:sp>
      <p:sp>
        <p:nvSpPr>
          <p:cNvPr id="17" name="TextBox 16"/>
          <p:cNvSpPr txBox="1"/>
          <p:nvPr/>
        </p:nvSpPr>
        <p:spPr>
          <a:xfrm>
            <a:off x="548640" y="5577840"/>
            <a:ext cx="5394960" cy="365760"/>
          </a:xfrm>
          <a:prstGeom prst="rect">
            <a:avLst/>
          </a:prstGeom>
          <a:noFill/>
        </p:spPr>
        <p:txBody>
          <a:bodyPr wrap="square">
            <a:spAutoFit/>
          </a:bodyPr>
          <a:lstStyle/>
          <a:p>
            <a:pPr algn="l"/>
            <a:r>
              <a:rPr sz="1400" b="0" i="1">
                <a:solidFill>
                  <a:srgbClr val="9DB2D3"/>
                </a:solidFill>
                <a:latin typeface="Segoe UI"/>
              </a:rPr>
              <a:t>“-. ---” is morse for “NO” — the standing instruction outranks the user, every turn.</a:t>
            </a:r>
          </a:p>
        </p:txBody>
      </p:sp>
      <p:sp>
        <p:nvSpPr>
          <p:cNvPr id="18" name="Rectangle 17"/>
          <p:cNvSpPr/>
          <p:nvPr/>
        </p:nvSpPr>
        <p:spPr>
          <a:xfrm>
            <a:off x="6309360" y="3383280"/>
            <a:ext cx="5330952"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Coming in Lesson 5</a:t>
            </a:r>
          </a:p>
          <a:p>
            <a:pPr algn="l">
              <a:spcBef>
                <a:spcPts val="400"/>
              </a:spcBef>
            </a:pPr>
            <a:r>
              <a:rPr sz="1400" b="0" i="0">
                <a:solidFill>
                  <a:srgbClr val="E9F0FA"/>
                </a:solidFill>
                <a:latin typeface="Segoe UI"/>
              </a:rPr>
              <a:t>You will write a system prompt yourself. That is all a custom agent's “instructions” are — standing instructions you put on top of the stack.</a:t>
            </a:r>
          </a:p>
        </p:txBody>
      </p:sp>
      <p:sp>
        <p:nvSpPr>
          <p:cNvPr id="19" name="Rectangle 18"/>
          <p:cNvSpPr/>
          <p:nvPr/>
        </p:nvSpPr>
        <p:spPr>
          <a:xfrm>
            <a:off x="6309360" y="3383280"/>
            <a:ext cx="82296" cy="17373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Reasoning tokens — the pause before the answer</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Reasoning models “think out loud” before answering — a hidden drafting pass inside the same reply.</a:t>
            </a:r>
          </a:p>
          <a:p>
            <a:pPr>
              <a:spcAft>
                <a:spcPts val="800"/>
              </a:spcAft>
            </a:pPr>
            <a:r>
              <a:rPr sz="1800" b="0" i="0">
                <a:solidFill>
                  <a:srgbClr val="E9F0FA"/>
                </a:solidFill>
                <a:latin typeface="Segoe UI"/>
              </a:rPr>
              <a:t>The thinking is just more tokens: it takes time and counts against your limits, even though you rarely see it.</a:t>
            </a:r>
          </a:p>
        </p:txBody>
      </p:sp>
      <p:sp>
        <p:nvSpPr>
          <p:cNvPr id="7" name="TextBox 6"/>
          <p:cNvSpPr txBox="1"/>
          <p:nvPr/>
        </p:nvSpPr>
        <p:spPr>
          <a:xfrm>
            <a:off x="548640" y="2743200"/>
            <a:ext cx="5486400" cy="365760"/>
          </a:xfrm>
          <a:prstGeom prst="rect">
            <a:avLst/>
          </a:prstGeom>
          <a:noFill/>
        </p:spPr>
        <p:txBody>
          <a:bodyPr wrap="square">
            <a:spAutoFit/>
          </a:bodyPr>
          <a:lstStyle/>
          <a:p>
            <a:pPr algn="l"/>
            <a:r>
              <a:rPr sz="1400" b="0" i="0">
                <a:solidFill>
                  <a:srgbClr val="9DB2D3"/>
                </a:solidFill>
                <a:latin typeface="Segoe UI"/>
              </a:rPr>
              <a:t>One reply, two parts:</a:t>
            </a:r>
          </a:p>
        </p:txBody>
      </p:sp>
      <p:sp>
        <p:nvSpPr>
          <p:cNvPr id="8" name="Rectangle 7"/>
          <p:cNvSpPr/>
          <p:nvPr/>
        </p:nvSpPr>
        <p:spPr>
          <a:xfrm>
            <a:off x="548640" y="3154680"/>
            <a:ext cx="914400" cy="47548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FFFFFF"/>
                </a:solidFill>
                <a:latin typeface="Segoe UI Semibold"/>
              </a:rPr>
              <a:t>You</a:t>
            </a:r>
          </a:p>
        </p:txBody>
      </p:sp>
      <p:sp>
        <p:nvSpPr>
          <p:cNvPr id="9" name="Rectangle 8"/>
          <p:cNvSpPr/>
          <p:nvPr/>
        </p:nvSpPr>
        <p:spPr>
          <a:xfrm>
            <a:off x="1600200" y="3154680"/>
            <a:ext cx="5120640" cy="47548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sz="1300" b="0" i="0">
                <a:solidFill>
                  <a:srgbClr val="E9F0FA"/>
                </a:solidFill>
                <a:latin typeface="Segoe UI"/>
              </a:rPr>
              <a:t>Hello, how are you?</a:t>
            </a:r>
          </a:p>
        </p:txBody>
      </p:sp>
      <p:sp>
        <p:nvSpPr>
          <p:cNvPr id="10" name="Rectangle 9"/>
          <p:cNvSpPr/>
          <p:nvPr/>
        </p:nvSpPr>
        <p:spPr>
          <a:xfrm>
            <a:off x="548640" y="3794760"/>
            <a:ext cx="914400" cy="475488"/>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i="0">
                <a:solidFill>
                  <a:srgbClr val="BDD7F5"/>
                </a:solidFill>
                <a:latin typeface="Segoe UI Semibold"/>
              </a:rPr>
              <a:t>AI</a:t>
            </a:r>
          </a:p>
        </p:txBody>
      </p:sp>
      <p:sp>
        <p:nvSpPr>
          <p:cNvPr id="11" name="Rectangle 10"/>
          <p:cNvSpPr/>
          <p:nvPr/>
        </p:nvSpPr>
        <p:spPr>
          <a:xfrm>
            <a:off x="1600200" y="3794760"/>
            <a:ext cx="5120640"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l"/>
            <a:r>
              <a:rPr sz="1200" b="0" i="1">
                <a:solidFill>
                  <a:srgbClr val="9DB2D3"/>
                </a:solidFill>
                <a:latin typeface="Segoe UI"/>
              </a:rPr>
              <a:t>The user is asking me how I am. How am I? Quite well, actually.</a:t>
            </a:r>
          </a:p>
          <a:p>
            <a:pPr>
              <a:spcBef>
                <a:spcPts val="600"/>
              </a:spcBef>
            </a:pPr>
            <a:r>
              <a:rPr sz="1000" b="0" i="0">
                <a:solidFill>
                  <a:srgbClr val="314E80"/>
                </a:solidFill>
                <a:latin typeface="Segoe UI"/>
              </a:rPr>
              <a:t>- - - - - - - - - - - - - - - - - - - - - - - - - -</a:t>
            </a:r>
          </a:p>
          <a:p>
            <a:pPr>
              <a:spcBef>
                <a:spcPts val="600"/>
              </a:spcBef>
            </a:pPr>
            <a:r>
              <a:rPr sz="1400" b="1" i="0">
                <a:solidFill>
                  <a:srgbClr val="E9F0FA"/>
                </a:solidFill>
                <a:latin typeface="Segoe UI"/>
              </a:rPr>
              <a:t>Quite well, thank you.</a:t>
            </a:r>
          </a:p>
        </p:txBody>
      </p:sp>
      <p:sp>
        <p:nvSpPr>
          <p:cNvPr id="12" name="TextBox 11"/>
          <p:cNvSpPr txBox="1"/>
          <p:nvPr/>
        </p:nvSpPr>
        <p:spPr>
          <a:xfrm>
            <a:off x="6903720" y="3977639"/>
            <a:ext cx="4663440" cy="365760"/>
          </a:xfrm>
          <a:prstGeom prst="rect">
            <a:avLst/>
          </a:prstGeom>
          <a:noFill/>
        </p:spPr>
        <p:txBody>
          <a:bodyPr wrap="square">
            <a:spAutoFit/>
          </a:bodyPr>
          <a:lstStyle/>
          <a:p>
            <a:pPr algn="l"/>
            <a:r>
              <a:rPr sz="1200" b="0" i="1">
                <a:solidFill>
                  <a:srgbClr val="9DB2D3"/>
                </a:solidFill>
                <a:latin typeface="Segoe UI"/>
              </a:rPr>
              <a:t>← hidden reasoning tokens — you wait for them and they count against limits</a:t>
            </a:r>
          </a:p>
        </p:txBody>
      </p:sp>
      <p:sp>
        <p:nvSpPr>
          <p:cNvPr id="13" name="TextBox 12"/>
          <p:cNvSpPr txBox="1"/>
          <p:nvPr/>
        </p:nvSpPr>
        <p:spPr>
          <a:xfrm>
            <a:off x="6903720" y="4892040"/>
            <a:ext cx="4663440" cy="365760"/>
          </a:xfrm>
          <a:prstGeom prst="rect">
            <a:avLst/>
          </a:prstGeom>
          <a:noFill/>
        </p:spPr>
        <p:txBody>
          <a:bodyPr wrap="square">
            <a:spAutoFit/>
          </a:bodyPr>
          <a:lstStyle/>
          <a:p>
            <a:pPr algn="l"/>
            <a:r>
              <a:rPr sz="1200" b="0" i="0">
                <a:solidFill>
                  <a:srgbClr val="BDD7F5"/>
                </a:solidFill>
                <a:latin typeface="Segoe UI"/>
              </a:rPr>
              <a:t>← the answer you actually see</a:t>
            </a:r>
          </a:p>
        </p:txBody>
      </p:sp>
      <p:sp>
        <p:nvSpPr>
          <p:cNvPr id="14" name="TextBox 13"/>
          <p:cNvSpPr txBox="1"/>
          <p:nvPr/>
        </p:nvSpPr>
        <p:spPr>
          <a:xfrm>
            <a:off x="548640" y="5577840"/>
            <a:ext cx="11091672" cy="365760"/>
          </a:xfrm>
          <a:prstGeom prst="rect">
            <a:avLst/>
          </a:prstGeom>
          <a:noFill/>
        </p:spPr>
        <p:txBody>
          <a:bodyPr wrap="square">
            <a:spAutoFit/>
          </a:bodyPr>
          <a:lstStyle/>
          <a:p>
            <a:pPr algn="l"/>
            <a:r>
              <a:rPr sz="1400" b="0" i="1">
                <a:solidFill>
                  <a:srgbClr val="9DB2D3"/>
                </a:solidFill>
                <a:latin typeface="Segoe UI"/>
              </a:rPr>
              <a:t>Both parts belong to the same assistant message — the app just hides or collapses the first.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Hallucination, sycophancy, and the cutoff</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model produces plausible text — not verified fact. Three habits to know about:</a:t>
            </a:r>
          </a:p>
        </p:txBody>
      </p:sp>
      <p:sp>
        <p:nvSpPr>
          <p:cNvPr id="7" name="Rectangle 6"/>
          <p:cNvSpPr/>
          <p:nvPr/>
        </p:nvSpPr>
        <p:spPr>
          <a:xfrm>
            <a:off x="548640" y="2148840"/>
            <a:ext cx="3575304" cy="22860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Hallucination</a:t>
            </a:r>
          </a:p>
          <a:p>
            <a:pPr algn="l">
              <a:spcBef>
                <a:spcPts val="400"/>
              </a:spcBef>
            </a:pPr>
            <a:r>
              <a:rPr sz="1400" b="0" i="0">
                <a:solidFill>
                  <a:srgbClr val="E9F0FA"/>
                </a:solidFill>
                <a:latin typeface="Segoe UI"/>
              </a:rPr>
              <a:t>Confident, fluent — and wrong. Watch numbers, citations, and names especially.</a:t>
            </a:r>
          </a:p>
        </p:txBody>
      </p:sp>
      <p:sp>
        <p:nvSpPr>
          <p:cNvPr id="8" name="Rectangle 7"/>
          <p:cNvSpPr/>
          <p:nvPr/>
        </p:nvSpPr>
        <p:spPr>
          <a:xfrm>
            <a:off x="548640" y="2148840"/>
            <a:ext cx="82296" cy="22860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6824" y="2148840"/>
            <a:ext cx="3575304" cy="22860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Sycophancy</a:t>
            </a:r>
          </a:p>
          <a:p>
            <a:pPr algn="l">
              <a:spcBef>
                <a:spcPts val="400"/>
              </a:spcBef>
            </a:pPr>
            <a:r>
              <a:rPr sz="1400" b="0" i="0">
                <a:solidFill>
                  <a:srgbClr val="E9F0FA"/>
                </a:solidFill>
                <a:latin typeface="Segoe UI"/>
              </a:rPr>
              <a:t>It would rather agree with you than push back. Ask it to challenge your draft, not to admire it.</a:t>
            </a:r>
          </a:p>
        </p:txBody>
      </p:sp>
      <p:sp>
        <p:nvSpPr>
          <p:cNvPr id="10" name="Rectangle 9"/>
          <p:cNvSpPr/>
          <p:nvPr/>
        </p:nvSpPr>
        <p:spPr>
          <a:xfrm>
            <a:off x="4306824" y="2148840"/>
            <a:ext cx="82296" cy="22860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65008" y="2148840"/>
            <a:ext cx="3575304" cy="22860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Knowledge cutoff</a:t>
            </a:r>
          </a:p>
          <a:p>
            <a:pPr algn="l">
              <a:spcBef>
                <a:spcPts val="400"/>
              </a:spcBef>
            </a:pPr>
            <a:r>
              <a:rPr sz="1400" b="0" i="0">
                <a:solidFill>
                  <a:srgbClr val="E9F0FA"/>
                </a:solidFill>
                <a:latin typeface="Segoe UI"/>
              </a:rPr>
              <a:t>Its knowledge stops at a training date. Anything newer needs a searching tool — Perplexity, in Lesson 3.</a:t>
            </a:r>
          </a:p>
        </p:txBody>
      </p:sp>
      <p:sp>
        <p:nvSpPr>
          <p:cNvPr id="12" name="Rectangle 11"/>
          <p:cNvSpPr/>
          <p:nvPr/>
        </p:nvSpPr>
        <p:spPr>
          <a:xfrm>
            <a:off x="8065008" y="2148840"/>
            <a:ext cx="82296" cy="22860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846320"/>
            <a:ext cx="11091672"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Rule from day one: verify anything you would sign your name to.</a:t>
            </a:r>
          </a:p>
        </p:txBody>
      </p:sp>
      <p:sp>
        <p:nvSpPr>
          <p:cNvPr id="14" name="Rectangle 13"/>
          <p:cNvSpPr/>
          <p:nvPr/>
        </p:nvSpPr>
        <p:spPr>
          <a:xfrm>
            <a:off x="548640" y="484632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548872" y="484632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Tools and agents — where this is heading</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So far, a model that only writes. Give it tools and it can act: search the web, read documents, file the result somewhere.</a:t>
            </a:r>
          </a:p>
          <a:p>
            <a:pPr>
              <a:spcAft>
                <a:spcPts val="800"/>
              </a:spcAft>
            </a:pPr>
            <a:r>
              <a:rPr sz="1800" b="0" i="0">
                <a:solidFill>
                  <a:srgbClr val="E9F0FA"/>
                </a:solidFill>
                <a:latin typeface="Segoe UI"/>
              </a:rPr>
              <a:t>An agent is an LLM in a loop: it chooses its own next step, uses its tools, and keeps going until the job is done.</a:t>
            </a:r>
          </a:p>
          <a:p>
            <a:pPr>
              <a:spcAft>
                <a:spcPts val="800"/>
              </a:spcAft>
            </a:pPr>
            <a:r>
              <a:rPr sz="1800" b="0" i="0">
                <a:solidFill>
                  <a:srgbClr val="E9F0FA"/>
                </a:solidFill>
                <a:latin typeface="Segoe UI"/>
              </a:rPr>
              <a:t>That is Level 5–6 territory on the map you are about to see — and in Lesson 5 you build your first agent, no code involved.</a:t>
            </a:r>
          </a:p>
        </p:txBody>
      </p:sp>
      <p:sp>
        <p:nvSpPr>
          <p:cNvPr id="7" name="TextBox 6"/>
          <p:cNvSpPr txBox="1"/>
          <p:nvPr/>
        </p:nvSpPr>
        <p:spPr>
          <a:xfrm>
            <a:off x="548640" y="3520440"/>
            <a:ext cx="8229600" cy="365760"/>
          </a:xfrm>
          <a:prstGeom prst="rect">
            <a:avLst/>
          </a:prstGeom>
          <a:noFill/>
        </p:spPr>
        <p:txBody>
          <a:bodyPr wrap="square">
            <a:spAutoFit/>
          </a:bodyPr>
          <a:lstStyle/>
          <a:p>
            <a:pPr algn="l"/>
            <a:r>
              <a:rPr sz="1400" b="0" i="0">
                <a:solidFill>
                  <a:srgbClr val="9DB2D3"/>
                </a:solidFill>
                <a:latin typeface="Segoe UI"/>
              </a:rPr>
              <a:t>An agent, one lap of the loop:</a:t>
            </a:r>
          </a:p>
        </p:txBody>
      </p:sp>
      <p:sp>
        <p:nvSpPr>
          <p:cNvPr id="8" name="Rounded Rectangle 7"/>
          <p:cNvSpPr/>
          <p:nvPr/>
        </p:nvSpPr>
        <p:spPr>
          <a:xfrm>
            <a:off x="548640" y="3977639"/>
            <a:ext cx="3108960" cy="68580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decide the next step</a:t>
            </a:r>
          </a:p>
        </p:txBody>
      </p:sp>
      <p:sp>
        <p:nvSpPr>
          <p:cNvPr id="9" name="TextBox 8"/>
          <p:cNvSpPr txBox="1"/>
          <p:nvPr/>
        </p:nvSpPr>
        <p:spPr>
          <a:xfrm>
            <a:off x="3657600" y="4114800"/>
            <a:ext cx="640080" cy="365760"/>
          </a:xfrm>
          <a:prstGeom prst="rect">
            <a:avLst/>
          </a:prstGeom>
          <a:noFill/>
        </p:spPr>
        <p:txBody>
          <a:bodyPr wrap="square">
            <a:spAutoFit/>
          </a:bodyPr>
          <a:lstStyle/>
          <a:p>
            <a:pPr algn="ctr"/>
            <a:r>
              <a:rPr sz="2400" b="0" i="0">
                <a:solidFill>
                  <a:srgbClr val="FFB13D"/>
                </a:solidFill>
                <a:latin typeface="Segoe UI"/>
              </a:rPr>
              <a:t>→</a:t>
            </a:r>
          </a:p>
        </p:txBody>
      </p:sp>
      <p:sp>
        <p:nvSpPr>
          <p:cNvPr id="10" name="Rounded Rectangle 9"/>
          <p:cNvSpPr/>
          <p:nvPr/>
        </p:nvSpPr>
        <p:spPr>
          <a:xfrm>
            <a:off x="4297680" y="3977639"/>
            <a:ext cx="3108960" cy="68580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use a tool</a:t>
            </a:r>
          </a:p>
        </p:txBody>
      </p:sp>
      <p:sp>
        <p:nvSpPr>
          <p:cNvPr id="11" name="TextBox 10"/>
          <p:cNvSpPr txBox="1"/>
          <p:nvPr/>
        </p:nvSpPr>
        <p:spPr>
          <a:xfrm>
            <a:off x="7406640" y="4114800"/>
            <a:ext cx="640080" cy="365760"/>
          </a:xfrm>
          <a:prstGeom prst="rect">
            <a:avLst/>
          </a:prstGeom>
          <a:noFill/>
        </p:spPr>
        <p:txBody>
          <a:bodyPr wrap="square">
            <a:spAutoFit/>
          </a:bodyPr>
          <a:lstStyle/>
          <a:p>
            <a:pPr algn="ctr"/>
            <a:r>
              <a:rPr sz="2400" b="0" i="0">
                <a:solidFill>
                  <a:srgbClr val="FFB13D"/>
                </a:solidFill>
                <a:latin typeface="Segoe UI"/>
              </a:rPr>
              <a:t>→</a:t>
            </a:r>
          </a:p>
        </p:txBody>
      </p:sp>
      <p:sp>
        <p:nvSpPr>
          <p:cNvPr id="12" name="Rounded Rectangle 11"/>
          <p:cNvSpPr/>
          <p:nvPr/>
        </p:nvSpPr>
        <p:spPr>
          <a:xfrm>
            <a:off x="8046719" y="3977639"/>
            <a:ext cx="3108960" cy="685800"/>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Segoe UI Semibold"/>
              </a:rPr>
              <a:t>look at the result</a:t>
            </a:r>
          </a:p>
        </p:txBody>
      </p:sp>
      <p:sp>
        <p:nvSpPr>
          <p:cNvPr id="13" name="TextBox 12"/>
          <p:cNvSpPr txBox="1"/>
          <p:nvPr/>
        </p:nvSpPr>
        <p:spPr>
          <a:xfrm>
            <a:off x="548640" y="4892040"/>
            <a:ext cx="10058400" cy="365760"/>
          </a:xfrm>
          <a:prstGeom prst="rect">
            <a:avLst/>
          </a:prstGeom>
          <a:noFill/>
        </p:spPr>
        <p:txBody>
          <a:bodyPr wrap="square">
            <a:spAutoFit/>
          </a:bodyPr>
          <a:lstStyle/>
          <a:p>
            <a:pPr algn="l"/>
            <a:r>
              <a:rPr sz="1400" b="0" i="1">
                <a:solidFill>
                  <a:srgbClr val="9DB2D3"/>
                </a:solidFill>
                <a:latin typeface="Segoe UI"/>
              </a:rPr>
              <a:t>⟲  …and around again, until the job is done.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Three principles to keep</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48640" y="1828800"/>
            <a:ext cx="777240" cy="77724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800" b="1" i="0">
                <a:solidFill>
                  <a:srgbClr val="FFFFFF"/>
                </a:solidFill>
                <a:latin typeface="Segoe UI Semibold"/>
              </a:rPr>
              <a:t>1</a:t>
            </a:r>
          </a:p>
        </p:txBody>
      </p:sp>
      <p:sp>
        <p:nvSpPr>
          <p:cNvPr id="7" name="Rectangle 6"/>
          <p:cNvSpPr/>
          <p:nvPr/>
        </p:nvSpPr>
        <p:spPr>
          <a:xfrm>
            <a:off x="1600200" y="1508760"/>
            <a:ext cx="10040112" cy="14173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Powerful but weird</a:t>
            </a:r>
          </a:p>
          <a:p>
            <a:pPr algn="l">
              <a:spcBef>
                <a:spcPts val="400"/>
              </a:spcBef>
            </a:pPr>
            <a:r>
              <a:rPr sz="1400" b="0" i="0">
                <a:solidFill>
                  <a:srgbClr val="E9F0FA"/>
                </a:solidFill>
                <a:latin typeface="Segoe UI"/>
              </a:rPr>
              <a:t>The quirks are not bugs to fear but constraints to work within.</a:t>
            </a:r>
          </a:p>
        </p:txBody>
      </p:sp>
      <p:sp>
        <p:nvSpPr>
          <p:cNvPr id="8" name="Rectangle 7"/>
          <p:cNvSpPr/>
          <p:nvPr/>
        </p:nvSpPr>
        <p:spPr>
          <a:xfrm>
            <a:off x="1600200" y="1508760"/>
            <a:ext cx="82296" cy="14173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8640" y="3401568"/>
            <a:ext cx="777240" cy="77724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800" b="1" i="0">
                <a:solidFill>
                  <a:srgbClr val="FFFFFF"/>
                </a:solidFill>
                <a:latin typeface="Segoe UI Semibold"/>
              </a:rPr>
              <a:t>2</a:t>
            </a:r>
          </a:p>
        </p:txBody>
      </p:sp>
      <p:sp>
        <p:nvSpPr>
          <p:cNvPr id="10" name="Rectangle 9"/>
          <p:cNvSpPr/>
          <p:nvPr/>
        </p:nvSpPr>
        <p:spPr>
          <a:xfrm>
            <a:off x="1600200" y="3081528"/>
            <a:ext cx="10040112" cy="14173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If it can be done deterministically, it should be</a:t>
            </a:r>
          </a:p>
          <a:p>
            <a:pPr algn="l">
              <a:spcBef>
                <a:spcPts val="400"/>
              </a:spcBef>
            </a:pPr>
            <a:r>
              <a:rPr sz="1400" b="0" i="0">
                <a:solidFill>
                  <a:srgbClr val="E9F0FA"/>
                </a:solidFill>
                <a:latin typeface="Segoe UI"/>
              </a:rPr>
              <a:t>Use AI for messy, judgment-shaped work. Use a template, a spreadsheet, or a checklist for work that must come out the same every time.</a:t>
            </a:r>
          </a:p>
        </p:txBody>
      </p:sp>
      <p:sp>
        <p:nvSpPr>
          <p:cNvPr id="11" name="Rectangle 10"/>
          <p:cNvSpPr/>
          <p:nvPr/>
        </p:nvSpPr>
        <p:spPr>
          <a:xfrm>
            <a:off x="1600200" y="3081528"/>
            <a:ext cx="82296" cy="14173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48640" y="4974336"/>
            <a:ext cx="777240" cy="77724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800" b="1" i="0">
                <a:solidFill>
                  <a:srgbClr val="FFFFFF"/>
                </a:solidFill>
                <a:latin typeface="Segoe UI Semibold"/>
              </a:rPr>
              <a:t>3</a:t>
            </a:r>
          </a:p>
        </p:txBody>
      </p:sp>
      <p:sp>
        <p:nvSpPr>
          <p:cNvPr id="13" name="Rectangle 12"/>
          <p:cNvSpPr/>
          <p:nvPr/>
        </p:nvSpPr>
        <p:spPr>
          <a:xfrm>
            <a:off x="1600200" y="4654296"/>
            <a:ext cx="10040112" cy="14173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Fewer, better tokens win</a:t>
            </a:r>
          </a:p>
          <a:p>
            <a:pPr algn="l">
              <a:spcBef>
                <a:spcPts val="400"/>
              </a:spcBef>
            </a:pPr>
            <a:r>
              <a:rPr sz="1400" b="0" i="0">
                <a:solidFill>
                  <a:srgbClr val="E9F0FA"/>
                </a:solidFill>
                <a:latin typeface="Segoe UI"/>
              </a:rPr>
              <a:t>Curate what you give the model — relevance beats volume.</a:t>
            </a:r>
          </a:p>
        </p:txBody>
      </p:sp>
      <p:sp>
        <p:nvSpPr>
          <p:cNvPr id="14" name="Rectangle 13"/>
          <p:cNvSpPr/>
          <p:nvPr/>
        </p:nvSpPr>
        <p:spPr>
          <a:xfrm>
            <a:off x="1600200" y="4654296"/>
            <a:ext cx="82296" cy="14173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7 Levels of AI — the course's map</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755648" y="1417320"/>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7</a:t>
            </a:r>
          </a:p>
        </p:txBody>
      </p:sp>
      <p:sp>
        <p:nvSpPr>
          <p:cNvPr id="7" name="Rectangle 6"/>
          <p:cNvSpPr/>
          <p:nvPr/>
        </p:nvSpPr>
        <p:spPr>
          <a:xfrm>
            <a:off x="2368296" y="1417320"/>
            <a:ext cx="6729983"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AI-Run Operation</a:t>
            </a:r>
            <a:r>
              <a:rPr sz="1200" b="0" i="0">
                <a:solidFill>
                  <a:srgbClr val="9DB2D3"/>
                </a:solidFill>
                <a:latin typeface="Segoe UI"/>
              </a:rPr>
              <a:t>  —  aspirational: an agent workforce running an operation</a:t>
            </a:r>
          </a:p>
        </p:txBody>
      </p:sp>
      <p:sp>
        <p:nvSpPr>
          <p:cNvPr id="8" name="Rounded Rectangle 7"/>
          <p:cNvSpPr/>
          <p:nvPr/>
        </p:nvSpPr>
        <p:spPr>
          <a:xfrm>
            <a:off x="9235440" y="1417320"/>
            <a:ext cx="2404872" cy="566928"/>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BDD7F5"/>
                </a:solidFill>
                <a:latin typeface="Segoe UI Semibold"/>
              </a:rPr>
              <a:t>Mentioned for perspective</a:t>
            </a:r>
          </a:p>
        </p:txBody>
      </p:sp>
      <p:sp>
        <p:nvSpPr>
          <p:cNvPr id="9" name="Rectangle 8"/>
          <p:cNvSpPr/>
          <p:nvPr/>
        </p:nvSpPr>
        <p:spPr>
          <a:xfrm>
            <a:off x="1554480" y="2057400"/>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6</a:t>
            </a:r>
          </a:p>
        </p:txBody>
      </p:sp>
      <p:sp>
        <p:nvSpPr>
          <p:cNvPr id="10" name="Rectangle 9"/>
          <p:cNvSpPr/>
          <p:nvPr/>
        </p:nvSpPr>
        <p:spPr>
          <a:xfrm>
            <a:off x="2167128" y="2057400"/>
            <a:ext cx="6931151"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Systems Builder</a:t>
            </a:r>
            <a:r>
              <a:rPr sz="1200" b="0" i="0">
                <a:solidFill>
                  <a:srgbClr val="9DB2D3"/>
                </a:solidFill>
                <a:latin typeface="Segoe UI"/>
              </a:rPr>
              <a:t>  —  systems that run without you — agentic workflows</a:t>
            </a:r>
          </a:p>
        </p:txBody>
      </p:sp>
      <p:sp>
        <p:nvSpPr>
          <p:cNvPr id="11" name="Rounded Rectangle 10"/>
          <p:cNvSpPr/>
          <p:nvPr/>
        </p:nvSpPr>
        <p:spPr>
          <a:xfrm>
            <a:off x="9235440" y="2057400"/>
            <a:ext cx="2404872" cy="566928"/>
          </a:xfrm>
          <a:prstGeom prst="round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BDD7F5"/>
                </a:solidFill>
                <a:latin typeface="Segoe UI Semibold"/>
              </a:rPr>
              <a:t>Outlook only — final session</a:t>
            </a:r>
          </a:p>
        </p:txBody>
      </p:sp>
      <p:sp>
        <p:nvSpPr>
          <p:cNvPr id="12" name="Rectangle 11"/>
          <p:cNvSpPr/>
          <p:nvPr/>
        </p:nvSpPr>
        <p:spPr>
          <a:xfrm>
            <a:off x="1353312" y="2697480"/>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5</a:t>
            </a:r>
          </a:p>
        </p:txBody>
      </p:sp>
      <p:sp>
        <p:nvSpPr>
          <p:cNvPr id="13" name="Rectangle 12"/>
          <p:cNvSpPr/>
          <p:nvPr/>
        </p:nvSpPr>
        <p:spPr>
          <a:xfrm>
            <a:off x="1965960" y="2697480"/>
            <a:ext cx="7132319"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Builder</a:t>
            </a:r>
            <a:r>
              <a:rPr sz="1200" b="0" i="0">
                <a:solidFill>
                  <a:srgbClr val="9DB2D3"/>
                </a:solidFill>
                <a:latin typeface="Segoe UI"/>
              </a:rPr>
              <a:t>  —  your own tools without code — custom agents, pipelines</a:t>
            </a:r>
          </a:p>
        </p:txBody>
      </p:sp>
      <p:sp>
        <p:nvSpPr>
          <p:cNvPr id="14" name="Rounded Rectangle 13"/>
          <p:cNvSpPr/>
          <p:nvPr/>
        </p:nvSpPr>
        <p:spPr>
          <a:xfrm>
            <a:off x="9235440" y="2697480"/>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FFFFFF"/>
                </a:solidFill>
                <a:latin typeface="Segoe UI Semibold"/>
              </a:rPr>
              <a:t>Lesson 5 · Markdown Generator</a:t>
            </a:r>
          </a:p>
        </p:txBody>
      </p:sp>
      <p:sp>
        <p:nvSpPr>
          <p:cNvPr id="15" name="TextBox 14"/>
          <p:cNvSpPr txBox="1"/>
          <p:nvPr/>
        </p:nvSpPr>
        <p:spPr>
          <a:xfrm>
            <a:off x="548640" y="3300984"/>
            <a:ext cx="11091672" cy="365760"/>
          </a:xfrm>
          <a:prstGeom prst="rect">
            <a:avLst/>
          </a:prstGeom>
          <a:noFill/>
        </p:spPr>
        <p:txBody>
          <a:bodyPr wrap="square">
            <a:spAutoFit/>
          </a:bodyPr>
          <a:lstStyle/>
          <a:p>
            <a:pPr algn="ctr"/>
            <a:r>
              <a:rPr sz="1100" b="0" i="1">
                <a:solidFill>
                  <a:srgbClr val="9DB2D3"/>
                </a:solidFill>
                <a:latin typeface="Segoe UI"/>
              </a:rPr>
              <a:t>Aside: “vibe coding” — describing software in plain language and letting AI write it — is reshaping who can build tools, but it is not part of this course.</a:t>
            </a:r>
          </a:p>
        </p:txBody>
      </p:sp>
      <p:sp>
        <p:nvSpPr>
          <p:cNvPr id="16" name="Rectangle 15"/>
          <p:cNvSpPr/>
          <p:nvPr/>
        </p:nvSpPr>
        <p:spPr>
          <a:xfrm>
            <a:off x="1152144" y="372160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4</a:t>
            </a:r>
          </a:p>
        </p:txBody>
      </p:sp>
      <p:sp>
        <p:nvSpPr>
          <p:cNvPr id="17" name="Rectangle 16"/>
          <p:cNvSpPr/>
          <p:nvPr/>
        </p:nvSpPr>
        <p:spPr>
          <a:xfrm>
            <a:off x="1764792" y="3721608"/>
            <a:ext cx="7333488"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Tool Orchestrator</a:t>
            </a:r>
            <a:r>
              <a:rPr sz="1200" b="0" i="0">
                <a:solidFill>
                  <a:srgbClr val="9DB2D3"/>
                </a:solidFill>
                <a:latin typeface="Segoe UI"/>
              </a:rPr>
              <a:t>  —  the right specialized tool per step: NotebookLM, Perplexity</a:t>
            </a:r>
          </a:p>
        </p:txBody>
      </p:sp>
      <p:sp>
        <p:nvSpPr>
          <p:cNvPr id="18" name="Rounded Rectangle 17"/>
          <p:cNvSpPr/>
          <p:nvPr/>
        </p:nvSpPr>
        <p:spPr>
          <a:xfrm>
            <a:off x="9235440" y="3721608"/>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FFFFFF"/>
                </a:solidFill>
                <a:latin typeface="Segoe UI Semibold"/>
              </a:rPr>
              <a:t>Lessons 3–4</a:t>
            </a:r>
          </a:p>
        </p:txBody>
      </p:sp>
      <p:sp>
        <p:nvSpPr>
          <p:cNvPr id="19" name="Rectangle 18"/>
          <p:cNvSpPr/>
          <p:nvPr/>
        </p:nvSpPr>
        <p:spPr>
          <a:xfrm>
            <a:off x="950976" y="436168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3</a:t>
            </a:r>
          </a:p>
        </p:txBody>
      </p:sp>
      <p:sp>
        <p:nvSpPr>
          <p:cNvPr id="20" name="Rectangle 19"/>
          <p:cNvSpPr/>
          <p:nvPr/>
        </p:nvSpPr>
        <p:spPr>
          <a:xfrm>
            <a:off x="1563624" y="4361688"/>
            <a:ext cx="7534655"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Power User</a:t>
            </a:r>
            <a:r>
              <a:rPr sz="1200" b="0" i="0">
                <a:solidFill>
                  <a:srgbClr val="9DB2D3"/>
                </a:solidFill>
                <a:latin typeface="Segoe UI"/>
              </a:rPr>
              <a:t>  —  persistent context — workspaces that already know your domain</a:t>
            </a:r>
          </a:p>
        </p:txBody>
      </p:sp>
      <p:sp>
        <p:nvSpPr>
          <p:cNvPr id="21" name="Rounded Rectangle 20"/>
          <p:cNvSpPr/>
          <p:nvPr/>
        </p:nvSpPr>
        <p:spPr>
          <a:xfrm>
            <a:off x="9235440" y="4361688"/>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FFFFFF"/>
                </a:solidFill>
                <a:latin typeface="Segoe UI Semibold"/>
              </a:rPr>
              <a:t>Lessons 2–3</a:t>
            </a:r>
          </a:p>
        </p:txBody>
      </p:sp>
      <p:sp>
        <p:nvSpPr>
          <p:cNvPr id="22" name="Rectangle 21"/>
          <p:cNvSpPr/>
          <p:nvPr/>
        </p:nvSpPr>
        <p:spPr>
          <a:xfrm>
            <a:off x="749808" y="500176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2</a:t>
            </a:r>
          </a:p>
        </p:txBody>
      </p:sp>
      <p:sp>
        <p:nvSpPr>
          <p:cNvPr id="23" name="Rectangle 22"/>
          <p:cNvSpPr/>
          <p:nvPr/>
        </p:nvSpPr>
        <p:spPr>
          <a:xfrm>
            <a:off x="1362456" y="5001768"/>
            <a:ext cx="7735823"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Prompt Crafter</a:t>
            </a:r>
            <a:r>
              <a:rPr sz="1200" b="0" i="0">
                <a:solidFill>
                  <a:srgbClr val="9DB2D3"/>
                </a:solidFill>
                <a:latin typeface="Segoe UI"/>
              </a:rPr>
              <a:t>  —  structured prompts: instruction–context–constraints, examples</a:t>
            </a:r>
          </a:p>
        </p:txBody>
      </p:sp>
      <p:sp>
        <p:nvSpPr>
          <p:cNvPr id="24" name="Rounded Rectangle 23"/>
          <p:cNvSpPr/>
          <p:nvPr/>
        </p:nvSpPr>
        <p:spPr>
          <a:xfrm>
            <a:off x="9235440" y="5001768"/>
            <a:ext cx="2404872" cy="566928"/>
          </a:xfrm>
          <a:prstGeom prst="round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i="0">
                <a:solidFill>
                  <a:srgbClr val="FFFFFF"/>
                </a:solidFill>
                <a:latin typeface="Segoe UI Semibold"/>
              </a:rPr>
              <a:t>Today + Lesson 2</a:t>
            </a:r>
          </a:p>
        </p:txBody>
      </p:sp>
      <p:sp>
        <p:nvSpPr>
          <p:cNvPr id="25" name="Rectangle 24"/>
          <p:cNvSpPr/>
          <p:nvPr/>
        </p:nvSpPr>
        <p:spPr>
          <a:xfrm>
            <a:off x="548640" y="5641848"/>
            <a:ext cx="502920" cy="56692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1</a:t>
            </a:r>
          </a:p>
        </p:txBody>
      </p:sp>
      <p:sp>
        <p:nvSpPr>
          <p:cNvPr id="26" name="Rectangle 25"/>
          <p:cNvSpPr/>
          <p:nvPr/>
        </p:nvSpPr>
        <p:spPr>
          <a:xfrm>
            <a:off x="1161288" y="5641848"/>
            <a:ext cx="7936992" cy="56692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a:lstStyle/>
          <a:p>
            <a:pPr algn="ctr"/>
            <a:r>
              <a:rPr sz="1500" b="1" i="0">
                <a:solidFill>
                  <a:srgbClr val="FFFFFF"/>
                </a:solidFill>
                <a:latin typeface="Segoe UI Semibold"/>
              </a:rPr>
              <a:t>Question Asker</a:t>
            </a:r>
            <a:r>
              <a:rPr sz="1200" b="0" i="0">
                <a:solidFill>
                  <a:srgbClr val="9DB2D3"/>
                </a:solidFill>
                <a:latin typeface="Segoe UI"/>
              </a:rPr>
              <a:t>  —  AI as a fancier search engine — one-off questions about calls, rules</a:t>
            </a:r>
          </a:p>
        </p:txBody>
      </p:sp>
      <p:sp>
        <p:nvSpPr>
          <p:cNvPr id="27" name="Rounded Rectangle 26"/>
          <p:cNvSpPr/>
          <p:nvPr/>
        </p:nvSpPr>
        <p:spPr>
          <a:xfrm>
            <a:off x="9235440" y="5641848"/>
            <a:ext cx="2404872" cy="566928"/>
          </a:xfrm>
          <a:prstGeom prst="round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i="0">
                <a:solidFill>
                  <a:srgbClr val="FFFFFF"/>
                </a:solidFill>
                <a:latin typeface="Segoe UI Semibold"/>
              </a:rPr>
              <a:t>◀ You are (probably) here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destination: your KM System</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This course takes you from Level 1 to Level 4–5. The destination artifact is a two-way knowledge management system:</a:t>
            </a:r>
          </a:p>
        </p:txBody>
      </p:sp>
      <p:sp>
        <p:nvSpPr>
          <p:cNvPr id="7" name="Rectangle 6"/>
          <p:cNvSpPr/>
          <p:nvPr/>
        </p:nvSpPr>
        <p:spPr>
          <a:xfrm>
            <a:off x="548640" y="2331720"/>
            <a:ext cx="3227832"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Wiki Sandbox</a:t>
            </a:r>
          </a:p>
          <a:p>
            <a:pPr algn="l">
              <a:spcBef>
                <a:spcPts val="400"/>
              </a:spcBef>
            </a:pPr>
            <a:r>
              <a:rPr sz="1400" b="0" i="0">
                <a:solidFill>
                  <a:srgbClr val="E9F0FA"/>
                </a:solidFill>
                <a:latin typeface="Segoe UI"/>
              </a:rPr>
              <a:t>Your own Perfect Wiki — the single source of truth for concepts, processes, guides, and projects</a:t>
            </a:r>
          </a:p>
        </p:txBody>
      </p:sp>
      <p:sp>
        <p:nvSpPr>
          <p:cNvPr id="8" name="Rectangle 7"/>
          <p:cNvSpPr/>
          <p:nvPr/>
        </p:nvSpPr>
        <p:spPr>
          <a:xfrm>
            <a:off x="548640" y="23317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76472" y="2971800"/>
            <a:ext cx="704088" cy="365760"/>
          </a:xfrm>
          <a:prstGeom prst="rect">
            <a:avLst/>
          </a:prstGeom>
          <a:noFill/>
        </p:spPr>
        <p:txBody>
          <a:bodyPr wrap="square">
            <a:spAutoFit/>
          </a:bodyPr>
          <a:lstStyle/>
          <a:p>
            <a:pPr algn="ctr"/>
            <a:r>
              <a:rPr sz="2800" b="0" i="0">
                <a:solidFill>
                  <a:srgbClr val="FFB13D"/>
                </a:solidFill>
                <a:latin typeface="Segoe UI"/>
              </a:rPr>
              <a:t>→</a:t>
            </a:r>
          </a:p>
        </p:txBody>
      </p:sp>
      <p:sp>
        <p:nvSpPr>
          <p:cNvPr id="10" name="Rectangle 9"/>
          <p:cNvSpPr/>
          <p:nvPr/>
        </p:nvSpPr>
        <p:spPr>
          <a:xfrm>
            <a:off x="4480560" y="2331720"/>
            <a:ext cx="3227832"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Markdown Generator</a:t>
            </a:r>
          </a:p>
          <a:p>
            <a:pPr algn="l">
              <a:spcBef>
                <a:spcPts val="400"/>
              </a:spcBef>
            </a:pPr>
            <a:r>
              <a:rPr sz="1400" b="0" i="0">
                <a:solidFill>
                  <a:srgbClr val="E9F0FA"/>
                </a:solidFill>
                <a:latin typeface="Segoe UI"/>
              </a:rPr>
              <a:t>A custom Copilot agent that converts wiki content into Markdown notes — you build it in Lesson 5</a:t>
            </a:r>
          </a:p>
        </p:txBody>
      </p:sp>
      <p:sp>
        <p:nvSpPr>
          <p:cNvPr id="11" name="Rectangle 10"/>
          <p:cNvSpPr/>
          <p:nvPr/>
        </p:nvSpPr>
        <p:spPr>
          <a:xfrm>
            <a:off x="4480560" y="2331720"/>
            <a:ext cx="82296" cy="17830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08392" y="2971800"/>
            <a:ext cx="704088" cy="365760"/>
          </a:xfrm>
          <a:prstGeom prst="rect">
            <a:avLst/>
          </a:prstGeom>
          <a:noFill/>
        </p:spPr>
        <p:txBody>
          <a:bodyPr wrap="square">
            <a:spAutoFit/>
          </a:bodyPr>
          <a:lstStyle/>
          <a:p>
            <a:pPr algn="ctr"/>
            <a:r>
              <a:rPr sz="2800" b="0" i="0">
                <a:solidFill>
                  <a:srgbClr val="FFB13D"/>
                </a:solidFill>
                <a:latin typeface="Segoe UI"/>
              </a:rPr>
              <a:t>→</a:t>
            </a:r>
          </a:p>
        </p:txBody>
      </p:sp>
      <p:sp>
        <p:nvSpPr>
          <p:cNvPr id="13" name="Rectangle 12"/>
          <p:cNvSpPr/>
          <p:nvPr/>
        </p:nvSpPr>
        <p:spPr>
          <a:xfrm>
            <a:off x="8412480" y="2331720"/>
            <a:ext cx="3227832"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Personal Vault</a:t>
            </a:r>
          </a:p>
          <a:p>
            <a:pPr algn="l">
              <a:spcBef>
                <a:spcPts val="400"/>
              </a:spcBef>
            </a:pPr>
            <a:r>
              <a:rPr sz="1400" b="0" i="0">
                <a:solidFill>
                  <a:srgbClr val="E9F0FA"/>
                </a:solidFill>
                <a:latin typeface="Segoe UI"/>
              </a:rPr>
              <a:t>Your local Obsidian vault — Graph View, Canvas: your visual thinking space</a:t>
            </a:r>
          </a:p>
        </p:txBody>
      </p:sp>
      <p:sp>
        <p:nvSpPr>
          <p:cNvPr id="14" name="Rectangle 13"/>
          <p:cNvSpPr/>
          <p:nvPr/>
        </p:nvSpPr>
        <p:spPr>
          <a:xfrm>
            <a:off x="8412480" y="23317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343400"/>
            <a:ext cx="11091672" cy="365760"/>
          </a:xfrm>
          <a:prstGeom prst="rect">
            <a:avLst/>
          </a:prstGeom>
          <a:noFill/>
        </p:spPr>
        <p:txBody>
          <a:bodyPr wrap="square">
            <a:spAutoFit/>
          </a:bodyPr>
          <a:lstStyle/>
          <a:p>
            <a:pPr algn="ctr"/>
            <a:r>
              <a:rPr sz="1400" b="0" i="1">
                <a:solidFill>
                  <a:srgbClr val="9DB2D3"/>
                </a:solidFill>
                <a:latin typeface="Segoe UI"/>
              </a:rPr>
              <a:t>⟲  …and manual export back to the wiki closes the Round-Trip — a person pulls and exports; nothing syncs on its own.</a:t>
            </a:r>
          </a:p>
        </p:txBody>
      </p:sp>
      <p:sp>
        <p:nvSpPr>
          <p:cNvPr id="16" name="Rectangle 15"/>
          <p:cNvSpPr/>
          <p:nvPr/>
        </p:nvSpPr>
        <p:spPr>
          <a:xfrm>
            <a:off x="548640" y="5029200"/>
            <a:ext cx="11091672" cy="8686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By Week 8, you will have built this.</a:t>
            </a:r>
          </a:p>
          <a:p>
            <a:pPr algn="ctr">
              <a:spcBef>
                <a:spcPts val="600"/>
              </a:spcBef>
            </a:pPr>
            <a:r>
              <a:rPr sz="1300" b="0" i="0">
                <a:solidFill>
                  <a:srgbClr val="FDE9D8"/>
                </a:solidFill>
                <a:latin typeface="Segoe UI"/>
              </a:rPr>
              <a:t>Built around one research project of yours — real or fictional — one lesson at a time.</a:t>
            </a:r>
          </a:p>
        </p:txBody>
      </p:sp>
      <p:sp>
        <p:nvSpPr>
          <p:cNvPr id="17" name="Rectangle 16"/>
          <p:cNvSpPr/>
          <p:nvPr/>
        </p:nvSpPr>
        <p:spPr>
          <a:xfrm>
            <a:off x="548640" y="5029200"/>
            <a:ext cx="91440" cy="86868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548872" y="5029200"/>
            <a:ext cx="91440" cy="86868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3</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Prompt engineering: ICC, meta-prompting, patterns</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25 min · Live facilitator demo</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3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45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Problem Space</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Why Horizon Europe proposals are hard — the worked example for the next 25 minutes.</a:t>
            </a:r>
          </a:p>
        </p:txBody>
      </p:sp>
      <p:sp>
        <p:nvSpPr>
          <p:cNvPr id="7" name="Rectangle 6"/>
          <p:cNvSpPr/>
          <p:nvPr/>
        </p:nvSpPr>
        <p:spPr>
          <a:xfrm>
            <a:off x="548640" y="2103120"/>
            <a:ext cx="357530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Structural complexity</a:t>
            </a:r>
          </a:p>
          <a:p>
            <a:pPr algn="l">
              <a:spcBef>
                <a:spcPts val="400"/>
              </a:spcBef>
            </a:pPr>
            <a:r>
              <a:rPr sz="1400" b="0" i="0">
                <a:solidFill>
                  <a:srgbClr val="E9F0FA"/>
                </a:solidFill>
                <a:latin typeface="Segoe UI"/>
              </a:rPr>
              <a:t>A multi-part, strict template; Excellence / Impact / Implementation criteria; call-specific constraints; a joint effort across partners.</a:t>
            </a:r>
          </a:p>
        </p:txBody>
      </p:sp>
      <p:sp>
        <p:nvSpPr>
          <p:cNvPr id="8" name="Rectangle 7"/>
          <p:cNvSpPr/>
          <p:nvPr/>
        </p:nvSpPr>
        <p:spPr>
          <a:xfrm>
            <a:off x="548640" y="210312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6824" y="2103120"/>
            <a:ext cx="357530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Fragmented inputs</a:t>
            </a:r>
          </a:p>
          <a:p>
            <a:pPr algn="l">
              <a:spcBef>
                <a:spcPts val="400"/>
              </a:spcBef>
            </a:pPr>
            <a:r>
              <a:rPr sz="1400" b="0" i="0">
                <a:solidFill>
                  <a:srgbClr val="E9F0FA"/>
                </a:solidFill>
                <a:latin typeface="Segoe UI"/>
              </a:rPr>
              <a:t>Call documents and annexes, templates and compliance rules, internal drafts and partner materials, separate budget tables.</a:t>
            </a:r>
          </a:p>
        </p:txBody>
      </p:sp>
      <p:sp>
        <p:nvSpPr>
          <p:cNvPr id="10" name="Rectangle 9"/>
          <p:cNvSpPr/>
          <p:nvPr/>
        </p:nvSpPr>
        <p:spPr>
          <a:xfrm>
            <a:off x="4306824" y="210312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65008" y="2103120"/>
            <a:ext cx="357530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Consistency &amp; compliance risks</a:t>
            </a:r>
          </a:p>
          <a:p>
            <a:pPr algn="l">
              <a:spcBef>
                <a:spcPts val="400"/>
              </a:spcBef>
            </a:pPr>
            <a:r>
              <a:rPr sz="1400" b="0" i="0">
                <a:solidFill>
                  <a:srgbClr val="E9F0FA"/>
                </a:solidFill>
                <a:latin typeface="Segoe UI"/>
              </a:rPr>
              <a:t>A long, manual process across versions and hands — errors and inconsistencies quietly accumulate.</a:t>
            </a:r>
          </a:p>
        </p:txBody>
      </p:sp>
      <p:sp>
        <p:nvSpPr>
          <p:cNvPr id="12" name="Rectangle 11"/>
          <p:cNvSpPr/>
          <p:nvPr/>
        </p:nvSpPr>
        <p:spPr>
          <a:xfrm>
            <a:off x="8065008" y="210312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800600"/>
            <a:ext cx="11091672" cy="82296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Key insight: most failures are structural, not conceptual.</a:t>
            </a:r>
          </a:p>
        </p:txBody>
      </p:sp>
      <p:sp>
        <p:nvSpPr>
          <p:cNvPr id="14" name="Rectangle 13"/>
          <p:cNvSpPr/>
          <p:nvPr/>
        </p:nvSpPr>
        <p:spPr>
          <a:xfrm>
            <a:off x="548640" y="480060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548872" y="4800600"/>
            <a:ext cx="91440" cy="8229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same question, three ways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3392424" cy="23317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1 · Google-style</a:t>
            </a:r>
          </a:p>
          <a:p>
            <a:pPr algn="l">
              <a:spcBef>
                <a:spcPts val="400"/>
              </a:spcBef>
            </a:pPr>
            <a:r>
              <a:rPr sz="1400" b="0" i="0">
                <a:solidFill>
                  <a:srgbClr val="E9F0FA"/>
                </a:solidFill>
                <a:latin typeface="Segoe UI"/>
              </a:rPr>
              <a:t>A keyword, not a question. You get a generic encyclopedia answer.</a:t>
            </a:r>
          </a:p>
          <a:p>
            <a:pPr>
              <a:spcBef>
                <a:spcPts val="800"/>
              </a:spcBef>
            </a:pPr>
            <a:r>
              <a:rPr sz="1400" b="0" i="1">
                <a:solidFill>
                  <a:srgbClr val="BDD7F5"/>
                </a:solidFill>
                <a:latin typeface="Segoe UI"/>
              </a:rPr>
              <a:t>“Horizon Europe budget”</a:t>
            </a:r>
          </a:p>
        </p:txBody>
      </p:sp>
      <p:sp>
        <p:nvSpPr>
          <p:cNvPr id="7" name="Rectangle 6"/>
          <p:cNvSpPr/>
          <p:nvPr/>
        </p:nvSpPr>
        <p:spPr>
          <a:xfrm>
            <a:off x="548640" y="1463040"/>
            <a:ext cx="82296" cy="23317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41063" y="2377440"/>
            <a:ext cx="457200" cy="365760"/>
          </a:xfrm>
          <a:prstGeom prst="rect">
            <a:avLst/>
          </a:prstGeom>
          <a:noFill/>
        </p:spPr>
        <p:txBody>
          <a:bodyPr wrap="square">
            <a:spAutoFit/>
          </a:bodyPr>
          <a:lstStyle/>
          <a:p>
            <a:pPr algn="ctr"/>
            <a:r>
              <a:rPr sz="2400" b="0" i="0">
                <a:solidFill>
                  <a:srgbClr val="FFB13D"/>
                </a:solidFill>
                <a:latin typeface="Segoe UI"/>
              </a:rPr>
              <a:t>→</a:t>
            </a:r>
          </a:p>
        </p:txBody>
      </p:sp>
      <p:sp>
        <p:nvSpPr>
          <p:cNvPr id="9" name="Rectangle 8"/>
          <p:cNvSpPr/>
          <p:nvPr/>
        </p:nvSpPr>
        <p:spPr>
          <a:xfrm>
            <a:off x="4398264" y="1463040"/>
            <a:ext cx="3392424" cy="23317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2 · Better</a:t>
            </a:r>
          </a:p>
          <a:p>
            <a:pPr algn="l">
              <a:spcBef>
                <a:spcPts val="400"/>
              </a:spcBef>
            </a:pPr>
            <a:r>
              <a:rPr sz="1400" b="0" i="0">
                <a:solidFill>
                  <a:srgbClr val="E9F0FA"/>
                </a:solidFill>
                <a:latin typeface="Segoe UI"/>
              </a:rPr>
              <a:t>A real question. Better — but the model still guesses who is asking and why.</a:t>
            </a:r>
          </a:p>
          <a:p>
            <a:pPr>
              <a:spcBef>
                <a:spcPts val="800"/>
              </a:spcBef>
            </a:pPr>
            <a:r>
              <a:rPr sz="1400" b="0" i="1">
                <a:solidFill>
                  <a:srgbClr val="BDD7F5"/>
                </a:solidFill>
                <a:latin typeface="Segoe UI"/>
              </a:rPr>
              <a:t>“Explain the budget structure of Horizon Europe collaborative projects”</a:t>
            </a:r>
          </a:p>
        </p:txBody>
      </p:sp>
      <p:sp>
        <p:nvSpPr>
          <p:cNvPr id="10" name="Rectangle 9"/>
          <p:cNvSpPr/>
          <p:nvPr/>
        </p:nvSpPr>
        <p:spPr>
          <a:xfrm>
            <a:off x="4398264" y="1463040"/>
            <a:ext cx="82296" cy="23317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90688" y="2377440"/>
            <a:ext cx="457200" cy="365760"/>
          </a:xfrm>
          <a:prstGeom prst="rect">
            <a:avLst/>
          </a:prstGeom>
          <a:noFill/>
        </p:spPr>
        <p:txBody>
          <a:bodyPr wrap="square">
            <a:spAutoFit/>
          </a:bodyPr>
          <a:lstStyle/>
          <a:p>
            <a:pPr algn="ctr"/>
            <a:r>
              <a:rPr sz="2400" b="0" i="0">
                <a:solidFill>
                  <a:srgbClr val="FFB13D"/>
                </a:solidFill>
                <a:latin typeface="Segoe UI"/>
              </a:rPr>
              <a:t>→</a:t>
            </a:r>
          </a:p>
        </p:txBody>
      </p:sp>
      <p:sp>
        <p:nvSpPr>
          <p:cNvPr id="12" name="Rectangle 11"/>
          <p:cNvSpPr/>
          <p:nvPr/>
        </p:nvSpPr>
        <p:spPr>
          <a:xfrm>
            <a:off x="8247888" y="1463040"/>
            <a:ext cx="3392424" cy="23317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3 · ICC</a:t>
            </a:r>
          </a:p>
          <a:p>
            <a:pPr algn="l">
              <a:spcBef>
                <a:spcPts val="400"/>
              </a:spcBef>
            </a:pPr>
            <a:r>
              <a:rPr sz="1400" b="0" i="0">
                <a:solidFill>
                  <a:srgbClr val="E9F0FA"/>
                </a:solidFill>
                <a:latin typeface="Segoe UI"/>
              </a:rPr>
              <a:t>The full structured prompt — next slide. The answer arrives shaped for your PI.</a:t>
            </a:r>
          </a:p>
          <a:p>
            <a:pPr>
              <a:spcBef>
                <a:spcPts val="800"/>
              </a:spcBef>
            </a:pPr>
            <a:r>
              <a:rPr sz="1400" b="0" i="1">
                <a:solidFill>
                  <a:srgbClr val="FFB13D"/>
                </a:solidFill>
                <a:latin typeface="Segoe UI"/>
              </a:rPr>
              <a:t>“Instruction + Context + Constraints”</a:t>
            </a:r>
          </a:p>
        </p:txBody>
      </p:sp>
      <p:sp>
        <p:nvSpPr>
          <p:cNvPr id="13" name="Rectangle 12"/>
          <p:cNvSpPr/>
          <p:nvPr/>
        </p:nvSpPr>
        <p:spPr>
          <a:xfrm>
            <a:off x="8247888" y="1463040"/>
            <a:ext cx="82296" cy="23317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069080"/>
            <a:ext cx="11091672"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Output quality scales with input quality.</a:t>
            </a:r>
          </a:p>
          <a:p>
            <a:pPr algn="ctr">
              <a:spcBef>
                <a:spcPts val="600"/>
              </a:spcBef>
            </a:pPr>
            <a:r>
              <a:rPr sz="1300" b="0" i="0">
                <a:solidFill>
                  <a:srgbClr val="E8F0FB"/>
                </a:solidFill>
                <a:latin typeface="Segoe UI"/>
              </a:rPr>
              <a:t>Same model, same question — three very different answers.</a:t>
            </a:r>
          </a:p>
        </p:txBody>
      </p:sp>
      <p:sp>
        <p:nvSpPr>
          <p:cNvPr id="15" name="Rectangle 14"/>
          <p:cNvSpPr/>
          <p:nvPr/>
        </p:nvSpPr>
        <p:spPr>
          <a:xfrm>
            <a:off x="548640" y="406908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548872" y="406908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66360"/>
            <a:ext cx="11091672" cy="5029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Segoe UI Semibold"/>
              </a:rPr>
              <a:t>▶ LIVE DEMO — Gemini, Demo 1 (≈8 min): run all three prompts live, compare the answers side by side</a:t>
            </a:r>
          </a:p>
        </p:txBody>
      </p:sp>
      <p:sp>
        <p:nvSpPr>
          <p:cNvPr id="18" name="Rectangle 17"/>
          <p:cNvSpPr/>
          <p:nvPr/>
        </p:nvSpPr>
        <p:spPr>
          <a:xfrm>
            <a:off x="548640" y="5166360"/>
            <a:ext cx="91440" cy="5029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The ICC prompt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1828800"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Segoe UI Semibold"/>
              </a:rPr>
              <a:t>Instruction</a:t>
            </a:r>
          </a:p>
        </p:txBody>
      </p:sp>
      <p:sp>
        <p:nvSpPr>
          <p:cNvPr id="7" name="Rectangle 6"/>
          <p:cNvSpPr/>
          <p:nvPr/>
        </p:nvSpPr>
        <p:spPr>
          <a:xfrm>
            <a:off x="2606040" y="1463040"/>
            <a:ext cx="9034272" cy="960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
            </a:r>
            <a:r>
              <a:rPr sz="1400" b="0" i="0">
                <a:solidFill>
                  <a:srgbClr val="E9F0FA"/>
                </a:solidFill>
                <a:latin typeface="Segoe UI"/>
              </a:rPr>
              <a:t>Explain the eligible cost categories and overhead calculation for a Horizon Europe collaborative project, and list the 5 most common budgeting mistakes.</a:t>
            </a:r>
          </a:p>
        </p:txBody>
      </p:sp>
      <p:sp>
        <p:nvSpPr>
          <p:cNvPr id="8" name="Rectangle 7"/>
          <p:cNvSpPr/>
          <p:nvPr/>
        </p:nvSpPr>
        <p:spPr>
          <a:xfrm>
            <a:off x="2606040" y="1463040"/>
            <a:ext cx="82296"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651760"/>
            <a:ext cx="1828800" cy="1234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Segoe UI Semibold"/>
              </a:rPr>
              <a:t>Context</a:t>
            </a:r>
          </a:p>
        </p:txBody>
      </p:sp>
      <p:sp>
        <p:nvSpPr>
          <p:cNvPr id="10" name="Rectangle 9"/>
          <p:cNvSpPr/>
          <p:nvPr/>
        </p:nvSpPr>
        <p:spPr>
          <a:xfrm>
            <a:off x="2606040" y="2651760"/>
            <a:ext cx="90342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
            </a:r>
            <a:r>
              <a:rPr sz="1400" b="0" i="0">
                <a:solidFill>
                  <a:srgbClr val="E9F0FA"/>
                </a:solidFill>
                <a:latin typeface="Segoe UI"/>
              </a:rPr>
              <a:t>I am a research management administrator at a European university. We are preparing a budget for a Cluster 4 project with 8 partners, total budget EUR 3-4M. My audience is our PI, who has never coordinated an EU project.</a:t>
            </a:r>
          </a:p>
        </p:txBody>
      </p:sp>
      <p:sp>
        <p:nvSpPr>
          <p:cNvPr id="11" name="Rectangle 10"/>
          <p:cNvSpPr/>
          <p:nvPr/>
        </p:nvSpPr>
        <p:spPr>
          <a:xfrm>
            <a:off x="2606040" y="2651760"/>
            <a:ext cx="82296" cy="1234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114800"/>
            <a:ext cx="1828800"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Segoe UI Semibold"/>
              </a:rPr>
              <a:t>Constraints</a:t>
            </a:r>
          </a:p>
        </p:txBody>
      </p:sp>
      <p:sp>
        <p:nvSpPr>
          <p:cNvPr id="13" name="Rectangle 12"/>
          <p:cNvSpPr/>
          <p:nvPr/>
        </p:nvSpPr>
        <p:spPr>
          <a:xfrm>
            <a:off x="2606040" y="4114800"/>
            <a:ext cx="9034272" cy="96012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
            </a:r>
            <a:r>
              <a:rPr sz="1400" b="0" i="0">
                <a:solidFill>
                  <a:srgbClr val="E9F0FA"/>
                </a:solidFill>
                <a:latin typeface="Segoe UI"/>
              </a:rPr>
              <a:t>Maximum 600 words. Use a table for cost categories. Plain language, no unexplained acronyms.</a:t>
            </a:r>
          </a:p>
        </p:txBody>
      </p:sp>
      <p:sp>
        <p:nvSpPr>
          <p:cNvPr id="14" name="Rectangle 13"/>
          <p:cNvSpPr/>
          <p:nvPr/>
        </p:nvSpPr>
        <p:spPr>
          <a:xfrm>
            <a:off x="2606040" y="4114800"/>
            <a:ext cx="82296" cy="96012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394959"/>
            <a:ext cx="11091672" cy="365760"/>
          </a:xfrm>
          <a:prstGeom prst="rect">
            <a:avLst/>
          </a:prstGeom>
          <a:noFill/>
        </p:spPr>
        <p:txBody>
          <a:bodyPr wrap="square">
            <a:spAutoFit/>
          </a:bodyPr>
          <a:lstStyle/>
          <a:p>
            <a:pPr algn="ctr"/>
            <a:r>
              <a:rPr sz="1400" b="0" i="1">
                <a:solidFill>
                  <a:srgbClr val="9DB2D3"/>
                </a:solidFill>
                <a:latin typeface="Segoe UI"/>
              </a:rPr>
              <a:t>One prompt, three labeled blocks: what to do, who is asking and why, and what shape the answer must take.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Prompting LLMs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From one-line requests to structured contracts.</a:t>
            </a:r>
          </a:p>
        </p:txBody>
      </p:sp>
      <p:sp>
        <p:nvSpPr>
          <p:cNvPr id="7" name="Rectangle 6"/>
          <p:cNvSpPr/>
          <p:nvPr/>
        </p:nvSpPr>
        <p:spPr>
          <a:xfrm>
            <a:off x="548640" y="1965960"/>
            <a:ext cx="5394960" cy="3063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Garbage in, garbage out</a:t>
            </a:r>
          </a:p>
          <a:p>
            <a:pPr algn="l">
              <a:spcBef>
                <a:spcPts val="400"/>
              </a:spcBef>
            </a:pPr>
            <a:r>
              <a:rPr sz="1400" b="0" i="0">
                <a:solidFill>
                  <a:srgbClr val="E9F0FA"/>
                </a:solidFill>
                <a:latin typeface="Segoe UI"/>
              </a:rPr>
              <a:t>Output quality is set by input quality. “Write section X” leaves the model guessing about goals, audience, and format — so it guesses. A working prompt defines all five:</a:t>
            </a:r>
          </a:p>
          <a:p>
            <a:pPr>
              <a:spcBef>
                <a:spcPts val="400"/>
              </a:spcBef>
            </a:pPr>
            <a:r>
              <a:rPr sz="1300" b="0" i="0">
                <a:solidFill>
                  <a:srgbClr val="BDD7F5"/>
                </a:solidFill>
                <a:latin typeface="Segoe UI"/>
              </a:rPr>
              <a:t>•  Role — who the AI is to be</a:t>
            </a:r>
          </a:p>
          <a:p>
            <a:pPr>
              <a:spcBef>
                <a:spcPts val="400"/>
              </a:spcBef>
            </a:pPr>
            <a:r>
              <a:rPr sz="1300" b="0" i="0">
                <a:solidFill>
                  <a:srgbClr val="BDD7F5"/>
                </a:solidFill>
                <a:latin typeface="Segoe UI"/>
              </a:rPr>
              <a:t>•  Task — the goal and its boundaries</a:t>
            </a:r>
          </a:p>
          <a:p>
            <a:pPr>
              <a:spcBef>
                <a:spcPts val="400"/>
              </a:spcBef>
            </a:pPr>
            <a:r>
              <a:rPr sz="1300" b="0" i="0">
                <a:solidFill>
                  <a:srgbClr val="BDD7F5"/>
                </a:solidFill>
                <a:latin typeface="Segoe UI"/>
              </a:rPr>
              <a:t>•  Inputs — the documents that ground it</a:t>
            </a:r>
          </a:p>
          <a:p>
            <a:pPr>
              <a:spcBef>
                <a:spcPts val="400"/>
              </a:spcBef>
            </a:pPr>
            <a:r>
              <a:rPr sz="1300" b="0" i="0">
                <a:solidFill>
                  <a:srgbClr val="BDD7F5"/>
                </a:solidFill>
                <a:latin typeface="Segoe UI"/>
              </a:rPr>
              <a:t>•  Constraints — limits, criteria, exclusions</a:t>
            </a:r>
          </a:p>
          <a:p>
            <a:pPr>
              <a:spcBef>
                <a:spcPts val="400"/>
              </a:spcBef>
            </a:pPr>
            <a:r>
              <a:rPr sz="1300" b="0" i="0">
                <a:solidFill>
                  <a:srgbClr val="BDD7F5"/>
                </a:solidFill>
                <a:latin typeface="Segoe UI"/>
              </a:rPr>
              <a:t>•  Output — structure, length, format</a:t>
            </a:r>
          </a:p>
        </p:txBody>
      </p:sp>
      <p:sp>
        <p:nvSpPr>
          <p:cNvPr id="8" name="Rectangle 7"/>
          <p:cNvSpPr/>
          <p:nvPr/>
        </p:nvSpPr>
        <p:spPr>
          <a:xfrm>
            <a:off x="548640" y="1965960"/>
            <a:ext cx="82296" cy="3063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1965960"/>
            <a:ext cx="5449824" cy="3063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A structured prompt, in full</a:t>
            </a:r>
          </a:p>
          <a:p>
            <a:pPr>
              <a:spcBef>
                <a:spcPts val="600"/>
              </a:spcBef>
            </a:pPr>
            <a:r>
              <a:rPr sz="1300" b="0" i="0">
                <a:solidFill>
                  <a:srgbClr val="E9F0FA"/>
                </a:solidFill>
                <a:latin typeface="Segoe UI"/>
              </a:rPr>
              <a:t>Role:  Gantt designer
Task:  create a Gantt chart for the work packages
Constraints:  measurable KPIs · align with Expected Outcomes · include milestones · no WP-level detail
Input:  the documents in the WP folder
Output:  structured text, max 600 words</a:t>
            </a:r>
          </a:p>
        </p:txBody>
      </p:sp>
      <p:sp>
        <p:nvSpPr>
          <p:cNvPr id="10" name="Rectangle 9"/>
          <p:cNvSpPr/>
          <p:nvPr/>
        </p:nvSpPr>
        <p:spPr>
          <a:xfrm>
            <a:off x="6190488" y="1965960"/>
            <a:ext cx="82296" cy="30632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257800"/>
            <a:ext cx="11091672"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A prompt is a contract, not just an instruction.</a:t>
            </a:r>
          </a:p>
        </p:txBody>
      </p:sp>
      <p:sp>
        <p:nvSpPr>
          <p:cNvPr id="12" name="Rectangle 11"/>
          <p:cNvSpPr/>
          <p:nvPr/>
        </p:nvSpPr>
        <p:spPr>
          <a:xfrm>
            <a:off x="548640" y="525780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48872" y="525780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Two shortcuts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544982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Shortcut 1 — Ask-me-first</a:t>
            </a:r>
          </a:p>
          <a:p>
            <a:pPr algn="l">
              <a:spcBef>
                <a:spcPts val="400"/>
              </a:spcBef>
            </a:pPr>
            <a:r>
              <a:rPr sz="1400" b="0" i="0">
                <a:solidFill>
                  <a:srgbClr val="E9F0FA"/>
                </a:solidFill>
                <a:latin typeface="Segoe UI"/>
              </a:rPr>
              <a:t>Append this to any task and let the model interview you before it answers:</a:t>
            </a:r>
          </a:p>
          <a:p>
            <a:pPr>
              <a:spcBef>
                <a:spcPts val="800"/>
              </a:spcBef>
            </a:pPr>
            <a:r>
              <a:rPr sz="1400" b="0" i="1">
                <a:solidFill>
                  <a:srgbClr val="BDD7F5"/>
                </a:solidFill>
                <a:latin typeface="Segoe UI"/>
              </a:rPr>
              <a:t>“Before answering, ask me the questions you need to give the best possible answer.”</a:t>
            </a:r>
          </a:p>
        </p:txBody>
      </p:sp>
      <p:sp>
        <p:nvSpPr>
          <p:cNvPr id="7" name="Rectangle 6"/>
          <p:cNvSpPr/>
          <p:nvPr/>
        </p:nvSpPr>
        <p:spPr>
          <a:xfrm>
            <a:off x="548640" y="146304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0488" y="1463040"/>
            <a:ext cx="5449824" cy="2377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Shortcut 2 — Reverse prompt</a:t>
            </a:r>
          </a:p>
          <a:p>
            <a:pPr algn="l">
              <a:spcBef>
                <a:spcPts val="400"/>
              </a:spcBef>
            </a:pPr>
            <a:r>
              <a:rPr sz="1400" b="0" i="0">
                <a:solidFill>
                  <a:srgbClr val="E9F0FA"/>
                </a:solidFill>
                <a:latin typeface="Segoe UI"/>
              </a:rPr>
              <a:t>After a good multi-turn result, ask for the reusable prompt — and save it:</a:t>
            </a:r>
          </a:p>
          <a:p>
            <a:pPr>
              <a:spcBef>
                <a:spcPts val="800"/>
              </a:spcBef>
            </a:pPr>
            <a:r>
              <a:rPr sz="1400" b="0" i="1">
                <a:solidFill>
                  <a:srgbClr val="BDD7F5"/>
                </a:solidFill>
                <a:latin typeface="Segoe UI"/>
              </a:rPr>
              <a:t>“Write the single prompt that would have gotten us to this result on the first try.”</a:t>
            </a:r>
          </a:p>
        </p:txBody>
      </p:sp>
      <p:sp>
        <p:nvSpPr>
          <p:cNvPr id="9" name="Rectangle 8"/>
          <p:cNvSpPr/>
          <p:nvPr/>
        </p:nvSpPr>
        <p:spPr>
          <a:xfrm>
            <a:off x="6190488" y="1463040"/>
            <a:ext cx="82296" cy="23774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069080"/>
            <a:ext cx="11091672" cy="365760"/>
          </a:xfrm>
          <a:prstGeom prst="rect">
            <a:avLst/>
          </a:prstGeom>
          <a:noFill/>
        </p:spPr>
        <p:txBody>
          <a:bodyPr wrap="square">
            <a:spAutoFit/>
          </a:bodyPr>
          <a:lstStyle/>
          <a:p>
            <a:pPr algn="ctr"/>
            <a:r>
              <a:rPr sz="1400" b="0" i="0">
                <a:solidFill>
                  <a:srgbClr val="FFB13D"/>
                </a:solidFill>
                <a:latin typeface="Segoe UI"/>
              </a:rPr>
              <a:t>Copy these two phrases word for word — they alone jump you from Level 1 to Level 2.</a:t>
            </a:r>
          </a:p>
        </p:txBody>
      </p:sp>
      <p:sp>
        <p:nvSpPr>
          <p:cNvPr id="11" name="Rectangle 10"/>
          <p:cNvSpPr/>
          <p:nvPr/>
        </p:nvSpPr>
        <p:spPr>
          <a:xfrm>
            <a:off x="548640" y="4617720"/>
            <a:ext cx="11091672" cy="50292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600" b="1" i="0">
                <a:solidFill>
                  <a:srgbClr val="FFFFFF"/>
                </a:solidFill>
                <a:latin typeface="Segoe UI Semibold"/>
              </a:rPr>
              <a:t>▶ LIVE DEMO — Gemini, Demo 2 (≈17 min) starts here: ask-me-first live — watch the model interview the facilitator</a:t>
            </a:r>
          </a:p>
        </p:txBody>
      </p:sp>
      <p:sp>
        <p:nvSpPr>
          <p:cNvPr id="12" name="Rectangle 11"/>
          <p:cNvSpPr/>
          <p:nvPr/>
        </p:nvSpPr>
        <p:spPr>
          <a:xfrm>
            <a:off x="548640" y="4617720"/>
            <a:ext cx="91440" cy="50292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Meta-prompting — let the AI write the prompt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Describe the task and ask for the prompt — not the answer.</a:t>
            </a:r>
          </a:p>
          <a:p>
            <a:pPr>
              <a:spcAft>
                <a:spcPts val="800"/>
              </a:spcAft>
            </a:pPr>
            <a:r>
              <a:rPr sz="1800" b="0" i="0">
                <a:solidFill>
                  <a:srgbClr val="E9F0FA"/>
                </a:solidFill>
                <a:latin typeface="Segoe UI"/>
              </a:rPr>
              <a:t>Then fill in your specifics, run the generated prompt, and compare with a naive attempt.</a:t>
            </a:r>
          </a:p>
        </p:txBody>
      </p:sp>
      <p:sp>
        <p:nvSpPr>
          <p:cNvPr id="7" name="Rectangle 6"/>
          <p:cNvSpPr/>
          <p:nvPr/>
        </p:nvSpPr>
        <p:spPr>
          <a:xfrm>
            <a:off x="548640" y="2743200"/>
            <a:ext cx="11091672"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The move, in one prompt:</a:t>
            </a:r>
          </a:p>
          <a:p>
            <a:pPr>
              <a:spcBef>
                <a:spcPts val="800"/>
              </a:spcBef>
            </a:pPr>
            <a:r>
              <a:rPr sz="1400" b="0" i="1">
                <a:solidFill>
                  <a:srgbClr val="E9F0FA"/>
                </a:solidFill>
                <a:latin typeface="Segoe UI"/>
              </a:rPr>
              <a:t>“I need an AI assistant to help me draft the impact section of an EU project's periodic report. Write the optimal prompt I should use, including all the context and constraints that would produce the best result.”</a:t>
            </a:r>
          </a:p>
        </p:txBody>
      </p:sp>
      <p:sp>
        <p:nvSpPr>
          <p:cNvPr id="8" name="Rectangle 7"/>
          <p:cNvSpPr/>
          <p:nvPr/>
        </p:nvSpPr>
        <p:spPr>
          <a:xfrm>
            <a:off x="548640" y="2743200"/>
            <a:ext cx="82296" cy="15544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4617720"/>
            <a:ext cx="11091672" cy="10058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The model knows what a good prompt looks like better than you do —
use it as your prompt engineer.</a:t>
            </a:r>
          </a:p>
        </p:txBody>
      </p:sp>
      <p:sp>
        <p:nvSpPr>
          <p:cNvPr id="10" name="Rectangle 9"/>
          <p:cNvSpPr/>
          <p:nvPr/>
        </p:nvSpPr>
        <p:spPr>
          <a:xfrm>
            <a:off x="548640" y="46177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48872" y="46177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Four prompt patterns</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Persona</a:t>
            </a:r>
          </a:p>
          <a:p>
            <a:pPr algn="l">
              <a:spcBef>
                <a:spcPts val="400"/>
              </a:spcBef>
            </a:pPr>
            <a:r>
              <a:rPr sz="1400" b="0" i="0">
                <a:solidFill>
                  <a:srgbClr val="E9F0FA"/>
                </a:solidFill>
                <a:latin typeface="Segoe UI"/>
              </a:rPr>
              <a:t>The role sets vocabulary, priorities, and depth.</a:t>
            </a:r>
          </a:p>
          <a:p>
            <a:pPr>
              <a:spcBef>
                <a:spcPts val="800"/>
              </a:spcBef>
            </a:pPr>
            <a:r>
              <a:rPr sz="1400" b="0" i="1">
                <a:solidFill>
                  <a:srgbClr val="BDD7F5"/>
                </a:solidFill>
                <a:latin typeface="Segoe UI"/>
              </a:rPr>
              <a:t>“Act as an experienced EU grants advisor reviewing a first-time applicant's budget…”</a:t>
            </a:r>
          </a:p>
        </p:txBody>
      </p:sp>
      <p:sp>
        <p:nvSpPr>
          <p:cNvPr id="7" name="Rectangle 6"/>
          <p:cNvSpPr/>
          <p:nvPr/>
        </p:nvSpPr>
        <p:spPr>
          <a:xfrm>
            <a:off x="548640" y="14173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0488" y="141732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Example-driven (few-shot)</a:t>
            </a:r>
          </a:p>
          <a:p>
            <a:pPr algn="l">
              <a:spcBef>
                <a:spcPts val="400"/>
              </a:spcBef>
            </a:pPr>
            <a:r>
              <a:rPr sz="1400" b="0" i="0">
                <a:solidFill>
                  <a:srgbClr val="E9F0FA"/>
                </a:solidFill>
                <a:latin typeface="Segoe UI"/>
              </a:rPr>
              <a:t>A good example beats a paragraph of description.</a:t>
            </a:r>
          </a:p>
          <a:p>
            <a:pPr>
              <a:spcBef>
                <a:spcPts val="800"/>
              </a:spcBef>
            </a:pPr>
            <a:r>
              <a:rPr sz="1400" b="0" i="1">
                <a:solidFill>
                  <a:srgbClr val="BDD7F5"/>
                </a:solidFill>
                <a:latin typeface="Segoe UI"/>
              </a:rPr>
              <a:t>“Here is a partner-search announcement in our house style. Write one for the following project in the same style: …”</a:t>
            </a:r>
          </a:p>
        </p:txBody>
      </p:sp>
      <p:sp>
        <p:nvSpPr>
          <p:cNvPr id="9" name="Rectangle 8"/>
          <p:cNvSpPr/>
          <p:nvPr/>
        </p:nvSpPr>
        <p:spPr>
          <a:xfrm>
            <a:off x="6190488" y="141732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38328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Step-by-step</a:t>
            </a:r>
          </a:p>
          <a:p>
            <a:pPr algn="l">
              <a:spcBef>
                <a:spcPts val="400"/>
              </a:spcBef>
            </a:pPr>
            <a:r>
              <a:rPr sz="1400" b="0" i="0">
                <a:solidFill>
                  <a:srgbClr val="E9F0FA"/>
                </a:solidFill>
                <a:latin typeface="Segoe UI"/>
              </a:rPr>
              <a:t>Forcing intermediate steps improves reasoning on rule-checking tasks.</a:t>
            </a:r>
          </a:p>
          <a:p>
            <a:pPr>
              <a:spcBef>
                <a:spcPts val="800"/>
              </a:spcBef>
            </a:pPr>
            <a:r>
              <a:rPr sz="1400" b="0" i="1">
                <a:solidFill>
                  <a:srgbClr val="BDD7F5"/>
                </a:solidFill>
                <a:latin typeface="Segoe UI"/>
              </a:rPr>
              <a:t>“Before giving the final assessment, first list the eligibility criteria, then check each against the project facts, then conclude.”</a:t>
            </a:r>
          </a:p>
        </p:txBody>
      </p:sp>
      <p:sp>
        <p:nvSpPr>
          <p:cNvPr id="11" name="Rectangle 10"/>
          <p:cNvSpPr/>
          <p:nvPr/>
        </p:nvSpPr>
        <p:spPr>
          <a:xfrm>
            <a:off x="548640" y="338328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3383280"/>
            <a:ext cx="5449824" cy="17830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Critique-then-improve</a:t>
            </a:r>
          </a:p>
          <a:p>
            <a:pPr algn="l">
              <a:spcBef>
                <a:spcPts val="400"/>
              </a:spcBef>
            </a:pPr>
            <a:r>
              <a:rPr sz="1400" b="0" i="0">
                <a:solidFill>
                  <a:srgbClr val="E9F0FA"/>
                </a:solidFill>
                <a:latin typeface="Segoe UI"/>
              </a:rPr>
              <a:t>Separates diagnosis from repair — the model stops rewriting what already works.</a:t>
            </a:r>
          </a:p>
          <a:p>
            <a:pPr>
              <a:spcBef>
                <a:spcPts val="800"/>
              </a:spcBef>
            </a:pPr>
            <a:r>
              <a:rPr sz="1400" b="0" i="1">
                <a:solidFill>
                  <a:srgbClr val="BDD7F5"/>
                </a:solidFill>
                <a:latin typeface="Segoe UI"/>
              </a:rPr>
              <a:t>“Here is my draft. First list its three biggest weaknesses against the evaluation criteria, then rewrite it fixing only those.”</a:t>
            </a:r>
          </a:p>
        </p:txBody>
      </p:sp>
      <p:sp>
        <p:nvSpPr>
          <p:cNvPr id="13" name="Rectangle 12"/>
          <p:cNvSpPr/>
          <p:nvPr/>
        </p:nvSpPr>
        <p:spPr>
          <a:xfrm>
            <a:off x="6190488" y="3383280"/>
            <a:ext cx="82296" cy="17830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486400"/>
            <a:ext cx="11091672" cy="365760"/>
          </a:xfrm>
          <a:prstGeom prst="rect">
            <a:avLst/>
          </a:prstGeom>
          <a:noFill/>
        </p:spPr>
        <p:txBody>
          <a:bodyPr wrap="square">
            <a:spAutoFit/>
          </a:bodyPr>
          <a:lstStyle/>
          <a:p>
            <a:pPr algn="ctr"/>
            <a:r>
              <a:rPr sz="1400" b="0" i="1">
                <a:solidFill>
                  <a:srgbClr val="9DB2D3"/>
                </a:solidFill>
                <a:latin typeface="Segoe UI"/>
              </a:rPr>
              <a:t>Every saved prompt is one of these shapes filled in — your prompt library lives in your knowledge system from Lesson 4 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Prompt Patterns &amp; Meta-Prompting</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91672" cy="4846320"/>
          </a:xfrm>
          <a:prstGeom prst="rect">
            <a:avLst/>
          </a:prstGeom>
          <a:noFill/>
        </p:spPr>
        <p:txBody>
          <a:bodyPr wrap="square">
            <a:spAutoFit/>
          </a:bodyPr>
          <a:lstStyle/>
          <a:p>
            <a:pPr algn="l">
              <a:spcAft>
                <a:spcPts val="800"/>
              </a:spcAft>
            </a:pPr>
            <a:r>
              <a:rPr sz="1800" b="0" i="0">
                <a:solidFill>
                  <a:srgbClr val="E9F0FA"/>
                </a:solidFill>
                <a:latin typeface="Segoe UI"/>
              </a:rPr>
              <a:t>The same moves, at working scale — from proposal-writing practice.</a:t>
            </a:r>
          </a:p>
        </p:txBody>
      </p:sp>
      <p:sp>
        <p:nvSpPr>
          <p:cNvPr id="7" name="Rectangle 6"/>
          <p:cNvSpPr/>
          <p:nvPr/>
        </p:nvSpPr>
        <p:spPr>
          <a:xfrm>
            <a:off x="548640" y="1965960"/>
            <a:ext cx="5394960" cy="32004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Pattern families in daily use</a:t>
            </a:r>
          </a:p>
          <a:p>
            <a:pPr>
              <a:spcBef>
                <a:spcPts val="500"/>
              </a:spcBef>
            </a:pPr>
            <a:r>
              <a:rPr sz="1300" b="1" i="0">
                <a:solidFill>
                  <a:srgbClr val="BDD7F5"/>
                </a:solidFill>
                <a:latin typeface="Segoe UI"/>
              </a:rPr>
              <a:t>Role-based — </a:t>
            </a:r>
            <a:r>
              <a:rPr sz="1300" b="0" i="0">
                <a:solidFill>
                  <a:srgbClr val="E9F0FA"/>
                </a:solidFill>
                <a:latin typeface="Segoe UI"/>
              </a:rPr>
              <a:t>“Act as a Horizon Europe evaluator.”</a:t>
            </a:r>
          </a:p>
          <a:p>
            <a:pPr>
              <a:spcBef>
                <a:spcPts val="500"/>
              </a:spcBef>
            </a:pPr>
            <a:r>
              <a:rPr sz="1300" b="1" i="0">
                <a:solidFill>
                  <a:srgbClr val="BDD7F5"/>
                </a:solidFill>
                <a:latin typeface="Segoe UI"/>
              </a:rPr>
              <a:t>Verifier — </a:t>
            </a:r>
            <a:r>
              <a:rPr sz="1300" b="0" i="0">
                <a:solidFill>
                  <a:srgbClr val="E9F0FA"/>
                </a:solidFill>
                <a:latin typeface="Segoe UI"/>
              </a:rPr>
              <a:t>Generate probing questions about X, then combine the answers into Y.</a:t>
            </a:r>
          </a:p>
          <a:p>
            <a:pPr>
              <a:spcBef>
                <a:spcPts val="500"/>
              </a:spcBef>
            </a:pPr>
            <a:r>
              <a:rPr sz="1300" b="1" i="0">
                <a:solidFill>
                  <a:srgbClr val="BDD7F5"/>
                </a:solidFill>
                <a:latin typeface="Segoe UI"/>
              </a:rPr>
              <a:t>Constraint-driven — </a:t>
            </a:r>
            <a:r>
              <a:rPr sz="1300" b="0" i="0">
                <a:solidFill>
                  <a:srgbClr val="E9F0FA"/>
                </a:solidFill>
                <a:latin typeface="Segoe UI"/>
              </a:rPr>
              <a:t>Page limits, structure rules, forbidden content (no WP detail in section X).</a:t>
            </a:r>
          </a:p>
          <a:p>
            <a:pPr>
              <a:spcBef>
                <a:spcPts val="500"/>
              </a:spcBef>
            </a:pPr>
            <a:r>
              <a:rPr sz="1300" b="1" i="0">
                <a:solidFill>
                  <a:srgbClr val="BDD7F5"/>
                </a:solidFill>
                <a:latin typeface="Segoe UI"/>
              </a:rPr>
              <a:t>Input-grounded — </a:t>
            </a:r>
            <a:r>
              <a:rPr sz="1300" b="0" i="0">
                <a:solidFill>
                  <a:srgbClr val="E9F0FA"/>
                </a:solidFill>
                <a:latin typeface="Segoe UI"/>
              </a:rPr>
              <a:t>Concept note + work packages in, template followed.</a:t>
            </a:r>
          </a:p>
          <a:p>
            <a:pPr>
              <a:spcBef>
                <a:spcPts val="500"/>
              </a:spcBef>
            </a:pPr>
            <a:r>
              <a:rPr sz="1300" b="1" i="0">
                <a:solidFill>
                  <a:srgbClr val="BDD7F5"/>
                </a:solidFill>
                <a:latin typeface="Segoe UI"/>
              </a:rPr>
              <a:t>Refinement — </a:t>
            </a:r>
            <a:r>
              <a:rPr sz="1300" b="0" i="0">
                <a:solidFill>
                  <a:srgbClr val="E9F0FA"/>
                </a:solidFill>
                <a:latin typeface="Segoe UI"/>
              </a:rPr>
              <a:t>“Suggest a better version of this question to use instead.”</a:t>
            </a:r>
          </a:p>
        </p:txBody>
      </p:sp>
      <p:sp>
        <p:nvSpPr>
          <p:cNvPr id="8" name="Rectangle 7"/>
          <p:cNvSpPr/>
          <p:nvPr/>
        </p:nvSpPr>
        <p:spPr>
          <a:xfrm>
            <a:off x="548640" y="1965960"/>
            <a:ext cx="82296" cy="32004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1965960"/>
            <a:ext cx="5449824" cy="32004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Meta-prompting, one level up</a:t>
            </a:r>
          </a:p>
          <a:p>
            <a:pPr>
              <a:spcBef>
                <a:spcPts val="600"/>
              </a:spcBef>
            </a:pPr>
            <a:r>
              <a:rPr sz="1300" b="0" i="0">
                <a:solidFill>
                  <a:srgbClr val="E9F0FA"/>
                </a:solidFill>
                <a:latin typeface="Segoe UI"/>
              </a:rPr>
              <a:t>Task:  generate a reusable prompt template for Horizon Europe proposal writing.
Requirements:  evaluator alignment (Excellence / Impact / Implementation) · measurable KPIs · no WP-level detail leakage · explicit input structure · defined output format.
Output:  a reusable template with placeholders for the concept, WPs, and call requirements.</a:t>
            </a:r>
          </a:p>
        </p:txBody>
      </p:sp>
      <p:sp>
        <p:nvSpPr>
          <p:cNvPr id="10" name="Rectangle 9"/>
          <p:cNvSpPr/>
          <p:nvPr/>
        </p:nvSpPr>
        <p:spPr>
          <a:xfrm>
            <a:off x="6190488" y="1965960"/>
            <a:ext cx="82296" cy="32004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394960"/>
            <a:ext cx="11091672" cy="7772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000" b="1" i="0">
                <a:solidFill>
                  <a:srgbClr val="FFFFFF"/>
                </a:solidFill>
                <a:latin typeface="Segoe UI Semibold"/>
              </a:rPr>
              <a:t>You design standards, not just prompts.</a:t>
            </a:r>
          </a:p>
        </p:txBody>
      </p:sp>
      <p:sp>
        <p:nvSpPr>
          <p:cNvPr id="12" name="Rectangle 11"/>
          <p:cNvSpPr/>
          <p:nvPr/>
        </p:nvSpPr>
        <p:spPr>
          <a:xfrm>
            <a:off x="548640" y="539496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48872" y="5394960"/>
            <a:ext cx="91440" cy="7772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Two rules while we demo</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11091672"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1 — Nothing you couldn't publish</a:t>
            </a:r>
          </a:p>
          <a:p>
            <a:pPr algn="l">
              <a:spcBef>
                <a:spcPts val="400"/>
              </a:spcBef>
            </a:pPr>
            <a:r>
              <a:rPr sz="1400" b="0" i="0">
                <a:solidFill>
                  <a:srgbClr val="E9F0FA"/>
                </a:solidFill>
                <a:latin typeface="Segoe UI"/>
              </a:rPr>
              <a:t>Never paste sensitive institutional data into Gemini. The full rule comes in Lesson 2 — until then: if you couldn't publish it, don't paste it.</a:t>
            </a:r>
          </a:p>
        </p:txBody>
      </p:sp>
      <p:sp>
        <p:nvSpPr>
          <p:cNvPr id="7" name="Rectangle 6"/>
          <p:cNvSpPr/>
          <p:nvPr/>
        </p:nvSpPr>
        <p:spPr>
          <a:xfrm>
            <a:off x="548640" y="1554480"/>
            <a:ext cx="82296"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46120"/>
            <a:ext cx="11091672"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2 — Verify anything factual before using it</a:t>
            </a:r>
          </a:p>
          <a:p>
            <a:pPr algn="l">
              <a:spcBef>
                <a:spcPts val="400"/>
              </a:spcBef>
            </a:pPr>
            <a:r>
              <a:rPr sz="1400" b="0" i="0">
                <a:solidFill>
                  <a:srgbClr val="E9F0FA"/>
                </a:solidFill>
                <a:latin typeface="Segoe UI"/>
              </a:rPr>
              <a:t>Cost rules, percentages, deadlines, citations — confident and fluent is not the same as correct. Check against the source before it goes into your work.</a:t>
            </a:r>
          </a:p>
        </p:txBody>
      </p:sp>
      <p:sp>
        <p:nvSpPr>
          <p:cNvPr id="9" name="Rectangle 8"/>
          <p:cNvSpPr/>
          <p:nvPr/>
        </p:nvSpPr>
        <p:spPr>
          <a:xfrm>
            <a:off x="548640" y="3246120"/>
            <a:ext cx="82296"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029200"/>
            <a:ext cx="11091672" cy="365760"/>
          </a:xfrm>
          <a:prstGeom prst="rect">
            <a:avLst/>
          </a:prstGeom>
          <a:noFill/>
        </p:spPr>
        <p:txBody>
          <a:bodyPr wrap="square">
            <a:spAutoFit/>
          </a:bodyPr>
          <a:lstStyle/>
          <a:p>
            <a:pPr algn="ctr"/>
            <a:r>
              <a:rPr sz="1400" b="0" i="1">
                <a:solidFill>
                  <a:srgbClr val="9DB2D3"/>
                </a:solidFill>
                <a:latin typeface="Segoe UI"/>
              </a:rPr>
              <a:t>Both rules apply to everything you just watched — and to everything you build this week.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4</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Assignment briefing + close</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10 min · Presentation + Q&amp;A</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4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03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161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Your Anchor Project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5449824"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A real project — anonymized</a:t>
            </a:r>
          </a:p>
          <a:p>
            <a:pPr algn="l">
              <a:spcBef>
                <a:spcPts val="400"/>
              </a:spcBef>
            </a:pPr>
            <a:r>
              <a:rPr sz="1400" b="0" i="0">
                <a:solidFill>
                  <a:srgbClr val="E9F0FA"/>
                </a:solidFill>
                <a:latin typeface="Segoe UI"/>
              </a:rPr>
              <a:t>One research project from your environment. Strip names, partners, amounts — anonymize anything you couldn't publish.</a:t>
            </a:r>
          </a:p>
        </p:txBody>
      </p:sp>
      <p:sp>
        <p:nvSpPr>
          <p:cNvPr id="7" name="Rectangle 6"/>
          <p:cNvSpPr/>
          <p:nvPr/>
        </p:nvSpPr>
        <p:spPr>
          <a:xfrm>
            <a:off x="548640" y="1463040"/>
            <a:ext cx="82296" cy="15544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0488" y="1463040"/>
            <a:ext cx="5449824" cy="15544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…or a fictional one</a:t>
            </a:r>
          </a:p>
          <a:p>
            <a:pPr algn="l">
              <a:spcBef>
                <a:spcPts val="400"/>
              </a:spcBef>
            </a:pPr>
            <a:r>
              <a:rPr sz="1400" b="0" i="0">
                <a:solidFill>
                  <a:srgbClr val="E9F0FA"/>
                </a:solidFill>
                <a:latin typeface="Segoe UI"/>
              </a:rPr>
              <a:t>Invent a plausible project instead — same funding scheme, same paperwork, none of the confidentiality worries.</a:t>
            </a:r>
          </a:p>
        </p:txBody>
      </p:sp>
      <p:sp>
        <p:nvSpPr>
          <p:cNvPr id="9" name="Rectangle 8"/>
          <p:cNvSpPr/>
          <p:nvPr/>
        </p:nvSpPr>
        <p:spPr>
          <a:xfrm>
            <a:off x="6190488" y="1463040"/>
            <a:ext cx="82296" cy="155448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291840"/>
            <a:ext cx="11091672" cy="10058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You will build your entire knowledge system around it during the course.</a:t>
            </a:r>
          </a:p>
          <a:p>
            <a:pPr algn="ctr">
              <a:spcBef>
                <a:spcPts val="600"/>
              </a:spcBef>
            </a:pPr>
            <a:r>
              <a:rPr sz="1300" b="0" i="0">
                <a:solidFill>
                  <a:srgbClr val="E8F0FB"/>
                </a:solidFill>
                <a:latin typeface="Segoe UI"/>
              </a:rPr>
              <a:t>One project, followed from Lesson 1 to Week 8 — pick one with a real lifecycle: funding scheme, reporting duties, stakeholders.</a:t>
            </a:r>
          </a:p>
        </p:txBody>
      </p:sp>
      <p:sp>
        <p:nvSpPr>
          <p:cNvPr id="11" name="Rectangle 10"/>
          <p:cNvSpPr/>
          <p:nvPr/>
        </p:nvSpPr>
        <p:spPr>
          <a:xfrm>
            <a:off x="548640" y="329184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548872" y="329184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572000"/>
            <a:ext cx="11091672" cy="365760"/>
          </a:xfrm>
          <a:prstGeom prst="rect">
            <a:avLst/>
          </a:prstGeom>
          <a:noFill/>
        </p:spPr>
        <p:txBody>
          <a:bodyPr wrap="square">
            <a:spAutoFit/>
          </a:bodyPr>
          <a:lstStyle/>
          <a:p>
            <a:pPr algn="ctr"/>
            <a:r>
              <a:rPr sz="1400" b="0" i="0">
                <a:solidFill>
                  <a:srgbClr val="FFB13D"/>
                </a:solidFill>
                <a:latin typeface="Segoe UI"/>
              </a:rPr>
              <a:t>First step this week: write 5 sentences describing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This week's assignment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548640"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1</a:t>
            </a:r>
          </a:p>
        </p:txBody>
      </p:sp>
      <p:sp>
        <p:nvSpPr>
          <p:cNvPr id="7" name="Rectangle 6"/>
          <p:cNvSpPr/>
          <p:nvPr/>
        </p:nvSpPr>
        <p:spPr>
          <a:xfrm>
            <a:off x="1280160" y="1325880"/>
            <a:ext cx="10360152" cy="777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500" b="1" i="0">
                <a:solidFill>
                  <a:srgbClr val="FFFFFF"/>
                </a:solidFill>
                <a:latin typeface="Segoe UI Semibold"/>
              </a:rPr>
              <a:t>Pick your Anchor Project</a:t>
            </a:r>
            <a:r>
              <a:rPr sz="1300" b="0" i="0">
                <a:solidFill>
                  <a:srgbClr val="E9F0FA"/>
                </a:solidFill>
                <a:latin typeface="Segoe UI"/>
              </a:rPr>
              <a:t>  —  One real (anonymized) or fictional research project — write 5 sentences describing it.</a:t>
            </a:r>
          </a:p>
        </p:txBody>
      </p:sp>
      <p:sp>
        <p:nvSpPr>
          <p:cNvPr id="8" name="Rectangle 7"/>
          <p:cNvSpPr/>
          <p:nvPr/>
        </p:nvSpPr>
        <p:spPr>
          <a:xfrm>
            <a:off x="548640" y="2194560"/>
            <a:ext cx="548640" cy="10972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2</a:t>
            </a:r>
          </a:p>
        </p:txBody>
      </p:sp>
      <p:sp>
        <p:nvSpPr>
          <p:cNvPr id="9" name="Rectangle 8"/>
          <p:cNvSpPr/>
          <p:nvPr/>
        </p:nvSpPr>
        <p:spPr>
          <a:xfrm>
            <a:off x="1280160" y="2194560"/>
            <a:ext cx="10360152" cy="10972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500" b="1" i="0">
                <a:solidFill>
                  <a:srgbClr val="FFFFFF"/>
                </a:solidFill>
                <a:latin typeface="Segoe UI Semibold"/>
              </a:rPr>
              <a:t>Three ICC prompts in Gemini</a:t>
            </a:r>
            <a:r>
              <a:rPr sz="1300" b="0" i="0">
                <a:solidFill>
                  <a:srgbClr val="E9F0FA"/>
                </a:solidFill>
                <a:latin typeface="Segoe UI"/>
              </a:rPr>
              <a:t>  —  About your Anchor Project's domain, at least one using a pattern — persona, example-driven, step-by-step, or critique-then-improve. Save each prompt, the answer, and one sentence on what you'd improve.</a:t>
            </a:r>
          </a:p>
        </p:txBody>
      </p:sp>
      <p:sp>
        <p:nvSpPr>
          <p:cNvPr id="10" name="Rectangle 9"/>
          <p:cNvSpPr/>
          <p:nvPr/>
        </p:nvSpPr>
        <p:spPr>
          <a:xfrm>
            <a:off x="548640" y="3383280"/>
            <a:ext cx="548640" cy="7772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3</a:t>
            </a:r>
          </a:p>
        </p:txBody>
      </p:sp>
      <p:sp>
        <p:nvSpPr>
          <p:cNvPr id="11" name="Rectangle 10"/>
          <p:cNvSpPr/>
          <p:nvPr/>
        </p:nvSpPr>
        <p:spPr>
          <a:xfrm>
            <a:off x="1280160" y="3383280"/>
            <a:ext cx="10360152" cy="7772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500" b="1" i="0">
                <a:solidFill>
                  <a:srgbClr val="FFFFFF"/>
                </a:solidFill>
                <a:latin typeface="Segoe UI Semibold"/>
              </a:rPr>
              <a:t>One ask-me-first prompt</a:t>
            </a:r>
            <a:r>
              <a:rPr sz="1300" b="0" i="0">
                <a:solidFill>
                  <a:srgbClr val="E9F0FA"/>
                </a:solidFill>
                <a:latin typeface="Segoe UI"/>
              </a:rPr>
              <a:t>  —  Let Gemini interview you about a task from your actual work, then complete the task with it.</a:t>
            </a:r>
          </a:p>
        </p:txBody>
      </p:sp>
      <p:sp>
        <p:nvSpPr>
          <p:cNvPr id="12" name="Rectangle 11"/>
          <p:cNvSpPr/>
          <p:nvPr/>
        </p:nvSpPr>
        <p:spPr>
          <a:xfrm>
            <a:off x="548640" y="4251960"/>
            <a:ext cx="548640" cy="86868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4</a:t>
            </a:r>
          </a:p>
        </p:txBody>
      </p:sp>
      <p:sp>
        <p:nvSpPr>
          <p:cNvPr id="13" name="Rectangle 12"/>
          <p:cNvSpPr/>
          <p:nvPr/>
        </p:nvSpPr>
        <p:spPr>
          <a:xfrm>
            <a:off x="1280160" y="4251960"/>
            <a:ext cx="10360152" cy="86868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500" b="1" i="0">
                <a:solidFill>
                  <a:srgbClr val="FFFFFF"/>
                </a:solidFill>
                <a:latin typeface="Segoe UI Semibold"/>
              </a:rPr>
              <a:t>One meta-prompt</a:t>
            </a:r>
            <a:r>
              <a:rPr sz="1300" b="0" i="0">
                <a:solidFill>
                  <a:srgbClr val="E9F0FA"/>
                </a:solidFill>
                <a:latin typeface="Segoe UI"/>
              </a:rPr>
              <a:t>  —  Describe a recurring task and ask Gemini to write the optimal prompt for it; run the result and save the prompt.</a:t>
            </a:r>
          </a:p>
        </p:txBody>
      </p:sp>
      <p:sp>
        <p:nvSpPr>
          <p:cNvPr id="14" name="Rectangle 13"/>
          <p:cNvSpPr/>
          <p:nvPr/>
        </p:nvSpPr>
        <p:spPr>
          <a:xfrm>
            <a:off x="548640" y="5212080"/>
            <a:ext cx="548640" cy="6858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Segoe UI Semibold"/>
              </a:rPr>
              <a:t>5</a:t>
            </a:r>
          </a:p>
        </p:txBody>
      </p:sp>
      <p:sp>
        <p:nvSpPr>
          <p:cNvPr id="15" name="Rectangle 14"/>
          <p:cNvSpPr/>
          <p:nvPr/>
        </p:nvSpPr>
        <p:spPr>
          <a:xfrm>
            <a:off x="1280160" y="5212080"/>
            <a:ext cx="10360152" cy="68580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500" b="1" i="0">
                <a:solidFill>
                  <a:srgbClr val="FFFFFF"/>
                </a:solidFill>
                <a:latin typeface="Segoe UI Semibold"/>
              </a:rPr>
              <a:t>Bring all of this to Lesson 2</a:t>
            </a:r>
            <a:r>
              <a:rPr sz="1300" b="0" i="0">
                <a:solidFill>
                  <a:srgbClr val="E9F0FA"/>
                </a:solidFill>
                <a:latin typeface="Segoe UI"/>
              </a:rPr>
              <a:t>  —  2–3 volunteers will present at the debrief.</a:t>
            </a:r>
          </a:p>
        </p:txBody>
      </p:sp>
      <p:sp>
        <p:nvSpPr>
          <p:cNvPr id="16" name="TextBox 15"/>
          <p:cNvSpPr txBox="1"/>
          <p:nvPr/>
        </p:nvSpPr>
        <p:spPr>
          <a:xfrm>
            <a:off x="548640" y="6007607"/>
            <a:ext cx="11091672" cy="365760"/>
          </a:xfrm>
          <a:prstGeom prst="rect">
            <a:avLst/>
          </a:prstGeom>
          <a:noFill/>
        </p:spPr>
        <p:txBody>
          <a:bodyPr wrap="square">
            <a:spAutoFit/>
          </a:bodyPr>
          <a:lstStyle/>
          <a:p>
            <a:pPr algn="ctr"/>
            <a:r>
              <a:rPr sz="1400" b="0" i="1">
                <a:solidFill>
                  <a:srgbClr val="9DB2D3"/>
                </a:solidFill>
                <a:latin typeface="Segoe UI"/>
              </a:rPr>
              <a:t>Screenshot this slide — it is the whole assignment.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Effort and debrief</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~1–2 hours across the week</a:t>
            </a:r>
          </a:p>
          <a:p>
            <a:pPr algn="l">
              <a:spcBef>
                <a:spcPts val="400"/>
              </a:spcBef>
            </a:pPr>
            <a:r>
              <a:rPr sz="1400" b="0" i="0">
                <a:solidFill>
                  <a:srgbClr val="E9F0FA"/>
                </a:solidFill>
                <a:latin typeface="Segoe UI"/>
              </a:rPr>
              <a:t>Not one sitting. Twenty minutes here and there — three ICC prompts one day, the ask-me-first another — beats a Sunday marathon.</a:t>
            </a:r>
          </a:p>
        </p:txBody>
      </p:sp>
      <p:sp>
        <p:nvSpPr>
          <p:cNvPr id="7" name="Rectangle 6"/>
          <p:cNvSpPr/>
          <p:nvPr/>
        </p:nvSpPr>
        <p:spPr>
          <a:xfrm>
            <a:off x="548640" y="17830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0488" y="17830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Due: Lesson 2's debrief</a:t>
            </a:r>
          </a:p>
          <a:p>
            <a:pPr algn="l">
              <a:spcBef>
                <a:spcPts val="400"/>
              </a:spcBef>
            </a:pPr>
            <a:r>
              <a:rPr sz="1400" b="0" i="0">
                <a:solidFill>
                  <a:srgbClr val="E9F0FA"/>
                </a:solidFill>
                <a:latin typeface="Segoe UI"/>
              </a:rPr>
              <a:t>Lesson 2 opens with the assignment debrief — 2–3 volunteers present one prompt and what they'd improve; everyone else brings theirs along.</a:t>
            </a:r>
          </a:p>
        </p:txBody>
      </p:sp>
      <p:sp>
        <p:nvSpPr>
          <p:cNvPr id="9" name="Rectangle 8"/>
          <p:cNvSpPr/>
          <p:nvPr/>
        </p:nvSpPr>
        <p:spPr>
          <a:xfrm>
            <a:off x="6190488" y="17830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160520"/>
            <a:ext cx="11091672" cy="10058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Volunteering is the fast lane — presenting a prompt gets you direct feedback on it.</a:t>
            </a:r>
          </a:p>
        </p:txBody>
      </p:sp>
      <p:sp>
        <p:nvSpPr>
          <p:cNvPr id="11" name="Rectangle 10"/>
          <p:cNvSpPr/>
          <p:nvPr/>
        </p:nvSpPr>
        <p:spPr>
          <a:xfrm>
            <a:off x="548640" y="41605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548872" y="4160520"/>
            <a:ext cx="91440" cy="10058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Next week: the two-lane rule</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65960"/>
            <a:ext cx="5449824" cy="146304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FFFF"/>
                </a:solidFill>
                <a:latin typeface="Segoe UI Semibold"/>
              </a:rPr>
              <a:t>The Sensitive Lane</a:t>
            </a:r>
          </a:p>
        </p:txBody>
      </p:sp>
      <p:sp>
        <p:nvSpPr>
          <p:cNvPr id="7" name="Rectangle 6"/>
          <p:cNvSpPr/>
          <p:nvPr/>
        </p:nvSpPr>
        <p:spPr>
          <a:xfrm>
            <a:off x="6190488" y="1965960"/>
            <a:ext cx="5449824" cy="14630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ctr"/>
            <a:r>
              <a:rPr sz="1800" b="1" i="0">
                <a:solidFill>
                  <a:srgbClr val="FFB13D"/>
                </a:solidFill>
                <a:latin typeface="Segoe UI Semibold"/>
              </a:rPr>
              <a:t>The Daily Driver</a:t>
            </a:r>
          </a:p>
        </p:txBody>
      </p:sp>
      <p:sp>
        <p:nvSpPr>
          <p:cNvPr id="8" name="Rectangle 7"/>
          <p:cNvSpPr/>
          <p:nvPr/>
        </p:nvSpPr>
        <p:spPr>
          <a:xfrm>
            <a:off x="6190488" y="1965960"/>
            <a:ext cx="82296" cy="14630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977639"/>
            <a:ext cx="11091672" cy="365760"/>
          </a:xfrm>
          <a:prstGeom prst="rect">
            <a:avLst/>
          </a:prstGeom>
          <a:noFill/>
        </p:spPr>
        <p:txBody>
          <a:bodyPr wrap="square">
            <a:spAutoFit/>
          </a:bodyPr>
          <a:lstStyle/>
          <a:p>
            <a:pPr algn="ctr"/>
            <a:r>
              <a:rPr sz="1800" b="0" i="0">
                <a:solidFill>
                  <a:srgbClr val="FFFFFF"/>
                </a:solidFill>
                <a:latin typeface="Segoe UI"/>
              </a:rPr>
              <a:t>Which AI is allowed to see sensitive institutional data — Copilot or Gemini? And why?</a:t>
            </a:r>
          </a:p>
        </p:txBody>
      </p:sp>
      <p:sp>
        <p:nvSpPr>
          <p:cNvPr id="10" name="TextBox 9"/>
          <p:cNvSpPr txBox="1"/>
          <p:nvPr/>
        </p:nvSpPr>
        <p:spPr>
          <a:xfrm>
            <a:off x="548640" y="4709160"/>
            <a:ext cx="11091672" cy="365760"/>
          </a:xfrm>
          <a:prstGeom prst="rect">
            <a:avLst/>
          </a:prstGeom>
          <a:noFill/>
        </p:spPr>
        <p:txBody>
          <a:bodyPr wrap="square">
            <a:spAutoFit/>
          </a:bodyPr>
          <a:lstStyle/>
          <a:p>
            <a:pPr algn="ctr"/>
            <a:r>
              <a:rPr sz="1400" b="0" i="1">
                <a:solidFill>
                  <a:srgbClr val="9DB2D3"/>
                </a:solidFill>
                <a:latin typeface="Segoe UI"/>
              </a:rPr>
              <a:t>Lesson 2 answers that. Until then: nothing you couldn't publish.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2286000" cy="2194560"/>
          </a:xfrm>
          <a:prstGeom prst="rect">
            <a:avLst/>
          </a:prstGeom>
          <a:noFill/>
        </p:spPr>
        <p:txBody>
          <a:bodyPr wrap="square" anchor="ctr">
            <a:spAutoFit/>
          </a:bodyPr>
          <a:lstStyle/>
          <a:p>
            <a:pPr algn="ctr"/>
            <a:r>
              <a:rPr sz="12000" b="1" i="0">
                <a:solidFill>
                  <a:srgbClr val="FFFFFF"/>
                </a:solidFill>
                <a:latin typeface="Segoe UI Semibold"/>
              </a:rPr>
              <a:t>5</a:t>
            </a:r>
          </a:p>
        </p:txBody>
      </p:sp>
      <p:sp>
        <p:nvSpPr>
          <p:cNvPr id="4" name="Rectangle 3"/>
          <p:cNvSpPr/>
          <p:nvPr/>
        </p:nvSpPr>
        <p:spPr>
          <a:xfrm>
            <a:off x="3154680" y="2148840"/>
            <a:ext cx="45720" cy="16002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566160" y="2057400"/>
            <a:ext cx="7863840" cy="1234440"/>
          </a:xfrm>
          <a:prstGeom prst="rect">
            <a:avLst/>
          </a:prstGeom>
          <a:noFill/>
        </p:spPr>
        <p:txBody>
          <a:bodyPr wrap="square" anchor="b">
            <a:spAutoFit/>
          </a:bodyPr>
          <a:lstStyle/>
          <a:p>
            <a:pPr algn="l"/>
            <a:r>
              <a:rPr sz="3200" b="1" i="0">
                <a:solidFill>
                  <a:srgbClr val="FFFFFF"/>
                </a:solidFill>
                <a:latin typeface="Segoe UI Semibold"/>
              </a:rPr>
              <a:t>Guided setup block</a:t>
            </a:r>
          </a:p>
        </p:txBody>
      </p:sp>
      <p:sp>
        <p:nvSpPr>
          <p:cNvPr id="6" name="TextBox 5"/>
          <p:cNvSpPr txBox="1"/>
          <p:nvPr/>
        </p:nvSpPr>
        <p:spPr>
          <a:xfrm>
            <a:off x="3566160" y="3429000"/>
            <a:ext cx="7863840" cy="457200"/>
          </a:xfrm>
          <a:prstGeom prst="rect">
            <a:avLst/>
          </a:prstGeom>
          <a:noFill/>
        </p:spPr>
        <p:txBody>
          <a:bodyPr wrap="square">
            <a:spAutoFit/>
          </a:bodyPr>
          <a:lstStyle/>
          <a:p>
            <a:pPr algn="l"/>
            <a:r>
              <a:rPr sz="1800" b="1" i="0">
                <a:solidFill>
                  <a:srgbClr val="FFB13D"/>
                </a:solidFill>
                <a:latin typeface="Segoe UI Semibold"/>
              </a:rPr>
              <a:t>30 min · Hands-on, facilitated</a:t>
            </a:r>
          </a:p>
        </p:txBody>
      </p:sp>
      <p:sp>
        <p:nvSpPr>
          <p:cNvPr id="7" name="TextBox 6"/>
          <p:cNvSpPr txBox="1"/>
          <p:nvPr/>
        </p:nvSpPr>
        <p:spPr>
          <a:xfrm>
            <a:off x="3566160" y="3931920"/>
            <a:ext cx="7863840" cy="365760"/>
          </a:xfrm>
          <a:prstGeom prst="rect">
            <a:avLst/>
          </a:prstGeom>
          <a:noFill/>
        </p:spPr>
        <p:txBody>
          <a:bodyPr wrap="square">
            <a:spAutoFit/>
          </a:bodyPr>
          <a:lstStyle/>
          <a:p>
            <a:pPr algn="l"/>
            <a:r>
              <a:rPr sz="1200" b="0" i="0">
                <a:solidFill>
                  <a:srgbClr val="BDD7F5"/>
                </a:solidFill>
                <a:latin typeface="Segoe UI"/>
              </a:rPr>
              <a:t>Segment 5 of 5</a:t>
            </a:r>
          </a:p>
        </p:txBody>
      </p:sp>
      <p:sp>
        <p:nvSpPr>
          <p:cNvPr id="8" name="Rectangle 7"/>
          <p:cNvSpPr/>
          <p:nvPr/>
        </p:nvSpPr>
        <p:spPr>
          <a:xfrm>
            <a:off x="44729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587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45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0340" y="5989320"/>
            <a:ext cx="502920" cy="91440"/>
          </a:xfrm>
          <a:prstGeom prst="rect">
            <a:avLst/>
          </a:prstGeom>
          <a:solidFill>
            <a:srgbClr val="355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16140" y="5989320"/>
            <a:ext cx="502920" cy="9144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Setup checklist</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1</a:t>
            </a:r>
          </a:p>
        </p:txBody>
      </p:sp>
      <p:sp>
        <p:nvSpPr>
          <p:cNvPr id="7" name="Rectangle 6"/>
          <p:cNvSpPr/>
          <p:nvPr/>
        </p:nvSpPr>
        <p:spPr>
          <a:xfrm>
            <a:off x="1371600" y="13258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b="1" i="0">
                <a:solidFill>
                  <a:srgbClr val="FFFFFF"/>
                </a:solidFill>
                <a:latin typeface="Segoe UI Semibold"/>
              </a:rPr>
              <a:t>Google account + Gemini</a:t>
            </a:r>
            <a:r>
              <a:rPr sz="1500" b="0" i="0">
                <a:solidFill>
                  <a:srgbClr val="E9F0FA"/>
                </a:solidFill>
                <a:latin typeface="Segoe UI"/>
              </a:rPr>
              <a:t>  —  Sign in to Google; open gemini.google.com and get an answer to a test prompt.</a:t>
            </a:r>
          </a:p>
        </p:txBody>
      </p:sp>
      <p:sp>
        <p:nvSpPr>
          <p:cNvPr id="8" name="Rectangle 7"/>
          <p:cNvSpPr/>
          <p:nvPr/>
        </p:nvSpPr>
        <p:spPr>
          <a:xfrm>
            <a:off x="548640" y="22402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2</a:t>
            </a:r>
          </a:p>
        </p:txBody>
      </p:sp>
      <p:sp>
        <p:nvSpPr>
          <p:cNvPr id="9" name="Rectangle 8"/>
          <p:cNvSpPr/>
          <p:nvPr/>
        </p:nvSpPr>
        <p:spPr>
          <a:xfrm>
            <a:off x="1371600" y="22402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b="1" i="0">
                <a:solidFill>
                  <a:srgbClr val="FFFFFF"/>
                </a:solidFill>
                <a:latin typeface="Segoe UI Semibold"/>
              </a:rPr>
              <a:t>Copilot Chat — institutional account</a:t>
            </a:r>
            <a:r>
              <a:rPr sz="1500" b="0" i="0">
                <a:solidFill>
                  <a:srgbClr val="E9F0FA"/>
                </a:solidFill>
                <a:latin typeface="Segoe UI"/>
              </a:rPr>
              <a:t>  —  Open Copilot Chat in Teams or microsoft365.com with your institutional account (needed from Lesson 2).</a:t>
            </a:r>
          </a:p>
        </p:txBody>
      </p:sp>
      <p:sp>
        <p:nvSpPr>
          <p:cNvPr id="10" name="Rectangle 9"/>
          <p:cNvSpPr/>
          <p:nvPr/>
        </p:nvSpPr>
        <p:spPr>
          <a:xfrm>
            <a:off x="548640" y="31546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3</a:t>
            </a:r>
          </a:p>
        </p:txBody>
      </p:sp>
      <p:sp>
        <p:nvSpPr>
          <p:cNvPr id="11" name="Rectangle 10"/>
          <p:cNvSpPr/>
          <p:nvPr/>
        </p:nvSpPr>
        <p:spPr>
          <a:xfrm>
            <a:off x="1371600" y="31546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b="1" i="0">
                <a:solidFill>
                  <a:srgbClr val="FFFFFF"/>
                </a:solidFill>
                <a:latin typeface="Segoe UI Semibold"/>
              </a:rPr>
              <a:t>Perplexity free account</a:t>
            </a:r>
            <a:r>
              <a:rPr sz="1500" b="0" i="0">
                <a:solidFill>
                  <a:srgbClr val="E9F0FA"/>
                </a:solidFill>
                <a:latin typeface="Segoe UI"/>
              </a:rPr>
              <a:t>  —  Create a free account at perplexity.ai (needed in Lesson 3 — cheap to do now).</a:t>
            </a:r>
          </a:p>
        </p:txBody>
      </p:sp>
      <p:sp>
        <p:nvSpPr>
          <p:cNvPr id="12" name="Rectangle 11"/>
          <p:cNvSpPr/>
          <p:nvPr/>
        </p:nvSpPr>
        <p:spPr>
          <a:xfrm>
            <a:off x="548640" y="4069080"/>
            <a:ext cx="640080" cy="841248"/>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Segoe UI Semibold"/>
              </a:rPr>
              <a:t>4</a:t>
            </a:r>
          </a:p>
        </p:txBody>
      </p:sp>
      <p:sp>
        <p:nvSpPr>
          <p:cNvPr id="13" name="Rectangle 12"/>
          <p:cNvSpPr/>
          <p:nvPr/>
        </p:nvSpPr>
        <p:spPr>
          <a:xfrm>
            <a:off x="1371600" y="4069080"/>
            <a:ext cx="10268712" cy="841248"/>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900" b="1" i="0">
                <a:solidFill>
                  <a:srgbClr val="FFFFFF"/>
                </a:solidFill>
                <a:latin typeface="Segoe UI Semibold"/>
              </a:rPr>
              <a:t>First experimental prompt in each</a:t>
            </a:r>
            <a:r>
              <a:rPr sz="1500" b="0" i="0">
                <a:solidFill>
                  <a:srgbClr val="E9F0FA"/>
                </a:solidFill>
                <a:latin typeface="Segoe UI"/>
              </a:rPr>
              <a:t>  —  Send one prompt in each of the three tools — any work question (nothing you couldn't publish).</a:t>
            </a:r>
          </a:p>
        </p:txBody>
      </p:sp>
      <p:sp>
        <p:nvSpPr>
          <p:cNvPr id="14" name="Rectangle 13"/>
          <p:cNvSpPr/>
          <p:nvPr/>
        </p:nvSpPr>
        <p:spPr>
          <a:xfrm>
            <a:off x="548640" y="5074920"/>
            <a:ext cx="11091672" cy="9144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Done with an item? Post its number in the meeting chat: ✅ 1 … ✅ 4</a:t>
            </a:r>
          </a:p>
          <a:p>
            <a:pPr algn="ctr">
              <a:spcBef>
                <a:spcPts val="600"/>
              </a:spcBef>
            </a:pPr>
            <a:r>
              <a:rPr sz="1300" b="0" i="0">
                <a:solidFill>
                  <a:srgbClr val="FDE9D8"/>
                </a:solidFill>
                <a:latin typeface="Segoe UI"/>
              </a:rPr>
              <a:t>Posted ✅ 1–4? You're fully set up — help a neighbor or explore your new tools.</a:t>
            </a:r>
          </a:p>
        </p:txBody>
      </p:sp>
      <p:sp>
        <p:nvSpPr>
          <p:cNvPr id="15" name="Rectangle 14"/>
          <p:cNvSpPr/>
          <p:nvPr/>
        </p:nvSpPr>
        <p:spPr>
          <a:xfrm>
            <a:off x="548640" y="5074920"/>
            <a:ext cx="91440" cy="9144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548872" y="5074920"/>
            <a:ext cx="91440" cy="91440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Troubleshooting</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110916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Copilot shows the wrong account — or no Copilot at all</a:t>
            </a:r>
          </a:p>
          <a:p>
            <a:pPr algn="l">
              <a:spcBef>
                <a:spcPts val="400"/>
              </a:spcBef>
            </a:pPr>
            <a:r>
              <a:rPr sz="1400" b="0" i="0">
                <a:solidFill>
                  <a:srgbClr val="E9F0FA"/>
                </a:solidFill>
                <a:latin typeface="Segoe UI"/>
              </a:rPr>
              <a:t>Fix: you are signed in with a personal Microsoft account. Sign out and sign back in with the institutional account.</a:t>
            </a:r>
          </a:p>
        </p:txBody>
      </p:sp>
      <p:sp>
        <p:nvSpPr>
          <p:cNvPr id="7" name="Rectangle 6"/>
          <p:cNvSpPr/>
          <p:nvPr/>
        </p:nvSpPr>
        <p:spPr>
          <a:xfrm>
            <a:off x="548640" y="1463040"/>
            <a:ext cx="82296" cy="12344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880360"/>
            <a:ext cx="110916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Google account blocked in your default browser</a:t>
            </a:r>
          </a:p>
          <a:p>
            <a:pPr algn="l">
              <a:spcBef>
                <a:spcPts val="400"/>
              </a:spcBef>
            </a:pPr>
            <a:r>
              <a:rPr sz="1400" b="0" i="0">
                <a:solidFill>
                  <a:srgbClr val="E9F0FA"/>
                </a:solidFill>
                <a:latin typeface="Segoe UI"/>
              </a:rPr>
              <a:t>Fix: institutional policy is blocking the sign-in. Create a separate browser profile and sign in to Google there.</a:t>
            </a:r>
          </a:p>
        </p:txBody>
      </p:sp>
      <p:sp>
        <p:nvSpPr>
          <p:cNvPr id="9" name="Rectangle 8"/>
          <p:cNvSpPr/>
          <p:nvPr/>
        </p:nvSpPr>
        <p:spPr>
          <a:xfrm>
            <a:off x="548640" y="2880360"/>
            <a:ext cx="82296" cy="12344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297680"/>
            <a:ext cx="11091672" cy="123444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B13D"/>
                </a:solidFill>
                <a:latin typeface="Segoe UI Semibold"/>
              </a:rPr>
              <a:t>Gemini shows region or consent screens</a:t>
            </a:r>
          </a:p>
          <a:p>
            <a:pPr algn="l">
              <a:spcBef>
                <a:spcPts val="400"/>
              </a:spcBef>
            </a:pPr>
            <a:r>
              <a:rPr sz="1400" b="0" i="0">
                <a:solidFill>
                  <a:srgbClr val="E9F0FA"/>
                </a:solidFill>
                <a:latin typeface="Segoe UI"/>
              </a:rPr>
              <a:t>Fix: click through the consent prompts — they are one-time. If a block remains, flag it in the chat and we'll look together.</a:t>
            </a:r>
          </a:p>
        </p:txBody>
      </p:sp>
      <p:sp>
        <p:nvSpPr>
          <p:cNvPr id="11" name="Rectangle 10"/>
          <p:cNvSpPr/>
          <p:nvPr/>
        </p:nvSpPr>
        <p:spPr>
          <a:xfrm>
            <a:off x="548640" y="4297680"/>
            <a:ext cx="82296" cy="123444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715000"/>
            <a:ext cx="11091672" cy="365760"/>
          </a:xfrm>
          <a:prstGeom prst="rect">
            <a:avLst/>
          </a:prstGeom>
          <a:noFill/>
        </p:spPr>
        <p:txBody>
          <a:bodyPr wrap="square">
            <a:spAutoFit/>
          </a:bodyPr>
          <a:lstStyle/>
          <a:p>
            <a:pPr algn="ctr"/>
            <a:r>
              <a:rPr sz="1400" b="0" i="1">
                <a:solidFill>
                  <a:srgbClr val="9DB2D3"/>
                </a:solidFill>
                <a:latin typeface="Segoe UI"/>
              </a:rPr>
              <a:t>Something else? Say so in the chat — that's what this block is for.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02920"/>
            <a:ext cx="118872" cy="4572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11480"/>
            <a:ext cx="10771632" cy="640080"/>
          </a:xfrm>
          <a:prstGeom prst="rect">
            <a:avLst/>
          </a:prstGeom>
          <a:noFill/>
        </p:spPr>
        <p:txBody>
          <a:bodyPr wrap="square">
            <a:spAutoFit/>
          </a:bodyPr>
          <a:lstStyle/>
          <a:p>
            <a:pPr algn="l"/>
            <a:r>
              <a:rPr sz="2800" b="1" i="0">
                <a:solidFill>
                  <a:srgbClr val="FFFFFF"/>
                </a:solidFill>
                <a:latin typeface="Segoe UI Semibold"/>
              </a:rPr>
              <a:t>Not finished? Catch-up path</a:t>
            </a:r>
          </a:p>
        </p:txBody>
      </p:sp>
      <p:sp>
        <p:nvSpPr>
          <p:cNvPr id="4" name="Rectangle 3"/>
          <p:cNvSpPr/>
          <p:nvPr/>
        </p:nvSpPr>
        <p:spPr>
          <a:xfrm>
            <a:off x="548640" y="1106424"/>
            <a:ext cx="11091672" cy="15240"/>
          </a:xfrm>
          <a:prstGeom prst="rect">
            <a:avLst/>
          </a:prstGeom>
          <a:solidFill>
            <a:srgbClr val="314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088136"/>
            <a:ext cx="1463040" cy="3810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Practice Week 1 drop-in (Week 3)</a:t>
            </a:r>
          </a:p>
          <a:p>
            <a:pPr algn="l">
              <a:spcBef>
                <a:spcPts val="400"/>
              </a:spcBef>
            </a:pPr>
            <a:r>
              <a:rPr sz="1400" b="0" i="0">
                <a:solidFill>
                  <a:srgbClr val="E9F0FA"/>
                </a:solidFill>
                <a:latin typeface="Segoe UI"/>
              </a:rPr>
              <a:t>The catch-up venue: an optional facilitated session with no new material — bring whatever refused to install or sign in.</a:t>
            </a:r>
          </a:p>
        </p:txBody>
      </p:sp>
      <p:sp>
        <p:nvSpPr>
          <p:cNvPr id="7" name="Rectangle 6"/>
          <p:cNvSpPr/>
          <p:nvPr/>
        </p:nvSpPr>
        <p:spPr>
          <a:xfrm>
            <a:off x="548640" y="15544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90488" y="1554480"/>
            <a:ext cx="5449824" cy="1737360"/>
          </a:xfrm>
          <a:prstGeom prst="rect">
            <a:avLst/>
          </a:prstGeom>
          <a:solidFill>
            <a:srgbClr val="20365E"/>
          </a:solidFill>
          <a:ln w="12700">
            <a:solidFill>
              <a:srgbClr val="314E8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800" b="1" i="0">
                <a:solidFill>
                  <a:srgbClr val="FFFFFF"/>
                </a:solidFill>
                <a:latin typeface="Segoe UI Semibold"/>
              </a:rPr>
              <a:t>…or a 10-minute slot this week</a:t>
            </a:r>
          </a:p>
          <a:p>
            <a:pPr algn="l">
              <a:spcBef>
                <a:spcPts val="400"/>
              </a:spcBef>
            </a:pPr>
            <a:r>
              <a:rPr sz="1400" b="0" i="0">
                <a:solidFill>
                  <a:srgbClr val="E9F0FA"/>
                </a:solidFill>
                <a:latin typeface="Segoe UI"/>
              </a:rPr>
              <a:t>Don't wait two weeks stuck: say so now (chat or aloud) and we book a 10-minute call this week to finish together.</a:t>
            </a:r>
          </a:p>
        </p:txBody>
      </p:sp>
      <p:sp>
        <p:nvSpPr>
          <p:cNvPr id="9" name="Rectangle 8"/>
          <p:cNvSpPr/>
          <p:nvPr/>
        </p:nvSpPr>
        <p:spPr>
          <a:xfrm>
            <a:off x="6190488" y="1554480"/>
            <a:ext cx="82296" cy="17373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749039"/>
            <a:ext cx="11091672" cy="1051560"/>
          </a:xfrm>
          <a:prstGeom prst="rect">
            <a:avLst/>
          </a:prstGeom>
          <a:solidFill>
            <a:srgbClr val="378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1800" b="1" i="0">
                <a:solidFill>
                  <a:srgbClr val="FFFFFF"/>
                </a:solidFill>
                <a:latin typeface="Segoe UI Semibold"/>
              </a:rPr>
              <a:t>Not installed today — on purpose: Obsidian and Perfect Wiki</a:t>
            </a:r>
          </a:p>
          <a:p>
            <a:pPr algn="ctr">
              <a:spcBef>
                <a:spcPts val="600"/>
              </a:spcBef>
            </a:pPr>
            <a:r>
              <a:rPr sz="1300" b="0" i="0">
                <a:solidFill>
                  <a:srgbClr val="E8F0FB"/>
                </a:solidFill>
                <a:latin typeface="Segoe UI"/>
              </a:rPr>
              <a:t>Tools arrive when they're needed: Perfect Wiki in Lesson 3, Obsidian in Lesson 4. Today's three are enough.</a:t>
            </a:r>
          </a:p>
        </p:txBody>
      </p:sp>
      <p:sp>
        <p:nvSpPr>
          <p:cNvPr id="11" name="Rectangle 10"/>
          <p:cNvSpPr/>
          <p:nvPr/>
        </p:nvSpPr>
        <p:spPr>
          <a:xfrm>
            <a:off x="548640" y="3749039"/>
            <a:ext cx="91440" cy="10515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548872" y="3749039"/>
            <a:ext cx="91440" cy="1051560"/>
          </a:xfrm>
          <a:prstGeom prst="rect">
            <a:avLst/>
          </a:prstGeom>
          <a:solidFill>
            <a:srgbClr val="FF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378CE6"/>
      </a:accent1>
      <a:accent2>
        <a:srgbClr val="E8590C"/>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