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74D74B-0145-4D4E-BCD4-523BBC73FEBC}" type="datetimeFigureOut">
              <a:rPr lang="hu-HU" smtClean="0"/>
              <a:t>2026. 09. 13.</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3C96D6-5387-4E51-99C5-06CAEE3BA67E}" type="slidenum">
              <a:rPr lang="hu-HU" smtClean="0"/>
              <a:t>‹#›</a:t>
            </a:fld>
            <a:endParaRPr lang="hu-HU"/>
          </a:p>
        </p:txBody>
      </p:sp>
    </p:spTree>
    <p:extLst>
      <p:ext uri="{BB962C8B-B14F-4D97-AF65-F5344CB8AC3E}">
        <p14:creationId xmlns:p14="http://schemas.microsoft.com/office/powerpoint/2010/main" val="98228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min. Read the map at pace, one line per row, left then right — this is a map, not a lesson. Nothing here gets explained again: if someone asks for the explanation, point at the Lesson 1 deck and move on; the recap exists so today's session can lean on Lesson 1 without repeating it.</a:t>
            </a:r>
          </a:p>
          <a:p>
            <a:endParaRPr/>
          </a:p>
          <a:p>
            <a:r>
              <a:t>The two rows to land with a beat: the 7 Levels row — Level 2 is behind you as of the Lesson 1 assignment, Level 3 is what today buys you, and this week's assignment is the run-up to Level 4 — and the Anchor Project row, because the anonymise rule you already applied to your own project turns into the institutional rule in ten minutes' time.</a:t>
            </a:r>
          </a:p>
          <a:p>
            <a:endParaRPr/>
          </a:p>
          <a:p>
            <a:r>
              <a:t>Then straight into the debrief; do not let the map eat into the volunteers' time.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 min, and it is the segment's whole point — protect it.</a:t>
            </a:r>
          </a:p>
          <a:p>
            <a:endParaRPr/>
          </a:p>
          <a:p>
            <a:r>
              <a:t>Setup done before the session: volunteers asked for in the Teams chat, plus one backup in case a screen-share fails. Say the format once, then hand over: 2–3 volunteers, 4 minutes each including questions, sharing from their own Gemini.</a:t>
            </a:r>
          </a:p>
          <a:p>
            <a:endParaRPr/>
          </a:p>
          <a:p>
            <a:r>
              <a:t>Keeping time: post a visible time check in the chat at the 3-minute mark and cut at 4 — cut mid-item if you must, the remaining items are the same for everyone and you have seen them already. Three volunteers at four minutes each is exactly the twelve minutes; if the first two overrun, stop at two so the read-back still fits.</a:t>
            </a:r>
          </a:p>
          <a:p>
            <a:endParaRPr/>
          </a:p>
          <a:p>
            <a:r>
              <a:t>Ask exactly one question per item, the ones printed on the cards. Do not turn a demo into coaching — problems go on the capture slide, not into a discussion here.</a:t>
            </a:r>
          </a:p>
          <a:p>
            <a:endParaRPr/>
          </a:p>
          <a:p>
            <a:r>
              <a:t>Anyone who did not finish the assignment: no discussion now, Practice Week 1 is the venue.</a:t>
            </a:r>
          </a:p>
          <a:p>
            <a:endParaRPr/>
          </a:p>
          <a:p>
            <a:r>
              <a:t>The two-lane rule is not in force yet — it gets stated in Segment 2 — so do not correct anyone mid-demo. If a volunteer shows sensitive content in Gemini, note it without comment and use it, anonymised, as the opening example of Segment 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Runs alongside the demos — keep this slide up while the volunteers share, or keep a pinned Teams chat message if screen real estate is tight. One line per problem, no names, filed under the item it came from.</a:t>
            </a:r>
          </a:p>
          <a:p>
            <a:endParaRPr/>
          </a:p>
          <a:p>
            <a:r>
              <a:t>~30 sec at the end: read the list back and say where each one gets answered — routing questions in Segment 2, “the answer was wrong” in Segment 2's verification point and Prompt Coach in Segment 3, “the chat lost track” in Segment 4's Gems. Everything else goes to Practice Week 1; say so explicitly so nobody leaves with an unanswered problem.</a:t>
            </a:r>
          </a:p>
          <a:p>
            <a:endParaRPr/>
          </a:p>
          <a:p>
            <a:r>
              <a:t>This list is the facilitator's own carry-forward: it says what Practice Week 1 has to cover. Keep it after the session.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 min, and it is the spine of the session — Segments 3, 4 and the assignment all assume it.</a:t>
            </a:r>
          </a:p>
          <a:p>
            <a:endParaRPr/>
          </a:p>
          <a:p>
            <a:r>
              <a:t>Lead with the question, not with the tools: the lane is decided before a prompt is written, and it is decided per task. The same person routes a proposal one way in the morning and a public FAQ the other way in the afternoon.</a:t>
            </a:r>
          </a:p>
          <a:p>
            <a:endParaRPr/>
          </a:p>
          <a:p>
            <a:r>
              <a:t>Lesson 1 left an interim rule for Gemini — nothing you couldn't publish. Say in one sentence that the two-lane rule is that rule completed, and move on; do not re-teach it, they applied it all week. The closing slide of this segment spells out what it meant.</a:t>
            </a:r>
          </a:p>
          <a:p>
            <a:endParaRPr/>
          </a:p>
          <a:p>
            <a:r>
              <a:t>If a volunteer showed sensitive content in Gemini during the debrief, this is where it comes back: state it anonymised, without naming anyone, and route it aloud.</a:t>
            </a:r>
          </a:p>
          <a:p>
            <a:endParaRPr/>
          </a:p>
          <a:p>
            <a:r>
              <a:t>The asymmetry is what people get wrong. The Sensitive Lane is the only authorised place for sensitive data — and it is not the better tool for everything else; sending general work there gives up the capabilities Segment 4 demos.</a:t>
            </a:r>
          </a:p>
          <a:p>
            <a:endParaRPr/>
          </a:p>
          <a:p>
            <a:r>
              <a:t>Read the three examples at pace. Questions about a specific document go on the capture list, not into a discussion here.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min. This is the reason behind the rule, not a data-protection lecture. Say the lead sentence once, then walk the four pillars left to right, a beat each — data governance, algorithmic fairness, transparency and explainability, human control. Nobody has to reason from first principles in the moment; that is the whole point of routing once, up front.</a:t>
            </a:r>
          </a:p>
          <a:p>
            <a:endParaRPr/>
          </a:p>
          <a:p>
            <a:r>
              <a:t>The reference strip is the institutional anchor: the rector's directive 4/2025. (X. 28.) is the umbrella, the dean's directive 1/2026 (III.26.) is the faculty supplement, and the four rules on the faculty card are the directive's own headline points. Say the titles; do not read the document.</a:t>
            </a:r>
          </a:p>
          <a:p>
            <a:endParaRPr/>
          </a:p>
          <a:p>
            <a:r>
              <a:t>Where each point lives, if anyone asks: human oversight and final responsibility — section 2; transparency and documentation — sections 2, 4, 5; no personal, sensitive or unpublished data into external AI tools without explicit permission — sections 2, 4; administration allowed within the data-protection and data-security rules — section 6; critical checking of every output — sections 4, 6; consequences of breaches — section 7.</a:t>
            </a:r>
          </a:p>
          <a:p>
            <a:endParaRPr/>
          </a:p>
          <a:p>
            <a:r>
              <a:t>The point that reassures rather than restricts: administrative AI use is explicitly allowed by section 6, which is what this whole course is built on. Do not let the segment land as a list of prohibitions.</a:t>
            </a:r>
          </a:p>
          <a:p>
            <a:endParaRPr/>
          </a:p>
          <a:p>
            <a:r>
              <a:t>Critical checking of every output is the “verify before use” rule from the Lesson 1 demo, now with an institutional source behind it — name that link, do not re-teach it.</a:t>
            </a:r>
          </a:p>
          <a:p>
            <a:endParaRPr/>
          </a:p>
          <a:p>
            <a:r>
              <a:t>Housekeeping before delivery: the directive is version 1.0 with a review expected 1 July 2026. Check for a newer version the week before the session and correct this slide if it moved.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min. Four cards, one beat each.</a:t>
            </a:r>
          </a:p>
          <a:p>
            <a:endParaRPr/>
          </a:p>
          <a:p>
            <a:r>
              <a:t>Data minimisation is the one to tie back: the context-window point from Lesson 1 and data minimisation ask for exactly the same discipline, so nobody is being asked to trade quality for compliance.</a:t>
            </a:r>
          </a:p>
          <a:p>
            <a:endParaRPr/>
          </a:p>
          <a:p>
            <a:r>
              <a:t>Privacy by design is why the routing question comes before the prompt rather than after the answer — the protection is in the design of the workflow, not in a review at the end.</a:t>
            </a:r>
          </a:p>
          <a:p>
            <a:endParaRPr/>
          </a:p>
          <a:p>
            <a:r>
              <a:t>Anonymisation gets one sentence here; the rule itself is two slides away and that is where it is stated. Do not pre-empt it.</a:t>
            </a:r>
          </a:p>
          <a:p>
            <a:endParaRPr/>
          </a:p>
          <a:p>
            <a:r>
              <a:t>Regulatory compliance: name the GDPR and the EU AI Act and move on. The bracketed numbers point at the sources slide that closes this block — say so once, so nobody copies a claim without its source.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min. Read the four, then close on human oversight — it is the one the dean's directive puts first and the one this course keeps returning to.</a:t>
            </a:r>
          </a:p>
          <a:p>
            <a:endParaRPr/>
          </a:p>
          <a:p>
            <a:r>
              <a:t>Fairness: the risk in research management is not an exotic one. A model trained on past funding decisions reproduces the pattern of past funding decisions; that is a finding about history, not about the proposal in front of you.</a:t>
            </a:r>
          </a:p>
          <a:p>
            <a:endParaRPr/>
          </a:p>
          <a:p>
            <a:r>
              <a:t>Transparency and accountability are what the directive's documentation rule is for — recording which tool was used, when and for what is how an automated step stays answerable afterwards. The assignment in Segment 5 asks for exactly that log.</a:t>
            </a:r>
          </a:p>
          <a:p>
            <a:endParaRPr/>
          </a:p>
          <a:p>
            <a:r>
              <a:t>“The tool assists; the person signs” is the sentence to leave the room with. Everything from here — both lanes, every capability in Segments 3 and 4 — sits under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and it is a reference slide — do not read it out. Say that the numbers in brackets on the previous three slides point here, that every link is live in the deck, and that the deck goes into the Teams channel after the session.</a:t>
            </a:r>
          </a:p>
          <a:p>
            <a:endParaRPr/>
          </a:p>
          <a:p>
            <a:r>
              <a:t>Two of the eleven are videos rather than written sources and are marked as such, so nobody cites a video as a standard. The two institutional documents sit on the band at the bottom, because they are the ones that actually bind us — the eleven explain why the rules read the way they do.</a:t>
            </a:r>
          </a:p>
          <a:p>
            <a:endParaRPr/>
          </a:p>
          <a:p>
            <a:r>
              <a:t>If the segment is running behind, this is the slide to skip on the day: it loses nothing, because it travels with the deck.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One institutional rule, stated once: a document carrying personal or sensitive information is anonymised before it goes into any AI tool — either lane, no exception for the institutional account.</a:t>
            </a:r>
          </a:p>
          <a:p>
            <a:endParaRPr/>
          </a:p>
          <a:p>
            <a:r>
              <a:t>The lane chips are there because this is the point people expect an exception. The Sensitive Lane is authorised for sensitive data, and the anonymisation rule still applies to the files you upload into it.</a:t>
            </a:r>
          </a:p>
          <a:p>
            <a:endParaRPr/>
          </a:p>
          <a:p>
            <a:r>
              <a:t>Tie it back in one sentence: they already did this when they wrote their Anchor Project description last week, and the anonymisation one-pager from Lesson 1's materials is the checklist. Do not walk the one-pager again — point at it.</a:t>
            </a:r>
          </a:p>
          <a:p>
            <a:endParaRPr/>
          </a:p>
          <a:p>
            <a:r>
              <a:t>If someone asks about a document they cannot anonymise, the answer is on the next slide: it does not go into an AI tool at all.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Read the list, do not discuss it. It is the closing slide of the segment and the one people photograph.</a:t>
            </a:r>
          </a:p>
          <a:p>
            <a:endParaRPr/>
          </a:p>
          <a:p>
            <a:r>
              <a:t>This completes the interim rule from Lesson 1 — nothing you couldn't publish — by saying exactly what that meant. Say that in one sentence; the rule itself does not need re-teaching.</a:t>
            </a:r>
          </a:p>
          <a:p>
            <a:endParaRPr/>
          </a:p>
          <a:p>
            <a:r>
              <a:t>Two exits, and both matter. Anything on the list goes to the Sensitive Lane, anonymised first if it is a document. And if it fails the anonymisation test even there, it does not go into an AI tool at all — say that line out loud, it is the floor under the whole rule.</a:t>
            </a:r>
          </a:p>
          <a:p>
            <a:endParaRPr/>
          </a:p>
          <a:p>
            <a:r>
              <a:t>Then move straight into Segment 3: the Sensitive Lane has been named four times by now and nobody has seen it work yet.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and the segment opens on it. Before the first slide, open Copilot Chat in Teams and show the enterprise notice — 30 seconds, no commentary. It is the visible proof of the boundary the last segment argued for.</a:t>
            </a:r>
          </a:p>
          <a:p>
            <a:endParaRPr/>
          </a:p>
          <a:p>
            <a:r>
              <a:t>Four categories, four prompts, read at pace. These are the same four categories the routing slide named, now as work. The point to make: nothing about the prompt changes between the lanes, only where it goes.</a:t>
            </a:r>
          </a:p>
          <a:p>
            <a:endParaRPr/>
          </a:p>
          <a:p>
            <a:r>
              <a:t>Say the ICC line once and move on — they wrote three ICC prompts last week, this is a reference, not a lesson.</a:t>
            </a:r>
          </a:p>
          <a:p>
            <a:endParaRPr/>
          </a:p>
          <a:p>
            <a:r>
              <a:t>LIVE, about 2 minutes: scenario 1. Paste the anonymised meeting notes prepared for today, type the ICC prompt, read the decision log and the action list out loud. Point at the names as you paste: roles, not people — the anonymisation happened before the paste, not after the answer.</a:t>
            </a:r>
          </a:p>
          <a:p>
            <a:endParaRPr/>
          </a:p>
          <a:p>
            <a:r>
              <a:t>Run one scenario only. The other three are described, not demonstrated; the room reproduces them in the assignment. If the demo drifts past 2 minutes, cut it and go to the guardrails.</a:t>
            </a:r>
          </a:p>
          <a:p>
            <a:endParaRPr/>
          </a:p>
          <a:p>
            <a:r>
              <a:t>State the rule while the answer is on screen: the output is still checked before it is used. The tenant boundary buys confidentiality, not correctness.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Four cards, and the second one is the one that saves support time later.</a:t>
            </a:r>
          </a:p>
          <a:p>
            <a:endParaRPr/>
          </a:p>
          <a:p>
            <a:r>
              <a:t>Enterprise behaviour: this is the answer to “is it safe to paste this?”. Inside the tenant, not training data, same terms as the institution's other Microsoft 365 content.</a:t>
            </a:r>
          </a:p>
          <a:p>
            <a:endParaRPr/>
          </a:p>
          <a:p>
            <a:r>
              <a:t>No grounding is the surprise. People expect an institutional tool to know the institution's files; it does not open SharePoint or OneDrive by itself. If it has not been pasted or attached, it is not in the conversation. Tie it to Lesson 1: what you bring is curated, because more context is not better context.</a:t>
            </a:r>
          </a:p>
          <a:p>
            <a:endParaRPr/>
          </a:p>
          <a:p>
            <a:r>
              <a:t>Weaker on general work — say it plainly, and do not name the alternative yet; the next segment shows what it can do instead of arguing about it now.</a:t>
            </a:r>
          </a:p>
          <a:p>
            <a:endParaRPr/>
          </a:p>
          <a:p>
            <a:r>
              <a:t>Anonymise anyway: the expected exception, refused. The rule is about the document, not about the destination.</a:t>
            </a:r>
          </a:p>
          <a:p>
            <a:endParaRPr/>
          </a:p>
          <a:p>
            <a:r>
              <a:t>Close on the band and go straight into the tool slides: reserve the lane for the sensitive work.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only — no demo here; the plan gives the three slide-only tools 1.5 minutes between them, so this one gets about 30 seconds.</a:t>
            </a:r>
          </a:p>
          <a:p>
            <a:endParaRPr/>
          </a:p>
          <a:p>
            <a:r>
              <a:t>Lead with the work, not the product: a call document arrives as a PDF in a channel and four people comment on four separate attachments. Acrobat's free tier is the answer to that one problem — one file, one set of comments, everyone notified.</a:t>
            </a:r>
          </a:p>
          <a:p>
            <a:endParaRPr/>
          </a:p>
          <a:p>
            <a:r>
              <a:t>The free/paid boundary is the point of the slide, and it is the thing to get right before delivery: convert, combine, reorganise, compress and password-protect need an Acrobat subscription, and the AI Assistant needs its own add-on. Neither is in what you have. Check both blocks in your own account the day before — Adobe moves features between tiers. Two the compiled list names in its blurb but places in no tier are redact and export; find out where those sit before you promise them.</a:t>
            </a:r>
          </a:p>
          <a:p>
            <a:endParaRPr/>
          </a:p>
          <a:p>
            <a:r>
              <a:t>If someone asks why Acrobat is not simply the default PDF viewer in Teams: a tenant admin can set that policy centrally. That is an IT request, not something a participant configures.</a:t>
            </a:r>
          </a:p>
          <a:p>
            <a:endParaRPr/>
          </a:p>
          <a:p>
            <a:r>
              <a:t>The PDF is still a document: if it carries personal or sensitive information it is anonymised before it goes anywhere near a chat.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Prompt Coach runs LIVE, about 2 minutes. Ask in the Teams chat during the debrief whether one volunteer will let you use their prompt here, and get their permission before the segment — never lift a prompt off someone's screen without it. If nobody offers, use your own; have it ready either way.</a:t>
            </a:r>
          </a:p>
          <a:p>
            <a:endParaRPr/>
          </a:p>
          <a:p>
            <a:r>
              <a:t>Run it once: paste the prompt, state the goal it was meant to serve, ask for a critique and a rewrite. Read the critique aloud and stop at the first concrete change — one improvement the room can see is worth more than a full list they cannot follow.</a:t>
            </a:r>
          </a:p>
          <a:p>
            <a:endParaRPr/>
          </a:p>
          <a:p>
            <a:r>
              <a:t>The tie-back is one sentence: this is last week's meta-prompting, packaged as an agent. Do not re-teach meta-prompting; they used it in the assignment.</a:t>
            </a:r>
          </a:p>
          <a:p>
            <a:endParaRPr/>
          </a:p>
          <a:p>
            <a:r>
              <a:t>Say what happens to the output: the improved prompt gets saved. That is the beginning of the prompt library, and the prompts in it are what the assignment's workflow steps are built out of.</a:t>
            </a:r>
          </a:p>
          <a:p>
            <a:endParaRPr/>
          </a:p>
          <a:p>
            <a:r>
              <a:t>If the coach's rewrite is worse than the original — it happens — keep it on screen and say so. Every output is checked, including this one.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about 2 minutes, and it is the demo that pays off in Segment 5.</a:t>
            </a:r>
          </a:p>
          <a:p>
            <a:endParaRPr/>
          </a:p>
          <a:p>
            <a:r>
              <a:t>Pick a concept the room shares — eligible costs works, so does reporting periods. Ask for the explanation first, at a stated depth: “for a colleague who joined the office last month”.</a:t>
            </a:r>
          </a:p>
          <a:p>
            <a:endParaRPr/>
          </a:p>
          <a:p>
            <a:r>
              <a:t>Then the two moves that matter: turn that explanation into flashcards, and turn it into a five-question quiz. Read two flashcards and one quiz question aloud. Do not read the whole set.</a:t>
            </a:r>
          </a:p>
          <a:p>
            <a:endParaRPr/>
          </a:p>
          <a:p>
            <a:r>
              <a:t>The access line saves a support ticket: it needs a Microsoft 365 Education account, not a Copilot licence. Confirm it in your own account the day before, and if a participant's account does not show the agent, that goes on the capture list for Practice Week 1.</a:t>
            </a:r>
          </a:p>
          <a:p>
            <a:endParaRPr/>
          </a:p>
          <a:p>
            <a:r>
              <a:t>Name the link to the assignment out loud: the quiz is how a presentation gets tested. A question nobody can answer is a slide that did not teach.</a:t>
            </a:r>
          </a:p>
          <a:p>
            <a:endParaRPr/>
          </a:p>
          <a:p>
            <a:r>
              <a:t>The explanation is generated, so it is checked before it is taught to anyone — the flashcards inherit whatever the explanation got wrong.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only — about 30 seconds. Do not open Canva; there is no time and the app adds nothing to watch.</a:t>
            </a:r>
          </a:p>
          <a:p>
            <a:endParaRPr/>
          </a:p>
          <a:p>
            <a:r>
              <a:t>One idea: prototype before you build. The Teams app is the reason it is worth doing here rather than in a separate browser tab — notifications, previews and comments land where the Cohort already works.</a:t>
            </a:r>
          </a:p>
          <a:p>
            <a:endParaRPr/>
          </a:p>
          <a:p>
            <a:r>
              <a:t>Be precise about the scope. This is the structure of the presentation, not the presentation. The next slide is where the deck itself gets made.</a:t>
            </a:r>
          </a:p>
          <a:p>
            <a:endParaRPr/>
          </a:p>
          <a:p>
            <a:r>
              <a:t>The caution is not decoration: Canva sits outside the institutional tenant, which is also why nothing on this slide carries the lane's colour. Whatever goes into a design is subject to the routing rule and anonymised first, exactly as in the last segment.</a:t>
            </a:r>
          </a:p>
          <a:p>
            <a:endParaRPr/>
          </a:p>
          <a:p>
            <a:r>
              <a:t>If anyone asks about the Canva they already use privately: same app, and the same rule about what goes into 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only — about 30 seconds, and it closes the segment.</a:t>
            </a:r>
          </a:p>
          <a:p>
            <a:endParaRPr/>
          </a:p>
          <a:p>
            <a:r>
              <a:t>Three boxes, read left to right: the prototype, the content, the deck. That is the first chain the room has seen end to end, and the assignment asks them to write one down.</a:t>
            </a:r>
          </a:p>
          <a:p>
            <a:endParaRPr/>
          </a:p>
          <a:p>
            <a:r>
              <a:t>The caution carries the weight of the whole segment: genspark.ai sits outside the tenant, which is why this slide carries none of the lane's colour either. The routing rule is not a gate at the front of a workflow — it is applied at every step, and a chain is only as safe as the least protected tool in it.</a:t>
            </a:r>
          </a:p>
          <a:p>
            <a:endParaRPr/>
          </a:p>
          <a:p>
            <a:r>
              <a:t>Do not brief the assignment here. One sentence pointing at Segment 5 is the whole handover; the deliverable slide comes after the next segment.</a:t>
            </a:r>
          </a:p>
          <a:p>
            <a:endParaRPr/>
          </a:p>
          <a:p>
            <a:r>
              <a:t>Practical note for the week before: try genspark.ai yourself on a fictional topic first. It is the least familiar of the five, and whatever it produces still gets checked before it is shown to anyone.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seconds, and then straight into the first demo — this slide is a map, not a lesson.</a:t>
            </a:r>
          </a:p>
          <a:p>
            <a:endParaRPr/>
          </a:p>
          <a:p>
            <a:r>
              <a:t>Say what the next fifteen minutes are: one tool, ten capabilities, a scenario each, and four of them on screen live. The room does not need to remember the list; they need to know it exists and that the slides are the reference afterwards.</a:t>
            </a:r>
          </a:p>
          <a:p>
            <a:endParaRPr/>
          </a:p>
          <a:p>
            <a:r>
              <a:t>The availability flag is the important line. Say it once, plainly: this is the free tier as of September 2026, and it changes. Re-verify in your own account the week before delivery: the free tier moves month to month, and anything that has moved behind a paid plan is shown as a slide and marked as such. If a capability moved this month, say so here rather than discovering it on screen.</a:t>
            </a:r>
          </a:p>
          <a:p>
            <a:endParaRPr/>
          </a:p>
          <a:p>
            <a:r>
              <a:t>State the rule before the first upload and leave it stated: everything demonstrated today is anonymised or fictional. Have the Segment 2 “what must never enter Gemini” list open on the second monitor for the rest of the segment — if a participant suggests a document in the chat, that list is the answer.</a:t>
            </a:r>
          </a:p>
          <a:p>
            <a:endParaRPr/>
          </a:p>
          <a:p>
            <a:r>
              <a:t>Have ready before the session: the anonymised call PDF, the budget-table screenshot, the long guideline document, the Gem half-built, the Deep Research report from last night, and the generated diagram. Six tabs, in that order.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2.5 minutes — the plan's first demo step, and the one that earns the segment its time. Two files, one prompt.</a:t>
            </a:r>
          </a:p>
          <a:p>
            <a:endParaRPr/>
          </a:p>
          <a:p>
            <a:r>
              <a:t>Attach both before you type: the anonymised call PDF and the budget-table screenshot. Say out loud what you did to them — the sums and the partner names are invented, and that happened before the upload, not after the answer.</a:t>
            </a:r>
          </a:p>
          <a:p>
            <a:endParaRPr/>
          </a:p>
          <a:p>
            <a:r>
              <a:t>Type the ICC prompt as written on the slide: instruction, context, constraints, and the ask-me-first clause at the end. They wrote three of these last week; this is the same shape with files attached, not a new technique.</a:t>
            </a:r>
          </a:p>
          <a:p>
            <a:endParaRPr/>
          </a:p>
          <a:p>
            <a:r>
              <a:t>Read two lines of the checklist aloud, then jump to the table reading. The image is the part people do not expect — point at it: nobody typed those numbers in.</a:t>
            </a:r>
          </a:p>
          <a:p>
            <a:endParaRPr/>
          </a:p>
          <a:p>
            <a:r>
              <a:t>If it asks you a question back, answer it on screen. That is the ask-me-first pattern working, and it is worth ten seconds.</a:t>
            </a:r>
          </a:p>
          <a:p>
            <a:endParaRPr/>
          </a:p>
          <a:p>
            <a:r>
              <a:t>Everything on screen is anonymised or fictional — the “what must never enter Gemini” list from Segment 2 stays on the second monitor.</a:t>
            </a:r>
          </a:p>
          <a:p>
            <a:endParaRPr/>
          </a:p>
          <a:p>
            <a:r>
              <a:t>The answer is still checked before it is used. An eligibility checklist that missed a criterion is worse than no checklist.</a:t>
            </a:r>
          </a:p>
          <a:p>
            <a:endParaRPr/>
          </a:p>
          <a:p>
            <a:r>
              <a:t>If the upload fails or the file is rejected, do not debug it live — say what should have happened, move to long context, and put it on the capture list for Practice Week 1.</a:t>
            </a:r>
          </a:p>
          <a:p>
            <a:endParaRPr/>
          </a:p>
          <a:p>
            <a:r>
              <a:t>Re-verify in your own account the week before delivery: the free tier moves month to month, and anything that has moved behind a paid plan is shown as a slide and marked as such. Upload limits and accepted file types are the part of this that moves quietly.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and short — 1.5 minutes, one document, one summary. Do not let this one run: the Gem is the demo that matters and it is next.</a:t>
            </a:r>
          </a:p>
          <a:p>
            <a:endParaRPr/>
          </a:p>
          <a:p>
            <a:r>
              <a:t>Paste the long guideline document you prepared. Say its length out loud while it loads — however many pages yours runs to, one paste. That number is the whole point of the slide, so use the real one rather than a figure off a slide.</a:t>
            </a:r>
          </a:p>
          <a:p>
            <a:endParaRPr/>
          </a:p>
          <a:p>
            <a:r>
              <a:t>Ask for the structured summary with the section references, read three items, stop. Point at one section reference and say why it is there: an answer you can check is worth more than an answer you have to trust.</a:t>
            </a:r>
          </a:p>
          <a:p>
            <a:endParaRPr/>
          </a:p>
          <a:p>
            <a:r>
              <a:t>Then the counterweight, in one sentence, because it is the Lesson 1 link: the window is what you may bring, not what you should bring. More context is not better context — the curation rule survives the bigger window.</a:t>
            </a:r>
          </a:p>
          <a:p>
            <a:endParaRPr/>
          </a:p>
          <a:p>
            <a:r>
              <a:t>Free-tier limit: the window is smaller than the paid plans'. Re-verify in your own account the week before delivery: the free tier moves month to month, and anything that has moved behind a paid plan is shown as a slide and marked as such.</a:t>
            </a:r>
          </a:p>
          <a:p>
            <a:endParaRPr/>
          </a:p>
          <a:p>
            <a:r>
              <a:t>Everything on screen is anonymised or fictional — the “what must never enter Gemini” list from Segment 2 stays on the second monitor — the guideline document is public, which is why it is the one being pasted.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3 minutes — the longest demo in the segment, and the one the whole course structure points at. Do not shorten this one; shorten Canvas instead.</a:t>
            </a:r>
          </a:p>
          <a:p>
            <a:endParaRPr/>
          </a:p>
          <a:p>
            <a:r>
              <a:t>Build the Gem in front of them, in the plan's four steps: name, instructions, reference files, first chat. Have it half-built in a second tab in case the creation flow has moved.</a:t>
            </a:r>
          </a:p>
          <a:p>
            <a:endParaRPr/>
          </a:p>
          <a:p>
            <a:r>
              <a:t>Name: “Anchor Project assistant”. Say the rule while you type it — one Gem per project, not one per task. A Gem per task is a prompt with extra steps.</a:t>
            </a:r>
          </a:p>
          <a:p>
            <a:endParaRPr/>
          </a:p>
          <a:p>
            <a:r>
              <a:t>Instructions: paste one of your own ICC prompts from last week and edit it into standing instructions as they watch. This is the sentence to say out loud: the prompt you wrote once is now the brief it always works under. Add the reverse prompt — ask me what you need before you answer — as its opening move.</a:t>
            </a:r>
          </a:p>
          <a:p>
            <a:endParaRPr/>
          </a:p>
          <a:p>
            <a:r>
              <a:t>Reference files: attach the project description and the call text. Name the free tier's file limit as you hit it. Re-verify in your own account the week before delivery: the free tier moves month to month, and anything that has moved behind a paid plan is shown as a slide and marked as such.</a:t>
            </a:r>
          </a:p>
          <a:p>
            <a:endParaRPr/>
          </a:p>
          <a:p>
            <a:r>
              <a:t>First chat: ask it something you would otherwise have to explain the project for — “draft the risk section for this project's next report”. The point lands when nobody had to paste the project description.</a:t>
            </a:r>
          </a:p>
          <a:p>
            <a:endParaRPr/>
          </a:p>
          <a:p>
            <a:r>
              <a:t>Then the Level 3 line, and connect it to the recap map from Segment 1: Level 2 was the Prompt Crafter, done in last week's assignment. This is the Power User — dedicated workspaces that already know your domain. The assignment chains them, which is Level 4.</a:t>
            </a:r>
          </a:p>
          <a:p>
            <a:endParaRPr/>
          </a:p>
          <a:p>
            <a:r>
              <a:t>Everything on screen is anonymised or fictional — the “what must never enter Gemini” list from Segment 2 stays on the second monitor — the Gem's reference files included; whatever goes in a Gem stays in it.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Prepared result, not a live run, and about 20 seconds. The plan's demo script runs it in one batch with Workspace hooks, image generation, Guided Learning and saved info — five slides sharing 1.5 minutes. Have the report open in a tab.</a:t>
            </a:r>
          </a:p>
          <a:p>
            <a:endParaRPr/>
          </a:p>
          <a:p>
            <a:r>
              <a:t>It sits here because the slides follow the plan's capability table, which puts it before Canvas. The script runs Canvas live first: either take the 20 seconds here, or skip forward to Canvas and come back to this slide with the rest of the batch. Decide before the session, not on the day.</a:t>
            </a:r>
          </a:p>
          <a:p>
            <a:endParaRPr/>
          </a:p>
          <a:p>
            <a:r>
              <a:t>Show the shape, not the content: sections, sources, and the line where it says what it could not find. Scroll once. Do not read it.</a:t>
            </a:r>
          </a:p>
          <a:p>
            <a:endParaRPr/>
          </a:p>
          <a:p>
            <a:r>
              <a:t>Say why it is not live: a run takes minutes, and the free tier caps how many you get a month. That cap is the reason to write the question properly before spending one — which is the same discipline as last week's ICC prompt, at a higher price.</a:t>
            </a:r>
          </a:p>
          <a:p>
            <a:endParaRPr/>
          </a:p>
          <a:p>
            <a:r>
              <a:t>Re-verify in your own account the week before delivery: the free tier moves month to month, and anything that has moved behind a paid plan is shown as a slide and marked as such. The cap in particular moves.</a:t>
            </a:r>
          </a:p>
          <a:p>
            <a:endParaRPr/>
          </a:p>
          <a:p>
            <a:r>
              <a:t>Every source is a link you can open. Say the verification rule once more here — a briefing that looks finished is exactly the kind of output people forget to check.</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2 minutes: the outline, then exactly one iteration. This is the demo to cut short if the Gem ran long.</a:t>
            </a:r>
          </a:p>
          <a:p>
            <a:endParaRPr/>
          </a:p>
          <a:p>
            <a:r>
              <a:t>Open Canvas from the chat and give it the prompt on the slide. While it drafts, say what is different: the answer arrives as a document beside the conversation, not as chat text to copy out.</a:t>
            </a:r>
          </a:p>
          <a:p>
            <a:endParaRPr/>
          </a:p>
          <a:p>
            <a:r>
              <a:t>Then the one iteration that makes the point — pick a section and ask for it to be rewritten shorter, or for the learning outcome to be sharpened. Show that the other sections did not move. That is the difference between a draft and a transcript.</a:t>
            </a:r>
          </a:p>
          <a:p>
            <a:endParaRPr/>
          </a:p>
          <a:p>
            <a:r>
              <a:t>Name the export once: it comes out as a structured draft you can keep. Do not demonstrate the export — say it and move on.</a:t>
            </a:r>
          </a:p>
          <a:p>
            <a:endParaRPr/>
          </a:p>
          <a:p>
            <a:r>
              <a:t>Point forward without teaching it: this is where the assignment's presentation starts, and a structured output is the thing the next step in a chain can use. The closing slide picks that up.</a:t>
            </a:r>
          </a:p>
          <a:p>
            <a:endParaRPr/>
          </a:p>
          <a:p>
            <a:r>
              <a:t>Re-verify in your own account the week before delivery: the free tier moves month to month, and anything that has moved behind a paid plan is shown as a slide and marked as such.</a:t>
            </a:r>
          </a:p>
          <a:p>
            <a:endParaRPr/>
          </a:p>
          <a:p>
            <a:r>
              <a:t>Everything on screen is anonymised or fictional — the “what must never enter Gemini” list from Segment 2 stays on the second monitor — draft on the fictional project, not on a real colleague's.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only, about 20 seconds — one of the demo script's batch of five (Deep Research, this, image generation, Guided Learning, saved info) that share 1.5 minutes.</a:t>
            </a:r>
          </a:p>
          <a:p>
            <a:endParaRPr/>
          </a:p>
          <a:p>
            <a:r>
              <a:t>Show the boundary, do not mourn it. The connections are where the paid plans begin, and the workaround is the capability from four slides ago: upload the documents, or put them in the Gem once.</a:t>
            </a:r>
          </a:p>
          <a:p>
            <a:endParaRPr/>
          </a:p>
          <a:p>
            <a:r>
              <a:t>Re-verify in your own account the week before delivery: the free tier moves month to month, and anything that has moved behind a paid plan is shown as a slide and marked as such. This is the row most likely to have changed, in either direction — if the free tier has gained a connection, say so and move the slide's framing.</a:t>
            </a:r>
          </a:p>
          <a:p>
            <a:endParaRPr/>
          </a:p>
          <a:p>
            <a:r>
              <a:t>If someone asks whether to pay for it: not for this course. Nothing in the assignment needs it.</a:t>
            </a:r>
          </a:p>
          <a:p>
            <a:endParaRPr/>
          </a:p>
          <a:p>
            <a:r>
              <a:t>Note for the blueprint they write this week: a manual upload step is a legitimate workflow step. It just has to be written down as one.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Prepared result, about 20 seconds, still inside the script's batch of five. Have the two images side by side — the first attempt and the one after the edit.</a:t>
            </a:r>
          </a:p>
          <a:p>
            <a:endParaRPr/>
          </a:p>
          <a:p>
            <a:r>
              <a:t>The point is the second image, not the first: you describe a change instead of redrawing. Say the edit you asked for.</a:t>
            </a:r>
          </a:p>
          <a:p>
            <a:endParaRPr/>
          </a:p>
          <a:p>
            <a:r>
              <a:t>Then the limit, and do not soften it: it draws what a chart looks like, not your numbers. A generated illustration never carries data, and never carries the institution's identity.</a:t>
            </a:r>
          </a:p>
          <a:p>
            <a:endParaRPr/>
          </a:p>
          <a:p>
            <a:r>
              <a:t>Re-verify in your own account the week before delivery: the free tier moves month to month, and anything that has moved behind a paid plan is shown as a slide and marked as such. Free-tier image quotas move often.</a:t>
            </a:r>
          </a:p>
          <a:p>
            <a:endParaRPr/>
          </a:p>
          <a:p>
            <a:r>
              <a:t>If asked about attribution: the directive from Segment 2 wants AI use recorded — which tool, for what, in which part of the work. A generated illustration is part of the work.</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Mentioned in passing — the one capability the plan's demo script gives no time of its own, so it comes out of the segment's slack and is the first thing to drop if you are behind. Say it, do not show it: a voice demo over Teams audio is a lottery.</a:t>
            </a:r>
          </a:p>
          <a:p>
            <a:endParaRPr/>
          </a:p>
          <a:p>
            <a:r>
              <a:t>The scenario is rehearsal: you talk, it asks. It is the cheapest way to find the section of your presentation you cannot actually explain, and the assignment ends in a presentation.</a:t>
            </a:r>
          </a:p>
          <a:p>
            <a:endParaRPr/>
          </a:p>
          <a:p>
            <a:r>
              <a:t>Mobile parity is the second half of the sentence: same account, same Gems, so what was built on the laptop is on the phone.</a:t>
            </a:r>
          </a:p>
          <a:p>
            <a:endParaRPr/>
          </a:p>
          <a:p>
            <a:r>
              <a:t>The caution belongs on this slide more than most: talking is uploading. The Segment 2 list applies to what you say as much as to what you paste — rehearse the presentation, not the personnel case.</a:t>
            </a:r>
          </a:p>
          <a:p>
            <a:endParaRPr/>
          </a:p>
          <a:p>
            <a:r>
              <a:t>Re-verify in your own account the week before delivery: the free tier moves month to month, and anything that has moved behind a paid plan is shown as a slide and marked as such.</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only, about 20 seconds, and the fourth of the script's batch of five.</a:t>
            </a:r>
          </a:p>
          <a:p>
            <a:endParaRPr/>
          </a:p>
          <a:p>
            <a:r>
              <a:t>One sentence on what the mode does — questions instead of answers — and one on why it is in a research management course: the assignment's deliverable is a presentation designed around learning outcomes, and this is that shape, modelled.</a:t>
            </a:r>
          </a:p>
          <a:p>
            <a:endParaRPr/>
          </a:p>
          <a:p>
            <a:r>
              <a:t>Suggest it as the thing to try this week on whichever concept in their Anchor Project they understand least.</a:t>
            </a:r>
          </a:p>
          <a:p>
            <a:endParaRPr/>
          </a:p>
          <a:p>
            <a:r>
              <a:t>Re-verify in your own account the week before delivery: the free tier moves month to month, and anything that has moved behind a paid plan is shown as a slide and marked as such. The mode has moved between a toggle and a setting more than once.</a:t>
            </a:r>
          </a:p>
          <a:p>
            <a:endParaRPr/>
          </a:p>
          <a:p>
            <a:r>
              <a:t>The explanation is generated like any other output: check it before you teach it to anyone.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last of the script's batch of five, about 10 seconds, and the last capability before NotebookLM.</a:t>
            </a:r>
          </a:p>
          <a:p>
            <a:endParaRPr/>
          </a:p>
          <a:p>
            <a:r>
              <a:t>Frame it against the Gem you just built: saved info is the lightweight version — facts about you that every chat sees, rather than a workspace for one project.</a:t>
            </a:r>
          </a:p>
          <a:p>
            <a:endParaRPr/>
          </a:p>
          <a:p>
            <a:r>
              <a:t>Spend the caution rather than the feature: it is stored on a personal account and read everywhere, so the Segment 2 list applies to it without exception.</a:t>
            </a:r>
          </a:p>
          <a:p>
            <a:endParaRPr/>
          </a:p>
          <a:p>
            <a:r>
              <a:t>Re-verify in your own account the week before delivery: the free tier moves month to month, and anything that has moved behind a paid plan is shown as a slide and marked as such.</a:t>
            </a:r>
          </a:p>
          <a:p>
            <a:endParaRPr/>
          </a:p>
          <a:p>
            <a:r>
              <a:t>Then close the capability half of the segment and move to NotebookLM — four minutes left, three slides.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only, about 80 seconds. NotebookLM is next week's tool — say that first, and do not open a walkthrough today.</a:t>
            </a:r>
          </a:p>
          <a:p>
            <a:endParaRPr/>
          </a:p>
          <a:p>
            <a:r>
              <a:t>The scenario is the recorded information session everybody saves and nobody rewatches. Added as a source, it becomes something you can ask a question of, and the answer points back at where in the recording it came from.</a:t>
            </a:r>
          </a:p>
          <a:p>
            <a:endParaRPr/>
          </a:p>
          <a:p>
            <a:r>
              <a:t>The catch is captions: what the notebook reads is the transcript. A recording without captions is not a source.</a:t>
            </a:r>
          </a:p>
          <a:p>
            <a:endParaRPr/>
          </a:p>
          <a:p>
            <a:r>
              <a:t>No YouTube link appears in this deck, by the course's own rule — describe the scenario, and if you want to show one, open a recording you brought yourself.</a:t>
            </a:r>
          </a:p>
          <a:p>
            <a:endParaRPr/>
          </a:p>
          <a:p>
            <a:r>
              <a:t>Re-verify in your own account the week before delivery: the free tier moves month to month, and anything that has moved behind a paid plan is shown as a slide and marked as such. In 2026 Google folded NotebookLM into the Gemini product family, so check which of these three scenarios the free tier still covers and mark any paid-only step on the slide.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only, about 80 seconds — the one with the strongest link back to Lesson 1.</a:t>
            </a:r>
          </a:p>
          <a:p>
            <a:endParaRPr/>
          </a:p>
          <a:p>
            <a:r>
              <a:t>Describe the pile: four documents about one call, all of them true, none of them complete. In a notebook they answer together, and every sentence of the answer says which document it came from.</a:t>
            </a:r>
          </a:p>
          <a:p>
            <a:endParaRPr/>
          </a:p>
          <a:p>
            <a:r>
              <a:t>Then make the Lesson 1 connection explicitly, because it closes a loop the room opened last week: “more context is not better context” was a rule they had to remember. Source grounding is that rule built into a tool — it answers from what you gave it.</a:t>
            </a:r>
          </a:p>
          <a:p>
            <a:endParaRPr/>
          </a:p>
          <a:p>
            <a:r>
              <a:t>Do not walk through building one. Next week.</a:t>
            </a:r>
          </a:p>
          <a:p>
            <a:endParaRPr/>
          </a:p>
          <a:p>
            <a:r>
              <a:t>The sources are documents like any other: anonymised before they go in, if they carry personal or sensitive information.</a:t>
            </a:r>
          </a:p>
          <a:p>
            <a:endParaRPr/>
          </a:p>
          <a:p>
            <a:r>
              <a:t>Re-verify in your own account the week before delivery: the free tier moves month to month, and anything that has moved behind a paid plan is shown as a slide and marked as such.</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Scenario only, about 80 seconds, and it is the bridge to Lesson 3.</a:t>
            </a:r>
          </a:p>
          <a:p>
            <a:endParaRPr/>
          </a:p>
          <a:p>
            <a:r>
              <a:t>The scenario: the four documents you just put in a notebook, linked into a chat as the project's folder. Nothing is re-uploaded, and the conversation has the project's sources in it from the first message.</a:t>
            </a:r>
          </a:p>
          <a:p>
            <a:endParaRPr/>
          </a:p>
          <a:p>
            <a:r>
              <a:t>Connect it back to the Gem without re-teaching either: a Gem holds how you work, a notebook holds what you work from. Both are persistent context, which is the Level 3 idea from the middle of this segment.</a:t>
            </a:r>
          </a:p>
          <a:p>
            <a:endParaRPr/>
          </a:p>
          <a:p>
            <a:r>
              <a:t>Say the caution plainly rather than burying it: this integration appeared on paid plans first, and the product carries two names — the course says NotebookLM, the screen may say “Gemini Notebook” since the mid-2026 rename. Say which you are looking at. Re-verify in your own account the week before delivery: the free tier moves month to month, and anything that has moved behind a paid plan is shown as a slide and marked as such. If the link is paid-only in your account on the day, mark it on the slide and present it as where this is going, not as something they can do this week.</a:t>
            </a:r>
          </a:p>
          <a:p>
            <a:endParaRPr/>
          </a:p>
          <a:p>
            <a:r>
              <a:t>Close the NotebookLM block here: three scenarios, no walkthrough, the tool itself is Lesson 3.</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seconds, and it is the handover into Segment 5. Do not add material here — this slide only names what they already watched.</a:t>
            </a:r>
          </a:p>
          <a:p>
            <a:endParaRPr/>
          </a:p>
          <a:p>
            <a:r>
              <a:t>Walk the first chain in one breath, pointing at the three slides it came from: the upload, the Gem, Canvas. Then the second: the notebook, the chat, the draft.</a:t>
            </a:r>
          </a:p>
          <a:p>
            <a:endParaRPr/>
          </a:p>
          <a:p>
            <a:r>
              <a:t>The sentence that matters is the one under the cards: a capability is not interesting on its own. Two in a row, with a reason for the order, is a workflow — and a reason for the order is exactly what the assignment asks them to write down.</a:t>
            </a:r>
          </a:p>
          <a:p>
            <a:endParaRPr/>
          </a:p>
          <a:p>
            <a:r>
              <a:t>Say the level once: Level 3 was the persistent workspace, which they saw built in this segment. Level 4 is orchestration, and the blueprint is its foundation. Then hand over — the next segment has the assignment slide.</a:t>
            </a:r>
          </a:p>
          <a:p>
            <a:endParaRPr/>
          </a:p>
          <a:p>
            <a:r>
              <a:t>If you are over time here, cut the second chain and keep the sentence.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minute. Read the three items aloud and then get off this slide — the roadmap is where the time goes.</a:t>
            </a:r>
          </a:p>
          <a:p>
            <a:endParaRPr/>
          </a:p>
          <a:p>
            <a:r>
              <a:t>The one thing to say plainly: the blueprint is not homework you invent from scratch. It is on the next four slides, written out, step by step. What they owe is a run of it on their own topic and a line of reasoning for every step they skip or change. Say that out loud — last year's version of this assignment asked people to produce a blueprint from the word “blueprint”, and what came back was nine rows of tool names with no reasoning in them.</a:t>
            </a:r>
          </a:p>
          <a:p>
            <a:endParaRPr/>
          </a:p>
          <a:p>
            <a:r>
              <a:t>Item 1 is the deliverable: a presentation that teaches, on a topic they pick. Say the topic is theirs — it does not have to be the Anchor Project, and a topic they already know well makes the learning-outcome part easier to judge.</a:t>
            </a:r>
          </a:p>
          <a:p>
            <a:endParaRPr/>
          </a:p>
          <a:p>
            <a:r>
              <a:t>Item 3 is where this can go wrong quietly. A chain does not inherit a lane from its first step: each step is routed on its own. If a step cannot be cleared, the step changes — not the lane.</a:t>
            </a:r>
          </a:p>
          <a:p>
            <a:endParaRPr/>
          </a:p>
          <a:p>
            <a:r>
              <a:t>Say the footer line: only step 2 is required, and only when their own material contains sensitive data. Everything else is optional, and skipping a step is fine as long as the blueprint says why.</a:t>
            </a:r>
          </a:p>
          <a:p>
            <a:endParaRPr/>
          </a:p>
          <a:p>
            <a:r>
              <a:t>Paste this slide's text and the blueprint into the Teams chat straight after the session, together with the Mermaid source from the plan, so nobody is working from a screenshot alone.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minutes, and this is the slide the segment exists for. Walk the route once, left to right, naming the tool at each card and nothing else — eight names in ninety seconds. The detail is on the next three slides and in the chat; do not read it here.</a:t>
            </a:r>
          </a:p>
          <a:p>
            <a:endParaRPr/>
          </a:p>
          <a:p>
            <a:r>
              <a:t>Say the three phases: prepare, gather, produce. Then say the one rule: only step 2 is required, and only when their own material contains sensitive data. Everything else is optional, and a skipped step with a reason is a better blueprint than a step run for the sake of it.</a:t>
            </a:r>
          </a:p>
          <a:p>
            <a:endParaRPr/>
          </a:p>
          <a:p>
            <a:r>
              <a:t>Then make the argument the colours make for you: violet is Gemini, teal is Copilot, slate is no lane at all. Step 2 has no AI tool on purpose: anonymisation is by-hand work in Word or Excel, and it has to be finished before any file reaches any AI tool. If someone asks why Adobe Acrobat is gone from the chain: the Teams app needs administrator approval nobody here can get, and there are no institutional PDFs in Teams to review.</a:t>
            </a:r>
          </a:p>
          <a:p>
            <a:endParaRPr/>
          </a:p>
          <a:p>
            <a:r>
              <a:t>Step 8 is in neither lane: Canva and genspark.ai sit outside the institutional tenant, which is exactly why only what step 2 cleared may go into them.</a:t>
            </a:r>
          </a:p>
          <a:p>
            <a:endParaRPr/>
          </a:p>
          <a:p>
            <a:r>
              <a:t>Prompt Coach is the card in the top right, and it is not a step: Before you run a prompt in steps 3 to 6, paste it into Prompt Coach with one sentence about the job it has to do, ask for a critique and an improved version, and keep the improved one only if you can say what changed. Copilot Chat (Basic), Sensitive Lane; nothing but the prompt goes in.</a:t>
            </a:r>
          </a:p>
          <a:p>
            <a:endParaRPr/>
          </a:p>
          <a:p>
            <a:r>
              <a:t>The diagram is part of the deliverable. Say that the Mermaid source for this picture is in the session plan and goes into the chat: they are expected to redraw it for their own chain, and a chain that cannot be drawn has not been thought through.</a:t>
            </a:r>
          </a:p>
          <a:p>
            <a:endParaRPr/>
          </a:p>
          <a:p>
            <a:r>
              <a:t>Leave this slide up for the Q&amp;A at the end of the segment.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seconds on this slide. Do not read the cards — point at the IN and OUT columns and say that every output names the step that takes it. The full instructions below go into the Teams chat, not onto the screen.</a:t>
            </a:r>
          </a:p>
          <a:p>
            <a:endParaRPr/>
          </a:p>
          <a:p>
            <a:r>
              <a:t>Step 1 — Frame the topic (Gemini · Guided Learning; Daily Driver; Optional). In: A topic idea, your audience, and the length of the presentation. How: Open Guided Learning and give it the ask-me-first prompt from Lesson 1: before you answer, ask me what you need to know. Answer its questions. Keep only outcomes you can observe: “decide whether a cost is eligible and say why” is one, “understand eligible costs” is not. Stop at three. Output goes to: step 5 (the outline), step 6 (the learning material) and step 7 (the visuals) are all built against these three outcomes. Out: A topic statement and three learning outcomes → steps 5, 6, 7.</a:t>
            </a:r>
          </a:p>
          <a:p>
            <a:endParaRPr/>
          </a:p>
          <a:p>
            <a:r>
              <a:t>Step 2 — Anonymise your own material (No AI tool · Word or Excel, by hand; No lane; Required if the material contains sensitive data). In: Your own documents: notes, tables, call texts, reports. How: Work on a copy. Go through each file by hand in Word or Excel with the Lesson 1 anonymisation checklist: replace names, IDs, amounts, dates and anything that identifies a person, a project or a partner. Record per file: anonymised, public, or not usable. No AI tool is involved, because nothing may reach an AI tool before this step is done. Output goes to: step 4 (the notebook) and step 5 (the Gem's reference files). If you use no material of your own, skip this step and say so in the blueprint. Out: Files that may be uploaded anywhere → steps 4, 5.</a:t>
            </a:r>
          </a:p>
          <a:p>
            <a:endParaRPr/>
          </a:p>
          <a:p>
            <a:r>
              <a:t>Step 3 — Research the topic (Gemini · Deep Research; Daily Driver; Optional). In: One research question: what your material does not cover, or the topic itself if you have no material. How: Write one research question, not five. If you have your own material, ask what it does not cover; if not, ask about the topic itself. Ask for a source per claim. Open at least three of the sources and check they say what the report says. The free tier limits reports per month, so write the question before you spend one. Output goes to: step 4, as one more file in the notebook. Out: A cited briefing, saved as a file → step 4.</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seconds on this slide. Do not read the cards — point at the IN and OUT columns and say that every output names the step that takes it. The full instructions below go into the Teams chat, not onto the screen.</a:t>
            </a:r>
          </a:p>
          <a:p>
            <a:endParaRPr/>
          </a:p>
          <a:p>
            <a:r>
              <a:t>Step 4 — Collect what the presentation must cover (NotebookLM; Daily Driver; Optional). In: The files from step 2 and the briefing from step 3. How: One notebook per topic. Add the files from step 2 and the briefing from step 3, then ask: what does a newcomer need to know about this, and which source says it? Drop any answer without a citation. If NotebookLM is not available to you this fortnight, upload the same files to Gemini, ask the same question, and say so in your blueprint. Output goes to: step 5, as the list of what the outline has to contain. Out: A coverage list, each point with its source → step 5.</a:t>
            </a:r>
          </a:p>
          <a:p>
            <a:endParaRPr/>
          </a:p>
          <a:p>
            <a:r>
              <a:t>Step 5 — Draft the outline (Gemini · a Gem with file upload, long context and Canvas; Daily Driver; Optional). In: The outcomes from step 1, the coverage list from step 4, the files from step 2. How: Build a Gem first: the topic statement and the three outcomes as its instructions, the files from step 2 as its reference files; long context means it reads all of them. Ask for an outline in Canvas, then edit one section at a time instead of regenerating the whole thing. Tag each section with the outcome it serves and cut any section that serves none. Output goes to: step 6 (learning material), step 7 (visuals) and step 8 (the deck). Out: A section-by-section outline → steps 6, 7, 8.</a:t>
            </a:r>
          </a:p>
          <a:p>
            <a:endParaRPr/>
          </a:p>
          <a:p>
            <a:r>
              <a:t>Step 6 — Add the learning material (Study and Learn · Copilot Chat (Basic); Sensitive Lane; Optional). In: The outline from step 5, one learning outcome at a time. How: One outcome at a time. Ask for an explanation and read it as a learner would; then flashcards on the key terms; then a five-question quiz. Drop any question that can be answered without having seen the presentation. Needs a Microsoft 365 Education account; no Copilot licence. Output goes to: step 8, as its own section of the deck. Out: An explanation, a flashcard set and a quiz per outcome → step 8.</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seconds on this slide. Do not read the cards — point at the IN and OUT columns and say that every output names the step that takes it. The full instructions below go into the Teams chat, not onto the screen.</a:t>
            </a:r>
          </a:p>
          <a:p>
            <a:endParaRPr/>
          </a:p>
          <a:p>
            <a:r>
              <a:t>Step 7 — Make the visuals (Gemini · image generation; Daily Driver; Optional). In: One section of the outline from step 5 and a one-sentence description of its diagram. How: Describe the relationship you want shown, not the picture: “three stages, each feeding the next, the middle one highlighted”. Read the labels in the result; text inside generated images is often wrong, and the fix is to regenerate, not to patch. Not every section needs an image. Output goes to: step 8. Out: One image per section that needs one → step 8.</a:t>
            </a:r>
          </a:p>
          <a:p>
            <a:endParaRPr/>
          </a:p>
          <a:p>
            <a:r>
              <a:t>Step 8 — Build the presentation (Canva (Teams app) → genspark.ai; Outside both lanes · anonymised content only; Optional tools, required output). In: The outline (5), the learning material (6), the visuals (7). How: Prototype the slide structure in Canva and let a colleague comment on it before any content goes in. Cut a 20–40 second video excerpt in Canva for the opening. Then give the outline, the learning material and the visuals to genspark.ai and build the deck. Rehearse once out loud. Put the AI-use log on the last slide. Both tools sit outside the institutional tenant: only content that passed step 2 goes into them. Output goes to: nowhere. This is the deliverable. Out: The finished presentation and a short video excerpt: the deliverable.</a:t>
            </a:r>
          </a:p>
          <a:p>
            <a:endParaRPr/>
          </a:p>
          <a:p>
            <a:r>
              <a:t>Prompt Coach, at any step. Before you run a prompt in steps 3 to 6, paste it into Prompt Coach with one sentence about the job it has to do, ask for a critique and an improved version, and keep the improved one only if you can say what changed. Copilot Chat (Basic), Sensitive Lane; nothing but the prompt goes in.</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seconds. This is the answer to “what did this week get me?”, and it is worth stating because the answer is not “two more tools”.</a:t>
            </a:r>
          </a:p>
          <a:p>
            <a:endParaRPr/>
          </a:p>
          <a:p>
            <a:r>
              <a:t>Point at the map, not at the slide's wording: they saw these rows in Lesson 1 and have not seen them since. Level 2 was last week — structured prompts, iteration, done. Level 3 is today, and the thing that earns it is the Gem, not the number of tools they now have accounts for. Be honest about the tense: they watched one built, and they are on Level 3 once they have their own — which is step 5 of the roadmap.</a:t>
            </a:r>
          </a:p>
          <a:p>
            <a:endParaRPr/>
          </a:p>
          <a:p>
            <a:r>
              <a:t>Be precise about Level 4: the assignment does not reach it, it founds it. Orchestration is the right specialised tool per step, and the specialised tools arrive in Lessons 3 and 4 — NotebookLM, Perplexity. What the roadmap gives them is the habit of saying why a step is there, which is the part that does not come with a tool.</a:t>
            </a:r>
          </a:p>
          <a:p>
            <a:endParaRPr/>
          </a:p>
          <a:p>
            <a:r>
              <a:t>Say the closing line as written if the room looks pleased with itself: nobody reaches a level by owning a tool.</a:t>
            </a:r>
          </a:p>
          <a:p>
            <a:endParaRPr/>
          </a:p>
          <a:p>
            <a:r>
              <a:t>If someone asks where Levels 5–7 are, one sentence: Level 5 is Lesson 5's Agent Builder, and 6 and 7 are the final session's outlook. Do not open the map here.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minute. Set the effort expectation out loud: 3–4 hours across the two weeks, spread out, blueprint first. Anyone past four hours is polishing the presentation instead of writing the blueprint, and the blueprint is the assignment.</a:t>
            </a:r>
          </a:p>
          <a:p>
            <a:endParaRPr/>
          </a:p>
          <a:p>
            <a:r>
              <a:t>Say the quota line, because somebody always asks whether all eight steps are mandatory: they are not. Only step 2 is, and only when their own material contains sensitive data. Skipping or merging steps is fine; the line saying why is what is not optional.</a:t>
            </a:r>
          </a:p>
          <a:p>
            <a:endParaRPr/>
          </a:p>
          <a:p>
            <a:r>
              <a:t>“Done” is three things and the middle one is the only one people remember. Read the first and third aloud — a blueprint you can follow, and an AI-use log. The log is the directive's transparency point, not bureaucracy: where AI was used, which tool, when, for what.</a:t>
            </a:r>
          </a:p>
          <a:p>
            <a:endParaRPr/>
          </a:p>
          <a:p>
            <a:r>
              <a:t>Both venues, plainly. Practice Week 1's drop-in in W3 is optional and is the place for a half-built chain. The Lesson 3 debrief in W4 is where 2–3 volunteers present blueprint and presentation. Ask for tentative volunteers now, in the chat; a named volunteer arrives prepared.</a:t>
            </a:r>
          </a:p>
          <a:p>
            <a:endParaRPr/>
          </a:p>
          <a:p>
            <a:r>
              <a:t>Anyone who did not finish: the drop-in, not an apology in the chat. Say it once, lightly.</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minute, no new teaching, and then Q&amp;A on whatever is left.</a:t>
            </a:r>
          </a:p>
          <a:p>
            <a:endParaRPr/>
          </a:p>
          <a:p>
            <a:r>
              <a:t>Practice Week 1 is next week and it is exactly what its name says: no new material, the session slot runs as an optional facilitated drop-in, and the reason it exists is that this course runs during office hours. Say that anyone stuck on a lane question or a half-built chain should come; anyone whose chain already runs does not have to.</a:t>
            </a:r>
          </a:p>
          <a:p>
            <a:endParaRPr/>
          </a:p>
          <a:p>
            <a:r>
              <a:t>Lesson 3 in W4 is the payoff for the NotebookLM scenarios they just watched — the tool properly this time, Perplexity beside it for cited research, and the Wiki Sandbox, which is the first piece of the KM System they will still be building in Week 8.</a:t>
            </a:r>
          </a:p>
          <a:p>
            <a:endParaRPr/>
          </a:p>
          <a:p>
            <a:r>
              <a:t>Go back to the roadmap slide for the questions, and post the blueprint and the Mermaid source in the chat before you close the meeting.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7" name="Footer Rule"/>
          <p:cNvSpPr/>
          <p:nvPr/>
        </p:nvSpPr>
        <p:spPr>
          <a:xfrm>
            <a:off x="548640" y="6473952"/>
            <a:ext cx="11091672" cy="1524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ooter Text"/>
          <p:cNvSpPr txBox="1"/>
          <p:nvPr/>
        </p:nvSpPr>
        <p:spPr>
          <a:xfrm>
            <a:off x="548640" y="6519672"/>
            <a:ext cx="11091672" cy="274320"/>
          </a:xfrm>
          <a:prstGeom prst="rect">
            <a:avLst/>
          </a:prstGeom>
          <a:noFill/>
        </p:spPr>
        <p:txBody>
          <a:bodyPr wrap="none" lIns="0" tIns="0" rIns="0" bIns="0">
            <a:spAutoFit/>
          </a:bodyPr>
          <a:lstStyle/>
          <a:p>
            <a:r>
              <a:rPr sz="1000" b="0" i="0">
                <a:solidFill>
                  <a:srgbClr val="6B747D"/>
                </a:solidFill>
                <a:latin typeface="Calibri"/>
              </a:rPr>
              <a:t>AI for Research Management · Lesson 2 · Week 2</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hyperlink" Target="https://sdaia.gov.sa/en/SDAIA/about/Documents/ai-principles.pdf" TargetMode="External"/><Relationship Id="rId3" Type="http://schemas.openxmlformats.org/officeDocument/2006/relationships/hyperlink" Target="https://digital-strategy.ec.europa.eu/en/library/ethics-guidelines-trustworthy-ai" TargetMode="External"/><Relationship Id="rId7" Type="http://schemas.openxmlformats.org/officeDocument/2006/relationships/hyperlink" Target="https://www.alation.com/blog/data-ethics-in-ai-6-key-principles-for-responsible-machine-learning/"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hyperlink" Target="https://www.trustcloud.ai/ai/boost-trust-with-powerful-ethical-ai-and-data-privacy-practices/" TargetMode="External"/><Relationship Id="rId11" Type="http://schemas.openxmlformats.org/officeDocument/2006/relationships/hyperlink" Target="https://www.unesco.org/en/artificial-intelligence/recommendation-ethics" TargetMode="External"/><Relationship Id="rId5" Type="http://schemas.openxmlformats.org/officeDocument/2006/relationships/hyperlink" Target="https://trailhead.salesforce.com/content/learn/modules/data-fundamentals-for-ai/know-data-ethics-privacy-and-practical-implementation" TargetMode="External"/><Relationship Id="rId10" Type="http://schemas.openxmlformats.org/officeDocument/2006/relationships/hyperlink" Target="https://www.adp.ca/en/resources/articles-and-insights/articles/a/ai-and-data-ethics-5-principles-to-consider.aspx" TargetMode="External"/><Relationship Id="rId4" Type="http://schemas.openxmlformats.org/officeDocument/2006/relationships/hyperlink" Target="https://professional.dce.harvard.edu/blog/ethics-in-ai-why-it-matters/" TargetMode="External"/><Relationship Id="rId9" Type="http://schemas.openxmlformats.org/officeDocument/2006/relationships/hyperlink" Target="https://transcend.io/blog/ai-ethics"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20040" cy="3429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429000"/>
            <a:ext cx="320040" cy="34290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463040"/>
            <a:ext cx="10332720" cy="457200"/>
          </a:xfrm>
          <a:prstGeom prst="rect">
            <a:avLst/>
          </a:prstGeom>
          <a:noFill/>
        </p:spPr>
        <p:txBody>
          <a:bodyPr wrap="square">
            <a:spAutoFit/>
          </a:bodyPr>
          <a:lstStyle/>
          <a:p>
            <a:pPr algn="l"/>
            <a:r>
              <a:rPr sz="1400" b="1" i="0">
                <a:solidFill>
                  <a:srgbClr val="3E4C59"/>
                </a:solidFill>
                <a:latin typeface="Calibri"/>
              </a:rPr>
              <a:t>AI FOR RESEARCH MANAGEMENT</a:t>
            </a:r>
          </a:p>
        </p:txBody>
      </p:sp>
      <p:sp>
        <p:nvSpPr>
          <p:cNvPr id="5" name="Rectangle 4"/>
          <p:cNvSpPr/>
          <p:nvPr/>
        </p:nvSpPr>
        <p:spPr>
          <a:xfrm>
            <a:off x="1005840" y="1965960"/>
            <a:ext cx="1097280" cy="25400"/>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194560"/>
            <a:ext cx="10332720" cy="2011680"/>
          </a:xfrm>
          <a:prstGeom prst="rect">
            <a:avLst/>
          </a:prstGeom>
          <a:noFill/>
        </p:spPr>
        <p:txBody>
          <a:bodyPr wrap="square">
            <a:spAutoFit/>
          </a:bodyPr>
          <a:lstStyle/>
          <a:p>
            <a:pPr algn="l"/>
            <a:r>
              <a:rPr sz="4400" b="1" i="0">
                <a:solidFill>
                  <a:srgbClr val="1C242B"/>
                </a:solidFill>
                <a:latin typeface="Cambria"/>
              </a:rPr>
              <a:t>Lesson 2 — The Two-Lane Tool Landscape</a:t>
            </a:r>
          </a:p>
        </p:txBody>
      </p:sp>
      <p:sp>
        <p:nvSpPr>
          <p:cNvPr id="7" name="TextBox 6"/>
          <p:cNvSpPr txBox="1"/>
          <p:nvPr/>
        </p:nvSpPr>
        <p:spPr>
          <a:xfrm>
            <a:off x="1005840" y="4389120"/>
            <a:ext cx="10332720" cy="457200"/>
          </a:xfrm>
          <a:prstGeom prst="rect">
            <a:avLst/>
          </a:prstGeom>
          <a:noFill/>
        </p:spPr>
        <p:txBody>
          <a:bodyPr wrap="square">
            <a:spAutoFit/>
          </a:bodyPr>
          <a:lstStyle/>
          <a:p>
            <a:pPr algn="l"/>
            <a:r>
              <a:rPr sz="1600" b="0" i="0">
                <a:solidFill>
                  <a:srgbClr val="6B747D"/>
                </a:solidFill>
                <a:latin typeface="Calibri"/>
              </a:rPr>
              <a:t>Week 2 · Teaching Session · 60 minutes · Online via Teams</a:t>
            </a:r>
          </a:p>
        </p:txBody>
      </p:sp>
      <p:sp>
        <p:nvSpPr>
          <p:cNvPr id="8" name="Rectangle 7"/>
          <p:cNvSpPr/>
          <p:nvPr/>
        </p:nvSpPr>
        <p:spPr>
          <a:xfrm>
            <a:off x="1005840" y="5212080"/>
            <a:ext cx="164592" cy="16459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5120640"/>
            <a:ext cx="4572000" cy="365760"/>
          </a:xfrm>
          <a:prstGeom prst="rect">
            <a:avLst/>
          </a:prstGeom>
          <a:noFill/>
        </p:spPr>
        <p:txBody>
          <a:bodyPr wrap="square">
            <a:spAutoFit/>
          </a:bodyPr>
          <a:lstStyle/>
          <a:p>
            <a:pPr algn="l"/>
            <a:r>
              <a:rPr sz="1200" b="0" i="0">
                <a:solidFill>
                  <a:srgbClr val="2A333B"/>
                </a:solidFill>
                <a:latin typeface="Calibri"/>
              </a:rPr>
              <a:t>Sensitive Lane · Copilot Chat (Basic)</a:t>
            </a:r>
          </a:p>
        </p:txBody>
      </p:sp>
      <p:sp>
        <p:nvSpPr>
          <p:cNvPr id="10" name="Rectangle 9"/>
          <p:cNvSpPr/>
          <p:nvPr/>
        </p:nvSpPr>
        <p:spPr>
          <a:xfrm>
            <a:off x="6126479" y="5212080"/>
            <a:ext cx="164592" cy="16459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799" y="5120640"/>
            <a:ext cx="4572000" cy="365760"/>
          </a:xfrm>
          <a:prstGeom prst="rect">
            <a:avLst/>
          </a:prstGeom>
          <a:noFill/>
        </p:spPr>
        <p:txBody>
          <a:bodyPr wrap="square">
            <a:spAutoFit/>
          </a:bodyPr>
          <a:lstStyle/>
          <a:p>
            <a:pPr algn="l"/>
            <a:r>
              <a:rPr sz="1200" b="0" i="0">
                <a:solidFill>
                  <a:srgbClr val="2A333B"/>
                </a:solidFill>
                <a:latin typeface="Calibri"/>
              </a:rPr>
              <a:t>Daily Driver · Google Gemini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926080" cy="63550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1</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Recap + assignment debrief</a:t>
            </a:r>
          </a:p>
        </p:txBody>
      </p:sp>
      <p:sp>
        <p:nvSpPr>
          <p:cNvPr id="4" name="Rectangle 3"/>
          <p:cNvSpPr/>
          <p:nvPr/>
        </p:nvSpPr>
        <p:spPr>
          <a:xfrm>
            <a:off x="3474720" y="3401568"/>
            <a:ext cx="1097280" cy="3175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3E4C59"/>
                </a:solidFill>
                <a:latin typeface="Calibri"/>
              </a:rPr>
              <a:t>15 min · Participant demos, facilitated</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1 of 5</a:t>
            </a:r>
          </a:p>
        </p:txBody>
      </p:sp>
      <p:sp>
        <p:nvSpPr>
          <p:cNvPr id="7" name="Rectangle 6"/>
          <p:cNvSpPr/>
          <p:nvPr/>
        </p:nvSpPr>
        <p:spPr>
          <a:xfrm>
            <a:off x="3474720" y="5989320"/>
            <a:ext cx="502920" cy="7315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605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8463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321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Lesson 1 → Lesson 2: the recap map</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88720"/>
            <a:ext cx="4160520" cy="365760"/>
          </a:xfrm>
          <a:prstGeom prst="rect">
            <a:avLst/>
          </a:prstGeom>
          <a:noFill/>
        </p:spPr>
        <p:txBody>
          <a:bodyPr wrap="square">
            <a:spAutoFit/>
          </a:bodyPr>
          <a:lstStyle/>
          <a:p>
            <a:pPr algn="l"/>
            <a:r>
              <a:rPr sz="1100" b="0" i="0">
                <a:solidFill>
                  <a:srgbClr val="6B747D"/>
                </a:solidFill>
                <a:latin typeface="Calibri"/>
              </a:rPr>
              <a:t>FROM LESSON 1</a:t>
            </a:r>
          </a:p>
        </p:txBody>
      </p:sp>
      <p:sp>
        <p:nvSpPr>
          <p:cNvPr id="6" name="TextBox 5"/>
          <p:cNvSpPr txBox="1"/>
          <p:nvPr/>
        </p:nvSpPr>
        <p:spPr>
          <a:xfrm>
            <a:off x="5166360" y="1188720"/>
            <a:ext cx="6473952" cy="365760"/>
          </a:xfrm>
          <a:prstGeom prst="rect">
            <a:avLst/>
          </a:prstGeom>
          <a:noFill/>
        </p:spPr>
        <p:txBody>
          <a:bodyPr wrap="square">
            <a:spAutoFit/>
          </a:bodyPr>
          <a:lstStyle/>
          <a:p>
            <a:pPr algn="l"/>
            <a:r>
              <a:rPr sz="1100" b="0" i="0">
                <a:solidFill>
                  <a:srgbClr val="6B747D"/>
                </a:solidFill>
                <a:latin typeface="Calibri"/>
              </a:rPr>
              <a:t>LEADS INTO TODAY</a:t>
            </a:r>
          </a:p>
        </p:txBody>
      </p:sp>
      <p:sp>
        <p:nvSpPr>
          <p:cNvPr id="7" name="Rectangle 6"/>
          <p:cNvSpPr/>
          <p:nvPr/>
        </p:nvSpPr>
        <p:spPr>
          <a:xfrm>
            <a:off x="548640" y="153619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200" b="1" i="0">
                <a:solidFill>
                  <a:srgbClr val="1C242B"/>
                </a:solidFill>
                <a:latin typeface="Calibri"/>
              </a:rPr>
              <a:t>The 7 Levels — Level 2 (Prompt Crafter), done in the Lesson 1 assignment</a:t>
            </a:r>
          </a:p>
        </p:txBody>
      </p:sp>
      <p:sp>
        <p:nvSpPr>
          <p:cNvPr id="8" name="Rectangle 7"/>
          <p:cNvSpPr/>
          <p:nvPr/>
        </p:nvSpPr>
        <p:spPr>
          <a:xfrm>
            <a:off x="548640" y="153619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28032" y="1645919"/>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10" name="Rectangle 9"/>
          <p:cNvSpPr/>
          <p:nvPr/>
        </p:nvSpPr>
        <p:spPr>
          <a:xfrm>
            <a:off x="5166360" y="153619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100" b="0" i="0">
                <a:solidFill>
                  <a:srgbClr val="2A333B"/>
                </a:solidFill>
                <a:latin typeface="Calibri"/>
              </a:rPr>
              <a:t>Level 3 (Power User) is today's target — persistent context via Gems; the assignment lays the foundation for Level 4 (Tool Orchestrator)</a:t>
            </a:r>
            <a:r>
              <a:rPr sz="1100" b="1" i="0">
                <a:solidFill>
                  <a:srgbClr val="3E4C59"/>
                </a:solidFill>
                <a:latin typeface="Calibri"/>
              </a:rPr>
              <a:t>  ·  Segment 4</a:t>
            </a:r>
          </a:p>
        </p:txBody>
      </p:sp>
      <p:sp>
        <p:nvSpPr>
          <p:cNvPr id="11" name="Rectangle 10"/>
          <p:cNvSpPr/>
          <p:nvPr/>
        </p:nvSpPr>
        <p:spPr>
          <a:xfrm>
            <a:off x="5166360" y="153619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217627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200" b="1" i="0">
                <a:solidFill>
                  <a:srgbClr val="1C242B"/>
                </a:solidFill>
                <a:latin typeface="Calibri"/>
              </a:rPr>
              <a:t>ICC prompting and the four patterns (persona, example-driven, step-by-step, critique-then-improve)</a:t>
            </a:r>
          </a:p>
        </p:txBody>
      </p:sp>
      <p:sp>
        <p:nvSpPr>
          <p:cNvPr id="13" name="Rectangle 12"/>
          <p:cNvSpPr/>
          <p:nvPr/>
        </p:nvSpPr>
        <p:spPr>
          <a:xfrm>
            <a:off x="548640" y="217627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28032" y="228600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15" name="Rectangle 14"/>
          <p:cNvSpPr/>
          <p:nvPr/>
        </p:nvSpPr>
        <p:spPr>
          <a:xfrm>
            <a:off x="5166360" y="217627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100" b="0" i="0">
                <a:solidFill>
                  <a:srgbClr val="2A333B"/>
                </a:solidFill>
                <a:latin typeface="Calibri"/>
              </a:rPr>
              <a:t>The same prompts run in both lanes — the lane decides where a prompt goes, not how it is written; Prompt Coach checks them</a:t>
            </a:r>
            <a:r>
              <a:rPr sz="1100" b="1" i="0">
                <a:solidFill>
                  <a:srgbClr val="3E4C59"/>
                </a:solidFill>
                <a:latin typeface="Calibri"/>
              </a:rPr>
              <a:t>  ·  Segments 3 · 4</a:t>
            </a:r>
          </a:p>
        </p:txBody>
      </p:sp>
      <p:sp>
        <p:nvSpPr>
          <p:cNvPr id="16" name="Rectangle 15"/>
          <p:cNvSpPr/>
          <p:nvPr/>
        </p:nvSpPr>
        <p:spPr>
          <a:xfrm>
            <a:off x="5166360" y="217627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281635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200" b="1" i="0">
                <a:solidFill>
                  <a:srgbClr val="1C242B"/>
                </a:solidFill>
                <a:latin typeface="Calibri"/>
              </a:rPr>
              <a:t>Ask-me-first and reverse prompt</a:t>
            </a:r>
          </a:p>
        </p:txBody>
      </p:sp>
      <p:sp>
        <p:nvSpPr>
          <p:cNvPr id="18" name="Rectangle 17"/>
          <p:cNvSpPr/>
          <p:nvPr/>
        </p:nvSpPr>
        <p:spPr>
          <a:xfrm>
            <a:off x="548640" y="281635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28032" y="292608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20" name="Rectangle 19"/>
          <p:cNvSpPr/>
          <p:nvPr/>
        </p:nvSpPr>
        <p:spPr>
          <a:xfrm>
            <a:off x="5166360" y="281635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100" b="0" i="0">
                <a:solidFill>
                  <a:srgbClr val="2A333B"/>
                </a:solidFill>
                <a:latin typeface="Calibri"/>
              </a:rPr>
              <a:t>Reverse prompts become a Gem's standing instructions</a:t>
            </a:r>
            <a:r>
              <a:rPr sz="1100" b="1" i="0">
                <a:solidFill>
                  <a:srgbClr val="3E4C59"/>
                </a:solidFill>
                <a:latin typeface="Calibri"/>
              </a:rPr>
              <a:t>  ·  Segment 4</a:t>
            </a:r>
          </a:p>
        </p:txBody>
      </p:sp>
      <p:sp>
        <p:nvSpPr>
          <p:cNvPr id="21" name="Rectangle 20"/>
          <p:cNvSpPr/>
          <p:nvPr/>
        </p:nvSpPr>
        <p:spPr>
          <a:xfrm>
            <a:off x="5166360" y="281635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345643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200" b="1" i="0">
                <a:solidFill>
                  <a:srgbClr val="1C242B"/>
                </a:solidFill>
                <a:latin typeface="Calibri"/>
              </a:rPr>
              <a:t>Meta-prompting</a:t>
            </a:r>
          </a:p>
        </p:txBody>
      </p:sp>
      <p:sp>
        <p:nvSpPr>
          <p:cNvPr id="23" name="Rectangle 22"/>
          <p:cNvSpPr/>
          <p:nvPr/>
        </p:nvSpPr>
        <p:spPr>
          <a:xfrm>
            <a:off x="548640" y="345643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28032" y="356616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25" name="Rectangle 24"/>
          <p:cNvSpPr/>
          <p:nvPr/>
        </p:nvSpPr>
        <p:spPr>
          <a:xfrm>
            <a:off x="5166360" y="345643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100" b="0" i="0">
                <a:solidFill>
                  <a:srgbClr val="2A333B"/>
                </a:solidFill>
                <a:latin typeface="Calibri"/>
              </a:rPr>
              <a:t>Prompt Coach — meta-prompting as a packaged agent</a:t>
            </a:r>
            <a:r>
              <a:rPr sz="1100" b="1" i="0">
                <a:solidFill>
                  <a:srgbClr val="3E4C59"/>
                </a:solidFill>
                <a:latin typeface="Calibri"/>
              </a:rPr>
              <a:t>  ·  Segment 3</a:t>
            </a:r>
          </a:p>
        </p:txBody>
      </p:sp>
      <p:sp>
        <p:nvSpPr>
          <p:cNvPr id="26" name="Rectangle 25"/>
          <p:cNvSpPr/>
          <p:nvPr/>
        </p:nvSpPr>
        <p:spPr>
          <a:xfrm>
            <a:off x="5166360" y="345643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409651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200" b="1" i="0">
                <a:solidFill>
                  <a:srgbClr val="1C242B"/>
                </a:solidFill>
                <a:latin typeface="Calibri"/>
              </a:rPr>
              <a:t>The two rules from the Lesson 1 demo — the publish test for Gemini; verify before use</a:t>
            </a:r>
          </a:p>
        </p:txBody>
      </p:sp>
      <p:sp>
        <p:nvSpPr>
          <p:cNvPr id="28" name="Rectangle 27"/>
          <p:cNvSpPr/>
          <p:nvPr/>
        </p:nvSpPr>
        <p:spPr>
          <a:xfrm>
            <a:off x="548640" y="409651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28032" y="420624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30" name="Rectangle 29"/>
          <p:cNvSpPr/>
          <p:nvPr/>
        </p:nvSpPr>
        <p:spPr>
          <a:xfrm>
            <a:off x="5166360" y="409651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100" b="0" i="0">
                <a:solidFill>
                  <a:srgbClr val="2A333B"/>
                </a:solidFill>
                <a:latin typeface="Calibri"/>
              </a:rPr>
              <a:t>The first becomes the full two-lane rule; the second, the directive's “critical checking of every output”</a:t>
            </a:r>
            <a:r>
              <a:rPr sz="1100" b="1" i="0">
                <a:solidFill>
                  <a:srgbClr val="3E4C59"/>
                </a:solidFill>
                <a:latin typeface="Calibri"/>
              </a:rPr>
              <a:t>  ·  Segment 2</a:t>
            </a:r>
          </a:p>
        </p:txBody>
      </p:sp>
      <p:sp>
        <p:nvSpPr>
          <p:cNvPr id="31" name="Rectangle 30"/>
          <p:cNvSpPr/>
          <p:nvPr/>
        </p:nvSpPr>
        <p:spPr>
          <a:xfrm>
            <a:off x="5166360" y="409651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48640" y="473659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200" b="1" i="0">
                <a:solidFill>
                  <a:srgbClr val="1C242B"/>
                </a:solidFill>
                <a:latin typeface="Calibri"/>
              </a:rPr>
              <a:t>The anonymise-or-fictional Anchor Project rule</a:t>
            </a:r>
          </a:p>
        </p:txBody>
      </p:sp>
      <p:sp>
        <p:nvSpPr>
          <p:cNvPr id="33" name="Rectangle 32"/>
          <p:cNvSpPr/>
          <p:nvPr/>
        </p:nvSpPr>
        <p:spPr>
          <a:xfrm>
            <a:off x="548640" y="473659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828032" y="484632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35" name="Rectangle 34"/>
          <p:cNvSpPr/>
          <p:nvPr/>
        </p:nvSpPr>
        <p:spPr>
          <a:xfrm>
            <a:off x="5166360" y="473659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100" b="0" i="0">
                <a:solidFill>
                  <a:srgbClr val="2A333B"/>
                </a:solidFill>
                <a:latin typeface="Calibri"/>
              </a:rPr>
              <a:t>The institutional anonymise-before-upload rule for documents; the routing test in the assignment</a:t>
            </a:r>
            <a:r>
              <a:rPr sz="1100" b="1" i="0">
                <a:solidFill>
                  <a:srgbClr val="3E4C59"/>
                </a:solidFill>
                <a:latin typeface="Calibri"/>
              </a:rPr>
              <a:t>  ·  Segments 2 · 5</a:t>
            </a:r>
          </a:p>
        </p:txBody>
      </p:sp>
      <p:sp>
        <p:nvSpPr>
          <p:cNvPr id="36" name="Rectangle 35"/>
          <p:cNvSpPr/>
          <p:nvPr/>
        </p:nvSpPr>
        <p:spPr>
          <a:xfrm>
            <a:off x="5166360" y="473659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48640" y="5376672"/>
            <a:ext cx="416052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200" b="1" i="0">
                <a:solidFill>
                  <a:srgbClr val="1C242B"/>
                </a:solidFill>
                <a:latin typeface="Calibri"/>
              </a:rPr>
              <a:t>Context window and “more context is not better context”</a:t>
            </a:r>
          </a:p>
        </p:txBody>
      </p:sp>
      <p:sp>
        <p:nvSpPr>
          <p:cNvPr id="38" name="Rectangle 37"/>
          <p:cNvSpPr/>
          <p:nvPr/>
        </p:nvSpPr>
        <p:spPr>
          <a:xfrm>
            <a:off x="548640" y="5376672"/>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828032" y="5486400"/>
            <a:ext cx="274320" cy="365760"/>
          </a:xfrm>
          <a:prstGeom prst="rect">
            <a:avLst/>
          </a:prstGeom>
          <a:noFill/>
        </p:spPr>
        <p:txBody>
          <a:bodyPr wrap="square">
            <a:spAutoFit/>
          </a:bodyPr>
          <a:lstStyle/>
          <a:p>
            <a:pPr algn="ctr"/>
            <a:r>
              <a:rPr sz="1500" b="0" i="0">
                <a:solidFill>
                  <a:srgbClr val="6B747D"/>
                </a:solidFill>
                <a:latin typeface="Calibri"/>
              </a:rPr>
              <a:t>→</a:t>
            </a:r>
          </a:p>
        </p:txBody>
      </p:sp>
      <p:sp>
        <p:nvSpPr>
          <p:cNvPr id="40" name="Rectangle 39"/>
          <p:cNvSpPr/>
          <p:nvPr/>
        </p:nvSpPr>
        <p:spPr>
          <a:xfrm>
            <a:off x="5166360" y="5376672"/>
            <a:ext cx="6473952"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100" b="0" i="0">
                <a:solidFill>
                  <a:srgbClr val="2A333B"/>
                </a:solidFill>
                <a:latin typeface="Calibri"/>
              </a:rPr>
              <a:t>Why file upload and long context need curation; why NotebookLM's source grounding exists</a:t>
            </a:r>
            <a:r>
              <a:rPr sz="1100" b="1" i="0">
                <a:solidFill>
                  <a:srgbClr val="3E4C59"/>
                </a:solidFill>
                <a:latin typeface="Calibri"/>
              </a:rPr>
              <a:t>  ·  Segment 4 · Lesson 3 preview</a:t>
            </a:r>
          </a:p>
        </p:txBody>
      </p:sp>
      <p:sp>
        <p:nvSpPr>
          <p:cNvPr id="41" name="Rectangle 40"/>
          <p:cNvSpPr/>
          <p:nvPr/>
        </p:nvSpPr>
        <p:spPr>
          <a:xfrm>
            <a:off x="5166360" y="5376672"/>
            <a:ext cx="82296"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48640" y="5961888"/>
            <a:ext cx="11091672" cy="365760"/>
          </a:xfrm>
          <a:prstGeom prst="rect">
            <a:avLst/>
          </a:prstGeom>
          <a:noFill/>
        </p:spPr>
        <p:txBody>
          <a:bodyPr wrap="square">
            <a:spAutoFit/>
          </a:bodyPr>
          <a:lstStyle/>
          <a:p>
            <a:pPr algn="l"/>
            <a:r>
              <a:rPr sz="1100" b="0" i="1">
                <a:solidFill>
                  <a:srgbClr val="6B747D"/>
                </a:solidFill>
                <a:latin typeface="Calibri"/>
              </a:rPr>
              <a:t>Reference only — the Lesson 1 deck carries the explanations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Assignment debrief — the next 12 minutes</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353312"/>
            <a:ext cx="11091672" cy="621792"/>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800" b="1" i="0">
                <a:solidFill>
                  <a:srgbClr val="FFFFFF"/>
                </a:solidFill>
                <a:latin typeface="Cambria"/>
              </a:rPr>
              <a:t>2–3 volunteers  ·  4 minutes each, questions included  ·  screen-shared from your own Gemini</a:t>
            </a:r>
          </a:p>
        </p:txBody>
      </p:sp>
      <p:sp>
        <p:nvSpPr>
          <p:cNvPr id="6" name="TextBox 5"/>
          <p:cNvSpPr txBox="1"/>
          <p:nvPr/>
        </p:nvSpPr>
        <p:spPr>
          <a:xfrm>
            <a:off x="548640" y="2029968"/>
            <a:ext cx="11091672" cy="365760"/>
          </a:xfrm>
          <a:prstGeom prst="rect">
            <a:avLst/>
          </a:prstGeom>
          <a:noFill/>
        </p:spPr>
        <p:txBody>
          <a:bodyPr wrap="square">
            <a:spAutoFit/>
          </a:bodyPr>
          <a:lstStyle/>
          <a:p>
            <a:pPr algn="l"/>
            <a:r>
              <a:rPr sz="1300" b="0" i="0">
                <a:solidFill>
                  <a:srgbClr val="6B747D"/>
                </a:solidFill>
                <a:latin typeface="Calibri"/>
              </a:rPr>
              <a:t>Shown in this order — the four items of the Lesson 1 assignment, one facilitator question each</a:t>
            </a:r>
          </a:p>
        </p:txBody>
      </p:sp>
      <p:sp>
        <p:nvSpPr>
          <p:cNvPr id="7" name="Rectangle 6"/>
          <p:cNvSpPr/>
          <p:nvPr/>
        </p:nvSpPr>
        <p:spPr>
          <a:xfrm>
            <a:off x="548640" y="2395728"/>
            <a:ext cx="457200" cy="4572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i="0">
                <a:solidFill>
                  <a:srgbClr val="FFFFFF"/>
                </a:solidFill>
                <a:latin typeface="Cambria"/>
              </a:rPr>
              <a:t>1</a:t>
            </a:r>
          </a:p>
        </p:txBody>
      </p:sp>
      <p:sp>
        <p:nvSpPr>
          <p:cNvPr id="8" name="Rectangle 7"/>
          <p:cNvSpPr/>
          <p:nvPr/>
        </p:nvSpPr>
        <p:spPr>
          <a:xfrm>
            <a:off x="548640" y="2962656"/>
            <a:ext cx="2606040" cy="20116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37744" rIns="228600" rtlCol="0" anchor="t"/>
          <a:lstStyle/>
          <a:p>
            <a:pPr algn="l"/>
            <a:r>
              <a:rPr sz="1800" b="1" i="0">
                <a:solidFill>
                  <a:srgbClr val="1C242B"/>
                </a:solidFill>
                <a:latin typeface="Cambria"/>
              </a:rPr>
              <a:t>Anchor Project description</a:t>
            </a:r>
          </a:p>
          <a:p>
            <a:pPr algn="l">
              <a:spcBef>
                <a:spcPts val="400"/>
              </a:spcBef>
            </a:pPr>
            <a:r>
              <a:rPr sz="1400" b="0" i="0">
                <a:solidFill>
                  <a:srgbClr val="2A333B"/>
                </a:solidFill>
                <a:latin typeface="Calibri"/>
              </a:rPr>
              <a:t>five sentences</a:t>
            </a:r>
          </a:p>
          <a:p>
            <a:pPr>
              <a:spcBef>
                <a:spcPts val="1000"/>
              </a:spcBef>
            </a:pPr>
            <a:r>
              <a:rPr sz="1200" b="0" i="1">
                <a:solidFill>
                  <a:srgbClr val="3E4C59"/>
                </a:solidFill>
                <a:latin typeface="Calibri"/>
              </a:rPr>
              <a:t>“What did you anonymise or invent?”</a:t>
            </a:r>
          </a:p>
        </p:txBody>
      </p:sp>
      <p:sp>
        <p:nvSpPr>
          <p:cNvPr id="9" name="Rectangle 8"/>
          <p:cNvSpPr/>
          <p:nvPr/>
        </p:nvSpPr>
        <p:spPr>
          <a:xfrm>
            <a:off x="548640" y="2962656"/>
            <a:ext cx="82296" cy="20116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74136" y="2395728"/>
            <a:ext cx="457200" cy="4572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i="0">
                <a:solidFill>
                  <a:srgbClr val="FFFFFF"/>
                </a:solidFill>
                <a:latin typeface="Cambria"/>
              </a:rPr>
              <a:t>2</a:t>
            </a:r>
          </a:p>
        </p:txBody>
      </p:sp>
      <p:sp>
        <p:nvSpPr>
          <p:cNvPr id="11" name="Rectangle 10"/>
          <p:cNvSpPr/>
          <p:nvPr/>
        </p:nvSpPr>
        <p:spPr>
          <a:xfrm>
            <a:off x="3374136" y="2962656"/>
            <a:ext cx="2606040" cy="20116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37744" rIns="228600" rtlCol="0" anchor="t"/>
          <a:lstStyle/>
          <a:p>
            <a:pPr algn="l"/>
            <a:r>
              <a:rPr sz="1800" b="1" i="0">
                <a:solidFill>
                  <a:srgbClr val="1C242B"/>
                </a:solidFill>
                <a:latin typeface="Cambria"/>
              </a:rPr>
              <a:t>One of the three ICC prompts</a:t>
            </a:r>
          </a:p>
          <a:p>
            <a:pPr algn="l">
              <a:spcBef>
                <a:spcPts val="400"/>
              </a:spcBef>
            </a:pPr>
            <a:r>
              <a:rPr sz="1400" b="0" i="0">
                <a:solidFill>
                  <a:srgbClr val="2A333B"/>
                </a:solidFill>
                <a:latin typeface="Calibri"/>
              </a:rPr>
              <a:t>with the one-sentence “what I'd improve”</a:t>
            </a:r>
          </a:p>
          <a:p>
            <a:pPr>
              <a:spcBef>
                <a:spcPts val="1000"/>
              </a:spcBef>
            </a:pPr>
            <a:r>
              <a:rPr sz="1200" b="0" i="1">
                <a:solidFill>
                  <a:srgbClr val="3E4C59"/>
                </a:solidFill>
                <a:latin typeface="Calibri"/>
              </a:rPr>
              <a:t>“Which pattern did it use, if any?”</a:t>
            </a:r>
          </a:p>
        </p:txBody>
      </p:sp>
      <p:sp>
        <p:nvSpPr>
          <p:cNvPr id="12" name="Rectangle 11"/>
          <p:cNvSpPr/>
          <p:nvPr/>
        </p:nvSpPr>
        <p:spPr>
          <a:xfrm>
            <a:off x="3374136" y="2962656"/>
            <a:ext cx="82296" cy="20116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9631" y="2395728"/>
            <a:ext cx="457200" cy="4572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i="0">
                <a:solidFill>
                  <a:srgbClr val="FFFFFF"/>
                </a:solidFill>
                <a:latin typeface="Cambria"/>
              </a:rPr>
              <a:t>3</a:t>
            </a:r>
          </a:p>
        </p:txBody>
      </p:sp>
      <p:sp>
        <p:nvSpPr>
          <p:cNvPr id="14" name="Rectangle 13"/>
          <p:cNvSpPr/>
          <p:nvPr/>
        </p:nvSpPr>
        <p:spPr>
          <a:xfrm>
            <a:off x="6199631" y="2962656"/>
            <a:ext cx="2606040" cy="20116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37744" rIns="228600" rtlCol="0" anchor="t"/>
          <a:lstStyle/>
          <a:p>
            <a:pPr algn="l"/>
            <a:r>
              <a:rPr sz="1800" b="1" i="0">
                <a:solidFill>
                  <a:srgbClr val="1C242B"/>
                </a:solidFill>
                <a:latin typeface="Cambria"/>
              </a:rPr>
              <a:t>Ask-me-first result</a:t>
            </a:r>
          </a:p>
          <a:p>
            <a:pPr algn="l">
              <a:spcBef>
                <a:spcPts val="400"/>
              </a:spcBef>
            </a:pPr>
            <a:r>
              <a:rPr sz="1400" b="0" i="0">
                <a:solidFill>
                  <a:srgbClr val="2A333B"/>
                </a:solidFill>
                <a:latin typeface="Calibri"/>
              </a:rPr>
              <a:t>what the model asked back</a:t>
            </a:r>
          </a:p>
          <a:p>
            <a:pPr>
              <a:spcBef>
                <a:spcPts val="1000"/>
              </a:spcBef>
            </a:pPr>
            <a:r>
              <a:rPr sz="1200" b="0" i="1">
                <a:solidFill>
                  <a:srgbClr val="3E4C59"/>
                </a:solidFill>
                <a:latin typeface="Calibri"/>
              </a:rPr>
              <a:t>“Were the questions useful?”</a:t>
            </a:r>
          </a:p>
        </p:txBody>
      </p:sp>
      <p:sp>
        <p:nvSpPr>
          <p:cNvPr id="15" name="Rectangle 14"/>
          <p:cNvSpPr/>
          <p:nvPr/>
        </p:nvSpPr>
        <p:spPr>
          <a:xfrm>
            <a:off x="6199631" y="2962656"/>
            <a:ext cx="82296" cy="20116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025128" y="2395728"/>
            <a:ext cx="457200" cy="4572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1" i="0">
                <a:solidFill>
                  <a:srgbClr val="FFFFFF"/>
                </a:solidFill>
                <a:latin typeface="Cambria"/>
              </a:rPr>
              <a:t>4</a:t>
            </a:r>
          </a:p>
        </p:txBody>
      </p:sp>
      <p:sp>
        <p:nvSpPr>
          <p:cNvPr id="17" name="Rectangle 16"/>
          <p:cNvSpPr/>
          <p:nvPr/>
        </p:nvSpPr>
        <p:spPr>
          <a:xfrm>
            <a:off x="9025128" y="2962656"/>
            <a:ext cx="2606040" cy="20116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37744" rIns="228600" rtlCol="0" anchor="t"/>
          <a:lstStyle/>
          <a:p>
            <a:pPr algn="l"/>
            <a:r>
              <a:rPr sz="1800" b="1" i="0">
                <a:solidFill>
                  <a:srgbClr val="1C242B"/>
                </a:solidFill>
                <a:latin typeface="Cambria"/>
              </a:rPr>
              <a:t>The meta-prompt</a:t>
            </a:r>
          </a:p>
          <a:p>
            <a:pPr algn="l">
              <a:spcBef>
                <a:spcPts val="400"/>
              </a:spcBef>
            </a:pPr>
            <a:r>
              <a:rPr sz="1400" b="0" i="0">
                <a:solidFill>
                  <a:srgbClr val="2A333B"/>
                </a:solidFill>
                <a:latin typeface="Calibri"/>
              </a:rPr>
              <a:t>the generated prompt</a:t>
            </a:r>
          </a:p>
          <a:p>
            <a:pPr>
              <a:spcBef>
                <a:spcPts val="1000"/>
              </a:spcBef>
            </a:pPr>
            <a:r>
              <a:rPr sz="1200" b="0" i="1">
                <a:solidFill>
                  <a:srgbClr val="3E4C59"/>
                </a:solidFill>
                <a:latin typeface="Calibri"/>
              </a:rPr>
              <a:t>“Did it beat the naive attempt?”</a:t>
            </a:r>
          </a:p>
        </p:txBody>
      </p:sp>
      <p:sp>
        <p:nvSpPr>
          <p:cNvPr id="18" name="Rectangle 17"/>
          <p:cNvSpPr/>
          <p:nvPr/>
        </p:nvSpPr>
        <p:spPr>
          <a:xfrm>
            <a:off x="9025128" y="2962656"/>
            <a:ext cx="82296" cy="20116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 y="5257800"/>
            <a:ext cx="11091672" cy="59436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500" b="1" i="0">
                <a:solidFill>
                  <a:srgbClr val="FFFFFF"/>
                </a:solidFill>
                <a:latin typeface="Cambria"/>
              </a:rPr>
              <a:t>You get a time check in the chat at 3 minutes  ·  we cut at 4  ·  didn't finish the assignment? Practice Week 1 is the venue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Common problems — captured live</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One line per problem, typed in as it comes up, filed under the item it belongs to</a:t>
            </a:r>
          </a:p>
        </p:txBody>
      </p:sp>
      <p:sp>
        <p:nvSpPr>
          <p:cNvPr id="6" name="Rectangle 5"/>
          <p:cNvSpPr/>
          <p:nvPr/>
        </p:nvSpPr>
        <p:spPr>
          <a:xfrm>
            <a:off x="548640" y="1783080"/>
            <a:ext cx="1920240"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i="0">
                <a:solidFill>
                  <a:srgbClr val="FFFFFF"/>
                </a:solidFill>
                <a:latin typeface="Cambria"/>
              </a:rPr>
              <a:t>Anchor Project</a:t>
            </a:r>
          </a:p>
        </p:txBody>
      </p:sp>
      <p:sp>
        <p:nvSpPr>
          <p:cNvPr id="7" name="Rectangle 6"/>
          <p:cNvSpPr/>
          <p:nvPr/>
        </p:nvSpPr>
        <p:spPr>
          <a:xfrm>
            <a:off x="2606040" y="1783080"/>
            <a:ext cx="9034272" cy="65836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endParaRPr/>
          </a:p>
        </p:txBody>
      </p:sp>
      <p:sp>
        <p:nvSpPr>
          <p:cNvPr id="8" name="Rectangle 7"/>
          <p:cNvSpPr/>
          <p:nvPr/>
        </p:nvSpPr>
        <p:spPr>
          <a:xfrm>
            <a:off x="548640" y="2624328"/>
            <a:ext cx="1920240"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i="0">
                <a:solidFill>
                  <a:srgbClr val="FFFFFF"/>
                </a:solidFill>
                <a:latin typeface="Cambria"/>
              </a:rPr>
              <a:t>ICC</a:t>
            </a:r>
          </a:p>
        </p:txBody>
      </p:sp>
      <p:sp>
        <p:nvSpPr>
          <p:cNvPr id="9" name="Rectangle 8"/>
          <p:cNvSpPr/>
          <p:nvPr/>
        </p:nvSpPr>
        <p:spPr>
          <a:xfrm>
            <a:off x="2606040" y="2624328"/>
            <a:ext cx="9034272" cy="65836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endParaRPr/>
          </a:p>
        </p:txBody>
      </p:sp>
      <p:sp>
        <p:nvSpPr>
          <p:cNvPr id="10" name="Rectangle 9"/>
          <p:cNvSpPr/>
          <p:nvPr/>
        </p:nvSpPr>
        <p:spPr>
          <a:xfrm>
            <a:off x="548640" y="3465576"/>
            <a:ext cx="1920240"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i="0">
                <a:solidFill>
                  <a:srgbClr val="FFFFFF"/>
                </a:solidFill>
                <a:latin typeface="Cambria"/>
              </a:rPr>
              <a:t>Ask-me-first</a:t>
            </a:r>
          </a:p>
        </p:txBody>
      </p:sp>
      <p:sp>
        <p:nvSpPr>
          <p:cNvPr id="11" name="Rectangle 10"/>
          <p:cNvSpPr/>
          <p:nvPr/>
        </p:nvSpPr>
        <p:spPr>
          <a:xfrm>
            <a:off x="2606040" y="3465576"/>
            <a:ext cx="9034272" cy="65836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endParaRPr/>
          </a:p>
        </p:txBody>
      </p:sp>
      <p:sp>
        <p:nvSpPr>
          <p:cNvPr id="12" name="Rectangle 11"/>
          <p:cNvSpPr/>
          <p:nvPr/>
        </p:nvSpPr>
        <p:spPr>
          <a:xfrm>
            <a:off x="548640" y="4306824"/>
            <a:ext cx="1920240"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i="0">
                <a:solidFill>
                  <a:srgbClr val="FFFFFF"/>
                </a:solidFill>
                <a:latin typeface="Cambria"/>
              </a:rPr>
              <a:t>Meta-prompt</a:t>
            </a:r>
          </a:p>
        </p:txBody>
      </p:sp>
      <p:sp>
        <p:nvSpPr>
          <p:cNvPr id="13" name="Rectangle 12"/>
          <p:cNvSpPr/>
          <p:nvPr/>
        </p:nvSpPr>
        <p:spPr>
          <a:xfrm>
            <a:off x="2606040" y="4306824"/>
            <a:ext cx="9034272" cy="65836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endParaRPr/>
          </a:p>
        </p:txBody>
      </p:sp>
      <p:sp>
        <p:nvSpPr>
          <p:cNvPr id="14" name="Rectangle 13"/>
          <p:cNvSpPr/>
          <p:nvPr/>
        </p:nvSpPr>
        <p:spPr>
          <a:xfrm>
            <a:off x="548640" y="5230368"/>
            <a:ext cx="11091672" cy="9601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400" b="1" i="0">
                <a:solidFill>
                  <a:srgbClr val="1C242B"/>
                </a:solidFill>
                <a:latin typeface="Cambria"/>
              </a:rPr>
              <a:t>After the last volunteer — read the list back, 30 seconds:</a:t>
            </a:r>
          </a:p>
          <a:p>
            <a:pPr>
              <a:spcBef>
                <a:spcPts val="400"/>
              </a:spcBef>
            </a:pPr>
            <a:r>
              <a:rPr sz="1300" b="0" i="0">
                <a:solidFill>
                  <a:srgbClr val="2A333B"/>
                </a:solidFill>
                <a:latin typeface="Calibri"/>
              </a:rPr>
              <a:t>Routing questions → Segment 2  ·  “the answer was wrong” → verification in Segment 2 and Prompt Coach in Segment 3  ·  “the chat lost track” → Gems in Segment 4  ·  everything else → Practice Week 1</a:t>
            </a:r>
          </a:p>
        </p:txBody>
      </p:sp>
      <p:sp>
        <p:nvSpPr>
          <p:cNvPr id="15" name="Rectangle 14"/>
          <p:cNvSpPr/>
          <p:nvPr/>
        </p:nvSpPr>
        <p:spPr>
          <a:xfrm>
            <a:off x="548640" y="5230368"/>
            <a:ext cx="82296" cy="960120"/>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926080" cy="63550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2</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The sensitive-data rule and data-protection principles</a:t>
            </a:r>
          </a:p>
        </p:txBody>
      </p:sp>
      <p:sp>
        <p:nvSpPr>
          <p:cNvPr id="4" name="Rectangle 3"/>
          <p:cNvSpPr/>
          <p:nvPr/>
        </p:nvSpPr>
        <p:spPr>
          <a:xfrm>
            <a:off x="3474720" y="3401568"/>
            <a:ext cx="1097280" cy="3175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3E4C59"/>
                </a:solidFill>
                <a:latin typeface="Calibri"/>
              </a:rPr>
              <a:t>10 min · Presentation</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2 of 5</a:t>
            </a:r>
          </a:p>
        </p:txBody>
      </p:sp>
      <p:sp>
        <p:nvSpPr>
          <p:cNvPr id="7" name="Rectangle 6"/>
          <p:cNvSpPr/>
          <p:nvPr/>
        </p:nvSpPr>
        <p:spPr>
          <a:xfrm>
            <a:off x="34747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60520" y="5989320"/>
            <a:ext cx="502920" cy="7315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8463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321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two-lane rule: one routing question</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207008"/>
            <a:ext cx="11091672" cy="713232"/>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000" b="1" i="0">
                <a:solidFill>
                  <a:srgbClr val="FFFFFF"/>
                </a:solidFill>
                <a:latin typeface="Cambria"/>
              </a:rPr>
              <a:t>Does the task involve sensitive or IP-sensitive institutional data?</a:t>
            </a:r>
          </a:p>
          <a:p>
            <a:pPr algn="ctr">
              <a:spcBef>
                <a:spcPts val="600"/>
              </a:spcBef>
            </a:pPr>
            <a:r>
              <a:rPr sz="1300" b="0" i="0">
                <a:solidFill>
                  <a:srgbClr val="FFFFFF"/>
                </a:solidFill>
                <a:latin typeface="Calibri"/>
              </a:rPr>
              <a:t>Answered before any prompt is written — per task, not per person and not per day</a:t>
            </a:r>
          </a:p>
        </p:txBody>
      </p:sp>
      <p:sp>
        <p:nvSpPr>
          <p:cNvPr id="6" name="Rectangle 5"/>
          <p:cNvSpPr/>
          <p:nvPr/>
        </p:nvSpPr>
        <p:spPr>
          <a:xfrm>
            <a:off x="548640" y="1993392"/>
            <a:ext cx="5440680" cy="6766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Cambria"/>
              </a:rPr>
              <a:t>YES  →  Sensitive Lane</a:t>
            </a:r>
          </a:p>
          <a:p>
            <a:pPr algn="ctr">
              <a:spcBef>
                <a:spcPts val="400"/>
              </a:spcBef>
            </a:pPr>
            <a:r>
              <a:rPr sz="1400" b="0" i="0">
                <a:solidFill>
                  <a:srgbClr val="FFFFFF"/>
                </a:solidFill>
                <a:latin typeface="Calibri"/>
              </a:rPr>
              <a:t>Copilot Chat (Basic), institutional account</a:t>
            </a:r>
          </a:p>
        </p:txBody>
      </p:sp>
      <p:sp>
        <p:nvSpPr>
          <p:cNvPr id="7" name="Rectangle 6"/>
          <p:cNvSpPr/>
          <p:nvPr/>
        </p:nvSpPr>
        <p:spPr>
          <a:xfrm>
            <a:off x="548640" y="2761488"/>
            <a:ext cx="5440680" cy="1572768"/>
          </a:xfrm>
          <a:prstGeom prst="rect">
            <a:avLst/>
          </a:prstGeom>
          <a:solidFill>
            <a:srgbClr val="DFF1E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46304" rIns="228600" rtlCol="0" anchor="t"/>
          <a:lstStyle/>
          <a:p>
            <a:pPr algn="l"/>
            <a:r>
              <a:rPr sz="1800" b="1" i="0">
                <a:solidFill>
                  <a:srgbClr val="1C242B"/>
                </a:solidFill>
                <a:latin typeface="Cambria"/>
              </a:rPr>
              <a:t>What goes here</a:t>
            </a:r>
          </a:p>
          <a:p>
            <a:pPr>
              <a:spcBef>
                <a:spcPts val="500"/>
              </a:spcBef>
            </a:pPr>
            <a:r>
              <a:rPr sz="1300" b="0" i="0">
                <a:solidFill>
                  <a:srgbClr val="2A333B"/>
                </a:solidFill>
                <a:latin typeface="Calibri"/>
              </a:rPr>
              <a:t>·  Internal administration</a:t>
            </a:r>
          </a:p>
          <a:p>
            <a:pPr>
              <a:spcBef>
                <a:spcPts val="500"/>
              </a:spcBef>
            </a:pPr>
            <a:r>
              <a:rPr sz="1300" b="0" i="0">
                <a:solidFill>
                  <a:srgbClr val="2A333B"/>
                </a:solidFill>
                <a:latin typeface="Calibri"/>
              </a:rPr>
              <a:t>·  Unsubmitted grant proposals</a:t>
            </a:r>
          </a:p>
          <a:p>
            <a:pPr>
              <a:spcBef>
                <a:spcPts val="500"/>
              </a:spcBef>
            </a:pPr>
            <a:r>
              <a:rPr sz="1300" b="0" i="0">
                <a:solidFill>
                  <a:srgbClr val="2A333B"/>
                </a:solidFill>
                <a:latin typeface="Calibri"/>
              </a:rPr>
              <a:t>·  Personnel information</a:t>
            </a:r>
          </a:p>
          <a:p>
            <a:pPr>
              <a:spcBef>
                <a:spcPts val="500"/>
              </a:spcBef>
            </a:pPr>
            <a:r>
              <a:rPr sz="1300" b="0" i="0">
                <a:solidFill>
                  <a:srgbClr val="2A333B"/>
                </a:solidFill>
                <a:latin typeface="Calibri"/>
              </a:rPr>
              <a:t>·  Strategic financial planning</a:t>
            </a:r>
          </a:p>
        </p:txBody>
      </p:sp>
      <p:sp>
        <p:nvSpPr>
          <p:cNvPr id="8" name="Rectangle 7"/>
          <p:cNvSpPr/>
          <p:nvPr/>
        </p:nvSpPr>
        <p:spPr>
          <a:xfrm>
            <a:off x="548640" y="2761488"/>
            <a:ext cx="82296" cy="157276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9632" y="1993392"/>
            <a:ext cx="5440680" cy="6766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Cambria"/>
              </a:rPr>
              <a:t>NO  →  Daily Driver</a:t>
            </a:r>
          </a:p>
          <a:p>
            <a:pPr algn="ctr">
              <a:spcBef>
                <a:spcPts val="400"/>
              </a:spcBef>
            </a:pPr>
            <a:r>
              <a:rPr sz="1400" b="0" i="0">
                <a:solidFill>
                  <a:srgbClr val="FFFFFF"/>
                </a:solidFill>
                <a:latin typeface="Calibri"/>
              </a:rPr>
              <a:t>Google Gemini (free tier)</a:t>
            </a:r>
          </a:p>
        </p:txBody>
      </p:sp>
      <p:sp>
        <p:nvSpPr>
          <p:cNvPr id="10" name="Rectangle 9"/>
          <p:cNvSpPr/>
          <p:nvPr/>
        </p:nvSpPr>
        <p:spPr>
          <a:xfrm>
            <a:off x="6199632" y="2761488"/>
            <a:ext cx="5440680" cy="1572768"/>
          </a:xfrm>
          <a:prstGeom prst="rect">
            <a:avLst/>
          </a:prstGeom>
          <a:solidFill>
            <a:srgbClr val="EBE6F7"/>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46304" rIns="228600" rtlCol="0" anchor="t"/>
          <a:lstStyle/>
          <a:p>
            <a:pPr algn="l"/>
            <a:r>
              <a:rPr sz="1800" b="1" i="0">
                <a:solidFill>
                  <a:srgbClr val="1C242B"/>
                </a:solidFill>
                <a:latin typeface="Cambria"/>
              </a:rPr>
              <a:t>What goes here</a:t>
            </a:r>
          </a:p>
          <a:p>
            <a:pPr>
              <a:spcBef>
                <a:spcPts val="500"/>
              </a:spcBef>
            </a:pPr>
            <a:r>
              <a:rPr sz="1300" b="0" i="0">
                <a:solidFill>
                  <a:srgbClr val="2A333B"/>
                </a:solidFill>
                <a:latin typeface="Calibri"/>
              </a:rPr>
              <a:t>·  Drafting</a:t>
            </a:r>
          </a:p>
          <a:p>
            <a:pPr>
              <a:spcBef>
                <a:spcPts val="500"/>
              </a:spcBef>
            </a:pPr>
            <a:r>
              <a:rPr sz="1300" b="0" i="0">
                <a:solidFill>
                  <a:srgbClr val="2A333B"/>
                </a:solidFill>
                <a:latin typeface="Calibri"/>
              </a:rPr>
              <a:t>·  Prompting exercises</a:t>
            </a:r>
          </a:p>
          <a:p>
            <a:pPr>
              <a:spcBef>
                <a:spcPts val="500"/>
              </a:spcBef>
            </a:pPr>
            <a:r>
              <a:rPr sz="1300" b="0" i="0">
                <a:solidFill>
                  <a:srgbClr val="2A333B"/>
                </a:solidFill>
                <a:latin typeface="Calibri"/>
              </a:rPr>
              <a:t>·  Long-document analysis</a:t>
            </a:r>
          </a:p>
          <a:p>
            <a:pPr>
              <a:spcBef>
                <a:spcPts val="500"/>
              </a:spcBef>
            </a:pPr>
            <a:r>
              <a:rPr sz="1300" b="0" i="0">
                <a:solidFill>
                  <a:srgbClr val="2A333B"/>
                </a:solidFill>
                <a:latin typeface="Calibri"/>
              </a:rPr>
              <a:t>·  General research management work</a:t>
            </a:r>
          </a:p>
        </p:txBody>
      </p:sp>
      <p:sp>
        <p:nvSpPr>
          <p:cNvPr id="11" name="Rectangle 10"/>
          <p:cNvSpPr/>
          <p:nvPr/>
        </p:nvSpPr>
        <p:spPr>
          <a:xfrm>
            <a:off x="6199632" y="2761488"/>
            <a:ext cx="82296" cy="157276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370832"/>
            <a:ext cx="11091672" cy="365760"/>
          </a:xfrm>
          <a:prstGeom prst="rect">
            <a:avLst/>
          </a:prstGeom>
          <a:noFill/>
        </p:spPr>
        <p:txBody>
          <a:bodyPr wrap="square">
            <a:spAutoFit/>
          </a:bodyPr>
          <a:lstStyle/>
          <a:p>
            <a:pPr algn="l"/>
            <a:r>
              <a:rPr sz="1100" b="0" i="0">
                <a:solidFill>
                  <a:srgbClr val="6B747D"/>
                </a:solidFill>
                <a:latin typeface="Calibri"/>
              </a:rPr>
              <a:t>Three tasks, routed</a:t>
            </a:r>
          </a:p>
        </p:txBody>
      </p:sp>
      <p:sp>
        <p:nvSpPr>
          <p:cNvPr id="13" name="Rectangle 12"/>
          <p:cNvSpPr/>
          <p:nvPr/>
        </p:nvSpPr>
        <p:spPr>
          <a:xfrm>
            <a:off x="548640" y="4590288"/>
            <a:ext cx="11091672" cy="4389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300" b="0" i="0">
                <a:solidFill>
                  <a:srgbClr val="2A333B"/>
                </a:solidFill>
                <a:latin typeface="Calibri"/>
              </a:rPr>
              <a:t>“Summarise the partner feedback on our unsubmitted Cluster 4 proposal”</a:t>
            </a:r>
            <a:r>
              <a:rPr sz="1300" b="1" i="0">
                <a:solidFill>
                  <a:srgbClr val="0E7C7B"/>
                </a:solidFill>
                <a:latin typeface="Calibri"/>
              </a:rPr>
              <a:t>   →  Sensitive Lane (unsubmitted proposal)</a:t>
            </a:r>
          </a:p>
        </p:txBody>
      </p:sp>
      <p:sp>
        <p:nvSpPr>
          <p:cNvPr id="14" name="Rectangle 13"/>
          <p:cNvSpPr/>
          <p:nvPr/>
        </p:nvSpPr>
        <p:spPr>
          <a:xfrm>
            <a:off x="548640" y="4590288"/>
            <a:ext cx="82296" cy="43891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074920"/>
            <a:ext cx="11091672" cy="4389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300" b="0" i="0">
                <a:solidFill>
                  <a:srgbClr val="2A333B"/>
                </a:solidFill>
                <a:latin typeface="Calibri"/>
              </a:rPr>
              <a:t>“Explain the eligible cost categories in Horizon Europe”</a:t>
            </a:r>
            <a:r>
              <a:rPr sz="1300" b="1" i="0">
                <a:solidFill>
                  <a:srgbClr val="6A4CBC"/>
                </a:solidFill>
                <a:latin typeface="Calibri"/>
              </a:rPr>
              <a:t>   →  Daily Driver (public knowledge)</a:t>
            </a:r>
          </a:p>
        </p:txBody>
      </p:sp>
      <p:sp>
        <p:nvSpPr>
          <p:cNvPr id="16" name="Rectangle 15"/>
          <p:cNvSpPr/>
          <p:nvPr/>
        </p:nvSpPr>
        <p:spPr>
          <a:xfrm>
            <a:off x="548640" y="5074920"/>
            <a:ext cx="82296" cy="43891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5559552"/>
            <a:ext cx="11091672" cy="4389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300" b="0" i="0">
                <a:solidFill>
                  <a:srgbClr val="2A333B"/>
                </a:solidFill>
                <a:latin typeface="Calibri"/>
              </a:rPr>
              <a:t>“Draft a workload plan for the three administrators in my unit”</a:t>
            </a:r>
            <a:r>
              <a:rPr sz="1300" b="1" i="0">
                <a:solidFill>
                  <a:srgbClr val="0E7C7B"/>
                </a:solidFill>
                <a:latin typeface="Calibri"/>
              </a:rPr>
              <a:t>   →  Sensitive Lane (personnel information)</a:t>
            </a:r>
          </a:p>
        </p:txBody>
      </p:sp>
      <p:sp>
        <p:nvSpPr>
          <p:cNvPr id="18" name="Rectangle 17"/>
          <p:cNvSpPr/>
          <p:nvPr/>
        </p:nvSpPr>
        <p:spPr>
          <a:xfrm>
            <a:off x="548640" y="5559552"/>
            <a:ext cx="82296" cy="43891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6053328"/>
            <a:ext cx="11091672" cy="365760"/>
          </a:xfrm>
          <a:prstGeom prst="rect">
            <a:avLst/>
          </a:prstGeom>
          <a:noFill/>
        </p:spPr>
        <p:txBody>
          <a:bodyPr wrap="square">
            <a:spAutoFit/>
          </a:bodyPr>
          <a:lstStyle/>
          <a:p>
            <a:pPr algn="l"/>
            <a:r>
              <a:rPr sz="1100" b="0" i="1">
                <a:solidFill>
                  <a:srgbClr val="6B747D"/>
                </a:solidFill>
                <a:latin typeface="Calibri"/>
              </a:rPr>
              <a:t>The Sensitive Lane is the only place authorised for sensitive data — and never the place for general work the free tier does better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AI data safety and ethical use — the framework</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70432"/>
            <a:ext cx="11091672" cy="365760"/>
          </a:xfrm>
          <a:prstGeom prst="rect">
            <a:avLst/>
          </a:prstGeom>
          <a:noFill/>
        </p:spPr>
        <p:txBody>
          <a:bodyPr wrap="square">
            <a:spAutoFit/>
          </a:bodyPr>
          <a:lstStyle/>
          <a:p>
            <a:pPr algn="l"/>
            <a:r>
              <a:rPr sz="1300" b="0" i="0">
                <a:solidFill>
                  <a:srgbClr val="2A333B"/>
                </a:solidFill>
                <a:latin typeface="Calibri"/>
              </a:rPr>
              <a:t>Protecting sensitive information, preventing algorithmic bias, and keeping human control over automated systems. As AI scales, balancing rapid innovation against robust risk management stops being an aspiration and becomes an operational requirement.  [1–3]</a:t>
            </a:r>
          </a:p>
        </p:txBody>
      </p:sp>
      <p:sp>
        <p:nvSpPr>
          <p:cNvPr id="6" name="Rectangle 5"/>
          <p:cNvSpPr/>
          <p:nvPr/>
        </p:nvSpPr>
        <p:spPr>
          <a:xfrm>
            <a:off x="548640" y="1719072"/>
            <a:ext cx="11091672" cy="42062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500" b="1" i="0">
                <a:solidFill>
                  <a:srgbClr val="FFFFFF"/>
                </a:solidFill>
                <a:latin typeface="Cambria"/>
              </a:rPr>
              <a:t>PILLARS OF TRUSTWORTHY AI</a:t>
            </a:r>
          </a:p>
        </p:txBody>
      </p:sp>
      <p:sp>
        <p:nvSpPr>
          <p:cNvPr id="7" name="Rectangle 6"/>
          <p:cNvSpPr/>
          <p:nvPr/>
        </p:nvSpPr>
        <p:spPr>
          <a:xfrm>
            <a:off x="548640" y="2212848"/>
            <a:ext cx="267690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Data governance</a:t>
            </a:r>
          </a:p>
          <a:p>
            <a:pPr>
              <a:spcBef>
                <a:spcPts val="300"/>
              </a:spcBef>
            </a:pPr>
            <a:r>
              <a:rPr sz="1100" b="0" i="0">
                <a:solidFill>
                  <a:srgbClr val="2A333B"/>
                </a:solidFill>
                <a:latin typeface="Calibri"/>
              </a:rPr>
              <a:t>What may be collected, where it is allowed to travel, and who is accountable for it</a:t>
            </a:r>
          </a:p>
        </p:txBody>
      </p:sp>
      <p:sp>
        <p:nvSpPr>
          <p:cNvPr id="8" name="Rectangle 7"/>
          <p:cNvSpPr/>
          <p:nvPr/>
        </p:nvSpPr>
        <p:spPr>
          <a:xfrm>
            <a:off x="548640" y="2212848"/>
            <a:ext cx="82296" cy="113385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353562" y="2212848"/>
            <a:ext cx="267690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Algorithmic fairness</a:t>
            </a:r>
          </a:p>
          <a:p>
            <a:pPr>
              <a:spcBef>
                <a:spcPts val="300"/>
              </a:spcBef>
            </a:pPr>
            <a:r>
              <a:rPr sz="1100" b="0" i="0">
                <a:solidFill>
                  <a:srgbClr val="2A333B"/>
                </a:solidFill>
                <a:latin typeface="Calibri"/>
              </a:rPr>
              <a:t>Training and outputs actively filtered for systemic bias</a:t>
            </a:r>
          </a:p>
        </p:txBody>
      </p:sp>
      <p:sp>
        <p:nvSpPr>
          <p:cNvPr id="10" name="Rectangle 9"/>
          <p:cNvSpPr/>
          <p:nvPr/>
        </p:nvSpPr>
        <p:spPr>
          <a:xfrm>
            <a:off x="3353562" y="2212848"/>
            <a:ext cx="82296" cy="113385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58483" y="2212848"/>
            <a:ext cx="267690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Transparency &amp; explainability</a:t>
            </a:r>
          </a:p>
          <a:p>
            <a:pPr>
              <a:spcBef>
                <a:spcPts val="300"/>
              </a:spcBef>
            </a:pPr>
            <a:r>
              <a:rPr sz="1100" b="0" i="0">
                <a:solidFill>
                  <a:srgbClr val="2A333B"/>
                </a:solidFill>
                <a:latin typeface="Calibri"/>
              </a:rPr>
              <a:t>What data was used, and how a given automated decision was reached</a:t>
            </a:r>
          </a:p>
        </p:txBody>
      </p:sp>
      <p:sp>
        <p:nvSpPr>
          <p:cNvPr id="12" name="Rectangle 11"/>
          <p:cNvSpPr/>
          <p:nvPr/>
        </p:nvSpPr>
        <p:spPr>
          <a:xfrm>
            <a:off x="6158483" y="2212848"/>
            <a:ext cx="82296" cy="113385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963405" y="2212848"/>
            <a:ext cx="267690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Human control</a:t>
            </a:r>
          </a:p>
          <a:p>
            <a:pPr>
              <a:spcBef>
                <a:spcPts val="300"/>
              </a:spcBef>
            </a:pPr>
            <a:r>
              <a:rPr sz="1100" b="0" i="0">
                <a:solidFill>
                  <a:srgbClr val="2A333B"/>
                </a:solidFill>
                <a:latin typeface="Calibri"/>
              </a:rPr>
              <a:t>Automated systems supplement human judgement; they never take over the responsibility</a:t>
            </a:r>
          </a:p>
        </p:txBody>
      </p:sp>
      <p:sp>
        <p:nvSpPr>
          <p:cNvPr id="14" name="Rectangle 13"/>
          <p:cNvSpPr/>
          <p:nvPr/>
        </p:nvSpPr>
        <p:spPr>
          <a:xfrm>
            <a:off x="8963405" y="2212848"/>
            <a:ext cx="82296" cy="113385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3529584"/>
            <a:ext cx="11091672" cy="365760"/>
          </a:xfrm>
          <a:prstGeom prst="rect">
            <a:avLst/>
          </a:prstGeom>
          <a:noFill/>
        </p:spPr>
        <p:txBody>
          <a:bodyPr wrap="square">
            <a:spAutoFit/>
          </a:bodyPr>
          <a:lstStyle/>
          <a:p>
            <a:pPr algn="l"/>
            <a:r>
              <a:rPr sz="1100" b="0" i="0">
                <a:solidFill>
                  <a:srgbClr val="6B747D"/>
                </a:solidFill>
                <a:latin typeface="Calibri"/>
              </a:rPr>
              <a:t>Where this is written down for us</a:t>
            </a:r>
          </a:p>
        </p:txBody>
      </p:sp>
      <p:sp>
        <p:nvSpPr>
          <p:cNvPr id="16" name="Rectangle 15"/>
          <p:cNvSpPr/>
          <p:nvPr/>
        </p:nvSpPr>
        <p:spPr>
          <a:xfrm>
            <a:off x="548640" y="3822191"/>
            <a:ext cx="5440680"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400" b="1" i="0">
                <a:solidFill>
                  <a:srgbClr val="1C242B"/>
                </a:solidFill>
                <a:latin typeface="Cambria"/>
              </a:rPr>
              <a:t>Umbrella — Rector's directive 4/2025. (X. 28.)</a:t>
            </a:r>
          </a:p>
          <a:p>
            <a:pPr>
              <a:spcBef>
                <a:spcPts val="300"/>
              </a:spcBef>
            </a:pPr>
            <a:r>
              <a:rPr sz="1100" b="0" i="0">
                <a:solidFill>
                  <a:srgbClr val="2A333B"/>
                </a:solidFill>
                <a:latin typeface="Calibri"/>
              </a:rPr>
              <a:t>On the use of artificial intelligence in education at ELTE</a:t>
            </a:r>
          </a:p>
        </p:txBody>
      </p:sp>
      <p:sp>
        <p:nvSpPr>
          <p:cNvPr id="17" name="Rectangle 16"/>
          <p:cNvSpPr/>
          <p:nvPr/>
        </p:nvSpPr>
        <p:spPr>
          <a:xfrm>
            <a:off x="548640" y="3822191"/>
            <a:ext cx="82296" cy="11887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9632" y="3822191"/>
            <a:ext cx="5440680" cy="11887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400" b="1" i="0">
                <a:solidFill>
                  <a:srgbClr val="1C242B"/>
                </a:solidFill>
                <a:latin typeface="Cambria"/>
              </a:rPr>
              <a:t>Faculty — Dean's directive 1/2026 (III.26.)</a:t>
            </a:r>
          </a:p>
          <a:p>
            <a:pPr>
              <a:spcBef>
                <a:spcPts val="300"/>
              </a:spcBef>
            </a:pPr>
            <a:r>
              <a:rPr sz="1100" b="0" i="0">
                <a:solidFill>
                  <a:srgbClr val="2A333B"/>
                </a:solidFill>
                <a:latin typeface="Calibri"/>
              </a:rPr>
              <a:t>ELTE Faculty of Informatics · supplements the rector's directive and the EU AI Act (Regulation (EU) 2024/1689) · human oversight and final responsibility, documented AI use, no sensitive data into external AI tools without explicit permission, critical checking of every output</a:t>
            </a:r>
          </a:p>
        </p:txBody>
      </p:sp>
      <p:sp>
        <p:nvSpPr>
          <p:cNvPr id="19" name="Rectangle 18"/>
          <p:cNvSpPr/>
          <p:nvPr/>
        </p:nvSpPr>
        <p:spPr>
          <a:xfrm>
            <a:off x="6199632" y="3822191"/>
            <a:ext cx="82296" cy="11887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5248656"/>
            <a:ext cx="11091672" cy="56692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The rule exists so the judgement is made once, at routing time — not again at every prompt</a:t>
            </a:r>
          </a:p>
        </p:txBody>
      </p:sp>
      <p:sp>
        <p:nvSpPr>
          <p:cNvPr id="21" name="TextBox 20"/>
          <p:cNvSpPr txBox="1"/>
          <p:nvPr/>
        </p:nvSpPr>
        <p:spPr>
          <a:xfrm>
            <a:off x="548640" y="5907024"/>
            <a:ext cx="11091672" cy="365760"/>
          </a:xfrm>
          <a:prstGeom prst="rect">
            <a:avLst/>
          </a:prstGeom>
          <a:noFill/>
        </p:spPr>
        <p:txBody>
          <a:bodyPr wrap="square">
            <a:spAutoFit/>
          </a:bodyPr>
          <a:lstStyle/>
          <a:p>
            <a:pPr algn="l"/>
            <a:r>
              <a:rPr sz="1050" b="0" i="1">
                <a:solidFill>
                  <a:srgbClr val="6B747D"/>
                </a:solidFill>
                <a:latin typeface="Calibri"/>
              </a:rPr>
              <a:t>Cited, not reproduced — read the directives themselves before you rely on them. Dean's directive version 1.0, effective 26 March 2026, review expected 1 July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Key pillars of data safety</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The four practices the pillars come down to in daily work</a:t>
            </a:r>
          </a:p>
        </p:txBody>
      </p:sp>
      <p:sp>
        <p:nvSpPr>
          <p:cNvPr id="6" name="Rectangle 5"/>
          <p:cNvSpPr/>
          <p:nvPr/>
        </p:nvSpPr>
        <p:spPr>
          <a:xfrm>
            <a:off x="548640"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28600" rtlCol="0" anchor="t"/>
          <a:lstStyle/>
          <a:p>
            <a:pPr algn="l"/>
            <a:r>
              <a:rPr sz="1800" b="1" i="0">
                <a:solidFill>
                  <a:srgbClr val="1C242B"/>
                </a:solidFill>
                <a:latin typeface="Cambria"/>
              </a:rPr>
              <a:t>Data minimisation</a:t>
            </a:r>
          </a:p>
          <a:p>
            <a:pPr algn="l">
              <a:spcBef>
                <a:spcPts val="400"/>
              </a:spcBef>
            </a:pPr>
            <a:r>
              <a:rPr sz="1400" b="0" i="0">
                <a:solidFill>
                  <a:srgbClr val="2A333B"/>
                </a:solidFill>
                <a:latin typeface="Calibri"/>
              </a:rPr>
              <a:t>Collect and process only the information a clear, designated purpose actually needs. “More context is not better context” and data minimisation point the same way.  [4]</a:t>
            </a:r>
          </a:p>
        </p:txBody>
      </p:sp>
      <p:sp>
        <p:nvSpPr>
          <p:cNvPr id="7" name="Rectangle 6"/>
          <p:cNvSpPr/>
          <p:nvPr/>
        </p:nvSpPr>
        <p:spPr>
          <a:xfrm>
            <a:off x="548640"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99632"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28600" rtlCol="0" anchor="t"/>
          <a:lstStyle/>
          <a:p>
            <a:pPr algn="l"/>
            <a:r>
              <a:rPr sz="1800" b="1" i="0">
                <a:solidFill>
                  <a:srgbClr val="1C242B"/>
                </a:solidFill>
                <a:latin typeface="Cambria"/>
              </a:rPr>
              <a:t>Privacy by design</a:t>
            </a:r>
          </a:p>
          <a:p>
            <a:pPr algn="l">
              <a:spcBef>
                <a:spcPts val="400"/>
              </a:spcBef>
            </a:pPr>
            <a:r>
              <a:rPr sz="1400" b="0" i="0">
                <a:solidFill>
                  <a:srgbClr val="2A333B"/>
                </a:solidFill>
                <a:latin typeface="Calibri"/>
              </a:rPr>
              <a:t>Data protection built into the design of a system from the start, rather than bolted on afterwards.  [4]</a:t>
            </a:r>
          </a:p>
        </p:txBody>
      </p:sp>
      <p:sp>
        <p:nvSpPr>
          <p:cNvPr id="9" name="Rectangle 8"/>
          <p:cNvSpPr/>
          <p:nvPr/>
        </p:nvSpPr>
        <p:spPr>
          <a:xfrm>
            <a:off x="6199632"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28600" rtlCol="0" anchor="t"/>
          <a:lstStyle/>
          <a:p>
            <a:pPr algn="l"/>
            <a:r>
              <a:rPr sz="1800" b="1" i="0">
                <a:solidFill>
                  <a:srgbClr val="1C242B"/>
                </a:solidFill>
                <a:latin typeface="Cambria"/>
              </a:rPr>
              <a:t>Anonymisation</a:t>
            </a:r>
          </a:p>
          <a:p>
            <a:pPr algn="l">
              <a:spcBef>
                <a:spcPts val="400"/>
              </a:spcBef>
            </a:pPr>
            <a:r>
              <a:rPr sz="1400" b="0" i="0">
                <a:solidFill>
                  <a:srgbClr val="2A333B"/>
                </a:solidFill>
                <a:latin typeface="Calibri"/>
              </a:rPr>
              <a:t>Masking or removing personally identifiable information (PII) safeguards people against breaches and unapproved tracking.  [2, 4, 5]</a:t>
            </a:r>
          </a:p>
        </p:txBody>
      </p:sp>
      <p:sp>
        <p:nvSpPr>
          <p:cNvPr id="11" name="Rectangle 10"/>
          <p:cNvSpPr/>
          <p:nvPr/>
        </p:nvSpPr>
        <p:spPr>
          <a:xfrm>
            <a:off x="548640"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99632"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28600" rtlCol="0" anchor="t"/>
          <a:lstStyle/>
          <a:p>
            <a:pPr algn="l"/>
            <a:r>
              <a:rPr sz="1800" b="1" i="0">
                <a:solidFill>
                  <a:srgbClr val="1C242B"/>
                </a:solidFill>
                <a:latin typeface="Cambria"/>
              </a:rPr>
              <a:t>Regulatory compliance</a:t>
            </a:r>
          </a:p>
          <a:p>
            <a:pPr algn="l">
              <a:spcBef>
                <a:spcPts val="400"/>
              </a:spcBef>
            </a:pPr>
            <a:r>
              <a:rPr sz="1400" b="0" i="0">
                <a:solidFill>
                  <a:srgbClr val="2A333B"/>
                </a:solidFill>
                <a:latin typeface="Calibri"/>
              </a:rPr>
              <a:t>The GDPR and the EU AI Act in Europe, equivalents such as the CCPA elsewhere — what you deploy has to align with them.  [1]</a:t>
            </a:r>
          </a:p>
        </p:txBody>
      </p:sp>
      <p:sp>
        <p:nvSpPr>
          <p:cNvPr id="13" name="Rectangle 12"/>
          <p:cNvSpPr/>
          <p:nvPr/>
        </p:nvSpPr>
        <p:spPr>
          <a:xfrm>
            <a:off x="6199632"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5175504"/>
            <a:ext cx="11091672" cy="65836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700" b="1" i="0">
                <a:solidFill>
                  <a:srgbClr val="FFFFFF"/>
                </a:solidFill>
                <a:latin typeface="Cambria"/>
              </a:rPr>
              <a:t>The same discipline Lesson 1 already asked for — minimise the data, curate the context; none of this costs you answer quality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Ethical AI principles</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Four principles — and the one the institution puts first</a:t>
            </a:r>
          </a:p>
        </p:txBody>
      </p:sp>
      <p:sp>
        <p:nvSpPr>
          <p:cNvPr id="6" name="Rectangle 5"/>
          <p:cNvSpPr/>
          <p:nvPr/>
        </p:nvSpPr>
        <p:spPr>
          <a:xfrm>
            <a:off x="548640"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28600" rtlCol="0" anchor="t"/>
          <a:lstStyle/>
          <a:p>
            <a:pPr algn="l"/>
            <a:r>
              <a:rPr sz="1800" b="1" i="0">
                <a:solidFill>
                  <a:srgbClr val="1C242B"/>
                </a:solidFill>
                <a:latin typeface="Cambria"/>
              </a:rPr>
              <a:t>Fairness and non-discrimination</a:t>
            </a:r>
          </a:p>
          <a:p>
            <a:pPr algn="l">
              <a:spcBef>
                <a:spcPts val="400"/>
              </a:spcBef>
            </a:pPr>
            <a:r>
              <a:rPr sz="1400" b="0" i="0">
                <a:solidFill>
                  <a:srgbClr val="2A333B"/>
                </a:solidFill>
                <a:latin typeface="Calibri"/>
              </a:rPr>
              <a:t>Training and prompting actively filter out systemic bias, or the model replicates historical inequalities as if they were findings.  [6, 7]</a:t>
            </a:r>
          </a:p>
        </p:txBody>
      </p:sp>
      <p:sp>
        <p:nvSpPr>
          <p:cNvPr id="7" name="Rectangle 6"/>
          <p:cNvSpPr/>
          <p:nvPr/>
        </p:nvSpPr>
        <p:spPr>
          <a:xfrm>
            <a:off x="548640"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99632"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28600" rtlCol="0" anchor="t"/>
          <a:lstStyle/>
          <a:p>
            <a:pPr algn="l"/>
            <a:r>
              <a:rPr sz="1800" b="1" i="0">
                <a:solidFill>
                  <a:srgbClr val="1C242B"/>
                </a:solidFill>
                <a:latin typeface="Cambria"/>
              </a:rPr>
              <a:t>Transparency</a:t>
            </a:r>
          </a:p>
          <a:p>
            <a:pPr algn="l">
              <a:spcBef>
                <a:spcPts val="400"/>
              </a:spcBef>
            </a:pPr>
            <a:r>
              <a:rPr sz="1400" b="0" i="0">
                <a:solidFill>
                  <a:srgbClr val="2A333B"/>
                </a:solidFill>
                <a:latin typeface="Calibri"/>
              </a:rPr>
              <a:t>Anyone affected by an automated outcome is owed clear insight into what data was tracked and how the decision was reached.  [7, 8]</a:t>
            </a:r>
          </a:p>
        </p:txBody>
      </p:sp>
      <p:sp>
        <p:nvSpPr>
          <p:cNvPr id="9" name="Rectangle 8"/>
          <p:cNvSpPr/>
          <p:nvPr/>
        </p:nvSpPr>
        <p:spPr>
          <a:xfrm>
            <a:off x="6199632"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28600" rtlCol="0" anchor="t"/>
          <a:lstStyle/>
          <a:p>
            <a:pPr algn="l"/>
            <a:r>
              <a:rPr sz="1800" b="1" i="0">
                <a:solidFill>
                  <a:srgbClr val="1C242B"/>
                </a:solidFill>
                <a:latin typeface="Cambria"/>
              </a:rPr>
              <a:t>Accountability</a:t>
            </a:r>
          </a:p>
          <a:p>
            <a:pPr algn="l">
              <a:spcBef>
                <a:spcPts val="400"/>
              </a:spcBef>
            </a:pPr>
            <a:r>
              <a:rPr sz="1400" b="0" i="0">
                <a:solidFill>
                  <a:srgbClr val="2A333B"/>
                </a:solidFill>
                <a:latin typeface="Calibri"/>
              </a:rPr>
              <a:t>Responsibility for a system's behaviour, its audits and its performance tracking is assigned before the tool is launched.  [7, 9]</a:t>
            </a:r>
          </a:p>
        </p:txBody>
      </p:sp>
      <p:sp>
        <p:nvSpPr>
          <p:cNvPr id="11" name="Rectangle 10"/>
          <p:cNvSpPr/>
          <p:nvPr/>
        </p:nvSpPr>
        <p:spPr>
          <a:xfrm>
            <a:off x="548640"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99632"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28600" rtlCol="0" anchor="t"/>
          <a:lstStyle/>
          <a:p>
            <a:pPr algn="l"/>
            <a:r>
              <a:rPr sz="1800" b="1" i="0">
                <a:solidFill>
                  <a:srgbClr val="1C242B"/>
                </a:solidFill>
                <a:latin typeface="Cambria"/>
              </a:rPr>
              <a:t>Human oversight</a:t>
            </a:r>
          </a:p>
          <a:p>
            <a:pPr algn="l">
              <a:spcBef>
                <a:spcPts val="400"/>
              </a:spcBef>
            </a:pPr>
            <a:r>
              <a:rPr sz="1400" b="0" i="0">
                <a:solidFill>
                  <a:srgbClr val="2A333B"/>
                </a:solidFill>
                <a:latin typeface="Calibri"/>
              </a:rPr>
              <a:t>The model supplements human judgement rather than displacing human responsibility. The tool assists; the person signs.  [1, 9]</a:t>
            </a:r>
          </a:p>
        </p:txBody>
      </p:sp>
      <p:sp>
        <p:nvSpPr>
          <p:cNvPr id="13" name="Rectangle 12"/>
          <p:cNvSpPr/>
          <p:nvPr/>
        </p:nvSpPr>
        <p:spPr>
          <a:xfrm>
            <a:off x="6199632"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5175504"/>
            <a:ext cx="11091672" cy="65836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700" b="1" i="0">
                <a:solidFill>
                  <a:srgbClr val="FFFFFF"/>
                </a:solidFill>
                <a:latin typeface="Cambria"/>
              </a:rPr>
              <a:t>Critical checking of every output before use — the directive's rule, and the floor under the other three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Sources</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The reading list behind the previous three slides — the bracketed numbers on those slides point here. Photograph it; it is not read out.</a:t>
            </a:r>
          </a:p>
        </p:txBody>
      </p:sp>
      <p:sp>
        <p:nvSpPr>
          <p:cNvPr id="6" name="Rectangle 5"/>
          <p:cNvSpPr/>
          <p:nvPr/>
        </p:nvSpPr>
        <p:spPr>
          <a:xfrm>
            <a:off x="548640" y="1609344"/>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050" b="1" i="0">
                <a:solidFill>
                  <a:srgbClr val="1C242B"/>
                </a:solidFill>
                <a:latin typeface="Calibri"/>
              </a:rPr>
              <a:t>[1]  </a:t>
            </a:r>
            <a:r>
              <a:rPr sz="1050" b="0" i="0">
                <a:solidFill>
                  <a:srgbClr val="2A333B"/>
                </a:solidFill>
                <a:latin typeface="Calibri"/>
              </a:rPr>
              <a:t>European Commission — Ethics guidelines for trustworthy AI  ·  </a:t>
            </a:r>
            <a:r>
              <a:rPr sz="1050" b="1" i="0">
                <a:solidFill>
                  <a:srgbClr val="3E4C59"/>
                </a:solidFill>
                <a:latin typeface="Calibri"/>
                <a:hlinkClick r:id="rId3"/>
              </a:rPr>
              <a:t>digital-strategy.ec.europa.eu</a:t>
            </a:r>
          </a:p>
        </p:txBody>
      </p:sp>
      <p:sp>
        <p:nvSpPr>
          <p:cNvPr id="7" name="Rectangle 6"/>
          <p:cNvSpPr/>
          <p:nvPr/>
        </p:nvSpPr>
        <p:spPr>
          <a:xfrm>
            <a:off x="548640" y="1609344"/>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2249424"/>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050" b="1" i="0">
                <a:solidFill>
                  <a:srgbClr val="1C242B"/>
                </a:solidFill>
                <a:latin typeface="Calibri"/>
              </a:rPr>
              <a:t>[2]  </a:t>
            </a:r>
            <a:r>
              <a:rPr sz="1050" b="0" i="0">
                <a:solidFill>
                  <a:srgbClr val="2A333B"/>
                </a:solidFill>
                <a:latin typeface="Calibri"/>
              </a:rPr>
              <a:t>Harvard DCE — Ethics in AI: why it matters  ·  </a:t>
            </a:r>
            <a:r>
              <a:rPr sz="1050" b="1" i="0">
                <a:solidFill>
                  <a:srgbClr val="3E4C59"/>
                </a:solidFill>
                <a:latin typeface="Calibri"/>
                <a:hlinkClick r:id="rId4"/>
              </a:rPr>
              <a:t>professional.dce.harvard.edu</a:t>
            </a:r>
          </a:p>
        </p:txBody>
      </p:sp>
      <p:sp>
        <p:nvSpPr>
          <p:cNvPr id="9" name="Rectangle 8"/>
          <p:cNvSpPr/>
          <p:nvPr/>
        </p:nvSpPr>
        <p:spPr>
          <a:xfrm>
            <a:off x="548640" y="2249424"/>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889504"/>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050" b="1" i="0">
                <a:solidFill>
                  <a:srgbClr val="1C242B"/>
                </a:solidFill>
                <a:latin typeface="Calibri"/>
              </a:rPr>
              <a:t>[3]  </a:t>
            </a:r>
            <a:r>
              <a:rPr sz="1050" b="0" i="0">
                <a:solidFill>
                  <a:srgbClr val="2A333B"/>
                </a:solidFill>
                <a:latin typeface="Calibri"/>
              </a:rPr>
              <a:t>Salesforce Trailhead — Data ethics and privacy in practice  ·  </a:t>
            </a:r>
            <a:r>
              <a:rPr sz="1050" b="1" i="0">
                <a:solidFill>
                  <a:srgbClr val="3E4C59"/>
                </a:solidFill>
                <a:latin typeface="Calibri"/>
                <a:hlinkClick r:id="rId5"/>
              </a:rPr>
              <a:t>trailhead.salesforce.com</a:t>
            </a:r>
          </a:p>
        </p:txBody>
      </p:sp>
      <p:sp>
        <p:nvSpPr>
          <p:cNvPr id="11" name="Rectangle 10"/>
          <p:cNvSpPr/>
          <p:nvPr/>
        </p:nvSpPr>
        <p:spPr>
          <a:xfrm>
            <a:off x="548640" y="2889504"/>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3529583"/>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050" b="1" i="0">
                <a:solidFill>
                  <a:srgbClr val="1C242B"/>
                </a:solidFill>
                <a:latin typeface="Calibri"/>
              </a:rPr>
              <a:t>[4]  </a:t>
            </a:r>
            <a:r>
              <a:rPr sz="1050" b="0" i="0">
                <a:solidFill>
                  <a:srgbClr val="2A333B"/>
                </a:solidFill>
                <a:latin typeface="Calibri"/>
              </a:rPr>
              <a:t>TrustCloud — Ethical AI and data privacy practices  ·  </a:t>
            </a:r>
            <a:r>
              <a:rPr sz="1050" b="1" i="0">
                <a:solidFill>
                  <a:srgbClr val="3E4C59"/>
                </a:solidFill>
                <a:latin typeface="Calibri"/>
                <a:hlinkClick r:id="rId6"/>
              </a:rPr>
              <a:t>trustcloud.ai</a:t>
            </a:r>
          </a:p>
        </p:txBody>
      </p:sp>
      <p:sp>
        <p:nvSpPr>
          <p:cNvPr id="13" name="Rectangle 12"/>
          <p:cNvSpPr/>
          <p:nvPr/>
        </p:nvSpPr>
        <p:spPr>
          <a:xfrm>
            <a:off x="548640" y="3529583"/>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4169663"/>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050" b="1" i="0">
                <a:solidFill>
                  <a:srgbClr val="1C242B"/>
                </a:solidFill>
                <a:latin typeface="Calibri"/>
              </a:rPr>
              <a:t>[5]  </a:t>
            </a:r>
            <a:r>
              <a:rPr sz="1050" b="0" i="0">
                <a:solidFill>
                  <a:srgbClr val="2A333B"/>
                </a:solidFill>
                <a:latin typeface="Calibri"/>
              </a:rPr>
              <a:t>Alation — Data ethics in AI: 6 key principles  ·  </a:t>
            </a:r>
            <a:r>
              <a:rPr sz="1050" b="1" i="0">
                <a:solidFill>
                  <a:srgbClr val="3E4C59"/>
                </a:solidFill>
                <a:latin typeface="Calibri"/>
                <a:hlinkClick r:id="rId7"/>
              </a:rPr>
              <a:t>alation.com</a:t>
            </a:r>
          </a:p>
        </p:txBody>
      </p:sp>
      <p:sp>
        <p:nvSpPr>
          <p:cNvPr id="15" name="Rectangle 14"/>
          <p:cNvSpPr/>
          <p:nvPr/>
        </p:nvSpPr>
        <p:spPr>
          <a:xfrm>
            <a:off x="548640" y="4169663"/>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99632" y="1609344"/>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050" b="1" i="0">
                <a:solidFill>
                  <a:srgbClr val="1C242B"/>
                </a:solidFill>
                <a:latin typeface="Calibri"/>
              </a:rPr>
              <a:t>[6]  </a:t>
            </a:r>
            <a:r>
              <a:rPr sz="1050" b="0" i="0">
                <a:solidFill>
                  <a:srgbClr val="2A333B"/>
                </a:solidFill>
                <a:latin typeface="Calibri"/>
              </a:rPr>
              <a:t>SDAIA — AI principles  ·  </a:t>
            </a:r>
            <a:r>
              <a:rPr sz="1050" b="1" i="0">
                <a:solidFill>
                  <a:srgbClr val="3E4C59"/>
                </a:solidFill>
                <a:latin typeface="Calibri"/>
                <a:hlinkClick r:id="rId8"/>
              </a:rPr>
              <a:t>sdaia.gov.sa</a:t>
            </a:r>
          </a:p>
        </p:txBody>
      </p:sp>
      <p:sp>
        <p:nvSpPr>
          <p:cNvPr id="17" name="Rectangle 16"/>
          <p:cNvSpPr/>
          <p:nvPr/>
        </p:nvSpPr>
        <p:spPr>
          <a:xfrm>
            <a:off x="6199632" y="1609344"/>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99632" y="2249424"/>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050" b="1" i="0">
                <a:solidFill>
                  <a:srgbClr val="1C242B"/>
                </a:solidFill>
                <a:latin typeface="Calibri"/>
              </a:rPr>
              <a:t>[7]  </a:t>
            </a:r>
            <a:r>
              <a:rPr sz="1050" b="0" i="0">
                <a:solidFill>
                  <a:srgbClr val="2A333B"/>
                </a:solidFill>
                <a:latin typeface="Calibri"/>
              </a:rPr>
              <a:t>Transcend — AI ethics  ·  </a:t>
            </a:r>
            <a:r>
              <a:rPr sz="1050" b="1" i="0">
                <a:solidFill>
                  <a:srgbClr val="3E4C59"/>
                </a:solidFill>
                <a:latin typeface="Calibri"/>
                <a:hlinkClick r:id="rId9"/>
              </a:rPr>
              <a:t>transcend.io</a:t>
            </a:r>
          </a:p>
        </p:txBody>
      </p:sp>
      <p:sp>
        <p:nvSpPr>
          <p:cNvPr id="19" name="Rectangle 18"/>
          <p:cNvSpPr/>
          <p:nvPr/>
        </p:nvSpPr>
        <p:spPr>
          <a:xfrm>
            <a:off x="6199632" y="2249424"/>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99632" y="2889504"/>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050" b="1" i="0">
                <a:solidFill>
                  <a:srgbClr val="1C242B"/>
                </a:solidFill>
                <a:latin typeface="Calibri"/>
              </a:rPr>
              <a:t>[8]  </a:t>
            </a:r>
            <a:r>
              <a:rPr sz="1050" b="0" i="0">
                <a:solidFill>
                  <a:srgbClr val="2A333B"/>
                </a:solidFill>
                <a:latin typeface="Calibri"/>
              </a:rPr>
              <a:t>ADP — AI and data ethics: five principles to consider  ·  </a:t>
            </a:r>
            <a:r>
              <a:rPr sz="1050" b="1" i="0">
                <a:solidFill>
                  <a:srgbClr val="3E4C59"/>
                </a:solidFill>
                <a:latin typeface="Calibri"/>
                <a:hlinkClick r:id="rId10"/>
              </a:rPr>
              <a:t>adp.ca</a:t>
            </a:r>
          </a:p>
        </p:txBody>
      </p:sp>
      <p:sp>
        <p:nvSpPr>
          <p:cNvPr id="21" name="Rectangle 20"/>
          <p:cNvSpPr/>
          <p:nvPr/>
        </p:nvSpPr>
        <p:spPr>
          <a:xfrm>
            <a:off x="6199632" y="2889504"/>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99632" y="3529583"/>
            <a:ext cx="5440680" cy="5669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050" b="1" i="0">
                <a:solidFill>
                  <a:srgbClr val="1C242B"/>
                </a:solidFill>
                <a:latin typeface="Calibri"/>
              </a:rPr>
              <a:t>[9]  </a:t>
            </a:r>
            <a:r>
              <a:rPr sz="1050" b="0" i="0">
                <a:solidFill>
                  <a:srgbClr val="2A333B"/>
                </a:solidFill>
                <a:latin typeface="Calibri"/>
              </a:rPr>
              <a:t>UNESCO — Recommendation on the ethics of artificial intelligence  ·  </a:t>
            </a:r>
            <a:r>
              <a:rPr sz="1050" b="1" i="0">
                <a:solidFill>
                  <a:srgbClr val="3E4C59"/>
                </a:solidFill>
                <a:latin typeface="Calibri"/>
                <a:hlinkClick r:id="rId11"/>
              </a:rPr>
              <a:t>unesco.org</a:t>
            </a:r>
          </a:p>
        </p:txBody>
      </p:sp>
      <p:sp>
        <p:nvSpPr>
          <p:cNvPr id="23" name="Rectangle 22"/>
          <p:cNvSpPr/>
          <p:nvPr/>
        </p:nvSpPr>
        <p:spPr>
          <a:xfrm>
            <a:off x="6199632" y="3529583"/>
            <a:ext cx="82296"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 y="5029200"/>
            <a:ext cx="11091672" cy="5669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500" b="1" i="0">
                <a:solidFill>
                  <a:srgbClr val="FFFFFF"/>
                </a:solidFill>
                <a:latin typeface="Cambria"/>
              </a:rPr>
              <a:t>Institutional sources — Rector's directive 4/2025. (X. 28.) and Dean's directive 1/2026 (III.26.)</a:t>
            </a:r>
          </a:p>
        </p:txBody>
      </p:sp>
      <p:sp>
        <p:nvSpPr>
          <p:cNvPr id="25" name="TextBox 24"/>
          <p:cNvSpPr txBox="1"/>
          <p:nvPr/>
        </p:nvSpPr>
        <p:spPr>
          <a:xfrm>
            <a:off x="548640" y="5724144"/>
            <a:ext cx="11091672" cy="365760"/>
          </a:xfrm>
          <a:prstGeom prst="rect">
            <a:avLst/>
          </a:prstGeom>
          <a:noFill/>
        </p:spPr>
        <p:txBody>
          <a:bodyPr wrap="square">
            <a:spAutoFit/>
          </a:bodyPr>
          <a:lstStyle/>
          <a:p>
            <a:pPr algn="l"/>
            <a:r>
              <a:rPr sz="1100" b="0" i="1">
                <a:solidFill>
                  <a:srgbClr val="6B747D"/>
                </a:solidFill>
                <a:latin typeface="Calibri"/>
              </a:rPr>
              <a:t>Every link is live on the slide — the deck goes into the Teams channel after the session, so the list travels with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Anonymise before upload</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207008"/>
            <a:ext cx="11091672" cy="84124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900" b="1" i="0">
                <a:solidFill>
                  <a:srgbClr val="FFFFFF"/>
                </a:solidFill>
                <a:latin typeface="Cambria"/>
              </a:rPr>
              <a:t>A document that contains personal or sensitive information is anonymised before it is uploaded to any AI tool</a:t>
            </a:r>
          </a:p>
          <a:p>
            <a:pPr algn="ctr">
              <a:spcBef>
                <a:spcPts val="600"/>
              </a:spcBef>
            </a:pPr>
            <a:r>
              <a:rPr sz="1300" b="0" i="0">
                <a:solidFill>
                  <a:srgbClr val="FFFFFF"/>
                </a:solidFill>
                <a:latin typeface="Calibri"/>
              </a:rPr>
              <a:t>In either lane — the rule does not change with the tool</a:t>
            </a:r>
          </a:p>
        </p:txBody>
      </p:sp>
      <p:sp>
        <p:nvSpPr>
          <p:cNvPr id="6" name="Rectangle 5"/>
          <p:cNvSpPr/>
          <p:nvPr/>
        </p:nvSpPr>
        <p:spPr>
          <a:xfrm>
            <a:off x="548640" y="2267712"/>
            <a:ext cx="5440680" cy="49377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Cambria"/>
              </a:rPr>
              <a:t>Sensitive Lane — anonymise first</a:t>
            </a:r>
          </a:p>
        </p:txBody>
      </p:sp>
      <p:sp>
        <p:nvSpPr>
          <p:cNvPr id="7" name="Rectangle 6"/>
          <p:cNvSpPr/>
          <p:nvPr/>
        </p:nvSpPr>
        <p:spPr>
          <a:xfrm>
            <a:off x="6199632" y="2267712"/>
            <a:ext cx="5440680" cy="49377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Cambria"/>
              </a:rPr>
              <a:t>Daily Driver — anonymise first</a:t>
            </a:r>
          </a:p>
        </p:txBody>
      </p:sp>
      <p:sp>
        <p:nvSpPr>
          <p:cNvPr id="8" name="Rectangle 7"/>
          <p:cNvSpPr/>
          <p:nvPr/>
        </p:nvSpPr>
        <p:spPr>
          <a:xfrm>
            <a:off x="548640" y="2944368"/>
            <a:ext cx="11091672" cy="15544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46304" rIns="228600" rtlCol="0" anchor="t"/>
          <a:lstStyle/>
          <a:p>
            <a:pPr algn="l"/>
            <a:r>
              <a:rPr sz="1800" b="1" i="0">
                <a:solidFill>
                  <a:srgbClr val="1C242B"/>
                </a:solidFill>
                <a:latin typeface="Cambria"/>
              </a:rPr>
              <a:t>What anonymising removes or replaces</a:t>
            </a:r>
          </a:p>
          <a:p>
            <a:pPr>
              <a:spcBef>
                <a:spcPts val="500"/>
              </a:spcBef>
            </a:pPr>
            <a:r>
              <a:rPr sz="1300" b="0" i="0">
                <a:solidFill>
                  <a:srgbClr val="2A333B"/>
                </a:solidFill>
                <a:latin typeface="Calibri"/>
              </a:rPr>
              <a:t>·  Names and any personal identifier — people, roles tied to a unit, contact details</a:t>
            </a:r>
          </a:p>
          <a:p>
            <a:pPr>
              <a:spcBef>
                <a:spcPts val="500"/>
              </a:spcBef>
            </a:pPr>
            <a:r>
              <a:rPr sz="1300" b="0" i="0">
                <a:solidFill>
                  <a:srgbClr val="2A333B"/>
                </a:solidFill>
                <a:latin typeface="Calibri"/>
              </a:rPr>
              <a:t>·  Unpublished amounts — budgets, salaries, internal financial figures</a:t>
            </a:r>
          </a:p>
          <a:p>
            <a:pPr>
              <a:spcBef>
                <a:spcPts val="500"/>
              </a:spcBef>
            </a:pPr>
            <a:r>
              <a:rPr sz="1300" b="0" i="0">
                <a:solidFill>
                  <a:srgbClr val="2A333B"/>
                </a:solidFill>
                <a:latin typeface="Calibri"/>
              </a:rPr>
              <a:t>·  Partner identities and consortium composition on anything unsubmitted</a:t>
            </a:r>
          </a:p>
          <a:p>
            <a:pPr>
              <a:spcBef>
                <a:spcPts val="500"/>
              </a:spcBef>
            </a:pPr>
            <a:r>
              <a:rPr sz="1300" b="0" i="0">
                <a:solidFill>
                  <a:srgbClr val="2A333B"/>
                </a:solidFill>
                <a:latin typeface="Calibri"/>
              </a:rPr>
              <a:t>·  Anything that still links the document back to a person or to an unsubmitted proposal</a:t>
            </a:r>
          </a:p>
        </p:txBody>
      </p:sp>
      <p:sp>
        <p:nvSpPr>
          <p:cNvPr id="9" name="Rectangle 8"/>
          <p:cNvSpPr/>
          <p:nvPr/>
        </p:nvSpPr>
        <p:spPr>
          <a:xfrm>
            <a:off x="548640" y="2944368"/>
            <a:ext cx="82296" cy="15544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4590288"/>
            <a:ext cx="11091672" cy="9326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l"/>
            <a:r>
              <a:rPr sz="1800" b="1" i="0">
                <a:solidFill>
                  <a:srgbClr val="1C242B"/>
                </a:solidFill>
                <a:latin typeface="Cambria"/>
              </a:rPr>
              <a:t>You did this in Lesson 1</a:t>
            </a:r>
          </a:p>
          <a:p>
            <a:pPr algn="l">
              <a:spcBef>
                <a:spcPts val="400"/>
              </a:spcBef>
            </a:pPr>
            <a:r>
              <a:rPr sz="1400" b="0" i="0">
                <a:solidFill>
                  <a:srgbClr val="2A333B"/>
                </a:solidFill>
                <a:latin typeface="Calibri"/>
              </a:rPr>
              <a:t>The Anchor Project rule — real-but-anonymised, or fictional — was this rule in miniature. The anonymisation one-pager from Lesson 1's materials is the checklist.</a:t>
            </a:r>
          </a:p>
        </p:txBody>
      </p:sp>
      <p:sp>
        <p:nvSpPr>
          <p:cNvPr id="11" name="Rectangle 10"/>
          <p:cNvSpPr/>
          <p:nvPr/>
        </p:nvSpPr>
        <p:spPr>
          <a:xfrm>
            <a:off x="548640" y="4590288"/>
            <a:ext cx="82296" cy="9326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5669280"/>
            <a:ext cx="11091672" cy="365760"/>
          </a:xfrm>
          <a:prstGeom prst="rect">
            <a:avLst/>
          </a:prstGeom>
          <a:noFill/>
        </p:spPr>
        <p:txBody>
          <a:bodyPr wrap="square">
            <a:spAutoFit/>
          </a:bodyPr>
          <a:lstStyle/>
          <a:p>
            <a:pPr algn="l"/>
            <a:r>
              <a:rPr sz="1100" b="0" i="1">
                <a:solidFill>
                  <a:srgbClr val="6B747D"/>
                </a:solidFill>
                <a:latin typeface="Calibri"/>
              </a:rPr>
              <a:t>The check happens before the upload, not after the answer comes back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What must never enter Gemini</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The rule Lesson 1 left open, now complete</a:t>
            </a:r>
          </a:p>
        </p:txBody>
      </p:sp>
      <p:sp>
        <p:nvSpPr>
          <p:cNvPr id="6" name="Rectangle 5"/>
          <p:cNvSpPr/>
          <p:nvPr/>
        </p:nvSpPr>
        <p:spPr>
          <a:xfrm>
            <a:off x="548640" y="1572768"/>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300" b="1" i="0">
                <a:solidFill>
                  <a:srgbClr val="1C242B"/>
                </a:solidFill>
                <a:latin typeface="Calibri"/>
              </a:rPr>
              <a:t>Personal data of any kind</a:t>
            </a:r>
            <a:r>
              <a:rPr sz="1300" b="0" i="0">
                <a:solidFill>
                  <a:srgbClr val="2A333B"/>
                </a:solidFill>
                <a:latin typeface="Calibri"/>
              </a:rPr>
              <a:t> — names with roles, contact details, evaluations, CVs, personnel matters</a:t>
            </a:r>
          </a:p>
        </p:txBody>
      </p:sp>
      <p:sp>
        <p:nvSpPr>
          <p:cNvPr id="7" name="Rectangle 6"/>
          <p:cNvSpPr/>
          <p:nvPr/>
        </p:nvSpPr>
        <p:spPr>
          <a:xfrm>
            <a:off x="548640" y="1572768"/>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2057400"/>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300" b="1" i="0">
                <a:solidFill>
                  <a:srgbClr val="1C242B"/>
                </a:solidFill>
                <a:latin typeface="Calibri"/>
              </a:rPr>
              <a:t>Unsubmitted grant proposals</a:t>
            </a:r>
            <a:r>
              <a:rPr sz="1300" b="0" i="0">
                <a:solidFill>
                  <a:srgbClr val="2A333B"/>
                </a:solidFill>
                <a:latin typeface="Calibri"/>
              </a:rPr>
              <a:t> — and their drafts, budgets, partner lists</a:t>
            </a:r>
          </a:p>
        </p:txBody>
      </p:sp>
      <p:sp>
        <p:nvSpPr>
          <p:cNvPr id="9" name="Rectangle 8"/>
          <p:cNvSpPr/>
          <p:nvPr/>
        </p:nvSpPr>
        <p:spPr>
          <a:xfrm>
            <a:off x="548640" y="2057400"/>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542032"/>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300" b="1" i="0">
                <a:solidFill>
                  <a:srgbClr val="1C242B"/>
                </a:solidFill>
                <a:latin typeface="Calibri"/>
              </a:rPr>
              <a:t>Internal financial planning</a:t>
            </a:r>
            <a:r>
              <a:rPr sz="1300" b="0" i="0">
                <a:solidFill>
                  <a:srgbClr val="2A333B"/>
                </a:solidFill>
                <a:latin typeface="Calibri"/>
              </a:rPr>
              <a:t> — and strategic documents</a:t>
            </a:r>
          </a:p>
        </p:txBody>
      </p:sp>
      <p:sp>
        <p:nvSpPr>
          <p:cNvPr id="11" name="Rectangle 10"/>
          <p:cNvSpPr/>
          <p:nvPr/>
        </p:nvSpPr>
        <p:spPr>
          <a:xfrm>
            <a:off x="548640" y="2542032"/>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3026664"/>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300" b="1" i="0">
                <a:solidFill>
                  <a:srgbClr val="1C242B"/>
                </a:solidFill>
                <a:latin typeface="Calibri"/>
              </a:rPr>
              <a:t>Unpublished research results</a:t>
            </a:r>
            <a:r>
              <a:rPr sz="1300" b="0" i="0">
                <a:solidFill>
                  <a:srgbClr val="2A333B"/>
                </a:solidFill>
                <a:latin typeface="Calibri"/>
              </a:rPr>
              <a:t> — and raw data</a:t>
            </a:r>
          </a:p>
        </p:txBody>
      </p:sp>
      <p:sp>
        <p:nvSpPr>
          <p:cNvPr id="13" name="Rectangle 12"/>
          <p:cNvSpPr/>
          <p:nvPr/>
        </p:nvSpPr>
        <p:spPr>
          <a:xfrm>
            <a:off x="548640" y="3026664"/>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511296"/>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300" b="1" i="0">
                <a:solidFill>
                  <a:srgbClr val="1C242B"/>
                </a:solidFill>
                <a:latin typeface="Calibri"/>
              </a:rPr>
              <a:t>Results of industrial or contract research</a:t>
            </a:r>
          </a:p>
        </p:txBody>
      </p:sp>
      <p:sp>
        <p:nvSpPr>
          <p:cNvPr id="15" name="Rectangle 14"/>
          <p:cNvSpPr/>
          <p:nvPr/>
        </p:nvSpPr>
        <p:spPr>
          <a:xfrm>
            <a:off x="548640" y="3511296"/>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3995928"/>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300" b="1" i="0">
                <a:solidFill>
                  <a:srgbClr val="1C242B"/>
                </a:solidFill>
                <a:latin typeface="Calibri"/>
              </a:rPr>
              <a:t>Any document under a confidentiality or data-processing agreement</a:t>
            </a:r>
          </a:p>
        </p:txBody>
      </p:sp>
      <p:sp>
        <p:nvSpPr>
          <p:cNvPr id="17" name="Rectangle 16"/>
          <p:cNvSpPr/>
          <p:nvPr/>
        </p:nvSpPr>
        <p:spPr>
          <a:xfrm>
            <a:off x="548640" y="3995928"/>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4480560"/>
            <a:ext cx="11091672" cy="42062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300" b="1" i="0">
                <a:solidFill>
                  <a:srgbClr val="1C242B"/>
                </a:solidFill>
                <a:latin typeface="Calibri"/>
              </a:rPr>
              <a:t>Anything not anonymised that would need to be</a:t>
            </a:r>
          </a:p>
        </p:txBody>
      </p:sp>
      <p:sp>
        <p:nvSpPr>
          <p:cNvPr id="19" name="Rectangle 18"/>
          <p:cNvSpPr/>
          <p:nvPr/>
        </p:nvSpPr>
        <p:spPr>
          <a:xfrm>
            <a:off x="548640" y="4480560"/>
            <a:ext cx="82296" cy="42062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5047488"/>
            <a:ext cx="11091672" cy="56692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Anything on this list  →  Sensitive Lane · Copilot Chat (Basic), anonymised first if it is a document</a:t>
            </a:r>
          </a:p>
        </p:txBody>
      </p:sp>
      <p:sp>
        <p:nvSpPr>
          <p:cNvPr id="21" name="Rectangle 20"/>
          <p:cNvSpPr/>
          <p:nvPr/>
        </p:nvSpPr>
        <p:spPr>
          <a:xfrm>
            <a:off x="548640" y="5705856"/>
            <a:ext cx="11091672" cy="502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400" b="1" i="0">
                <a:solidFill>
                  <a:srgbClr val="FFFFFF"/>
                </a:solidFill>
                <a:latin typeface="Cambria"/>
              </a:rPr>
              <a:t>Fails the anonymisation test even there? Then it does not go into an AI tool at all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926080" cy="63550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3</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Copilot Chat (Basic) in practice</a:t>
            </a:r>
          </a:p>
        </p:txBody>
      </p:sp>
      <p:sp>
        <p:nvSpPr>
          <p:cNvPr id="4" name="Rectangle 3"/>
          <p:cNvSpPr/>
          <p:nvPr/>
        </p:nvSpPr>
        <p:spPr>
          <a:xfrm>
            <a:off x="3474720" y="3401568"/>
            <a:ext cx="1097280" cy="3175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0E7C7B"/>
                </a:solidFill>
                <a:latin typeface="Calibri"/>
              </a:rPr>
              <a:t>12 min · Live facilitator demo</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3 of 5 · Sensitive Lane · Copilot Chat (Basic)</a:t>
            </a:r>
          </a:p>
        </p:txBody>
      </p:sp>
      <p:sp>
        <p:nvSpPr>
          <p:cNvPr id="7" name="Rectangle 6"/>
          <p:cNvSpPr/>
          <p:nvPr/>
        </p:nvSpPr>
        <p:spPr>
          <a:xfrm>
            <a:off x="34747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605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846320" y="5989320"/>
            <a:ext cx="502920" cy="731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321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Four scenarios in the Sensitive Lane</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Same prompt shape as last week — ICC: Instruction · Context · Constraints (Lesson 1). The lane decides where a prompt goes, never how it is written.</a:t>
            </a:r>
          </a:p>
        </p:txBody>
      </p:sp>
      <p:sp>
        <p:nvSpPr>
          <p:cNvPr id="7" name="Rectangle 6"/>
          <p:cNvSpPr/>
          <p:nvPr/>
        </p:nvSpPr>
        <p:spPr>
          <a:xfrm>
            <a:off x="548640" y="1517904"/>
            <a:ext cx="11091672" cy="74980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1300" b="1" i="0">
                <a:solidFill>
                  <a:srgbClr val="1C242B"/>
                </a:solidFill>
                <a:latin typeface="Cambria"/>
              </a:rPr>
              <a:t>Internal administration</a:t>
            </a:r>
            <a:r>
              <a:rPr sz="1300" b="0" i="0">
                <a:solidFill>
                  <a:srgbClr val="2A333B"/>
                </a:solidFill>
                <a:latin typeface="Calibri"/>
              </a:rPr>
              <a:t>   “Turn these meeting notes into a decision log and action list”</a:t>
            </a:r>
          </a:p>
          <a:p>
            <a:pPr>
              <a:spcBef>
                <a:spcPts val="300"/>
              </a:spcBef>
            </a:pPr>
            <a:r>
              <a:rPr sz="1100" b="0" i="0">
                <a:solidFill>
                  <a:srgbClr val="6B747D"/>
                </a:solidFill>
                <a:latin typeface="Calibri"/>
              </a:rPr>
              <a:t>Notes pasted in, names replaced by roles</a:t>
            </a:r>
          </a:p>
        </p:txBody>
      </p:sp>
      <p:sp>
        <p:nvSpPr>
          <p:cNvPr id="8" name="Rectangle 7"/>
          <p:cNvSpPr/>
          <p:nvPr/>
        </p:nvSpPr>
        <p:spPr>
          <a:xfrm>
            <a:off x="548640" y="1517904"/>
            <a:ext cx="82296" cy="7498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340864"/>
            <a:ext cx="11091672" cy="74980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1300" b="1" i="0">
                <a:solidFill>
                  <a:srgbClr val="1C242B"/>
                </a:solidFill>
                <a:latin typeface="Cambria"/>
              </a:rPr>
              <a:t>Unsubmitted proposals</a:t>
            </a:r>
            <a:r>
              <a:rPr sz="1300" b="0" i="0">
                <a:solidFill>
                  <a:srgbClr val="2A333B"/>
                </a:solidFill>
                <a:latin typeface="Calibri"/>
              </a:rPr>
              <a:t>   “Check this draft work-package description against the call's evaluation criteria and list gaps”</a:t>
            </a:r>
          </a:p>
          <a:p>
            <a:pPr>
              <a:spcBef>
                <a:spcPts val="300"/>
              </a:spcBef>
            </a:pPr>
            <a:r>
              <a:rPr sz="1100" b="0" i="0">
                <a:solidFill>
                  <a:srgbClr val="6B747D"/>
                </a:solidFill>
                <a:latin typeface="Calibri"/>
              </a:rPr>
              <a:t>The call text and the draft, both pasted in</a:t>
            </a:r>
          </a:p>
        </p:txBody>
      </p:sp>
      <p:sp>
        <p:nvSpPr>
          <p:cNvPr id="10" name="Rectangle 9"/>
          <p:cNvSpPr/>
          <p:nvPr/>
        </p:nvSpPr>
        <p:spPr>
          <a:xfrm>
            <a:off x="548640" y="2340864"/>
            <a:ext cx="82296" cy="7498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163824"/>
            <a:ext cx="11091672" cy="74980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1300" b="1" i="0">
                <a:solidFill>
                  <a:srgbClr val="1C242B"/>
                </a:solidFill>
                <a:latin typeface="Cambria"/>
              </a:rPr>
              <a:t>Personnel matters</a:t>
            </a:r>
            <a:r>
              <a:rPr sz="1300" b="0" i="0">
                <a:solidFill>
                  <a:srgbClr val="2A333B"/>
                </a:solidFill>
                <a:latin typeface="Calibri"/>
              </a:rPr>
              <a:t>   “Draft a neutral workload-distribution note for a three-person unit from these constraints”</a:t>
            </a:r>
          </a:p>
          <a:p>
            <a:pPr>
              <a:spcBef>
                <a:spcPts val="300"/>
              </a:spcBef>
            </a:pPr>
            <a:r>
              <a:rPr sz="1100" b="0" i="0">
                <a:solidFill>
                  <a:srgbClr val="6B747D"/>
                </a:solidFill>
                <a:latin typeface="Calibri"/>
              </a:rPr>
              <a:t>Constraints as roles and hours — no names, no evaluations</a:t>
            </a:r>
          </a:p>
        </p:txBody>
      </p:sp>
      <p:sp>
        <p:nvSpPr>
          <p:cNvPr id="12" name="Rectangle 11"/>
          <p:cNvSpPr/>
          <p:nvPr/>
        </p:nvSpPr>
        <p:spPr>
          <a:xfrm>
            <a:off x="548640" y="3163824"/>
            <a:ext cx="82296" cy="7498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3986784"/>
            <a:ext cx="11091672" cy="74980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1300" b="1" i="0">
                <a:solidFill>
                  <a:srgbClr val="1C242B"/>
                </a:solidFill>
                <a:latin typeface="Cambria"/>
              </a:rPr>
              <a:t>Strategic financial planning</a:t>
            </a:r>
            <a:r>
              <a:rPr sz="1300" b="0" i="0">
                <a:solidFill>
                  <a:srgbClr val="2A333B"/>
                </a:solidFill>
                <a:latin typeface="Calibri"/>
              </a:rPr>
              <a:t>   “Build a three-scenario cost projection table from these assumptions”</a:t>
            </a:r>
          </a:p>
          <a:p>
            <a:pPr>
              <a:spcBef>
                <a:spcPts val="300"/>
              </a:spcBef>
            </a:pPr>
            <a:r>
              <a:rPr sz="1100" b="0" i="0">
                <a:solidFill>
                  <a:srgbClr val="6B747D"/>
                </a:solidFill>
                <a:latin typeface="Calibri"/>
              </a:rPr>
              <a:t>Assumptions in; the figures never leave the institutional tenant</a:t>
            </a:r>
          </a:p>
        </p:txBody>
      </p:sp>
      <p:sp>
        <p:nvSpPr>
          <p:cNvPr id="14" name="Rectangle 13"/>
          <p:cNvSpPr/>
          <p:nvPr/>
        </p:nvSpPr>
        <p:spPr>
          <a:xfrm>
            <a:off x="548640" y="3986784"/>
            <a:ext cx="82296" cy="7498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4956048"/>
            <a:ext cx="1109167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600" b="1" i="0">
                <a:solidFill>
                  <a:srgbClr val="FFFFFF"/>
                </a:solidFill>
                <a:latin typeface="Cambria"/>
              </a:rPr>
              <a:t>▶ LIVE DEMO — Scenario 1 in Copilot Chat — anonymised meeting notes in, decision log and action list out</a:t>
            </a:r>
          </a:p>
        </p:txBody>
      </p:sp>
      <p:sp>
        <p:nvSpPr>
          <p:cNvPr id="16" name="Rectangle 15"/>
          <p:cNvSpPr/>
          <p:nvPr/>
        </p:nvSpPr>
        <p:spPr>
          <a:xfrm>
            <a:off x="548640" y="4956048"/>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4956048"/>
            <a:ext cx="45720"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5614416"/>
            <a:ext cx="11091672" cy="365760"/>
          </a:xfrm>
          <a:prstGeom prst="rect">
            <a:avLst/>
          </a:prstGeom>
          <a:noFill/>
        </p:spPr>
        <p:txBody>
          <a:bodyPr wrap="square">
            <a:spAutoFit/>
          </a:bodyPr>
          <a:lstStyle/>
          <a:p>
            <a:pPr algn="l"/>
            <a:r>
              <a:rPr sz="1100" b="0" i="1">
                <a:solidFill>
                  <a:srgbClr val="6B747D"/>
                </a:solidFill>
                <a:latin typeface="Calibri"/>
              </a:rPr>
              <a:t>You reproduce the other three in the assignment and at Practice Week 1 — watch the shape of the prompt, not the wording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Limits and guardrails</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207008"/>
            <a:ext cx="11091672" cy="365760"/>
          </a:xfrm>
          <a:prstGeom prst="rect">
            <a:avLst/>
          </a:prstGeom>
          <a:noFill/>
        </p:spPr>
        <p:txBody>
          <a:bodyPr wrap="square">
            <a:spAutoFit/>
          </a:bodyPr>
          <a:lstStyle/>
          <a:p>
            <a:pPr algn="l"/>
            <a:r>
              <a:rPr sz="1300" b="0" i="0">
                <a:solidFill>
                  <a:srgbClr val="6B747D"/>
                </a:solidFill>
                <a:latin typeface="Calibri"/>
              </a:rPr>
              <a:t>What the institutional account buys you, and what it does not</a:t>
            </a:r>
          </a:p>
        </p:txBody>
      </p:sp>
      <p:sp>
        <p:nvSpPr>
          <p:cNvPr id="7" name="Rectangle 6"/>
          <p:cNvSpPr/>
          <p:nvPr/>
        </p:nvSpPr>
        <p:spPr>
          <a:xfrm>
            <a:off x="548640"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28600" rtlCol="0" anchor="t"/>
          <a:lstStyle/>
          <a:p>
            <a:pPr algn="l"/>
            <a:r>
              <a:rPr sz="1800" b="1" i="0">
                <a:solidFill>
                  <a:srgbClr val="1C242B"/>
                </a:solidFill>
                <a:latin typeface="Cambria"/>
              </a:rPr>
              <a:t>Enterprise behaviour</a:t>
            </a:r>
          </a:p>
          <a:p>
            <a:pPr algn="l">
              <a:spcBef>
                <a:spcPts val="400"/>
              </a:spcBef>
            </a:pPr>
            <a:r>
              <a:rPr sz="1400" b="0" i="0">
                <a:solidFill>
                  <a:srgbClr val="2A333B"/>
                </a:solidFill>
                <a:latin typeface="Calibri"/>
              </a:rPr>
              <a:t>Prompts and answers stay inside the institutional Microsoft 365 tenant, are not used to train the models, and are covered by the same terms as the institution's other tenant data. This is what makes it the Sensitive Lane.</a:t>
            </a:r>
          </a:p>
        </p:txBody>
      </p:sp>
      <p:sp>
        <p:nvSpPr>
          <p:cNvPr id="8" name="Rectangle 7"/>
          <p:cNvSpPr/>
          <p:nvPr/>
        </p:nvSpPr>
        <p:spPr>
          <a:xfrm>
            <a:off x="548640"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9632" y="157276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28600" rtlCol="0" anchor="t"/>
          <a:lstStyle/>
          <a:p>
            <a:pPr algn="l"/>
            <a:r>
              <a:rPr sz="1800" b="1" i="0">
                <a:solidFill>
                  <a:srgbClr val="1C242B"/>
                </a:solidFill>
                <a:latin typeface="Cambria"/>
              </a:rPr>
              <a:t>No SharePoint or OneDrive grounding</a:t>
            </a:r>
          </a:p>
          <a:p>
            <a:pPr algn="l">
              <a:spcBef>
                <a:spcPts val="400"/>
              </a:spcBef>
            </a:pPr>
            <a:r>
              <a:rPr sz="1400" b="0" i="0">
                <a:solidFill>
                  <a:srgbClr val="2A333B"/>
                </a:solidFill>
                <a:latin typeface="Calibri"/>
              </a:rPr>
              <a:t>It does not read the institution's files by itself. What it knows about a task is what you paste or attach — the relevant content has to be brought to it, and curated on the way in (context window, Lesson 1).</a:t>
            </a:r>
          </a:p>
        </p:txBody>
      </p:sp>
      <p:sp>
        <p:nvSpPr>
          <p:cNvPr id="10" name="Rectangle 9"/>
          <p:cNvSpPr/>
          <p:nvPr/>
        </p:nvSpPr>
        <p:spPr>
          <a:xfrm>
            <a:off x="6199632" y="157276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28600" rtlCol="0" anchor="t"/>
          <a:lstStyle/>
          <a:p>
            <a:pPr algn="l"/>
            <a:r>
              <a:rPr sz="1800" b="1" i="0">
                <a:solidFill>
                  <a:srgbClr val="1C242B"/>
                </a:solidFill>
                <a:latin typeface="Cambria"/>
              </a:rPr>
              <a:t>Weaker on general work</a:t>
            </a:r>
          </a:p>
          <a:p>
            <a:pPr algn="l">
              <a:spcBef>
                <a:spcPts val="400"/>
              </a:spcBef>
            </a:pPr>
            <a:r>
              <a:rPr sz="1400" b="0" i="0">
                <a:solidFill>
                  <a:srgbClr val="2A333B"/>
                </a:solidFill>
                <a:latin typeface="Calibri"/>
              </a:rPr>
              <a:t>Shorter effective context and fewer capabilities than a free-tier tool. Sending ordinary drafting or research work here costs you quality and buys you nothing.</a:t>
            </a:r>
          </a:p>
        </p:txBody>
      </p:sp>
      <p:sp>
        <p:nvSpPr>
          <p:cNvPr id="12" name="Rectangle 11"/>
          <p:cNvSpPr/>
          <p:nvPr/>
        </p:nvSpPr>
        <p:spPr>
          <a:xfrm>
            <a:off x="548640"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9632" y="3310128"/>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201168" rIns="228600" rtlCol="0" anchor="t"/>
          <a:lstStyle/>
          <a:p>
            <a:pPr algn="l"/>
            <a:r>
              <a:rPr sz="1800" b="1" i="0">
                <a:solidFill>
                  <a:srgbClr val="1C242B"/>
                </a:solidFill>
                <a:latin typeface="Cambria"/>
              </a:rPr>
              <a:t>Anonymise anyway</a:t>
            </a:r>
          </a:p>
          <a:p>
            <a:pPr algn="l">
              <a:spcBef>
                <a:spcPts val="400"/>
              </a:spcBef>
            </a:pPr>
            <a:r>
              <a:rPr sz="1400" b="0" i="0">
                <a:solidFill>
                  <a:srgbClr val="2A333B"/>
                </a:solidFill>
                <a:latin typeface="Calibri"/>
              </a:rPr>
              <a:t>The tenant boundary does not lift the anonymise-before-upload rule. A document carrying personal or sensitive information is anonymised before it is attached here too.</a:t>
            </a:r>
          </a:p>
        </p:txBody>
      </p:sp>
      <p:sp>
        <p:nvSpPr>
          <p:cNvPr id="14" name="Rectangle 13"/>
          <p:cNvSpPr/>
          <p:nvPr/>
        </p:nvSpPr>
        <p:spPr>
          <a:xfrm>
            <a:off x="6199632" y="3310128"/>
            <a:ext cx="82296" cy="16459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175504"/>
            <a:ext cx="11091672" cy="71323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900" b="1" i="0">
                <a:solidFill>
                  <a:srgbClr val="FFFFFF"/>
                </a:solidFill>
                <a:latin typeface="Cambria"/>
              </a:rPr>
              <a:t>Reserve it for the sensitive work</a:t>
            </a:r>
          </a:p>
          <a:p>
            <a:pPr algn="ctr">
              <a:spcBef>
                <a:spcPts val="600"/>
              </a:spcBef>
            </a:pPr>
            <a:r>
              <a:rPr sz="1300" b="0" i="0">
                <a:solidFill>
                  <a:srgbClr val="FFFFFF"/>
                </a:solidFill>
                <a:latin typeface="Calibri"/>
              </a:rPr>
              <a:t>The boundary is the whole reason this lane exists — and the reason everything else belongs somewhere else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Adobe Acrobat in Teams and Copilot</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8638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A call document lands as a PDF in a Teams channel: read it in high fidelity, and collect the unit's comments in that one file instead of reconciling four separate attachments</a:t>
            </a:r>
          </a:p>
        </p:txBody>
      </p:sp>
      <p:sp>
        <p:nvSpPr>
          <p:cNvPr id="7" name="Rectangle 6"/>
          <p:cNvSpPr/>
          <p:nvPr/>
        </p:nvSpPr>
        <p:spPr>
          <a:xfrm>
            <a:off x="548640" y="2103120"/>
            <a:ext cx="5440680" cy="239572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46304" rIns="228600" rtlCol="0" anchor="t"/>
          <a:lstStyle/>
          <a:p>
            <a:pPr algn="l"/>
            <a:r>
              <a:rPr sz="1800" b="1" i="0">
                <a:solidFill>
                  <a:srgbClr val="1C242B"/>
                </a:solidFill>
                <a:latin typeface="Cambria"/>
              </a:rPr>
              <a:t>Free to use</a:t>
            </a:r>
          </a:p>
          <a:p>
            <a:pPr>
              <a:spcBef>
                <a:spcPts val="500"/>
              </a:spcBef>
            </a:pPr>
            <a:r>
              <a:rPr sz="1150" b="0" i="0">
                <a:solidFill>
                  <a:srgbClr val="2A333B"/>
                </a:solidFill>
                <a:latin typeface="Calibri"/>
              </a:rPr>
              <a:t>·  High-quality viewing — high-fidelity PDFs opened inside Teams, Outlook and Microsoft 365</a:t>
            </a:r>
          </a:p>
          <a:p>
            <a:pPr>
              <a:spcBef>
                <a:spcPts val="500"/>
              </a:spcBef>
            </a:pPr>
            <a:r>
              <a:rPr sz="1150" b="0" i="0">
                <a:solidFill>
                  <a:srgbClr val="2A333B"/>
                </a:solidFill>
                <a:latin typeface="Calibri"/>
              </a:rPr>
              <a:t>·  Central access to PDFs — channel and chat files, OneDrive and your own machine, in one place</a:t>
            </a:r>
          </a:p>
          <a:p>
            <a:pPr>
              <a:spcBef>
                <a:spcPts val="500"/>
              </a:spcBef>
            </a:pPr>
            <a:r>
              <a:rPr sz="1150" b="0" i="0">
                <a:solidFill>
                  <a:srgbClr val="2A333B"/>
                </a:solidFill>
                <a:latin typeface="Calibri"/>
              </a:rPr>
              <a:t>·  Streamline PDF review — the unit's feedback collected in a single PDF inside Teams (not on mobile)</a:t>
            </a:r>
          </a:p>
          <a:p>
            <a:pPr>
              <a:spcBef>
                <a:spcPts val="500"/>
              </a:spcBef>
            </a:pPr>
            <a:r>
              <a:rPr sz="1150" b="0" i="0">
                <a:solidFill>
                  <a:srgbClr val="2A333B"/>
                </a:solidFill>
                <a:latin typeface="Calibri"/>
              </a:rPr>
              <a:t>·  Keep reviewers informed — a reviewer is notified when someone replies to their comment</a:t>
            </a:r>
          </a:p>
          <a:p>
            <a:pPr>
              <a:spcBef>
                <a:spcPts val="500"/>
              </a:spcBef>
            </a:pPr>
            <a:r>
              <a:rPr sz="1150" b="0" i="0">
                <a:solidFill>
                  <a:srgbClr val="2A333B"/>
                </a:solidFill>
                <a:latin typeface="Calibri"/>
              </a:rPr>
              <a:t>·  Collaborate with confidence — versions retained in SharePoint or OneDrive</a:t>
            </a:r>
          </a:p>
        </p:txBody>
      </p:sp>
      <p:sp>
        <p:nvSpPr>
          <p:cNvPr id="8" name="Rectangle 7"/>
          <p:cNvSpPr/>
          <p:nvPr/>
        </p:nvSpPr>
        <p:spPr>
          <a:xfrm>
            <a:off x="548640" y="2103120"/>
            <a:ext cx="82296" cy="239572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9632" y="2103120"/>
            <a:ext cx="5440680" cy="115214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Not available — Premium (needs an Acrobat subscription)</a:t>
            </a:r>
          </a:p>
          <a:p>
            <a:pPr>
              <a:spcBef>
                <a:spcPts val="300"/>
              </a:spcBef>
            </a:pPr>
            <a:r>
              <a:rPr sz="1100" b="0" i="0">
                <a:solidFill>
                  <a:srgbClr val="2A333B"/>
                </a:solidFill>
                <a:latin typeface="Calibri"/>
              </a:rPr>
              <a:t>Convert PDFs to Word, Excel and PowerPoint, or to an image · combine multiple documents into one PDF · delete, rotate, extract, insert or reorder pages · reduce the size of a PDF · add a password</a:t>
            </a:r>
          </a:p>
        </p:txBody>
      </p:sp>
      <p:sp>
        <p:nvSpPr>
          <p:cNvPr id="10" name="Rectangle 9"/>
          <p:cNvSpPr/>
          <p:nvPr/>
        </p:nvSpPr>
        <p:spPr>
          <a:xfrm>
            <a:off x="6199632" y="2103120"/>
            <a:ext cx="82296" cy="115214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9632" y="3346704"/>
            <a:ext cx="5440680" cy="115214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Not available — AI Assistant (needs the add-on)</a:t>
            </a:r>
          </a:p>
          <a:p>
            <a:pPr>
              <a:spcBef>
                <a:spcPts val="300"/>
              </a:spcBef>
            </a:pPr>
            <a:r>
              <a:rPr sz="1100" b="0" i="0">
                <a:solidFill>
                  <a:srgbClr val="2A333B"/>
                </a:solidFill>
                <a:latin typeface="Calibri"/>
              </a:rPr>
              <a:t>Answers about a document with attributions back to the source · drafting from your own documents · meeting transcript summaries</a:t>
            </a:r>
          </a:p>
        </p:txBody>
      </p:sp>
      <p:sp>
        <p:nvSpPr>
          <p:cNvPr id="12" name="Rectangle 11"/>
          <p:cNvSpPr/>
          <p:nvPr/>
        </p:nvSpPr>
        <p:spPr>
          <a:xfrm>
            <a:off x="6199632" y="3346704"/>
            <a:ext cx="82296" cy="115214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4608576"/>
            <a:ext cx="11091672" cy="6766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do</a:t>
            </a:r>
          </a:p>
          <a:p>
            <a:pPr>
              <a:spcBef>
                <a:spcPts val="300"/>
              </a:spcBef>
            </a:pPr>
            <a:r>
              <a:rPr sz="1200" b="0" i="0">
                <a:solidFill>
                  <a:srgbClr val="2A333B"/>
                </a:solidFill>
                <a:latin typeface="Calibri"/>
              </a:rPr>
              <a:t>Open the PDF from the channel → Comment → share the review back to the channel, so every reply lands on the same file</a:t>
            </a:r>
          </a:p>
        </p:txBody>
      </p:sp>
      <p:sp>
        <p:nvSpPr>
          <p:cNvPr id="14" name="Rectangle 13"/>
          <p:cNvSpPr/>
          <p:nvPr/>
        </p:nvSpPr>
        <p:spPr>
          <a:xfrm>
            <a:off x="548640" y="4608576"/>
            <a:ext cx="82296" cy="6766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394960"/>
            <a:ext cx="11091672" cy="58521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500" b="1" i="0">
                <a:solidFill>
                  <a:srgbClr val="FFFFFF"/>
                </a:solidFill>
                <a:latin typeface="Cambria"/>
              </a:rPr>
              <a:t>Plan the workflow around the free features — the paid tiers are not part of the institutional licence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Prompt Coach — your own prompt, critiqued</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315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700" b="1" i="0">
                <a:solidFill>
                  <a:srgbClr val="FFFFFF"/>
                </a:solidFill>
                <a:latin typeface="Cambria"/>
              </a:rPr>
              <a:t>Take one of the three ICC prompts from your Lesson 1 assignment, paste it in, and ask for a critique and a rewrite</a:t>
            </a:r>
          </a:p>
        </p:txBody>
      </p:sp>
      <p:sp>
        <p:nvSpPr>
          <p:cNvPr id="7" name="Rectangle 6"/>
          <p:cNvSpPr/>
          <p:nvPr/>
        </p:nvSpPr>
        <p:spPr>
          <a:xfrm>
            <a:off x="548640" y="2084831"/>
            <a:ext cx="11091672"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type</a:t>
            </a:r>
          </a:p>
          <a:p>
            <a:pPr>
              <a:spcBef>
                <a:spcPts val="300"/>
              </a:spcBef>
            </a:pPr>
            <a:r>
              <a:rPr sz="1250" b="0" i="0">
                <a:solidFill>
                  <a:srgbClr val="2A333B"/>
                </a:solidFill>
                <a:latin typeface="Calibri"/>
              </a:rPr>
              <a:t>“Here is a prompt I wrote and the goal it was meant to serve. Critique it against that goal, then give me an improved version and explain each change.”</a:t>
            </a:r>
          </a:p>
        </p:txBody>
      </p:sp>
      <p:sp>
        <p:nvSpPr>
          <p:cNvPr id="8" name="Rectangle 7"/>
          <p:cNvSpPr/>
          <p:nvPr/>
        </p:nvSpPr>
        <p:spPr>
          <a:xfrm>
            <a:off x="548640" y="2084831"/>
            <a:ext cx="82296" cy="85953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3090672"/>
            <a:ext cx="5440680" cy="128016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comes back</a:t>
            </a:r>
          </a:p>
          <a:p>
            <a:pPr>
              <a:spcBef>
                <a:spcPts val="300"/>
              </a:spcBef>
            </a:pPr>
            <a:r>
              <a:rPr sz="1150" b="0" i="0">
                <a:solidFill>
                  <a:srgbClr val="2A333B"/>
                </a:solidFill>
                <a:latin typeface="Calibri"/>
              </a:rPr>
              <a:t>·  A critique of your prompt against the goal you stated</a:t>
            </a:r>
          </a:p>
          <a:p>
            <a:pPr>
              <a:spcBef>
                <a:spcPts val="300"/>
              </a:spcBef>
            </a:pPr>
            <a:r>
              <a:rPr sz="1150" b="0" i="0">
                <a:solidFill>
                  <a:srgbClr val="2A333B"/>
                </a:solidFill>
                <a:latin typeface="Calibri"/>
              </a:rPr>
              <a:t>·  An improved version, ready to paste</a:t>
            </a:r>
          </a:p>
          <a:p>
            <a:pPr>
              <a:spcBef>
                <a:spcPts val="300"/>
              </a:spcBef>
            </a:pPr>
            <a:r>
              <a:rPr sz="1150" b="0" i="0">
                <a:solidFill>
                  <a:srgbClr val="2A333B"/>
                </a:solidFill>
                <a:latin typeface="Calibri"/>
              </a:rPr>
              <a:t>·  The reasoning behind each change — so the next prompt is better before it is critiqued</a:t>
            </a:r>
          </a:p>
        </p:txBody>
      </p:sp>
      <p:sp>
        <p:nvSpPr>
          <p:cNvPr id="10" name="Rectangle 9"/>
          <p:cNvSpPr/>
          <p:nvPr/>
        </p:nvSpPr>
        <p:spPr>
          <a:xfrm>
            <a:off x="548640" y="3090672"/>
            <a:ext cx="82296" cy="128016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9632" y="3090672"/>
            <a:ext cx="5440680" cy="128016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The Lesson 1 link</a:t>
            </a:r>
          </a:p>
          <a:p>
            <a:pPr>
              <a:spcBef>
                <a:spcPts val="300"/>
              </a:spcBef>
            </a:pPr>
            <a:r>
              <a:rPr sz="1150" b="0" i="0">
                <a:solidFill>
                  <a:srgbClr val="2A333B"/>
                </a:solidFill>
                <a:latin typeface="Calibri"/>
              </a:rPr>
              <a:t>·  Meta-prompting, packaged as an agent: the model as your prompt engineer, with the coach persona already built in</a:t>
            </a:r>
          </a:p>
          <a:p>
            <a:pPr>
              <a:spcBef>
                <a:spcPts val="300"/>
              </a:spcBef>
            </a:pPr>
            <a:r>
              <a:rPr sz="1150" b="0" i="0">
                <a:solidFill>
                  <a:srgbClr val="2A333B"/>
                </a:solidFill>
                <a:latin typeface="Calibri"/>
              </a:rPr>
              <a:t>·  Keep the improved prompt — it is the first entry in your prompt library</a:t>
            </a:r>
          </a:p>
        </p:txBody>
      </p:sp>
      <p:sp>
        <p:nvSpPr>
          <p:cNvPr id="12" name="Rectangle 11"/>
          <p:cNvSpPr/>
          <p:nvPr/>
        </p:nvSpPr>
        <p:spPr>
          <a:xfrm>
            <a:off x="6199632" y="3090672"/>
            <a:ext cx="82296" cy="128016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4535424"/>
            <a:ext cx="1109167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600" b="1" i="0">
                <a:solidFill>
                  <a:srgbClr val="FFFFFF"/>
                </a:solidFill>
                <a:latin typeface="Cambria"/>
              </a:rPr>
              <a:t>▶ LIVE DEMO — Prompt Coach on an ICC prompt from the debrief — with the author's permission</a:t>
            </a:r>
          </a:p>
        </p:txBody>
      </p:sp>
      <p:sp>
        <p:nvSpPr>
          <p:cNvPr id="14" name="Rectangle 13"/>
          <p:cNvSpPr/>
          <p:nvPr/>
        </p:nvSpPr>
        <p:spPr>
          <a:xfrm>
            <a:off x="548640" y="4535424"/>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4535424"/>
            <a:ext cx="45720"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5193792"/>
            <a:ext cx="11091672" cy="365760"/>
          </a:xfrm>
          <a:prstGeom prst="rect">
            <a:avLst/>
          </a:prstGeom>
          <a:noFill/>
        </p:spPr>
        <p:txBody>
          <a:bodyPr wrap="square">
            <a:spAutoFit/>
          </a:bodyPr>
          <a:lstStyle/>
          <a:p>
            <a:pPr algn="l"/>
            <a:r>
              <a:rPr sz="1100" b="0" i="1">
                <a:solidFill>
                  <a:srgbClr val="6B747D"/>
                </a:solidFill>
                <a:latin typeface="Calibri"/>
              </a:rPr>
              <a:t>A prompt is worth improving once and reusing twenty times — that is what a prompt library is for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Study and Learn — concepts, flashcards, quizzes</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8638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Explain a concept from your Anchor Project's domain — eligible costs, say — then turn the explanation into flashcards and a five-question quiz for a junior colleague</a:t>
            </a:r>
          </a:p>
        </p:txBody>
      </p:sp>
      <p:sp>
        <p:nvSpPr>
          <p:cNvPr id="7" name="Rectangle 6"/>
          <p:cNvSpPr/>
          <p:nvPr/>
        </p:nvSpPr>
        <p:spPr>
          <a:xfrm>
            <a:off x="548640" y="2157984"/>
            <a:ext cx="3557016" cy="98755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500" b="1" i="0">
                <a:solidFill>
                  <a:srgbClr val="1C242B"/>
                </a:solidFill>
                <a:latin typeface="Cambria"/>
              </a:rPr>
              <a:t>Understand</a:t>
            </a:r>
          </a:p>
          <a:p>
            <a:pPr>
              <a:spcBef>
                <a:spcPts val="300"/>
              </a:spcBef>
            </a:pPr>
            <a:r>
              <a:rPr sz="1150" b="0" i="0">
                <a:solidFill>
                  <a:srgbClr val="2A333B"/>
                </a:solidFill>
                <a:latin typeface="Calibri"/>
              </a:rPr>
              <a:t>A concept explained conversationally, at the depth you ask for</a:t>
            </a:r>
          </a:p>
        </p:txBody>
      </p:sp>
      <p:sp>
        <p:nvSpPr>
          <p:cNvPr id="8" name="Rectangle 7"/>
          <p:cNvSpPr/>
          <p:nvPr/>
        </p:nvSpPr>
        <p:spPr>
          <a:xfrm>
            <a:off x="548640" y="2157984"/>
            <a:ext cx="82296" cy="9875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15968" y="2157984"/>
            <a:ext cx="3557016" cy="98755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500" b="1" i="0">
                <a:solidFill>
                  <a:srgbClr val="1C242B"/>
                </a:solidFill>
                <a:latin typeface="Cambria"/>
              </a:rPr>
              <a:t>Practise</a:t>
            </a:r>
          </a:p>
          <a:p>
            <a:pPr>
              <a:spcBef>
                <a:spcPts val="300"/>
              </a:spcBef>
            </a:pPr>
            <a:r>
              <a:rPr sz="1150" b="0" i="0">
                <a:solidFill>
                  <a:srgbClr val="2A333B"/>
                </a:solidFill>
                <a:latin typeface="Calibri"/>
              </a:rPr>
              <a:t>Flashcards generated from the explanation, for spaced repetition</a:t>
            </a:r>
          </a:p>
        </p:txBody>
      </p:sp>
      <p:sp>
        <p:nvSpPr>
          <p:cNvPr id="10" name="Rectangle 9"/>
          <p:cNvSpPr/>
          <p:nvPr/>
        </p:nvSpPr>
        <p:spPr>
          <a:xfrm>
            <a:off x="4315968" y="2157984"/>
            <a:ext cx="82296" cy="9875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83296" y="2157984"/>
            <a:ext cx="3557016" cy="98755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500" b="1" i="0">
                <a:solidFill>
                  <a:srgbClr val="1C242B"/>
                </a:solidFill>
                <a:latin typeface="Cambria"/>
              </a:rPr>
              <a:t>Check</a:t>
            </a:r>
          </a:p>
          <a:p>
            <a:pPr>
              <a:spcBef>
                <a:spcPts val="300"/>
              </a:spcBef>
            </a:pPr>
            <a:r>
              <a:rPr sz="1150" b="0" i="0">
                <a:solidFill>
                  <a:srgbClr val="2A333B"/>
                </a:solidFill>
                <a:latin typeface="Calibri"/>
              </a:rPr>
              <a:t>A study guide and a quiz — what the learner can actually do</a:t>
            </a:r>
          </a:p>
        </p:txBody>
      </p:sp>
      <p:sp>
        <p:nvSpPr>
          <p:cNvPr id="12" name="Rectangle 11"/>
          <p:cNvSpPr/>
          <p:nvPr/>
        </p:nvSpPr>
        <p:spPr>
          <a:xfrm>
            <a:off x="8083296" y="2157984"/>
            <a:ext cx="82296" cy="98755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3310128"/>
            <a:ext cx="11091672" cy="7315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it needs</a:t>
            </a:r>
          </a:p>
          <a:p>
            <a:pPr>
              <a:spcBef>
                <a:spcPts val="300"/>
              </a:spcBef>
            </a:pPr>
            <a:r>
              <a:rPr sz="1150" b="0" i="0">
                <a:solidFill>
                  <a:srgbClr val="2A333B"/>
                </a:solidFill>
                <a:latin typeface="Calibri"/>
              </a:rPr>
              <a:t>A Microsoft 365 Education account (Entra ID). No Copilot licence required.</a:t>
            </a:r>
          </a:p>
        </p:txBody>
      </p:sp>
      <p:sp>
        <p:nvSpPr>
          <p:cNvPr id="14" name="Rectangle 13"/>
          <p:cNvSpPr/>
          <p:nvPr/>
        </p:nvSpPr>
        <p:spPr>
          <a:xfrm>
            <a:off x="548640" y="3310128"/>
            <a:ext cx="82296" cy="7315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4206240"/>
            <a:ext cx="1109167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600" b="1" i="0">
                <a:solidFill>
                  <a:srgbClr val="FFFFFF"/>
                </a:solidFill>
                <a:latin typeface="Cambria"/>
              </a:rPr>
              <a:t>▶ LIVE DEMO — The concept explained, then flashcards and a five-question quiz built from it</a:t>
            </a:r>
          </a:p>
        </p:txBody>
      </p:sp>
      <p:sp>
        <p:nvSpPr>
          <p:cNvPr id="16" name="Rectangle 15"/>
          <p:cNvSpPr/>
          <p:nvPr/>
        </p:nvSpPr>
        <p:spPr>
          <a:xfrm>
            <a:off x="548640" y="4206240"/>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4206240"/>
            <a:ext cx="45720"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4864608"/>
            <a:ext cx="1109167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Why it matters for the assignment</a:t>
            </a:r>
          </a:p>
          <a:p>
            <a:pPr>
              <a:spcBef>
                <a:spcPts val="300"/>
              </a:spcBef>
            </a:pPr>
            <a:r>
              <a:rPr sz="1150" b="0" i="0">
                <a:solidFill>
                  <a:srgbClr val="2A333B"/>
                </a:solidFill>
                <a:latin typeface="Calibri"/>
              </a:rPr>
              <a:t>Your deliverable is a presentation designed to facilitate learning outcomes. This is where you find out whether they land — build the quiz, and the gaps in the presentation show up as questions nobody can answer.</a:t>
            </a:r>
          </a:p>
        </p:txBody>
      </p:sp>
      <p:sp>
        <p:nvSpPr>
          <p:cNvPr id="19" name="Rectangle 18"/>
          <p:cNvSpPr/>
          <p:nvPr/>
        </p:nvSpPr>
        <p:spPr>
          <a:xfrm>
            <a:off x="548640" y="4864608"/>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Canva in Teams — prototype the presentation</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315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700" b="1" i="0">
                <a:solidFill>
                  <a:srgbClr val="FFFFFF"/>
                </a:solidFill>
                <a:latin typeface="Cambria"/>
              </a:rPr>
              <a:t>Prototype the structure of your assignment presentation as a multi-page design, previewed and commented on without leaving Teams</a:t>
            </a:r>
          </a:p>
        </p:txBody>
      </p:sp>
      <p:sp>
        <p:nvSpPr>
          <p:cNvPr id="7" name="Rectangle 6"/>
          <p:cNvSpPr/>
          <p:nvPr/>
        </p:nvSpPr>
        <p:spPr>
          <a:xfrm>
            <a:off x="548640" y="2029968"/>
            <a:ext cx="11091672" cy="109728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400" b="1" i="0">
                <a:solidFill>
                  <a:srgbClr val="1C242B"/>
                </a:solidFill>
                <a:latin typeface="Cambria"/>
              </a:rPr>
              <a:t>What the Teams app gives you</a:t>
            </a:r>
          </a:p>
          <a:p>
            <a:pPr>
              <a:spcBef>
                <a:spcPts val="300"/>
              </a:spcBef>
            </a:pPr>
            <a:r>
              <a:rPr sz="1200" b="0" i="0">
                <a:solidFill>
                  <a:srgbClr val="2A333B"/>
                </a:solidFill>
                <a:latin typeface="Calibri"/>
              </a:rPr>
              <a:t>·  Design notifications and updates in one place, without leaving Teams</a:t>
            </a:r>
          </a:p>
          <a:p>
            <a:pPr>
              <a:spcBef>
                <a:spcPts val="300"/>
              </a:spcBef>
            </a:pPr>
            <a:r>
              <a:rPr sz="1200" b="0" i="0">
                <a:solidFill>
                  <a:srgbClr val="2A333B"/>
                </a:solidFill>
                <a:latin typeface="Calibri"/>
              </a:rPr>
              <a:t>·  Colleagues invited to preview or collaborate on a design</a:t>
            </a:r>
          </a:p>
          <a:p>
            <a:pPr>
              <a:spcBef>
                <a:spcPts val="300"/>
              </a:spcBef>
            </a:pPr>
            <a:r>
              <a:rPr sz="1200" b="0" i="0">
                <a:solidFill>
                  <a:srgbClr val="2A333B"/>
                </a:solidFill>
                <a:latin typeface="Calibri"/>
              </a:rPr>
              <a:t>·  Multi-page designs viewed inside Teams</a:t>
            </a:r>
          </a:p>
        </p:txBody>
      </p:sp>
      <p:sp>
        <p:nvSpPr>
          <p:cNvPr id="8" name="Rectangle 7"/>
          <p:cNvSpPr/>
          <p:nvPr/>
        </p:nvSpPr>
        <p:spPr>
          <a:xfrm>
            <a:off x="548640" y="2029968"/>
            <a:ext cx="82296" cy="10972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3236976"/>
            <a:ext cx="11091672" cy="91440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400" b="1" i="0">
                <a:solidFill>
                  <a:srgbClr val="1C242B"/>
                </a:solidFill>
                <a:latin typeface="Cambria"/>
              </a:rPr>
              <a:t>Prototyping only</a:t>
            </a:r>
          </a:p>
          <a:p>
            <a:pPr>
              <a:spcBef>
                <a:spcPts val="300"/>
              </a:spcBef>
            </a:pPr>
            <a:r>
              <a:rPr sz="1200" b="0" i="0">
                <a:solidFill>
                  <a:srgbClr val="2A333B"/>
                </a:solidFill>
                <a:latin typeface="Calibri"/>
              </a:rPr>
              <a:t>·  The structure and the look of the presentation — the order of the sections, what goes on a page, where the examples sit</a:t>
            </a:r>
          </a:p>
          <a:p>
            <a:pPr>
              <a:spcBef>
                <a:spcPts val="300"/>
              </a:spcBef>
            </a:pPr>
            <a:r>
              <a:rPr sz="1200" b="0" i="0">
                <a:solidFill>
                  <a:srgbClr val="2A333B"/>
                </a:solidFill>
                <a:latin typeface="Calibri"/>
              </a:rPr>
              <a:t>·  Not the finished deck: that is the next slide</a:t>
            </a:r>
          </a:p>
        </p:txBody>
      </p:sp>
      <p:sp>
        <p:nvSpPr>
          <p:cNvPr id="10" name="Rectangle 9"/>
          <p:cNvSpPr/>
          <p:nvPr/>
        </p:nvSpPr>
        <p:spPr>
          <a:xfrm>
            <a:off x="548640" y="3236976"/>
            <a:ext cx="82296" cy="9144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4261104"/>
            <a:ext cx="11091672" cy="6766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do</a:t>
            </a:r>
          </a:p>
          <a:p>
            <a:pPr>
              <a:spcBef>
                <a:spcPts val="300"/>
              </a:spcBef>
            </a:pPr>
            <a:r>
              <a:rPr sz="1200" b="0" i="0">
                <a:solidFill>
                  <a:srgbClr val="2A333B"/>
                </a:solidFill>
                <a:latin typeface="Calibri"/>
              </a:rPr>
              <a:t>New multi-page design → one page per section of the presentation → share it to the channel and let the comments come back in Teams</a:t>
            </a:r>
          </a:p>
        </p:txBody>
      </p:sp>
      <p:sp>
        <p:nvSpPr>
          <p:cNvPr id="12" name="Rectangle 11"/>
          <p:cNvSpPr/>
          <p:nvPr/>
        </p:nvSpPr>
        <p:spPr>
          <a:xfrm>
            <a:off x="548640" y="4261104"/>
            <a:ext cx="82296" cy="6766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5047488"/>
            <a:ext cx="11091672" cy="71323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500" b="1" i="0">
                <a:solidFill>
                  <a:srgbClr val="FFFFFF"/>
                </a:solidFill>
                <a:latin typeface="Cambria"/>
              </a:rPr>
              <a:t>A third-party design platform surfaced inside Teams</a:t>
            </a:r>
          </a:p>
          <a:p>
            <a:pPr algn="ctr">
              <a:spcBef>
                <a:spcPts val="600"/>
              </a:spcBef>
            </a:pPr>
            <a:r>
              <a:rPr sz="1300" b="0" i="0">
                <a:solidFill>
                  <a:srgbClr val="FFFFFF"/>
                </a:solidFill>
                <a:latin typeface="Calibri"/>
              </a:rPr>
              <a:t>The design leaves the institutional tenant, so the routing rule applies to it: anonymised, non-sensitive content only</a:t>
            </a:r>
          </a:p>
        </p:txBody>
      </p:sp>
      <p:sp>
        <p:nvSpPr>
          <p:cNvPr id="14" name="TextBox 13"/>
          <p:cNvSpPr txBox="1"/>
          <p:nvPr/>
        </p:nvSpPr>
        <p:spPr>
          <a:xfrm>
            <a:off x="548640" y="5852160"/>
            <a:ext cx="11091672" cy="365760"/>
          </a:xfrm>
          <a:prstGeom prst="rect">
            <a:avLst/>
          </a:prstGeom>
          <a:noFill/>
        </p:spPr>
        <p:txBody>
          <a:bodyPr wrap="square">
            <a:spAutoFit/>
          </a:bodyPr>
          <a:lstStyle/>
          <a:p>
            <a:pPr algn="l"/>
            <a:r>
              <a:rPr sz="1100" b="0" i="1">
                <a:solidFill>
                  <a:srgbClr val="6B747D"/>
                </a:solidFill>
                <a:latin typeface="Calibri"/>
              </a:rPr>
              <a:t>Prototype first, build second — a structure is cheap to change, a finished deck is not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genspark.ai — build the actual presentation</a:t>
            </a:r>
          </a:p>
        </p:txBody>
      </p:sp>
      <p:sp>
        <p:nvSpPr>
          <p:cNvPr id="3" name="Rounded Rectangle 2"/>
          <p:cNvSpPr/>
          <p:nvPr/>
        </p:nvSpPr>
        <p:spPr>
          <a:xfrm>
            <a:off x="8714232" y="457200"/>
            <a:ext cx="2926080" cy="329184"/>
          </a:xfrm>
          <a:prstGeom prst="round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SENSITIVE LANE · COPILOT CHAT (BASIC)</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3152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700" b="1" i="0">
                <a:solidFill>
                  <a:srgbClr val="FFFFFF"/>
                </a:solidFill>
                <a:latin typeface="Cambria"/>
              </a:rPr>
              <a:t>Hand the approved prototype and the drafted content to genspark.ai and get the presentation itself back</a:t>
            </a:r>
          </a:p>
        </p:txBody>
      </p:sp>
      <p:sp>
        <p:nvSpPr>
          <p:cNvPr id="7" name="Rectangle 6"/>
          <p:cNvSpPr/>
          <p:nvPr/>
        </p:nvSpPr>
        <p:spPr>
          <a:xfrm>
            <a:off x="548640" y="2084831"/>
            <a:ext cx="3557016" cy="100584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500" b="1" i="0">
                <a:solidFill>
                  <a:srgbClr val="1C242B"/>
                </a:solidFill>
                <a:latin typeface="Cambria"/>
              </a:rPr>
              <a:t>1 · Prototype</a:t>
            </a:r>
          </a:p>
          <a:p>
            <a:pPr>
              <a:spcBef>
                <a:spcPts val="300"/>
              </a:spcBef>
            </a:pPr>
            <a:r>
              <a:rPr sz="1150" b="0" i="0">
                <a:solidFill>
                  <a:srgbClr val="2A333B"/>
                </a:solidFill>
                <a:latin typeface="Calibri"/>
              </a:rPr>
              <a:t>Canva in Teams — the structure, agreed before anything is built</a:t>
            </a:r>
          </a:p>
        </p:txBody>
      </p:sp>
      <p:sp>
        <p:nvSpPr>
          <p:cNvPr id="8" name="Rectangle 7"/>
          <p:cNvSpPr/>
          <p:nvPr/>
        </p:nvSpPr>
        <p:spPr>
          <a:xfrm>
            <a:off x="548640" y="2084831"/>
            <a:ext cx="82296" cy="100584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15968" y="2084831"/>
            <a:ext cx="3557016" cy="100584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500" b="1" i="0">
                <a:solidFill>
                  <a:srgbClr val="1C242B"/>
                </a:solidFill>
                <a:latin typeface="Cambria"/>
              </a:rPr>
              <a:t>2 · Content</a:t>
            </a:r>
          </a:p>
          <a:p>
            <a:pPr>
              <a:spcBef>
                <a:spcPts val="300"/>
              </a:spcBef>
            </a:pPr>
            <a:r>
              <a:rPr sz="1150" b="0" i="0">
                <a:solidFill>
                  <a:srgbClr val="2A333B"/>
                </a:solidFill>
                <a:latin typeface="Calibri"/>
              </a:rPr>
              <a:t>Drafted in whichever lane the topic routes to, and checked</a:t>
            </a:r>
          </a:p>
        </p:txBody>
      </p:sp>
      <p:sp>
        <p:nvSpPr>
          <p:cNvPr id="10" name="Rectangle 9"/>
          <p:cNvSpPr/>
          <p:nvPr/>
        </p:nvSpPr>
        <p:spPr>
          <a:xfrm>
            <a:off x="4315968" y="2084831"/>
            <a:ext cx="82296" cy="100584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83296" y="2084831"/>
            <a:ext cx="3557016" cy="100584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500" b="1" i="0">
                <a:solidFill>
                  <a:srgbClr val="1C242B"/>
                </a:solidFill>
                <a:latin typeface="Cambria"/>
              </a:rPr>
              <a:t>3 · Deck</a:t>
            </a:r>
          </a:p>
          <a:p>
            <a:pPr>
              <a:spcBef>
                <a:spcPts val="300"/>
              </a:spcBef>
            </a:pPr>
            <a:r>
              <a:rPr sz="1150" b="0" i="0">
                <a:solidFill>
                  <a:srgbClr val="2A333B"/>
                </a:solidFill>
                <a:latin typeface="Calibri"/>
              </a:rPr>
              <a:t>genspark.ai — the presentation itself, from the prototype and the approved content</a:t>
            </a:r>
          </a:p>
        </p:txBody>
      </p:sp>
      <p:sp>
        <p:nvSpPr>
          <p:cNvPr id="12" name="Rectangle 11"/>
          <p:cNvSpPr/>
          <p:nvPr/>
        </p:nvSpPr>
        <p:spPr>
          <a:xfrm>
            <a:off x="8083296" y="2084831"/>
            <a:ext cx="82296" cy="100584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3218688"/>
            <a:ext cx="1109167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type</a:t>
            </a:r>
          </a:p>
          <a:p>
            <a:pPr>
              <a:spcBef>
                <a:spcPts val="300"/>
              </a:spcBef>
            </a:pPr>
            <a:r>
              <a:rPr sz="1200" b="0" i="0">
                <a:solidFill>
                  <a:srgbClr val="2A333B"/>
                </a:solidFill>
                <a:latin typeface="Calibri"/>
              </a:rPr>
              <a:t>“Build a 12-slide educational presentation on &lt;topic&gt; from this outline. Audience: research management administrators. One idea per slide, a worked example every third slide, and a five-question quiz at the end.”</a:t>
            </a:r>
          </a:p>
        </p:txBody>
      </p:sp>
      <p:sp>
        <p:nvSpPr>
          <p:cNvPr id="14" name="Rectangle 13"/>
          <p:cNvSpPr/>
          <p:nvPr/>
        </p:nvSpPr>
        <p:spPr>
          <a:xfrm>
            <a:off x="548640" y="3218688"/>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4187952"/>
            <a:ext cx="11091672" cy="78638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700" b="1" i="0">
                <a:solidFill>
                  <a:srgbClr val="FFFFFF"/>
                </a:solidFill>
                <a:latin typeface="Cambria"/>
              </a:rPr>
              <a:t>Outside the institutional tenant — anonymised, non-sensitive content only</a:t>
            </a:r>
          </a:p>
          <a:p>
            <a:pPr algn="ctr">
              <a:spcBef>
                <a:spcPts val="600"/>
              </a:spcBef>
            </a:pPr>
            <a:r>
              <a:rPr sz="1300" b="0" i="0">
                <a:solidFill>
                  <a:srgbClr val="FFFFFF"/>
                </a:solidFill>
                <a:latin typeface="Calibri"/>
              </a:rPr>
              <a:t>The routing rule applies to every step of a chain, not only to the first one</a:t>
            </a:r>
          </a:p>
        </p:txBody>
      </p:sp>
      <p:sp>
        <p:nvSpPr>
          <p:cNvPr id="16" name="TextBox 15"/>
          <p:cNvSpPr txBox="1"/>
          <p:nvPr/>
        </p:nvSpPr>
        <p:spPr>
          <a:xfrm>
            <a:off x="548640" y="5138928"/>
            <a:ext cx="11091672" cy="365760"/>
          </a:xfrm>
          <a:prstGeom prst="rect">
            <a:avLst/>
          </a:prstGeom>
          <a:noFill/>
        </p:spPr>
        <p:txBody>
          <a:bodyPr wrap="square">
            <a:spAutoFit/>
          </a:bodyPr>
          <a:lstStyle/>
          <a:p>
            <a:pPr algn="l"/>
            <a:r>
              <a:rPr sz="1200" b="0" i="0">
                <a:solidFill>
                  <a:srgbClr val="6B747D"/>
                </a:solidFill>
                <a:latin typeface="Calibri"/>
              </a:rPr>
              <a:t>The presentation itself is next week's deliverable — Segment 5 gives you the rest of the assignment</a:t>
            </a:r>
          </a:p>
        </p:txBody>
      </p:sp>
      <p:sp>
        <p:nvSpPr>
          <p:cNvPr id="17" name="TextBox 16"/>
          <p:cNvSpPr txBox="1"/>
          <p:nvPr/>
        </p:nvSpPr>
        <p:spPr>
          <a:xfrm>
            <a:off x="548640" y="5541264"/>
            <a:ext cx="11091672" cy="365760"/>
          </a:xfrm>
          <a:prstGeom prst="rect">
            <a:avLst/>
          </a:prstGeom>
          <a:noFill/>
        </p:spPr>
        <p:txBody>
          <a:bodyPr wrap="square">
            <a:spAutoFit/>
          </a:bodyPr>
          <a:lstStyle/>
          <a:p>
            <a:pPr algn="l"/>
            <a:r>
              <a:rPr sz="1100" b="0" i="1">
                <a:solidFill>
                  <a:srgbClr val="6B747D"/>
                </a:solidFill>
                <a:latin typeface="Calibri"/>
              </a:rPr>
              <a:t>Every step names its tool, its input, its output — and its lane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926080" cy="635508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a:solidFill>
                  <a:srgbClr val="FFFFFF"/>
                </a:solidFill>
                <a:latin typeface="Cambria"/>
              </a:rPr>
              <a:t>4</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Gemini in depth (+ NotebookLM preview)</a:t>
            </a:r>
          </a:p>
        </p:txBody>
      </p:sp>
      <p:sp>
        <p:nvSpPr>
          <p:cNvPr id="4" name="Rectangle 3"/>
          <p:cNvSpPr/>
          <p:nvPr/>
        </p:nvSpPr>
        <p:spPr>
          <a:xfrm>
            <a:off x="3474720" y="3401568"/>
            <a:ext cx="1097280" cy="3175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6A4CBC"/>
                </a:solidFill>
                <a:latin typeface="Calibri"/>
              </a:rPr>
              <a:t>15 min · Live facilitator demo</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a:solidFill>
                  <a:srgbClr val="6B747D"/>
                </a:solidFill>
                <a:latin typeface="Calibri"/>
              </a:rPr>
              <a:t>Segment 4 of 5 · Daily Driver · Google Gemini</a:t>
            </a:r>
          </a:p>
        </p:txBody>
      </p:sp>
      <p:sp>
        <p:nvSpPr>
          <p:cNvPr id="7" name="Rectangle 6"/>
          <p:cNvSpPr/>
          <p:nvPr/>
        </p:nvSpPr>
        <p:spPr>
          <a:xfrm>
            <a:off x="34747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605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8463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32120" y="5989320"/>
            <a:ext cx="502920" cy="7315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What the Daily Driver adds</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Ten free-tier capabilities, one research-management scenario each, all of them on your own Anchor Project material</a:t>
            </a:r>
          </a:p>
        </p:txBody>
      </p:sp>
      <p:sp>
        <p:nvSpPr>
          <p:cNvPr id="7" name="Rectangle 6"/>
          <p:cNvSpPr/>
          <p:nvPr/>
        </p:nvSpPr>
        <p:spPr>
          <a:xfrm>
            <a:off x="548640" y="1700784"/>
            <a:ext cx="3557016" cy="2139696"/>
          </a:xfrm>
          <a:prstGeom prst="rect">
            <a:avLst/>
          </a:prstGeom>
          <a:solidFill>
            <a:srgbClr val="EBE6F7"/>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46304" rIns="228600" rtlCol="0" anchor="t"/>
          <a:lstStyle/>
          <a:p>
            <a:pPr algn="l"/>
            <a:r>
              <a:rPr sz="1800" b="1" i="0">
                <a:solidFill>
                  <a:srgbClr val="1C242B"/>
                </a:solidFill>
                <a:latin typeface="Cambria"/>
              </a:rPr>
              <a:t>Live on screen</a:t>
            </a:r>
          </a:p>
          <a:p>
            <a:pPr>
              <a:spcBef>
                <a:spcPts val="500"/>
              </a:spcBef>
            </a:pPr>
            <a:r>
              <a:rPr sz="1250" b="0" i="0">
                <a:solidFill>
                  <a:srgbClr val="2A333B"/>
                </a:solidFill>
                <a:latin typeface="Calibri"/>
              </a:rPr>
              <a:t>·  File and image upload</a:t>
            </a:r>
          </a:p>
          <a:p>
            <a:pPr>
              <a:spcBef>
                <a:spcPts val="500"/>
              </a:spcBef>
            </a:pPr>
            <a:r>
              <a:rPr sz="1250" b="0" i="0">
                <a:solidFill>
                  <a:srgbClr val="2A333B"/>
                </a:solidFill>
                <a:latin typeface="Calibri"/>
              </a:rPr>
              <a:t>·  Long context</a:t>
            </a:r>
          </a:p>
          <a:p>
            <a:pPr>
              <a:spcBef>
                <a:spcPts val="500"/>
              </a:spcBef>
            </a:pPr>
            <a:r>
              <a:rPr sz="1250" b="0" i="0">
                <a:solidFill>
                  <a:srgbClr val="2A333B"/>
                </a:solidFill>
                <a:latin typeface="Calibri"/>
              </a:rPr>
              <a:t>·  Gems — persistent context</a:t>
            </a:r>
          </a:p>
          <a:p>
            <a:pPr>
              <a:spcBef>
                <a:spcPts val="500"/>
              </a:spcBef>
            </a:pPr>
            <a:r>
              <a:rPr sz="1250" b="0" i="0">
                <a:solidFill>
                  <a:srgbClr val="2A333B"/>
                </a:solidFill>
                <a:latin typeface="Calibri"/>
              </a:rPr>
              <a:t>·  Canvas</a:t>
            </a:r>
          </a:p>
        </p:txBody>
      </p:sp>
      <p:sp>
        <p:nvSpPr>
          <p:cNvPr id="8" name="Rectangle 7"/>
          <p:cNvSpPr/>
          <p:nvPr/>
        </p:nvSpPr>
        <p:spPr>
          <a:xfrm>
            <a:off x="548640" y="1700784"/>
            <a:ext cx="82296" cy="21396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15968" y="1700784"/>
            <a:ext cx="3557016" cy="213969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46304" rIns="228600" rtlCol="0" anchor="t"/>
          <a:lstStyle/>
          <a:p>
            <a:pPr algn="l"/>
            <a:r>
              <a:rPr sz="1800" b="1" i="0">
                <a:solidFill>
                  <a:srgbClr val="1C242B"/>
                </a:solidFill>
                <a:latin typeface="Cambria"/>
              </a:rPr>
              <a:t>Prepared result</a:t>
            </a:r>
          </a:p>
          <a:p>
            <a:pPr>
              <a:spcBef>
                <a:spcPts val="500"/>
              </a:spcBef>
            </a:pPr>
            <a:r>
              <a:rPr sz="1250" b="0" i="0">
                <a:solidFill>
                  <a:srgbClr val="2A333B"/>
                </a:solidFill>
                <a:latin typeface="Calibri"/>
              </a:rPr>
              <a:t>·  Deep Research</a:t>
            </a:r>
          </a:p>
          <a:p>
            <a:pPr>
              <a:spcBef>
                <a:spcPts val="500"/>
              </a:spcBef>
            </a:pPr>
            <a:r>
              <a:rPr sz="1250" b="0" i="0">
                <a:solidFill>
                  <a:srgbClr val="2A333B"/>
                </a:solidFill>
                <a:latin typeface="Calibri"/>
              </a:rPr>
              <a:t>·  Image generation and editing</a:t>
            </a:r>
          </a:p>
        </p:txBody>
      </p:sp>
      <p:sp>
        <p:nvSpPr>
          <p:cNvPr id="10" name="Rectangle 9"/>
          <p:cNvSpPr/>
          <p:nvPr/>
        </p:nvSpPr>
        <p:spPr>
          <a:xfrm>
            <a:off x="4315968" y="1700784"/>
            <a:ext cx="82296" cy="213969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83296" y="1700784"/>
            <a:ext cx="3557016" cy="213969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46304" rIns="228600" rtlCol="0" anchor="t"/>
          <a:lstStyle/>
          <a:p>
            <a:pPr algn="l"/>
            <a:r>
              <a:rPr sz="1800" b="1" i="0">
                <a:solidFill>
                  <a:srgbClr val="1C242B"/>
                </a:solidFill>
                <a:latin typeface="Cambria"/>
              </a:rPr>
              <a:t>Named, not demonstrated</a:t>
            </a:r>
          </a:p>
          <a:p>
            <a:pPr>
              <a:spcBef>
                <a:spcPts val="500"/>
              </a:spcBef>
            </a:pPr>
            <a:r>
              <a:rPr sz="1250" b="0" i="0">
                <a:solidFill>
                  <a:srgbClr val="2A333B"/>
                </a:solidFill>
                <a:latin typeface="Calibri"/>
              </a:rPr>
              <a:t>·  Google Workspace hooks</a:t>
            </a:r>
          </a:p>
          <a:p>
            <a:pPr>
              <a:spcBef>
                <a:spcPts val="500"/>
              </a:spcBef>
            </a:pPr>
            <a:r>
              <a:rPr sz="1250" b="0" i="0">
                <a:solidFill>
                  <a:srgbClr val="2A333B"/>
                </a:solidFill>
                <a:latin typeface="Calibri"/>
              </a:rPr>
              <a:t>·  Gemini Live and mobile</a:t>
            </a:r>
          </a:p>
          <a:p>
            <a:pPr>
              <a:spcBef>
                <a:spcPts val="500"/>
              </a:spcBef>
            </a:pPr>
            <a:r>
              <a:rPr sz="1250" b="0" i="0">
                <a:solidFill>
                  <a:srgbClr val="2A333B"/>
                </a:solidFill>
                <a:latin typeface="Calibri"/>
              </a:rPr>
              <a:t>·  Guided Learning mode</a:t>
            </a:r>
          </a:p>
          <a:p>
            <a:pPr>
              <a:spcBef>
                <a:spcPts val="500"/>
              </a:spcBef>
            </a:pPr>
            <a:r>
              <a:rPr sz="1250" b="0" i="0">
                <a:solidFill>
                  <a:srgbClr val="2A333B"/>
                </a:solidFill>
                <a:latin typeface="Calibri"/>
              </a:rPr>
              <a:t>·  Saved info</a:t>
            </a:r>
          </a:p>
        </p:txBody>
      </p:sp>
      <p:sp>
        <p:nvSpPr>
          <p:cNvPr id="12" name="Rectangle 11"/>
          <p:cNvSpPr/>
          <p:nvPr/>
        </p:nvSpPr>
        <p:spPr>
          <a:xfrm>
            <a:off x="8083296" y="1700784"/>
            <a:ext cx="82296" cy="213969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4059936"/>
            <a:ext cx="11091672" cy="9144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900" b="1" i="0">
                <a:solidFill>
                  <a:srgbClr val="FFFFFF"/>
                </a:solidFill>
                <a:latin typeface="Cambria"/>
              </a:rPr>
              <a:t>Free tier at the time of writing — September 2026</a:t>
            </a:r>
          </a:p>
          <a:p>
            <a:pPr algn="ctr">
              <a:spcBef>
                <a:spcPts val="600"/>
              </a:spcBef>
            </a:pPr>
            <a:r>
              <a:rPr sz="1300" b="0" i="0">
                <a:solidFill>
                  <a:srgbClr val="FFFFFF"/>
                </a:solidFill>
                <a:latin typeface="Calibri"/>
              </a:rPr>
              <a:t>Google moves capabilities between plans month to month. What is demonstrated today was checked in this account last week; check yours before you build a workflow on any one of them.</a:t>
            </a:r>
          </a:p>
        </p:txBody>
      </p:sp>
      <p:sp>
        <p:nvSpPr>
          <p:cNvPr id="14" name="TextBox 13"/>
          <p:cNvSpPr txBox="1"/>
          <p:nvPr/>
        </p:nvSpPr>
        <p:spPr>
          <a:xfrm>
            <a:off x="548640" y="5138928"/>
            <a:ext cx="11091672" cy="365760"/>
          </a:xfrm>
          <a:prstGeom prst="rect">
            <a:avLst/>
          </a:prstGeom>
          <a:noFill/>
        </p:spPr>
        <p:txBody>
          <a:bodyPr wrap="square">
            <a:spAutoFit/>
          </a:bodyPr>
          <a:lstStyle/>
          <a:p>
            <a:pPr algn="l"/>
            <a:r>
              <a:rPr sz="1150" b="0" i="1">
                <a:solidFill>
                  <a:srgbClr val="6B747D"/>
                </a:solidFill>
                <a:latin typeface="Calibri"/>
              </a:rPr>
              <a:t>Everything on screen is anonymised or fictional — the “what must never enter Gemini” list from Segment 2 stays on the second monitor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File and image upload</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8046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An anonymised call document as a PDF and a photographed budget table as an image, in the same question — the checklist out of one, a reading of the numbers out of the other</a:t>
            </a:r>
          </a:p>
        </p:txBody>
      </p:sp>
      <p:sp>
        <p:nvSpPr>
          <p:cNvPr id="7" name="Rectangle 6"/>
          <p:cNvSpPr/>
          <p:nvPr/>
        </p:nvSpPr>
        <p:spPr>
          <a:xfrm>
            <a:off x="548640" y="2121408"/>
            <a:ext cx="1109167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type</a:t>
            </a:r>
          </a:p>
          <a:p>
            <a:pPr>
              <a:spcBef>
                <a:spcPts val="300"/>
              </a:spcBef>
            </a:pPr>
            <a:r>
              <a:rPr sz="1250" b="0" i="0">
                <a:solidFill>
                  <a:srgbClr val="2A333B"/>
                </a:solidFill>
                <a:latin typeface="Calibri"/>
              </a:rPr>
              <a:t>“You are advising a research management office. From the attached call document, give me the eligibility criteria as a checklist we can tick off. From the attached table image, tell me which cost lines sit above the call's caps. Ask me before assuming anything the documents do not state.”</a:t>
            </a:r>
          </a:p>
        </p:txBody>
      </p:sp>
      <p:sp>
        <p:nvSpPr>
          <p:cNvPr id="8" name="Rectangle 7"/>
          <p:cNvSpPr/>
          <p:nvPr/>
        </p:nvSpPr>
        <p:spPr>
          <a:xfrm>
            <a:off x="548640" y="2121408"/>
            <a:ext cx="82296" cy="96926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3236976"/>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comes back</a:t>
            </a:r>
          </a:p>
          <a:p>
            <a:pPr>
              <a:spcBef>
                <a:spcPts val="300"/>
              </a:spcBef>
            </a:pPr>
            <a:r>
              <a:rPr sz="1150" b="0" i="0">
                <a:solidFill>
                  <a:srgbClr val="2A333B"/>
                </a:solidFill>
                <a:latin typeface="Calibri"/>
              </a:rPr>
              <a:t>·  A checklist you can paste into the project's guide page</a:t>
            </a:r>
          </a:p>
          <a:p>
            <a:pPr>
              <a:spcBef>
                <a:spcPts val="300"/>
              </a:spcBef>
            </a:pPr>
            <a:r>
              <a:rPr sz="1150" b="0" i="0">
                <a:solidFill>
                  <a:srgbClr val="2A333B"/>
                </a:solidFill>
                <a:latin typeface="Calibri"/>
              </a:rPr>
              <a:t>·  A reading of a table that only ever existed as a photograph</a:t>
            </a:r>
          </a:p>
          <a:p>
            <a:pPr>
              <a:spcBef>
                <a:spcPts val="300"/>
              </a:spcBef>
            </a:pPr>
            <a:r>
              <a:rPr sz="1150" b="0" i="0">
                <a:solidFill>
                  <a:srgbClr val="2A333B"/>
                </a:solidFill>
                <a:latin typeface="Calibri"/>
              </a:rPr>
              <a:t>·  Its own questions, where the documents are silent — the ask-me-first pattern from Lesson 1</a:t>
            </a:r>
          </a:p>
        </p:txBody>
      </p:sp>
      <p:sp>
        <p:nvSpPr>
          <p:cNvPr id="10" name="Rectangle 9"/>
          <p:cNvSpPr/>
          <p:nvPr/>
        </p:nvSpPr>
        <p:spPr>
          <a:xfrm>
            <a:off x="548640" y="3236976"/>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9632" y="3236976"/>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Before anything is uploaded</a:t>
            </a:r>
          </a:p>
          <a:p>
            <a:pPr>
              <a:spcBef>
                <a:spcPts val="300"/>
              </a:spcBef>
            </a:pPr>
            <a:r>
              <a:rPr sz="1150" b="0" i="0">
                <a:solidFill>
                  <a:srgbClr val="2A333B"/>
                </a:solidFill>
                <a:latin typeface="Calibri"/>
              </a:rPr>
              <a:t>·  Both files are cleared first: the call document anonymised where your copy carries internal notes, the budget table fictional — names, sums and partners changed before the screenshot</a:t>
            </a:r>
          </a:p>
          <a:p>
            <a:pPr>
              <a:spcBef>
                <a:spcPts val="300"/>
              </a:spcBef>
            </a:pPr>
            <a:r>
              <a:rPr sz="1150" b="0" i="0">
                <a:solidFill>
                  <a:srgbClr val="2A333B"/>
                </a:solidFill>
                <a:latin typeface="Calibri"/>
              </a:rPr>
              <a:t>·  A document with personal or sensitive information does not come here at all (Segment 2)</a:t>
            </a:r>
          </a:p>
        </p:txBody>
      </p:sp>
      <p:sp>
        <p:nvSpPr>
          <p:cNvPr id="12" name="Rectangle 11"/>
          <p:cNvSpPr/>
          <p:nvPr/>
        </p:nvSpPr>
        <p:spPr>
          <a:xfrm>
            <a:off x="6199632" y="3236976"/>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4791456"/>
            <a:ext cx="11091672"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600" b="1" i="0">
                <a:solidFill>
                  <a:srgbClr val="FFFFFF"/>
                </a:solidFill>
                <a:latin typeface="Cambria"/>
              </a:rPr>
              <a:t>▶ LIVE DEMO — PDF and screenshot attached to one prompt — eligibility checklist and the table read back</a:t>
            </a:r>
          </a:p>
        </p:txBody>
      </p:sp>
      <p:sp>
        <p:nvSpPr>
          <p:cNvPr id="14" name="Rectangle 13"/>
          <p:cNvSpPr/>
          <p:nvPr/>
        </p:nvSpPr>
        <p:spPr>
          <a:xfrm>
            <a:off x="548640" y="4791456"/>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4791456"/>
            <a:ext cx="45720"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5449824"/>
            <a:ext cx="11091672" cy="365760"/>
          </a:xfrm>
          <a:prstGeom prst="rect">
            <a:avLst/>
          </a:prstGeom>
          <a:noFill/>
        </p:spPr>
        <p:txBody>
          <a:bodyPr wrap="square">
            <a:spAutoFit/>
          </a:bodyPr>
          <a:lstStyle/>
          <a:p>
            <a:pPr algn="l"/>
            <a:r>
              <a:rPr sz="1100" b="0" i="1">
                <a:solidFill>
                  <a:srgbClr val="6B747D"/>
                </a:solidFill>
                <a:latin typeface="Calibri"/>
              </a:rPr>
              <a:t>A photograph of a table is a document too — and it is anonymised the same way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Long context</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A funder's guidelines pasted in whole rather than in extracts, and the answer that matters: what changed since last year's call, section by section</a:t>
            </a:r>
          </a:p>
        </p:txBody>
      </p:sp>
      <p:sp>
        <p:nvSpPr>
          <p:cNvPr id="7" name="Rectangle 6"/>
          <p:cNvSpPr/>
          <p:nvPr/>
        </p:nvSpPr>
        <p:spPr>
          <a:xfrm>
            <a:off x="548640" y="2084831"/>
            <a:ext cx="11091672"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type</a:t>
            </a:r>
          </a:p>
          <a:p>
            <a:pPr>
              <a:spcBef>
                <a:spcPts val="300"/>
              </a:spcBef>
            </a:pPr>
            <a:r>
              <a:rPr sz="1250" b="0" i="0">
                <a:solidFill>
                  <a:srgbClr val="2A333B"/>
                </a:solidFill>
                <a:latin typeface="Calibri"/>
              </a:rPr>
              <a:t>“Here is the funder's guideline document. Summarise it as the ten things our office has to do differently from last year's call, each with the section it comes from.”</a:t>
            </a:r>
          </a:p>
        </p:txBody>
      </p:sp>
      <p:sp>
        <p:nvSpPr>
          <p:cNvPr id="8" name="Rectangle 7"/>
          <p:cNvSpPr/>
          <p:nvPr/>
        </p:nvSpPr>
        <p:spPr>
          <a:xfrm>
            <a:off x="548640" y="2084831"/>
            <a:ext cx="82296" cy="8595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3090672"/>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Why it holds</a:t>
            </a:r>
          </a:p>
          <a:p>
            <a:pPr>
              <a:spcBef>
                <a:spcPts val="300"/>
              </a:spcBef>
            </a:pPr>
            <a:r>
              <a:rPr sz="1150" b="0" i="0">
                <a:solidFill>
                  <a:srgbClr val="2A333B"/>
                </a:solidFill>
                <a:latin typeface="Calibri"/>
              </a:rPr>
              <a:t>·  The whole guideline goes in at once instead of in extracts, and the answer can cite across all of it</a:t>
            </a:r>
          </a:p>
          <a:p>
            <a:pPr>
              <a:spcBef>
                <a:spcPts val="300"/>
              </a:spcBef>
            </a:pPr>
            <a:r>
              <a:rPr sz="1150" b="0" i="0">
                <a:solidFill>
                  <a:srgbClr val="2A333B"/>
                </a:solidFill>
                <a:latin typeface="Calibri"/>
              </a:rPr>
              <a:t>·  The free tier's window is smaller than the paid plans'; a very long document may still have to be split</a:t>
            </a:r>
          </a:p>
        </p:txBody>
      </p:sp>
      <p:sp>
        <p:nvSpPr>
          <p:cNvPr id="10" name="Rectangle 9"/>
          <p:cNvSpPr/>
          <p:nvPr/>
        </p:nvSpPr>
        <p:spPr>
          <a:xfrm>
            <a:off x="548640" y="3090672"/>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9632" y="3090672"/>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It does not lift Lesson 1's rule</a:t>
            </a:r>
          </a:p>
          <a:p>
            <a:pPr>
              <a:spcBef>
                <a:spcPts val="300"/>
              </a:spcBef>
            </a:pPr>
            <a:r>
              <a:rPr sz="1150" b="0" i="0">
                <a:solidFill>
                  <a:srgbClr val="2A333B"/>
                </a:solidFill>
                <a:latin typeface="Calibri"/>
              </a:rPr>
              <a:t>·  More context is not better context. A guideline plus four unrelated documents gives you a worse summary, not a fuller one</a:t>
            </a:r>
          </a:p>
          <a:p>
            <a:pPr>
              <a:spcBef>
                <a:spcPts val="300"/>
              </a:spcBef>
            </a:pPr>
            <a:r>
              <a:rPr sz="1150" b="0" i="0">
                <a:solidFill>
                  <a:srgbClr val="2A333B"/>
                </a:solidFill>
                <a:latin typeface="Calibri"/>
              </a:rPr>
              <a:t>·  Curate on the way in: one document, one question, one job</a:t>
            </a:r>
          </a:p>
        </p:txBody>
      </p:sp>
      <p:sp>
        <p:nvSpPr>
          <p:cNvPr id="12" name="Rectangle 11"/>
          <p:cNvSpPr/>
          <p:nvPr/>
        </p:nvSpPr>
        <p:spPr>
          <a:xfrm>
            <a:off x="6199632" y="3090672"/>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4645152"/>
            <a:ext cx="11091672"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600" b="1" i="0">
                <a:solidFill>
                  <a:srgbClr val="FFFFFF"/>
                </a:solidFill>
                <a:latin typeface="Cambria"/>
              </a:rPr>
              <a:t>▶ LIVE DEMO — One long guideline document in, a structured summary out</a:t>
            </a:r>
          </a:p>
        </p:txBody>
      </p:sp>
      <p:sp>
        <p:nvSpPr>
          <p:cNvPr id="14" name="Rectangle 13"/>
          <p:cNvSpPr/>
          <p:nvPr/>
        </p:nvSpPr>
        <p:spPr>
          <a:xfrm>
            <a:off x="548640" y="4645152"/>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4645152"/>
            <a:ext cx="45720"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5303520"/>
            <a:ext cx="11091672" cy="365760"/>
          </a:xfrm>
          <a:prstGeom prst="rect">
            <a:avLst/>
          </a:prstGeom>
          <a:noFill/>
        </p:spPr>
        <p:txBody>
          <a:bodyPr wrap="square">
            <a:spAutoFit/>
          </a:bodyPr>
          <a:lstStyle/>
          <a:p>
            <a:pPr algn="l"/>
            <a:r>
              <a:rPr sz="1100" b="0" i="1">
                <a:solidFill>
                  <a:srgbClr val="6B747D"/>
                </a:solidFill>
                <a:latin typeface="Calibri"/>
              </a:rPr>
              <a:t>The window is what you may bring, not what you should bring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Gems — persistent context</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Build one Gem for your Anchor Project, and every chat you open afterwards already knows the project, the funder and the rules you work under</a:t>
            </a:r>
          </a:p>
        </p:txBody>
      </p:sp>
      <p:sp>
        <p:nvSpPr>
          <p:cNvPr id="7" name="Rectangle 6"/>
          <p:cNvSpPr/>
          <p:nvPr/>
        </p:nvSpPr>
        <p:spPr>
          <a:xfrm>
            <a:off x="548640" y="2066543"/>
            <a:ext cx="3557016" cy="151790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400" b="1" i="0">
                <a:solidFill>
                  <a:srgbClr val="1C242B"/>
                </a:solidFill>
                <a:latin typeface="Cambria"/>
              </a:rPr>
              <a:t>Name and purpose</a:t>
            </a:r>
          </a:p>
          <a:p>
            <a:pPr>
              <a:spcBef>
                <a:spcPts val="300"/>
              </a:spcBef>
            </a:pPr>
            <a:r>
              <a:rPr sz="1150" b="0" i="0">
                <a:solidFill>
                  <a:srgbClr val="2A333B"/>
                </a:solidFill>
                <a:latin typeface="Calibri"/>
              </a:rPr>
              <a:t>“Anchor Project assistant” — one Gem per project, not one per task</a:t>
            </a:r>
          </a:p>
        </p:txBody>
      </p:sp>
      <p:sp>
        <p:nvSpPr>
          <p:cNvPr id="8" name="Rectangle 7"/>
          <p:cNvSpPr/>
          <p:nvPr/>
        </p:nvSpPr>
        <p:spPr>
          <a:xfrm>
            <a:off x="548640" y="2066543"/>
            <a:ext cx="82296" cy="151790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15968" y="2066543"/>
            <a:ext cx="3557016" cy="151790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400" b="1" i="0">
                <a:solidFill>
                  <a:srgbClr val="1C242B"/>
                </a:solidFill>
                <a:latin typeface="Cambria"/>
              </a:rPr>
              <a:t>Standing instructions</a:t>
            </a:r>
          </a:p>
          <a:p>
            <a:pPr>
              <a:spcBef>
                <a:spcPts val="300"/>
              </a:spcBef>
            </a:pPr>
            <a:r>
              <a:rPr sz="1150" b="0" i="0">
                <a:solidFill>
                  <a:srgbClr val="2A333B"/>
                </a:solidFill>
                <a:latin typeface="Calibri"/>
              </a:rPr>
              <a:t>·  Your Lesson 1 ICC prompt, promoted: what it should do, who it is advising, the constraints it always works under — written once, applied to every future chat</a:t>
            </a:r>
          </a:p>
          <a:p>
            <a:pPr>
              <a:spcBef>
                <a:spcPts val="300"/>
              </a:spcBef>
            </a:pPr>
            <a:r>
              <a:rPr sz="1150" b="0" i="0">
                <a:solidFill>
                  <a:srgbClr val="2A333B"/>
                </a:solidFill>
                <a:latin typeface="Calibri"/>
              </a:rPr>
              <a:t>·  The reverse prompt becomes its opening move: ask me what you need before you answer</a:t>
            </a:r>
          </a:p>
        </p:txBody>
      </p:sp>
      <p:sp>
        <p:nvSpPr>
          <p:cNvPr id="10" name="Rectangle 9"/>
          <p:cNvSpPr/>
          <p:nvPr/>
        </p:nvSpPr>
        <p:spPr>
          <a:xfrm>
            <a:off x="4315968" y="2066543"/>
            <a:ext cx="82296" cy="151790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83296" y="2066543"/>
            <a:ext cx="3557016" cy="151790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400" b="1" i="0">
                <a:solidFill>
                  <a:srgbClr val="1C242B"/>
                </a:solidFill>
                <a:latin typeface="Cambria"/>
              </a:rPr>
              <a:t>Reference files</a:t>
            </a:r>
          </a:p>
          <a:p>
            <a:pPr>
              <a:spcBef>
                <a:spcPts val="300"/>
              </a:spcBef>
            </a:pPr>
            <a:r>
              <a:rPr sz="1150" b="0" i="0">
                <a:solidFill>
                  <a:srgbClr val="2A333B"/>
                </a:solidFill>
                <a:latin typeface="Calibri"/>
              </a:rPr>
              <a:t>The project description, the call text, your own notes — up to the free tier's reference-file limit</a:t>
            </a:r>
          </a:p>
        </p:txBody>
      </p:sp>
      <p:sp>
        <p:nvSpPr>
          <p:cNvPr id="12" name="Rectangle 11"/>
          <p:cNvSpPr/>
          <p:nvPr/>
        </p:nvSpPr>
        <p:spPr>
          <a:xfrm>
            <a:off x="8083296" y="2066543"/>
            <a:ext cx="82296" cy="151790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3730752"/>
            <a:ext cx="11091672"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600" b="1" i="0">
                <a:solidFill>
                  <a:srgbClr val="FFFFFF"/>
                </a:solidFill>
                <a:latin typeface="Cambria"/>
              </a:rPr>
              <a:t>▶ LIVE DEMO — A Gem built from scratch — name, instructions, reference files, then the first chat that already knows the project</a:t>
            </a:r>
          </a:p>
        </p:txBody>
      </p:sp>
      <p:sp>
        <p:nvSpPr>
          <p:cNvPr id="14" name="Rectangle 13"/>
          <p:cNvSpPr/>
          <p:nvPr/>
        </p:nvSpPr>
        <p:spPr>
          <a:xfrm>
            <a:off x="548640" y="3730752"/>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3730752"/>
            <a:ext cx="45720"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4425696"/>
            <a:ext cx="11091672" cy="9144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000" b="1" i="0">
                <a:solidFill>
                  <a:srgbClr val="FFFFFF"/>
                </a:solidFill>
                <a:latin typeface="Cambria"/>
              </a:rPr>
              <a:t>This is the Level 3 move</a:t>
            </a:r>
          </a:p>
          <a:p>
            <a:pPr algn="ctr">
              <a:spcBef>
                <a:spcPts val="600"/>
              </a:spcBef>
            </a:pPr>
            <a:r>
              <a:rPr sz="1300" b="0" i="0">
                <a:solidFill>
                  <a:srgbClr val="FFFFFF"/>
                </a:solidFill>
                <a:latin typeface="Calibri"/>
              </a:rPr>
              <a:t>Level 2 was writing a good prompt every time. Level 3 is building the workspace that no longer needs you to — persistent context, ready before the question. The assignment lays the foundation for Level 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Deep Research</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One question about the funding landscape, answered as a briefing with its sources — the work that used to be an afternoon of opening funder pages</a:t>
            </a:r>
          </a:p>
        </p:txBody>
      </p:sp>
      <p:sp>
        <p:nvSpPr>
          <p:cNvPr id="7" name="Rectangle 6"/>
          <p:cNvSpPr/>
          <p:nvPr/>
        </p:nvSpPr>
        <p:spPr>
          <a:xfrm>
            <a:off x="548640" y="2048256"/>
            <a:ext cx="3557016"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400" b="1" i="0">
                <a:solidFill>
                  <a:srgbClr val="1C242B"/>
                </a:solidFill>
                <a:latin typeface="Cambria"/>
              </a:rPr>
              <a:t>What comes back</a:t>
            </a:r>
          </a:p>
          <a:p>
            <a:pPr>
              <a:spcBef>
                <a:spcPts val="300"/>
              </a:spcBef>
            </a:pPr>
            <a:r>
              <a:rPr sz="1150" b="0" i="0">
                <a:solidFill>
                  <a:srgbClr val="2A333B"/>
                </a:solidFill>
                <a:latin typeface="Calibri"/>
              </a:rPr>
              <a:t>A briefing rather than a chat answer: sections, a source list, and a statement of what it could not find</a:t>
            </a:r>
          </a:p>
        </p:txBody>
      </p:sp>
      <p:sp>
        <p:nvSpPr>
          <p:cNvPr id="8" name="Rectangle 7"/>
          <p:cNvSpPr/>
          <p:nvPr/>
        </p:nvSpPr>
        <p:spPr>
          <a:xfrm>
            <a:off x="548640" y="2048256"/>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15968" y="2048256"/>
            <a:ext cx="3557016"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400" b="1" i="0">
                <a:solidFill>
                  <a:srgbClr val="1C242B"/>
                </a:solidFill>
                <a:latin typeface="Cambria"/>
              </a:rPr>
              <a:t>The cap</a:t>
            </a:r>
          </a:p>
          <a:p>
            <a:pPr>
              <a:spcBef>
                <a:spcPts val="300"/>
              </a:spcBef>
            </a:pPr>
            <a:r>
              <a:rPr sz="1150" b="0" i="0">
                <a:solidFill>
                  <a:srgbClr val="2A333B"/>
                </a:solidFill>
                <a:latin typeface="Calibri"/>
              </a:rPr>
              <a:t>The free tier allows a small number of reports a month, and a run takes minutes rather than seconds — this one was started last night</a:t>
            </a:r>
          </a:p>
        </p:txBody>
      </p:sp>
      <p:sp>
        <p:nvSpPr>
          <p:cNvPr id="10" name="Rectangle 9"/>
          <p:cNvSpPr/>
          <p:nvPr/>
        </p:nvSpPr>
        <p:spPr>
          <a:xfrm>
            <a:off x="4315968" y="2048256"/>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83296" y="2048256"/>
            <a:ext cx="3557016"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400" b="1" i="0">
                <a:solidFill>
                  <a:srgbClr val="1C242B"/>
                </a:solidFill>
                <a:latin typeface="Cambria"/>
              </a:rPr>
              <a:t>Check it anyway</a:t>
            </a:r>
          </a:p>
          <a:p>
            <a:pPr>
              <a:spcBef>
                <a:spcPts val="300"/>
              </a:spcBef>
            </a:pPr>
            <a:r>
              <a:rPr sz="1150" b="0" i="0">
                <a:solidFill>
                  <a:srgbClr val="2A333B"/>
                </a:solidFill>
                <a:latin typeface="Calibri"/>
              </a:rPr>
              <a:t>It lists its sources so you can open them. A deadline that is not in the source is not a deadline</a:t>
            </a:r>
          </a:p>
        </p:txBody>
      </p:sp>
      <p:sp>
        <p:nvSpPr>
          <p:cNvPr id="12" name="Rectangle 11"/>
          <p:cNvSpPr/>
          <p:nvPr/>
        </p:nvSpPr>
        <p:spPr>
          <a:xfrm>
            <a:off x="8083296" y="2048256"/>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3511296"/>
            <a:ext cx="11091672" cy="8961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type</a:t>
            </a:r>
          </a:p>
          <a:p>
            <a:pPr>
              <a:spcBef>
                <a:spcPts val="300"/>
              </a:spcBef>
            </a:pPr>
            <a:r>
              <a:rPr sz="1250" b="0" i="0">
                <a:solidFill>
                  <a:srgbClr val="2A333B"/>
                </a:solidFill>
                <a:latin typeface="Calibri"/>
              </a:rPr>
              <a:t>“Which national and European funders opened calls in the last twelve months for work in my Anchor Project's field? For each: the funder, what it funds, the deadline pattern, and the source you found it in.”</a:t>
            </a:r>
          </a:p>
        </p:txBody>
      </p:sp>
      <p:sp>
        <p:nvSpPr>
          <p:cNvPr id="14" name="Rectangle 13"/>
          <p:cNvSpPr/>
          <p:nvPr/>
        </p:nvSpPr>
        <p:spPr>
          <a:xfrm>
            <a:off x="548640" y="3511296"/>
            <a:ext cx="82296" cy="89611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4553712"/>
            <a:ext cx="11091672"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500" b="1" i="0">
                <a:solidFill>
                  <a:srgbClr val="FFFFFF"/>
                </a:solidFill>
                <a:latin typeface="Cambria"/>
              </a:rPr>
              <a:t>On screen today: a report run last night, and the prompt that produced it</a:t>
            </a:r>
          </a:p>
        </p:txBody>
      </p:sp>
      <p:sp>
        <p:nvSpPr>
          <p:cNvPr id="16" name="TextBox 15"/>
          <p:cNvSpPr txBox="1"/>
          <p:nvPr/>
        </p:nvSpPr>
        <p:spPr>
          <a:xfrm>
            <a:off x="548640" y="5340096"/>
            <a:ext cx="11091672" cy="365760"/>
          </a:xfrm>
          <a:prstGeom prst="rect">
            <a:avLst/>
          </a:prstGeom>
          <a:noFill/>
        </p:spPr>
        <p:txBody>
          <a:bodyPr wrap="square">
            <a:spAutoFit/>
          </a:bodyPr>
          <a:lstStyle/>
          <a:p>
            <a:pPr algn="l"/>
            <a:r>
              <a:rPr sz="1100" b="0" i="1">
                <a:solidFill>
                  <a:srgbClr val="6B747D"/>
                </a:solidFill>
                <a:latin typeface="Calibri"/>
              </a:rPr>
              <a:t>A monthly cap is a planning constraint: decide what the question is before you spend 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Canvas</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Draft the outline of your assignment presentation, then rewrite one section at a time without losing the rest</a:t>
            </a:r>
          </a:p>
        </p:txBody>
      </p:sp>
      <p:sp>
        <p:nvSpPr>
          <p:cNvPr id="7" name="Rectangle 6"/>
          <p:cNvSpPr/>
          <p:nvPr/>
        </p:nvSpPr>
        <p:spPr>
          <a:xfrm>
            <a:off x="548640" y="2084831"/>
            <a:ext cx="11091672" cy="89611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type</a:t>
            </a:r>
          </a:p>
          <a:p>
            <a:pPr>
              <a:spcBef>
                <a:spcPts val="300"/>
              </a:spcBef>
            </a:pPr>
            <a:r>
              <a:rPr sz="1250" b="0" i="0">
                <a:solidFill>
                  <a:srgbClr val="2A333B"/>
                </a:solidFill>
                <a:latin typeface="Calibri"/>
              </a:rPr>
              <a:t>“Draft the outline of a 20-minute presentation that teaches a junior colleague how our office handles reporting periods. Sections, one learning outcome each, and where an example goes.”</a:t>
            </a:r>
          </a:p>
        </p:txBody>
      </p:sp>
      <p:sp>
        <p:nvSpPr>
          <p:cNvPr id="8" name="Rectangle 7"/>
          <p:cNvSpPr/>
          <p:nvPr/>
        </p:nvSpPr>
        <p:spPr>
          <a:xfrm>
            <a:off x="548640" y="2084831"/>
            <a:ext cx="82296" cy="89611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3127248"/>
            <a:ext cx="5440680"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Canvas is</a:t>
            </a:r>
          </a:p>
          <a:p>
            <a:pPr>
              <a:spcBef>
                <a:spcPts val="300"/>
              </a:spcBef>
            </a:pPr>
            <a:r>
              <a:rPr sz="1150" b="0" i="0">
                <a:solidFill>
                  <a:srgbClr val="2A333B"/>
                </a:solidFill>
                <a:latin typeface="Calibri"/>
              </a:rPr>
              <a:t>·  A document beside the chat, edited in place — not a wall of chat text you have to copy out</a:t>
            </a:r>
          </a:p>
          <a:p>
            <a:pPr>
              <a:spcBef>
                <a:spcPts val="300"/>
              </a:spcBef>
            </a:pPr>
            <a:r>
              <a:rPr sz="1150" b="0" i="0">
                <a:solidFill>
                  <a:srgbClr val="2A333B"/>
                </a:solidFill>
                <a:latin typeface="Calibri"/>
              </a:rPr>
              <a:t>·  Rewrite one section and the rest stays where it was</a:t>
            </a:r>
          </a:p>
        </p:txBody>
      </p:sp>
      <p:sp>
        <p:nvSpPr>
          <p:cNvPr id="10" name="Rectangle 9"/>
          <p:cNvSpPr/>
          <p:nvPr/>
        </p:nvSpPr>
        <p:spPr>
          <a:xfrm>
            <a:off x="548640" y="3127248"/>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9632" y="3127248"/>
            <a:ext cx="5440680" cy="13167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take away</a:t>
            </a:r>
          </a:p>
          <a:p>
            <a:pPr>
              <a:spcBef>
                <a:spcPts val="300"/>
              </a:spcBef>
            </a:pPr>
            <a:r>
              <a:rPr sz="1150" b="0" i="0">
                <a:solidFill>
                  <a:srgbClr val="2A333B"/>
                </a:solidFill>
                <a:latin typeface="Calibri"/>
              </a:rPr>
              <a:t>·  A structured draft you can export and keep working on</a:t>
            </a:r>
          </a:p>
          <a:p>
            <a:pPr>
              <a:spcBef>
                <a:spcPts val="300"/>
              </a:spcBef>
            </a:pPr>
            <a:r>
              <a:rPr sz="1150" b="0" i="0">
                <a:solidFill>
                  <a:srgbClr val="2A333B"/>
                </a:solidFill>
                <a:latin typeface="Calibri"/>
              </a:rPr>
              <a:t>·  This is the assignment's deliverable, started: an educational presentation on a topic you pick</a:t>
            </a:r>
          </a:p>
        </p:txBody>
      </p:sp>
      <p:sp>
        <p:nvSpPr>
          <p:cNvPr id="12" name="Rectangle 11"/>
          <p:cNvSpPr/>
          <p:nvPr/>
        </p:nvSpPr>
        <p:spPr>
          <a:xfrm>
            <a:off x="6199632" y="3127248"/>
            <a:ext cx="82296" cy="13167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4608576"/>
            <a:ext cx="11091672"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600" b="1" i="0">
                <a:solidFill>
                  <a:srgbClr val="FFFFFF"/>
                </a:solidFill>
                <a:latin typeface="Cambria"/>
              </a:rPr>
              <a:t>▶ LIVE DEMO — The outline drafted in Canvas, then one section rewritten in place</a:t>
            </a:r>
          </a:p>
        </p:txBody>
      </p:sp>
      <p:sp>
        <p:nvSpPr>
          <p:cNvPr id="14" name="Rectangle 13"/>
          <p:cNvSpPr/>
          <p:nvPr/>
        </p:nvSpPr>
        <p:spPr>
          <a:xfrm>
            <a:off x="548640" y="4608576"/>
            <a:ext cx="9144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4608576"/>
            <a:ext cx="45720" cy="502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5266944"/>
            <a:ext cx="11091672" cy="365760"/>
          </a:xfrm>
          <a:prstGeom prst="rect">
            <a:avLst/>
          </a:prstGeom>
          <a:noFill/>
        </p:spPr>
        <p:txBody>
          <a:bodyPr wrap="square">
            <a:spAutoFit/>
          </a:bodyPr>
          <a:lstStyle/>
          <a:p>
            <a:pPr algn="l"/>
            <a:r>
              <a:rPr sz="1100" b="0" i="1">
                <a:solidFill>
                  <a:srgbClr val="6B747D"/>
                </a:solidFill>
                <a:latin typeface="Calibri"/>
              </a:rPr>
              <a:t>Structured outputs are what the next step in a workflow can actually use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Google Workspace hooks</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8046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“Summarise the three call documents in this Drive folder, and draft the reply to the funder's email” — the chat reaching into Drive, Docs and Gmail on its own</a:t>
            </a:r>
          </a:p>
        </p:txBody>
      </p:sp>
      <p:sp>
        <p:nvSpPr>
          <p:cNvPr id="7" name="Rectangle 6"/>
          <p:cNvSpPr/>
          <p:nvPr/>
        </p:nvSpPr>
        <p:spPr>
          <a:xfrm>
            <a:off x="548640" y="2139696"/>
            <a:ext cx="5440680" cy="153619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Not on the free tier at the time of writing</a:t>
            </a:r>
          </a:p>
          <a:p>
            <a:pPr>
              <a:spcBef>
                <a:spcPts val="300"/>
              </a:spcBef>
            </a:pPr>
            <a:r>
              <a:rPr sz="1200" b="0" i="0">
                <a:solidFill>
                  <a:srgbClr val="2A333B"/>
                </a:solidFill>
                <a:latin typeface="Calibri"/>
              </a:rPr>
              <a:t>·  The Drive, Docs and Gmail connections are limited or absent on the free tier — this is the clearest place the paid plans start</a:t>
            </a:r>
          </a:p>
          <a:p>
            <a:pPr>
              <a:spcBef>
                <a:spcPts val="300"/>
              </a:spcBef>
            </a:pPr>
            <a:r>
              <a:rPr sz="1200" b="0" i="0">
                <a:solidFill>
                  <a:srgbClr val="2A333B"/>
                </a:solidFill>
                <a:latin typeface="Calibri"/>
              </a:rPr>
              <a:t>·  Shown here so you recognise it in a comparison table, not because you are expected to have it</a:t>
            </a:r>
          </a:p>
        </p:txBody>
      </p:sp>
      <p:sp>
        <p:nvSpPr>
          <p:cNvPr id="8" name="Rectangle 7"/>
          <p:cNvSpPr/>
          <p:nvPr/>
        </p:nvSpPr>
        <p:spPr>
          <a:xfrm>
            <a:off x="548640" y="2139696"/>
            <a:ext cx="82296" cy="153619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9632" y="2139696"/>
            <a:ext cx="5440680" cy="1536192"/>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do instead</a:t>
            </a:r>
          </a:p>
          <a:p>
            <a:pPr>
              <a:spcBef>
                <a:spcPts val="300"/>
              </a:spcBef>
            </a:pPr>
            <a:r>
              <a:rPr sz="1200" b="0" i="0">
                <a:solidFill>
                  <a:srgbClr val="2A333B"/>
                </a:solidFill>
                <a:latin typeface="Calibri"/>
              </a:rPr>
              <a:t>·  Upload the three documents to the chat, or attach them to the project's Gem once and stop attaching them</a:t>
            </a:r>
          </a:p>
          <a:p>
            <a:pPr>
              <a:spcBef>
                <a:spcPts val="300"/>
              </a:spcBef>
            </a:pPr>
            <a:r>
              <a:rPr sz="1200" b="0" i="0">
                <a:solidFill>
                  <a:srgbClr val="2A333B"/>
                </a:solidFill>
                <a:latin typeface="Calibri"/>
              </a:rPr>
              <a:t>·  The manual step is the upload; everything after it is the same</a:t>
            </a:r>
          </a:p>
        </p:txBody>
      </p:sp>
      <p:sp>
        <p:nvSpPr>
          <p:cNvPr id="10" name="Rectangle 9"/>
          <p:cNvSpPr/>
          <p:nvPr/>
        </p:nvSpPr>
        <p:spPr>
          <a:xfrm>
            <a:off x="6199632" y="2139696"/>
            <a:ext cx="82296" cy="153619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877056"/>
            <a:ext cx="11091672" cy="76809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700" b="1" i="0">
                <a:solidFill>
                  <a:srgbClr val="FFFFFF"/>
                </a:solidFill>
                <a:latin typeface="Cambria"/>
              </a:rPr>
              <a:t>A capability you do not have is still a capability you have to plan around</a:t>
            </a:r>
          </a:p>
        </p:txBody>
      </p:sp>
      <p:sp>
        <p:nvSpPr>
          <p:cNvPr id="12" name="TextBox 11"/>
          <p:cNvSpPr txBox="1"/>
          <p:nvPr/>
        </p:nvSpPr>
        <p:spPr>
          <a:xfrm>
            <a:off x="548640" y="4828032"/>
            <a:ext cx="11091672" cy="365760"/>
          </a:xfrm>
          <a:prstGeom prst="rect">
            <a:avLst/>
          </a:prstGeom>
          <a:noFill/>
        </p:spPr>
        <p:txBody>
          <a:bodyPr wrap="square">
            <a:spAutoFit/>
          </a:bodyPr>
          <a:lstStyle/>
          <a:p>
            <a:pPr algn="l"/>
            <a:r>
              <a:rPr sz="1100" b="0" i="1">
                <a:solidFill>
                  <a:srgbClr val="6B747D"/>
                </a:solidFill>
                <a:latin typeface="Calibri"/>
              </a:rPr>
              <a:t>Check this one before your workflow blueprint depends on it — the boundary moves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Image generation and editing</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The one diagram your presentation needs — described in a sentence, adjusted in another, and dropped onto the slide</a:t>
            </a:r>
          </a:p>
        </p:txBody>
      </p:sp>
      <p:sp>
        <p:nvSpPr>
          <p:cNvPr id="7" name="Rectangle 6"/>
          <p:cNvSpPr/>
          <p:nvPr/>
        </p:nvSpPr>
        <p:spPr>
          <a:xfrm>
            <a:off x="548640" y="2084831"/>
            <a:ext cx="11091672"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type</a:t>
            </a:r>
          </a:p>
          <a:p>
            <a:pPr>
              <a:spcBef>
                <a:spcPts val="300"/>
              </a:spcBef>
            </a:pPr>
            <a:r>
              <a:rPr sz="1250" b="0" i="0">
                <a:solidFill>
                  <a:srgbClr val="2A333B"/>
                </a:solidFill>
                <a:latin typeface="Calibri"/>
              </a:rPr>
              <a:t>“A simple flow diagram for a slide: proposal → evaluation → grant agreement → reporting. Four boxes, one arrow each, no decoration, labels in English.”</a:t>
            </a:r>
          </a:p>
        </p:txBody>
      </p:sp>
      <p:sp>
        <p:nvSpPr>
          <p:cNvPr id="8" name="Rectangle 7"/>
          <p:cNvSpPr/>
          <p:nvPr/>
        </p:nvSpPr>
        <p:spPr>
          <a:xfrm>
            <a:off x="548640" y="2084831"/>
            <a:ext cx="82296" cy="8595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3090672"/>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it is good for</a:t>
            </a:r>
          </a:p>
          <a:p>
            <a:pPr>
              <a:spcBef>
                <a:spcPts val="300"/>
              </a:spcBef>
            </a:pPr>
            <a:r>
              <a:rPr sz="1150" b="0" i="0">
                <a:solidFill>
                  <a:srgbClr val="2A333B"/>
                </a:solidFill>
                <a:latin typeface="Calibri"/>
              </a:rPr>
              <a:t>·  The diagram a presentation needs and nobody has time to draw</a:t>
            </a:r>
          </a:p>
          <a:p>
            <a:pPr>
              <a:spcBef>
                <a:spcPts val="300"/>
              </a:spcBef>
            </a:pPr>
            <a:r>
              <a:rPr sz="1150" b="0" i="0">
                <a:solidFill>
                  <a:srgbClr val="2A333B"/>
                </a:solidFill>
                <a:latin typeface="Calibri"/>
              </a:rPr>
              <a:t>·  Editing what came back — “make the third box the widest” — instead of starting again</a:t>
            </a:r>
          </a:p>
        </p:txBody>
      </p:sp>
      <p:sp>
        <p:nvSpPr>
          <p:cNvPr id="10" name="Rectangle 9"/>
          <p:cNvSpPr/>
          <p:nvPr/>
        </p:nvSpPr>
        <p:spPr>
          <a:xfrm>
            <a:off x="548640" y="3090672"/>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9632" y="3090672"/>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it is not for</a:t>
            </a:r>
          </a:p>
          <a:p>
            <a:pPr>
              <a:spcBef>
                <a:spcPts val="300"/>
              </a:spcBef>
            </a:pPr>
            <a:r>
              <a:rPr sz="1150" b="0" i="0">
                <a:solidFill>
                  <a:srgbClr val="2A333B"/>
                </a:solidFill>
                <a:latin typeface="Calibri"/>
              </a:rPr>
              <a:t>·  Anything that has to be true: it draws what a chart looks like, not your figures</a:t>
            </a:r>
          </a:p>
          <a:p>
            <a:pPr>
              <a:spcBef>
                <a:spcPts val="300"/>
              </a:spcBef>
            </a:pPr>
            <a:r>
              <a:rPr sz="1150" b="0" i="0">
                <a:solidFill>
                  <a:srgbClr val="2A333B"/>
                </a:solidFill>
                <a:latin typeface="Calibri"/>
              </a:rPr>
              <a:t>·  Faces, logos, institutional identity — none of that comes out of a generator and into an official document</a:t>
            </a:r>
          </a:p>
        </p:txBody>
      </p:sp>
      <p:sp>
        <p:nvSpPr>
          <p:cNvPr id="12" name="Rectangle 11"/>
          <p:cNvSpPr/>
          <p:nvPr/>
        </p:nvSpPr>
        <p:spPr>
          <a:xfrm>
            <a:off x="6199632" y="3090672"/>
            <a:ext cx="82296" cy="13898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4645152"/>
            <a:ext cx="11091672" cy="65836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500" b="1" i="0">
                <a:solidFill>
                  <a:srgbClr val="FFFFFF"/>
                </a:solidFill>
                <a:latin typeface="Cambria"/>
              </a:rPr>
              <a:t>On screen today: the diagram this prompt produced, before and after one edit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Gemini Live and mobile</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Rehearse the presentation out loud, in the car or on the tram, and let it ask you the questions your audience will</a:t>
            </a:r>
          </a:p>
        </p:txBody>
      </p:sp>
      <p:sp>
        <p:nvSpPr>
          <p:cNvPr id="7" name="Rectangle 6"/>
          <p:cNvSpPr/>
          <p:nvPr/>
        </p:nvSpPr>
        <p:spPr>
          <a:xfrm>
            <a:off x="548640" y="2139696"/>
            <a:ext cx="5440680" cy="170078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Voice, both ways</a:t>
            </a:r>
          </a:p>
          <a:p>
            <a:pPr>
              <a:spcBef>
                <a:spcPts val="300"/>
              </a:spcBef>
            </a:pPr>
            <a:r>
              <a:rPr sz="1200" b="0" i="0">
                <a:solidFill>
                  <a:srgbClr val="2A333B"/>
                </a:solidFill>
                <a:latin typeface="Calibri"/>
              </a:rPr>
              <a:t>Talk through your section on the way to work and get questioned on it — the rehearsal that finds the slide you cannot explain</a:t>
            </a:r>
          </a:p>
        </p:txBody>
      </p:sp>
      <p:sp>
        <p:nvSpPr>
          <p:cNvPr id="8" name="Rectangle 7"/>
          <p:cNvSpPr/>
          <p:nvPr/>
        </p:nvSpPr>
        <p:spPr>
          <a:xfrm>
            <a:off x="548640" y="2139696"/>
            <a:ext cx="82296" cy="170078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9632" y="2139696"/>
            <a:ext cx="5440680" cy="170078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Same account, same Gems</a:t>
            </a:r>
          </a:p>
          <a:p>
            <a:pPr>
              <a:spcBef>
                <a:spcPts val="300"/>
              </a:spcBef>
            </a:pPr>
            <a:r>
              <a:rPr sz="1200" b="0" i="0">
                <a:solidFill>
                  <a:srgbClr val="2A333B"/>
                </a:solidFill>
                <a:latin typeface="Calibri"/>
              </a:rPr>
              <a:t>The mobile app is the same workspace: the Anchor Project Gem you built ten minutes ago is already there</a:t>
            </a:r>
          </a:p>
        </p:txBody>
      </p:sp>
      <p:sp>
        <p:nvSpPr>
          <p:cNvPr id="10" name="Rectangle 9"/>
          <p:cNvSpPr/>
          <p:nvPr/>
        </p:nvSpPr>
        <p:spPr>
          <a:xfrm>
            <a:off x="6199632" y="2139696"/>
            <a:ext cx="82296" cy="170078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4096512"/>
            <a:ext cx="11091672" cy="82296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700" b="1" i="0">
                <a:solidFill>
                  <a:srgbClr val="FFFFFF"/>
                </a:solidFill>
                <a:latin typeface="Cambria"/>
              </a:rPr>
              <a:t>The one capability you use with your hands full</a:t>
            </a:r>
          </a:p>
        </p:txBody>
      </p:sp>
      <p:sp>
        <p:nvSpPr>
          <p:cNvPr id="12" name="TextBox 11"/>
          <p:cNvSpPr txBox="1"/>
          <p:nvPr/>
        </p:nvSpPr>
        <p:spPr>
          <a:xfrm>
            <a:off x="548640" y="5102352"/>
            <a:ext cx="11091672" cy="365760"/>
          </a:xfrm>
          <a:prstGeom prst="rect">
            <a:avLst/>
          </a:prstGeom>
          <a:noFill/>
        </p:spPr>
        <p:txBody>
          <a:bodyPr wrap="square">
            <a:spAutoFit/>
          </a:bodyPr>
          <a:lstStyle/>
          <a:p>
            <a:pPr algn="l"/>
            <a:r>
              <a:rPr sz="1150" b="0" i="1">
                <a:solidFill>
                  <a:srgbClr val="6B747D"/>
                </a:solidFill>
                <a:latin typeface="Calibri"/>
              </a:rPr>
              <a:t>Voice is still an upload: what you say out loud goes to the same place a pasted document would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Guided Learning mode</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Learn a concept from your Anchor Project's domain the way you will have to teach it — step by step, questions first</a:t>
            </a:r>
          </a:p>
        </p:txBody>
      </p:sp>
      <p:sp>
        <p:nvSpPr>
          <p:cNvPr id="7" name="Rectangle 6"/>
          <p:cNvSpPr/>
          <p:nvPr/>
        </p:nvSpPr>
        <p:spPr>
          <a:xfrm>
            <a:off x="548640" y="2084831"/>
            <a:ext cx="11091672"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type</a:t>
            </a:r>
          </a:p>
          <a:p>
            <a:pPr>
              <a:spcBef>
                <a:spcPts val="300"/>
              </a:spcBef>
            </a:pPr>
            <a:r>
              <a:rPr sz="1250" b="0" i="0">
                <a:solidFill>
                  <a:srgbClr val="2A333B"/>
                </a:solidFill>
                <a:latin typeface="Calibri"/>
              </a:rPr>
              <a:t>“Teach me how indirect costs work in this funder's scheme. Do not give me the answer — take me through it, and check whether I followed.”</a:t>
            </a:r>
          </a:p>
        </p:txBody>
      </p:sp>
      <p:sp>
        <p:nvSpPr>
          <p:cNvPr id="8" name="Rectangle 7"/>
          <p:cNvSpPr/>
          <p:nvPr/>
        </p:nvSpPr>
        <p:spPr>
          <a:xfrm>
            <a:off x="548640" y="2084831"/>
            <a:ext cx="82296" cy="85953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3090672"/>
            <a:ext cx="5440680" cy="17556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changes</a:t>
            </a:r>
          </a:p>
          <a:p>
            <a:pPr>
              <a:spcBef>
                <a:spcPts val="300"/>
              </a:spcBef>
            </a:pPr>
            <a:r>
              <a:rPr sz="1200" b="0" i="0">
                <a:solidFill>
                  <a:srgbClr val="2A333B"/>
                </a:solidFill>
                <a:latin typeface="Calibri"/>
              </a:rPr>
              <a:t>It asks you questions instead of answering yours, and stops when you have got there rather than when it has finished</a:t>
            </a:r>
          </a:p>
        </p:txBody>
      </p:sp>
      <p:sp>
        <p:nvSpPr>
          <p:cNvPr id="10" name="Rectangle 9"/>
          <p:cNvSpPr/>
          <p:nvPr/>
        </p:nvSpPr>
        <p:spPr>
          <a:xfrm>
            <a:off x="548640" y="3090672"/>
            <a:ext cx="82296" cy="175564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9632" y="3090672"/>
            <a:ext cx="5440680" cy="17556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Why it is on this list</a:t>
            </a:r>
          </a:p>
          <a:p>
            <a:pPr>
              <a:spcBef>
                <a:spcPts val="300"/>
              </a:spcBef>
            </a:pPr>
            <a:r>
              <a:rPr sz="1200" b="0" i="0">
                <a:solidFill>
                  <a:srgbClr val="2A333B"/>
                </a:solidFill>
                <a:latin typeface="Calibri"/>
              </a:rPr>
              <a:t>Your deliverable is a presentation that has to produce learning outcomes. This is a worked example of the shape you are being asked to build — watch what it does with a concept, then do that</a:t>
            </a:r>
          </a:p>
        </p:txBody>
      </p:sp>
      <p:sp>
        <p:nvSpPr>
          <p:cNvPr id="12" name="Rectangle 11"/>
          <p:cNvSpPr/>
          <p:nvPr/>
        </p:nvSpPr>
        <p:spPr>
          <a:xfrm>
            <a:off x="6199632" y="3090672"/>
            <a:ext cx="82296" cy="175564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5047488"/>
            <a:ext cx="11091672" cy="365760"/>
          </a:xfrm>
          <a:prstGeom prst="rect">
            <a:avLst/>
          </a:prstGeom>
          <a:noFill/>
        </p:spPr>
        <p:txBody>
          <a:bodyPr wrap="square">
            <a:spAutoFit/>
          </a:bodyPr>
          <a:lstStyle/>
          <a:p>
            <a:pPr algn="l"/>
            <a:r>
              <a:rPr sz="1150" b="0" i="1">
                <a:solidFill>
                  <a:srgbClr val="6B747D"/>
                </a:solidFill>
                <a:latin typeface="Calibri"/>
              </a:rPr>
              <a:t>A concept explained to you badly is a concept you are about to explain badly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Saved info — the lightweight Gem</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76809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Stop opening every conversation by explaining who you are and what your office does</a:t>
            </a:r>
          </a:p>
        </p:txBody>
      </p:sp>
      <p:sp>
        <p:nvSpPr>
          <p:cNvPr id="7" name="Rectangle 6"/>
          <p:cNvSpPr/>
          <p:nvPr/>
        </p:nvSpPr>
        <p:spPr>
          <a:xfrm>
            <a:off x="548640" y="2139696"/>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Three facts, once</a:t>
            </a:r>
          </a:p>
          <a:p>
            <a:pPr>
              <a:spcBef>
                <a:spcPts val="300"/>
              </a:spcBef>
            </a:pPr>
            <a:r>
              <a:rPr sz="1200" b="0" i="0">
                <a:solidFill>
                  <a:srgbClr val="2A333B"/>
                </a:solidFill>
                <a:latin typeface="Calibri"/>
              </a:rPr>
              <a:t>Your role, your institution, the field your Anchor Project sits in — and every new chat starts from them instead of from nothing</a:t>
            </a:r>
          </a:p>
        </p:txBody>
      </p:sp>
      <p:sp>
        <p:nvSpPr>
          <p:cNvPr id="8" name="Rectangle 7"/>
          <p:cNvSpPr/>
          <p:nvPr/>
        </p:nvSpPr>
        <p:spPr>
          <a:xfrm>
            <a:off x="548640" y="2139696"/>
            <a:ext cx="82296" cy="1645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9632" y="2139696"/>
            <a:ext cx="5440680" cy="164592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The lightweight version of a Gem</a:t>
            </a:r>
          </a:p>
          <a:p>
            <a:pPr>
              <a:spcBef>
                <a:spcPts val="300"/>
              </a:spcBef>
            </a:pPr>
            <a:r>
              <a:rPr sz="1200" b="0" i="0">
                <a:solidFill>
                  <a:srgbClr val="2A333B"/>
                </a:solidFill>
                <a:latin typeface="Calibri"/>
              </a:rPr>
              <a:t>Saved info follows you everywhere; a Gem is one project's workspace. Standing facts here, project context there</a:t>
            </a:r>
          </a:p>
        </p:txBody>
      </p:sp>
      <p:sp>
        <p:nvSpPr>
          <p:cNvPr id="10" name="Rectangle 9"/>
          <p:cNvSpPr/>
          <p:nvPr/>
        </p:nvSpPr>
        <p:spPr>
          <a:xfrm>
            <a:off x="6199632" y="2139696"/>
            <a:ext cx="82296" cy="164592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4023360"/>
            <a:ext cx="1109167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does not go in here</a:t>
            </a:r>
          </a:p>
          <a:p>
            <a:pPr>
              <a:spcBef>
                <a:spcPts val="300"/>
              </a:spcBef>
            </a:pPr>
            <a:r>
              <a:rPr sz="1200" b="0" i="0">
                <a:solidFill>
                  <a:srgbClr val="2A333B"/>
                </a:solidFill>
                <a:latin typeface="Calibri"/>
              </a:rPr>
              <a:t>Nothing from the Segment 2 list. Saved info is stored on your personal Google account and read by every chat you open — it is the last place a colleague's name or an unsubmitted figure belongs.</a:t>
            </a:r>
          </a:p>
        </p:txBody>
      </p:sp>
      <p:sp>
        <p:nvSpPr>
          <p:cNvPr id="12" name="Rectangle 11"/>
          <p:cNvSpPr/>
          <p:nvPr/>
        </p:nvSpPr>
        <p:spPr>
          <a:xfrm>
            <a:off x="548640" y="4023360"/>
            <a:ext cx="82296"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5175504"/>
            <a:ext cx="11091672" cy="365760"/>
          </a:xfrm>
          <a:prstGeom prst="rect">
            <a:avLst/>
          </a:prstGeom>
          <a:noFill/>
        </p:spPr>
        <p:txBody>
          <a:bodyPr wrap="square">
            <a:spAutoFit/>
          </a:bodyPr>
          <a:lstStyle/>
          <a:p>
            <a:pPr algn="l"/>
            <a:r>
              <a:rPr sz="1150" b="0" i="1">
                <a:solidFill>
                  <a:srgbClr val="6B747D"/>
                </a:solidFill>
                <a:latin typeface="Calibri"/>
              </a:rPr>
              <a:t>Standing context is a convenience; it is not a place to keep anything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NotebookLM: a YouTube link becomes a source</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8046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A funder's recorded information session on YouTube — an hour of video nobody will rewatch — turned into a text source you can question and quote</a:t>
            </a:r>
          </a:p>
        </p:txBody>
      </p:sp>
      <p:sp>
        <p:nvSpPr>
          <p:cNvPr id="7" name="TextBox 6"/>
          <p:cNvSpPr txBox="1"/>
          <p:nvPr/>
        </p:nvSpPr>
        <p:spPr>
          <a:xfrm>
            <a:off x="548640" y="2084832"/>
            <a:ext cx="11091672" cy="365760"/>
          </a:xfrm>
          <a:prstGeom prst="rect">
            <a:avLst/>
          </a:prstGeom>
          <a:noFill/>
        </p:spPr>
        <p:txBody>
          <a:bodyPr wrap="square">
            <a:spAutoFit/>
          </a:bodyPr>
          <a:lstStyle/>
          <a:p>
            <a:pPr algn="l"/>
            <a:r>
              <a:rPr sz="1150" b="0" i="1">
                <a:solidFill>
                  <a:srgbClr val="6B747D"/>
                </a:solidFill>
                <a:latin typeface="Calibri"/>
              </a:rPr>
              <a:t>The Lesson 3 tool — what it is for today, the walkthrough next week</a:t>
            </a:r>
          </a:p>
        </p:txBody>
      </p:sp>
      <p:sp>
        <p:nvSpPr>
          <p:cNvPr id="8" name="Rectangle 7"/>
          <p:cNvSpPr/>
          <p:nvPr/>
        </p:nvSpPr>
        <p:spPr>
          <a:xfrm>
            <a:off x="548640"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you get</a:t>
            </a:r>
          </a:p>
          <a:p>
            <a:pPr>
              <a:spcBef>
                <a:spcPts val="300"/>
              </a:spcBef>
            </a:pPr>
            <a:r>
              <a:rPr sz="1200" b="0" i="0">
                <a:solidFill>
                  <a:srgbClr val="2A333B"/>
                </a:solidFill>
                <a:latin typeface="Calibri"/>
              </a:rPr>
              <a:t>·  The spoken hour as a text source the notebook can quote, with the point in the recording each answer came from</a:t>
            </a:r>
          </a:p>
          <a:p>
            <a:pPr>
              <a:spcBef>
                <a:spcPts val="300"/>
              </a:spcBef>
            </a:pPr>
            <a:r>
              <a:rPr sz="1200" b="0" i="0">
                <a:solidFill>
                  <a:srgbClr val="2A333B"/>
                </a:solidFill>
                <a:latin typeface="Calibri"/>
              </a:rPr>
              <a:t>·  Searchable: “what did they say about co-financing?” instead of scrubbing a timeline</a:t>
            </a:r>
          </a:p>
        </p:txBody>
      </p:sp>
      <p:sp>
        <p:nvSpPr>
          <p:cNvPr id="9" name="Rectangle 8"/>
          <p:cNvSpPr/>
          <p:nvPr/>
        </p:nvSpPr>
        <p:spPr>
          <a:xfrm>
            <a:off x="548640"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99632"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it needs</a:t>
            </a:r>
          </a:p>
          <a:p>
            <a:pPr>
              <a:spcBef>
                <a:spcPts val="300"/>
              </a:spcBef>
            </a:pPr>
            <a:r>
              <a:rPr sz="1200" b="0" i="0">
                <a:solidFill>
                  <a:srgbClr val="2A333B"/>
                </a:solidFill>
                <a:latin typeface="Calibri"/>
              </a:rPr>
              <a:t>·  A public YouTube video with captions — the captions are what the notebook actually reads, so a recording without them is not a source</a:t>
            </a:r>
          </a:p>
          <a:p>
            <a:pPr>
              <a:spcBef>
                <a:spcPts val="300"/>
              </a:spcBef>
            </a:pPr>
            <a:r>
              <a:rPr sz="1200" b="0" i="0">
                <a:solidFill>
                  <a:srgbClr val="2A333B"/>
                </a:solidFill>
                <a:latin typeface="Calibri"/>
              </a:rPr>
              <a:t>·  No link goes in this deck: the scenario is described, and the recording you use on the day is your own</a:t>
            </a:r>
          </a:p>
        </p:txBody>
      </p:sp>
      <p:sp>
        <p:nvSpPr>
          <p:cNvPr id="11" name="Rectangle 10"/>
          <p:cNvSpPr/>
          <p:nvPr/>
        </p:nvSpPr>
        <p:spPr>
          <a:xfrm>
            <a:off x="6199632"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791456"/>
            <a:ext cx="11091672" cy="365760"/>
          </a:xfrm>
          <a:prstGeom prst="rect">
            <a:avLst/>
          </a:prstGeom>
          <a:noFill/>
        </p:spPr>
        <p:txBody>
          <a:bodyPr wrap="square">
            <a:spAutoFit/>
          </a:bodyPr>
          <a:lstStyle/>
          <a:p>
            <a:pPr algn="l"/>
            <a:r>
              <a:rPr sz="1200" b="0" i="1">
                <a:solidFill>
                  <a:srgbClr val="6B747D"/>
                </a:solidFill>
                <a:latin typeface="Calibri"/>
              </a:rPr>
              <a:t>The hour of video you could not cite becomes a source you can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NotebookLM: several documents, one notebook</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8046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Everything the office holds on one call — the document, the guidelines, the FAQ and your own notes — answering as one source, with citations</a:t>
            </a:r>
          </a:p>
        </p:txBody>
      </p:sp>
      <p:sp>
        <p:nvSpPr>
          <p:cNvPr id="7" name="TextBox 6"/>
          <p:cNvSpPr txBox="1"/>
          <p:nvPr/>
        </p:nvSpPr>
        <p:spPr>
          <a:xfrm>
            <a:off x="548640" y="2084832"/>
            <a:ext cx="11091672" cy="365760"/>
          </a:xfrm>
          <a:prstGeom prst="rect">
            <a:avLst/>
          </a:prstGeom>
          <a:noFill/>
        </p:spPr>
        <p:txBody>
          <a:bodyPr wrap="square">
            <a:spAutoFit/>
          </a:bodyPr>
          <a:lstStyle/>
          <a:p>
            <a:pPr algn="l"/>
            <a:r>
              <a:rPr sz="1150" b="0" i="1">
                <a:solidFill>
                  <a:srgbClr val="6B747D"/>
                </a:solidFill>
                <a:latin typeface="Calibri"/>
              </a:rPr>
              <a:t>The Lesson 3 tool — what it is for today, the walkthrough next week</a:t>
            </a:r>
          </a:p>
        </p:txBody>
      </p:sp>
      <p:sp>
        <p:nvSpPr>
          <p:cNvPr id="8" name="Rectangle 7"/>
          <p:cNvSpPr/>
          <p:nvPr/>
        </p:nvSpPr>
        <p:spPr>
          <a:xfrm>
            <a:off x="548640"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Four sources, one question</a:t>
            </a:r>
          </a:p>
          <a:p>
            <a:pPr>
              <a:spcBef>
                <a:spcPts val="300"/>
              </a:spcBef>
            </a:pPr>
            <a:r>
              <a:rPr sz="1200" b="0" i="0">
                <a:solidFill>
                  <a:srgbClr val="2A333B"/>
                </a:solidFill>
                <a:latin typeface="Calibri"/>
              </a:rPr>
              <a:t>·  The call document, the funder's guidelines, the FAQ and your own notes in one notebook</a:t>
            </a:r>
          </a:p>
          <a:p>
            <a:pPr>
              <a:spcBef>
                <a:spcPts val="300"/>
              </a:spcBef>
            </a:pPr>
            <a:r>
              <a:rPr sz="1200" b="0" i="0">
                <a:solidFill>
                  <a:srgbClr val="2A333B"/>
                </a:solidFill>
                <a:latin typeface="Calibri"/>
              </a:rPr>
              <a:t>·  Ask it once — “what does eligibility actually require?” — and the answer says which of the four it came from</a:t>
            </a:r>
          </a:p>
        </p:txBody>
      </p:sp>
      <p:sp>
        <p:nvSpPr>
          <p:cNvPr id="9" name="Rectangle 8"/>
          <p:cNvSpPr/>
          <p:nvPr/>
        </p:nvSpPr>
        <p:spPr>
          <a:xfrm>
            <a:off x="548640"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99632"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The answer to “more context is not better context”</a:t>
            </a:r>
          </a:p>
          <a:p>
            <a:pPr>
              <a:spcBef>
                <a:spcPts val="300"/>
              </a:spcBef>
            </a:pPr>
            <a:r>
              <a:rPr sz="1200" b="0" i="0">
                <a:solidFill>
                  <a:srgbClr val="2A333B"/>
                </a:solidFill>
                <a:latin typeface="Calibri"/>
              </a:rPr>
              <a:t>·  It answers from the sources you gave it and says so, rather than from everything it has ever read</a:t>
            </a:r>
          </a:p>
          <a:p>
            <a:pPr>
              <a:spcBef>
                <a:spcPts val="300"/>
              </a:spcBef>
            </a:pPr>
            <a:r>
              <a:rPr sz="1200" b="0" i="0">
                <a:solidFill>
                  <a:srgbClr val="2A333B"/>
                </a:solidFill>
                <a:latin typeface="Calibri"/>
              </a:rPr>
              <a:t>·  Curation stops being a discipline you have to remember and becomes the shape of the tool</a:t>
            </a:r>
          </a:p>
        </p:txBody>
      </p:sp>
      <p:sp>
        <p:nvSpPr>
          <p:cNvPr id="11" name="Rectangle 10"/>
          <p:cNvSpPr/>
          <p:nvPr/>
        </p:nvSpPr>
        <p:spPr>
          <a:xfrm>
            <a:off x="6199632"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773168"/>
            <a:ext cx="11091672" cy="365760"/>
          </a:xfrm>
          <a:prstGeom prst="rect">
            <a:avLst/>
          </a:prstGeom>
          <a:noFill/>
        </p:spPr>
        <p:txBody>
          <a:bodyPr wrap="square">
            <a:spAutoFit/>
          </a:bodyPr>
          <a:lstStyle/>
          <a:p>
            <a:pPr algn="l"/>
            <a:r>
              <a:rPr sz="1200" b="0" i="1">
                <a:solidFill>
                  <a:srgbClr val="6B747D"/>
                </a:solidFill>
                <a:latin typeface="Calibri"/>
              </a:rPr>
              <a:t>Source-grounded: every claim carries the document it came from, so checking it takes one click rather than one afternoon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NotebookLM: a notebook as the project folder</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88720"/>
            <a:ext cx="11091672" cy="8046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Link the Anchor Project's notebook into a conversation, and stop re-uploading the same four documents every time you open one</a:t>
            </a:r>
          </a:p>
        </p:txBody>
      </p:sp>
      <p:sp>
        <p:nvSpPr>
          <p:cNvPr id="7" name="TextBox 6"/>
          <p:cNvSpPr txBox="1"/>
          <p:nvPr/>
        </p:nvSpPr>
        <p:spPr>
          <a:xfrm>
            <a:off x="548640" y="2084832"/>
            <a:ext cx="11091672" cy="365760"/>
          </a:xfrm>
          <a:prstGeom prst="rect">
            <a:avLst/>
          </a:prstGeom>
          <a:noFill/>
        </p:spPr>
        <p:txBody>
          <a:bodyPr wrap="square">
            <a:spAutoFit/>
          </a:bodyPr>
          <a:lstStyle/>
          <a:p>
            <a:pPr algn="l"/>
            <a:r>
              <a:rPr sz="1150" b="0" i="1">
                <a:solidFill>
                  <a:srgbClr val="6B747D"/>
                </a:solidFill>
                <a:latin typeface="Calibri"/>
              </a:rPr>
              <a:t>The Lesson 3 tool — what it is for today, the walkthrough next week</a:t>
            </a:r>
          </a:p>
        </p:txBody>
      </p:sp>
      <p:sp>
        <p:nvSpPr>
          <p:cNvPr id="8" name="Rectangle 7"/>
          <p:cNvSpPr/>
          <p:nvPr/>
        </p:nvSpPr>
        <p:spPr>
          <a:xfrm>
            <a:off x="548640"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What it changes</a:t>
            </a:r>
          </a:p>
          <a:p>
            <a:pPr>
              <a:spcBef>
                <a:spcPts val="300"/>
              </a:spcBef>
            </a:pPr>
            <a:r>
              <a:rPr sz="1200" b="0" i="0">
                <a:solidFill>
                  <a:srgbClr val="2A333B"/>
                </a:solidFill>
                <a:latin typeface="Calibri"/>
              </a:rPr>
              <a:t>·  The notebook becomes the project's folder inside a conversation: the Anchor Project's sources travel with the chat</a:t>
            </a:r>
          </a:p>
          <a:p>
            <a:pPr>
              <a:spcBef>
                <a:spcPts val="300"/>
              </a:spcBef>
            </a:pPr>
            <a:r>
              <a:rPr sz="1200" b="0" i="0">
                <a:solidFill>
                  <a:srgbClr val="2A333B"/>
                </a:solidFill>
                <a:latin typeface="Calibri"/>
              </a:rPr>
              <a:t>·  Persistent context again, one level up — a Gem knows how you work, a notebook knows what you are working from</a:t>
            </a:r>
          </a:p>
        </p:txBody>
      </p:sp>
      <p:sp>
        <p:nvSpPr>
          <p:cNvPr id="9" name="Rectangle 8"/>
          <p:cNvSpPr/>
          <p:nvPr/>
        </p:nvSpPr>
        <p:spPr>
          <a:xfrm>
            <a:off x="548640"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99632" y="2487168"/>
            <a:ext cx="5440680" cy="2066543"/>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Check before you promise it</a:t>
            </a:r>
          </a:p>
          <a:p>
            <a:pPr>
              <a:spcBef>
                <a:spcPts val="300"/>
              </a:spcBef>
            </a:pPr>
            <a:r>
              <a:rPr sz="1200" b="0" i="0">
                <a:solidFill>
                  <a:srgbClr val="2A333B"/>
                </a:solidFill>
                <a:latin typeface="Calibri"/>
              </a:rPr>
              <a:t>·  Google folded NotebookLM into the Gemini family in 2026 — the product itself was renamed “Gemini Notebook” in mid-2026, and the notebook-to-chat link arrived on paid plans first</a:t>
            </a:r>
          </a:p>
          <a:p>
            <a:pPr>
              <a:spcBef>
                <a:spcPts val="300"/>
              </a:spcBef>
            </a:pPr>
            <a:r>
              <a:rPr sz="1200" b="0" i="0">
                <a:solidFill>
                  <a:srgbClr val="2A333B"/>
                </a:solidFill>
                <a:latin typeface="Calibri"/>
              </a:rPr>
              <a:t>·  Any step of this that is paid-only on the day is marked on the slide before delivery</a:t>
            </a:r>
          </a:p>
        </p:txBody>
      </p:sp>
      <p:sp>
        <p:nvSpPr>
          <p:cNvPr id="11" name="Rectangle 10"/>
          <p:cNvSpPr/>
          <p:nvPr/>
        </p:nvSpPr>
        <p:spPr>
          <a:xfrm>
            <a:off x="6199632" y="2487168"/>
            <a:ext cx="82296" cy="2066543"/>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4773168"/>
            <a:ext cx="11091672" cy="74980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600" b="1" i="0">
                <a:solidFill>
                  <a:srgbClr val="FFFFFF"/>
                </a:solidFill>
                <a:latin typeface="Cambria"/>
              </a:rPr>
              <a:t>Next week: the notebook itself. Today: what it is for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640080"/>
          </a:xfrm>
          <a:prstGeom prst="rect">
            <a:avLst/>
          </a:prstGeom>
          <a:noFill/>
        </p:spPr>
        <p:txBody>
          <a:bodyPr wrap="square" anchor="b">
            <a:spAutoFit/>
          </a:bodyPr>
          <a:lstStyle/>
          <a:p>
            <a:pPr algn="l"/>
            <a:r>
              <a:rPr sz="2800" b="1" i="0">
                <a:solidFill>
                  <a:srgbClr val="1C242B"/>
                </a:solidFill>
                <a:latin typeface="Cambria"/>
              </a:rPr>
              <a:t>Chaining what you have just seen</a:t>
            </a:r>
          </a:p>
        </p:txBody>
      </p:sp>
      <p:sp>
        <p:nvSpPr>
          <p:cNvPr id="3" name="Rounded Rectangle 2"/>
          <p:cNvSpPr/>
          <p:nvPr/>
        </p:nvSpPr>
        <p:spPr>
          <a:xfrm>
            <a:off x="8714232" y="457200"/>
            <a:ext cx="2926080" cy="329184"/>
          </a:xfrm>
          <a:prstGeom prst="round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109728" tIns="0" rIns="109728" bIns="0" rtlCol="0" anchor="ctr"/>
          <a:lstStyle/>
          <a:p>
            <a:pPr algn="ctr"/>
            <a:r>
              <a:rPr sz="1000" b="1" i="0">
                <a:solidFill>
                  <a:srgbClr val="FFFFFF"/>
                </a:solidFill>
                <a:latin typeface="Calibri"/>
              </a:rPr>
              <a:t>DAILY DRIVER · GOOGLE GEMINI</a:t>
            </a:r>
          </a:p>
        </p:txBody>
      </p:sp>
      <p:sp>
        <p:nvSpPr>
          <p:cNvPr id="4" name="Rectangle 3"/>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088136"/>
            <a:ext cx="1097280" cy="3810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No single capability on its own is the interesting part. Two of them in a row, with a reason for the order, is a workflow.</a:t>
            </a:r>
          </a:p>
        </p:txBody>
      </p:sp>
      <p:sp>
        <p:nvSpPr>
          <p:cNvPr id="7" name="Rectangle 6"/>
          <p:cNvSpPr/>
          <p:nvPr/>
        </p:nvSpPr>
        <p:spPr>
          <a:xfrm>
            <a:off x="548640" y="1700784"/>
            <a:ext cx="5440680" cy="2377440"/>
          </a:xfrm>
          <a:prstGeom prst="rect">
            <a:avLst/>
          </a:prstGeom>
          <a:solidFill>
            <a:srgbClr val="EBE6F7"/>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64592" rIns="228600" rtlCol="0" anchor="t"/>
          <a:lstStyle/>
          <a:p>
            <a:pPr algn="l"/>
            <a:r>
              <a:rPr sz="1800" b="1" i="0">
                <a:solidFill>
                  <a:srgbClr val="1C242B"/>
                </a:solidFill>
                <a:latin typeface="Cambria"/>
              </a:rPr>
              <a:t>Upload → Gem → Canvas</a:t>
            </a:r>
          </a:p>
          <a:p>
            <a:pPr>
              <a:spcBef>
                <a:spcPts val="500"/>
              </a:spcBef>
            </a:pPr>
            <a:r>
              <a:rPr sz="1250" b="0" i="0">
                <a:solidFill>
                  <a:srgbClr val="2A333B"/>
                </a:solidFill>
                <a:latin typeface="Calibri"/>
              </a:rPr>
              <a:t>·  Upload the anonymised call document and read the eligibility criteria out of it</a:t>
            </a:r>
          </a:p>
          <a:p>
            <a:pPr>
              <a:spcBef>
                <a:spcPts val="500"/>
              </a:spcBef>
            </a:pPr>
            <a:r>
              <a:rPr sz="1250" b="0" i="0">
                <a:solidFill>
                  <a:srgbClr val="2A333B"/>
                </a:solidFill>
                <a:latin typeface="Calibri"/>
              </a:rPr>
              <a:t>·  Put the project's standing context in a Gem, so the next chat starts where this one ended</a:t>
            </a:r>
          </a:p>
          <a:p>
            <a:pPr>
              <a:spcBef>
                <a:spcPts val="500"/>
              </a:spcBef>
            </a:pPr>
            <a:r>
              <a:rPr sz="1250" b="0" i="0">
                <a:solidFill>
                  <a:srgbClr val="2A333B"/>
                </a:solidFill>
                <a:latin typeface="Calibri"/>
              </a:rPr>
              <a:t>·  Draft the presentation in Canvas, from a workspace that already knows the project</a:t>
            </a:r>
          </a:p>
        </p:txBody>
      </p:sp>
      <p:sp>
        <p:nvSpPr>
          <p:cNvPr id="8" name="Rectangle 7"/>
          <p:cNvSpPr/>
          <p:nvPr/>
        </p:nvSpPr>
        <p:spPr>
          <a:xfrm>
            <a:off x="548640" y="1700784"/>
            <a:ext cx="82296" cy="2377440"/>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99632" y="1700784"/>
            <a:ext cx="5440680" cy="237744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64592" rIns="228600" rtlCol="0" anchor="t"/>
          <a:lstStyle/>
          <a:p>
            <a:pPr algn="l"/>
            <a:r>
              <a:rPr sz="1800" b="1" i="0">
                <a:solidFill>
                  <a:srgbClr val="1C242B"/>
                </a:solidFill>
                <a:latin typeface="Cambria"/>
              </a:rPr>
              <a:t>Notebook → chat → draft</a:t>
            </a:r>
          </a:p>
          <a:p>
            <a:pPr>
              <a:spcBef>
                <a:spcPts val="500"/>
              </a:spcBef>
            </a:pPr>
            <a:r>
              <a:rPr sz="1250" b="0" i="0">
                <a:solidFill>
                  <a:srgbClr val="2A333B"/>
                </a:solidFill>
                <a:latin typeface="Calibri"/>
              </a:rPr>
              <a:t>·  Aggregate the call's four documents in one notebook, source-grounded</a:t>
            </a:r>
          </a:p>
          <a:p>
            <a:pPr>
              <a:spcBef>
                <a:spcPts val="500"/>
              </a:spcBef>
            </a:pPr>
            <a:r>
              <a:rPr sz="1250" b="0" i="0">
                <a:solidFill>
                  <a:srgbClr val="2A333B"/>
                </a:solidFill>
                <a:latin typeface="Calibri"/>
              </a:rPr>
              <a:t>·  Link the notebook into a chat as the project's folder</a:t>
            </a:r>
          </a:p>
          <a:p>
            <a:pPr>
              <a:spcBef>
                <a:spcPts val="500"/>
              </a:spcBef>
            </a:pPr>
            <a:r>
              <a:rPr sz="1250" b="0" i="0">
                <a:solidFill>
                  <a:srgbClr val="2A333B"/>
                </a:solidFill>
                <a:latin typeface="Calibri"/>
              </a:rPr>
              <a:t>·  Draft from sources you can cite, instead of from a conversation you have to trust</a:t>
            </a:r>
          </a:p>
        </p:txBody>
      </p:sp>
      <p:sp>
        <p:nvSpPr>
          <p:cNvPr id="10" name="Rectangle 9"/>
          <p:cNvSpPr/>
          <p:nvPr/>
        </p:nvSpPr>
        <p:spPr>
          <a:xfrm>
            <a:off x="6199632" y="1700784"/>
            <a:ext cx="82296" cy="237744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4297680"/>
            <a:ext cx="11091672" cy="93268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100" b="1" i="0">
                <a:solidFill>
                  <a:srgbClr val="FFFFFF"/>
                </a:solidFill>
                <a:latin typeface="Cambria"/>
              </a:rPr>
              <a:t>This is the assignment</a:t>
            </a:r>
          </a:p>
          <a:p>
            <a:pPr algn="ctr">
              <a:spcBef>
                <a:spcPts val="600"/>
              </a:spcBef>
            </a:pPr>
            <a:r>
              <a:rPr sz="1300" b="0" i="0">
                <a:solidFill>
                  <a:srgbClr val="FFFFFF"/>
                </a:solidFill>
                <a:latin typeface="Calibri"/>
              </a:rPr>
              <a:t>Next segment: chain the tools and capabilities from both weeks into one workflow, and justify every step — which tool, why that one, and what the step before it had to produce.</a:t>
            </a:r>
          </a:p>
        </p:txBody>
      </p:sp>
      <p:sp>
        <p:nvSpPr>
          <p:cNvPr id="12" name="TextBox 11"/>
          <p:cNvSpPr txBox="1"/>
          <p:nvPr/>
        </p:nvSpPr>
        <p:spPr>
          <a:xfrm>
            <a:off x="548640" y="5431536"/>
            <a:ext cx="11091672" cy="365760"/>
          </a:xfrm>
          <a:prstGeom prst="rect">
            <a:avLst/>
          </a:prstGeom>
          <a:noFill/>
        </p:spPr>
        <p:txBody>
          <a:bodyPr wrap="square">
            <a:spAutoFit/>
          </a:bodyPr>
          <a:lstStyle/>
          <a:p>
            <a:pPr algn="l"/>
            <a:r>
              <a:rPr sz="1150" b="0" i="1">
                <a:solidFill>
                  <a:srgbClr val="6B747D"/>
                </a:solidFill>
                <a:latin typeface="Calibri"/>
              </a:rPr>
              <a:t>Level 3 was persistent context. Level 4 is orchestration — and the blueprint you write this week is its foundation.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926080" cy="635508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0" b="1" i="0" dirty="0">
                <a:solidFill>
                  <a:srgbClr val="FFFFFF"/>
                </a:solidFill>
                <a:latin typeface="Cambria"/>
              </a:rPr>
              <a:t>5</a:t>
            </a:r>
          </a:p>
        </p:txBody>
      </p:sp>
      <p:sp>
        <p:nvSpPr>
          <p:cNvPr id="3" name="TextBox 2"/>
          <p:cNvSpPr txBox="1"/>
          <p:nvPr/>
        </p:nvSpPr>
        <p:spPr>
          <a:xfrm>
            <a:off x="3474720" y="1920240"/>
            <a:ext cx="8138160" cy="1371600"/>
          </a:xfrm>
          <a:prstGeom prst="rect">
            <a:avLst/>
          </a:prstGeom>
          <a:noFill/>
        </p:spPr>
        <p:txBody>
          <a:bodyPr wrap="square" anchor="b">
            <a:spAutoFit/>
          </a:bodyPr>
          <a:lstStyle/>
          <a:p>
            <a:pPr algn="l"/>
            <a:r>
              <a:rPr sz="3400" b="1" i="0">
                <a:solidFill>
                  <a:srgbClr val="1C242B"/>
                </a:solidFill>
                <a:latin typeface="Cambria"/>
              </a:rPr>
              <a:t>Assignment briefing + close</a:t>
            </a:r>
          </a:p>
        </p:txBody>
      </p:sp>
      <p:sp>
        <p:nvSpPr>
          <p:cNvPr id="4" name="Rectangle 3"/>
          <p:cNvSpPr/>
          <p:nvPr/>
        </p:nvSpPr>
        <p:spPr>
          <a:xfrm>
            <a:off x="3474720" y="3401568"/>
            <a:ext cx="1097280" cy="3175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3566160"/>
            <a:ext cx="8138160" cy="457200"/>
          </a:xfrm>
          <a:prstGeom prst="rect">
            <a:avLst/>
          </a:prstGeom>
          <a:noFill/>
        </p:spPr>
        <p:txBody>
          <a:bodyPr wrap="square">
            <a:spAutoFit/>
          </a:bodyPr>
          <a:lstStyle/>
          <a:p>
            <a:pPr algn="l"/>
            <a:r>
              <a:rPr sz="1800" b="1" i="0">
                <a:solidFill>
                  <a:srgbClr val="3E4C59"/>
                </a:solidFill>
                <a:latin typeface="Calibri"/>
              </a:rPr>
              <a:t>8 min · Presentation + Q&amp;A</a:t>
            </a:r>
          </a:p>
        </p:txBody>
      </p:sp>
      <p:sp>
        <p:nvSpPr>
          <p:cNvPr id="6" name="TextBox 5"/>
          <p:cNvSpPr txBox="1"/>
          <p:nvPr/>
        </p:nvSpPr>
        <p:spPr>
          <a:xfrm>
            <a:off x="3474720" y="4023360"/>
            <a:ext cx="8138160" cy="365760"/>
          </a:xfrm>
          <a:prstGeom prst="rect">
            <a:avLst/>
          </a:prstGeom>
          <a:noFill/>
        </p:spPr>
        <p:txBody>
          <a:bodyPr wrap="square">
            <a:spAutoFit/>
          </a:bodyPr>
          <a:lstStyle/>
          <a:p>
            <a:pPr algn="l"/>
            <a:r>
              <a:rPr sz="1200" b="0" i="0" dirty="0">
                <a:solidFill>
                  <a:srgbClr val="6B747D"/>
                </a:solidFill>
                <a:latin typeface="Calibri"/>
              </a:rPr>
              <a:t>Segment 5 of 5</a:t>
            </a:r>
          </a:p>
        </p:txBody>
      </p:sp>
      <p:sp>
        <p:nvSpPr>
          <p:cNvPr id="7" name="Rectangle 6"/>
          <p:cNvSpPr/>
          <p:nvPr/>
        </p:nvSpPr>
        <p:spPr>
          <a:xfrm>
            <a:off x="34747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605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8463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32120" y="5989320"/>
            <a:ext cx="502920" cy="73152"/>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5989320"/>
            <a:ext cx="502920" cy="7315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Assignment: your first workflow orchestration</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170432"/>
            <a:ext cx="11091672" cy="74980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100" b="1" i="0">
                <a:solidFill>
                  <a:srgbClr val="FFFFFF"/>
                </a:solidFill>
                <a:latin typeface="Cambria"/>
              </a:rPr>
              <a:t>Run the roadmap on a topic of your own</a:t>
            </a:r>
          </a:p>
          <a:p>
            <a:pPr algn="ctr">
              <a:spcBef>
                <a:spcPts val="600"/>
              </a:spcBef>
            </a:pPr>
            <a:r>
              <a:rPr sz="1300" b="0" i="0">
                <a:solidFill>
                  <a:srgbClr val="FFFFFF"/>
                </a:solidFill>
                <a:latin typeface="Calibri"/>
              </a:rPr>
              <a:t>Chain the tools the course has introduced so far into one multi-step workflow orchestration, end to end, on a topic you pick.</a:t>
            </a:r>
          </a:p>
        </p:txBody>
      </p:sp>
      <p:sp>
        <p:nvSpPr>
          <p:cNvPr id="6" name="Rectangle 5"/>
          <p:cNvSpPr/>
          <p:nvPr/>
        </p:nvSpPr>
        <p:spPr>
          <a:xfrm>
            <a:off x="548640" y="2066543"/>
            <a:ext cx="566928"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Cambria"/>
              </a:rPr>
              <a:t>1</a:t>
            </a:r>
          </a:p>
        </p:txBody>
      </p:sp>
      <p:sp>
        <p:nvSpPr>
          <p:cNvPr id="7" name="Rectangle 6"/>
          <p:cNvSpPr/>
          <p:nvPr/>
        </p:nvSpPr>
        <p:spPr>
          <a:xfrm>
            <a:off x="1280160" y="2066543"/>
            <a:ext cx="1036015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500" b="1" i="0">
                <a:solidFill>
                  <a:srgbClr val="1C242B"/>
                </a:solidFill>
                <a:latin typeface="Cambria"/>
              </a:rPr>
              <a:t>Deliverable</a:t>
            </a:r>
            <a:r>
              <a:rPr sz="1300" b="0" i="0">
                <a:solidFill>
                  <a:srgbClr val="2A333B"/>
                </a:solidFill>
                <a:latin typeface="Calibri"/>
              </a:rPr>
              <a:t>  —  A presentation on a hand-picked topic, designed for educational purposes and intended to facilitate learning outcomes.</a:t>
            </a:r>
          </a:p>
        </p:txBody>
      </p:sp>
      <p:sp>
        <p:nvSpPr>
          <p:cNvPr id="8" name="Rectangle 7"/>
          <p:cNvSpPr/>
          <p:nvPr/>
        </p:nvSpPr>
        <p:spPr>
          <a:xfrm>
            <a:off x="1280160" y="2066543"/>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980944"/>
            <a:ext cx="566928"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Cambria"/>
              </a:rPr>
              <a:t>2</a:t>
            </a:r>
          </a:p>
        </p:txBody>
      </p:sp>
      <p:sp>
        <p:nvSpPr>
          <p:cNvPr id="10" name="Rectangle 9"/>
          <p:cNvSpPr/>
          <p:nvPr/>
        </p:nvSpPr>
        <p:spPr>
          <a:xfrm>
            <a:off x="1280160" y="2980944"/>
            <a:ext cx="1036015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500" b="1" i="0">
                <a:solidFill>
                  <a:srgbClr val="1C242B"/>
                </a:solidFill>
                <a:latin typeface="Cambria"/>
              </a:rPr>
              <a:t>Blueprint</a:t>
            </a:r>
            <a:r>
              <a:rPr sz="1300" b="0" i="0">
                <a:solidFill>
                  <a:srgbClr val="2A333B"/>
                </a:solidFill>
                <a:latin typeface="Calibri"/>
              </a:rPr>
              <a:t>  —  The roadmap on the next four slides, adapted to your topic. For each step you run: the tool, the input, the output and how you ran it. For each step you skip or change: one line saying why.</a:t>
            </a:r>
          </a:p>
        </p:txBody>
      </p:sp>
      <p:sp>
        <p:nvSpPr>
          <p:cNvPr id="11" name="Rectangle 10"/>
          <p:cNvSpPr/>
          <p:nvPr/>
        </p:nvSpPr>
        <p:spPr>
          <a:xfrm>
            <a:off x="1280160" y="2980944"/>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3895344"/>
            <a:ext cx="566928"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Cambria"/>
              </a:rPr>
              <a:t>3</a:t>
            </a:r>
          </a:p>
        </p:txBody>
      </p:sp>
      <p:sp>
        <p:nvSpPr>
          <p:cNvPr id="13" name="Rectangle 12"/>
          <p:cNvSpPr/>
          <p:nvPr/>
        </p:nvSpPr>
        <p:spPr>
          <a:xfrm>
            <a:off x="1280160" y="3895344"/>
            <a:ext cx="10360152" cy="8412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500" b="1" i="0">
                <a:solidFill>
                  <a:srgbClr val="1C242B"/>
                </a:solidFill>
                <a:latin typeface="Cambria"/>
              </a:rPr>
              <a:t>Routing</a:t>
            </a:r>
            <a:r>
              <a:rPr sz="1300" b="0" i="0">
                <a:solidFill>
                  <a:srgbClr val="2A333B"/>
                </a:solidFill>
                <a:latin typeface="Calibri"/>
              </a:rPr>
              <a:t>  —  Every step that touches sensitive data goes to the correct lane. Documents are anonymised before upload. The blueprint states the lane per step.</a:t>
            </a:r>
          </a:p>
        </p:txBody>
      </p:sp>
      <p:sp>
        <p:nvSpPr>
          <p:cNvPr id="14" name="Rectangle 13"/>
          <p:cNvSpPr/>
          <p:nvPr/>
        </p:nvSpPr>
        <p:spPr>
          <a:xfrm>
            <a:off x="1280160" y="3895344"/>
            <a:ext cx="82296" cy="8412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4864608"/>
            <a:ext cx="11091672" cy="365760"/>
          </a:xfrm>
          <a:prstGeom prst="rect">
            <a:avLst/>
          </a:prstGeom>
          <a:noFill/>
        </p:spPr>
        <p:txBody>
          <a:bodyPr wrap="square">
            <a:spAutoFit/>
          </a:bodyPr>
          <a:lstStyle/>
          <a:p>
            <a:pPr algn="l"/>
            <a:r>
              <a:rPr sz="1100" b="0" i="0">
                <a:solidFill>
                  <a:srgbClr val="6B747D"/>
                </a:solidFill>
                <a:latin typeface="Calibri"/>
              </a:rPr>
              <a:t>What you hand in</a:t>
            </a:r>
          </a:p>
        </p:txBody>
      </p:sp>
      <p:sp>
        <p:nvSpPr>
          <p:cNvPr id="16" name="Rectangle 15"/>
          <p:cNvSpPr/>
          <p:nvPr/>
        </p:nvSpPr>
        <p:spPr>
          <a:xfrm>
            <a:off x="548640" y="5138928"/>
            <a:ext cx="3557016"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250" b="1" i="0">
                <a:solidFill>
                  <a:srgbClr val="1C242B"/>
                </a:solidFill>
                <a:latin typeface="Cambria"/>
              </a:rPr>
              <a:t>The blueprint</a:t>
            </a:r>
          </a:p>
          <a:p>
            <a:pPr>
              <a:spcBef>
                <a:spcPts val="300"/>
              </a:spcBef>
            </a:pPr>
            <a:r>
              <a:rPr sz="1100" b="0" i="0">
                <a:solidFill>
                  <a:srgbClr val="2A333B"/>
                </a:solidFill>
                <a:latin typeface="Calibri"/>
              </a:rPr>
              <a:t>The step table, a line per skipped or changed step, and the chain drawn as a diagram.</a:t>
            </a:r>
          </a:p>
        </p:txBody>
      </p:sp>
      <p:sp>
        <p:nvSpPr>
          <p:cNvPr id="17" name="Rectangle 16"/>
          <p:cNvSpPr/>
          <p:nvPr/>
        </p:nvSpPr>
        <p:spPr>
          <a:xfrm>
            <a:off x="548640" y="5138928"/>
            <a:ext cx="82296" cy="85953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15968" y="5138928"/>
            <a:ext cx="3557016"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250" b="1" i="0">
                <a:solidFill>
                  <a:srgbClr val="1C242B"/>
                </a:solidFill>
                <a:latin typeface="Cambria"/>
              </a:rPr>
              <a:t>The presentation</a:t>
            </a:r>
          </a:p>
          <a:p>
            <a:pPr>
              <a:spcBef>
                <a:spcPts val="300"/>
              </a:spcBef>
            </a:pPr>
            <a:r>
              <a:rPr sz="1100" b="0" i="0">
                <a:solidFill>
                  <a:srgbClr val="2A333B"/>
                </a:solidFill>
                <a:latin typeface="Calibri"/>
              </a:rPr>
              <a:t>On your topic, teaching something, with the learning material from step 6 if you ran it.</a:t>
            </a:r>
          </a:p>
        </p:txBody>
      </p:sp>
      <p:sp>
        <p:nvSpPr>
          <p:cNvPr id="19" name="Rectangle 18"/>
          <p:cNvSpPr/>
          <p:nvPr/>
        </p:nvSpPr>
        <p:spPr>
          <a:xfrm>
            <a:off x="4315968" y="5138928"/>
            <a:ext cx="82296" cy="85953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83296" y="5138928"/>
            <a:ext cx="3557016" cy="85953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250" b="1" i="0">
                <a:solidFill>
                  <a:srgbClr val="1C242B"/>
                </a:solidFill>
                <a:latin typeface="Cambria"/>
              </a:rPr>
              <a:t>The AI-use log</a:t>
            </a:r>
          </a:p>
          <a:p>
            <a:pPr>
              <a:spcBef>
                <a:spcPts val="300"/>
              </a:spcBef>
            </a:pPr>
            <a:r>
              <a:rPr sz="1100" b="0" i="0">
                <a:solidFill>
                  <a:srgbClr val="2A333B"/>
                </a:solidFill>
                <a:latin typeface="Calibri"/>
              </a:rPr>
              <a:t>Tool, date and purpose per step, as the declaration on your last slide.</a:t>
            </a:r>
          </a:p>
        </p:txBody>
      </p:sp>
      <p:sp>
        <p:nvSpPr>
          <p:cNvPr id="21" name="Rectangle 20"/>
          <p:cNvSpPr/>
          <p:nvPr/>
        </p:nvSpPr>
        <p:spPr>
          <a:xfrm>
            <a:off x="8083296" y="5138928"/>
            <a:ext cx="82296" cy="85953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6089904"/>
            <a:ext cx="11091672" cy="365760"/>
          </a:xfrm>
          <a:prstGeom prst="rect">
            <a:avLst/>
          </a:prstGeom>
          <a:noFill/>
        </p:spPr>
        <p:txBody>
          <a:bodyPr wrap="square">
            <a:spAutoFit/>
          </a:bodyPr>
          <a:lstStyle/>
          <a:p>
            <a:pPr algn="ctr"/>
            <a:r>
              <a:rPr sz="1250" b="0" i="1">
                <a:solidFill>
                  <a:srgbClr val="6B747D"/>
                </a:solidFill>
                <a:latin typeface="Calibri"/>
              </a:rPr>
              <a:t>The roadmap is next. Only one step is required, and only if your material contains sensitive data; every other step is optional.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roadmap: eight steps, end to end</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33856"/>
            <a:ext cx="11091672" cy="365760"/>
          </a:xfrm>
          <a:prstGeom prst="rect">
            <a:avLst/>
          </a:prstGeom>
          <a:noFill/>
        </p:spPr>
        <p:txBody>
          <a:bodyPr wrap="square">
            <a:spAutoFit/>
          </a:bodyPr>
          <a:lstStyle/>
          <a:p>
            <a:pPr algn="l"/>
            <a:r>
              <a:rPr sz="1200" b="0" i="0">
                <a:solidFill>
                  <a:srgbClr val="6B747D"/>
                </a:solidFill>
                <a:latin typeface="Calibri"/>
              </a:rPr>
              <a:t>Three phases: prepare (1–2), gather (3–4), produce (5–8). Each card says which tool runs the step and whether you must run it. The colour is the lane: each step is routed on its own, and no step inherits a lane from the one before it.</a:t>
            </a:r>
          </a:p>
        </p:txBody>
      </p:sp>
      <p:sp>
        <p:nvSpPr>
          <p:cNvPr id="6" name="Rectangle 5"/>
          <p:cNvSpPr/>
          <p:nvPr/>
        </p:nvSpPr>
        <p:spPr>
          <a:xfrm>
            <a:off x="548640" y="1737360"/>
            <a:ext cx="1925726" cy="12984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850" b="1" i="0">
                <a:solidFill>
                  <a:srgbClr val="6B747D"/>
                </a:solidFill>
                <a:latin typeface="Calibri"/>
              </a:rPr>
              <a:t>STEP 1</a:t>
            </a:r>
          </a:p>
          <a:p>
            <a:pPr>
              <a:spcBef>
                <a:spcPts val="200"/>
              </a:spcBef>
            </a:pPr>
            <a:r>
              <a:rPr sz="1250" b="1" i="0">
                <a:solidFill>
                  <a:srgbClr val="1C242B"/>
                </a:solidFill>
                <a:latin typeface="Cambria"/>
              </a:rPr>
              <a:t>Frame the topic</a:t>
            </a:r>
          </a:p>
          <a:p>
            <a:pPr>
              <a:spcBef>
                <a:spcPts val="300"/>
              </a:spcBef>
            </a:pPr>
            <a:r>
              <a:rPr sz="950" b="1" i="0">
                <a:solidFill>
                  <a:srgbClr val="6A4CBC"/>
                </a:solidFill>
                <a:latin typeface="Calibri"/>
              </a:rPr>
              <a:t>Gemini · Guided Learning</a:t>
            </a:r>
          </a:p>
          <a:p>
            <a:pPr>
              <a:spcBef>
                <a:spcPts val="300"/>
              </a:spcBef>
            </a:pPr>
            <a:r>
              <a:rPr sz="900" b="1" i="1">
                <a:solidFill>
                  <a:srgbClr val="6B747D"/>
                </a:solidFill>
                <a:latin typeface="Calibri"/>
              </a:rPr>
              <a:t>Optional</a:t>
            </a:r>
          </a:p>
        </p:txBody>
      </p:sp>
      <p:sp>
        <p:nvSpPr>
          <p:cNvPr id="7" name="Rectangle 6"/>
          <p:cNvSpPr/>
          <p:nvPr/>
        </p:nvSpPr>
        <p:spPr>
          <a:xfrm>
            <a:off x="548640" y="1737360"/>
            <a:ext cx="82296" cy="129844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74366" y="2231136"/>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9" name="Rectangle 8"/>
          <p:cNvSpPr/>
          <p:nvPr/>
        </p:nvSpPr>
        <p:spPr>
          <a:xfrm>
            <a:off x="2840126" y="1737360"/>
            <a:ext cx="1925726" cy="12984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850" b="1" i="0">
                <a:solidFill>
                  <a:srgbClr val="6B747D"/>
                </a:solidFill>
                <a:latin typeface="Calibri"/>
              </a:rPr>
              <a:t>STEP 2</a:t>
            </a:r>
          </a:p>
          <a:p>
            <a:pPr>
              <a:spcBef>
                <a:spcPts val="200"/>
              </a:spcBef>
            </a:pPr>
            <a:r>
              <a:rPr sz="1250" b="1" i="0">
                <a:solidFill>
                  <a:srgbClr val="1C242B"/>
                </a:solidFill>
                <a:latin typeface="Cambria"/>
              </a:rPr>
              <a:t>Anonymise your material</a:t>
            </a:r>
          </a:p>
          <a:p>
            <a:pPr>
              <a:spcBef>
                <a:spcPts val="300"/>
              </a:spcBef>
            </a:pPr>
            <a:r>
              <a:rPr sz="950" b="1" i="0">
                <a:solidFill>
                  <a:srgbClr val="3E4C59"/>
                </a:solidFill>
                <a:latin typeface="Calibri"/>
              </a:rPr>
              <a:t>Word or Excel, by hand</a:t>
            </a:r>
          </a:p>
          <a:p>
            <a:pPr>
              <a:spcBef>
                <a:spcPts val="300"/>
              </a:spcBef>
            </a:pPr>
            <a:r>
              <a:rPr sz="900" b="1" i="1">
                <a:solidFill>
                  <a:srgbClr val="1C242B"/>
                </a:solidFill>
                <a:latin typeface="Calibri"/>
              </a:rPr>
              <a:t>Required if sensitive data</a:t>
            </a:r>
          </a:p>
        </p:txBody>
      </p:sp>
      <p:sp>
        <p:nvSpPr>
          <p:cNvPr id="10" name="Rectangle 9"/>
          <p:cNvSpPr/>
          <p:nvPr/>
        </p:nvSpPr>
        <p:spPr>
          <a:xfrm>
            <a:off x="2840126" y="1737360"/>
            <a:ext cx="82296" cy="12984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65852" y="2231136"/>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12" name="Rectangle 11"/>
          <p:cNvSpPr/>
          <p:nvPr/>
        </p:nvSpPr>
        <p:spPr>
          <a:xfrm>
            <a:off x="5131612" y="1737360"/>
            <a:ext cx="1925726" cy="12984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850" b="1" i="0">
                <a:solidFill>
                  <a:srgbClr val="6B747D"/>
                </a:solidFill>
                <a:latin typeface="Calibri"/>
              </a:rPr>
              <a:t>STEP 3</a:t>
            </a:r>
          </a:p>
          <a:p>
            <a:pPr>
              <a:spcBef>
                <a:spcPts val="200"/>
              </a:spcBef>
            </a:pPr>
            <a:r>
              <a:rPr sz="1250" b="1" i="0">
                <a:solidFill>
                  <a:srgbClr val="1C242B"/>
                </a:solidFill>
                <a:latin typeface="Cambria"/>
              </a:rPr>
              <a:t>Research the topic</a:t>
            </a:r>
          </a:p>
          <a:p>
            <a:pPr>
              <a:spcBef>
                <a:spcPts val="300"/>
              </a:spcBef>
            </a:pPr>
            <a:r>
              <a:rPr sz="950" b="1" i="0">
                <a:solidFill>
                  <a:srgbClr val="6A4CBC"/>
                </a:solidFill>
                <a:latin typeface="Calibri"/>
              </a:rPr>
              <a:t>Gemini · Deep Research</a:t>
            </a:r>
          </a:p>
          <a:p>
            <a:pPr>
              <a:spcBef>
                <a:spcPts val="300"/>
              </a:spcBef>
            </a:pPr>
            <a:r>
              <a:rPr sz="900" b="1" i="1">
                <a:solidFill>
                  <a:srgbClr val="6B747D"/>
                </a:solidFill>
                <a:latin typeface="Calibri"/>
              </a:rPr>
              <a:t>Optional</a:t>
            </a:r>
          </a:p>
        </p:txBody>
      </p:sp>
      <p:sp>
        <p:nvSpPr>
          <p:cNvPr id="13" name="Rectangle 12"/>
          <p:cNvSpPr/>
          <p:nvPr/>
        </p:nvSpPr>
        <p:spPr>
          <a:xfrm>
            <a:off x="5131612" y="1737360"/>
            <a:ext cx="82296" cy="129844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57339" y="2231136"/>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15" name="Rectangle 14"/>
          <p:cNvSpPr/>
          <p:nvPr/>
        </p:nvSpPr>
        <p:spPr>
          <a:xfrm>
            <a:off x="7423099" y="1737360"/>
            <a:ext cx="1925726" cy="12984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850" b="1" i="0">
                <a:solidFill>
                  <a:srgbClr val="6B747D"/>
                </a:solidFill>
                <a:latin typeface="Calibri"/>
              </a:rPr>
              <a:t>STEP 4</a:t>
            </a:r>
          </a:p>
          <a:p>
            <a:pPr>
              <a:spcBef>
                <a:spcPts val="200"/>
              </a:spcBef>
            </a:pPr>
            <a:r>
              <a:rPr sz="1250" b="1" i="0">
                <a:solidFill>
                  <a:srgbClr val="1C242B"/>
                </a:solidFill>
                <a:latin typeface="Cambria"/>
              </a:rPr>
              <a:t>Collect the content</a:t>
            </a:r>
          </a:p>
          <a:p>
            <a:pPr>
              <a:spcBef>
                <a:spcPts val="300"/>
              </a:spcBef>
            </a:pPr>
            <a:r>
              <a:rPr sz="950" b="1" i="0">
                <a:solidFill>
                  <a:srgbClr val="6A4CBC"/>
                </a:solidFill>
                <a:latin typeface="Calibri"/>
              </a:rPr>
              <a:t>NotebookLM</a:t>
            </a:r>
          </a:p>
          <a:p>
            <a:pPr>
              <a:spcBef>
                <a:spcPts val="300"/>
              </a:spcBef>
            </a:pPr>
            <a:r>
              <a:rPr sz="900" b="1" i="1">
                <a:solidFill>
                  <a:srgbClr val="6B747D"/>
                </a:solidFill>
                <a:latin typeface="Calibri"/>
              </a:rPr>
              <a:t>Optional</a:t>
            </a:r>
          </a:p>
        </p:txBody>
      </p:sp>
      <p:sp>
        <p:nvSpPr>
          <p:cNvPr id="16" name="Rectangle 15"/>
          <p:cNvSpPr/>
          <p:nvPr/>
        </p:nvSpPr>
        <p:spPr>
          <a:xfrm>
            <a:off x="7423099" y="1737360"/>
            <a:ext cx="82296" cy="129844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714585" y="1737360"/>
            <a:ext cx="1925726" cy="12984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850" b="1" i="0">
                <a:solidFill>
                  <a:srgbClr val="6B747D"/>
                </a:solidFill>
                <a:latin typeface="Calibri"/>
              </a:rPr>
              <a:t>ANY STEP</a:t>
            </a:r>
          </a:p>
          <a:p>
            <a:pPr>
              <a:spcBef>
                <a:spcPts val="200"/>
              </a:spcBef>
            </a:pPr>
            <a:r>
              <a:rPr sz="1250" b="1" i="0">
                <a:solidFill>
                  <a:srgbClr val="1C242B"/>
                </a:solidFill>
                <a:latin typeface="Cambria"/>
              </a:rPr>
              <a:t>Improve the prompt first</a:t>
            </a:r>
          </a:p>
          <a:p>
            <a:pPr>
              <a:spcBef>
                <a:spcPts val="300"/>
              </a:spcBef>
            </a:pPr>
            <a:r>
              <a:rPr sz="950" b="1" i="0">
                <a:solidFill>
                  <a:srgbClr val="0E7C7B"/>
                </a:solidFill>
                <a:latin typeface="Calibri"/>
              </a:rPr>
              <a:t>Prompt Coach</a:t>
            </a:r>
          </a:p>
          <a:p>
            <a:pPr>
              <a:spcBef>
                <a:spcPts val="300"/>
              </a:spcBef>
            </a:pPr>
            <a:r>
              <a:rPr sz="900" b="1" i="1">
                <a:solidFill>
                  <a:srgbClr val="6B747D"/>
                </a:solidFill>
                <a:latin typeface="Calibri"/>
              </a:rPr>
              <a:t>Optional · steps 3 to 6</a:t>
            </a:r>
          </a:p>
        </p:txBody>
      </p:sp>
      <p:sp>
        <p:nvSpPr>
          <p:cNvPr id="18" name="Rectangle 17"/>
          <p:cNvSpPr/>
          <p:nvPr/>
        </p:nvSpPr>
        <p:spPr>
          <a:xfrm>
            <a:off x="9714585" y="1737360"/>
            <a:ext cx="82296" cy="129844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3127248"/>
            <a:ext cx="11091672" cy="365760"/>
          </a:xfrm>
          <a:prstGeom prst="rect">
            <a:avLst/>
          </a:prstGeom>
          <a:noFill/>
        </p:spPr>
        <p:txBody>
          <a:bodyPr wrap="square">
            <a:spAutoFit/>
          </a:bodyPr>
          <a:lstStyle/>
          <a:p>
            <a:pPr algn="l"/>
            <a:r>
              <a:rPr sz="1050" b="0" i="0">
                <a:solidFill>
                  <a:srgbClr val="3E4C59"/>
                </a:solidFill>
                <a:latin typeface="Calibri"/>
              </a:rPr>
              <a:t>…THEN</a:t>
            </a:r>
          </a:p>
        </p:txBody>
      </p:sp>
      <p:sp>
        <p:nvSpPr>
          <p:cNvPr id="20" name="Rectangle 19"/>
          <p:cNvSpPr/>
          <p:nvPr/>
        </p:nvSpPr>
        <p:spPr>
          <a:xfrm>
            <a:off x="548640" y="3401568"/>
            <a:ext cx="1925726" cy="12984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850" b="1" i="0">
                <a:solidFill>
                  <a:srgbClr val="6B747D"/>
                </a:solidFill>
                <a:latin typeface="Calibri"/>
              </a:rPr>
              <a:t>STEP 5</a:t>
            </a:r>
          </a:p>
          <a:p>
            <a:pPr>
              <a:spcBef>
                <a:spcPts val="200"/>
              </a:spcBef>
            </a:pPr>
            <a:r>
              <a:rPr sz="1250" b="1" i="0">
                <a:solidFill>
                  <a:srgbClr val="1C242B"/>
                </a:solidFill>
                <a:latin typeface="Cambria"/>
              </a:rPr>
              <a:t>Draft the outline</a:t>
            </a:r>
          </a:p>
          <a:p>
            <a:pPr>
              <a:spcBef>
                <a:spcPts val="300"/>
              </a:spcBef>
            </a:pPr>
            <a:r>
              <a:rPr sz="950" b="1" i="0">
                <a:solidFill>
                  <a:srgbClr val="6A4CBC"/>
                </a:solidFill>
                <a:latin typeface="Calibri"/>
              </a:rPr>
              <a:t>Gemini · Gem + Canvas</a:t>
            </a:r>
          </a:p>
          <a:p>
            <a:pPr>
              <a:spcBef>
                <a:spcPts val="300"/>
              </a:spcBef>
            </a:pPr>
            <a:r>
              <a:rPr sz="900" b="1" i="1">
                <a:solidFill>
                  <a:srgbClr val="6B747D"/>
                </a:solidFill>
                <a:latin typeface="Calibri"/>
              </a:rPr>
              <a:t>Optional</a:t>
            </a:r>
          </a:p>
        </p:txBody>
      </p:sp>
      <p:sp>
        <p:nvSpPr>
          <p:cNvPr id="21" name="Rectangle 20"/>
          <p:cNvSpPr/>
          <p:nvPr/>
        </p:nvSpPr>
        <p:spPr>
          <a:xfrm>
            <a:off x="548640" y="3401568"/>
            <a:ext cx="82296" cy="129844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474366" y="3895344"/>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23" name="Rectangle 22"/>
          <p:cNvSpPr/>
          <p:nvPr/>
        </p:nvSpPr>
        <p:spPr>
          <a:xfrm>
            <a:off x="2840126" y="3401568"/>
            <a:ext cx="1925726" cy="12984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850" b="1" i="0">
                <a:solidFill>
                  <a:srgbClr val="6B747D"/>
                </a:solidFill>
                <a:latin typeface="Calibri"/>
              </a:rPr>
              <a:t>STEP 6</a:t>
            </a:r>
          </a:p>
          <a:p>
            <a:pPr>
              <a:spcBef>
                <a:spcPts val="200"/>
              </a:spcBef>
            </a:pPr>
            <a:r>
              <a:rPr sz="1250" b="1" i="0">
                <a:solidFill>
                  <a:srgbClr val="1C242B"/>
                </a:solidFill>
                <a:latin typeface="Cambria"/>
              </a:rPr>
              <a:t>Add learning material</a:t>
            </a:r>
          </a:p>
          <a:p>
            <a:pPr>
              <a:spcBef>
                <a:spcPts val="300"/>
              </a:spcBef>
            </a:pPr>
            <a:r>
              <a:rPr sz="950" b="1" i="0">
                <a:solidFill>
                  <a:srgbClr val="0E7C7B"/>
                </a:solidFill>
                <a:latin typeface="Calibri"/>
              </a:rPr>
              <a:t>Study and Learn</a:t>
            </a:r>
          </a:p>
          <a:p>
            <a:pPr>
              <a:spcBef>
                <a:spcPts val="300"/>
              </a:spcBef>
            </a:pPr>
            <a:r>
              <a:rPr sz="900" b="1" i="1">
                <a:solidFill>
                  <a:srgbClr val="6B747D"/>
                </a:solidFill>
                <a:latin typeface="Calibri"/>
              </a:rPr>
              <a:t>Optional</a:t>
            </a:r>
          </a:p>
        </p:txBody>
      </p:sp>
      <p:sp>
        <p:nvSpPr>
          <p:cNvPr id="24" name="Rectangle 23"/>
          <p:cNvSpPr/>
          <p:nvPr/>
        </p:nvSpPr>
        <p:spPr>
          <a:xfrm>
            <a:off x="2840126" y="3401568"/>
            <a:ext cx="82296" cy="129844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65852" y="3895344"/>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26" name="Rectangle 25"/>
          <p:cNvSpPr/>
          <p:nvPr/>
        </p:nvSpPr>
        <p:spPr>
          <a:xfrm>
            <a:off x="5131612" y="3401568"/>
            <a:ext cx="1925726" cy="12984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850" b="1" i="0">
                <a:solidFill>
                  <a:srgbClr val="6B747D"/>
                </a:solidFill>
                <a:latin typeface="Calibri"/>
              </a:rPr>
              <a:t>STEP 7</a:t>
            </a:r>
          </a:p>
          <a:p>
            <a:pPr>
              <a:spcBef>
                <a:spcPts val="200"/>
              </a:spcBef>
            </a:pPr>
            <a:r>
              <a:rPr sz="1250" b="1" i="0">
                <a:solidFill>
                  <a:srgbClr val="1C242B"/>
                </a:solidFill>
                <a:latin typeface="Cambria"/>
              </a:rPr>
              <a:t>Make the visuals</a:t>
            </a:r>
          </a:p>
          <a:p>
            <a:pPr>
              <a:spcBef>
                <a:spcPts val="300"/>
              </a:spcBef>
            </a:pPr>
            <a:r>
              <a:rPr sz="950" b="1" i="0">
                <a:solidFill>
                  <a:srgbClr val="6A4CBC"/>
                </a:solidFill>
                <a:latin typeface="Calibri"/>
              </a:rPr>
              <a:t>Gemini · image generation</a:t>
            </a:r>
          </a:p>
          <a:p>
            <a:pPr>
              <a:spcBef>
                <a:spcPts val="300"/>
              </a:spcBef>
            </a:pPr>
            <a:r>
              <a:rPr sz="900" b="1" i="1">
                <a:solidFill>
                  <a:srgbClr val="6B747D"/>
                </a:solidFill>
                <a:latin typeface="Calibri"/>
              </a:rPr>
              <a:t>Optional</a:t>
            </a:r>
          </a:p>
        </p:txBody>
      </p:sp>
      <p:sp>
        <p:nvSpPr>
          <p:cNvPr id="27" name="Rectangle 26"/>
          <p:cNvSpPr/>
          <p:nvPr/>
        </p:nvSpPr>
        <p:spPr>
          <a:xfrm>
            <a:off x="5131612" y="3401568"/>
            <a:ext cx="82296" cy="1298448"/>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057339" y="3895344"/>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29" name="Rectangle 28"/>
          <p:cNvSpPr/>
          <p:nvPr/>
        </p:nvSpPr>
        <p:spPr>
          <a:xfrm>
            <a:off x="7423099" y="3401568"/>
            <a:ext cx="1925726" cy="129844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09728" rIns="182880" bIns="36576" rtlCol="0" anchor="t"/>
          <a:lstStyle/>
          <a:p>
            <a:pPr algn="l"/>
            <a:r>
              <a:rPr sz="850" b="1" i="0">
                <a:solidFill>
                  <a:srgbClr val="6B747D"/>
                </a:solidFill>
                <a:latin typeface="Calibri"/>
              </a:rPr>
              <a:t>STEP 8</a:t>
            </a:r>
          </a:p>
          <a:p>
            <a:pPr>
              <a:spcBef>
                <a:spcPts val="200"/>
              </a:spcBef>
            </a:pPr>
            <a:r>
              <a:rPr sz="1250" b="1" i="0">
                <a:solidFill>
                  <a:srgbClr val="1C242B"/>
                </a:solidFill>
                <a:latin typeface="Cambria"/>
              </a:rPr>
              <a:t>Build the presentation</a:t>
            </a:r>
          </a:p>
          <a:p>
            <a:pPr>
              <a:spcBef>
                <a:spcPts val="300"/>
              </a:spcBef>
            </a:pPr>
            <a:r>
              <a:rPr sz="950" b="1" i="0">
                <a:solidFill>
                  <a:srgbClr val="3E4C59"/>
                </a:solidFill>
                <a:latin typeface="Calibri"/>
              </a:rPr>
              <a:t>Canva → genspark.ai</a:t>
            </a:r>
          </a:p>
          <a:p>
            <a:pPr>
              <a:spcBef>
                <a:spcPts val="300"/>
              </a:spcBef>
            </a:pPr>
            <a:r>
              <a:rPr sz="900" b="1" i="1">
                <a:solidFill>
                  <a:srgbClr val="1C242B"/>
                </a:solidFill>
                <a:latin typeface="Calibri"/>
              </a:rPr>
              <a:t>Optional tools · required output</a:t>
            </a:r>
          </a:p>
        </p:txBody>
      </p:sp>
      <p:sp>
        <p:nvSpPr>
          <p:cNvPr id="30" name="Rectangle 29"/>
          <p:cNvSpPr/>
          <p:nvPr/>
        </p:nvSpPr>
        <p:spPr>
          <a:xfrm>
            <a:off x="7423099" y="3401568"/>
            <a:ext cx="82296" cy="129844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348825" y="3895344"/>
            <a:ext cx="365760" cy="365760"/>
          </a:xfrm>
          <a:prstGeom prst="rect">
            <a:avLst/>
          </a:prstGeom>
          <a:noFill/>
        </p:spPr>
        <p:txBody>
          <a:bodyPr wrap="square">
            <a:spAutoFit/>
          </a:bodyPr>
          <a:lstStyle/>
          <a:p>
            <a:pPr algn="ctr"/>
            <a:r>
              <a:rPr sz="1500" b="0" i="0">
                <a:solidFill>
                  <a:srgbClr val="6B747D"/>
                </a:solidFill>
                <a:latin typeface="Calibri"/>
              </a:rPr>
              <a:t>→</a:t>
            </a:r>
          </a:p>
        </p:txBody>
      </p:sp>
      <p:sp>
        <p:nvSpPr>
          <p:cNvPr id="32" name="Rectangle 31"/>
          <p:cNvSpPr/>
          <p:nvPr/>
        </p:nvSpPr>
        <p:spPr>
          <a:xfrm>
            <a:off x="9714585" y="3401568"/>
            <a:ext cx="1925726" cy="1298448"/>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201168" tIns="109728" rIns="164592" rtlCol="0" anchor="t"/>
          <a:lstStyle/>
          <a:p>
            <a:pPr algn="ctr"/>
            <a:r>
              <a:rPr sz="850" b="1" i="0">
                <a:solidFill>
                  <a:srgbClr val="FFFFFF"/>
                </a:solidFill>
                <a:latin typeface="Calibri"/>
              </a:rPr>
              <a:t>OUT</a:t>
            </a:r>
          </a:p>
          <a:p>
            <a:pPr>
              <a:spcBef>
                <a:spcPts val="200"/>
              </a:spcBef>
            </a:pPr>
            <a:r>
              <a:rPr sz="1250" b="1" i="0">
                <a:solidFill>
                  <a:srgbClr val="FFFFFF"/>
                </a:solidFill>
                <a:latin typeface="Cambria"/>
              </a:rPr>
              <a:t>The presentation</a:t>
            </a:r>
          </a:p>
          <a:p>
            <a:pPr>
              <a:spcBef>
                <a:spcPts val="300"/>
              </a:spcBef>
            </a:pPr>
            <a:r>
              <a:rPr sz="950" b="0" i="0">
                <a:solidFill>
                  <a:srgbClr val="FFFFFF"/>
                </a:solidFill>
                <a:latin typeface="Calibri"/>
              </a:rPr>
              <a:t>+ the blueprint + the AI-use log</a:t>
            </a:r>
          </a:p>
        </p:txBody>
      </p:sp>
      <p:sp>
        <p:nvSpPr>
          <p:cNvPr id="33" name="TextBox 32"/>
          <p:cNvSpPr txBox="1"/>
          <p:nvPr/>
        </p:nvSpPr>
        <p:spPr>
          <a:xfrm>
            <a:off x="548640" y="4773168"/>
            <a:ext cx="11091672" cy="365760"/>
          </a:xfrm>
          <a:prstGeom prst="rect">
            <a:avLst/>
          </a:prstGeom>
          <a:noFill/>
        </p:spPr>
        <p:txBody>
          <a:bodyPr wrap="square">
            <a:spAutoFit/>
          </a:bodyPr>
          <a:lstStyle/>
          <a:p>
            <a:pPr algn="l"/>
            <a:r>
              <a:rPr sz="1100" b="0" i="1">
                <a:solidFill>
                  <a:srgbClr val="6B747D"/>
                </a:solidFill>
                <a:latin typeface="Calibri"/>
              </a:rPr>
              <a:t>Only step 2 is required, and only when your material contains sensitive data. Skip any other step your topic does not need, and say why in the blueprint. Steps 6 and 7 can run in either order.</a:t>
            </a:r>
          </a:p>
        </p:txBody>
      </p:sp>
      <p:sp>
        <p:nvSpPr>
          <p:cNvPr id="34" name="Rectangle 33"/>
          <p:cNvSpPr/>
          <p:nvPr/>
        </p:nvSpPr>
        <p:spPr>
          <a:xfrm>
            <a:off x="548640" y="5157216"/>
            <a:ext cx="11091672" cy="60350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500" b="1" i="0">
                <a:solidFill>
                  <a:srgbClr val="FFFFFF"/>
                </a:solidFill>
                <a:latin typeface="Cambria"/>
              </a:rPr>
              <a:t>Before every step: check every output before it becomes the next step's input</a:t>
            </a:r>
          </a:p>
          <a:p>
            <a:pPr algn="ctr">
              <a:spcBef>
                <a:spcPts val="600"/>
              </a:spcBef>
            </a:pPr>
            <a:r>
              <a:rPr sz="1300" b="0" i="0">
                <a:solidFill>
                  <a:srgbClr val="FFFFFF"/>
                </a:solidFill>
                <a:latin typeface="Calibri"/>
              </a:rPr>
              <a:t>…and log the tool, the date and what it was used for. That log is the AI-use declaration on your last slide.</a:t>
            </a:r>
          </a:p>
        </p:txBody>
      </p:sp>
      <p:sp>
        <p:nvSpPr>
          <p:cNvPr id="35" name="Rectangle 34"/>
          <p:cNvSpPr/>
          <p:nvPr/>
        </p:nvSpPr>
        <p:spPr>
          <a:xfrm>
            <a:off x="548640" y="5888736"/>
            <a:ext cx="146304" cy="146304"/>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86384" y="5815584"/>
            <a:ext cx="3566160" cy="365760"/>
          </a:xfrm>
          <a:prstGeom prst="rect">
            <a:avLst/>
          </a:prstGeom>
          <a:noFill/>
        </p:spPr>
        <p:txBody>
          <a:bodyPr wrap="square">
            <a:spAutoFit/>
          </a:bodyPr>
          <a:lstStyle/>
          <a:p>
            <a:pPr algn="l"/>
            <a:r>
              <a:rPr sz="1000" b="0" i="0">
                <a:solidFill>
                  <a:srgbClr val="2A333B"/>
                </a:solidFill>
                <a:latin typeface="Calibri"/>
              </a:rPr>
              <a:t>Daily Driver · Google Gemini — steps 1, 3, 4, 5, 7</a:t>
            </a:r>
          </a:p>
        </p:txBody>
      </p:sp>
      <p:sp>
        <p:nvSpPr>
          <p:cNvPr id="37" name="Rectangle 36"/>
          <p:cNvSpPr/>
          <p:nvPr/>
        </p:nvSpPr>
        <p:spPr>
          <a:xfrm>
            <a:off x="4297679" y="5888736"/>
            <a:ext cx="146304" cy="1463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35423" y="5815584"/>
            <a:ext cx="3566160" cy="365760"/>
          </a:xfrm>
          <a:prstGeom prst="rect">
            <a:avLst/>
          </a:prstGeom>
          <a:noFill/>
        </p:spPr>
        <p:txBody>
          <a:bodyPr wrap="square">
            <a:spAutoFit/>
          </a:bodyPr>
          <a:lstStyle/>
          <a:p>
            <a:pPr algn="l"/>
            <a:r>
              <a:rPr sz="1000" b="0" i="0">
                <a:solidFill>
                  <a:srgbClr val="2A333B"/>
                </a:solidFill>
                <a:latin typeface="Calibri"/>
              </a:rPr>
              <a:t>Sensitive Lane · Copilot Chat (Basic) — step 6, Prompt Coach</a:t>
            </a:r>
          </a:p>
        </p:txBody>
      </p:sp>
      <p:sp>
        <p:nvSpPr>
          <p:cNvPr id="39" name="Rectangle 38"/>
          <p:cNvSpPr/>
          <p:nvPr/>
        </p:nvSpPr>
        <p:spPr>
          <a:xfrm>
            <a:off x="8046719" y="5888736"/>
            <a:ext cx="146304" cy="14630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84463" y="5815584"/>
            <a:ext cx="3566160" cy="365760"/>
          </a:xfrm>
          <a:prstGeom prst="rect">
            <a:avLst/>
          </a:prstGeom>
          <a:noFill/>
        </p:spPr>
        <p:txBody>
          <a:bodyPr wrap="square">
            <a:spAutoFit/>
          </a:bodyPr>
          <a:lstStyle/>
          <a:p>
            <a:pPr algn="l"/>
            <a:r>
              <a:rPr sz="1000" b="0" i="0">
                <a:solidFill>
                  <a:srgbClr val="2A333B"/>
                </a:solidFill>
                <a:latin typeface="Calibri"/>
              </a:rPr>
              <a:t>No lane — step 2 (no AI tool), step 8 (outside both lanes)</a:t>
            </a:r>
          </a:p>
        </p:txBody>
      </p:sp>
      <p:sp>
        <p:nvSpPr>
          <p:cNvPr id="41" name="TextBox 40"/>
          <p:cNvSpPr txBox="1"/>
          <p:nvPr/>
        </p:nvSpPr>
        <p:spPr>
          <a:xfrm>
            <a:off x="548640" y="6181344"/>
            <a:ext cx="11091672" cy="365760"/>
          </a:xfrm>
          <a:prstGeom prst="rect">
            <a:avLst/>
          </a:prstGeom>
          <a:noFill/>
        </p:spPr>
        <p:txBody>
          <a:bodyPr wrap="square">
            <a:spAutoFit/>
          </a:bodyPr>
          <a:lstStyle/>
          <a:p>
            <a:pPr algn="ctr"/>
            <a:r>
              <a:rPr sz="1200" b="0" i="1">
                <a:solidFill>
                  <a:srgbClr val="6B747D"/>
                </a:solidFill>
                <a:latin typeface="Calibri"/>
              </a:rPr>
              <a:t>Screenshot this slide and the next three — together they are the assignment.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blueprint · steps 1–3</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15568"/>
            <a:ext cx="11091672" cy="365760"/>
          </a:xfrm>
          <a:prstGeom prst="rect">
            <a:avLst/>
          </a:prstGeom>
          <a:noFill/>
        </p:spPr>
        <p:txBody>
          <a:bodyPr wrap="square">
            <a:spAutoFit/>
          </a:bodyPr>
          <a:lstStyle/>
          <a:p>
            <a:pPr algn="l"/>
            <a:r>
              <a:rPr sz="1250" b="0" i="0">
                <a:solidFill>
                  <a:srgbClr val="6B747D"/>
                </a:solidFill>
                <a:latin typeface="Calibri"/>
              </a:rPr>
              <a:t>Prepare and start gathering: fix the topic, make your own material safe to upload, and research what it does not cover</a:t>
            </a:r>
          </a:p>
        </p:txBody>
      </p:sp>
      <p:sp>
        <p:nvSpPr>
          <p:cNvPr id="6" name="Rectangle 5"/>
          <p:cNvSpPr/>
          <p:nvPr/>
        </p:nvSpPr>
        <p:spPr>
          <a:xfrm>
            <a:off x="548640" y="1463040"/>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201168" rIns="201168" rtlCol="0" anchor="ctr"/>
          <a:lstStyle/>
          <a:p>
            <a:pPr algn="l"/>
            <a:r>
              <a:rPr sz="1400" b="1" i="0">
                <a:solidFill>
                  <a:srgbClr val="FFFFFF"/>
                </a:solidFill>
                <a:latin typeface="Cambria"/>
              </a:rPr>
              <a:t>1 · Frame the topic</a:t>
            </a:r>
          </a:p>
        </p:txBody>
      </p:sp>
      <p:sp>
        <p:nvSpPr>
          <p:cNvPr id="7" name="TextBox 6"/>
          <p:cNvSpPr txBox="1"/>
          <p:nvPr/>
        </p:nvSpPr>
        <p:spPr>
          <a:xfrm>
            <a:off x="548640" y="1527048"/>
            <a:ext cx="10890504" cy="365760"/>
          </a:xfrm>
          <a:prstGeom prst="rect">
            <a:avLst/>
          </a:prstGeom>
          <a:noFill/>
        </p:spPr>
        <p:txBody>
          <a:bodyPr wrap="none">
            <a:spAutoFit/>
          </a:bodyPr>
          <a:lstStyle/>
          <a:p>
            <a:pPr algn="r"/>
            <a:r>
              <a:rPr sz="1050" b="0" i="0">
                <a:solidFill>
                  <a:srgbClr val="FFFFFF"/>
                </a:solidFill>
                <a:latin typeface="Calibri"/>
              </a:rPr>
              <a:t>Gemini · Guided Learning   ·   Daily Driver   ·   Optional</a:t>
            </a:r>
          </a:p>
        </p:txBody>
      </p:sp>
      <p:sp>
        <p:nvSpPr>
          <p:cNvPr id="8" name="Rectangle 7"/>
          <p:cNvSpPr/>
          <p:nvPr/>
        </p:nvSpPr>
        <p:spPr>
          <a:xfrm>
            <a:off x="548640" y="1865376"/>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IN</a:t>
            </a:r>
          </a:p>
          <a:p>
            <a:pPr>
              <a:spcBef>
                <a:spcPts val="300"/>
              </a:spcBef>
            </a:pPr>
            <a:r>
              <a:rPr sz="1000" b="0" i="0">
                <a:solidFill>
                  <a:srgbClr val="2A333B"/>
                </a:solidFill>
                <a:latin typeface="Calibri"/>
              </a:rPr>
              <a:t>A topic idea, your audience, and the length of the presentation.</a:t>
            </a:r>
          </a:p>
        </p:txBody>
      </p:sp>
      <p:sp>
        <p:nvSpPr>
          <p:cNvPr id="9" name="Rectangle 8"/>
          <p:cNvSpPr/>
          <p:nvPr/>
        </p:nvSpPr>
        <p:spPr>
          <a:xfrm>
            <a:off x="54864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23517" y="1865376"/>
            <a:ext cx="494191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DO</a:t>
            </a:r>
          </a:p>
          <a:p>
            <a:pPr>
              <a:spcBef>
                <a:spcPts val="300"/>
              </a:spcBef>
            </a:pPr>
            <a:r>
              <a:rPr sz="1000" b="0" i="0">
                <a:solidFill>
                  <a:srgbClr val="2A333B"/>
                </a:solidFill>
                <a:latin typeface="Calibri"/>
              </a:rPr>
              <a:t>Give Guided Learning the ask-me-first prompt from Lesson 1 and answer its questions. Keep only outcomes you can observe: “decide whether a cost is eligible and say why”, not “understand eligible costs”. Stop at three.</a:t>
            </a:r>
          </a:p>
        </p:txBody>
      </p:sp>
      <p:sp>
        <p:nvSpPr>
          <p:cNvPr id="11" name="Rectangle 10"/>
          <p:cNvSpPr/>
          <p:nvPr/>
        </p:nvSpPr>
        <p:spPr>
          <a:xfrm>
            <a:off x="3623517"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675162" y="1865376"/>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OUT</a:t>
            </a:r>
          </a:p>
          <a:p>
            <a:pPr>
              <a:spcBef>
                <a:spcPts val="300"/>
              </a:spcBef>
            </a:pPr>
            <a:r>
              <a:rPr sz="1000" b="0" i="0">
                <a:solidFill>
                  <a:srgbClr val="2A333B"/>
                </a:solidFill>
                <a:latin typeface="Calibri"/>
              </a:rPr>
              <a:t>A topic statement and three learning outcomes → steps 5, 6, 7.</a:t>
            </a:r>
          </a:p>
        </p:txBody>
      </p:sp>
      <p:sp>
        <p:nvSpPr>
          <p:cNvPr id="13" name="Rectangle 12"/>
          <p:cNvSpPr/>
          <p:nvPr/>
        </p:nvSpPr>
        <p:spPr>
          <a:xfrm>
            <a:off x="8675162"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072384"/>
            <a:ext cx="11091672" cy="3474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none" lIns="201168" rIns="201168" rtlCol="0" anchor="ctr"/>
          <a:lstStyle/>
          <a:p>
            <a:pPr algn="l"/>
            <a:r>
              <a:rPr sz="1400" b="1" i="0">
                <a:solidFill>
                  <a:srgbClr val="FFFFFF"/>
                </a:solidFill>
                <a:latin typeface="Cambria"/>
              </a:rPr>
              <a:t>2 · Anonymise your own material</a:t>
            </a:r>
          </a:p>
        </p:txBody>
      </p:sp>
      <p:sp>
        <p:nvSpPr>
          <p:cNvPr id="15" name="TextBox 14"/>
          <p:cNvSpPr txBox="1"/>
          <p:nvPr/>
        </p:nvSpPr>
        <p:spPr>
          <a:xfrm>
            <a:off x="548640" y="3136392"/>
            <a:ext cx="10890504" cy="365760"/>
          </a:xfrm>
          <a:prstGeom prst="rect">
            <a:avLst/>
          </a:prstGeom>
          <a:noFill/>
        </p:spPr>
        <p:txBody>
          <a:bodyPr wrap="none">
            <a:spAutoFit/>
          </a:bodyPr>
          <a:lstStyle/>
          <a:p>
            <a:pPr algn="r"/>
            <a:r>
              <a:rPr sz="1050" b="0" i="0">
                <a:solidFill>
                  <a:srgbClr val="FFFFFF"/>
                </a:solidFill>
                <a:latin typeface="Calibri"/>
              </a:rPr>
              <a:t>No AI tool · Word or Excel, by hand   ·   No lane   ·   Required if the material contains sensitive data</a:t>
            </a:r>
          </a:p>
        </p:txBody>
      </p:sp>
      <p:sp>
        <p:nvSpPr>
          <p:cNvPr id="16" name="Rectangle 15"/>
          <p:cNvSpPr/>
          <p:nvPr/>
        </p:nvSpPr>
        <p:spPr>
          <a:xfrm>
            <a:off x="548640" y="3474720"/>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IN</a:t>
            </a:r>
          </a:p>
          <a:p>
            <a:pPr>
              <a:spcBef>
                <a:spcPts val="300"/>
              </a:spcBef>
            </a:pPr>
            <a:r>
              <a:rPr sz="1000" b="0" i="0">
                <a:solidFill>
                  <a:srgbClr val="2A333B"/>
                </a:solidFill>
                <a:latin typeface="Calibri"/>
              </a:rPr>
              <a:t>Your own documents: notes, tables, call texts, reports.</a:t>
            </a:r>
          </a:p>
        </p:txBody>
      </p:sp>
      <p:sp>
        <p:nvSpPr>
          <p:cNvPr id="17" name="Rectangle 16"/>
          <p:cNvSpPr/>
          <p:nvPr/>
        </p:nvSpPr>
        <p:spPr>
          <a:xfrm>
            <a:off x="548640" y="3474720"/>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23517" y="3474720"/>
            <a:ext cx="494191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DO</a:t>
            </a:r>
          </a:p>
          <a:p>
            <a:pPr>
              <a:spcBef>
                <a:spcPts val="300"/>
              </a:spcBef>
            </a:pPr>
            <a:r>
              <a:rPr sz="1000" b="0" i="0">
                <a:solidFill>
                  <a:srgbClr val="2A333B"/>
                </a:solidFill>
                <a:latin typeface="Calibri"/>
              </a:rPr>
              <a:t>Work on a copy. Go through each file by hand with the Lesson 1 anonymisation checklist: replace names, IDs, amounts, dates, anything that identifies a person or a project. Record per file: anonymised, public, or not usable. Nothing reaches any AI tool before this is done. No material of your own? Skip this step and say so.</a:t>
            </a:r>
          </a:p>
        </p:txBody>
      </p:sp>
      <p:sp>
        <p:nvSpPr>
          <p:cNvPr id="19" name="Rectangle 18"/>
          <p:cNvSpPr/>
          <p:nvPr/>
        </p:nvSpPr>
        <p:spPr>
          <a:xfrm>
            <a:off x="3623517" y="3474720"/>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675162" y="3474720"/>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OUT</a:t>
            </a:r>
          </a:p>
          <a:p>
            <a:pPr>
              <a:spcBef>
                <a:spcPts val="300"/>
              </a:spcBef>
            </a:pPr>
            <a:r>
              <a:rPr sz="1000" b="0" i="0">
                <a:solidFill>
                  <a:srgbClr val="2A333B"/>
                </a:solidFill>
                <a:latin typeface="Calibri"/>
              </a:rPr>
              <a:t>Files that may be uploaded anywhere → steps 4, 5.</a:t>
            </a:r>
          </a:p>
        </p:txBody>
      </p:sp>
      <p:sp>
        <p:nvSpPr>
          <p:cNvPr id="21" name="Rectangle 20"/>
          <p:cNvSpPr/>
          <p:nvPr/>
        </p:nvSpPr>
        <p:spPr>
          <a:xfrm>
            <a:off x="8675162" y="3474720"/>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4681728"/>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201168" rIns="201168" rtlCol="0" anchor="ctr"/>
          <a:lstStyle/>
          <a:p>
            <a:pPr algn="l"/>
            <a:r>
              <a:rPr sz="1400" b="1" i="0">
                <a:solidFill>
                  <a:srgbClr val="FFFFFF"/>
                </a:solidFill>
                <a:latin typeface="Cambria"/>
              </a:rPr>
              <a:t>3 · Research the topic</a:t>
            </a:r>
          </a:p>
        </p:txBody>
      </p:sp>
      <p:sp>
        <p:nvSpPr>
          <p:cNvPr id="23" name="TextBox 22"/>
          <p:cNvSpPr txBox="1"/>
          <p:nvPr/>
        </p:nvSpPr>
        <p:spPr>
          <a:xfrm>
            <a:off x="548640" y="4745736"/>
            <a:ext cx="10890504" cy="365760"/>
          </a:xfrm>
          <a:prstGeom prst="rect">
            <a:avLst/>
          </a:prstGeom>
          <a:noFill/>
        </p:spPr>
        <p:txBody>
          <a:bodyPr wrap="none">
            <a:spAutoFit/>
          </a:bodyPr>
          <a:lstStyle/>
          <a:p>
            <a:pPr algn="r"/>
            <a:r>
              <a:rPr sz="1050" b="0" i="0">
                <a:solidFill>
                  <a:srgbClr val="FFFFFF"/>
                </a:solidFill>
                <a:latin typeface="Calibri"/>
              </a:rPr>
              <a:t>Gemini · Deep Research   ·   Daily Driver   ·   Optional</a:t>
            </a:r>
          </a:p>
        </p:txBody>
      </p:sp>
      <p:sp>
        <p:nvSpPr>
          <p:cNvPr id="24" name="Rectangle 23"/>
          <p:cNvSpPr/>
          <p:nvPr/>
        </p:nvSpPr>
        <p:spPr>
          <a:xfrm>
            <a:off x="548640" y="5084064"/>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IN</a:t>
            </a:r>
          </a:p>
          <a:p>
            <a:pPr>
              <a:spcBef>
                <a:spcPts val="300"/>
              </a:spcBef>
            </a:pPr>
            <a:r>
              <a:rPr sz="1000" b="0" i="0">
                <a:solidFill>
                  <a:srgbClr val="2A333B"/>
                </a:solidFill>
                <a:latin typeface="Calibri"/>
              </a:rPr>
              <a:t>One research question: what your material does not cover, or the topic itself if you have no material.</a:t>
            </a:r>
          </a:p>
        </p:txBody>
      </p:sp>
      <p:sp>
        <p:nvSpPr>
          <p:cNvPr id="25" name="Rectangle 24"/>
          <p:cNvSpPr/>
          <p:nvPr/>
        </p:nvSpPr>
        <p:spPr>
          <a:xfrm>
            <a:off x="548640" y="5084064"/>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623517" y="5084064"/>
            <a:ext cx="494191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dirty="0">
                <a:solidFill>
                  <a:srgbClr val="1C242B"/>
                </a:solidFill>
                <a:latin typeface="Cambria"/>
              </a:rPr>
              <a:t>DO</a:t>
            </a:r>
          </a:p>
          <a:p>
            <a:pPr>
              <a:spcBef>
                <a:spcPts val="300"/>
              </a:spcBef>
            </a:pPr>
            <a:r>
              <a:rPr sz="1000" b="0" i="0" dirty="0">
                <a:solidFill>
                  <a:srgbClr val="2A333B"/>
                </a:solidFill>
                <a:latin typeface="Calibri"/>
              </a:rPr>
              <a:t>One question, not five. Ask for a source per claim. Open at least three sources and check they say what the report says. The free tier limits reports per month, so write the question before you spend one.</a:t>
            </a:r>
          </a:p>
        </p:txBody>
      </p:sp>
      <p:sp>
        <p:nvSpPr>
          <p:cNvPr id="27" name="Rectangle 26"/>
          <p:cNvSpPr/>
          <p:nvPr/>
        </p:nvSpPr>
        <p:spPr>
          <a:xfrm>
            <a:off x="3623517" y="5084064"/>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675162" y="5084064"/>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OUT</a:t>
            </a:r>
          </a:p>
          <a:p>
            <a:pPr>
              <a:spcBef>
                <a:spcPts val="300"/>
              </a:spcBef>
            </a:pPr>
            <a:r>
              <a:rPr sz="1000" b="0" i="0">
                <a:solidFill>
                  <a:srgbClr val="2A333B"/>
                </a:solidFill>
                <a:latin typeface="Calibri"/>
              </a:rPr>
              <a:t>A cited briefing, saved as a file → step 4.</a:t>
            </a:r>
          </a:p>
        </p:txBody>
      </p:sp>
      <p:sp>
        <p:nvSpPr>
          <p:cNvPr id="29" name="Rectangle 28"/>
          <p:cNvSpPr/>
          <p:nvPr/>
        </p:nvSpPr>
        <p:spPr>
          <a:xfrm>
            <a:off x="8675162" y="5084064"/>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blueprint · steps 4–6</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15568"/>
            <a:ext cx="11091672" cy="365760"/>
          </a:xfrm>
          <a:prstGeom prst="rect">
            <a:avLst/>
          </a:prstGeom>
          <a:noFill/>
        </p:spPr>
        <p:txBody>
          <a:bodyPr wrap="square">
            <a:spAutoFit/>
          </a:bodyPr>
          <a:lstStyle/>
          <a:p>
            <a:pPr algn="l"/>
            <a:r>
              <a:rPr sz="1250" b="0" i="0">
                <a:solidFill>
                  <a:srgbClr val="6B747D"/>
                </a:solidFill>
                <a:latin typeface="Calibri"/>
              </a:rPr>
              <a:t>Collect what the presentation must say, draft the outline in a workspace that knows your topic, and add the material that makes it teach</a:t>
            </a:r>
          </a:p>
        </p:txBody>
      </p:sp>
      <p:sp>
        <p:nvSpPr>
          <p:cNvPr id="6" name="Rectangle 5"/>
          <p:cNvSpPr/>
          <p:nvPr/>
        </p:nvSpPr>
        <p:spPr>
          <a:xfrm>
            <a:off x="548640" y="1463040"/>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201168" rIns="201168" rtlCol="0" anchor="ctr"/>
          <a:lstStyle/>
          <a:p>
            <a:pPr algn="l"/>
            <a:r>
              <a:rPr sz="1400" b="1" i="0">
                <a:solidFill>
                  <a:srgbClr val="FFFFFF"/>
                </a:solidFill>
                <a:latin typeface="Cambria"/>
              </a:rPr>
              <a:t>4 · Collect what the presentation must cover</a:t>
            </a:r>
          </a:p>
        </p:txBody>
      </p:sp>
      <p:sp>
        <p:nvSpPr>
          <p:cNvPr id="7" name="TextBox 6"/>
          <p:cNvSpPr txBox="1"/>
          <p:nvPr/>
        </p:nvSpPr>
        <p:spPr>
          <a:xfrm>
            <a:off x="548640" y="1527048"/>
            <a:ext cx="10890504" cy="365760"/>
          </a:xfrm>
          <a:prstGeom prst="rect">
            <a:avLst/>
          </a:prstGeom>
          <a:noFill/>
        </p:spPr>
        <p:txBody>
          <a:bodyPr wrap="none">
            <a:spAutoFit/>
          </a:bodyPr>
          <a:lstStyle/>
          <a:p>
            <a:pPr algn="r"/>
            <a:r>
              <a:rPr sz="1050" b="0" i="0">
                <a:solidFill>
                  <a:srgbClr val="FFFFFF"/>
                </a:solidFill>
                <a:latin typeface="Calibri"/>
              </a:rPr>
              <a:t>NotebookLM   ·   Daily Driver   ·   Optional</a:t>
            </a:r>
          </a:p>
        </p:txBody>
      </p:sp>
      <p:sp>
        <p:nvSpPr>
          <p:cNvPr id="8" name="Rectangle 7"/>
          <p:cNvSpPr/>
          <p:nvPr/>
        </p:nvSpPr>
        <p:spPr>
          <a:xfrm>
            <a:off x="548640" y="1865376"/>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IN</a:t>
            </a:r>
          </a:p>
          <a:p>
            <a:pPr>
              <a:spcBef>
                <a:spcPts val="300"/>
              </a:spcBef>
            </a:pPr>
            <a:r>
              <a:rPr sz="1000" b="0" i="0">
                <a:solidFill>
                  <a:srgbClr val="2A333B"/>
                </a:solidFill>
                <a:latin typeface="Calibri"/>
              </a:rPr>
              <a:t>The files from step 2 and the briefing from step 3.</a:t>
            </a:r>
          </a:p>
        </p:txBody>
      </p:sp>
      <p:sp>
        <p:nvSpPr>
          <p:cNvPr id="9" name="Rectangle 8"/>
          <p:cNvSpPr/>
          <p:nvPr/>
        </p:nvSpPr>
        <p:spPr>
          <a:xfrm>
            <a:off x="54864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23517" y="1865376"/>
            <a:ext cx="494191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DO</a:t>
            </a:r>
          </a:p>
          <a:p>
            <a:pPr>
              <a:spcBef>
                <a:spcPts val="300"/>
              </a:spcBef>
            </a:pPr>
            <a:r>
              <a:rPr sz="1000" b="0" i="0">
                <a:solidFill>
                  <a:srgbClr val="2A333B"/>
                </a:solidFill>
                <a:latin typeface="Calibri"/>
              </a:rPr>
              <a:t>One notebook per topic. Add the files, then ask: what does a newcomer need to know about this, and which source says it? Drop any answer without a citation. No NotebookLM? Upload the same files to Gemini and say so in your blueprint.</a:t>
            </a:r>
          </a:p>
        </p:txBody>
      </p:sp>
      <p:sp>
        <p:nvSpPr>
          <p:cNvPr id="11" name="Rectangle 10"/>
          <p:cNvSpPr/>
          <p:nvPr/>
        </p:nvSpPr>
        <p:spPr>
          <a:xfrm>
            <a:off x="3623517"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675162" y="1865376"/>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OUT</a:t>
            </a:r>
          </a:p>
          <a:p>
            <a:pPr>
              <a:spcBef>
                <a:spcPts val="300"/>
              </a:spcBef>
            </a:pPr>
            <a:r>
              <a:rPr sz="1000" b="0" i="0">
                <a:solidFill>
                  <a:srgbClr val="2A333B"/>
                </a:solidFill>
                <a:latin typeface="Calibri"/>
              </a:rPr>
              <a:t>A coverage list, each point with its source → step 5.</a:t>
            </a:r>
          </a:p>
        </p:txBody>
      </p:sp>
      <p:sp>
        <p:nvSpPr>
          <p:cNvPr id="13" name="Rectangle 12"/>
          <p:cNvSpPr/>
          <p:nvPr/>
        </p:nvSpPr>
        <p:spPr>
          <a:xfrm>
            <a:off x="8675162"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072384"/>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201168" rIns="201168" rtlCol="0" anchor="ctr"/>
          <a:lstStyle/>
          <a:p>
            <a:pPr algn="l"/>
            <a:r>
              <a:rPr sz="1400" b="1" i="0">
                <a:solidFill>
                  <a:srgbClr val="FFFFFF"/>
                </a:solidFill>
                <a:latin typeface="Cambria"/>
              </a:rPr>
              <a:t>5 · Draft the outline</a:t>
            </a:r>
          </a:p>
        </p:txBody>
      </p:sp>
      <p:sp>
        <p:nvSpPr>
          <p:cNvPr id="15" name="TextBox 14"/>
          <p:cNvSpPr txBox="1"/>
          <p:nvPr/>
        </p:nvSpPr>
        <p:spPr>
          <a:xfrm>
            <a:off x="548640" y="3136392"/>
            <a:ext cx="10890504" cy="365760"/>
          </a:xfrm>
          <a:prstGeom prst="rect">
            <a:avLst/>
          </a:prstGeom>
          <a:noFill/>
        </p:spPr>
        <p:txBody>
          <a:bodyPr wrap="none">
            <a:spAutoFit/>
          </a:bodyPr>
          <a:lstStyle/>
          <a:p>
            <a:pPr algn="r"/>
            <a:r>
              <a:rPr sz="1050" b="0" i="0">
                <a:solidFill>
                  <a:srgbClr val="FFFFFF"/>
                </a:solidFill>
                <a:latin typeface="Calibri"/>
              </a:rPr>
              <a:t>Gemini · a Gem with file upload, long context and Canvas   ·   Daily Driver   ·   Optional</a:t>
            </a:r>
          </a:p>
        </p:txBody>
      </p:sp>
      <p:sp>
        <p:nvSpPr>
          <p:cNvPr id="16" name="Rectangle 15"/>
          <p:cNvSpPr/>
          <p:nvPr/>
        </p:nvSpPr>
        <p:spPr>
          <a:xfrm>
            <a:off x="548640" y="3474720"/>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IN</a:t>
            </a:r>
          </a:p>
          <a:p>
            <a:pPr>
              <a:spcBef>
                <a:spcPts val="300"/>
              </a:spcBef>
            </a:pPr>
            <a:r>
              <a:rPr sz="1000" b="0" i="0">
                <a:solidFill>
                  <a:srgbClr val="2A333B"/>
                </a:solidFill>
                <a:latin typeface="Calibri"/>
              </a:rPr>
              <a:t>The outcomes from step 1, the coverage list from step 4, the files from step 2.</a:t>
            </a:r>
          </a:p>
        </p:txBody>
      </p:sp>
      <p:sp>
        <p:nvSpPr>
          <p:cNvPr id="17" name="Rectangle 16"/>
          <p:cNvSpPr/>
          <p:nvPr/>
        </p:nvSpPr>
        <p:spPr>
          <a:xfrm>
            <a:off x="548640" y="3474720"/>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23517" y="3474720"/>
            <a:ext cx="494191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DO</a:t>
            </a:r>
          </a:p>
          <a:p>
            <a:pPr>
              <a:spcBef>
                <a:spcPts val="300"/>
              </a:spcBef>
            </a:pPr>
            <a:r>
              <a:rPr sz="1000" b="0" i="0">
                <a:solidFill>
                  <a:srgbClr val="2A333B"/>
                </a:solidFill>
                <a:latin typeface="Calibri"/>
              </a:rPr>
              <a:t>Build a Gem: topic and outcomes as its instructions, the files as its reference files. Ask for an outline in Canvas and edit one section at a time. Tag each section with the outcome it serves; cut any section that serves none.</a:t>
            </a:r>
          </a:p>
        </p:txBody>
      </p:sp>
      <p:sp>
        <p:nvSpPr>
          <p:cNvPr id="19" name="Rectangle 18"/>
          <p:cNvSpPr/>
          <p:nvPr/>
        </p:nvSpPr>
        <p:spPr>
          <a:xfrm>
            <a:off x="3623517" y="3474720"/>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675162" y="3474720"/>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OUT</a:t>
            </a:r>
          </a:p>
          <a:p>
            <a:pPr>
              <a:spcBef>
                <a:spcPts val="300"/>
              </a:spcBef>
            </a:pPr>
            <a:r>
              <a:rPr sz="1000" b="0" i="0">
                <a:solidFill>
                  <a:srgbClr val="2A333B"/>
                </a:solidFill>
                <a:latin typeface="Calibri"/>
              </a:rPr>
              <a:t>A section-by-section outline → steps 6, 7, 8.</a:t>
            </a:r>
          </a:p>
        </p:txBody>
      </p:sp>
      <p:sp>
        <p:nvSpPr>
          <p:cNvPr id="21" name="Rectangle 20"/>
          <p:cNvSpPr/>
          <p:nvPr/>
        </p:nvSpPr>
        <p:spPr>
          <a:xfrm>
            <a:off x="8675162" y="3474720"/>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4681728"/>
            <a:ext cx="11091672" cy="34747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wrap="none" lIns="201168" rIns="201168" rtlCol="0" anchor="ctr"/>
          <a:lstStyle/>
          <a:p>
            <a:pPr algn="l"/>
            <a:r>
              <a:rPr sz="1400" b="1" i="0">
                <a:solidFill>
                  <a:srgbClr val="FFFFFF"/>
                </a:solidFill>
                <a:latin typeface="Cambria"/>
              </a:rPr>
              <a:t>6 · Add the learning material</a:t>
            </a:r>
          </a:p>
        </p:txBody>
      </p:sp>
      <p:sp>
        <p:nvSpPr>
          <p:cNvPr id="23" name="TextBox 22"/>
          <p:cNvSpPr txBox="1"/>
          <p:nvPr/>
        </p:nvSpPr>
        <p:spPr>
          <a:xfrm>
            <a:off x="548640" y="4745736"/>
            <a:ext cx="10890504" cy="365760"/>
          </a:xfrm>
          <a:prstGeom prst="rect">
            <a:avLst/>
          </a:prstGeom>
          <a:noFill/>
        </p:spPr>
        <p:txBody>
          <a:bodyPr wrap="none">
            <a:spAutoFit/>
          </a:bodyPr>
          <a:lstStyle/>
          <a:p>
            <a:pPr algn="r"/>
            <a:r>
              <a:rPr sz="1050" b="0" i="0">
                <a:solidFill>
                  <a:srgbClr val="FFFFFF"/>
                </a:solidFill>
                <a:latin typeface="Calibri"/>
              </a:rPr>
              <a:t>Study and Learn · Copilot Chat (Basic)   ·   Sensitive Lane   ·   Optional</a:t>
            </a:r>
          </a:p>
        </p:txBody>
      </p:sp>
      <p:sp>
        <p:nvSpPr>
          <p:cNvPr id="24" name="Rectangle 23"/>
          <p:cNvSpPr/>
          <p:nvPr/>
        </p:nvSpPr>
        <p:spPr>
          <a:xfrm>
            <a:off x="548640" y="5084064"/>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IN</a:t>
            </a:r>
          </a:p>
          <a:p>
            <a:pPr>
              <a:spcBef>
                <a:spcPts val="300"/>
              </a:spcBef>
            </a:pPr>
            <a:r>
              <a:rPr sz="1000" b="0" i="0">
                <a:solidFill>
                  <a:srgbClr val="2A333B"/>
                </a:solidFill>
                <a:latin typeface="Calibri"/>
              </a:rPr>
              <a:t>The outline from step 5, one learning outcome at a time.</a:t>
            </a:r>
          </a:p>
        </p:txBody>
      </p:sp>
      <p:sp>
        <p:nvSpPr>
          <p:cNvPr id="25" name="Rectangle 24"/>
          <p:cNvSpPr/>
          <p:nvPr/>
        </p:nvSpPr>
        <p:spPr>
          <a:xfrm>
            <a:off x="548640" y="5084064"/>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623517" y="5084064"/>
            <a:ext cx="494191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DO</a:t>
            </a:r>
          </a:p>
          <a:p>
            <a:pPr>
              <a:spcBef>
                <a:spcPts val="300"/>
              </a:spcBef>
            </a:pPr>
            <a:r>
              <a:rPr sz="1000" b="0" i="0">
                <a:solidFill>
                  <a:srgbClr val="2A333B"/>
                </a:solidFill>
                <a:latin typeface="Calibri"/>
              </a:rPr>
              <a:t>Per outcome: ask for an explanation and read it as a learner would; then flashcards on the key terms; then a five-question quiz. Drop any question that can be answered without seeing the presentation. Needs a Microsoft 365 Education account, no Copilot licence.</a:t>
            </a:r>
          </a:p>
        </p:txBody>
      </p:sp>
      <p:sp>
        <p:nvSpPr>
          <p:cNvPr id="27" name="Rectangle 26"/>
          <p:cNvSpPr/>
          <p:nvPr/>
        </p:nvSpPr>
        <p:spPr>
          <a:xfrm>
            <a:off x="3623517" y="5084064"/>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675162" y="5084064"/>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OUT</a:t>
            </a:r>
          </a:p>
          <a:p>
            <a:pPr>
              <a:spcBef>
                <a:spcPts val="300"/>
              </a:spcBef>
            </a:pPr>
            <a:r>
              <a:rPr sz="1000" b="0" i="0">
                <a:solidFill>
                  <a:srgbClr val="2A333B"/>
                </a:solidFill>
                <a:latin typeface="Calibri"/>
              </a:rPr>
              <a:t>An explanation, a flashcard set and a quiz per outcome → step 8.</a:t>
            </a:r>
          </a:p>
        </p:txBody>
      </p:sp>
      <p:sp>
        <p:nvSpPr>
          <p:cNvPr id="29" name="Rectangle 28"/>
          <p:cNvSpPr/>
          <p:nvPr/>
        </p:nvSpPr>
        <p:spPr>
          <a:xfrm>
            <a:off x="8675162" y="5084064"/>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blueprint · steps 7–8</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15568"/>
            <a:ext cx="11091672" cy="365760"/>
          </a:xfrm>
          <a:prstGeom prst="rect">
            <a:avLst/>
          </a:prstGeom>
          <a:noFill/>
        </p:spPr>
        <p:txBody>
          <a:bodyPr wrap="square">
            <a:spAutoFit/>
          </a:bodyPr>
          <a:lstStyle/>
          <a:p>
            <a:pPr algn="l"/>
            <a:r>
              <a:rPr sz="1250" b="0" i="0">
                <a:solidFill>
                  <a:srgbClr val="6B747D"/>
                </a:solidFill>
                <a:latin typeface="Calibri"/>
              </a:rPr>
              <a:t>Make the visuals and build the deck. Prompt Coach runs beside any step: improve the prompt before you use it</a:t>
            </a:r>
          </a:p>
        </p:txBody>
      </p:sp>
      <p:sp>
        <p:nvSpPr>
          <p:cNvPr id="6" name="Rectangle 5"/>
          <p:cNvSpPr/>
          <p:nvPr/>
        </p:nvSpPr>
        <p:spPr>
          <a:xfrm>
            <a:off x="548640" y="1463040"/>
            <a:ext cx="11091672" cy="347472"/>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wrap="none" lIns="201168" rIns="201168" rtlCol="0" anchor="ctr"/>
          <a:lstStyle/>
          <a:p>
            <a:pPr algn="l"/>
            <a:r>
              <a:rPr sz="1400" b="1" i="0">
                <a:solidFill>
                  <a:srgbClr val="FFFFFF"/>
                </a:solidFill>
                <a:latin typeface="Cambria"/>
              </a:rPr>
              <a:t>7 · Make the visuals</a:t>
            </a:r>
          </a:p>
        </p:txBody>
      </p:sp>
      <p:sp>
        <p:nvSpPr>
          <p:cNvPr id="7" name="TextBox 6"/>
          <p:cNvSpPr txBox="1"/>
          <p:nvPr/>
        </p:nvSpPr>
        <p:spPr>
          <a:xfrm>
            <a:off x="548640" y="1527048"/>
            <a:ext cx="10890504" cy="365760"/>
          </a:xfrm>
          <a:prstGeom prst="rect">
            <a:avLst/>
          </a:prstGeom>
          <a:noFill/>
        </p:spPr>
        <p:txBody>
          <a:bodyPr wrap="none">
            <a:spAutoFit/>
          </a:bodyPr>
          <a:lstStyle/>
          <a:p>
            <a:pPr algn="r"/>
            <a:r>
              <a:rPr sz="1050" b="0" i="0">
                <a:solidFill>
                  <a:srgbClr val="FFFFFF"/>
                </a:solidFill>
                <a:latin typeface="Calibri"/>
              </a:rPr>
              <a:t>Gemini · image generation   ·   Daily Driver   ·   Optional</a:t>
            </a:r>
          </a:p>
        </p:txBody>
      </p:sp>
      <p:sp>
        <p:nvSpPr>
          <p:cNvPr id="8" name="Rectangle 7"/>
          <p:cNvSpPr/>
          <p:nvPr/>
        </p:nvSpPr>
        <p:spPr>
          <a:xfrm>
            <a:off x="548640" y="1865376"/>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IN</a:t>
            </a:r>
          </a:p>
          <a:p>
            <a:pPr>
              <a:spcBef>
                <a:spcPts val="300"/>
              </a:spcBef>
            </a:pPr>
            <a:r>
              <a:rPr sz="1000" b="0" i="0">
                <a:solidFill>
                  <a:srgbClr val="2A333B"/>
                </a:solidFill>
                <a:latin typeface="Calibri"/>
              </a:rPr>
              <a:t>One section of the outline from step 5 and a one-sentence description of its diagram.</a:t>
            </a:r>
          </a:p>
        </p:txBody>
      </p:sp>
      <p:sp>
        <p:nvSpPr>
          <p:cNvPr id="9" name="Rectangle 8"/>
          <p:cNvSpPr/>
          <p:nvPr/>
        </p:nvSpPr>
        <p:spPr>
          <a:xfrm>
            <a:off x="548640"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23517" y="1865376"/>
            <a:ext cx="494191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DO</a:t>
            </a:r>
          </a:p>
          <a:p>
            <a:pPr>
              <a:spcBef>
                <a:spcPts val="300"/>
              </a:spcBef>
            </a:pPr>
            <a:r>
              <a:rPr sz="1000" b="0" i="0">
                <a:solidFill>
                  <a:srgbClr val="2A333B"/>
                </a:solidFill>
                <a:latin typeface="Calibri"/>
              </a:rPr>
              <a:t>Describe the relationship, not the picture: “three stages, each feeding the next, the middle one highlighted”. Read the labels in the result; text in generated images is often wrong. Regenerate, do not patch. Not every section needs an image.</a:t>
            </a:r>
          </a:p>
        </p:txBody>
      </p:sp>
      <p:sp>
        <p:nvSpPr>
          <p:cNvPr id="11" name="Rectangle 10"/>
          <p:cNvSpPr/>
          <p:nvPr/>
        </p:nvSpPr>
        <p:spPr>
          <a:xfrm>
            <a:off x="3623517"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675162" y="1865376"/>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OUT</a:t>
            </a:r>
          </a:p>
          <a:p>
            <a:pPr>
              <a:spcBef>
                <a:spcPts val="300"/>
              </a:spcBef>
            </a:pPr>
            <a:r>
              <a:rPr sz="1000" b="0" i="0">
                <a:solidFill>
                  <a:srgbClr val="2A333B"/>
                </a:solidFill>
                <a:latin typeface="Calibri"/>
              </a:rPr>
              <a:t>One image per section that needs one → step 8.</a:t>
            </a:r>
          </a:p>
        </p:txBody>
      </p:sp>
      <p:sp>
        <p:nvSpPr>
          <p:cNvPr id="13" name="Rectangle 12"/>
          <p:cNvSpPr/>
          <p:nvPr/>
        </p:nvSpPr>
        <p:spPr>
          <a:xfrm>
            <a:off x="8675162" y="1865376"/>
            <a:ext cx="82296" cy="1133856"/>
          </a:xfrm>
          <a:prstGeom prst="rect">
            <a:avLst/>
          </a:prstGeom>
          <a:solidFill>
            <a:srgbClr val="6A4C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072384"/>
            <a:ext cx="11091672" cy="347472"/>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none" lIns="201168" rIns="201168" rtlCol="0" anchor="ctr"/>
          <a:lstStyle/>
          <a:p>
            <a:pPr algn="l"/>
            <a:r>
              <a:rPr sz="1400" b="1" i="0">
                <a:solidFill>
                  <a:srgbClr val="FFFFFF"/>
                </a:solidFill>
                <a:latin typeface="Cambria"/>
              </a:rPr>
              <a:t>8 · Build the presentation</a:t>
            </a:r>
          </a:p>
        </p:txBody>
      </p:sp>
      <p:sp>
        <p:nvSpPr>
          <p:cNvPr id="15" name="TextBox 14"/>
          <p:cNvSpPr txBox="1"/>
          <p:nvPr/>
        </p:nvSpPr>
        <p:spPr>
          <a:xfrm>
            <a:off x="548640" y="3136392"/>
            <a:ext cx="10890504" cy="365760"/>
          </a:xfrm>
          <a:prstGeom prst="rect">
            <a:avLst/>
          </a:prstGeom>
          <a:noFill/>
        </p:spPr>
        <p:txBody>
          <a:bodyPr wrap="none">
            <a:spAutoFit/>
          </a:bodyPr>
          <a:lstStyle/>
          <a:p>
            <a:pPr algn="r"/>
            <a:r>
              <a:rPr sz="1050" b="0" i="0">
                <a:solidFill>
                  <a:srgbClr val="FFFFFF"/>
                </a:solidFill>
                <a:latin typeface="Calibri"/>
              </a:rPr>
              <a:t>Canva (Teams app) → genspark.ai   ·   Outside both lanes · anonymised content only   ·   Optional tools, required output</a:t>
            </a:r>
          </a:p>
        </p:txBody>
      </p:sp>
      <p:sp>
        <p:nvSpPr>
          <p:cNvPr id="16" name="Rectangle 15"/>
          <p:cNvSpPr/>
          <p:nvPr/>
        </p:nvSpPr>
        <p:spPr>
          <a:xfrm>
            <a:off x="548640" y="3474720"/>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IN</a:t>
            </a:r>
          </a:p>
          <a:p>
            <a:pPr>
              <a:spcBef>
                <a:spcPts val="300"/>
              </a:spcBef>
            </a:pPr>
            <a:r>
              <a:rPr sz="1000" b="0" i="0">
                <a:solidFill>
                  <a:srgbClr val="2A333B"/>
                </a:solidFill>
                <a:latin typeface="Calibri"/>
              </a:rPr>
              <a:t>The outline (5), the learning material (6), the visuals (7).</a:t>
            </a:r>
          </a:p>
        </p:txBody>
      </p:sp>
      <p:sp>
        <p:nvSpPr>
          <p:cNvPr id="17" name="Rectangle 16"/>
          <p:cNvSpPr/>
          <p:nvPr/>
        </p:nvSpPr>
        <p:spPr>
          <a:xfrm>
            <a:off x="548640" y="3474720"/>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23517" y="3474720"/>
            <a:ext cx="4941916"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DO</a:t>
            </a:r>
          </a:p>
          <a:p>
            <a:pPr>
              <a:spcBef>
                <a:spcPts val="300"/>
              </a:spcBef>
            </a:pPr>
            <a:r>
              <a:rPr sz="1000" b="0" i="0">
                <a:solidFill>
                  <a:srgbClr val="2A333B"/>
                </a:solidFill>
                <a:latin typeface="Calibri"/>
              </a:rPr>
              <a:t>Prototype the slide structure in Canva and let a colleague comment before content goes in. Cut a 20–40 second video excerpt there for the opening. Give outline, material and visuals to genspark.ai to build the deck. Rehearse once out loud. AI-use log on the last slide.</a:t>
            </a:r>
          </a:p>
        </p:txBody>
      </p:sp>
      <p:sp>
        <p:nvSpPr>
          <p:cNvPr id="19" name="Rectangle 18"/>
          <p:cNvSpPr/>
          <p:nvPr/>
        </p:nvSpPr>
        <p:spPr>
          <a:xfrm>
            <a:off x="3623517" y="3474720"/>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675162" y="3474720"/>
            <a:ext cx="2965149"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000" b="1" i="0">
                <a:solidFill>
                  <a:srgbClr val="1C242B"/>
                </a:solidFill>
                <a:latin typeface="Cambria"/>
              </a:rPr>
              <a:t>OUT</a:t>
            </a:r>
          </a:p>
          <a:p>
            <a:pPr>
              <a:spcBef>
                <a:spcPts val="300"/>
              </a:spcBef>
            </a:pPr>
            <a:r>
              <a:rPr sz="1000" b="0" i="0">
                <a:solidFill>
                  <a:srgbClr val="2A333B"/>
                </a:solidFill>
                <a:latin typeface="Calibri"/>
              </a:rPr>
              <a:t>The finished presentation and a short video excerpt: the deliverable.</a:t>
            </a:r>
          </a:p>
        </p:txBody>
      </p:sp>
      <p:sp>
        <p:nvSpPr>
          <p:cNvPr id="21" name="Rectangle 20"/>
          <p:cNvSpPr/>
          <p:nvPr/>
        </p:nvSpPr>
        <p:spPr>
          <a:xfrm>
            <a:off x="8675162" y="3474720"/>
            <a:ext cx="82296" cy="1133856"/>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4681728"/>
            <a:ext cx="11091672" cy="1133856"/>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100" b="1" i="0">
                <a:solidFill>
                  <a:srgbClr val="1C242B"/>
                </a:solidFill>
                <a:latin typeface="Cambria"/>
              </a:rPr>
              <a:t>Prompt Coach · Copilot Chat (Basic) · Sensitive Lane · at any step, optional</a:t>
            </a:r>
          </a:p>
          <a:p>
            <a:pPr>
              <a:spcBef>
                <a:spcPts val="300"/>
              </a:spcBef>
            </a:pPr>
            <a:r>
              <a:rPr sz="1050" b="0" i="0">
                <a:solidFill>
                  <a:srgbClr val="2A333B"/>
                </a:solidFill>
                <a:latin typeface="Calibri"/>
              </a:rPr>
              <a:t>Before you run a prompt in steps 3 to 6, paste it into Prompt Coach with one sentence about the job it has to do, ask for a critique and an improved version, and keep the improved one only if you can say what changed. Copilot Chat (Basic), Sensitive Lane; nothing but the prompt goes in.</a:t>
            </a:r>
          </a:p>
        </p:txBody>
      </p:sp>
      <p:sp>
        <p:nvSpPr>
          <p:cNvPr id="23" name="Rectangle 22"/>
          <p:cNvSpPr/>
          <p:nvPr/>
        </p:nvSpPr>
        <p:spPr>
          <a:xfrm>
            <a:off x="548640" y="4681728"/>
            <a:ext cx="82296" cy="1133856"/>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The outcome, on the 7 Levels map</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Three rows of the map from Lesson 1 — where last week left you, where this week puts you, and what the roadmap is the foundation of</a:t>
            </a:r>
          </a:p>
        </p:txBody>
      </p:sp>
      <p:sp>
        <p:nvSpPr>
          <p:cNvPr id="6" name="Rectangle 5"/>
          <p:cNvSpPr/>
          <p:nvPr/>
        </p:nvSpPr>
        <p:spPr>
          <a:xfrm>
            <a:off x="548640" y="1627632"/>
            <a:ext cx="566928"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Cambria"/>
              </a:rPr>
              <a:t>2</a:t>
            </a:r>
          </a:p>
        </p:txBody>
      </p:sp>
      <p:sp>
        <p:nvSpPr>
          <p:cNvPr id="7" name="Rectangle 6"/>
          <p:cNvSpPr/>
          <p:nvPr/>
        </p:nvSpPr>
        <p:spPr>
          <a:xfrm>
            <a:off x="1280160" y="1627632"/>
            <a:ext cx="1036015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500" b="1" i="0">
                <a:solidFill>
                  <a:srgbClr val="1C242B"/>
                </a:solidFill>
                <a:latin typeface="Cambria"/>
              </a:rPr>
              <a:t>Level 2 · Prompt Crafter</a:t>
            </a:r>
            <a:r>
              <a:rPr sz="1300" b="0" i="0">
                <a:solidFill>
                  <a:srgbClr val="2A333B"/>
                </a:solidFill>
                <a:latin typeface="Calibri"/>
              </a:rPr>
              <a:t>  —  Structured prompts, examples, iteration.</a:t>
            </a:r>
          </a:p>
          <a:p>
            <a:r>
              <a:rPr sz="1200" b="1" i="0">
                <a:solidFill>
                  <a:srgbClr val="6B747D"/>
                </a:solidFill>
                <a:latin typeface="Calibri"/>
              </a:rPr>
              <a:t>Done — that was last week's assignment.</a:t>
            </a:r>
          </a:p>
        </p:txBody>
      </p:sp>
      <p:sp>
        <p:nvSpPr>
          <p:cNvPr id="8" name="Rectangle 7"/>
          <p:cNvSpPr/>
          <p:nvPr/>
        </p:nvSpPr>
        <p:spPr>
          <a:xfrm>
            <a:off x="1280160" y="1627632"/>
            <a:ext cx="82296"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706624"/>
            <a:ext cx="566928" cy="96926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Cambria"/>
              </a:rPr>
              <a:t>3</a:t>
            </a:r>
          </a:p>
        </p:txBody>
      </p:sp>
      <p:sp>
        <p:nvSpPr>
          <p:cNvPr id="10" name="Rectangle 9"/>
          <p:cNvSpPr/>
          <p:nvPr/>
        </p:nvSpPr>
        <p:spPr>
          <a:xfrm>
            <a:off x="1280160" y="2706624"/>
            <a:ext cx="1036015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500" b="1" i="0">
                <a:solidFill>
                  <a:srgbClr val="1C242B"/>
                </a:solidFill>
                <a:latin typeface="Cambria"/>
              </a:rPr>
              <a:t>Level 3 · Power User</a:t>
            </a:r>
            <a:r>
              <a:rPr sz="1300" b="0" i="0">
                <a:solidFill>
                  <a:srgbClr val="2A333B"/>
                </a:solidFill>
                <a:latin typeface="Calibri"/>
              </a:rPr>
              <a:t>  —  Persistent context: dedicated workspaces that already know your domain.</a:t>
            </a:r>
          </a:p>
          <a:p>
            <a:r>
              <a:rPr sz="1200" b="1" i="0">
                <a:solidFill>
                  <a:srgbClr val="1C242B"/>
                </a:solidFill>
                <a:latin typeface="Calibri"/>
              </a:rPr>
              <a:t>Reached this week — as soon as the Gem you saw built is your own, which is step 5 of the roadmap.</a:t>
            </a:r>
          </a:p>
        </p:txBody>
      </p:sp>
      <p:sp>
        <p:nvSpPr>
          <p:cNvPr id="11" name="Rectangle 10"/>
          <p:cNvSpPr/>
          <p:nvPr/>
        </p:nvSpPr>
        <p:spPr>
          <a:xfrm>
            <a:off x="1280160" y="2706624"/>
            <a:ext cx="82296" cy="96926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3785615"/>
            <a:ext cx="566928"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28600" rtlCol="0" anchor="ctr"/>
          <a:lstStyle/>
          <a:p>
            <a:pPr algn="ctr"/>
            <a:r>
              <a:rPr sz="1800" b="1" i="0">
                <a:solidFill>
                  <a:srgbClr val="FFFFFF"/>
                </a:solidFill>
                <a:latin typeface="Cambria"/>
              </a:rPr>
              <a:t>4</a:t>
            </a:r>
          </a:p>
        </p:txBody>
      </p:sp>
      <p:sp>
        <p:nvSpPr>
          <p:cNvPr id="13" name="Rectangle 12"/>
          <p:cNvSpPr/>
          <p:nvPr/>
        </p:nvSpPr>
        <p:spPr>
          <a:xfrm>
            <a:off x="1280160" y="3785615"/>
            <a:ext cx="10360152" cy="969264"/>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36576" rIns="182880" bIns="36576" rtlCol="0" anchor="ctr"/>
          <a:lstStyle/>
          <a:p>
            <a:pPr algn="l"/>
            <a:r>
              <a:rPr sz="1500" b="1" i="0">
                <a:solidFill>
                  <a:srgbClr val="1C242B"/>
                </a:solidFill>
                <a:latin typeface="Cambria"/>
              </a:rPr>
              <a:t>Level 4 · Tool Orchestrator</a:t>
            </a:r>
            <a:r>
              <a:rPr sz="1300" b="0" i="0">
                <a:solidFill>
                  <a:srgbClr val="2A333B"/>
                </a:solidFill>
                <a:latin typeface="Calibri"/>
              </a:rPr>
              <a:t>  —  The right specialised tool per step: NotebookLM for documents, Perplexity for cited research.</a:t>
            </a:r>
          </a:p>
          <a:p>
            <a:r>
              <a:rPr sz="1200" b="1" i="0">
                <a:solidFill>
                  <a:srgbClr val="3E4C59"/>
                </a:solidFill>
                <a:latin typeface="Calibri"/>
              </a:rPr>
              <a:t>Founded, not yet reached — the roadmap is the orchestration written down; Lessons 3 and 4 hand you the specialised tools to put in it.</a:t>
            </a:r>
          </a:p>
        </p:txBody>
      </p:sp>
      <p:sp>
        <p:nvSpPr>
          <p:cNvPr id="14" name="Rectangle 13"/>
          <p:cNvSpPr/>
          <p:nvPr/>
        </p:nvSpPr>
        <p:spPr>
          <a:xfrm>
            <a:off x="1280160" y="3785615"/>
            <a:ext cx="82296" cy="969264"/>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4956048"/>
            <a:ext cx="11091672" cy="859536"/>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000" b="1" i="0">
                <a:solidFill>
                  <a:srgbClr val="FFFFFF"/>
                </a:solidFill>
                <a:latin typeface="Cambria"/>
              </a:rPr>
              <a:t>Level 3 achieved · foundation for Level 4 established</a:t>
            </a:r>
          </a:p>
          <a:p>
            <a:pPr algn="ctr">
              <a:spcBef>
                <a:spcPts val="600"/>
              </a:spcBef>
            </a:pPr>
            <a:r>
              <a:rPr sz="1300" b="0" i="0">
                <a:solidFill>
                  <a:srgbClr val="FFFFFF"/>
                </a:solidFill>
                <a:latin typeface="Calibri"/>
              </a:rPr>
              <a:t>A persistent, domain-aware workspace — and the right tool per step, chained.</a:t>
            </a:r>
          </a:p>
        </p:txBody>
      </p:sp>
      <p:sp>
        <p:nvSpPr>
          <p:cNvPr id="16" name="TextBox 15"/>
          <p:cNvSpPr txBox="1"/>
          <p:nvPr/>
        </p:nvSpPr>
        <p:spPr>
          <a:xfrm>
            <a:off x="548640" y="5907024"/>
            <a:ext cx="11091672" cy="365760"/>
          </a:xfrm>
          <a:prstGeom prst="rect">
            <a:avLst/>
          </a:prstGeom>
          <a:noFill/>
        </p:spPr>
        <p:txBody>
          <a:bodyPr wrap="square">
            <a:spAutoFit/>
          </a:bodyPr>
          <a:lstStyle/>
          <a:p>
            <a:pPr algn="l"/>
            <a:r>
              <a:rPr sz="1150" b="0" i="1">
                <a:solidFill>
                  <a:srgbClr val="6B747D"/>
                </a:solidFill>
                <a:latin typeface="Calibri"/>
              </a:rPr>
              <a:t>Nobody reaches a level by owning a tool. Level 3 is a workspace you work inside; Level 4 is a chain you can explain.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Effort and where the work is shown</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52144"/>
            <a:ext cx="11091672" cy="365760"/>
          </a:xfrm>
          <a:prstGeom prst="rect">
            <a:avLst/>
          </a:prstGeom>
          <a:noFill/>
        </p:spPr>
        <p:txBody>
          <a:bodyPr wrap="square">
            <a:spAutoFit/>
          </a:bodyPr>
          <a:lstStyle/>
          <a:p>
            <a:pPr algn="l"/>
            <a:r>
              <a:rPr sz="1300" b="0" i="0">
                <a:solidFill>
                  <a:srgbClr val="6B747D"/>
                </a:solidFill>
                <a:latin typeface="Calibri"/>
              </a:rPr>
              <a:t>Two weeks, the blueprint first — and two places where the work gets looked at</a:t>
            </a:r>
          </a:p>
        </p:txBody>
      </p:sp>
      <p:sp>
        <p:nvSpPr>
          <p:cNvPr id="6" name="Rectangle 5"/>
          <p:cNvSpPr/>
          <p:nvPr/>
        </p:nvSpPr>
        <p:spPr>
          <a:xfrm>
            <a:off x="548640" y="1481328"/>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46304" rIns="228600" rtlCol="0" anchor="t"/>
          <a:lstStyle/>
          <a:p>
            <a:pPr algn="l"/>
            <a:r>
              <a:rPr sz="1800" b="1" i="0">
                <a:solidFill>
                  <a:srgbClr val="1C242B"/>
                </a:solidFill>
                <a:latin typeface="Cambria"/>
              </a:rPr>
              <a:t>3–4 hours across the two weeks</a:t>
            </a:r>
          </a:p>
          <a:p>
            <a:pPr algn="l">
              <a:spcBef>
                <a:spcPts val="400"/>
              </a:spcBef>
            </a:pPr>
            <a:r>
              <a:rPr sz="1400" b="0" i="0">
                <a:solidFill>
                  <a:srgbClr val="2A333B"/>
                </a:solidFill>
                <a:latin typeface="Calibri"/>
              </a:rPr>
              <a:t>The blueprint first, then the presentation. Eight steps is the recommended route, not a quota: only step 2 is required, and only if your material contains sensitive data. Twenty minutes at a time beats one long Sunday.</a:t>
            </a:r>
          </a:p>
        </p:txBody>
      </p:sp>
      <p:sp>
        <p:nvSpPr>
          <p:cNvPr id="7" name="Rectangle 6"/>
          <p:cNvSpPr/>
          <p:nvPr/>
        </p:nvSpPr>
        <p:spPr>
          <a:xfrm>
            <a:off x="548640" y="14813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99632" y="1481328"/>
            <a:ext cx="5440680"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46304" rIns="228600" rtlCol="0" anchor="t"/>
          <a:lstStyle/>
          <a:p>
            <a:pPr algn="l"/>
            <a:r>
              <a:rPr sz="1800" b="1" i="0">
                <a:solidFill>
                  <a:srgbClr val="1C242B"/>
                </a:solidFill>
                <a:latin typeface="Cambria"/>
              </a:rPr>
              <a:t>Where the work is shown</a:t>
            </a:r>
          </a:p>
          <a:p>
            <a:pPr>
              <a:spcBef>
                <a:spcPts val="500"/>
              </a:spcBef>
            </a:pPr>
            <a:r>
              <a:rPr sz="1250" b="0" i="0">
                <a:solidFill>
                  <a:srgbClr val="2A333B"/>
                </a:solidFill>
                <a:latin typeface="Calibri"/>
              </a:rPr>
              <a:t>·  Practice Week 1's drop-in (W3) — troubleshooting a half-built chain</a:t>
            </a:r>
          </a:p>
          <a:p>
            <a:pPr>
              <a:spcBef>
                <a:spcPts val="500"/>
              </a:spcBef>
            </a:pPr>
            <a:r>
              <a:rPr sz="1250" b="0" i="0">
                <a:solidFill>
                  <a:srgbClr val="2A333B"/>
                </a:solidFill>
                <a:latin typeface="Calibri"/>
              </a:rPr>
              <a:t>·  The Lesson 3 debrief (W4) — 2–3 volunteers present blueprint and presentation</a:t>
            </a:r>
          </a:p>
        </p:txBody>
      </p:sp>
      <p:sp>
        <p:nvSpPr>
          <p:cNvPr id="9" name="Rectangle 8"/>
          <p:cNvSpPr/>
          <p:nvPr/>
        </p:nvSpPr>
        <p:spPr>
          <a:xfrm>
            <a:off x="6199632" y="14813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3035808"/>
            <a:ext cx="11091672" cy="365760"/>
          </a:xfrm>
          <a:prstGeom prst="rect">
            <a:avLst/>
          </a:prstGeom>
          <a:noFill/>
        </p:spPr>
        <p:txBody>
          <a:bodyPr wrap="square">
            <a:spAutoFit/>
          </a:bodyPr>
          <a:lstStyle/>
          <a:p>
            <a:pPr algn="l"/>
            <a:r>
              <a:rPr sz="1100" b="0" i="0">
                <a:solidFill>
                  <a:srgbClr val="6B747D"/>
                </a:solidFill>
                <a:latin typeface="Calibri"/>
              </a:rPr>
              <a:t>What “done” looks like</a:t>
            </a:r>
          </a:p>
        </p:txBody>
      </p:sp>
      <p:sp>
        <p:nvSpPr>
          <p:cNvPr id="11" name="Rectangle 10"/>
          <p:cNvSpPr/>
          <p:nvPr/>
        </p:nvSpPr>
        <p:spPr>
          <a:xfrm>
            <a:off x="548640" y="3310128"/>
            <a:ext cx="3557016"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A blueprint you can follow</a:t>
            </a:r>
          </a:p>
          <a:p>
            <a:pPr>
              <a:spcBef>
                <a:spcPts val="300"/>
              </a:spcBef>
            </a:pPr>
            <a:r>
              <a:rPr sz="1150" b="0" i="0">
                <a:solidFill>
                  <a:srgbClr val="2A333B"/>
                </a:solidFill>
                <a:latin typeface="Calibri"/>
              </a:rPr>
              <a:t>Every step you ran says what went in, what came out and which tool ran it. Every step you skipped or changed says why. The chain is drawn, not just listed.</a:t>
            </a:r>
          </a:p>
        </p:txBody>
      </p:sp>
      <p:sp>
        <p:nvSpPr>
          <p:cNvPr id="12" name="Rectangle 11"/>
          <p:cNvSpPr/>
          <p:nvPr/>
        </p:nvSpPr>
        <p:spPr>
          <a:xfrm>
            <a:off x="548640" y="33101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15968" y="3310128"/>
            <a:ext cx="3557016"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A presentation that teaches</a:t>
            </a:r>
          </a:p>
          <a:p>
            <a:pPr>
              <a:spcBef>
                <a:spcPts val="300"/>
              </a:spcBef>
            </a:pPr>
            <a:r>
              <a:rPr sz="1150" b="0" i="0">
                <a:solidFill>
                  <a:srgbClr val="2A333B"/>
                </a:solidFill>
                <a:latin typeface="Calibri"/>
              </a:rPr>
              <a:t>It serves three stated learning outcomes, and carries the learning material from step 6 if you ran it: an explanation, flashcards and a quiz.</a:t>
            </a:r>
          </a:p>
        </p:txBody>
      </p:sp>
      <p:sp>
        <p:nvSpPr>
          <p:cNvPr id="14" name="Rectangle 13"/>
          <p:cNvSpPr/>
          <p:nvPr/>
        </p:nvSpPr>
        <p:spPr>
          <a:xfrm>
            <a:off x="4315968" y="33101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83296" y="3310128"/>
            <a:ext cx="3557016" cy="1389888"/>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37744" tIns="128016" rIns="182880" bIns="36576" rtlCol="0" anchor="t"/>
          <a:lstStyle/>
          <a:p>
            <a:pPr algn="l"/>
            <a:r>
              <a:rPr sz="1300" b="1" i="0">
                <a:solidFill>
                  <a:srgbClr val="1C242B"/>
                </a:solidFill>
                <a:latin typeface="Cambria"/>
              </a:rPr>
              <a:t>An AI-use log</a:t>
            </a:r>
          </a:p>
          <a:p>
            <a:pPr>
              <a:spcBef>
                <a:spcPts val="300"/>
              </a:spcBef>
            </a:pPr>
            <a:r>
              <a:rPr sz="1150" b="0" i="0">
                <a:solidFill>
                  <a:srgbClr val="2A333B"/>
                </a:solidFill>
                <a:latin typeface="Calibri"/>
              </a:rPr>
              <a:t>Tool, date and purpose per step, ending up as the declaration on the presentation's last slide.</a:t>
            </a:r>
          </a:p>
        </p:txBody>
      </p:sp>
      <p:sp>
        <p:nvSpPr>
          <p:cNvPr id="16" name="Rectangle 15"/>
          <p:cNvSpPr/>
          <p:nvPr/>
        </p:nvSpPr>
        <p:spPr>
          <a:xfrm>
            <a:off x="8083296" y="3310128"/>
            <a:ext cx="82296" cy="1389888"/>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4901184"/>
            <a:ext cx="11091672" cy="78638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1900" b="1" i="0">
                <a:solidFill>
                  <a:srgbClr val="FFFFFF"/>
                </a:solidFill>
                <a:latin typeface="Cambria"/>
              </a:rPr>
              <a:t>A chain does not inherit a lane from its first step</a:t>
            </a:r>
          </a:p>
          <a:p>
            <a:pPr algn="ctr">
              <a:spcBef>
                <a:spcPts val="600"/>
              </a:spcBef>
            </a:pPr>
            <a:r>
              <a:rPr sz="1300" b="0" i="0">
                <a:solidFill>
                  <a:srgbClr val="FFFFFF"/>
                </a:solidFill>
                <a:latin typeface="Calibri"/>
              </a:rPr>
              <a:t>Every step is routed on its own — and nothing that skipped step 2 goes into Canva or genspark.ai.</a:t>
            </a:r>
          </a:p>
        </p:txBody>
      </p:sp>
      <p:sp>
        <p:nvSpPr>
          <p:cNvPr id="18" name="TextBox 17"/>
          <p:cNvSpPr txBox="1"/>
          <p:nvPr/>
        </p:nvSpPr>
        <p:spPr>
          <a:xfrm>
            <a:off x="548640" y="5833872"/>
            <a:ext cx="11091672" cy="365760"/>
          </a:xfrm>
          <a:prstGeom prst="rect">
            <a:avLst/>
          </a:prstGeom>
          <a:noFill/>
        </p:spPr>
        <p:txBody>
          <a:bodyPr wrap="square">
            <a:spAutoFit/>
          </a:bodyPr>
          <a:lstStyle/>
          <a:p>
            <a:pPr algn="ctr"/>
            <a:r>
              <a:rPr sz="1150" b="0" i="1">
                <a:solidFill>
                  <a:srgbClr val="6B747D"/>
                </a:solidFill>
                <a:latin typeface="Calibri"/>
              </a:rPr>
              <a:t>Stuck on a step? That is what Practice Week 1's drop-in is for — bring the blueprint even if nothing runs yet.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11091672" cy="640080"/>
          </a:xfrm>
          <a:prstGeom prst="rect">
            <a:avLst/>
          </a:prstGeom>
          <a:noFill/>
        </p:spPr>
        <p:txBody>
          <a:bodyPr wrap="square" anchor="b">
            <a:spAutoFit/>
          </a:bodyPr>
          <a:lstStyle/>
          <a:p>
            <a:pPr algn="l"/>
            <a:r>
              <a:rPr sz="2800" b="1" i="0">
                <a:solidFill>
                  <a:srgbClr val="1C242B"/>
                </a:solidFill>
                <a:latin typeface="Cambria"/>
              </a:rPr>
              <a:t>Next: Practice Week 1 and Lesson 3</a:t>
            </a:r>
          </a:p>
        </p:txBody>
      </p:sp>
      <p:sp>
        <p:nvSpPr>
          <p:cNvPr id="3" name="Rectangle 2"/>
          <p:cNvSpPr/>
          <p:nvPr/>
        </p:nvSpPr>
        <p:spPr>
          <a:xfrm>
            <a:off x="548640" y="1106424"/>
            <a:ext cx="11091672" cy="12700"/>
          </a:xfrm>
          <a:prstGeom prst="rect">
            <a:avLst/>
          </a:prstGeom>
          <a:solidFill>
            <a:srgbClr val="D8D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88136"/>
            <a:ext cx="1097280" cy="381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188720"/>
            <a:ext cx="11091672" cy="365760"/>
          </a:xfrm>
          <a:prstGeom prst="rect">
            <a:avLst/>
          </a:prstGeom>
          <a:noFill/>
        </p:spPr>
        <p:txBody>
          <a:bodyPr wrap="square">
            <a:spAutoFit/>
          </a:bodyPr>
          <a:lstStyle/>
          <a:p>
            <a:pPr algn="l"/>
            <a:r>
              <a:rPr sz="1300" b="0" i="0">
                <a:solidFill>
                  <a:srgbClr val="6B747D"/>
                </a:solidFill>
                <a:latin typeface="Calibri"/>
              </a:rPr>
              <a:t>No new material next week. The week after, the first piece of the system this course is building</a:t>
            </a:r>
          </a:p>
        </p:txBody>
      </p:sp>
      <p:sp>
        <p:nvSpPr>
          <p:cNvPr id="6" name="Rectangle 5"/>
          <p:cNvSpPr/>
          <p:nvPr/>
        </p:nvSpPr>
        <p:spPr>
          <a:xfrm>
            <a:off x="548640" y="1700784"/>
            <a:ext cx="5440680" cy="182880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64592" rIns="228600" rtlCol="0" anchor="t"/>
          <a:lstStyle/>
          <a:p>
            <a:pPr algn="l"/>
            <a:r>
              <a:rPr sz="1800" b="1" i="0">
                <a:solidFill>
                  <a:srgbClr val="1C242B"/>
                </a:solidFill>
                <a:latin typeface="Cambria"/>
              </a:rPr>
              <a:t>Practice Week 1 · W3</a:t>
            </a:r>
          </a:p>
          <a:p>
            <a:pPr>
              <a:spcBef>
                <a:spcPts val="500"/>
              </a:spcBef>
            </a:pPr>
            <a:r>
              <a:rPr sz="1300" b="0" i="0">
                <a:solidFill>
                  <a:srgbClr val="2A333B"/>
                </a:solidFill>
                <a:latin typeface="Calibri"/>
              </a:rPr>
              <a:t>·  An optional, facilitated drop-in — no new material, and no obligation to come</a:t>
            </a:r>
          </a:p>
          <a:p>
            <a:pPr>
              <a:spcBef>
                <a:spcPts val="500"/>
              </a:spcBef>
            </a:pPr>
            <a:r>
              <a:rPr sz="1300" b="0" i="0">
                <a:solidFill>
                  <a:srgbClr val="2A333B"/>
                </a:solidFill>
                <a:latin typeface="Calibri"/>
              </a:rPr>
              <a:t>·  Bring the blueprint and the lane questions it raised</a:t>
            </a:r>
          </a:p>
          <a:p>
            <a:pPr>
              <a:spcBef>
                <a:spcPts val="500"/>
              </a:spcBef>
            </a:pPr>
            <a:r>
              <a:rPr sz="1300" b="0" i="0">
                <a:solidFill>
                  <a:srgbClr val="2A333B"/>
                </a:solidFill>
                <a:latin typeface="Calibri"/>
              </a:rPr>
              <a:t>·  Bring any Gemini free-tier surprise you hit — that is what the hour is for</a:t>
            </a:r>
          </a:p>
        </p:txBody>
      </p:sp>
      <p:sp>
        <p:nvSpPr>
          <p:cNvPr id="7" name="Rectangle 6"/>
          <p:cNvSpPr/>
          <p:nvPr/>
        </p:nvSpPr>
        <p:spPr>
          <a:xfrm>
            <a:off x="548640" y="1700784"/>
            <a:ext cx="82296" cy="18288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199632" y="1700784"/>
            <a:ext cx="5440680" cy="1828800"/>
          </a:xfrm>
          <a:prstGeom prst="rect">
            <a:avLst/>
          </a:prstGeom>
          <a:solidFill>
            <a:srgbClr val="FFFFFF"/>
          </a:solidFill>
          <a:ln w="12700">
            <a:solidFill>
              <a:srgbClr val="D8D2C6"/>
            </a:solidFill>
          </a:ln>
          <a:effectLst/>
        </p:spPr>
        <p:style>
          <a:lnRef idx="1">
            <a:schemeClr val="accent1"/>
          </a:lnRef>
          <a:fillRef idx="3">
            <a:schemeClr val="accent1"/>
          </a:fillRef>
          <a:effectRef idx="2">
            <a:schemeClr val="accent1"/>
          </a:effectRef>
          <a:fontRef idx="minor">
            <a:schemeClr val="lt1"/>
          </a:fontRef>
        </p:style>
        <p:txBody>
          <a:bodyPr wrap="square" lIns="274320" tIns="164592" rIns="228600" rtlCol="0" anchor="t"/>
          <a:lstStyle/>
          <a:p>
            <a:pPr algn="l"/>
            <a:r>
              <a:rPr sz="1800" b="1" i="0">
                <a:solidFill>
                  <a:srgbClr val="1C242B"/>
                </a:solidFill>
                <a:latin typeface="Cambria"/>
              </a:rPr>
              <a:t>Lesson 3 · W4</a:t>
            </a:r>
          </a:p>
          <a:p>
            <a:pPr>
              <a:spcBef>
                <a:spcPts val="500"/>
              </a:spcBef>
            </a:pPr>
            <a:r>
              <a:rPr sz="1300" b="0" i="0">
                <a:solidFill>
                  <a:srgbClr val="2A333B"/>
                </a:solidFill>
                <a:latin typeface="Calibri"/>
              </a:rPr>
              <a:t>·  NotebookLM properly, not at scenario level</a:t>
            </a:r>
          </a:p>
          <a:p>
            <a:pPr>
              <a:spcBef>
                <a:spcPts val="500"/>
              </a:spcBef>
            </a:pPr>
            <a:r>
              <a:rPr sz="1300" b="0" i="0">
                <a:solidFill>
                  <a:srgbClr val="2A333B"/>
                </a:solidFill>
                <a:latin typeface="Calibri"/>
              </a:rPr>
              <a:t>·  Perplexity for cited research you can trace back to a source</a:t>
            </a:r>
          </a:p>
          <a:p>
            <a:pPr>
              <a:spcBef>
                <a:spcPts val="500"/>
              </a:spcBef>
            </a:pPr>
            <a:r>
              <a:rPr sz="1300" b="0" i="0">
                <a:solidFill>
                  <a:srgbClr val="2A333B"/>
                </a:solidFill>
                <a:latin typeface="Calibri"/>
              </a:rPr>
              <a:t>·  The Wiki Sandbox — the first piece of your KM System, and what the rest of the course is built on</a:t>
            </a:r>
          </a:p>
        </p:txBody>
      </p:sp>
      <p:sp>
        <p:nvSpPr>
          <p:cNvPr id="9" name="Rectangle 8"/>
          <p:cNvSpPr/>
          <p:nvPr/>
        </p:nvSpPr>
        <p:spPr>
          <a:xfrm>
            <a:off x="6199632" y="1700784"/>
            <a:ext cx="82296" cy="1828800"/>
          </a:xfrm>
          <a:prstGeom prst="rect">
            <a:avLst/>
          </a:prstGeom>
          <a:solidFill>
            <a:srgbClr val="3E4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4069080"/>
            <a:ext cx="11091672" cy="969264"/>
          </a:xfrm>
          <a:prstGeom prst="rect">
            <a:avLst/>
          </a:prstGeom>
          <a:solidFill>
            <a:srgbClr val="1C242B"/>
          </a:solidFill>
          <a:ln>
            <a:noFill/>
          </a:ln>
          <a:effectLst/>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r>
              <a:rPr sz="2100" b="1" i="0">
                <a:solidFill>
                  <a:srgbClr val="FFFFFF"/>
                </a:solidFill>
                <a:latin typeface="Cambria"/>
              </a:rPr>
              <a:t>A workflow you can explain, step by step</a:t>
            </a:r>
          </a:p>
          <a:p>
            <a:pPr algn="ctr">
              <a:spcBef>
                <a:spcPts val="600"/>
              </a:spcBef>
            </a:pPr>
            <a:r>
              <a:rPr sz="1300" b="0" i="0">
                <a:solidFill>
                  <a:srgbClr val="FFFFFF"/>
                </a:solidFill>
                <a:latin typeface="Calibri"/>
              </a:rPr>
              <a:t>Bring the blueprint to the drop-in, and the whole chain to the Lesson 3 debrief.</a:t>
            </a:r>
          </a:p>
        </p:txBody>
      </p:sp>
      <p:sp>
        <p:nvSpPr>
          <p:cNvPr id="11" name="TextBox 10"/>
          <p:cNvSpPr txBox="1"/>
          <p:nvPr/>
        </p:nvSpPr>
        <p:spPr>
          <a:xfrm>
            <a:off x="548640" y="5303520"/>
            <a:ext cx="11091672" cy="365760"/>
          </a:xfrm>
          <a:prstGeom prst="rect">
            <a:avLst/>
          </a:prstGeom>
          <a:noFill/>
        </p:spPr>
        <p:txBody>
          <a:bodyPr wrap="square">
            <a:spAutoFit/>
          </a:bodyPr>
          <a:lstStyle/>
          <a:p>
            <a:pPr algn="ctr"/>
            <a:r>
              <a:rPr sz="1300" b="0" i="1">
                <a:solidFill>
                  <a:srgbClr val="6B747D"/>
                </a:solidFill>
                <a:latin typeface="Calibri"/>
              </a:rPr>
              <a:t>Questions now — the roadmap stays 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C242B"/>
      </a:dk2>
      <a:lt2>
        <a:srgbClr val="EEECE1"/>
      </a:lt2>
      <a:accent1>
        <a:srgbClr val="0E7C7B"/>
      </a:accent1>
      <a:accent2>
        <a:srgbClr val="6A4CBC"/>
      </a:accent2>
      <a:accent3>
        <a:srgbClr val="9BBB59"/>
      </a:accent3>
      <a:accent4>
        <a:srgbClr val="8064A2"/>
      </a:accent4>
      <a:accent5>
        <a:srgbClr val="4BACC6"/>
      </a:accent5>
      <a:accent6>
        <a:srgbClr val="F79646"/>
      </a:accent6>
      <a:hlink>
        <a:srgbClr val="3E4C59"/>
      </a:hlink>
      <a:folHlink>
        <a:srgbClr val="3E4C59"/>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17209</Words>
  <Application>Microsoft Office PowerPoint</Application>
  <PresentationFormat>Szélesvásznú</PresentationFormat>
  <Paragraphs>1026</Paragraphs>
  <Slides>46</Slides>
  <Notes>40</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46</vt:i4>
      </vt:variant>
    </vt:vector>
  </HeadingPairs>
  <TitlesOfParts>
    <vt:vector size="51" baseType="lpstr">
      <vt:lpstr>Aptos</vt:lpstr>
      <vt:lpstr>Arial</vt:lpstr>
      <vt:lpstr>Calibri</vt:lpstr>
      <vt:lpstr>Cambria</vt:lpstr>
      <vt:lpstr>Office Theme</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József Kiss</cp:lastModifiedBy>
  <cp:revision>1</cp:revision>
  <dcterms:created xsi:type="dcterms:W3CDTF">2013-01-27T09:14:16Z</dcterms:created>
  <dcterms:modified xsi:type="dcterms:W3CDTF">2026-09-13T14:35:24Z</dcterms:modified>
  <cp:category/>
</cp:coreProperties>
</file>