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5" r:id="rId9"/>
    <p:sldId id="300" r:id="rId10"/>
    <p:sldId id="301" r:id="rId11"/>
    <p:sldId id="302" r:id="rId12"/>
    <p:sldId id="303"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304" r:id="rId40"/>
    <p:sldId id="305" r:id="rId41"/>
    <p:sldId id="306" r:id="rId42"/>
    <p:sldId id="307" r:id="rId43"/>
    <p:sldId id="292" r:id="rId44"/>
    <p:sldId id="297" r:id="rId45"/>
    <p:sldId id="298" r:id="rId46"/>
    <p:sldId id="299" r:id="rId47"/>
  </p:sldIdLst>
  <p:sldSz cx="13716000" cy="7715250"/>
  <p:notesSz cx="771525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9" d="100"/>
          <a:sy n="99" d="100"/>
        </p:scale>
        <p:origin x="52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5050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whole segment: data safety and ethical use are one framework, and the institution has already written it down.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practices, not four theories — each one is something you do before the prompt.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principles; the institution puts critical checking of every output first.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read out. The deck goes into the Teams channel, so the reading list travels with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assignment on one slide. Only step 2 is required, and only when the material contains sensitive data. Prompt Coach sits beside the chain, not in it.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to 3: fix the topic, anonymise your own material, research what it does not cover. Step 2 is the only required step.</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4 to 6: collect the coverage, draft the outline in a Gem, add the learning material in Study and Learn.</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7 and 8: visuals, then the deck. Prompt Coach runs beside any step between 3 and 6.</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Inter"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Inter"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Inter"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Inter"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Inter"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Inter"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Inter"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Inter"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Inter"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4.svg"/><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2.svg"/><Relationship Id="rId5" Type="http://schemas.openxmlformats.org/officeDocument/2006/relationships/image" Target="../media/image21.sv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svg"/></Relationships>
</file>

<file path=ppt/slides/_rels/slide1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29.svg"/></Relationships>
</file>

<file path=ppt/slides/_rels/slide16.xml.rels><?xml version="1.0" encoding="UTF-8" standalone="yes"?>
<Relationships xmlns="http://schemas.openxmlformats.org/package/2006/relationships"><Relationship Id="rId3" Type="http://schemas.openxmlformats.org/officeDocument/2006/relationships/image" Target="../media/image34.svg"/><Relationship Id="rId7" Type="http://schemas.openxmlformats.org/officeDocument/2006/relationships/image" Target="../media/image38.sv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7.svg"/><Relationship Id="rId5" Type="http://schemas.openxmlformats.org/officeDocument/2006/relationships/image" Target="../media/image36.svg"/><Relationship Id="rId4" Type="http://schemas.openxmlformats.org/officeDocument/2006/relationships/image" Target="../media/image35.svg"/></Relationships>
</file>

<file path=ppt/slides/_rels/slide17.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0.svg"/></Relationships>
</file>

<file path=ppt/slides/_rels/slide18.xml.rels><?xml version="1.0" encoding="UTF-8" standalone="yes"?>
<Relationships xmlns="http://schemas.openxmlformats.org/package/2006/relationships"><Relationship Id="rId3" Type="http://schemas.openxmlformats.org/officeDocument/2006/relationships/image" Target="../media/image41.svg"/><Relationship Id="rId7" Type="http://schemas.openxmlformats.org/officeDocument/2006/relationships/image" Target="../media/image45.sv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4.svg"/><Relationship Id="rId5" Type="http://schemas.openxmlformats.org/officeDocument/2006/relationships/image" Target="../media/image43.svg"/><Relationship Id="rId4" Type="http://schemas.openxmlformats.org/officeDocument/2006/relationships/image" Target="../media/image42.svg"/></Relationships>
</file>

<file path=ppt/slides/_rels/slide19.xml.rels><?xml version="1.0" encoding="UTF-8" standalone="yes"?>
<Relationships xmlns="http://schemas.openxmlformats.org/package/2006/relationships"><Relationship Id="rId3" Type="http://schemas.openxmlformats.org/officeDocument/2006/relationships/image" Target="../media/image46.svg"/><Relationship Id="rId7" Type="http://schemas.openxmlformats.org/officeDocument/2006/relationships/image" Target="../media/image50.sv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9.svg"/><Relationship Id="rId5" Type="http://schemas.openxmlformats.org/officeDocument/2006/relationships/image" Target="../media/image48.svg"/><Relationship Id="rId4" Type="http://schemas.openxmlformats.org/officeDocument/2006/relationships/image" Target="../media/image47.svg"/></Relationships>
</file>

<file path=ppt/slides/_rels/slide20.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4.svg"/><Relationship Id="rId5" Type="http://schemas.openxmlformats.org/officeDocument/2006/relationships/image" Target="../media/image53.svg"/><Relationship Id="rId4" Type="http://schemas.openxmlformats.org/officeDocument/2006/relationships/image" Target="../media/image52.svg"/></Relationships>
</file>

<file path=ppt/slides/_rels/slide21.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55.svg"/><Relationship Id="rId7" Type="http://schemas.openxmlformats.org/officeDocument/2006/relationships/image" Target="../media/image59.sv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8.svg"/><Relationship Id="rId5" Type="http://schemas.openxmlformats.org/officeDocument/2006/relationships/image" Target="../media/image57.svg"/><Relationship Id="rId10" Type="http://schemas.openxmlformats.org/officeDocument/2006/relationships/image" Target="../media/image62.svg"/><Relationship Id="rId4" Type="http://schemas.openxmlformats.org/officeDocument/2006/relationships/image" Target="../media/image56.svg"/><Relationship Id="rId9" Type="http://schemas.openxmlformats.org/officeDocument/2006/relationships/image" Target="../media/image61.svg"/></Relationships>
</file>

<file path=ppt/slides/_rels/slide22.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4.svg"/><Relationship Id="rId7" Type="http://schemas.openxmlformats.org/officeDocument/2006/relationships/image" Target="../media/image68.sv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67.svg"/><Relationship Id="rId5" Type="http://schemas.openxmlformats.org/officeDocument/2006/relationships/image" Target="../media/image66.svg"/><Relationship Id="rId4" Type="http://schemas.openxmlformats.org/officeDocument/2006/relationships/image" Target="../media/image65.svg"/></Relationships>
</file>

<file path=ppt/slides/_rels/slide24.xml.rels><?xml version="1.0" encoding="UTF-8" standalone="yes"?>
<Relationships xmlns="http://schemas.openxmlformats.org/package/2006/relationships"><Relationship Id="rId3" Type="http://schemas.openxmlformats.org/officeDocument/2006/relationships/image" Target="../media/image69.svg"/><Relationship Id="rId7" Type="http://schemas.openxmlformats.org/officeDocument/2006/relationships/image" Target="../media/image73.sv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72.svg"/><Relationship Id="rId5" Type="http://schemas.openxmlformats.org/officeDocument/2006/relationships/image" Target="../media/image71.svg"/><Relationship Id="rId4" Type="http://schemas.openxmlformats.org/officeDocument/2006/relationships/image" Target="../media/image70.svg"/></Relationships>
</file>

<file path=ppt/slides/_rels/slide25.xml.rels><?xml version="1.0" encoding="UTF-8" standalone="yes"?>
<Relationships xmlns="http://schemas.openxmlformats.org/package/2006/relationships"><Relationship Id="rId3" Type="http://schemas.openxmlformats.org/officeDocument/2006/relationships/image" Target="../media/image74.svg"/><Relationship Id="rId7" Type="http://schemas.openxmlformats.org/officeDocument/2006/relationships/image" Target="../media/image78.sv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77.svg"/><Relationship Id="rId5" Type="http://schemas.openxmlformats.org/officeDocument/2006/relationships/image" Target="../media/image76.svg"/><Relationship Id="rId4" Type="http://schemas.openxmlformats.org/officeDocument/2006/relationships/image" Target="../media/image75.svg"/></Relationships>
</file>

<file path=ppt/slides/_rels/slide26.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79.svg"/><Relationship Id="rId7" Type="http://schemas.openxmlformats.org/officeDocument/2006/relationships/image" Target="../media/image82.sv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81.svg"/><Relationship Id="rId5" Type="http://schemas.openxmlformats.org/officeDocument/2006/relationships/image" Target="../media/image80.svg"/><Relationship Id="rId4" Type="http://schemas.openxmlformats.org/officeDocument/2006/relationships/hyperlink" Target="https://gemini.google.com/gems/"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84.svg"/><Relationship Id="rId7" Type="http://schemas.openxmlformats.org/officeDocument/2006/relationships/image" Target="../media/image88.sv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87.svg"/><Relationship Id="rId5" Type="http://schemas.openxmlformats.org/officeDocument/2006/relationships/image" Target="../media/image86.svg"/><Relationship Id="rId4" Type="http://schemas.openxmlformats.org/officeDocument/2006/relationships/image" Target="../media/image85.svg"/></Relationships>
</file>

<file path=ppt/slides/_rels/slide28.xml.rels><?xml version="1.0" encoding="UTF-8" standalone="yes"?>
<Relationships xmlns="http://schemas.openxmlformats.org/package/2006/relationships"><Relationship Id="rId3" Type="http://schemas.openxmlformats.org/officeDocument/2006/relationships/image" Target="../media/image89.svg"/><Relationship Id="rId7" Type="http://schemas.openxmlformats.org/officeDocument/2006/relationships/image" Target="../media/image93.sv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92.svg"/><Relationship Id="rId5" Type="http://schemas.openxmlformats.org/officeDocument/2006/relationships/image" Target="../media/image91.svg"/><Relationship Id="rId4" Type="http://schemas.openxmlformats.org/officeDocument/2006/relationships/image" Target="../media/image90.svg"/></Relationships>
</file>

<file path=ppt/slides/_rels/slide29.xml.rels><?xml version="1.0" encoding="UTF-8" standalone="yes"?>
<Relationships xmlns="http://schemas.openxmlformats.org/package/2006/relationships"><Relationship Id="rId3" Type="http://schemas.openxmlformats.org/officeDocument/2006/relationships/image" Target="../media/image94.sv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96.svg"/><Relationship Id="rId4" Type="http://schemas.openxmlformats.org/officeDocument/2006/relationships/image" Target="../media/image95.svg"/></Relationships>
</file>

<file path=ppt/slides/_rels/slide30.xml.rels><?xml version="1.0" encoding="UTF-8" standalone="yes"?>
<Relationships xmlns="http://schemas.openxmlformats.org/package/2006/relationships"><Relationship Id="rId3" Type="http://schemas.openxmlformats.org/officeDocument/2006/relationships/image" Target="../media/image97.sv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100.svg"/><Relationship Id="rId5" Type="http://schemas.openxmlformats.org/officeDocument/2006/relationships/image" Target="../media/image99.svg"/><Relationship Id="rId4" Type="http://schemas.openxmlformats.org/officeDocument/2006/relationships/image" Target="../media/image98.svg"/></Relationships>
</file>

<file path=ppt/slides/_rels/slide31.xml.rels><?xml version="1.0" encoding="UTF-8" standalone="yes"?>
<Relationships xmlns="http://schemas.openxmlformats.org/package/2006/relationships"><Relationship Id="rId3" Type="http://schemas.openxmlformats.org/officeDocument/2006/relationships/image" Target="../media/image101.sv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103.svg"/><Relationship Id="rId4" Type="http://schemas.openxmlformats.org/officeDocument/2006/relationships/image" Target="../media/image102.svg"/></Relationships>
</file>

<file path=ppt/slides/_rels/slide32.xml.rels><?xml version="1.0" encoding="UTF-8" standalone="yes"?>
<Relationships xmlns="http://schemas.openxmlformats.org/package/2006/relationships"><Relationship Id="rId3" Type="http://schemas.openxmlformats.org/officeDocument/2006/relationships/image" Target="../media/image104.sv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107.svg"/><Relationship Id="rId5" Type="http://schemas.openxmlformats.org/officeDocument/2006/relationships/image" Target="../media/image106.svg"/><Relationship Id="rId4" Type="http://schemas.openxmlformats.org/officeDocument/2006/relationships/image" Target="../media/image105.svg"/></Relationships>
</file>

<file path=ppt/slides/_rels/slide33.xml.rels><?xml version="1.0" encoding="UTF-8" standalone="yes"?>
<Relationships xmlns="http://schemas.openxmlformats.org/package/2006/relationships"><Relationship Id="rId3" Type="http://schemas.openxmlformats.org/officeDocument/2006/relationships/image" Target="../media/image108.sv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111.svg"/><Relationship Id="rId5" Type="http://schemas.openxmlformats.org/officeDocument/2006/relationships/image" Target="../media/image110.svg"/><Relationship Id="rId4" Type="http://schemas.openxmlformats.org/officeDocument/2006/relationships/image" Target="../media/image109.svg"/></Relationships>
</file>

<file path=ppt/slides/_rels/slide34.xml.rels><?xml version="1.0" encoding="UTF-8" standalone="yes"?>
<Relationships xmlns="http://schemas.openxmlformats.org/package/2006/relationships"><Relationship Id="rId3" Type="http://schemas.openxmlformats.org/officeDocument/2006/relationships/image" Target="../media/image112.sv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114.svg"/><Relationship Id="rId4" Type="http://schemas.openxmlformats.org/officeDocument/2006/relationships/image" Target="../media/image113.svg"/></Relationships>
</file>

<file path=ppt/slides/_rels/slide35.xml.rels><?xml version="1.0" encoding="UTF-8" standalone="yes"?>
<Relationships xmlns="http://schemas.openxmlformats.org/package/2006/relationships"><Relationship Id="rId3" Type="http://schemas.openxmlformats.org/officeDocument/2006/relationships/image" Target="../media/image115.sv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118.svg"/><Relationship Id="rId5" Type="http://schemas.openxmlformats.org/officeDocument/2006/relationships/image" Target="../media/image117.svg"/><Relationship Id="rId4" Type="http://schemas.openxmlformats.org/officeDocument/2006/relationships/image" Target="../media/image116.svg"/></Relationships>
</file>

<file path=ppt/slides/_rels/slide36.xml.rels><?xml version="1.0" encoding="UTF-8" standalone="yes"?>
<Relationships xmlns="http://schemas.openxmlformats.org/package/2006/relationships"><Relationship Id="rId3" Type="http://schemas.openxmlformats.org/officeDocument/2006/relationships/image" Target="../media/image119.sv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121.svg"/><Relationship Id="rId4" Type="http://schemas.openxmlformats.org/officeDocument/2006/relationships/image" Target="../media/image120.svg"/></Relationships>
</file>

<file path=ppt/slides/_rels/slide37.xml.rels><?xml version="1.0" encoding="UTF-8" standalone="yes"?>
<Relationships xmlns="http://schemas.openxmlformats.org/package/2006/relationships"><Relationship Id="rId3" Type="http://schemas.openxmlformats.org/officeDocument/2006/relationships/image" Target="../media/image122.sv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124.svg"/><Relationship Id="rId4" Type="http://schemas.openxmlformats.org/officeDocument/2006/relationships/image" Target="../media/image123.svg"/></Relationships>
</file>

<file path=ppt/slides/_rels/slide38.xml.rels><?xml version="1.0" encoding="UTF-8" standalone="yes"?>
<Relationships xmlns="http://schemas.openxmlformats.org/package/2006/relationships"><Relationship Id="rId3" Type="http://schemas.openxmlformats.org/officeDocument/2006/relationships/image" Target="../media/image125.sv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26.sv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128.svg"/><Relationship Id="rId4" Type="http://schemas.openxmlformats.org/officeDocument/2006/relationships/image" Target="../media/image127.sv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8" Type="http://schemas.openxmlformats.org/officeDocument/2006/relationships/image" Target="../media/image134.svg"/><Relationship Id="rId3" Type="http://schemas.openxmlformats.org/officeDocument/2006/relationships/image" Target="../media/image129.svg"/><Relationship Id="rId7" Type="http://schemas.openxmlformats.org/officeDocument/2006/relationships/image" Target="../media/image133.sv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132.svg"/><Relationship Id="rId5" Type="http://schemas.openxmlformats.org/officeDocument/2006/relationships/image" Target="../media/image131.svg"/><Relationship Id="rId4" Type="http://schemas.openxmlformats.org/officeDocument/2006/relationships/image" Target="../media/image130.svg"/></Relationships>
</file>

<file path=ppt/slides/_rels/slide46.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136.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50000" r="50000" b="100000"/>
            </a:path>
          </a:gradFill>
          <a:ln/>
        </p:spPr>
      </p:sp>
      <p:sp>
        <p:nvSpPr>
          <p:cNvPr id="4" name="Text 2"/>
          <p:cNvSpPr/>
          <p:nvPr/>
        </p:nvSpPr>
        <p:spPr>
          <a:xfrm>
            <a:off x="457200" y="1903991"/>
            <a:ext cx="12801600" cy="800100"/>
          </a:xfrm>
          <a:prstGeom prst="rect">
            <a:avLst/>
          </a:prstGeom>
          <a:noFill/>
          <a:ln/>
        </p:spPr>
        <p:txBody>
          <a:bodyPr wrap="square" lIns="25400" tIns="25400" rIns="25400" bIns="25400" rtlCol="0" anchor="t">
            <a:normAutofit/>
          </a:bodyPr>
          <a:lstStyle/>
          <a:p>
            <a:pPr marL="0" indent="0" algn="ctr">
              <a:lnSpc>
                <a:spcPct val="98000"/>
              </a:lnSpc>
              <a:buNone/>
            </a:pPr>
            <a:r>
              <a:rPr lang="en-US" sz="4800" b="1" kern="1200" spc="-48" dirty="0">
                <a:gradFill rotWithShape="1">
                  <a:gsLst>
                    <a:gs pos="0">
                      <a:srgbClr val="60A5FA">
                        <a:alpha val="100000"/>
                      </a:srgbClr>
                    </a:gs>
                    <a:gs pos="55000">
                      <a:srgbClr val="818CF8">
                        <a:alpha val="100000"/>
                      </a:srgbClr>
                    </a:gs>
                    <a:gs pos="100000">
                      <a:srgbClr val="C4B5FD">
                        <a:alpha val="100000"/>
                      </a:srgbClr>
                    </a:gs>
                  </a:gsLst>
                  <a:lin ang="0" scaled="0"/>
                </a:gradFill>
                <a:latin typeface="Inter"/>
                <a:ea typeface="Inter"/>
                <a:cs typeface="Inter"/>
              </a:rPr>
              <a:t>AI FOR RESEARCH MANAGEMENT</a:t>
            </a:r>
            <a:endParaRPr lang="en-US" sz="4800" dirty="0"/>
          </a:p>
        </p:txBody>
      </p:sp>
      <p:sp>
        <p:nvSpPr>
          <p:cNvPr id="5" name="Text 3"/>
          <p:cNvSpPr/>
          <p:nvPr/>
        </p:nvSpPr>
        <p:spPr>
          <a:xfrm>
            <a:off x="457200" y="2875541"/>
            <a:ext cx="12801600" cy="419100"/>
          </a:xfrm>
          <a:prstGeom prst="rect">
            <a:avLst/>
          </a:prstGeom>
          <a:noFill/>
          <a:ln/>
        </p:spPr>
        <p:txBody>
          <a:bodyPr wrap="square" lIns="25400" tIns="25400" rIns="25400" bIns="25400" rtlCol="0" anchor="t">
            <a:normAutofit/>
          </a:bodyPr>
          <a:lstStyle/>
          <a:p>
            <a:pPr marL="0" indent="0" algn="ctr">
              <a:lnSpc>
                <a:spcPct val="105000"/>
              </a:lnSpc>
              <a:buNone/>
            </a:pPr>
            <a:r>
              <a:rPr lang="en-US" sz="2200" kern="1200" spc="-22" dirty="0">
                <a:solidFill>
                  <a:srgbClr val="CBD5E1"/>
                </a:solidFill>
                <a:latin typeface="Inter"/>
                <a:ea typeface="Inter"/>
                <a:cs typeface="Inter"/>
              </a:rPr>
              <a:t>Lesson 2 — The Two-Lane Tool Landscape</a:t>
            </a:r>
            <a:endParaRPr lang="en-US" sz="2200" dirty="0"/>
          </a:p>
        </p:txBody>
      </p:sp>
      <p:sp>
        <p:nvSpPr>
          <p:cNvPr id="6" name="Shape 4"/>
          <p:cNvSpPr/>
          <p:nvPr/>
        </p:nvSpPr>
        <p:spPr>
          <a:xfrm>
            <a:off x="4381500" y="3542291"/>
            <a:ext cx="4953000" cy="304800"/>
          </a:xfrm>
          <a:prstGeom prst="roundRect">
            <a:avLst>
              <a:gd name="adj" fmla="val 50000"/>
            </a:avLst>
          </a:prstGeom>
          <a:solidFill>
            <a:srgbClr val="3B82F6">
              <a:alpha val="14000"/>
            </a:srgbClr>
          </a:solidFill>
          <a:ln w="10583">
            <a:solidFill>
              <a:srgbClr val="3B82F6">
                <a:alpha val="35000"/>
              </a:srgbClr>
            </a:solidFill>
            <a:prstDash val="solid"/>
          </a:ln>
        </p:spPr>
      </p:sp>
      <p:sp>
        <p:nvSpPr>
          <p:cNvPr id="7" name="Text 5"/>
          <p:cNvSpPr/>
          <p:nvPr/>
        </p:nvSpPr>
        <p:spPr>
          <a:xfrm>
            <a:off x="4533900" y="3537529"/>
            <a:ext cx="46482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60A5FA"/>
                </a:solidFill>
                <a:latin typeface="Inter"/>
                <a:ea typeface="Inter"/>
                <a:cs typeface="Inter"/>
              </a:rPr>
              <a:t>Week 2 · Teaching Session · 60 minutes · Online via Teams</a:t>
            </a:r>
            <a:endParaRPr lang="en-US" sz="1300" dirty="0"/>
          </a:p>
        </p:txBody>
      </p:sp>
      <p:sp>
        <p:nvSpPr>
          <p:cNvPr id="8" name="Shape 6"/>
          <p:cNvSpPr/>
          <p:nvPr/>
        </p:nvSpPr>
        <p:spPr>
          <a:xfrm>
            <a:off x="457200" y="4380491"/>
            <a:ext cx="6286500" cy="1125968"/>
          </a:xfrm>
          <a:prstGeom prst="roundRect">
            <a:avLst>
              <a:gd name="adj" fmla="val 10151"/>
            </a:avLst>
          </a:prstGeom>
          <a:gradFill rotWithShape="1">
            <a:gsLst>
              <a:gs pos="0">
                <a:srgbClr val="FFFFFF">
                  <a:alpha val="11000"/>
                </a:srgbClr>
              </a:gs>
              <a:gs pos="1184">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9" name="Shape 7"/>
          <p:cNvSpPr/>
          <p:nvPr/>
        </p:nvSpPr>
        <p:spPr>
          <a:xfrm>
            <a:off x="457200" y="4380491"/>
            <a:ext cx="6286500" cy="9525"/>
          </a:xfrm>
          <a:prstGeom prst="rect">
            <a:avLst/>
          </a:prstGeom>
          <a:gradFill rotWithShape="1">
            <a:gsLst>
              <a:gs pos="0">
                <a:srgbClr val="38BDF8">
                  <a:alpha val="100000"/>
                </a:srgbClr>
              </a:gs>
              <a:gs pos="50000">
                <a:srgbClr val="6366F1">
                  <a:alpha val="100000"/>
                </a:srgbClr>
              </a:gs>
              <a:gs pos="100000">
                <a:srgbClr val="C084FC">
                  <a:alpha val="100000"/>
                </a:srgbClr>
              </a:gs>
            </a:gsLst>
            <a:lin ang="0" scaled="0"/>
          </a:gradFill>
          <a:ln/>
        </p:spPr>
      </p:sp>
      <p:sp>
        <p:nvSpPr>
          <p:cNvPr id="10" name="Shape 8"/>
          <p:cNvSpPr/>
          <p:nvPr/>
        </p:nvSpPr>
        <p:spPr>
          <a:xfrm>
            <a:off x="685800" y="4628141"/>
            <a:ext cx="381000" cy="381000"/>
          </a:xfrm>
          <a:prstGeom prst="roundRect">
            <a:avLst>
              <a:gd name="adj" fmla="val 25000"/>
            </a:avLst>
          </a:prstGeom>
          <a:solidFill>
            <a:srgbClr val="EF4444">
              <a:alpha val="14000"/>
            </a:srgbClr>
          </a:solidFill>
          <a:ln/>
        </p:spPr>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1050" y="4723391"/>
            <a:ext cx="190500" cy="190500"/>
          </a:xfrm>
          <a:prstGeom prst="rect">
            <a:avLst/>
          </a:prstGeom>
        </p:spPr>
      </p:pic>
      <p:sp>
        <p:nvSpPr>
          <p:cNvPr id="12" name="Text 9"/>
          <p:cNvSpPr/>
          <p:nvPr/>
        </p:nvSpPr>
        <p:spPr>
          <a:xfrm>
            <a:off x="1200150" y="4609091"/>
            <a:ext cx="5228200" cy="419100"/>
          </a:xfrm>
          <a:prstGeom prst="rect">
            <a:avLst/>
          </a:prstGeom>
          <a:noFill/>
          <a:ln/>
        </p:spPr>
        <p:txBody>
          <a:bodyPr wrap="square" lIns="25400" tIns="25400" rIns="25400" bIns="25400" rtlCol="0" anchor="t">
            <a:normAutofit/>
          </a:bodyPr>
          <a:lstStyle/>
          <a:p>
            <a:pPr marL="0" indent="0" algn="l">
              <a:lnSpc>
                <a:spcPct val="105000"/>
              </a:lnSpc>
              <a:buNone/>
            </a:pPr>
            <a:r>
              <a:rPr lang="en-US" sz="2200" b="1" kern="1200" spc="-22" dirty="0">
                <a:solidFill>
                  <a:srgbClr val="FFFFFF"/>
                </a:solidFill>
                <a:latin typeface="Inter"/>
                <a:ea typeface="Inter"/>
                <a:cs typeface="Inter"/>
              </a:rPr>
              <a:t>Sensitive Lane · Copilot Chat (Basic)</a:t>
            </a:r>
            <a:endParaRPr lang="en-US" sz="2200" dirty="0"/>
          </a:p>
        </p:txBody>
      </p:sp>
      <p:sp>
        <p:nvSpPr>
          <p:cNvPr id="13" name="Shape 10"/>
          <p:cNvSpPr/>
          <p:nvPr/>
        </p:nvSpPr>
        <p:spPr>
          <a:xfrm>
            <a:off x="6972300" y="4380491"/>
            <a:ext cx="6286500" cy="1125968"/>
          </a:xfrm>
          <a:prstGeom prst="roundRect">
            <a:avLst>
              <a:gd name="adj" fmla="val 10151"/>
            </a:avLst>
          </a:prstGeom>
          <a:gradFill rotWithShape="1">
            <a:gsLst>
              <a:gs pos="0">
                <a:srgbClr val="FFFFFF">
                  <a:alpha val="11000"/>
                </a:srgbClr>
              </a:gs>
              <a:gs pos="1184">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4" name="Shape 11"/>
          <p:cNvSpPr/>
          <p:nvPr/>
        </p:nvSpPr>
        <p:spPr>
          <a:xfrm>
            <a:off x="6972300" y="4380491"/>
            <a:ext cx="6286500" cy="9525"/>
          </a:xfrm>
          <a:prstGeom prst="rect">
            <a:avLst/>
          </a:prstGeom>
          <a:gradFill rotWithShape="1">
            <a:gsLst>
              <a:gs pos="0">
                <a:srgbClr val="38BDF8">
                  <a:alpha val="100000"/>
                </a:srgbClr>
              </a:gs>
              <a:gs pos="50000">
                <a:srgbClr val="6366F1">
                  <a:alpha val="100000"/>
                </a:srgbClr>
              </a:gs>
              <a:gs pos="100000">
                <a:srgbClr val="C084FC">
                  <a:alpha val="100000"/>
                </a:srgbClr>
              </a:gs>
            </a:gsLst>
            <a:lin ang="0" scaled="0"/>
          </a:gradFill>
          <a:ln/>
        </p:spPr>
      </p:sp>
      <p:sp>
        <p:nvSpPr>
          <p:cNvPr id="15" name="Shape 12"/>
          <p:cNvSpPr/>
          <p:nvPr/>
        </p:nvSpPr>
        <p:spPr>
          <a:xfrm>
            <a:off x="7200900" y="4628141"/>
            <a:ext cx="381000" cy="381000"/>
          </a:xfrm>
          <a:prstGeom prst="roundRect">
            <a:avLst>
              <a:gd name="adj" fmla="val 25000"/>
            </a:avLst>
          </a:prstGeom>
          <a:solidFill>
            <a:srgbClr val="3B82F6">
              <a:alpha val="14000"/>
            </a:srgbClr>
          </a:solidFill>
          <a:ln/>
        </p:spPr>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96150" y="4723391"/>
            <a:ext cx="190500" cy="190500"/>
          </a:xfrm>
          <a:prstGeom prst="rect">
            <a:avLst/>
          </a:prstGeom>
        </p:spPr>
      </p:pic>
      <p:sp>
        <p:nvSpPr>
          <p:cNvPr id="17" name="Text 13"/>
          <p:cNvSpPr/>
          <p:nvPr/>
        </p:nvSpPr>
        <p:spPr>
          <a:xfrm>
            <a:off x="7715250" y="4609091"/>
            <a:ext cx="5228199" cy="419100"/>
          </a:xfrm>
          <a:prstGeom prst="rect">
            <a:avLst/>
          </a:prstGeom>
          <a:noFill/>
          <a:ln/>
        </p:spPr>
        <p:txBody>
          <a:bodyPr wrap="square" lIns="25400" tIns="25400" rIns="25400" bIns="25400" rtlCol="0" anchor="t">
            <a:normAutofit/>
          </a:bodyPr>
          <a:lstStyle/>
          <a:p>
            <a:pPr marL="0" indent="0" algn="l">
              <a:lnSpc>
                <a:spcPct val="105000"/>
              </a:lnSpc>
              <a:buNone/>
            </a:pPr>
            <a:r>
              <a:rPr lang="en-US" sz="2200" b="1" kern="1200" spc="-22" dirty="0">
                <a:solidFill>
                  <a:srgbClr val="FFFFFF"/>
                </a:solidFill>
                <a:latin typeface="Inter"/>
                <a:ea typeface="Inter"/>
                <a:cs typeface="Inter"/>
              </a:rPr>
              <a:t>Daily Driver · Google Gemini</a:t>
            </a:r>
            <a:endParaRPr lang="en-US" sz="2200" dirty="0"/>
          </a:p>
        </p:txBody>
      </p:sp>
      <p:sp>
        <p:nvSpPr>
          <p:cNvPr id="18" name="Text 14"/>
          <p:cNvSpPr/>
          <p:nvPr/>
        </p:nvSpPr>
        <p:spPr>
          <a:xfrm>
            <a:off x="457200" y="7138988"/>
            <a:ext cx="2466760" cy="238125"/>
          </a:xfrm>
          <a:prstGeom prst="rect">
            <a:avLst/>
          </a:prstGeom>
          <a:noFill/>
          <a:ln/>
        </p:spPr>
        <p:txBody>
          <a:bodyPr wrap="square" lIns="25400" tIns="25400" rIns="25400" bIns="25400" rtlCol="0" anchor="t">
            <a:normAutofit/>
          </a:bodyPr>
          <a:lstStyle/>
          <a:p>
            <a:pPr marL="0" indent="0" algn="l">
              <a:lnSpc>
                <a:spcPct val="120000"/>
              </a:lnSpc>
              <a:buNone/>
            </a:pPr>
            <a:r>
              <a:rPr lang="en-US" sz="900" kern="1200" dirty="0">
                <a:solidFill>
                  <a:srgbClr val="64748B"/>
                </a:solidFill>
                <a:latin typeface="JetBrains Mono"/>
                <a:ea typeface="JetBrains Mono"/>
                <a:cs typeface="JetBrains Mono"/>
              </a:rPr>
              <a:t>AI Research Management • Lesson 2</a:t>
            </a:r>
            <a:endParaRPr lang="en-US" sz="900" dirty="0"/>
          </a:p>
        </p:txBody>
      </p:sp>
      <p:sp>
        <p:nvSpPr>
          <p:cNvPr id="19" name="Shape 15"/>
          <p:cNvSpPr/>
          <p:nvPr/>
        </p:nvSpPr>
        <p:spPr>
          <a:xfrm>
            <a:off x="12277890" y="7224729"/>
            <a:ext cx="66642" cy="66642"/>
          </a:xfrm>
          <a:prstGeom prst="ellipse">
            <a:avLst/>
          </a:prstGeom>
          <a:solidFill>
            <a:srgbClr val="10B981"/>
          </a:solidFill>
          <a:ln/>
          <a:effectLst>
            <a:outerShdw blurRad="76200" dist="50800" dir="16200000" algn="bl" rotWithShape="0">
              <a:srgbClr val="10B981">
                <a:alpha val="100000"/>
              </a:srgbClr>
            </a:outerShdw>
          </a:effectLst>
        </p:spPr>
      </p:sp>
      <p:sp>
        <p:nvSpPr>
          <p:cNvPr id="20" name="Text 16"/>
          <p:cNvSpPr/>
          <p:nvPr/>
        </p:nvSpPr>
        <p:spPr>
          <a:xfrm>
            <a:off x="12420600" y="7162800"/>
            <a:ext cx="838200" cy="190500"/>
          </a:xfrm>
          <a:prstGeom prst="rect">
            <a:avLst/>
          </a:prstGeom>
          <a:noFill/>
          <a:ln/>
        </p:spPr>
        <p:txBody>
          <a:bodyPr wrap="square" lIns="0" tIns="0" rIns="0" bIns="0" rtlCol="0" anchor="t">
            <a:normAutofit/>
          </a:bodyPr>
          <a:lstStyle/>
          <a:p>
            <a:pPr marL="0" indent="0" algn="l">
              <a:lnSpc>
                <a:spcPct val="120000"/>
              </a:lnSpc>
              <a:buNone/>
            </a:pPr>
            <a:r>
              <a:rPr lang="en-US" sz="900" kern="1200" dirty="0">
                <a:solidFill>
                  <a:srgbClr val="64748B"/>
                </a:solidFill>
                <a:latin typeface="JetBrains Mono"/>
                <a:ea typeface="JetBrains Mono"/>
                <a:cs typeface="JetBrains Mono"/>
              </a:rPr>
              <a:t>Live Session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50000" r="50000" b="100000"/>
            </a:path>
          </a:gradFill>
          <a:ln/>
        </p:spPr>
      </p:sp>
      <p:sp>
        <p:nvSpPr>
          <p:cNvPr id="4" name="Shape 2"/>
          <p:cNvSpPr/>
          <p:nvPr/>
        </p:nvSpPr>
        <p:spPr>
          <a:xfrm>
            <a:off x="457200" y="2895600"/>
            <a:ext cx="914400" cy="914400"/>
          </a:xfrm>
          <a:prstGeom prst="roundRect">
            <a:avLst>
              <a:gd name="adj" fmla="val 12500"/>
            </a:avLst>
          </a:prstGeom>
          <a:solidFill>
            <a:srgbClr val="2563EB"/>
          </a:solidFill>
          <a:ln/>
          <a:effectLst>
            <a:glow rad="190500">
              <a:srgbClr val="3B82F6">
                <a:alpha val="26000"/>
              </a:srgbClr>
            </a:glow>
          </a:effectLst>
        </p:spPr>
      </p:sp>
      <p:sp>
        <p:nvSpPr>
          <p:cNvPr id="5" name="Text 3"/>
          <p:cNvSpPr/>
          <p:nvPr/>
        </p:nvSpPr>
        <p:spPr>
          <a:xfrm>
            <a:off x="457200" y="2895600"/>
            <a:ext cx="914400" cy="914400"/>
          </a:xfrm>
          <a:prstGeom prst="rect">
            <a:avLst/>
          </a:prstGeom>
          <a:noFill/>
          <a:ln/>
        </p:spPr>
        <p:txBody>
          <a:bodyPr wrap="square" lIns="0" tIns="0" rIns="0" bIns="0" rtlCol="0" anchor="ctr">
            <a:normAutofit/>
          </a:bodyPr>
          <a:lstStyle/>
          <a:p>
            <a:pPr marL="0" indent="0" algn="ctr">
              <a:lnSpc>
                <a:spcPct val="98000"/>
              </a:lnSpc>
              <a:buNone/>
            </a:pPr>
            <a:r>
              <a:rPr lang="en-US" sz="4800" b="1" kern="1200" spc="-48" dirty="0">
                <a:solidFill>
                  <a:srgbClr val="FFFFFF"/>
                </a:solidFill>
                <a:latin typeface="JetBrains Mono"/>
                <a:ea typeface="JetBrains Mono"/>
                <a:cs typeface="JetBrains Mono"/>
              </a:rPr>
              <a:t>1</a:t>
            </a:r>
            <a:endParaRPr lang="en-US" sz="4800" dirty="0"/>
          </a:p>
        </p:txBody>
      </p:sp>
      <p:sp>
        <p:nvSpPr>
          <p:cNvPr id="6" name="Text 4"/>
          <p:cNvSpPr/>
          <p:nvPr/>
        </p:nvSpPr>
        <p:spPr>
          <a:xfrm>
            <a:off x="1676400" y="2867025"/>
            <a:ext cx="115824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Recap + assignment debrief</a:t>
            </a:r>
            <a:endParaRPr lang="en-US" sz="3200" dirty="0"/>
          </a:p>
        </p:txBody>
      </p:sp>
      <p:sp>
        <p:nvSpPr>
          <p:cNvPr id="7" name="Text 5"/>
          <p:cNvSpPr/>
          <p:nvPr/>
        </p:nvSpPr>
        <p:spPr>
          <a:xfrm>
            <a:off x="1676400" y="3505200"/>
            <a:ext cx="11582400" cy="33337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JetBrains Mono"/>
                <a:ea typeface="JetBrains Mono"/>
                <a:cs typeface="JetBrains Mono"/>
              </a:rPr>
              <a:t>Segment 1 of 5</a:t>
            </a:r>
            <a:endParaRPr lang="en-US" sz="1300" dirty="0"/>
          </a:p>
        </p:txBody>
      </p:sp>
      <p:sp>
        <p:nvSpPr>
          <p:cNvPr id="8" name="Shape 6"/>
          <p:cNvSpPr/>
          <p:nvPr/>
        </p:nvSpPr>
        <p:spPr>
          <a:xfrm>
            <a:off x="1676400" y="4086225"/>
            <a:ext cx="3447951" cy="304800"/>
          </a:xfrm>
          <a:prstGeom prst="roundRect">
            <a:avLst>
              <a:gd name="adj" fmla="val 50000"/>
            </a:avLst>
          </a:prstGeom>
          <a:solidFill>
            <a:srgbClr val="3B82F6">
              <a:alpha val="14000"/>
            </a:srgbClr>
          </a:solidFill>
          <a:ln w="10583">
            <a:solidFill>
              <a:srgbClr val="3B82F6">
                <a:alpha val="35000"/>
              </a:srgbClr>
            </a:solidFill>
            <a:prstDash val="solid"/>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28800" y="4162475"/>
            <a:ext cx="152301" cy="152301"/>
          </a:xfrm>
          <a:prstGeom prst="rect">
            <a:avLst/>
          </a:prstGeom>
        </p:spPr>
      </p:pic>
      <p:sp>
        <p:nvSpPr>
          <p:cNvPr id="10" name="Text 7"/>
          <p:cNvSpPr/>
          <p:nvPr/>
        </p:nvSpPr>
        <p:spPr>
          <a:xfrm>
            <a:off x="2057301" y="4105275"/>
            <a:ext cx="2914650" cy="266700"/>
          </a:xfrm>
          <a:prstGeom prst="rect">
            <a:avLst/>
          </a:prstGeom>
          <a:noFill/>
          <a:ln/>
        </p:spPr>
        <p:txBody>
          <a:bodyPr wrap="square" lIns="0" tIns="0" rIns="0" bIns="0" rtlCol="0" anchor="t">
            <a:normAutofit/>
          </a:bodyPr>
          <a:lstStyle/>
          <a:p>
            <a:pPr marL="0" indent="0" algn="l">
              <a:lnSpc>
                <a:spcPct val="125000"/>
              </a:lnSpc>
              <a:buNone/>
            </a:pPr>
            <a:r>
              <a:rPr lang="en-US" sz="1300" kern="1200" dirty="0">
                <a:solidFill>
                  <a:srgbClr val="60A5FA"/>
                </a:solidFill>
                <a:latin typeface="Inter"/>
                <a:ea typeface="Inter"/>
                <a:cs typeface="Inter"/>
              </a:rPr>
              <a:t>15 min · Participant demos, facilitated</a:t>
            </a:r>
            <a:endParaRPr lang="en-US" sz="1300" dirty="0"/>
          </a:p>
        </p:txBody>
      </p:sp>
      <p:sp>
        <p:nvSpPr>
          <p:cNvPr id="11" name="Text 8"/>
          <p:cNvSpPr/>
          <p:nvPr/>
        </p:nvSpPr>
        <p:spPr>
          <a:xfrm>
            <a:off x="457200" y="7138988"/>
            <a:ext cx="2466760" cy="238125"/>
          </a:xfrm>
          <a:prstGeom prst="rect">
            <a:avLst/>
          </a:prstGeom>
          <a:noFill/>
          <a:ln/>
        </p:spPr>
        <p:txBody>
          <a:bodyPr wrap="square" lIns="25400" tIns="25400" rIns="25400" bIns="25400" rtlCol="0" anchor="t">
            <a:normAutofit/>
          </a:bodyPr>
          <a:lstStyle/>
          <a:p>
            <a:pPr marL="0" indent="0" algn="l">
              <a:lnSpc>
                <a:spcPct val="120000"/>
              </a:lnSpc>
              <a:buNone/>
            </a:pPr>
            <a:r>
              <a:rPr lang="en-US" sz="900" kern="1200" dirty="0">
                <a:solidFill>
                  <a:srgbClr val="64748B"/>
                </a:solidFill>
                <a:latin typeface="JetBrains Mono"/>
                <a:ea typeface="JetBrains Mono"/>
                <a:cs typeface="JetBrains Mono"/>
              </a:rPr>
              <a:t>AI Research Management • Lesson 2</a:t>
            </a:r>
            <a:endParaRPr lang="en-US" sz="900" dirty="0"/>
          </a:p>
        </p:txBody>
      </p:sp>
      <p:sp>
        <p:nvSpPr>
          <p:cNvPr id="12" name="Text 9"/>
          <p:cNvSpPr/>
          <p:nvPr/>
        </p:nvSpPr>
        <p:spPr>
          <a:xfrm>
            <a:off x="9991757" y="7162800"/>
            <a:ext cx="561975" cy="190500"/>
          </a:xfrm>
          <a:prstGeom prst="rect">
            <a:avLst/>
          </a:prstGeom>
          <a:noFill/>
          <a:ln/>
        </p:spPr>
        <p:txBody>
          <a:bodyPr wrap="square" lIns="0" tIns="0" rIns="0" bIns="0" rtlCol="0" anchor="t">
            <a:normAutofit/>
          </a:bodyPr>
          <a:lstStyle/>
          <a:p>
            <a:pPr marL="0" indent="0" algn="l">
              <a:lnSpc>
                <a:spcPct val="120000"/>
              </a:lnSpc>
              <a:buNone/>
            </a:pPr>
            <a:r>
              <a:rPr lang="en-US" sz="900" kern="1200" dirty="0">
                <a:solidFill>
                  <a:srgbClr val="64748B"/>
                </a:solidFill>
                <a:latin typeface="JetBrains Mono"/>
                <a:ea typeface="JetBrains Mono"/>
                <a:cs typeface="JetBrains Mono"/>
              </a:rPr>
              <a:t>Progress</a:t>
            </a:r>
            <a:endParaRPr lang="en-US" sz="900" dirty="0"/>
          </a:p>
        </p:txBody>
      </p:sp>
      <p:sp>
        <p:nvSpPr>
          <p:cNvPr id="13" name="Shape 10"/>
          <p:cNvSpPr/>
          <p:nvPr/>
        </p:nvSpPr>
        <p:spPr>
          <a:xfrm>
            <a:off x="10668032" y="7239033"/>
            <a:ext cx="2064808" cy="38034"/>
          </a:xfrm>
          <a:prstGeom prst="roundRect">
            <a:avLst>
              <a:gd name="adj" fmla="val 50000"/>
            </a:avLst>
          </a:prstGeom>
          <a:solidFill>
            <a:srgbClr val="FFFFFF">
              <a:alpha val="6000"/>
            </a:srgbClr>
          </a:solidFill>
          <a:ln/>
        </p:spPr>
      </p:sp>
      <p:sp>
        <p:nvSpPr>
          <p:cNvPr id="14" name="Shape 11"/>
          <p:cNvSpPr/>
          <p:nvPr/>
        </p:nvSpPr>
        <p:spPr>
          <a:xfrm>
            <a:off x="10668032" y="7239033"/>
            <a:ext cx="381000" cy="38034"/>
          </a:xfrm>
          <a:prstGeom prst="roundRect">
            <a:avLst>
              <a:gd name="adj" fmla="val 50000"/>
            </a:avLst>
          </a:prstGeom>
          <a:solidFill>
            <a:srgbClr val="3B82F6"/>
          </a:solidFill>
          <a:ln/>
          <a:effectLst>
            <a:glow rad="190500">
              <a:srgbClr val="3B82F6">
                <a:alpha val="26000"/>
              </a:srgbClr>
            </a:glow>
          </a:effectLst>
        </p:spPr>
      </p:sp>
      <p:sp>
        <p:nvSpPr>
          <p:cNvPr id="15" name="Text 12"/>
          <p:cNvSpPr/>
          <p:nvPr/>
        </p:nvSpPr>
        <p:spPr>
          <a:xfrm>
            <a:off x="12877800" y="7138988"/>
            <a:ext cx="381000" cy="238125"/>
          </a:xfrm>
          <a:prstGeom prst="rect">
            <a:avLst/>
          </a:prstGeom>
          <a:noFill/>
          <a:ln/>
        </p:spPr>
        <p:txBody>
          <a:bodyPr wrap="square" lIns="25400" tIns="25400" rIns="25400" bIns="25400" rtlCol="0" anchor="t">
            <a:normAutofit/>
          </a:bodyPr>
          <a:lstStyle/>
          <a:p>
            <a:pPr marL="0" indent="0" algn="l">
              <a:lnSpc>
                <a:spcPct val="120000"/>
              </a:lnSpc>
              <a:buNone/>
            </a:pPr>
            <a:r>
              <a:rPr lang="en-US" sz="900" kern="1200" dirty="0">
                <a:solidFill>
                  <a:srgbClr val="94A3B8"/>
                </a:solidFill>
                <a:latin typeface="JetBrains Mono"/>
                <a:ea typeface="JetBrains Mono"/>
                <a:cs typeface="JetBrains Mono"/>
              </a:rPr>
              <a:t>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1" y="-1"/>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txBody>
          <a:bodyPr/>
          <a:lstStyle/>
          <a:p>
            <a:endParaRPr lang="hu-HU" dirty="0"/>
          </a:p>
        </p:txBody>
      </p:sp>
      <p:sp>
        <p:nvSpPr>
          <p:cNvPr id="3" name="Shape 1"/>
          <p:cNvSpPr/>
          <p:nvPr/>
        </p:nvSpPr>
        <p:spPr>
          <a:xfrm>
            <a:off x="-295243" y="-66644"/>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txBody>
          <a:bodyPr/>
          <a:lstStyle/>
          <a:p>
            <a:endParaRPr lang="hu-HU" dirty="0"/>
          </a:p>
        </p:txBody>
      </p:sp>
      <p:sp>
        <p:nvSpPr>
          <p:cNvPr id="4" name="Text 2"/>
          <p:cNvSpPr/>
          <p:nvPr/>
        </p:nvSpPr>
        <p:spPr>
          <a:xfrm>
            <a:off x="457200" y="457200"/>
            <a:ext cx="9143703"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Lesson 1 → Lesson 2: the recap map</a:t>
            </a:r>
            <a:endParaRPr lang="en-US" sz="3200" dirty="0"/>
          </a:p>
        </p:txBody>
      </p:sp>
      <p:sp>
        <p:nvSpPr>
          <p:cNvPr id="5" name="Text 3"/>
          <p:cNvSpPr/>
          <p:nvPr/>
        </p:nvSpPr>
        <p:spPr>
          <a:xfrm>
            <a:off x="9867603" y="490538"/>
            <a:ext cx="3391197"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Reference only — the Lesson 1 deck carries the explanations</a:t>
            </a:r>
            <a:endParaRPr lang="en-US" sz="1100" dirty="0"/>
          </a:p>
        </p:txBody>
      </p:sp>
      <p:sp>
        <p:nvSpPr>
          <p:cNvPr id="6" name="Shape 4"/>
          <p:cNvSpPr/>
          <p:nvPr/>
        </p:nvSpPr>
        <p:spPr>
          <a:xfrm>
            <a:off x="457200" y="1352649"/>
            <a:ext cx="368697" cy="381000"/>
          </a:xfrm>
          <a:prstGeom prst="roundRect">
            <a:avLst>
              <a:gd name="adj" fmla="val 25000"/>
            </a:avLst>
          </a:prstGeom>
          <a:solidFill>
            <a:srgbClr val="3B82F6">
              <a:alpha val="14000"/>
            </a:srgbClr>
          </a:solidFill>
          <a:ln/>
        </p:spPr>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9374" y="1447899"/>
            <a:ext cx="184348" cy="190500"/>
          </a:xfrm>
          <a:prstGeom prst="rect">
            <a:avLst/>
          </a:prstGeom>
        </p:spPr>
      </p:pic>
      <p:sp>
        <p:nvSpPr>
          <p:cNvPr id="8" name="Text 5"/>
          <p:cNvSpPr/>
          <p:nvPr/>
        </p:nvSpPr>
        <p:spPr>
          <a:xfrm>
            <a:off x="844300" y="1424086"/>
            <a:ext cx="1299257" cy="238125"/>
          </a:xfrm>
          <a:prstGeom prst="rect">
            <a:avLst/>
          </a:prstGeom>
          <a:noFill/>
          <a:ln/>
        </p:spPr>
        <p:txBody>
          <a:bodyPr wrap="square" lIns="25400" tIns="25400" rIns="25400" bIns="25400" rtlCol="0" anchor="t">
            <a:normAutofit/>
          </a:bodyPr>
          <a:lstStyle/>
          <a:p>
            <a:pPr marL="0" indent="0" algn="l">
              <a:lnSpc>
                <a:spcPct val="120000"/>
              </a:lnSpc>
              <a:buNone/>
            </a:pPr>
            <a:r>
              <a:rPr lang="en-US" sz="900" b="1" kern="1200" spc="72" dirty="0">
                <a:solidFill>
                  <a:srgbClr val="FFFFFF"/>
                </a:solidFill>
                <a:latin typeface="JetBrains Mono"/>
                <a:ea typeface="JetBrains Mono"/>
                <a:cs typeface="JetBrains Mono"/>
              </a:rPr>
              <a:t>FROM LESSON 1</a:t>
            </a:r>
            <a:endParaRPr lang="en-US" sz="900" dirty="0"/>
          </a:p>
        </p:txBody>
      </p:sp>
      <p:sp>
        <p:nvSpPr>
          <p:cNvPr id="9" name="Shape 6"/>
          <p:cNvSpPr/>
          <p:nvPr/>
        </p:nvSpPr>
        <p:spPr>
          <a:xfrm>
            <a:off x="6992287" y="1352649"/>
            <a:ext cx="368697" cy="381000"/>
          </a:xfrm>
          <a:prstGeom prst="roundRect">
            <a:avLst>
              <a:gd name="adj" fmla="val 25000"/>
            </a:avLst>
          </a:prstGeom>
          <a:solidFill>
            <a:srgbClr val="10B981">
              <a:alpha val="14000"/>
            </a:srgbClr>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84461" y="1447899"/>
            <a:ext cx="184348" cy="190500"/>
          </a:xfrm>
          <a:prstGeom prst="rect">
            <a:avLst/>
          </a:prstGeom>
        </p:spPr>
      </p:pic>
      <p:sp>
        <p:nvSpPr>
          <p:cNvPr id="11" name="Text 7"/>
          <p:cNvSpPr/>
          <p:nvPr/>
        </p:nvSpPr>
        <p:spPr>
          <a:xfrm>
            <a:off x="7379387" y="1352649"/>
            <a:ext cx="1536013" cy="238125"/>
          </a:xfrm>
          <a:prstGeom prst="rect">
            <a:avLst/>
          </a:prstGeom>
          <a:noFill/>
          <a:ln/>
        </p:spPr>
        <p:txBody>
          <a:bodyPr wrap="square" lIns="25400" tIns="25400" rIns="25400" bIns="25400" rtlCol="0" anchor="t">
            <a:normAutofit/>
          </a:bodyPr>
          <a:lstStyle/>
          <a:p>
            <a:pPr marL="0" indent="0" algn="l">
              <a:lnSpc>
                <a:spcPct val="120000"/>
              </a:lnSpc>
              <a:buNone/>
            </a:pPr>
            <a:r>
              <a:rPr lang="en-US" sz="900" b="1" kern="1200" spc="72" dirty="0">
                <a:solidFill>
                  <a:srgbClr val="FFFFFF"/>
                </a:solidFill>
                <a:latin typeface="JetBrains Mono"/>
                <a:ea typeface="JetBrains Mono"/>
                <a:cs typeface="JetBrains Mono"/>
              </a:rPr>
              <a:t>LEADS INTO TODAY</a:t>
            </a:r>
            <a:endParaRPr lang="en-US" sz="900" dirty="0"/>
          </a:p>
        </p:txBody>
      </p:sp>
      <p:sp>
        <p:nvSpPr>
          <p:cNvPr id="12" name="Shape 8"/>
          <p:cNvSpPr/>
          <p:nvPr/>
        </p:nvSpPr>
        <p:spPr>
          <a:xfrm>
            <a:off x="457200" y="1781274"/>
            <a:ext cx="6286500" cy="723900"/>
          </a:xfrm>
          <a:prstGeom prst="roundRect">
            <a:avLst>
              <a:gd name="adj" fmla="val 14418"/>
            </a:avLst>
          </a:prstGeom>
          <a:gradFill rotWithShape="1">
            <a:gsLst>
              <a:gs pos="0">
                <a:srgbClr val="FFFFFF">
                  <a:alpha val="11000"/>
                </a:srgbClr>
              </a:gs>
              <a:gs pos="1682">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3" name="Shape 9"/>
          <p:cNvSpPr/>
          <p:nvPr/>
        </p:nvSpPr>
        <p:spPr>
          <a:xfrm>
            <a:off x="457200" y="2495649"/>
            <a:ext cx="6286500" cy="9525"/>
          </a:xfrm>
          <a:prstGeom prst="rect">
            <a:avLst/>
          </a:prstGeom>
          <a:solidFill>
            <a:srgbClr val="FFFFFF">
              <a:alpha val="8000"/>
            </a:srgbClr>
          </a:solidFill>
          <a:ln/>
        </p:spPr>
      </p:sp>
      <p:sp>
        <p:nvSpPr>
          <p:cNvPr id="14" name="Shape 10"/>
          <p:cNvSpPr/>
          <p:nvPr/>
        </p:nvSpPr>
        <p:spPr>
          <a:xfrm>
            <a:off x="457200" y="1781274"/>
            <a:ext cx="6286500" cy="9525"/>
          </a:xfrm>
          <a:prstGeom prst="rect">
            <a:avLst/>
          </a:prstGeom>
          <a:solidFill>
            <a:srgbClr val="FFFFFF">
              <a:alpha val="8000"/>
            </a:srgbClr>
          </a:solidFill>
          <a:ln/>
        </p:spPr>
      </p:sp>
      <p:sp>
        <p:nvSpPr>
          <p:cNvPr id="15" name="Shape 11"/>
          <p:cNvSpPr/>
          <p:nvPr/>
        </p:nvSpPr>
        <p:spPr>
          <a:xfrm>
            <a:off x="457200" y="1876524"/>
            <a:ext cx="28575" cy="533400"/>
          </a:xfrm>
          <a:prstGeom prst="rect">
            <a:avLst/>
          </a:prstGeom>
          <a:solidFill>
            <a:srgbClr val="3B82F6"/>
          </a:solidFill>
          <a:ln/>
        </p:spPr>
      </p:sp>
      <p:sp>
        <p:nvSpPr>
          <p:cNvPr id="16" name="Shape 12"/>
          <p:cNvSpPr/>
          <p:nvPr/>
        </p:nvSpPr>
        <p:spPr>
          <a:xfrm>
            <a:off x="6734175" y="1876524"/>
            <a:ext cx="9525" cy="533400"/>
          </a:xfrm>
          <a:prstGeom prst="rect">
            <a:avLst/>
          </a:prstGeom>
          <a:solidFill>
            <a:srgbClr val="FFFFFF">
              <a:alpha val="8000"/>
            </a:srgbClr>
          </a:solidFill>
          <a:ln/>
        </p:spPr>
      </p:sp>
      <p:sp>
        <p:nvSpPr>
          <p:cNvPr id="17" name="Text 13"/>
          <p:cNvSpPr/>
          <p:nvPr/>
        </p:nvSpPr>
        <p:spPr>
          <a:xfrm>
            <a:off x="571500" y="2005111"/>
            <a:ext cx="5941483" cy="276225"/>
          </a:xfrm>
          <a:prstGeom prst="rect">
            <a:avLst/>
          </a:prstGeom>
          <a:noFill/>
          <a:ln/>
        </p:spPr>
        <p:txBody>
          <a:bodyPr wrap="square" lIns="25400" tIns="25400" rIns="25400" bIns="25400" rtlCol="0" anchor="ctr">
            <a:normAutofit/>
          </a:bodyPr>
          <a:lstStyle/>
          <a:p>
            <a:pPr marL="0" indent="0" algn="l">
              <a:lnSpc>
                <a:spcPct val="125000"/>
              </a:lnSpc>
              <a:buNone/>
            </a:pPr>
            <a:r>
              <a:rPr lang="en-US" sz="1100" kern="1200" dirty="0">
                <a:solidFill>
                  <a:srgbClr val="CBD5E1"/>
                </a:solidFill>
                <a:latin typeface="Inter"/>
                <a:ea typeface="Inter"/>
                <a:cs typeface="Inter"/>
              </a:rPr>
              <a:t>The 7 Levels — Level 2 (Prompt Crafter), done in the Lesson 1 assignment</a:t>
            </a:r>
            <a:endParaRPr lang="en-US" sz="1100" dirty="0"/>
          </a:p>
        </p:txBody>
      </p:sp>
      <p:sp>
        <p:nvSpPr>
          <p:cNvPr id="18" name="Text 14"/>
          <p:cNvSpPr/>
          <p:nvPr/>
        </p:nvSpPr>
        <p:spPr>
          <a:xfrm>
            <a:off x="6562758" y="1986061"/>
            <a:ext cx="342900" cy="314325"/>
          </a:xfrm>
          <a:prstGeom prst="rect">
            <a:avLst/>
          </a:prstGeom>
          <a:noFill/>
          <a:ln/>
        </p:spPr>
        <p:txBody>
          <a:bodyPr wrap="square" lIns="25400" tIns="25400" rIns="25400" bIns="25400" rtlCol="0" anchor="ctr">
            <a:normAutofit/>
          </a:bodyPr>
          <a:lstStyle/>
          <a:p>
            <a:pPr marL="0" indent="0" algn="ctr">
              <a:lnSpc>
                <a:spcPct val="125000"/>
              </a:lnSpc>
              <a:buNone/>
            </a:pPr>
            <a:r>
              <a:rPr lang="en-US" sz="1300" kern="1200" dirty="0">
                <a:solidFill>
                  <a:srgbClr val="60A5FA"/>
                </a:solidFill>
                <a:latin typeface="Inter"/>
                <a:ea typeface="Inter"/>
                <a:cs typeface="Inter"/>
              </a:rPr>
              <a:t>→</a:t>
            </a:r>
            <a:endParaRPr lang="en-US" sz="1300" dirty="0"/>
          </a:p>
        </p:txBody>
      </p:sp>
      <p:sp>
        <p:nvSpPr>
          <p:cNvPr id="19" name="Shape 15"/>
          <p:cNvSpPr/>
          <p:nvPr/>
        </p:nvSpPr>
        <p:spPr>
          <a:xfrm>
            <a:off x="6972300" y="1781274"/>
            <a:ext cx="6286500" cy="723900"/>
          </a:xfrm>
          <a:prstGeom prst="roundRect">
            <a:avLst>
              <a:gd name="adj" fmla="val 14418"/>
            </a:avLst>
          </a:prstGeom>
          <a:gradFill rotWithShape="1">
            <a:gsLst>
              <a:gs pos="0">
                <a:srgbClr val="FFFFFF">
                  <a:alpha val="11000"/>
                </a:srgbClr>
              </a:gs>
              <a:gs pos="1682">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0" name="Shape 16"/>
          <p:cNvSpPr/>
          <p:nvPr/>
        </p:nvSpPr>
        <p:spPr>
          <a:xfrm>
            <a:off x="6972300" y="2495649"/>
            <a:ext cx="6286500" cy="9525"/>
          </a:xfrm>
          <a:prstGeom prst="rect">
            <a:avLst/>
          </a:prstGeom>
          <a:solidFill>
            <a:srgbClr val="FFFFFF">
              <a:alpha val="8000"/>
            </a:srgbClr>
          </a:solidFill>
          <a:ln/>
        </p:spPr>
      </p:sp>
      <p:sp>
        <p:nvSpPr>
          <p:cNvPr id="21" name="Shape 17"/>
          <p:cNvSpPr/>
          <p:nvPr/>
        </p:nvSpPr>
        <p:spPr>
          <a:xfrm>
            <a:off x="6972300" y="1781274"/>
            <a:ext cx="6286500" cy="9525"/>
          </a:xfrm>
          <a:prstGeom prst="rect">
            <a:avLst/>
          </a:prstGeom>
          <a:solidFill>
            <a:srgbClr val="FFFFFF">
              <a:alpha val="8000"/>
            </a:srgbClr>
          </a:solidFill>
          <a:ln/>
        </p:spPr>
      </p:sp>
      <p:sp>
        <p:nvSpPr>
          <p:cNvPr id="22" name="Shape 18"/>
          <p:cNvSpPr/>
          <p:nvPr/>
        </p:nvSpPr>
        <p:spPr>
          <a:xfrm>
            <a:off x="6972300" y="1876524"/>
            <a:ext cx="28575" cy="533400"/>
          </a:xfrm>
          <a:prstGeom prst="rect">
            <a:avLst/>
          </a:prstGeom>
          <a:solidFill>
            <a:srgbClr val="10B981"/>
          </a:solidFill>
          <a:ln/>
        </p:spPr>
      </p:sp>
      <p:sp>
        <p:nvSpPr>
          <p:cNvPr id="23" name="Shape 19"/>
          <p:cNvSpPr/>
          <p:nvPr/>
        </p:nvSpPr>
        <p:spPr>
          <a:xfrm>
            <a:off x="13249275" y="1876524"/>
            <a:ext cx="9525" cy="533400"/>
          </a:xfrm>
          <a:prstGeom prst="rect">
            <a:avLst/>
          </a:prstGeom>
          <a:solidFill>
            <a:srgbClr val="FFFFFF">
              <a:alpha val="8000"/>
            </a:srgbClr>
          </a:solidFill>
          <a:ln/>
        </p:spPr>
      </p:sp>
      <p:sp>
        <p:nvSpPr>
          <p:cNvPr id="24" name="Text 20"/>
          <p:cNvSpPr/>
          <p:nvPr/>
        </p:nvSpPr>
        <p:spPr>
          <a:xfrm>
            <a:off x="7086600" y="1895574"/>
            <a:ext cx="5941483" cy="495300"/>
          </a:xfrm>
          <a:prstGeom prst="rect">
            <a:avLst/>
          </a:prstGeom>
          <a:noFill/>
          <a:ln/>
        </p:spPr>
        <p:txBody>
          <a:bodyPr wrap="square" lIns="25400" tIns="25400" rIns="25400" bIns="25400" rtlCol="0" anchor="ctr">
            <a:normAutofit/>
          </a:bodyPr>
          <a:lstStyle/>
          <a:p>
            <a:pPr marL="0" indent="0" algn="l">
              <a:lnSpc>
                <a:spcPct val="125000"/>
              </a:lnSpc>
              <a:buNone/>
            </a:pPr>
            <a:r>
              <a:rPr lang="en-US" sz="1100" kern="1200" dirty="0">
                <a:solidFill>
                  <a:srgbClr val="CBD5E1"/>
                </a:solidFill>
                <a:latin typeface="Inter"/>
                <a:ea typeface="Inter"/>
                <a:cs typeface="Inter"/>
              </a:rPr>
              <a:t>Level 3 (Power User) is today's target — persistent context via Gems; the assignment lays the foundation for Level 4 (Tool Orchestrator) · Segment 4</a:t>
            </a:r>
            <a:endParaRPr lang="en-US" sz="1100" dirty="0"/>
          </a:p>
        </p:txBody>
      </p:sp>
      <p:sp>
        <p:nvSpPr>
          <p:cNvPr id="25" name="Shape 21"/>
          <p:cNvSpPr/>
          <p:nvPr/>
        </p:nvSpPr>
        <p:spPr>
          <a:xfrm>
            <a:off x="457200" y="2581340"/>
            <a:ext cx="6286500" cy="723900"/>
          </a:xfrm>
          <a:prstGeom prst="roundRect">
            <a:avLst>
              <a:gd name="adj" fmla="val 14418"/>
            </a:avLst>
          </a:prstGeom>
          <a:gradFill rotWithShape="1">
            <a:gsLst>
              <a:gs pos="0">
                <a:srgbClr val="FFFFFF">
                  <a:alpha val="11000"/>
                </a:srgbClr>
              </a:gs>
              <a:gs pos="1682">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6" name="Shape 22"/>
          <p:cNvSpPr/>
          <p:nvPr/>
        </p:nvSpPr>
        <p:spPr>
          <a:xfrm>
            <a:off x="457200" y="3295715"/>
            <a:ext cx="6286500" cy="9525"/>
          </a:xfrm>
          <a:prstGeom prst="rect">
            <a:avLst/>
          </a:prstGeom>
          <a:solidFill>
            <a:srgbClr val="FFFFFF">
              <a:alpha val="8000"/>
            </a:srgbClr>
          </a:solidFill>
          <a:ln/>
        </p:spPr>
      </p:sp>
      <p:sp>
        <p:nvSpPr>
          <p:cNvPr id="27" name="Shape 23"/>
          <p:cNvSpPr/>
          <p:nvPr/>
        </p:nvSpPr>
        <p:spPr>
          <a:xfrm>
            <a:off x="457200" y="2581340"/>
            <a:ext cx="6286500" cy="9525"/>
          </a:xfrm>
          <a:prstGeom prst="rect">
            <a:avLst/>
          </a:prstGeom>
          <a:solidFill>
            <a:srgbClr val="FFFFFF">
              <a:alpha val="8000"/>
            </a:srgbClr>
          </a:solidFill>
          <a:ln/>
        </p:spPr>
      </p:sp>
      <p:sp>
        <p:nvSpPr>
          <p:cNvPr id="28" name="Shape 24"/>
          <p:cNvSpPr/>
          <p:nvPr/>
        </p:nvSpPr>
        <p:spPr>
          <a:xfrm>
            <a:off x="457200" y="2676590"/>
            <a:ext cx="28575" cy="533400"/>
          </a:xfrm>
          <a:prstGeom prst="rect">
            <a:avLst/>
          </a:prstGeom>
          <a:solidFill>
            <a:srgbClr val="3B82F6"/>
          </a:solidFill>
          <a:ln/>
        </p:spPr>
      </p:sp>
      <p:sp>
        <p:nvSpPr>
          <p:cNvPr id="29" name="Shape 25"/>
          <p:cNvSpPr/>
          <p:nvPr/>
        </p:nvSpPr>
        <p:spPr>
          <a:xfrm>
            <a:off x="6734175" y="2676590"/>
            <a:ext cx="9525" cy="533400"/>
          </a:xfrm>
          <a:prstGeom prst="rect">
            <a:avLst/>
          </a:prstGeom>
          <a:solidFill>
            <a:srgbClr val="FFFFFF">
              <a:alpha val="8000"/>
            </a:srgbClr>
          </a:solidFill>
          <a:ln/>
        </p:spPr>
      </p:sp>
      <p:sp>
        <p:nvSpPr>
          <p:cNvPr id="30" name="Text 26"/>
          <p:cNvSpPr/>
          <p:nvPr/>
        </p:nvSpPr>
        <p:spPr>
          <a:xfrm>
            <a:off x="571500" y="2695640"/>
            <a:ext cx="5941483" cy="495300"/>
          </a:xfrm>
          <a:prstGeom prst="rect">
            <a:avLst/>
          </a:prstGeom>
          <a:noFill/>
          <a:ln/>
        </p:spPr>
        <p:txBody>
          <a:bodyPr wrap="square" lIns="25400" tIns="25400" rIns="25400" bIns="25400" rtlCol="0" anchor="ctr">
            <a:normAutofit/>
          </a:bodyPr>
          <a:lstStyle/>
          <a:p>
            <a:pPr marL="0" indent="0" algn="l">
              <a:lnSpc>
                <a:spcPct val="125000"/>
              </a:lnSpc>
              <a:buNone/>
            </a:pPr>
            <a:r>
              <a:rPr lang="en-US" sz="1100" kern="1200" dirty="0">
                <a:solidFill>
                  <a:srgbClr val="CBD5E1"/>
                </a:solidFill>
                <a:latin typeface="Inter"/>
                <a:ea typeface="Inter"/>
                <a:cs typeface="Inter"/>
              </a:rPr>
              <a:t>ICC prompting and the four patterns (persona, example-driven, step-by-step, critique-then-improve)</a:t>
            </a:r>
            <a:endParaRPr lang="en-US" sz="1100" dirty="0"/>
          </a:p>
        </p:txBody>
      </p:sp>
      <p:sp>
        <p:nvSpPr>
          <p:cNvPr id="31" name="Text 27"/>
          <p:cNvSpPr/>
          <p:nvPr/>
        </p:nvSpPr>
        <p:spPr>
          <a:xfrm>
            <a:off x="6562758" y="2786127"/>
            <a:ext cx="342900" cy="314325"/>
          </a:xfrm>
          <a:prstGeom prst="rect">
            <a:avLst/>
          </a:prstGeom>
          <a:noFill/>
          <a:ln/>
        </p:spPr>
        <p:txBody>
          <a:bodyPr wrap="square" lIns="25400" tIns="25400" rIns="25400" bIns="25400" rtlCol="0" anchor="ctr">
            <a:normAutofit/>
          </a:bodyPr>
          <a:lstStyle/>
          <a:p>
            <a:pPr marL="0" indent="0" algn="ctr">
              <a:lnSpc>
                <a:spcPct val="125000"/>
              </a:lnSpc>
              <a:buNone/>
            </a:pPr>
            <a:r>
              <a:rPr lang="en-US" sz="1300" kern="1200" dirty="0">
                <a:solidFill>
                  <a:srgbClr val="60A5FA"/>
                </a:solidFill>
                <a:latin typeface="Inter"/>
                <a:ea typeface="Inter"/>
                <a:cs typeface="Inter"/>
              </a:rPr>
              <a:t>→</a:t>
            </a:r>
            <a:endParaRPr lang="en-US" sz="1300" dirty="0"/>
          </a:p>
        </p:txBody>
      </p:sp>
      <p:sp>
        <p:nvSpPr>
          <p:cNvPr id="32" name="Shape 28"/>
          <p:cNvSpPr/>
          <p:nvPr/>
        </p:nvSpPr>
        <p:spPr>
          <a:xfrm>
            <a:off x="6972300" y="2581340"/>
            <a:ext cx="6286500" cy="723900"/>
          </a:xfrm>
          <a:prstGeom prst="roundRect">
            <a:avLst>
              <a:gd name="adj" fmla="val 14418"/>
            </a:avLst>
          </a:prstGeom>
          <a:gradFill rotWithShape="1">
            <a:gsLst>
              <a:gs pos="0">
                <a:srgbClr val="FFFFFF">
                  <a:alpha val="11000"/>
                </a:srgbClr>
              </a:gs>
              <a:gs pos="1682">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3" name="Shape 29"/>
          <p:cNvSpPr/>
          <p:nvPr/>
        </p:nvSpPr>
        <p:spPr>
          <a:xfrm>
            <a:off x="6972300" y="3295715"/>
            <a:ext cx="6286500" cy="9525"/>
          </a:xfrm>
          <a:prstGeom prst="rect">
            <a:avLst/>
          </a:prstGeom>
          <a:solidFill>
            <a:srgbClr val="FFFFFF">
              <a:alpha val="8000"/>
            </a:srgbClr>
          </a:solidFill>
          <a:ln/>
        </p:spPr>
      </p:sp>
      <p:sp>
        <p:nvSpPr>
          <p:cNvPr id="34" name="Shape 30"/>
          <p:cNvSpPr/>
          <p:nvPr/>
        </p:nvSpPr>
        <p:spPr>
          <a:xfrm>
            <a:off x="6972300" y="2581340"/>
            <a:ext cx="6286500" cy="9525"/>
          </a:xfrm>
          <a:prstGeom prst="rect">
            <a:avLst/>
          </a:prstGeom>
          <a:solidFill>
            <a:srgbClr val="FFFFFF">
              <a:alpha val="8000"/>
            </a:srgbClr>
          </a:solidFill>
          <a:ln/>
        </p:spPr>
      </p:sp>
      <p:sp>
        <p:nvSpPr>
          <p:cNvPr id="35" name="Shape 31"/>
          <p:cNvSpPr/>
          <p:nvPr/>
        </p:nvSpPr>
        <p:spPr>
          <a:xfrm>
            <a:off x="6972300" y="2676590"/>
            <a:ext cx="28575" cy="533400"/>
          </a:xfrm>
          <a:prstGeom prst="rect">
            <a:avLst/>
          </a:prstGeom>
          <a:solidFill>
            <a:srgbClr val="10B981"/>
          </a:solidFill>
          <a:ln/>
        </p:spPr>
      </p:sp>
      <p:sp>
        <p:nvSpPr>
          <p:cNvPr id="36" name="Shape 32"/>
          <p:cNvSpPr/>
          <p:nvPr/>
        </p:nvSpPr>
        <p:spPr>
          <a:xfrm>
            <a:off x="13249275" y="2676590"/>
            <a:ext cx="9525" cy="533400"/>
          </a:xfrm>
          <a:prstGeom prst="rect">
            <a:avLst/>
          </a:prstGeom>
          <a:solidFill>
            <a:srgbClr val="FFFFFF">
              <a:alpha val="8000"/>
            </a:srgbClr>
          </a:solidFill>
          <a:ln/>
        </p:spPr>
      </p:sp>
      <p:sp>
        <p:nvSpPr>
          <p:cNvPr id="37" name="Text 33"/>
          <p:cNvSpPr/>
          <p:nvPr/>
        </p:nvSpPr>
        <p:spPr>
          <a:xfrm>
            <a:off x="7086600" y="2695640"/>
            <a:ext cx="5941483" cy="495300"/>
          </a:xfrm>
          <a:prstGeom prst="rect">
            <a:avLst/>
          </a:prstGeom>
          <a:noFill/>
          <a:ln/>
        </p:spPr>
        <p:txBody>
          <a:bodyPr wrap="square" lIns="25400" tIns="25400" rIns="25400" bIns="25400" rtlCol="0" anchor="ctr">
            <a:normAutofit/>
          </a:bodyPr>
          <a:lstStyle/>
          <a:p>
            <a:pPr marL="0" indent="0" algn="l">
              <a:lnSpc>
                <a:spcPct val="125000"/>
              </a:lnSpc>
              <a:buNone/>
            </a:pPr>
            <a:r>
              <a:rPr lang="en-US" sz="1100" kern="1200" dirty="0">
                <a:solidFill>
                  <a:srgbClr val="CBD5E1"/>
                </a:solidFill>
                <a:latin typeface="Inter"/>
                <a:ea typeface="Inter"/>
                <a:cs typeface="Inter"/>
              </a:rPr>
              <a:t>The same prompts run in both lanes — the lane decides </a:t>
            </a:r>
            <a:r>
              <a:rPr lang="hu-HU" sz="1100" kern="1200" dirty="0">
                <a:solidFill>
                  <a:srgbClr val="CBD5E1"/>
                </a:solidFill>
                <a:latin typeface="Inter"/>
                <a:ea typeface="Inter"/>
                <a:cs typeface="Inter"/>
              </a:rPr>
              <a:t>and </a:t>
            </a:r>
            <a:r>
              <a:rPr lang="hu-HU" sz="1100" kern="1200" dirty="0" err="1">
                <a:solidFill>
                  <a:srgbClr val="CBD5E1"/>
                </a:solidFill>
                <a:latin typeface="Inter"/>
                <a:ea typeface="Inter"/>
                <a:cs typeface="Inter"/>
              </a:rPr>
              <a:t>tool</a:t>
            </a:r>
            <a:r>
              <a:rPr lang="hu-HU" sz="1100" kern="1200" dirty="0">
                <a:solidFill>
                  <a:srgbClr val="CBD5E1"/>
                </a:solidFill>
                <a:latin typeface="Inter"/>
                <a:ea typeface="Inter"/>
                <a:cs typeface="Inter"/>
              </a:rPr>
              <a:t> </a:t>
            </a:r>
            <a:r>
              <a:rPr lang="en-US" sz="1100" kern="1200" dirty="0">
                <a:solidFill>
                  <a:srgbClr val="CBD5E1"/>
                </a:solidFill>
                <a:latin typeface="Inter"/>
                <a:ea typeface="Inter"/>
                <a:cs typeface="Inter"/>
              </a:rPr>
              <a:t>where a prompt goes, not how it is written; </a:t>
            </a:r>
            <a:endParaRPr lang="en-US" sz="1100" dirty="0"/>
          </a:p>
        </p:txBody>
      </p:sp>
      <p:sp>
        <p:nvSpPr>
          <p:cNvPr id="38" name="Shape 34"/>
          <p:cNvSpPr/>
          <p:nvPr/>
        </p:nvSpPr>
        <p:spPr>
          <a:xfrm>
            <a:off x="457200" y="3381407"/>
            <a:ext cx="6286500" cy="504825"/>
          </a:xfrm>
          <a:prstGeom prst="roundRect">
            <a:avLst>
              <a:gd name="adj" fmla="val 19280"/>
            </a:avLst>
          </a:prstGeom>
          <a:gradFill rotWithShape="1">
            <a:gsLst>
              <a:gs pos="0">
                <a:srgbClr val="FFFFFF">
                  <a:alpha val="11000"/>
                </a:srgbClr>
              </a:gs>
              <a:gs pos="2249">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9" name="Shape 35"/>
          <p:cNvSpPr/>
          <p:nvPr/>
        </p:nvSpPr>
        <p:spPr>
          <a:xfrm>
            <a:off x="457200" y="3876707"/>
            <a:ext cx="6286500" cy="9525"/>
          </a:xfrm>
          <a:prstGeom prst="rect">
            <a:avLst/>
          </a:prstGeom>
          <a:solidFill>
            <a:srgbClr val="FFFFFF">
              <a:alpha val="8000"/>
            </a:srgbClr>
          </a:solidFill>
          <a:ln/>
        </p:spPr>
      </p:sp>
      <p:sp>
        <p:nvSpPr>
          <p:cNvPr id="40" name="Shape 36"/>
          <p:cNvSpPr/>
          <p:nvPr/>
        </p:nvSpPr>
        <p:spPr>
          <a:xfrm>
            <a:off x="457200" y="3381407"/>
            <a:ext cx="6286500" cy="9525"/>
          </a:xfrm>
          <a:prstGeom prst="rect">
            <a:avLst/>
          </a:prstGeom>
          <a:solidFill>
            <a:srgbClr val="FFFFFF">
              <a:alpha val="8000"/>
            </a:srgbClr>
          </a:solidFill>
          <a:ln/>
        </p:spPr>
      </p:sp>
      <p:sp>
        <p:nvSpPr>
          <p:cNvPr id="41" name="Shape 37"/>
          <p:cNvSpPr/>
          <p:nvPr/>
        </p:nvSpPr>
        <p:spPr>
          <a:xfrm>
            <a:off x="457200" y="3476657"/>
            <a:ext cx="28575" cy="314325"/>
          </a:xfrm>
          <a:prstGeom prst="rect">
            <a:avLst/>
          </a:prstGeom>
          <a:solidFill>
            <a:srgbClr val="3B82F6"/>
          </a:solidFill>
          <a:ln/>
        </p:spPr>
      </p:sp>
      <p:sp>
        <p:nvSpPr>
          <p:cNvPr id="42" name="Shape 38"/>
          <p:cNvSpPr/>
          <p:nvPr/>
        </p:nvSpPr>
        <p:spPr>
          <a:xfrm>
            <a:off x="6734175" y="3476657"/>
            <a:ext cx="9525" cy="314325"/>
          </a:xfrm>
          <a:prstGeom prst="rect">
            <a:avLst/>
          </a:prstGeom>
          <a:solidFill>
            <a:srgbClr val="FFFFFF">
              <a:alpha val="8000"/>
            </a:srgbClr>
          </a:solidFill>
          <a:ln/>
        </p:spPr>
      </p:sp>
      <p:sp>
        <p:nvSpPr>
          <p:cNvPr id="43" name="Text 39"/>
          <p:cNvSpPr/>
          <p:nvPr/>
        </p:nvSpPr>
        <p:spPr>
          <a:xfrm>
            <a:off x="571500" y="3495707"/>
            <a:ext cx="5941483" cy="276225"/>
          </a:xfrm>
          <a:prstGeom prst="rect">
            <a:avLst/>
          </a:prstGeom>
          <a:noFill/>
          <a:ln/>
        </p:spPr>
        <p:txBody>
          <a:bodyPr wrap="square" lIns="25400" tIns="25400" rIns="25400" bIns="25400" rtlCol="0" anchor="ctr">
            <a:normAutofit/>
          </a:bodyPr>
          <a:lstStyle/>
          <a:p>
            <a:pPr marL="0" indent="0" algn="l">
              <a:lnSpc>
                <a:spcPct val="125000"/>
              </a:lnSpc>
              <a:buNone/>
            </a:pPr>
            <a:r>
              <a:rPr lang="en-US" sz="1100" kern="1200" dirty="0">
                <a:solidFill>
                  <a:srgbClr val="CBD5E1"/>
                </a:solidFill>
                <a:latin typeface="Inter"/>
                <a:ea typeface="Inter"/>
                <a:cs typeface="Inter"/>
              </a:rPr>
              <a:t>Ask-me-first and reverse prompt</a:t>
            </a:r>
            <a:endParaRPr lang="en-US" sz="1100" dirty="0"/>
          </a:p>
        </p:txBody>
      </p:sp>
      <p:sp>
        <p:nvSpPr>
          <p:cNvPr id="44" name="Text 40"/>
          <p:cNvSpPr/>
          <p:nvPr/>
        </p:nvSpPr>
        <p:spPr>
          <a:xfrm>
            <a:off x="6562758" y="3476657"/>
            <a:ext cx="342900" cy="314325"/>
          </a:xfrm>
          <a:prstGeom prst="rect">
            <a:avLst/>
          </a:prstGeom>
          <a:noFill/>
          <a:ln/>
        </p:spPr>
        <p:txBody>
          <a:bodyPr wrap="square" lIns="25400" tIns="25400" rIns="25400" bIns="25400" rtlCol="0" anchor="ctr">
            <a:normAutofit/>
          </a:bodyPr>
          <a:lstStyle/>
          <a:p>
            <a:pPr marL="0" indent="0" algn="ctr">
              <a:lnSpc>
                <a:spcPct val="125000"/>
              </a:lnSpc>
              <a:buNone/>
            </a:pPr>
            <a:r>
              <a:rPr lang="en-US" sz="1300" kern="1200" dirty="0">
                <a:solidFill>
                  <a:srgbClr val="60A5FA"/>
                </a:solidFill>
                <a:latin typeface="Inter"/>
                <a:ea typeface="Inter"/>
                <a:cs typeface="Inter"/>
              </a:rPr>
              <a:t>→</a:t>
            </a:r>
            <a:endParaRPr lang="en-US" sz="1300" dirty="0"/>
          </a:p>
        </p:txBody>
      </p:sp>
      <p:sp>
        <p:nvSpPr>
          <p:cNvPr id="45" name="Shape 41"/>
          <p:cNvSpPr/>
          <p:nvPr/>
        </p:nvSpPr>
        <p:spPr>
          <a:xfrm>
            <a:off x="6972300" y="3381407"/>
            <a:ext cx="6286500" cy="504825"/>
          </a:xfrm>
          <a:prstGeom prst="roundRect">
            <a:avLst>
              <a:gd name="adj" fmla="val 19280"/>
            </a:avLst>
          </a:prstGeom>
          <a:gradFill rotWithShape="1">
            <a:gsLst>
              <a:gs pos="0">
                <a:srgbClr val="FFFFFF">
                  <a:alpha val="11000"/>
                </a:srgbClr>
              </a:gs>
              <a:gs pos="2249">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46" name="Shape 42"/>
          <p:cNvSpPr/>
          <p:nvPr/>
        </p:nvSpPr>
        <p:spPr>
          <a:xfrm>
            <a:off x="6972300" y="3876707"/>
            <a:ext cx="6286500" cy="9525"/>
          </a:xfrm>
          <a:prstGeom prst="rect">
            <a:avLst/>
          </a:prstGeom>
          <a:solidFill>
            <a:srgbClr val="FFFFFF">
              <a:alpha val="8000"/>
            </a:srgbClr>
          </a:solidFill>
          <a:ln/>
        </p:spPr>
      </p:sp>
      <p:sp>
        <p:nvSpPr>
          <p:cNvPr id="47" name="Shape 43"/>
          <p:cNvSpPr/>
          <p:nvPr/>
        </p:nvSpPr>
        <p:spPr>
          <a:xfrm>
            <a:off x="6972300" y="3381407"/>
            <a:ext cx="6286500" cy="9525"/>
          </a:xfrm>
          <a:prstGeom prst="rect">
            <a:avLst/>
          </a:prstGeom>
          <a:solidFill>
            <a:srgbClr val="FFFFFF">
              <a:alpha val="8000"/>
            </a:srgbClr>
          </a:solidFill>
          <a:ln/>
        </p:spPr>
      </p:sp>
      <p:sp>
        <p:nvSpPr>
          <p:cNvPr id="48" name="Shape 44"/>
          <p:cNvSpPr/>
          <p:nvPr/>
        </p:nvSpPr>
        <p:spPr>
          <a:xfrm>
            <a:off x="6972300" y="3476657"/>
            <a:ext cx="28575" cy="314325"/>
          </a:xfrm>
          <a:prstGeom prst="rect">
            <a:avLst/>
          </a:prstGeom>
          <a:solidFill>
            <a:srgbClr val="10B981"/>
          </a:solidFill>
          <a:ln/>
        </p:spPr>
      </p:sp>
      <p:sp>
        <p:nvSpPr>
          <p:cNvPr id="49" name="Shape 45"/>
          <p:cNvSpPr/>
          <p:nvPr/>
        </p:nvSpPr>
        <p:spPr>
          <a:xfrm>
            <a:off x="13249275" y="3476657"/>
            <a:ext cx="9525" cy="314325"/>
          </a:xfrm>
          <a:prstGeom prst="rect">
            <a:avLst/>
          </a:prstGeom>
          <a:solidFill>
            <a:srgbClr val="FFFFFF">
              <a:alpha val="8000"/>
            </a:srgbClr>
          </a:solidFill>
          <a:ln/>
        </p:spPr>
      </p:sp>
      <p:sp>
        <p:nvSpPr>
          <p:cNvPr id="50" name="Text 46"/>
          <p:cNvSpPr/>
          <p:nvPr/>
        </p:nvSpPr>
        <p:spPr>
          <a:xfrm>
            <a:off x="7086600" y="3495707"/>
            <a:ext cx="5941483" cy="276225"/>
          </a:xfrm>
          <a:prstGeom prst="rect">
            <a:avLst/>
          </a:prstGeom>
          <a:noFill/>
          <a:ln/>
        </p:spPr>
        <p:txBody>
          <a:bodyPr wrap="square" lIns="25400" tIns="25400" rIns="25400" bIns="25400" rtlCol="0" anchor="ctr">
            <a:normAutofit/>
          </a:bodyPr>
          <a:lstStyle/>
          <a:p>
            <a:pPr marL="0" indent="0" algn="l">
              <a:lnSpc>
                <a:spcPct val="125000"/>
              </a:lnSpc>
              <a:buNone/>
            </a:pPr>
            <a:r>
              <a:rPr lang="en-US" sz="1100" kern="1200" dirty="0">
                <a:solidFill>
                  <a:srgbClr val="CBD5E1"/>
                </a:solidFill>
                <a:latin typeface="Inter"/>
                <a:ea typeface="Inter"/>
                <a:cs typeface="Inter"/>
              </a:rPr>
              <a:t>Reverse prompts become a Gem's standing instructions </a:t>
            </a:r>
            <a:endParaRPr lang="en-US" sz="1100" dirty="0"/>
          </a:p>
        </p:txBody>
      </p:sp>
      <p:sp>
        <p:nvSpPr>
          <p:cNvPr id="51" name="Shape 47"/>
          <p:cNvSpPr/>
          <p:nvPr/>
        </p:nvSpPr>
        <p:spPr>
          <a:xfrm>
            <a:off x="457200" y="3962399"/>
            <a:ext cx="6286500" cy="504825"/>
          </a:xfrm>
          <a:prstGeom prst="roundRect">
            <a:avLst>
              <a:gd name="adj" fmla="val 19280"/>
            </a:avLst>
          </a:prstGeom>
          <a:gradFill rotWithShape="1">
            <a:gsLst>
              <a:gs pos="0">
                <a:srgbClr val="FFFFFF">
                  <a:alpha val="11000"/>
                </a:srgbClr>
              </a:gs>
              <a:gs pos="2249">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52" name="Shape 48"/>
          <p:cNvSpPr/>
          <p:nvPr/>
        </p:nvSpPr>
        <p:spPr>
          <a:xfrm>
            <a:off x="457200" y="4457699"/>
            <a:ext cx="6286500" cy="9525"/>
          </a:xfrm>
          <a:prstGeom prst="rect">
            <a:avLst/>
          </a:prstGeom>
          <a:solidFill>
            <a:srgbClr val="FFFFFF">
              <a:alpha val="8000"/>
            </a:srgbClr>
          </a:solidFill>
          <a:ln/>
        </p:spPr>
      </p:sp>
      <p:sp>
        <p:nvSpPr>
          <p:cNvPr id="53" name="Shape 49"/>
          <p:cNvSpPr/>
          <p:nvPr/>
        </p:nvSpPr>
        <p:spPr>
          <a:xfrm>
            <a:off x="457200" y="3962399"/>
            <a:ext cx="6286500" cy="9525"/>
          </a:xfrm>
          <a:prstGeom prst="rect">
            <a:avLst/>
          </a:prstGeom>
          <a:solidFill>
            <a:srgbClr val="FFFFFF">
              <a:alpha val="8000"/>
            </a:srgbClr>
          </a:solidFill>
          <a:ln/>
        </p:spPr>
      </p:sp>
      <p:sp>
        <p:nvSpPr>
          <p:cNvPr id="54" name="Shape 50"/>
          <p:cNvSpPr/>
          <p:nvPr/>
        </p:nvSpPr>
        <p:spPr>
          <a:xfrm>
            <a:off x="457200" y="4057649"/>
            <a:ext cx="28575" cy="314325"/>
          </a:xfrm>
          <a:prstGeom prst="rect">
            <a:avLst/>
          </a:prstGeom>
          <a:solidFill>
            <a:srgbClr val="3B82F6"/>
          </a:solidFill>
          <a:ln/>
        </p:spPr>
      </p:sp>
      <p:sp>
        <p:nvSpPr>
          <p:cNvPr id="55" name="Shape 51"/>
          <p:cNvSpPr/>
          <p:nvPr/>
        </p:nvSpPr>
        <p:spPr>
          <a:xfrm>
            <a:off x="6734175" y="4057649"/>
            <a:ext cx="9525" cy="314325"/>
          </a:xfrm>
          <a:prstGeom prst="rect">
            <a:avLst/>
          </a:prstGeom>
          <a:solidFill>
            <a:srgbClr val="FFFFFF">
              <a:alpha val="8000"/>
            </a:srgbClr>
          </a:solidFill>
          <a:ln/>
        </p:spPr>
      </p:sp>
      <p:sp>
        <p:nvSpPr>
          <p:cNvPr id="56" name="Text 52"/>
          <p:cNvSpPr/>
          <p:nvPr/>
        </p:nvSpPr>
        <p:spPr>
          <a:xfrm>
            <a:off x="571500" y="4076699"/>
            <a:ext cx="5941483" cy="276225"/>
          </a:xfrm>
          <a:prstGeom prst="rect">
            <a:avLst/>
          </a:prstGeom>
          <a:noFill/>
          <a:ln/>
        </p:spPr>
        <p:txBody>
          <a:bodyPr wrap="square" lIns="25400" tIns="25400" rIns="25400" bIns="25400" rtlCol="0" anchor="ctr">
            <a:normAutofit/>
          </a:bodyPr>
          <a:lstStyle/>
          <a:p>
            <a:pPr marL="0" indent="0" algn="l">
              <a:lnSpc>
                <a:spcPct val="125000"/>
              </a:lnSpc>
              <a:buNone/>
            </a:pPr>
            <a:r>
              <a:rPr lang="en-US" sz="1100" kern="1200" dirty="0">
                <a:solidFill>
                  <a:srgbClr val="CBD5E1"/>
                </a:solidFill>
                <a:latin typeface="Inter"/>
                <a:ea typeface="Inter"/>
                <a:cs typeface="Inter"/>
              </a:rPr>
              <a:t>Meta-prompting</a:t>
            </a:r>
            <a:endParaRPr lang="en-US" sz="1100" dirty="0"/>
          </a:p>
        </p:txBody>
      </p:sp>
      <p:sp>
        <p:nvSpPr>
          <p:cNvPr id="57" name="Text 53"/>
          <p:cNvSpPr/>
          <p:nvPr/>
        </p:nvSpPr>
        <p:spPr>
          <a:xfrm>
            <a:off x="6562758" y="4057649"/>
            <a:ext cx="342900" cy="314325"/>
          </a:xfrm>
          <a:prstGeom prst="rect">
            <a:avLst/>
          </a:prstGeom>
          <a:noFill/>
          <a:ln/>
        </p:spPr>
        <p:txBody>
          <a:bodyPr wrap="square" lIns="25400" tIns="25400" rIns="25400" bIns="25400" rtlCol="0" anchor="ctr">
            <a:normAutofit/>
          </a:bodyPr>
          <a:lstStyle/>
          <a:p>
            <a:pPr marL="0" indent="0" algn="ctr">
              <a:lnSpc>
                <a:spcPct val="125000"/>
              </a:lnSpc>
              <a:buNone/>
            </a:pPr>
            <a:r>
              <a:rPr lang="en-US" sz="1300" kern="1200" dirty="0">
                <a:solidFill>
                  <a:srgbClr val="60A5FA"/>
                </a:solidFill>
                <a:latin typeface="Inter"/>
                <a:ea typeface="Inter"/>
                <a:cs typeface="Inter"/>
              </a:rPr>
              <a:t>→</a:t>
            </a:r>
            <a:endParaRPr lang="en-US" sz="1300" dirty="0"/>
          </a:p>
        </p:txBody>
      </p:sp>
      <p:sp>
        <p:nvSpPr>
          <p:cNvPr id="58" name="Shape 54"/>
          <p:cNvSpPr/>
          <p:nvPr/>
        </p:nvSpPr>
        <p:spPr>
          <a:xfrm>
            <a:off x="6972300" y="3962399"/>
            <a:ext cx="6286500" cy="504825"/>
          </a:xfrm>
          <a:prstGeom prst="roundRect">
            <a:avLst>
              <a:gd name="adj" fmla="val 19280"/>
            </a:avLst>
          </a:prstGeom>
          <a:gradFill rotWithShape="1">
            <a:gsLst>
              <a:gs pos="0">
                <a:srgbClr val="FFFFFF">
                  <a:alpha val="11000"/>
                </a:srgbClr>
              </a:gs>
              <a:gs pos="2249">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59" name="Shape 55"/>
          <p:cNvSpPr/>
          <p:nvPr/>
        </p:nvSpPr>
        <p:spPr>
          <a:xfrm>
            <a:off x="6972300" y="4457699"/>
            <a:ext cx="6286500" cy="9525"/>
          </a:xfrm>
          <a:prstGeom prst="rect">
            <a:avLst/>
          </a:prstGeom>
          <a:solidFill>
            <a:srgbClr val="FFFFFF">
              <a:alpha val="8000"/>
            </a:srgbClr>
          </a:solidFill>
          <a:ln/>
        </p:spPr>
      </p:sp>
      <p:sp>
        <p:nvSpPr>
          <p:cNvPr id="60" name="Shape 56"/>
          <p:cNvSpPr/>
          <p:nvPr/>
        </p:nvSpPr>
        <p:spPr>
          <a:xfrm>
            <a:off x="6972300" y="3962399"/>
            <a:ext cx="6286500" cy="9525"/>
          </a:xfrm>
          <a:prstGeom prst="rect">
            <a:avLst/>
          </a:prstGeom>
          <a:solidFill>
            <a:srgbClr val="FFFFFF">
              <a:alpha val="8000"/>
            </a:srgbClr>
          </a:solidFill>
          <a:ln/>
        </p:spPr>
      </p:sp>
      <p:sp>
        <p:nvSpPr>
          <p:cNvPr id="61" name="Shape 57"/>
          <p:cNvSpPr/>
          <p:nvPr/>
        </p:nvSpPr>
        <p:spPr>
          <a:xfrm>
            <a:off x="6972300" y="4057649"/>
            <a:ext cx="28575" cy="314325"/>
          </a:xfrm>
          <a:prstGeom prst="rect">
            <a:avLst/>
          </a:prstGeom>
          <a:solidFill>
            <a:srgbClr val="10B981"/>
          </a:solidFill>
          <a:ln/>
        </p:spPr>
      </p:sp>
      <p:sp>
        <p:nvSpPr>
          <p:cNvPr id="62" name="Shape 58"/>
          <p:cNvSpPr/>
          <p:nvPr/>
        </p:nvSpPr>
        <p:spPr>
          <a:xfrm>
            <a:off x="13249275" y="4057649"/>
            <a:ext cx="9525" cy="314325"/>
          </a:xfrm>
          <a:prstGeom prst="rect">
            <a:avLst/>
          </a:prstGeom>
          <a:solidFill>
            <a:srgbClr val="FFFFFF">
              <a:alpha val="8000"/>
            </a:srgbClr>
          </a:solidFill>
          <a:ln/>
        </p:spPr>
      </p:sp>
      <p:sp>
        <p:nvSpPr>
          <p:cNvPr id="63" name="Text 59"/>
          <p:cNvSpPr/>
          <p:nvPr/>
        </p:nvSpPr>
        <p:spPr>
          <a:xfrm>
            <a:off x="7086600" y="4076699"/>
            <a:ext cx="5941483" cy="276225"/>
          </a:xfrm>
          <a:prstGeom prst="rect">
            <a:avLst/>
          </a:prstGeom>
          <a:noFill/>
          <a:ln/>
        </p:spPr>
        <p:txBody>
          <a:bodyPr wrap="square" lIns="25400" tIns="25400" rIns="25400" bIns="25400" rtlCol="0" anchor="ctr">
            <a:normAutofit/>
          </a:bodyPr>
          <a:lstStyle/>
          <a:p>
            <a:pPr marL="0" indent="0" algn="l">
              <a:lnSpc>
                <a:spcPct val="125000"/>
              </a:lnSpc>
              <a:buNone/>
            </a:pPr>
            <a:r>
              <a:rPr lang="en-US" sz="1100" kern="1200" dirty="0">
                <a:solidFill>
                  <a:srgbClr val="CBD5E1"/>
                </a:solidFill>
                <a:latin typeface="Inter"/>
                <a:ea typeface="Inter"/>
                <a:cs typeface="Inter"/>
              </a:rPr>
              <a:t>Prompt Coach</a:t>
            </a:r>
            <a:endParaRPr lang="en-US" sz="1100" dirty="0"/>
          </a:p>
        </p:txBody>
      </p:sp>
      <p:sp>
        <p:nvSpPr>
          <p:cNvPr id="66" name="Shape 62"/>
          <p:cNvSpPr/>
          <p:nvPr/>
        </p:nvSpPr>
        <p:spPr>
          <a:xfrm>
            <a:off x="457200" y="4543391"/>
            <a:ext cx="6286500" cy="9525"/>
          </a:xfrm>
          <a:prstGeom prst="rect">
            <a:avLst/>
          </a:prstGeom>
          <a:solidFill>
            <a:srgbClr val="FFFFFF">
              <a:alpha val="8000"/>
            </a:srgbClr>
          </a:solidFill>
          <a:ln/>
        </p:spPr>
      </p:sp>
      <p:sp>
        <p:nvSpPr>
          <p:cNvPr id="68" name="Shape 64"/>
          <p:cNvSpPr/>
          <p:nvPr/>
        </p:nvSpPr>
        <p:spPr>
          <a:xfrm>
            <a:off x="6734175" y="4638641"/>
            <a:ext cx="9525" cy="533400"/>
          </a:xfrm>
          <a:prstGeom prst="rect">
            <a:avLst/>
          </a:prstGeom>
          <a:solidFill>
            <a:srgbClr val="FFFFFF">
              <a:alpha val="8000"/>
            </a:srgbClr>
          </a:solidFill>
          <a:ln/>
        </p:spPr>
      </p:sp>
      <p:sp>
        <p:nvSpPr>
          <p:cNvPr id="73" name="Shape 69"/>
          <p:cNvSpPr/>
          <p:nvPr/>
        </p:nvSpPr>
        <p:spPr>
          <a:xfrm>
            <a:off x="6972300" y="4543391"/>
            <a:ext cx="6286500" cy="9525"/>
          </a:xfrm>
          <a:prstGeom prst="rect">
            <a:avLst/>
          </a:prstGeom>
          <a:solidFill>
            <a:srgbClr val="FFFFFF">
              <a:alpha val="8000"/>
            </a:srgbClr>
          </a:solidFill>
          <a:ln/>
        </p:spPr>
      </p:sp>
      <p:sp>
        <p:nvSpPr>
          <p:cNvPr id="75" name="Shape 71"/>
          <p:cNvSpPr/>
          <p:nvPr/>
        </p:nvSpPr>
        <p:spPr>
          <a:xfrm>
            <a:off x="13249275" y="4638641"/>
            <a:ext cx="9525" cy="533400"/>
          </a:xfrm>
          <a:prstGeom prst="rect">
            <a:avLst/>
          </a:prstGeom>
          <a:solidFill>
            <a:srgbClr val="FFFFFF">
              <a:alpha val="8000"/>
            </a:srgbClr>
          </a:solidFill>
          <a:ln/>
        </p:spPr>
      </p:sp>
      <p:sp>
        <p:nvSpPr>
          <p:cNvPr id="103" name="Text 99"/>
          <p:cNvSpPr/>
          <p:nvPr/>
        </p:nvSpPr>
        <p:spPr>
          <a:xfrm>
            <a:off x="457200" y="7138988"/>
            <a:ext cx="2466760" cy="238125"/>
          </a:xfrm>
          <a:prstGeom prst="rect">
            <a:avLst/>
          </a:prstGeom>
          <a:noFill/>
          <a:ln/>
        </p:spPr>
        <p:txBody>
          <a:bodyPr wrap="square" lIns="25400" tIns="25400" rIns="25400" bIns="25400" rtlCol="0" anchor="t">
            <a:normAutofit/>
          </a:bodyPr>
          <a:lstStyle/>
          <a:p>
            <a:pPr marL="0" indent="0" algn="l">
              <a:lnSpc>
                <a:spcPct val="120000"/>
              </a:lnSpc>
              <a:buNone/>
            </a:pPr>
            <a:r>
              <a:rPr lang="en-US" sz="900" kern="1200" dirty="0">
                <a:solidFill>
                  <a:srgbClr val="64748B"/>
                </a:solidFill>
                <a:latin typeface="JetBrains Mono"/>
                <a:ea typeface="JetBrains Mono"/>
                <a:cs typeface="JetBrains Mono"/>
              </a:rPr>
              <a:t>AI Research Management • Lesson 2</a:t>
            </a:r>
            <a:endParaRPr lang="en-US" sz="900" dirty="0"/>
          </a:p>
        </p:txBody>
      </p:sp>
      <p:sp>
        <p:nvSpPr>
          <p:cNvPr id="104" name="Text 100"/>
          <p:cNvSpPr/>
          <p:nvPr/>
        </p:nvSpPr>
        <p:spPr>
          <a:xfrm>
            <a:off x="9991758" y="7162800"/>
            <a:ext cx="561975" cy="190500"/>
          </a:xfrm>
          <a:prstGeom prst="rect">
            <a:avLst/>
          </a:prstGeom>
          <a:noFill/>
          <a:ln/>
        </p:spPr>
        <p:txBody>
          <a:bodyPr wrap="square" lIns="0" tIns="0" rIns="0" bIns="0" rtlCol="0" anchor="t">
            <a:normAutofit/>
          </a:bodyPr>
          <a:lstStyle/>
          <a:p>
            <a:pPr marL="0" indent="0" algn="l">
              <a:lnSpc>
                <a:spcPct val="120000"/>
              </a:lnSpc>
              <a:buNone/>
            </a:pPr>
            <a:r>
              <a:rPr lang="en-US" sz="900" kern="1200" dirty="0">
                <a:solidFill>
                  <a:srgbClr val="64748B"/>
                </a:solidFill>
                <a:latin typeface="JetBrains Mono"/>
                <a:ea typeface="JetBrains Mono"/>
                <a:cs typeface="JetBrains Mono"/>
              </a:rPr>
              <a:t>Progress</a:t>
            </a:r>
            <a:endParaRPr lang="en-US" sz="900" dirty="0"/>
          </a:p>
        </p:txBody>
      </p:sp>
      <p:sp>
        <p:nvSpPr>
          <p:cNvPr id="105" name="Shape 101"/>
          <p:cNvSpPr/>
          <p:nvPr/>
        </p:nvSpPr>
        <p:spPr>
          <a:xfrm>
            <a:off x="10668033" y="7239033"/>
            <a:ext cx="2064808" cy="38034"/>
          </a:xfrm>
          <a:prstGeom prst="roundRect">
            <a:avLst>
              <a:gd name="adj" fmla="val 50000"/>
            </a:avLst>
          </a:prstGeom>
          <a:solidFill>
            <a:srgbClr val="FFFFFF">
              <a:alpha val="6000"/>
            </a:srgbClr>
          </a:solidFill>
          <a:ln/>
        </p:spPr>
      </p:sp>
      <p:sp>
        <p:nvSpPr>
          <p:cNvPr id="106" name="Shape 102"/>
          <p:cNvSpPr/>
          <p:nvPr/>
        </p:nvSpPr>
        <p:spPr>
          <a:xfrm>
            <a:off x="10668033" y="7239033"/>
            <a:ext cx="388342" cy="38034"/>
          </a:xfrm>
          <a:prstGeom prst="roundRect">
            <a:avLst>
              <a:gd name="adj" fmla="val 50000"/>
            </a:avLst>
          </a:prstGeom>
          <a:solidFill>
            <a:srgbClr val="3B82F6"/>
          </a:solidFill>
          <a:ln/>
          <a:effectLst>
            <a:glow rad="190500">
              <a:srgbClr val="3B82F6">
                <a:alpha val="26000"/>
              </a:srgbClr>
            </a:glow>
          </a:effectLst>
        </p:spPr>
      </p:sp>
      <p:sp>
        <p:nvSpPr>
          <p:cNvPr id="107" name="Text 103"/>
          <p:cNvSpPr/>
          <p:nvPr/>
        </p:nvSpPr>
        <p:spPr>
          <a:xfrm>
            <a:off x="12877800" y="7138988"/>
            <a:ext cx="381000" cy="238125"/>
          </a:xfrm>
          <a:prstGeom prst="rect">
            <a:avLst/>
          </a:prstGeom>
          <a:noFill/>
          <a:ln/>
        </p:spPr>
        <p:txBody>
          <a:bodyPr wrap="square" lIns="25400" tIns="25400" rIns="25400" bIns="25400" rtlCol="0" anchor="t">
            <a:normAutofit/>
          </a:bodyPr>
          <a:lstStyle/>
          <a:p>
            <a:pPr marL="0" indent="0" algn="l">
              <a:lnSpc>
                <a:spcPct val="120000"/>
              </a:lnSpc>
              <a:buNone/>
            </a:pPr>
            <a:r>
              <a:rPr lang="en-US" sz="900" kern="1200" dirty="0">
                <a:solidFill>
                  <a:srgbClr val="94A3B8"/>
                </a:solidFill>
                <a:latin typeface="JetBrains Mono"/>
                <a:ea typeface="JetBrains Mono"/>
                <a:cs typeface="JetBrains Mono"/>
              </a:rPr>
              <a:t>20%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Text 2"/>
          <p:cNvSpPr/>
          <p:nvPr/>
        </p:nvSpPr>
        <p:spPr>
          <a:xfrm>
            <a:off x="457200" y="457200"/>
            <a:ext cx="8181975"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Assignment debrief — the next 12 minutes</a:t>
            </a:r>
            <a:endParaRPr lang="en-US" sz="3200" dirty="0"/>
          </a:p>
        </p:txBody>
      </p:sp>
      <p:sp>
        <p:nvSpPr>
          <p:cNvPr id="5" name="Text 3"/>
          <p:cNvSpPr/>
          <p:nvPr/>
        </p:nvSpPr>
        <p:spPr>
          <a:xfrm>
            <a:off x="457200" y="1076325"/>
            <a:ext cx="8170598"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Shown in this order — the four items of the Lesson 1 assignment, one facilitator question each</a:t>
            </a:r>
            <a:endParaRPr lang="en-US" sz="1300" dirty="0"/>
          </a:p>
        </p:txBody>
      </p:sp>
      <p:sp>
        <p:nvSpPr>
          <p:cNvPr id="6" name="Shape 4"/>
          <p:cNvSpPr/>
          <p:nvPr/>
        </p:nvSpPr>
        <p:spPr>
          <a:xfrm>
            <a:off x="8894498" y="457200"/>
            <a:ext cx="4364302" cy="603581"/>
          </a:xfrm>
          <a:prstGeom prst="roundRect">
            <a:avLst>
              <a:gd name="adj" fmla="val 18937"/>
            </a:avLst>
          </a:prstGeom>
          <a:gradFill rotWithShape="1">
            <a:gsLst>
              <a:gs pos="0">
                <a:srgbClr val="3B82F6">
                  <a:alpha val="18000"/>
                </a:srgbClr>
              </a:gs>
              <a:gs pos="100000">
                <a:srgbClr val="3B82F6">
                  <a:alpha val="10000"/>
                </a:srgbClr>
              </a:gs>
            </a:gsLst>
            <a:lin ang="5400000" scaled="0"/>
          </a:gradFill>
          <a:ln w="9525">
            <a:solidFill>
              <a:srgbClr val="3B82F6">
                <a:alpha val="35000"/>
              </a:srgbClr>
            </a:solidFill>
            <a:prstDash val="solid"/>
          </a:ln>
          <a:effectLst>
            <a:outerShdw blurRad="228600" dist="76200" dir="5400000" rotWithShape="0">
              <a:srgbClr val="000000">
                <a:alpha val="25000"/>
              </a:srgbClr>
            </a:outerShdw>
          </a:effectLst>
        </p:spPr>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76399" y="581025"/>
            <a:ext cx="152301" cy="152301"/>
          </a:xfrm>
          <a:prstGeom prst="rect">
            <a:avLst/>
          </a:prstGeom>
        </p:spPr>
      </p:pic>
      <p:sp>
        <p:nvSpPr>
          <p:cNvPr id="8" name="Text 5"/>
          <p:cNvSpPr/>
          <p:nvPr/>
        </p:nvSpPr>
        <p:spPr>
          <a:xfrm>
            <a:off x="9323951" y="581025"/>
            <a:ext cx="3763399" cy="438150"/>
          </a:xfrm>
          <a:prstGeom prst="rect">
            <a:avLst/>
          </a:prstGeom>
          <a:noFill/>
          <a:ln/>
        </p:spPr>
        <p:txBody>
          <a:bodyPr wrap="square" lIns="0" tIns="0" rIns="0" bIns="0" rtlCol="0" anchor="t">
            <a:normAutofit/>
          </a:bodyPr>
          <a:lstStyle/>
          <a:p>
            <a:pPr marL="0" indent="0" algn="l">
              <a:lnSpc>
                <a:spcPct val="125000"/>
              </a:lnSpc>
              <a:buNone/>
            </a:pPr>
            <a:r>
              <a:rPr lang="en-US" sz="1100" kern="1200" dirty="0">
                <a:solidFill>
                  <a:srgbClr val="60A5FA"/>
                </a:solidFill>
                <a:latin typeface="Inter"/>
                <a:ea typeface="Inter"/>
                <a:cs typeface="Inter"/>
              </a:rPr>
              <a:t>2–3 volunteers · 4 minutes each, questions included </a:t>
            </a:r>
            <a:endParaRPr lang="en-US" sz="1100" dirty="0"/>
          </a:p>
        </p:txBody>
      </p:sp>
      <p:sp>
        <p:nvSpPr>
          <p:cNvPr id="9" name="Shape 6"/>
          <p:cNvSpPr/>
          <p:nvPr/>
        </p:nvSpPr>
        <p:spPr>
          <a:xfrm>
            <a:off x="457200" y="2423617"/>
            <a:ext cx="3028950" cy="3228975"/>
          </a:xfrm>
          <a:prstGeom prst="roundRect">
            <a:avLst>
              <a:gd name="adj" fmla="val 3877"/>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0" name="Shape 7"/>
          <p:cNvSpPr/>
          <p:nvPr/>
        </p:nvSpPr>
        <p:spPr>
          <a:xfrm>
            <a:off x="685800" y="2761754"/>
            <a:ext cx="381000" cy="381000"/>
          </a:xfrm>
          <a:prstGeom prst="roundRect">
            <a:avLst>
              <a:gd name="adj" fmla="val 25000"/>
            </a:avLst>
          </a:prstGeom>
          <a:solidFill>
            <a:srgbClr val="2563EB"/>
          </a:solidFill>
          <a:ln/>
        </p:spPr>
      </p:sp>
      <p:sp>
        <p:nvSpPr>
          <p:cNvPr id="11" name="Text 8"/>
          <p:cNvSpPr/>
          <p:nvPr/>
        </p:nvSpPr>
        <p:spPr>
          <a:xfrm>
            <a:off x="685800" y="2761754"/>
            <a:ext cx="381000" cy="381000"/>
          </a:xfrm>
          <a:prstGeom prst="rect">
            <a:avLst/>
          </a:prstGeom>
          <a:noFill/>
          <a:ln/>
        </p:spPr>
        <p:txBody>
          <a:bodyPr wrap="square" lIns="0" tIns="0" rIns="0" bIns="0" rtlCol="0" anchor="ctr">
            <a:normAutofit/>
          </a:bodyPr>
          <a:lstStyle/>
          <a:p>
            <a:pPr marL="0" indent="0" algn="ctr">
              <a:lnSpc>
                <a:spcPct val="115000"/>
              </a:lnSpc>
              <a:buNone/>
            </a:pPr>
            <a:r>
              <a:rPr lang="en-US" sz="1600" b="1" kern="1200" dirty="0">
                <a:solidFill>
                  <a:srgbClr val="FFFFFF"/>
                </a:solidFill>
                <a:latin typeface="JetBrains Mono"/>
                <a:ea typeface="JetBrains Mono"/>
                <a:cs typeface="JetBrains Mono"/>
              </a:rPr>
              <a:t>1</a:t>
            </a:r>
            <a:endParaRPr lang="en-US" sz="1600" dirty="0"/>
          </a:p>
        </p:txBody>
      </p:sp>
      <p:sp>
        <p:nvSpPr>
          <p:cNvPr id="12" name="Text 9"/>
          <p:cNvSpPr/>
          <p:nvPr/>
        </p:nvSpPr>
        <p:spPr>
          <a:xfrm>
            <a:off x="685800" y="3352271"/>
            <a:ext cx="2618383" cy="638175"/>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Anchor Project description</a:t>
            </a:r>
            <a:endParaRPr lang="en-US" sz="1600" dirty="0"/>
          </a:p>
        </p:txBody>
      </p:sp>
      <p:sp>
        <p:nvSpPr>
          <p:cNvPr id="13" name="Text 10"/>
          <p:cNvSpPr/>
          <p:nvPr/>
        </p:nvSpPr>
        <p:spPr>
          <a:xfrm>
            <a:off x="685800" y="4028414"/>
            <a:ext cx="2618383"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five sentences</a:t>
            </a:r>
            <a:endParaRPr lang="en-US" sz="1100" dirty="0"/>
          </a:p>
        </p:txBody>
      </p:sp>
      <p:sp>
        <p:nvSpPr>
          <p:cNvPr id="14" name="Shape 11"/>
          <p:cNvSpPr/>
          <p:nvPr/>
        </p:nvSpPr>
        <p:spPr>
          <a:xfrm>
            <a:off x="685800" y="4590389"/>
            <a:ext cx="2550715" cy="723900"/>
          </a:xfrm>
          <a:custGeom>
            <a:avLst/>
            <a:gdLst/>
            <a:ahLst/>
            <a:cxnLst/>
            <a:rect l="l" t="t" r="r" b="b"/>
            <a:pathLst>
              <a:path w="2469720" h="642607">
                <a:moveTo>
                  <a:pt x="0" y="0"/>
                </a:moveTo>
                <a:lnTo>
                  <a:pt x="2412570" y="0"/>
                </a:lnTo>
                <a:arcTo wR="57150" hR="57150" stAng="16200000" swAng="5400000"/>
                <a:lnTo>
                  <a:pt x="2469720" y="585457"/>
                </a:lnTo>
                <a:arcTo wR="57150" hR="57150" stAng="0" swAng="5400000"/>
                <a:lnTo>
                  <a:pt x="0" y="642607"/>
                </a:lnTo>
                <a:lnTo>
                  <a:pt x="0" y="0"/>
                </a:lnTo>
                <a:close/>
              </a:path>
            </a:pathLst>
          </a:custGeom>
          <a:gradFill rotWithShape="1">
            <a:gsLst>
              <a:gs pos="0">
                <a:srgbClr val="FFFFFF">
                  <a:alpha val="11000"/>
                </a:srgbClr>
              </a:gs>
              <a:gs pos="2075">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5" name="Shape 12"/>
          <p:cNvSpPr/>
          <p:nvPr/>
        </p:nvSpPr>
        <p:spPr>
          <a:xfrm>
            <a:off x="685800" y="4685639"/>
            <a:ext cx="28575" cy="533400"/>
          </a:xfrm>
          <a:prstGeom prst="rect">
            <a:avLst/>
          </a:prstGeom>
          <a:solidFill>
            <a:srgbClr val="60A5FA"/>
          </a:solidFill>
          <a:ln/>
        </p:spPr>
      </p:sp>
      <p:sp>
        <p:nvSpPr>
          <p:cNvPr id="16" name="Text 13"/>
          <p:cNvSpPr/>
          <p:nvPr/>
        </p:nvSpPr>
        <p:spPr>
          <a:xfrm>
            <a:off x="840317" y="4704689"/>
            <a:ext cx="2224748"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“What did you anonymise or invent?”</a:t>
            </a:r>
            <a:endParaRPr lang="en-US" sz="1100" dirty="0"/>
          </a:p>
        </p:txBody>
      </p:sp>
      <p:sp>
        <p:nvSpPr>
          <p:cNvPr id="17" name="Shape 14"/>
          <p:cNvSpPr/>
          <p:nvPr/>
        </p:nvSpPr>
        <p:spPr>
          <a:xfrm>
            <a:off x="3714750" y="2423617"/>
            <a:ext cx="3028950" cy="3228975"/>
          </a:xfrm>
          <a:prstGeom prst="roundRect">
            <a:avLst>
              <a:gd name="adj" fmla="val 3877"/>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8" name="Shape 15"/>
          <p:cNvSpPr/>
          <p:nvPr/>
        </p:nvSpPr>
        <p:spPr>
          <a:xfrm>
            <a:off x="3943350" y="2652217"/>
            <a:ext cx="381000" cy="381000"/>
          </a:xfrm>
          <a:prstGeom prst="roundRect">
            <a:avLst>
              <a:gd name="adj" fmla="val 25000"/>
            </a:avLst>
          </a:prstGeom>
          <a:solidFill>
            <a:srgbClr val="2563EB"/>
          </a:solidFill>
          <a:ln/>
        </p:spPr>
      </p:sp>
      <p:sp>
        <p:nvSpPr>
          <p:cNvPr id="19" name="Text 16"/>
          <p:cNvSpPr/>
          <p:nvPr/>
        </p:nvSpPr>
        <p:spPr>
          <a:xfrm>
            <a:off x="3943350" y="2652217"/>
            <a:ext cx="381000" cy="381000"/>
          </a:xfrm>
          <a:prstGeom prst="rect">
            <a:avLst/>
          </a:prstGeom>
          <a:noFill/>
          <a:ln/>
        </p:spPr>
        <p:txBody>
          <a:bodyPr wrap="square" lIns="0" tIns="0" rIns="0" bIns="0" rtlCol="0" anchor="ctr">
            <a:normAutofit/>
          </a:bodyPr>
          <a:lstStyle/>
          <a:p>
            <a:pPr marL="0" indent="0" algn="ctr">
              <a:lnSpc>
                <a:spcPct val="115000"/>
              </a:lnSpc>
              <a:buNone/>
            </a:pPr>
            <a:r>
              <a:rPr lang="en-US" sz="1600" b="1" kern="1200" dirty="0">
                <a:solidFill>
                  <a:srgbClr val="FFFFFF"/>
                </a:solidFill>
                <a:latin typeface="JetBrains Mono"/>
                <a:ea typeface="JetBrains Mono"/>
                <a:cs typeface="JetBrains Mono"/>
              </a:rPr>
              <a:t>2</a:t>
            </a:r>
            <a:endParaRPr lang="en-US" sz="1600" dirty="0"/>
          </a:p>
        </p:txBody>
      </p:sp>
      <p:sp>
        <p:nvSpPr>
          <p:cNvPr id="20" name="Text 17"/>
          <p:cNvSpPr/>
          <p:nvPr/>
        </p:nvSpPr>
        <p:spPr>
          <a:xfrm>
            <a:off x="3943350" y="3242733"/>
            <a:ext cx="2618383" cy="638175"/>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One of the three ICC prompts</a:t>
            </a:r>
            <a:endParaRPr lang="en-US" sz="1600" dirty="0"/>
          </a:p>
        </p:txBody>
      </p:sp>
      <p:sp>
        <p:nvSpPr>
          <p:cNvPr id="21" name="Text 18"/>
          <p:cNvSpPr/>
          <p:nvPr/>
        </p:nvSpPr>
        <p:spPr>
          <a:xfrm>
            <a:off x="3943350" y="3918877"/>
            <a:ext cx="2618383"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with the one-sentence “what I'd improve”</a:t>
            </a:r>
            <a:endParaRPr lang="en-US" sz="1100" dirty="0"/>
          </a:p>
        </p:txBody>
      </p:sp>
      <p:sp>
        <p:nvSpPr>
          <p:cNvPr id="22" name="Shape 19"/>
          <p:cNvSpPr/>
          <p:nvPr/>
        </p:nvSpPr>
        <p:spPr>
          <a:xfrm>
            <a:off x="3943350" y="4699927"/>
            <a:ext cx="2550716" cy="723900"/>
          </a:xfrm>
          <a:custGeom>
            <a:avLst/>
            <a:gdLst/>
            <a:ahLst/>
            <a:cxnLst/>
            <a:rect l="l" t="t" r="r" b="b"/>
            <a:pathLst>
              <a:path w="2469886" h="435570">
                <a:moveTo>
                  <a:pt x="0" y="0"/>
                </a:moveTo>
                <a:lnTo>
                  <a:pt x="2412736" y="0"/>
                </a:lnTo>
                <a:arcTo wR="57150" hR="57150" stAng="16200000" swAng="5400000"/>
                <a:lnTo>
                  <a:pt x="2469886" y="378420"/>
                </a:lnTo>
                <a:arcTo wR="57150" hR="57150" stAng="0" swAng="5400000"/>
                <a:lnTo>
                  <a:pt x="0" y="435570"/>
                </a:lnTo>
                <a:lnTo>
                  <a:pt x="0" y="0"/>
                </a:lnTo>
                <a:close/>
              </a:path>
            </a:pathLst>
          </a:custGeom>
          <a:gradFill rotWithShape="1">
            <a:gsLst>
              <a:gs pos="0">
                <a:srgbClr val="FFFFFF">
                  <a:alpha val="11000"/>
                </a:srgbClr>
              </a:gs>
              <a:gs pos="3062">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3" name="Shape 20"/>
          <p:cNvSpPr/>
          <p:nvPr/>
        </p:nvSpPr>
        <p:spPr>
          <a:xfrm>
            <a:off x="3943350" y="4795177"/>
            <a:ext cx="28575" cy="533400"/>
          </a:xfrm>
          <a:prstGeom prst="rect">
            <a:avLst/>
          </a:prstGeom>
          <a:solidFill>
            <a:srgbClr val="60A5FA"/>
          </a:solidFill>
          <a:ln/>
        </p:spPr>
      </p:sp>
      <p:sp>
        <p:nvSpPr>
          <p:cNvPr id="24" name="Text 21"/>
          <p:cNvSpPr/>
          <p:nvPr/>
        </p:nvSpPr>
        <p:spPr>
          <a:xfrm>
            <a:off x="4097867" y="4814227"/>
            <a:ext cx="2224749" cy="78363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“Which pattern did it use, if any?”</a:t>
            </a:r>
            <a:endParaRPr lang="en-US" sz="1100" dirty="0"/>
          </a:p>
        </p:txBody>
      </p:sp>
      <p:sp>
        <p:nvSpPr>
          <p:cNvPr id="25" name="Shape 22"/>
          <p:cNvSpPr/>
          <p:nvPr/>
        </p:nvSpPr>
        <p:spPr>
          <a:xfrm>
            <a:off x="6972300" y="2423617"/>
            <a:ext cx="3028950" cy="3228975"/>
          </a:xfrm>
          <a:prstGeom prst="roundRect">
            <a:avLst>
              <a:gd name="adj" fmla="val 3877"/>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6" name="Shape 23"/>
          <p:cNvSpPr/>
          <p:nvPr/>
        </p:nvSpPr>
        <p:spPr>
          <a:xfrm>
            <a:off x="7200900" y="2814142"/>
            <a:ext cx="381000" cy="381000"/>
          </a:xfrm>
          <a:prstGeom prst="roundRect">
            <a:avLst>
              <a:gd name="adj" fmla="val 25000"/>
            </a:avLst>
          </a:prstGeom>
          <a:solidFill>
            <a:srgbClr val="2563EB"/>
          </a:solidFill>
          <a:ln/>
        </p:spPr>
      </p:sp>
      <p:sp>
        <p:nvSpPr>
          <p:cNvPr id="27" name="Text 24"/>
          <p:cNvSpPr/>
          <p:nvPr/>
        </p:nvSpPr>
        <p:spPr>
          <a:xfrm>
            <a:off x="7200900" y="2814142"/>
            <a:ext cx="381000" cy="381000"/>
          </a:xfrm>
          <a:prstGeom prst="rect">
            <a:avLst/>
          </a:prstGeom>
          <a:noFill/>
          <a:ln/>
        </p:spPr>
        <p:txBody>
          <a:bodyPr wrap="square" lIns="0" tIns="0" rIns="0" bIns="0" rtlCol="0" anchor="ctr">
            <a:normAutofit/>
          </a:bodyPr>
          <a:lstStyle/>
          <a:p>
            <a:pPr marL="0" indent="0" algn="ctr">
              <a:lnSpc>
                <a:spcPct val="115000"/>
              </a:lnSpc>
              <a:buNone/>
            </a:pPr>
            <a:r>
              <a:rPr lang="en-US" sz="1600" b="1" kern="1200" dirty="0">
                <a:solidFill>
                  <a:srgbClr val="FFFFFF"/>
                </a:solidFill>
                <a:latin typeface="JetBrains Mono"/>
                <a:ea typeface="JetBrains Mono"/>
                <a:cs typeface="JetBrains Mono"/>
              </a:rPr>
              <a:t>3</a:t>
            </a:r>
            <a:endParaRPr lang="en-US" sz="1600" dirty="0"/>
          </a:p>
        </p:txBody>
      </p:sp>
      <p:sp>
        <p:nvSpPr>
          <p:cNvPr id="28" name="Text 25"/>
          <p:cNvSpPr/>
          <p:nvPr/>
        </p:nvSpPr>
        <p:spPr>
          <a:xfrm>
            <a:off x="7200900" y="3404658"/>
            <a:ext cx="2618382"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Ask-me-first result</a:t>
            </a:r>
            <a:endParaRPr lang="en-US" sz="1600" dirty="0"/>
          </a:p>
        </p:txBody>
      </p:sp>
      <p:sp>
        <p:nvSpPr>
          <p:cNvPr id="29" name="Text 26"/>
          <p:cNvSpPr/>
          <p:nvPr/>
        </p:nvSpPr>
        <p:spPr>
          <a:xfrm>
            <a:off x="7200900" y="3785527"/>
            <a:ext cx="2618382"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what the model asked back</a:t>
            </a:r>
            <a:endParaRPr lang="en-US" sz="1100" dirty="0"/>
          </a:p>
        </p:txBody>
      </p:sp>
      <p:sp>
        <p:nvSpPr>
          <p:cNvPr id="30" name="Shape 27"/>
          <p:cNvSpPr/>
          <p:nvPr/>
        </p:nvSpPr>
        <p:spPr>
          <a:xfrm>
            <a:off x="7200900" y="4347502"/>
            <a:ext cx="2550716" cy="504825"/>
          </a:xfrm>
          <a:custGeom>
            <a:avLst/>
            <a:gdLst/>
            <a:ahLst/>
            <a:cxnLst/>
            <a:rect l="l" t="t" r="r" b="b"/>
            <a:pathLst>
              <a:path w="2469886" h="435570">
                <a:moveTo>
                  <a:pt x="0" y="0"/>
                </a:moveTo>
                <a:lnTo>
                  <a:pt x="2412736" y="0"/>
                </a:lnTo>
                <a:arcTo wR="57150" hR="57150" stAng="16200000" swAng="5400000"/>
                <a:lnTo>
                  <a:pt x="2469886" y="378420"/>
                </a:lnTo>
                <a:arcTo wR="57150" hR="57150" stAng="0" swAng="5400000"/>
                <a:lnTo>
                  <a:pt x="0" y="435570"/>
                </a:lnTo>
                <a:lnTo>
                  <a:pt x="0" y="0"/>
                </a:lnTo>
                <a:close/>
              </a:path>
            </a:pathLst>
          </a:custGeom>
          <a:gradFill rotWithShape="1">
            <a:gsLst>
              <a:gs pos="0">
                <a:srgbClr val="FFFFFF">
                  <a:alpha val="11000"/>
                </a:srgbClr>
              </a:gs>
              <a:gs pos="3062">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1" name="Shape 28"/>
          <p:cNvSpPr/>
          <p:nvPr/>
        </p:nvSpPr>
        <p:spPr>
          <a:xfrm>
            <a:off x="7200900" y="4442752"/>
            <a:ext cx="28575" cy="314325"/>
          </a:xfrm>
          <a:prstGeom prst="rect">
            <a:avLst/>
          </a:prstGeom>
          <a:solidFill>
            <a:srgbClr val="60A5FA"/>
          </a:solidFill>
          <a:ln/>
        </p:spPr>
      </p:sp>
      <p:sp>
        <p:nvSpPr>
          <p:cNvPr id="32" name="Text 29"/>
          <p:cNvSpPr/>
          <p:nvPr/>
        </p:nvSpPr>
        <p:spPr>
          <a:xfrm>
            <a:off x="7355416" y="4461802"/>
            <a:ext cx="222475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“Were the questions useful?”</a:t>
            </a:r>
            <a:endParaRPr lang="en-US" sz="1100" dirty="0"/>
          </a:p>
        </p:txBody>
      </p:sp>
      <p:sp>
        <p:nvSpPr>
          <p:cNvPr id="33" name="Shape 30"/>
          <p:cNvSpPr/>
          <p:nvPr/>
        </p:nvSpPr>
        <p:spPr>
          <a:xfrm>
            <a:off x="10229850" y="2423617"/>
            <a:ext cx="3028950" cy="3228975"/>
          </a:xfrm>
          <a:prstGeom prst="roundRect">
            <a:avLst>
              <a:gd name="adj" fmla="val 3877"/>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4" name="Shape 31"/>
          <p:cNvSpPr/>
          <p:nvPr/>
        </p:nvSpPr>
        <p:spPr>
          <a:xfrm>
            <a:off x="10458450" y="2814142"/>
            <a:ext cx="381000" cy="381000"/>
          </a:xfrm>
          <a:prstGeom prst="roundRect">
            <a:avLst>
              <a:gd name="adj" fmla="val 25000"/>
            </a:avLst>
          </a:prstGeom>
          <a:solidFill>
            <a:srgbClr val="2563EB"/>
          </a:solidFill>
          <a:ln/>
        </p:spPr>
      </p:sp>
      <p:sp>
        <p:nvSpPr>
          <p:cNvPr id="35" name="Text 32"/>
          <p:cNvSpPr/>
          <p:nvPr/>
        </p:nvSpPr>
        <p:spPr>
          <a:xfrm>
            <a:off x="10458450" y="2814142"/>
            <a:ext cx="381000" cy="381000"/>
          </a:xfrm>
          <a:prstGeom prst="rect">
            <a:avLst/>
          </a:prstGeom>
          <a:noFill/>
          <a:ln/>
        </p:spPr>
        <p:txBody>
          <a:bodyPr wrap="square" lIns="0" tIns="0" rIns="0" bIns="0" rtlCol="0" anchor="ctr">
            <a:normAutofit/>
          </a:bodyPr>
          <a:lstStyle/>
          <a:p>
            <a:pPr marL="0" indent="0" algn="ctr">
              <a:lnSpc>
                <a:spcPct val="115000"/>
              </a:lnSpc>
              <a:buNone/>
            </a:pPr>
            <a:r>
              <a:rPr lang="en-US" sz="1600" b="1" kern="1200" dirty="0">
                <a:solidFill>
                  <a:srgbClr val="FFFFFF"/>
                </a:solidFill>
                <a:latin typeface="JetBrains Mono"/>
                <a:ea typeface="JetBrains Mono"/>
                <a:cs typeface="JetBrains Mono"/>
              </a:rPr>
              <a:t>4</a:t>
            </a:r>
            <a:endParaRPr lang="en-US" sz="1600" dirty="0"/>
          </a:p>
        </p:txBody>
      </p:sp>
      <p:sp>
        <p:nvSpPr>
          <p:cNvPr id="36" name="Text 33"/>
          <p:cNvSpPr/>
          <p:nvPr/>
        </p:nvSpPr>
        <p:spPr>
          <a:xfrm>
            <a:off x="10458450" y="3404658"/>
            <a:ext cx="261838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The meta-prompt</a:t>
            </a:r>
            <a:endParaRPr lang="en-US" sz="1600" dirty="0"/>
          </a:p>
        </p:txBody>
      </p:sp>
      <p:sp>
        <p:nvSpPr>
          <p:cNvPr id="37" name="Text 34"/>
          <p:cNvSpPr/>
          <p:nvPr/>
        </p:nvSpPr>
        <p:spPr>
          <a:xfrm>
            <a:off x="10458450" y="3785527"/>
            <a:ext cx="2618383"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the generated prompt</a:t>
            </a:r>
            <a:endParaRPr lang="en-US" sz="1100" dirty="0"/>
          </a:p>
        </p:txBody>
      </p:sp>
      <p:sp>
        <p:nvSpPr>
          <p:cNvPr id="38" name="Shape 35"/>
          <p:cNvSpPr/>
          <p:nvPr/>
        </p:nvSpPr>
        <p:spPr>
          <a:xfrm>
            <a:off x="10458450" y="4347502"/>
            <a:ext cx="2550716" cy="504825"/>
          </a:xfrm>
          <a:custGeom>
            <a:avLst/>
            <a:gdLst/>
            <a:ahLst/>
            <a:cxnLst/>
            <a:rect l="l" t="t" r="r" b="b"/>
            <a:pathLst>
              <a:path w="2469886" h="435570">
                <a:moveTo>
                  <a:pt x="0" y="0"/>
                </a:moveTo>
                <a:lnTo>
                  <a:pt x="2412736" y="0"/>
                </a:lnTo>
                <a:arcTo wR="57150" hR="57150" stAng="16200000" swAng="5400000"/>
                <a:lnTo>
                  <a:pt x="2469886" y="378420"/>
                </a:lnTo>
                <a:arcTo wR="57150" hR="57150" stAng="0" swAng="5400000"/>
                <a:lnTo>
                  <a:pt x="0" y="435570"/>
                </a:lnTo>
                <a:lnTo>
                  <a:pt x="0" y="0"/>
                </a:lnTo>
                <a:close/>
              </a:path>
            </a:pathLst>
          </a:custGeom>
          <a:gradFill rotWithShape="1">
            <a:gsLst>
              <a:gs pos="0">
                <a:srgbClr val="FFFFFF">
                  <a:alpha val="11000"/>
                </a:srgbClr>
              </a:gs>
              <a:gs pos="3062">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9" name="Shape 36"/>
          <p:cNvSpPr/>
          <p:nvPr/>
        </p:nvSpPr>
        <p:spPr>
          <a:xfrm>
            <a:off x="10458450" y="4442752"/>
            <a:ext cx="28575" cy="314325"/>
          </a:xfrm>
          <a:prstGeom prst="rect">
            <a:avLst/>
          </a:prstGeom>
          <a:solidFill>
            <a:srgbClr val="60A5FA"/>
          </a:solidFill>
          <a:ln/>
        </p:spPr>
      </p:sp>
      <p:sp>
        <p:nvSpPr>
          <p:cNvPr id="40" name="Text 37"/>
          <p:cNvSpPr/>
          <p:nvPr/>
        </p:nvSpPr>
        <p:spPr>
          <a:xfrm>
            <a:off x="10612967" y="4461802"/>
            <a:ext cx="2224749"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“Did it beat the naive attempt?”</a:t>
            </a:r>
            <a:endParaRPr lang="en-US" sz="1100" dirty="0"/>
          </a:p>
        </p:txBody>
      </p:sp>
      <p:sp>
        <p:nvSpPr>
          <p:cNvPr id="41" name="Shape 38"/>
          <p:cNvSpPr/>
          <p:nvPr/>
        </p:nvSpPr>
        <p:spPr>
          <a:xfrm>
            <a:off x="457200" y="6991350"/>
            <a:ext cx="12801600" cy="9525"/>
          </a:xfrm>
          <a:prstGeom prst="rect">
            <a:avLst/>
          </a:prstGeom>
          <a:solidFill>
            <a:srgbClr val="FFFFFF">
              <a:alpha val="7000"/>
            </a:srgbClr>
          </a:solidFill>
          <a:ln/>
        </p:spPr>
      </p:sp>
      <p:sp>
        <p:nvSpPr>
          <p:cNvPr id="42" name="Text 39"/>
          <p:cNvSpPr/>
          <p:nvPr/>
        </p:nvSpPr>
        <p:spPr>
          <a:xfrm>
            <a:off x="457200" y="6082209"/>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You get a time check in the chat at 3 minutes · we cut at 4 · didn't finish the assignment? Practice Week 1 is the venue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Text 2"/>
          <p:cNvSpPr/>
          <p:nvPr/>
        </p:nvSpPr>
        <p:spPr>
          <a:xfrm>
            <a:off x="457200" y="4572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Common problems — captured live</a:t>
            </a:r>
            <a:endParaRPr lang="en-US" sz="3200" dirty="0"/>
          </a:p>
        </p:txBody>
      </p:sp>
      <p:sp>
        <p:nvSpPr>
          <p:cNvPr id="5" name="Text 3"/>
          <p:cNvSpPr/>
          <p:nvPr/>
        </p:nvSpPr>
        <p:spPr>
          <a:xfrm>
            <a:off x="457200" y="1076325"/>
            <a:ext cx="128016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One line per problem, typed in as it comes up, filed under the item it belongs to</a:t>
            </a:r>
            <a:endParaRPr lang="en-US" sz="1300" dirty="0"/>
          </a:p>
        </p:txBody>
      </p:sp>
      <p:sp>
        <p:nvSpPr>
          <p:cNvPr id="6" name="Shape 4"/>
          <p:cNvSpPr/>
          <p:nvPr/>
        </p:nvSpPr>
        <p:spPr>
          <a:xfrm>
            <a:off x="457200" y="2276475"/>
            <a:ext cx="3028950" cy="2447925"/>
          </a:xfrm>
          <a:prstGeom prst="roundRect">
            <a:avLst>
              <a:gd name="adj" fmla="val 3877"/>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7" name="Shape 5"/>
          <p:cNvSpPr/>
          <p:nvPr/>
        </p:nvSpPr>
        <p:spPr>
          <a:xfrm>
            <a:off x="457200" y="4714875"/>
            <a:ext cx="3028950" cy="9525"/>
          </a:xfrm>
          <a:prstGeom prst="rect">
            <a:avLst/>
          </a:prstGeom>
          <a:solidFill>
            <a:srgbClr val="FFFFFF">
              <a:alpha val="8000"/>
            </a:srgbClr>
          </a:solidFill>
          <a:ln/>
        </p:spPr>
      </p:sp>
      <p:sp>
        <p:nvSpPr>
          <p:cNvPr id="8" name="Shape 6"/>
          <p:cNvSpPr/>
          <p:nvPr/>
        </p:nvSpPr>
        <p:spPr>
          <a:xfrm>
            <a:off x="457200" y="2276475"/>
            <a:ext cx="3028950" cy="9525"/>
          </a:xfrm>
          <a:prstGeom prst="rect">
            <a:avLst/>
          </a:prstGeom>
          <a:solidFill>
            <a:srgbClr val="FFFFFF">
              <a:alpha val="8000"/>
            </a:srgbClr>
          </a:solidFill>
          <a:ln/>
        </p:spPr>
      </p:sp>
      <p:sp>
        <p:nvSpPr>
          <p:cNvPr id="9" name="Shape 7"/>
          <p:cNvSpPr/>
          <p:nvPr/>
        </p:nvSpPr>
        <p:spPr>
          <a:xfrm>
            <a:off x="457200" y="2371725"/>
            <a:ext cx="28575" cy="2257425"/>
          </a:xfrm>
          <a:prstGeom prst="rect">
            <a:avLst/>
          </a:prstGeom>
          <a:solidFill>
            <a:srgbClr val="3B82F6"/>
          </a:solidFill>
          <a:ln/>
        </p:spPr>
      </p:sp>
      <p:sp>
        <p:nvSpPr>
          <p:cNvPr id="10" name="Shape 8"/>
          <p:cNvSpPr/>
          <p:nvPr/>
        </p:nvSpPr>
        <p:spPr>
          <a:xfrm>
            <a:off x="3476625" y="2371725"/>
            <a:ext cx="9525" cy="2257425"/>
          </a:xfrm>
          <a:prstGeom prst="rect">
            <a:avLst/>
          </a:prstGeom>
          <a:solidFill>
            <a:srgbClr val="FFFFFF">
              <a:alpha val="8000"/>
            </a:srgbClr>
          </a:solidFill>
          <a:ln/>
        </p:spPr>
      </p:sp>
      <p:sp>
        <p:nvSpPr>
          <p:cNvPr id="11" name="Shape 9"/>
          <p:cNvSpPr/>
          <p:nvPr/>
        </p:nvSpPr>
        <p:spPr>
          <a:xfrm>
            <a:off x="592633" y="2395537"/>
            <a:ext cx="381000" cy="381000"/>
          </a:xfrm>
          <a:prstGeom prst="roundRect">
            <a:avLst>
              <a:gd name="adj" fmla="val 25000"/>
            </a:avLst>
          </a:prstGeom>
          <a:solidFill>
            <a:srgbClr val="3B82F6">
              <a:alpha val="14000"/>
            </a:srgbClr>
          </a:solidFill>
          <a:ln/>
        </p:spPr>
      </p:sp>
      <p:pic>
        <p:nvPicPr>
          <p:cNvPr id="1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7883" y="2490787"/>
            <a:ext cx="190500" cy="190500"/>
          </a:xfrm>
          <a:prstGeom prst="rect">
            <a:avLst/>
          </a:prstGeom>
        </p:spPr>
      </p:pic>
      <p:sp>
        <p:nvSpPr>
          <p:cNvPr id="13" name="Text 10"/>
          <p:cNvSpPr/>
          <p:nvPr/>
        </p:nvSpPr>
        <p:spPr>
          <a:xfrm>
            <a:off x="992650" y="2395537"/>
            <a:ext cx="2169650"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Anchor Project</a:t>
            </a:r>
            <a:endParaRPr lang="en-US" sz="1600" dirty="0"/>
          </a:p>
        </p:txBody>
      </p:sp>
      <p:sp>
        <p:nvSpPr>
          <p:cNvPr id="14" name="Shape 11"/>
          <p:cNvSpPr/>
          <p:nvPr/>
        </p:nvSpPr>
        <p:spPr>
          <a:xfrm>
            <a:off x="3714750" y="2276475"/>
            <a:ext cx="3028950" cy="2447925"/>
          </a:xfrm>
          <a:prstGeom prst="roundRect">
            <a:avLst>
              <a:gd name="adj" fmla="val 3877"/>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5" name="Shape 12"/>
          <p:cNvSpPr/>
          <p:nvPr/>
        </p:nvSpPr>
        <p:spPr>
          <a:xfrm>
            <a:off x="3714750" y="4714875"/>
            <a:ext cx="3028950" cy="9525"/>
          </a:xfrm>
          <a:prstGeom prst="rect">
            <a:avLst/>
          </a:prstGeom>
          <a:solidFill>
            <a:srgbClr val="FFFFFF">
              <a:alpha val="8000"/>
            </a:srgbClr>
          </a:solidFill>
          <a:ln/>
        </p:spPr>
      </p:sp>
      <p:sp>
        <p:nvSpPr>
          <p:cNvPr id="16" name="Shape 13"/>
          <p:cNvSpPr/>
          <p:nvPr/>
        </p:nvSpPr>
        <p:spPr>
          <a:xfrm>
            <a:off x="3714750" y="2276475"/>
            <a:ext cx="3028950" cy="9525"/>
          </a:xfrm>
          <a:prstGeom prst="rect">
            <a:avLst/>
          </a:prstGeom>
          <a:solidFill>
            <a:srgbClr val="FFFFFF">
              <a:alpha val="8000"/>
            </a:srgbClr>
          </a:solidFill>
          <a:ln/>
        </p:spPr>
      </p:sp>
      <p:sp>
        <p:nvSpPr>
          <p:cNvPr id="17" name="Shape 14"/>
          <p:cNvSpPr/>
          <p:nvPr/>
        </p:nvSpPr>
        <p:spPr>
          <a:xfrm>
            <a:off x="3714750" y="2371725"/>
            <a:ext cx="28575" cy="2257425"/>
          </a:xfrm>
          <a:prstGeom prst="rect">
            <a:avLst/>
          </a:prstGeom>
          <a:solidFill>
            <a:srgbClr val="3B82F6"/>
          </a:solidFill>
          <a:ln/>
        </p:spPr>
      </p:sp>
      <p:sp>
        <p:nvSpPr>
          <p:cNvPr id="18" name="Shape 15"/>
          <p:cNvSpPr/>
          <p:nvPr/>
        </p:nvSpPr>
        <p:spPr>
          <a:xfrm>
            <a:off x="6734175" y="2371725"/>
            <a:ext cx="9525" cy="2257425"/>
          </a:xfrm>
          <a:prstGeom prst="rect">
            <a:avLst/>
          </a:prstGeom>
          <a:solidFill>
            <a:srgbClr val="FFFFFF">
              <a:alpha val="8000"/>
            </a:srgbClr>
          </a:solidFill>
          <a:ln/>
        </p:spPr>
      </p:sp>
      <p:sp>
        <p:nvSpPr>
          <p:cNvPr id="19" name="Shape 16"/>
          <p:cNvSpPr/>
          <p:nvPr/>
        </p:nvSpPr>
        <p:spPr>
          <a:xfrm>
            <a:off x="3850184" y="2371725"/>
            <a:ext cx="381000" cy="381000"/>
          </a:xfrm>
          <a:prstGeom prst="roundRect">
            <a:avLst>
              <a:gd name="adj" fmla="val 25000"/>
            </a:avLst>
          </a:prstGeom>
          <a:solidFill>
            <a:srgbClr val="3B82F6">
              <a:alpha val="14000"/>
            </a:srgbClr>
          </a:solidFill>
          <a:ln/>
        </p:spPr>
      </p:sp>
      <p:pic>
        <p:nvPicPr>
          <p:cNvPr id="2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45434" y="2466975"/>
            <a:ext cx="190500" cy="190500"/>
          </a:xfrm>
          <a:prstGeom prst="rect">
            <a:avLst/>
          </a:prstGeom>
        </p:spPr>
      </p:pic>
      <p:sp>
        <p:nvSpPr>
          <p:cNvPr id="21" name="Text 17"/>
          <p:cNvSpPr/>
          <p:nvPr/>
        </p:nvSpPr>
        <p:spPr>
          <a:xfrm>
            <a:off x="4250201" y="2371725"/>
            <a:ext cx="2169649"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ICC</a:t>
            </a:r>
            <a:endParaRPr lang="en-US" sz="1600" dirty="0"/>
          </a:p>
        </p:txBody>
      </p:sp>
      <p:sp>
        <p:nvSpPr>
          <p:cNvPr id="22" name="Shape 18"/>
          <p:cNvSpPr/>
          <p:nvPr/>
        </p:nvSpPr>
        <p:spPr>
          <a:xfrm>
            <a:off x="6972300" y="2276475"/>
            <a:ext cx="3028950" cy="2447925"/>
          </a:xfrm>
          <a:prstGeom prst="roundRect">
            <a:avLst>
              <a:gd name="adj" fmla="val 3877"/>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3" name="Shape 19"/>
          <p:cNvSpPr/>
          <p:nvPr/>
        </p:nvSpPr>
        <p:spPr>
          <a:xfrm>
            <a:off x="6972300" y="4714875"/>
            <a:ext cx="3028950" cy="9525"/>
          </a:xfrm>
          <a:prstGeom prst="rect">
            <a:avLst/>
          </a:prstGeom>
          <a:solidFill>
            <a:srgbClr val="FFFFFF">
              <a:alpha val="8000"/>
            </a:srgbClr>
          </a:solidFill>
          <a:ln/>
        </p:spPr>
      </p:sp>
      <p:sp>
        <p:nvSpPr>
          <p:cNvPr id="24" name="Shape 20"/>
          <p:cNvSpPr/>
          <p:nvPr/>
        </p:nvSpPr>
        <p:spPr>
          <a:xfrm>
            <a:off x="6972300" y="2276475"/>
            <a:ext cx="3028950" cy="9525"/>
          </a:xfrm>
          <a:prstGeom prst="rect">
            <a:avLst/>
          </a:prstGeom>
          <a:solidFill>
            <a:srgbClr val="FFFFFF">
              <a:alpha val="8000"/>
            </a:srgbClr>
          </a:solidFill>
          <a:ln/>
        </p:spPr>
      </p:sp>
      <p:sp>
        <p:nvSpPr>
          <p:cNvPr id="25" name="Shape 21"/>
          <p:cNvSpPr/>
          <p:nvPr/>
        </p:nvSpPr>
        <p:spPr>
          <a:xfrm>
            <a:off x="6972300" y="2371725"/>
            <a:ext cx="28575" cy="2257425"/>
          </a:xfrm>
          <a:prstGeom prst="rect">
            <a:avLst/>
          </a:prstGeom>
          <a:solidFill>
            <a:srgbClr val="3B82F6"/>
          </a:solidFill>
          <a:ln/>
        </p:spPr>
      </p:sp>
      <p:sp>
        <p:nvSpPr>
          <p:cNvPr id="26" name="Shape 22"/>
          <p:cNvSpPr/>
          <p:nvPr/>
        </p:nvSpPr>
        <p:spPr>
          <a:xfrm>
            <a:off x="9991725" y="2371725"/>
            <a:ext cx="9525" cy="2257425"/>
          </a:xfrm>
          <a:prstGeom prst="rect">
            <a:avLst/>
          </a:prstGeom>
          <a:solidFill>
            <a:srgbClr val="FFFFFF">
              <a:alpha val="8000"/>
            </a:srgbClr>
          </a:solidFill>
          <a:ln/>
        </p:spPr>
      </p:sp>
      <p:sp>
        <p:nvSpPr>
          <p:cNvPr id="27" name="Shape 23"/>
          <p:cNvSpPr/>
          <p:nvPr/>
        </p:nvSpPr>
        <p:spPr>
          <a:xfrm>
            <a:off x="7116217" y="2371725"/>
            <a:ext cx="381000" cy="381000"/>
          </a:xfrm>
          <a:prstGeom prst="roundRect">
            <a:avLst>
              <a:gd name="adj" fmla="val 25000"/>
            </a:avLst>
          </a:prstGeom>
          <a:solidFill>
            <a:srgbClr val="3B82F6">
              <a:alpha val="14000"/>
            </a:srgbClr>
          </a:solidFill>
          <a:ln/>
        </p:spPr>
      </p:sp>
      <p:pic>
        <p:nvPicPr>
          <p:cNvPr id="2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11467" y="2466975"/>
            <a:ext cx="190500" cy="190500"/>
          </a:xfrm>
          <a:prstGeom prst="rect">
            <a:avLst/>
          </a:prstGeom>
        </p:spPr>
      </p:pic>
      <p:sp>
        <p:nvSpPr>
          <p:cNvPr id="29" name="Text 24"/>
          <p:cNvSpPr/>
          <p:nvPr/>
        </p:nvSpPr>
        <p:spPr>
          <a:xfrm>
            <a:off x="7516234" y="2371725"/>
            <a:ext cx="2169649"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Ask-me-first</a:t>
            </a:r>
            <a:endParaRPr lang="en-US" sz="1600" dirty="0"/>
          </a:p>
        </p:txBody>
      </p:sp>
      <p:sp>
        <p:nvSpPr>
          <p:cNvPr id="30" name="Shape 25"/>
          <p:cNvSpPr/>
          <p:nvPr/>
        </p:nvSpPr>
        <p:spPr>
          <a:xfrm>
            <a:off x="10229850" y="2276475"/>
            <a:ext cx="3028950" cy="2447925"/>
          </a:xfrm>
          <a:prstGeom prst="roundRect">
            <a:avLst>
              <a:gd name="adj" fmla="val 3877"/>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1" name="Shape 26"/>
          <p:cNvSpPr/>
          <p:nvPr/>
        </p:nvSpPr>
        <p:spPr>
          <a:xfrm>
            <a:off x="10229850" y="4714875"/>
            <a:ext cx="3028950" cy="9525"/>
          </a:xfrm>
          <a:prstGeom prst="rect">
            <a:avLst/>
          </a:prstGeom>
          <a:solidFill>
            <a:srgbClr val="FFFFFF">
              <a:alpha val="8000"/>
            </a:srgbClr>
          </a:solidFill>
          <a:ln/>
        </p:spPr>
      </p:sp>
      <p:sp>
        <p:nvSpPr>
          <p:cNvPr id="32" name="Shape 27"/>
          <p:cNvSpPr/>
          <p:nvPr/>
        </p:nvSpPr>
        <p:spPr>
          <a:xfrm>
            <a:off x="10229850" y="2276475"/>
            <a:ext cx="3028950" cy="9525"/>
          </a:xfrm>
          <a:prstGeom prst="rect">
            <a:avLst/>
          </a:prstGeom>
          <a:solidFill>
            <a:srgbClr val="FFFFFF">
              <a:alpha val="8000"/>
            </a:srgbClr>
          </a:solidFill>
          <a:ln/>
        </p:spPr>
      </p:sp>
      <p:sp>
        <p:nvSpPr>
          <p:cNvPr id="33" name="Shape 28"/>
          <p:cNvSpPr/>
          <p:nvPr/>
        </p:nvSpPr>
        <p:spPr>
          <a:xfrm>
            <a:off x="10229850" y="2371725"/>
            <a:ext cx="28575" cy="2257425"/>
          </a:xfrm>
          <a:prstGeom prst="rect">
            <a:avLst/>
          </a:prstGeom>
          <a:solidFill>
            <a:srgbClr val="3B82F6"/>
          </a:solidFill>
          <a:ln/>
        </p:spPr>
      </p:sp>
      <p:sp>
        <p:nvSpPr>
          <p:cNvPr id="34" name="Shape 29"/>
          <p:cNvSpPr/>
          <p:nvPr/>
        </p:nvSpPr>
        <p:spPr>
          <a:xfrm>
            <a:off x="13249275" y="2371725"/>
            <a:ext cx="9525" cy="2257425"/>
          </a:xfrm>
          <a:prstGeom prst="rect">
            <a:avLst/>
          </a:prstGeom>
          <a:solidFill>
            <a:srgbClr val="FFFFFF">
              <a:alpha val="8000"/>
            </a:srgbClr>
          </a:solidFill>
          <a:ln/>
        </p:spPr>
      </p:sp>
      <p:sp>
        <p:nvSpPr>
          <p:cNvPr id="35" name="Shape 30"/>
          <p:cNvSpPr/>
          <p:nvPr/>
        </p:nvSpPr>
        <p:spPr>
          <a:xfrm>
            <a:off x="10373766" y="2371725"/>
            <a:ext cx="381000" cy="381000"/>
          </a:xfrm>
          <a:prstGeom prst="roundRect">
            <a:avLst>
              <a:gd name="adj" fmla="val 25000"/>
            </a:avLst>
          </a:prstGeom>
          <a:solidFill>
            <a:srgbClr val="3B82F6">
              <a:alpha val="14000"/>
            </a:srgbClr>
          </a:solidFill>
          <a:ln/>
        </p:spPr>
      </p:sp>
      <p:pic>
        <p:nvPicPr>
          <p:cNvPr id="3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69016" y="2466975"/>
            <a:ext cx="190500" cy="190500"/>
          </a:xfrm>
          <a:prstGeom prst="rect">
            <a:avLst/>
          </a:prstGeom>
        </p:spPr>
      </p:pic>
      <p:sp>
        <p:nvSpPr>
          <p:cNvPr id="37" name="Text 31"/>
          <p:cNvSpPr/>
          <p:nvPr/>
        </p:nvSpPr>
        <p:spPr>
          <a:xfrm>
            <a:off x="10773784" y="2371725"/>
            <a:ext cx="2169649"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Meta-prompt</a:t>
            </a:r>
            <a:endParaRPr lang="en-US" sz="1600" dirty="0"/>
          </a:p>
        </p:txBody>
      </p:sp>
      <p:sp>
        <p:nvSpPr>
          <p:cNvPr id="42" name="Shape 4">
            <a:extLst>
              <a:ext uri="{FF2B5EF4-FFF2-40B4-BE49-F238E27FC236}">
                <a16:creationId xmlns:a16="http://schemas.microsoft.com/office/drawing/2014/main" id="{6CB53C8A-9237-2269-AF7F-E7712A954C9A}"/>
              </a:ext>
            </a:extLst>
          </p:cNvPr>
          <p:cNvSpPr/>
          <p:nvPr/>
        </p:nvSpPr>
        <p:spPr>
          <a:xfrm>
            <a:off x="617438" y="2928937"/>
            <a:ext cx="2160125" cy="1390650"/>
          </a:xfrm>
          <a:prstGeom prst="roundRect">
            <a:avLst>
              <a:gd name="adj" fmla="val 3877"/>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44" name="Shape 4">
            <a:extLst>
              <a:ext uri="{FF2B5EF4-FFF2-40B4-BE49-F238E27FC236}">
                <a16:creationId xmlns:a16="http://schemas.microsoft.com/office/drawing/2014/main" id="{0FE7BD93-BA57-C440-F8E6-E52772709FC0}"/>
              </a:ext>
            </a:extLst>
          </p:cNvPr>
          <p:cNvSpPr/>
          <p:nvPr/>
        </p:nvSpPr>
        <p:spPr>
          <a:xfrm>
            <a:off x="3850184" y="2928937"/>
            <a:ext cx="2160125" cy="1390650"/>
          </a:xfrm>
          <a:prstGeom prst="roundRect">
            <a:avLst>
              <a:gd name="adj" fmla="val 3877"/>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46" name="Shape 4">
            <a:extLst>
              <a:ext uri="{FF2B5EF4-FFF2-40B4-BE49-F238E27FC236}">
                <a16:creationId xmlns:a16="http://schemas.microsoft.com/office/drawing/2014/main" id="{24D71D51-1272-CD4A-29B8-8EEC2A74C5DC}"/>
              </a:ext>
            </a:extLst>
          </p:cNvPr>
          <p:cNvSpPr/>
          <p:nvPr/>
        </p:nvSpPr>
        <p:spPr>
          <a:xfrm>
            <a:off x="7116217" y="2928937"/>
            <a:ext cx="2160125" cy="1390650"/>
          </a:xfrm>
          <a:prstGeom prst="roundRect">
            <a:avLst>
              <a:gd name="adj" fmla="val 3877"/>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48" name="Shape 4">
            <a:extLst>
              <a:ext uri="{FF2B5EF4-FFF2-40B4-BE49-F238E27FC236}">
                <a16:creationId xmlns:a16="http://schemas.microsoft.com/office/drawing/2014/main" id="{778D7E5A-7753-8D57-85C5-C8F6DE5353F0}"/>
              </a:ext>
            </a:extLst>
          </p:cNvPr>
          <p:cNvSpPr/>
          <p:nvPr/>
        </p:nvSpPr>
        <p:spPr>
          <a:xfrm>
            <a:off x="10469016" y="2928937"/>
            <a:ext cx="2160125" cy="1390650"/>
          </a:xfrm>
          <a:prstGeom prst="roundRect">
            <a:avLst>
              <a:gd name="adj" fmla="val 3877"/>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50000" r="50000" b="100000"/>
            </a:path>
          </a:gradFill>
          <a:ln/>
        </p:spPr>
      </p:sp>
      <p:sp>
        <p:nvSpPr>
          <p:cNvPr id="4" name="Shape 2"/>
          <p:cNvSpPr/>
          <p:nvPr/>
        </p:nvSpPr>
        <p:spPr>
          <a:xfrm>
            <a:off x="457200" y="2895600"/>
            <a:ext cx="914400" cy="914400"/>
          </a:xfrm>
          <a:prstGeom prst="roundRect">
            <a:avLst>
              <a:gd name="adj" fmla="val 12500"/>
            </a:avLst>
          </a:prstGeom>
          <a:solidFill>
            <a:srgbClr val="2563EB"/>
          </a:solidFill>
          <a:ln/>
          <a:effectLst>
            <a:glow rad="190500">
              <a:srgbClr val="3B82F6">
                <a:alpha val="26000"/>
              </a:srgbClr>
            </a:glow>
          </a:effectLst>
        </p:spPr>
      </p:sp>
      <p:sp>
        <p:nvSpPr>
          <p:cNvPr id="5" name="Text 3"/>
          <p:cNvSpPr/>
          <p:nvPr/>
        </p:nvSpPr>
        <p:spPr>
          <a:xfrm>
            <a:off x="457200" y="2895600"/>
            <a:ext cx="914400" cy="914400"/>
          </a:xfrm>
          <a:prstGeom prst="rect">
            <a:avLst/>
          </a:prstGeom>
          <a:noFill/>
          <a:ln/>
        </p:spPr>
        <p:txBody>
          <a:bodyPr wrap="square" lIns="0" tIns="0" rIns="0" bIns="0" rtlCol="0" anchor="ctr">
            <a:normAutofit/>
          </a:bodyPr>
          <a:lstStyle/>
          <a:p>
            <a:pPr marL="0" indent="0" algn="ctr">
              <a:lnSpc>
                <a:spcPct val="98000"/>
              </a:lnSpc>
              <a:buNone/>
            </a:pPr>
            <a:r>
              <a:rPr lang="en-US" sz="4800" b="1" kern="1200" spc="-48" dirty="0">
                <a:solidFill>
                  <a:srgbClr val="FFFFFF"/>
                </a:solidFill>
                <a:latin typeface="JetBrains Mono"/>
                <a:ea typeface="JetBrains Mono"/>
                <a:cs typeface="JetBrains Mono"/>
              </a:rPr>
              <a:t>2</a:t>
            </a:r>
            <a:endParaRPr lang="en-US" sz="4800" dirty="0"/>
          </a:p>
        </p:txBody>
      </p:sp>
      <p:sp>
        <p:nvSpPr>
          <p:cNvPr id="6" name="Text 4"/>
          <p:cNvSpPr/>
          <p:nvPr/>
        </p:nvSpPr>
        <p:spPr>
          <a:xfrm>
            <a:off x="1676400" y="2867025"/>
            <a:ext cx="115824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The sensitive-data rule and data-protection principles</a:t>
            </a:r>
            <a:endParaRPr lang="en-US" sz="3200" dirty="0"/>
          </a:p>
        </p:txBody>
      </p:sp>
      <p:sp>
        <p:nvSpPr>
          <p:cNvPr id="7" name="Text 5"/>
          <p:cNvSpPr/>
          <p:nvPr/>
        </p:nvSpPr>
        <p:spPr>
          <a:xfrm>
            <a:off x="1676400" y="3505200"/>
            <a:ext cx="11582400" cy="33337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JetBrains Mono"/>
                <a:ea typeface="JetBrains Mono"/>
                <a:cs typeface="JetBrains Mono"/>
              </a:rPr>
              <a:t>Segment 2 of 5</a:t>
            </a:r>
            <a:endParaRPr lang="en-US" sz="1300" dirty="0"/>
          </a:p>
        </p:txBody>
      </p:sp>
      <p:sp>
        <p:nvSpPr>
          <p:cNvPr id="8" name="Shape 6"/>
          <p:cNvSpPr/>
          <p:nvPr/>
        </p:nvSpPr>
        <p:spPr>
          <a:xfrm>
            <a:off x="1676400" y="4086225"/>
            <a:ext cx="2171601" cy="304800"/>
          </a:xfrm>
          <a:prstGeom prst="roundRect">
            <a:avLst>
              <a:gd name="adj" fmla="val 50000"/>
            </a:avLst>
          </a:prstGeom>
          <a:solidFill>
            <a:srgbClr val="3B82F6">
              <a:alpha val="14000"/>
            </a:srgbClr>
          </a:solidFill>
          <a:ln w="10583">
            <a:solidFill>
              <a:srgbClr val="3B82F6">
                <a:alpha val="35000"/>
              </a:srgbClr>
            </a:solidFill>
            <a:prstDash val="solid"/>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28800" y="4162475"/>
            <a:ext cx="152301" cy="152301"/>
          </a:xfrm>
          <a:prstGeom prst="rect">
            <a:avLst/>
          </a:prstGeom>
        </p:spPr>
      </p:pic>
      <p:sp>
        <p:nvSpPr>
          <p:cNvPr id="10" name="Text 7"/>
          <p:cNvSpPr/>
          <p:nvPr/>
        </p:nvSpPr>
        <p:spPr>
          <a:xfrm>
            <a:off x="2057301" y="4105275"/>
            <a:ext cx="1638300" cy="266700"/>
          </a:xfrm>
          <a:prstGeom prst="rect">
            <a:avLst/>
          </a:prstGeom>
          <a:noFill/>
          <a:ln/>
        </p:spPr>
        <p:txBody>
          <a:bodyPr wrap="square" lIns="0" tIns="0" rIns="0" bIns="0" rtlCol="0" anchor="t">
            <a:normAutofit/>
          </a:bodyPr>
          <a:lstStyle/>
          <a:p>
            <a:pPr marL="0" indent="0" algn="l">
              <a:lnSpc>
                <a:spcPct val="125000"/>
              </a:lnSpc>
              <a:buNone/>
            </a:pPr>
            <a:r>
              <a:rPr lang="en-US" sz="1300" kern="1200" dirty="0">
                <a:solidFill>
                  <a:srgbClr val="60A5FA"/>
                </a:solidFill>
                <a:latin typeface="Inter"/>
                <a:ea typeface="Inter"/>
                <a:cs typeface="Inter"/>
              </a:rPr>
              <a:t>10 min · Presentation</a:t>
            </a:r>
            <a:endParaRPr lang="en-US" sz="1300" dirty="0"/>
          </a:p>
        </p:txBody>
      </p:sp>
      <p:sp>
        <p:nvSpPr>
          <p:cNvPr id="11" name="Text 8"/>
          <p:cNvSpPr/>
          <p:nvPr/>
        </p:nvSpPr>
        <p:spPr>
          <a:xfrm>
            <a:off x="457200" y="7138988"/>
            <a:ext cx="2466760" cy="238125"/>
          </a:xfrm>
          <a:prstGeom prst="rect">
            <a:avLst/>
          </a:prstGeom>
          <a:noFill/>
          <a:ln/>
        </p:spPr>
        <p:txBody>
          <a:bodyPr wrap="square" lIns="25400" tIns="25400" rIns="25400" bIns="25400" rtlCol="0" anchor="t">
            <a:normAutofit/>
          </a:bodyPr>
          <a:lstStyle/>
          <a:p>
            <a:pPr marL="0" indent="0" algn="l">
              <a:lnSpc>
                <a:spcPct val="120000"/>
              </a:lnSpc>
              <a:buNone/>
            </a:pPr>
            <a:r>
              <a:rPr lang="en-US" sz="900" kern="1200" dirty="0">
                <a:solidFill>
                  <a:srgbClr val="64748B"/>
                </a:solidFill>
                <a:latin typeface="JetBrains Mono"/>
                <a:ea typeface="JetBrains Mono"/>
                <a:cs typeface="JetBrains Mono"/>
              </a:rPr>
              <a:t>AI Research Management • Lesson 2</a:t>
            </a:r>
            <a:endParaRPr lang="en-US" sz="900" dirty="0"/>
          </a:p>
        </p:txBody>
      </p:sp>
      <p:sp>
        <p:nvSpPr>
          <p:cNvPr id="12" name="Text 9"/>
          <p:cNvSpPr/>
          <p:nvPr/>
        </p:nvSpPr>
        <p:spPr>
          <a:xfrm>
            <a:off x="9991757" y="7162800"/>
            <a:ext cx="561975" cy="190500"/>
          </a:xfrm>
          <a:prstGeom prst="rect">
            <a:avLst/>
          </a:prstGeom>
          <a:noFill/>
          <a:ln/>
        </p:spPr>
        <p:txBody>
          <a:bodyPr wrap="square" lIns="0" tIns="0" rIns="0" bIns="0" rtlCol="0" anchor="t">
            <a:normAutofit/>
          </a:bodyPr>
          <a:lstStyle/>
          <a:p>
            <a:pPr marL="0" indent="0" algn="l">
              <a:lnSpc>
                <a:spcPct val="120000"/>
              </a:lnSpc>
              <a:buNone/>
            </a:pPr>
            <a:r>
              <a:rPr lang="en-US" sz="900" kern="1200" dirty="0">
                <a:solidFill>
                  <a:srgbClr val="64748B"/>
                </a:solidFill>
                <a:latin typeface="JetBrains Mono"/>
                <a:ea typeface="JetBrains Mono"/>
                <a:cs typeface="JetBrains Mono"/>
              </a:rPr>
              <a:t>Progress</a:t>
            </a:r>
            <a:endParaRPr lang="en-US" sz="900" dirty="0"/>
          </a:p>
        </p:txBody>
      </p:sp>
      <p:sp>
        <p:nvSpPr>
          <p:cNvPr id="13" name="Shape 10"/>
          <p:cNvSpPr/>
          <p:nvPr/>
        </p:nvSpPr>
        <p:spPr>
          <a:xfrm>
            <a:off x="10668032" y="7239033"/>
            <a:ext cx="2064808" cy="38034"/>
          </a:xfrm>
          <a:prstGeom prst="roundRect">
            <a:avLst>
              <a:gd name="adj" fmla="val 50000"/>
            </a:avLst>
          </a:prstGeom>
          <a:solidFill>
            <a:srgbClr val="FFFFFF">
              <a:alpha val="6000"/>
            </a:srgbClr>
          </a:solidFill>
          <a:ln/>
        </p:spPr>
      </p:sp>
      <p:sp>
        <p:nvSpPr>
          <p:cNvPr id="14" name="Shape 11"/>
          <p:cNvSpPr/>
          <p:nvPr/>
        </p:nvSpPr>
        <p:spPr>
          <a:xfrm>
            <a:off x="10668032" y="7239033"/>
            <a:ext cx="807376" cy="38034"/>
          </a:xfrm>
          <a:prstGeom prst="roundRect">
            <a:avLst>
              <a:gd name="adj" fmla="val 50000"/>
            </a:avLst>
          </a:prstGeom>
          <a:solidFill>
            <a:srgbClr val="3B82F6"/>
          </a:solidFill>
          <a:ln/>
          <a:effectLst>
            <a:glow rad="190500">
              <a:srgbClr val="3B82F6">
                <a:alpha val="26000"/>
              </a:srgbClr>
            </a:glow>
          </a:effectLst>
        </p:spPr>
      </p:sp>
      <p:sp>
        <p:nvSpPr>
          <p:cNvPr id="15" name="Text 12"/>
          <p:cNvSpPr/>
          <p:nvPr/>
        </p:nvSpPr>
        <p:spPr>
          <a:xfrm>
            <a:off x="12877800" y="7138988"/>
            <a:ext cx="381000" cy="238125"/>
          </a:xfrm>
          <a:prstGeom prst="rect">
            <a:avLst/>
          </a:prstGeom>
          <a:noFill/>
          <a:ln/>
        </p:spPr>
        <p:txBody>
          <a:bodyPr wrap="square" lIns="25400" tIns="25400" rIns="25400" bIns="25400" rtlCol="0" anchor="t">
            <a:normAutofit/>
          </a:bodyPr>
          <a:lstStyle/>
          <a:p>
            <a:pPr marL="0" indent="0" algn="l">
              <a:lnSpc>
                <a:spcPct val="120000"/>
              </a:lnSpc>
              <a:buNone/>
            </a:pPr>
            <a:r>
              <a:rPr lang="en-US" sz="900" kern="1200" dirty="0">
                <a:solidFill>
                  <a:srgbClr val="94A3B8"/>
                </a:solidFill>
                <a:latin typeface="JetBrains Mono"/>
                <a:ea typeface="JetBrains Mono"/>
                <a:cs typeface="JetBrains Mono"/>
              </a:rPr>
              <a:t>40%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Text 2"/>
          <p:cNvSpPr/>
          <p:nvPr/>
        </p:nvSpPr>
        <p:spPr>
          <a:xfrm>
            <a:off x="457200" y="4572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The two-lane rule: one routing question</a:t>
            </a:r>
            <a:endParaRPr lang="en-US" sz="3200" dirty="0"/>
          </a:p>
        </p:txBody>
      </p:sp>
      <p:sp>
        <p:nvSpPr>
          <p:cNvPr id="5" name="Shape 3"/>
          <p:cNvSpPr/>
          <p:nvPr/>
        </p:nvSpPr>
        <p:spPr>
          <a:xfrm>
            <a:off x="457200" y="1266825"/>
            <a:ext cx="12801600" cy="828675"/>
          </a:xfrm>
          <a:prstGeom prst="roundRect">
            <a:avLst>
              <a:gd name="adj" fmla="val 13382"/>
            </a:avLst>
          </a:prstGeom>
          <a:gradFill rotWithShape="1">
            <a:gsLst>
              <a:gs pos="0">
                <a:srgbClr val="3B82F6"/>
              </a:gs>
              <a:gs pos="227">
                <a:srgbClr val="3B82F6"/>
              </a:gs>
              <a:gs pos="228">
                <a:srgbClr val="FFFFFF">
                  <a:alpha val="5000"/>
                </a:srgbClr>
              </a:gs>
              <a:gs pos="100000">
                <a:srgbClr val="FFFFFF">
                  <a:alpha val="2500"/>
                </a:srgbClr>
              </a:gs>
            </a:gsLst>
            <a:lin ang="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6" name="Shape 4"/>
          <p:cNvSpPr/>
          <p:nvPr/>
        </p:nvSpPr>
        <p:spPr>
          <a:xfrm>
            <a:off x="552450" y="1490663"/>
            <a:ext cx="381000" cy="381000"/>
          </a:xfrm>
          <a:prstGeom prst="roundRect">
            <a:avLst>
              <a:gd name="adj" fmla="val 25000"/>
            </a:avLst>
          </a:prstGeom>
          <a:solidFill>
            <a:srgbClr val="3B82F6">
              <a:alpha val="14000"/>
            </a:srgbClr>
          </a:solidFill>
          <a:ln/>
        </p:spPr>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7700" y="1585913"/>
            <a:ext cx="190500" cy="190500"/>
          </a:xfrm>
          <a:prstGeom prst="rect">
            <a:avLst/>
          </a:prstGeom>
        </p:spPr>
      </p:pic>
      <p:sp>
        <p:nvSpPr>
          <p:cNvPr id="8" name="Text 5"/>
          <p:cNvSpPr/>
          <p:nvPr/>
        </p:nvSpPr>
        <p:spPr>
          <a:xfrm>
            <a:off x="1085586" y="1362075"/>
            <a:ext cx="11800747"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Does the task involve sensitive or IP-sensitive institutional data?</a:t>
            </a:r>
            <a:endParaRPr lang="en-US" sz="1600" dirty="0"/>
          </a:p>
        </p:txBody>
      </p:sp>
      <p:sp>
        <p:nvSpPr>
          <p:cNvPr id="9" name="Text 6"/>
          <p:cNvSpPr/>
          <p:nvPr/>
        </p:nvSpPr>
        <p:spPr>
          <a:xfrm>
            <a:off x="1085586" y="1724025"/>
            <a:ext cx="5940343"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Answered before any prompt is written — per task, not per person and not per day</a:t>
            </a:r>
            <a:endParaRPr lang="en-US" sz="1100" dirty="0"/>
          </a:p>
        </p:txBody>
      </p:sp>
      <p:sp>
        <p:nvSpPr>
          <p:cNvPr id="10" name="Shape 7"/>
          <p:cNvSpPr/>
          <p:nvPr/>
        </p:nvSpPr>
        <p:spPr>
          <a:xfrm>
            <a:off x="457200" y="2190750"/>
            <a:ext cx="6286500" cy="2466975"/>
          </a:xfrm>
          <a:prstGeom prst="roundRect">
            <a:avLst>
              <a:gd name="adj" fmla="val 4935"/>
            </a:avLst>
          </a:prstGeom>
          <a:gradFill rotWithShape="1">
            <a:gsLst>
              <a:gs pos="0">
                <a:srgbClr val="EF4444"/>
              </a:gs>
              <a:gs pos="464">
                <a:srgbClr val="EF4444"/>
              </a:gs>
              <a:gs pos="465">
                <a:srgbClr val="FFFFFF">
                  <a:alpha val="5000"/>
                </a:srgbClr>
              </a:gs>
              <a:gs pos="100000">
                <a:srgbClr val="FFFFFF">
                  <a:alpha val="2500"/>
                </a:srgbClr>
              </a:gs>
            </a:gsLst>
            <a:lin ang="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1" name="Shape 8"/>
          <p:cNvSpPr/>
          <p:nvPr/>
        </p:nvSpPr>
        <p:spPr>
          <a:xfrm>
            <a:off x="552450" y="2414588"/>
            <a:ext cx="381000" cy="381000"/>
          </a:xfrm>
          <a:prstGeom prst="roundRect">
            <a:avLst>
              <a:gd name="adj" fmla="val 25000"/>
            </a:avLst>
          </a:prstGeom>
          <a:solidFill>
            <a:srgbClr val="EF4444">
              <a:alpha val="14000"/>
            </a:srgbClr>
          </a:solidFill>
          <a:ln/>
        </p:spPr>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7700" y="2509838"/>
            <a:ext cx="190500" cy="190500"/>
          </a:xfrm>
          <a:prstGeom prst="rect">
            <a:avLst/>
          </a:prstGeom>
        </p:spPr>
      </p:pic>
      <p:sp>
        <p:nvSpPr>
          <p:cNvPr id="13" name="Text 9"/>
          <p:cNvSpPr/>
          <p:nvPr/>
        </p:nvSpPr>
        <p:spPr>
          <a:xfrm>
            <a:off x="1066800" y="2286000"/>
            <a:ext cx="530443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YES → Sensitive Lane</a:t>
            </a:r>
            <a:endParaRPr lang="en-US" sz="1600" dirty="0"/>
          </a:p>
        </p:txBody>
      </p:sp>
      <p:sp>
        <p:nvSpPr>
          <p:cNvPr id="14" name="Text 10"/>
          <p:cNvSpPr/>
          <p:nvPr/>
        </p:nvSpPr>
        <p:spPr>
          <a:xfrm>
            <a:off x="1066800" y="2647950"/>
            <a:ext cx="2790825"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Copilot Chat (Basic), institutional account</a:t>
            </a:r>
            <a:endParaRPr lang="en-US" sz="1100" dirty="0"/>
          </a:p>
        </p:txBody>
      </p:sp>
      <p:sp>
        <p:nvSpPr>
          <p:cNvPr id="15" name="Text 11"/>
          <p:cNvSpPr/>
          <p:nvPr/>
        </p:nvSpPr>
        <p:spPr>
          <a:xfrm>
            <a:off x="552450" y="3038376"/>
            <a:ext cx="5875933"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b="1" kern="1200" dirty="0">
                <a:solidFill>
                  <a:srgbClr val="F87171"/>
                </a:solidFill>
                <a:latin typeface="Inter"/>
                <a:ea typeface="Inter"/>
                <a:cs typeface="Inter"/>
              </a:rPr>
              <a:t>What goes here</a:t>
            </a:r>
            <a:endParaRPr lang="en-US" sz="1100" dirty="0"/>
          </a:p>
        </p:txBody>
      </p:sp>
      <p:sp>
        <p:nvSpPr>
          <p:cNvPr id="16" name="Text 12"/>
          <p:cNvSpPr/>
          <p:nvPr/>
        </p:nvSpPr>
        <p:spPr>
          <a:xfrm>
            <a:off x="552450" y="3371750"/>
            <a:ext cx="5875933"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Internal administration</a:t>
            </a:r>
            <a:endParaRPr lang="en-US" sz="1100" dirty="0"/>
          </a:p>
        </p:txBody>
      </p:sp>
      <p:sp>
        <p:nvSpPr>
          <p:cNvPr id="17" name="Text 13"/>
          <p:cNvSpPr/>
          <p:nvPr/>
        </p:nvSpPr>
        <p:spPr>
          <a:xfrm>
            <a:off x="552450" y="3676517"/>
            <a:ext cx="5875933"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Unsubmitted grant proposals</a:t>
            </a:r>
            <a:endParaRPr lang="en-US" sz="1100" dirty="0"/>
          </a:p>
        </p:txBody>
      </p:sp>
      <p:sp>
        <p:nvSpPr>
          <p:cNvPr id="18" name="Text 14"/>
          <p:cNvSpPr/>
          <p:nvPr/>
        </p:nvSpPr>
        <p:spPr>
          <a:xfrm>
            <a:off x="552450" y="3981284"/>
            <a:ext cx="5875933"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Personnel information</a:t>
            </a:r>
            <a:endParaRPr lang="en-US" sz="1100" dirty="0"/>
          </a:p>
        </p:txBody>
      </p:sp>
      <p:sp>
        <p:nvSpPr>
          <p:cNvPr id="19" name="Text 15"/>
          <p:cNvSpPr/>
          <p:nvPr/>
        </p:nvSpPr>
        <p:spPr>
          <a:xfrm>
            <a:off x="552450" y="4286051"/>
            <a:ext cx="5875933"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Strategic financial planning</a:t>
            </a:r>
            <a:endParaRPr lang="en-US" sz="1100" dirty="0"/>
          </a:p>
        </p:txBody>
      </p:sp>
      <p:sp>
        <p:nvSpPr>
          <p:cNvPr id="20" name="Shape 16"/>
          <p:cNvSpPr/>
          <p:nvPr/>
        </p:nvSpPr>
        <p:spPr>
          <a:xfrm>
            <a:off x="6972300" y="2190750"/>
            <a:ext cx="6286500" cy="2466975"/>
          </a:xfrm>
          <a:prstGeom prst="roundRect">
            <a:avLst>
              <a:gd name="adj" fmla="val 4935"/>
            </a:avLst>
          </a:prstGeom>
          <a:gradFill rotWithShape="1">
            <a:gsLst>
              <a:gs pos="0">
                <a:srgbClr val="3B82F6"/>
              </a:gs>
              <a:gs pos="464">
                <a:srgbClr val="3B82F6"/>
              </a:gs>
              <a:gs pos="465">
                <a:srgbClr val="FFFFFF">
                  <a:alpha val="5000"/>
                </a:srgbClr>
              </a:gs>
              <a:gs pos="100000">
                <a:srgbClr val="FFFFFF">
                  <a:alpha val="2500"/>
                </a:srgbClr>
              </a:gs>
            </a:gsLst>
            <a:lin ang="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1" name="Shape 17"/>
          <p:cNvSpPr/>
          <p:nvPr/>
        </p:nvSpPr>
        <p:spPr>
          <a:xfrm>
            <a:off x="7067550" y="2414588"/>
            <a:ext cx="381000" cy="381000"/>
          </a:xfrm>
          <a:prstGeom prst="roundRect">
            <a:avLst>
              <a:gd name="adj" fmla="val 25000"/>
            </a:avLst>
          </a:prstGeom>
          <a:solidFill>
            <a:srgbClr val="3B82F6">
              <a:alpha val="14000"/>
            </a:srgbClr>
          </a:solidFill>
          <a:ln/>
        </p:spPr>
      </p:sp>
      <p:pic>
        <p:nvPicPr>
          <p:cNvPr id="2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62800" y="2509838"/>
            <a:ext cx="190500" cy="190500"/>
          </a:xfrm>
          <a:prstGeom prst="rect">
            <a:avLst/>
          </a:prstGeom>
        </p:spPr>
      </p:pic>
      <p:sp>
        <p:nvSpPr>
          <p:cNvPr id="23" name="Text 18"/>
          <p:cNvSpPr/>
          <p:nvPr/>
        </p:nvSpPr>
        <p:spPr>
          <a:xfrm>
            <a:off x="7581900" y="2286000"/>
            <a:ext cx="530443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NO → Daily Driver</a:t>
            </a:r>
            <a:endParaRPr lang="en-US" sz="1600" dirty="0"/>
          </a:p>
        </p:txBody>
      </p:sp>
      <p:sp>
        <p:nvSpPr>
          <p:cNvPr id="24" name="Text 19"/>
          <p:cNvSpPr/>
          <p:nvPr/>
        </p:nvSpPr>
        <p:spPr>
          <a:xfrm>
            <a:off x="7581900" y="2647950"/>
            <a:ext cx="1885372"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Google Gemini (free tier)</a:t>
            </a:r>
            <a:endParaRPr lang="en-US" sz="1100" dirty="0"/>
          </a:p>
        </p:txBody>
      </p:sp>
      <p:sp>
        <p:nvSpPr>
          <p:cNvPr id="25" name="Text 20"/>
          <p:cNvSpPr/>
          <p:nvPr/>
        </p:nvSpPr>
        <p:spPr>
          <a:xfrm>
            <a:off x="7067550" y="3038376"/>
            <a:ext cx="5875933"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b="1" kern="1200" dirty="0">
                <a:solidFill>
                  <a:srgbClr val="60A5FA"/>
                </a:solidFill>
                <a:latin typeface="Inter"/>
                <a:ea typeface="Inter"/>
                <a:cs typeface="Inter"/>
              </a:rPr>
              <a:t>What goes here</a:t>
            </a:r>
            <a:endParaRPr lang="en-US" sz="1100" dirty="0"/>
          </a:p>
        </p:txBody>
      </p:sp>
      <p:sp>
        <p:nvSpPr>
          <p:cNvPr id="26" name="Text 21"/>
          <p:cNvSpPr/>
          <p:nvPr/>
        </p:nvSpPr>
        <p:spPr>
          <a:xfrm>
            <a:off x="7067550" y="3371750"/>
            <a:ext cx="5875933"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Drafting</a:t>
            </a:r>
            <a:endParaRPr lang="en-US" sz="1100" dirty="0"/>
          </a:p>
        </p:txBody>
      </p:sp>
      <p:sp>
        <p:nvSpPr>
          <p:cNvPr id="27" name="Text 22"/>
          <p:cNvSpPr/>
          <p:nvPr/>
        </p:nvSpPr>
        <p:spPr>
          <a:xfrm>
            <a:off x="7067550" y="3676517"/>
            <a:ext cx="5875933"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Prompting exercises</a:t>
            </a:r>
            <a:endParaRPr lang="en-US" sz="1100" dirty="0"/>
          </a:p>
        </p:txBody>
      </p:sp>
      <p:sp>
        <p:nvSpPr>
          <p:cNvPr id="28" name="Text 23"/>
          <p:cNvSpPr/>
          <p:nvPr/>
        </p:nvSpPr>
        <p:spPr>
          <a:xfrm>
            <a:off x="7067550" y="3981284"/>
            <a:ext cx="5875933"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Long-document analysis</a:t>
            </a:r>
            <a:endParaRPr lang="en-US" sz="1100" dirty="0"/>
          </a:p>
        </p:txBody>
      </p:sp>
      <p:sp>
        <p:nvSpPr>
          <p:cNvPr id="29" name="Text 24"/>
          <p:cNvSpPr/>
          <p:nvPr/>
        </p:nvSpPr>
        <p:spPr>
          <a:xfrm>
            <a:off x="7067550" y="4286051"/>
            <a:ext cx="5875933"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General research management work</a:t>
            </a:r>
            <a:endParaRPr lang="en-US" sz="1100" dirty="0"/>
          </a:p>
        </p:txBody>
      </p:sp>
      <p:sp>
        <p:nvSpPr>
          <p:cNvPr id="30" name="Text 25"/>
          <p:cNvSpPr/>
          <p:nvPr/>
        </p:nvSpPr>
        <p:spPr>
          <a:xfrm>
            <a:off x="457200" y="4752975"/>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b="1" kern="1200" dirty="0">
                <a:solidFill>
                  <a:srgbClr val="FFFFFF"/>
                </a:solidFill>
                <a:latin typeface="Inter"/>
                <a:ea typeface="Inter"/>
                <a:cs typeface="Inter"/>
              </a:rPr>
              <a:t>Three tasks, routed</a:t>
            </a:r>
            <a:endParaRPr lang="en-US" sz="1300" dirty="0"/>
          </a:p>
        </p:txBody>
      </p:sp>
      <p:sp>
        <p:nvSpPr>
          <p:cNvPr id="31" name="Shape 26"/>
          <p:cNvSpPr/>
          <p:nvPr/>
        </p:nvSpPr>
        <p:spPr>
          <a:xfrm>
            <a:off x="457200" y="5105366"/>
            <a:ext cx="12801600" cy="466725"/>
          </a:xfrm>
          <a:prstGeom prst="roundRect">
            <a:avLst>
              <a:gd name="adj" fmla="val 17579"/>
            </a:avLst>
          </a:prstGeom>
          <a:gradFill rotWithShape="1">
            <a:gsLst>
              <a:gs pos="0">
                <a:srgbClr val="FFFFFF">
                  <a:alpha val="11000"/>
                </a:srgbClr>
              </a:gs>
              <a:gs pos="2051">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2" name="Shape 27"/>
          <p:cNvSpPr/>
          <p:nvPr/>
        </p:nvSpPr>
        <p:spPr>
          <a:xfrm>
            <a:off x="457200" y="5562566"/>
            <a:ext cx="12801600" cy="9525"/>
          </a:xfrm>
          <a:prstGeom prst="rect">
            <a:avLst/>
          </a:prstGeom>
          <a:solidFill>
            <a:srgbClr val="FFFFFF">
              <a:alpha val="8000"/>
            </a:srgbClr>
          </a:solidFill>
          <a:ln/>
        </p:spPr>
      </p:sp>
      <p:sp>
        <p:nvSpPr>
          <p:cNvPr id="33" name="Shape 28"/>
          <p:cNvSpPr/>
          <p:nvPr/>
        </p:nvSpPr>
        <p:spPr>
          <a:xfrm>
            <a:off x="457200" y="5105366"/>
            <a:ext cx="12801600" cy="9525"/>
          </a:xfrm>
          <a:prstGeom prst="rect">
            <a:avLst/>
          </a:prstGeom>
          <a:solidFill>
            <a:srgbClr val="FFFFFF">
              <a:alpha val="8000"/>
            </a:srgbClr>
          </a:solidFill>
          <a:ln/>
        </p:spPr>
      </p:sp>
      <p:sp>
        <p:nvSpPr>
          <p:cNvPr id="34" name="Shape 29"/>
          <p:cNvSpPr/>
          <p:nvPr/>
        </p:nvSpPr>
        <p:spPr>
          <a:xfrm>
            <a:off x="457200" y="5200616"/>
            <a:ext cx="28575" cy="276225"/>
          </a:xfrm>
          <a:prstGeom prst="rect">
            <a:avLst/>
          </a:prstGeom>
          <a:solidFill>
            <a:srgbClr val="EF4444"/>
          </a:solidFill>
          <a:ln/>
        </p:spPr>
      </p:sp>
      <p:sp>
        <p:nvSpPr>
          <p:cNvPr id="35" name="Shape 30"/>
          <p:cNvSpPr/>
          <p:nvPr/>
        </p:nvSpPr>
        <p:spPr>
          <a:xfrm>
            <a:off x="13249275" y="5200616"/>
            <a:ext cx="9525" cy="276225"/>
          </a:xfrm>
          <a:prstGeom prst="rect">
            <a:avLst/>
          </a:prstGeom>
          <a:solidFill>
            <a:srgbClr val="FFFFFF">
              <a:alpha val="8000"/>
            </a:srgbClr>
          </a:solidFill>
          <a:ln/>
        </p:spPr>
      </p:sp>
      <p:sp>
        <p:nvSpPr>
          <p:cNvPr id="36" name="Text 31"/>
          <p:cNvSpPr/>
          <p:nvPr/>
        </p:nvSpPr>
        <p:spPr>
          <a:xfrm>
            <a:off x="552450" y="5200616"/>
            <a:ext cx="12456583" cy="276225"/>
          </a:xfrm>
          <a:prstGeom prst="rect">
            <a:avLst/>
          </a:prstGeom>
          <a:noFill/>
          <a:ln/>
        </p:spPr>
        <p:txBody>
          <a:bodyPr wrap="square" lIns="25400" tIns="25400" rIns="25400" bIns="25400" rtlCol="0" anchor="ctr">
            <a:normAutofit/>
          </a:bodyPr>
          <a:lstStyle/>
          <a:p>
            <a:pPr marL="0" indent="0" algn="l">
              <a:lnSpc>
                <a:spcPct val="125000"/>
              </a:lnSpc>
              <a:buNone/>
            </a:pPr>
            <a:r>
              <a:rPr lang="en-US" sz="1100" kern="1200" dirty="0">
                <a:solidFill>
                  <a:srgbClr val="CBD5E1"/>
                </a:solidFill>
                <a:latin typeface="Inter"/>
                <a:ea typeface="Inter"/>
                <a:cs typeface="Inter"/>
              </a:rPr>
              <a:t>“Summarise the partner feedback on our unsubmitted Cluster 4 proposal” → Sensitive Lane (unsubmitted proposal)</a:t>
            </a:r>
            <a:endParaRPr lang="en-US" sz="1100" dirty="0"/>
          </a:p>
        </p:txBody>
      </p:sp>
      <p:sp>
        <p:nvSpPr>
          <p:cNvPr id="37" name="Shape 32"/>
          <p:cNvSpPr/>
          <p:nvPr/>
        </p:nvSpPr>
        <p:spPr>
          <a:xfrm>
            <a:off x="457200" y="5667341"/>
            <a:ext cx="12801600" cy="466725"/>
          </a:xfrm>
          <a:prstGeom prst="roundRect">
            <a:avLst>
              <a:gd name="adj" fmla="val 17574"/>
            </a:avLst>
          </a:prstGeom>
          <a:gradFill rotWithShape="1">
            <a:gsLst>
              <a:gs pos="0">
                <a:srgbClr val="FFFFFF">
                  <a:alpha val="11000"/>
                </a:srgbClr>
              </a:gs>
              <a:gs pos="205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8" name="Shape 33"/>
          <p:cNvSpPr/>
          <p:nvPr/>
        </p:nvSpPr>
        <p:spPr>
          <a:xfrm>
            <a:off x="457200" y="6124541"/>
            <a:ext cx="12801600" cy="9525"/>
          </a:xfrm>
          <a:prstGeom prst="rect">
            <a:avLst/>
          </a:prstGeom>
          <a:solidFill>
            <a:srgbClr val="FFFFFF">
              <a:alpha val="8000"/>
            </a:srgbClr>
          </a:solidFill>
          <a:ln/>
        </p:spPr>
      </p:sp>
      <p:sp>
        <p:nvSpPr>
          <p:cNvPr id="39" name="Shape 34"/>
          <p:cNvSpPr/>
          <p:nvPr/>
        </p:nvSpPr>
        <p:spPr>
          <a:xfrm>
            <a:off x="457200" y="5667341"/>
            <a:ext cx="12801600" cy="9525"/>
          </a:xfrm>
          <a:prstGeom prst="rect">
            <a:avLst/>
          </a:prstGeom>
          <a:solidFill>
            <a:srgbClr val="FFFFFF">
              <a:alpha val="8000"/>
            </a:srgbClr>
          </a:solidFill>
          <a:ln/>
        </p:spPr>
      </p:sp>
      <p:sp>
        <p:nvSpPr>
          <p:cNvPr id="40" name="Shape 35"/>
          <p:cNvSpPr/>
          <p:nvPr/>
        </p:nvSpPr>
        <p:spPr>
          <a:xfrm>
            <a:off x="457200" y="5762591"/>
            <a:ext cx="28575" cy="276225"/>
          </a:xfrm>
          <a:prstGeom prst="rect">
            <a:avLst/>
          </a:prstGeom>
          <a:solidFill>
            <a:srgbClr val="3B82F6"/>
          </a:solidFill>
          <a:ln/>
        </p:spPr>
      </p:sp>
      <p:sp>
        <p:nvSpPr>
          <p:cNvPr id="41" name="Shape 36"/>
          <p:cNvSpPr/>
          <p:nvPr/>
        </p:nvSpPr>
        <p:spPr>
          <a:xfrm>
            <a:off x="13249275" y="5762591"/>
            <a:ext cx="9525" cy="276225"/>
          </a:xfrm>
          <a:prstGeom prst="rect">
            <a:avLst/>
          </a:prstGeom>
          <a:solidFill>
            <a:srgbClr val="FFFFFF">
              <a:alpha val="8000"/>
            </a:srgbClr>
          </a:solidFill>
          <a:ln/>
        </p:spPr>
      </p:sp>
      <p:sp>
        <p:nvSpPr>
          <p:cNvPr id="42" name="Text 37"/>
          <p:cNvSpPr/>
          <p:nvPr/>
        </p:nvSpPr>
        <p:spPr>
          <a:xfrm>
            <a:off x="552450" y="5762591"/>
            <a:ext cx="12456583" cy="276225"/>
          </a:xfrm>
          <a:prstGeom prst="rect">
            <a:avLst/>
          </a:prstGeom>
          <a:noFill/>
          <a:ln/>
        </p:spPr>
        <p:txBody>
          <a:bodyPr wrap="square" lIns="25400" tIns="25400" rIns="25400" bIns="25400" rtlCol="0" anchor="ctr">
            <a:normAutofit/>
          </a:bodyPr>
          <a:lstStyle/>
          <a:p>
            <a:pPr marL="0" indent="0" algn="l">
              <a:lnSpc>
                <a:spcPct val="125000"/>
              </a:lnSpc>
              <a:buNone/>
            </a:pPr>
            <a:r>
              <a:rPr lang="en-US" sz="1100" kern="1200" dirty="0">
                <a:solidFill>
                  <a:srgbClr val="CBD5E1"/>
                </a:solidFill>
                <a:latin typeface="Inter"/>
                <a:ea typeface="Inter"/>
                <a:cs typeface="Inter"/>
              </a:rPr>
              <a:t>“Explain the eligible cost categories in Horizon Europe” → Daily Driver (public knowledge)</a:t>
            </a:r>
            <a:endParaRPr lang="en-US" sz="1100" dirty="0"/>
          </a:p>
        </p:txBody>
      </p:sp>
      <p:sp>
        <p:nvSpPr>
          <p:cNvPr id="43" name="Shape 38"/>
          <p:cNvSpPr/>
          <p:nvPr/>
        </p:nvSpPr>
        <p:spPr>
          <a:xfrm>
            <a:off x="457200" y="6229316"/>
            <a:ext cx="12801600" cy="466725"/>
          </a:xfrm>
          <a:prstGeom prst="roundRect">
            <a:avLst>
              <a:gd name="adj" fmla="val 17574"/>
            </a:avLst>
          </a:prstGeom>
          <a:gradFill rotWithShape="1">
            <a:gsLst>
              <a:gs pos="0">
                <a:srgbClr val="FFFFFF">
                  <a:alpha val="11000"/>
                </a:srgbClr>
              </a:gs>
              <a:gs pos="205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44" name="Shape 39"/>
          <p:cNvSpPr/>
          <p:nvPr/>
        </p:nvSpPr>
        <p:spPr>
          <a:xfrm>
            <a:off x="457200" y="6686516"/>
            <a:ext cx="12801600" cy="9525"/>
          </a:xfrm>
          <a:prstGeom prst="rect">
            <a:avLst/>
          </a:prstGeom>
          <a:solidFill>
            <a:srgbClr val="FFFFFF">
              <a:alpha val="8000"/>
            </a:srgbClr>
          </a:solidFill>
          <a:ln/>
        </p:spPr>
      </p:sp>
      <p:sp>
        <p:nvSpPr>
          <p:cNvPr id="45" name="Shape 40"/>
          <p:cNvSpPr/>
          <p:nvPr/>
        </p:nvSpPr>
        <p:spPr>
          <a:xfrm>
            <a:off x="457200" y="6229316"/>
            <a:ext cx="12801600" cy="9525"/>
          </a:xfrm>
          <a:prstGeom prst="rect">
            <a:avLst/>
          </a:prstGeom>
          <a:solidFill>
            <a:srgbClr val="FFFFFF">
              <a:alpha val="8000"/>
            </a:srgbClr>
          </a:solidFill>
          <a:ln/>
        </p:spPr>
      </p:sp>
      <p:sp>
        <p:nvSpPr>
          <p:cNvPr id="46" name="Shape 41"/>
          <p:cNvSpPr/>
          <p:nvPr/>
        </p:nvSpPr>
        <p:spPr>
          <a:xfrm>
            <a:off x="457200" y="6324566"/>
            <a:ext cx="28575" cy="276225"/>
          </a:xfrm>
          <a:prstGeom prst="rect">
            <a:avLst/>
          </a:prstGeom>
          <a:solidFill>
            <a:srgbClr val="EF4444"/>
          </a:solidFill>
          <a:ln/>
        </p:spPr>
      </p:sp>
      <p:sp>
        <p:nvSpPr>
          <p:cNvPr id="47" name="Shape 42"/>
          <p:cNvSpPr/>
          <p:nvPr/>
        </p:nvSpPr>
        <p:spPr>
          <a:xfrm>
            <a:off x="13249275" y="6324566"/>
            <a:ext cx="9525" cy="276225"/>
          </a:xfrm>
          <a:prstGeom prst="rect">
            <a:avLst/>
          </a:prstGeom>
          <a:solidFill>
            <a:srgbClr val="FFFFFF">
              <a:alpha val="8000"/>
            </a:srgbClr>
          </a:solidFill>
          <a:ln/>
        </p:spPr>
      </p:sp>
      <p:sp>
        <p:nvSpPr>
          <p:cNvPr id="48" name="Text 43"/>
          <p:cNvSpPr/>
          <p:nvPr/>
        </p:nvSpPr>
        <p:spPr>
          <a:xfrm>
            <a:off x="552450" y="6324566"/>
            <a:ext cx="12456583" cy="276225"/>
          </a:xfrm>
          <a:prstGeom prst="rect">
            <a:avLst/>
          </a:prstGeom>
          <a:noFill/>
          <a:ln/>
        </p:spPr>
        <p:txBody>
          <a:bodyPr wrap="square" lIns="25400" tIns="25400" rIns="25400" bIns="25400" rtlCol="0" anchor="ctr">
            <a:normAutofit/>
          </a:bodyPr>
          <a:lstStyle/>
          <a:p>
            <a:pPr marL="0" indent="0" algn="l">
              <a:lnSpc>
                <a:spcPct val="125000"/>
              </a:lnSpc>
              <a:buNone/>
            </a:pPr>
            <a:r>
              <a:rPr lang="en-US" sz="1100" kern="1200" dirty="0">
                <a:solidFill>
                  <a:srgbClr val="CBD5E1"/>
                </a:solidFill>
                <a:latin typeface="Inter"/>
                <a:ea typeface="Inter"/>
                <a:cs typeface="Inter"/>
              </a:rPr>
              <a:t>“Draft a workload plan for the three administrators in my unit” → Sensitive Lane (personnel information)</a:t>
            </a:r>
            <a:endParaRPr lang="en-US" sz="1100" dirty="0"/>
          </a:p>
        </p:txBody>
      </p:sp>
      <p:sp>
        <p:nvSpPr>
          <p:cNvPr id="49" name="Shape 44"/>
          <p:cNvSpPr/>
          <p:nvPr/>
        </p:nvSpPr>
        <p:spPr>
          <a:xfrm>
            <a:off x="457200" y="6991350"/>
            <a:ext cx="12801600" cy="9525"/>
          </a:xfrm>
          <a:prstGeom prst="rect">
            <a:avLst/>
          </a:prstGeom>
          <a:solidFill>
            <a:srgbClr val="FFFFFF">
              <a:alpha val="7000"/>
            </a:srgbClr>
          </a:solidFill>
          <a:ln/>
        </p:spPr>
      </p:sp>
      <p:sp>
        <p:nvSpPr>
          <p:cNvPr id="50" name="Text 45"/>
          <p:cNvSpPr/>
          <p:nvPr/>
        </p:nvSpPr>
        <p:spPr>
          <a:xfrm>
            <a:off x="457200" y="6867525"/>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The Sensitive Lane is the only place authorised for sensitive data — and never the place for general work the free tier does better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Text 2"/>
          <p:cNvSpPr/>
          <p:nvPr/>
        </p:nvSpPr>
        <p:spPr>
          <a:xfrm>
            <a:off x="457200" y="4572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Anonymise before upload</a:t>
            </a:r>
            <a:endParaRPr lang="en-US" sz="3200" dirty="0"/>
          </a:p>
        </p:txBody>
      </p:sp>
      <p:sp>
        <p:nvSpPr>
          <p:cNvPr id="5" name="Shape 3"/>
          <p:cNvSpPr/>
          <p:nvPr/>
        </p:nvSpPr>
        <p:spPr>
          <a:xfrm>
            <a:off x="457200" y="1275309"/>
            <a:ext cx="12801600" cy="1038225"/>
          </a:xfrm>
          <a:prstGeom prst="roundRect">
            <a:avLst>
              <a:gd name="adj" fmla="val 12538"/>
            </a:avLst>
          </a:prstGeom>
          <a:gradFill rotWithShape="1">
            <a:gsLst>
              <a:gs pos="0">
                <a:srgbClr val="3B82F6"/>
              </a:gs>
              <a:gs pos="230">
                <a:srgbClr val="3B82F6"/>
              </a:gs>
              <a:gs pos="231">
                <a:srgbClr val="FFFFFF">
                  <a:alpha val="5000"/>
                </a:srgbClr>
              </a:gs>
              <a:gs pos="100000">
                <a:srgbClr val="FFFFFF">
                  <a:alpha val="2500"/>
                </a:srgbClr>
              </a:gs>
            </a:gsLst>
            <a:lin ang="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6" name="Shape 4"/>
          <p:cNvSpPr/>
          <p:nvPr/>
        </p:nvSpPr>
        <p:spPr>
          <a:xfrm>
            <a:off x="685800" y="1603922"/>
            <a:ext cx="381000" cy="381000"/>
          </a:xfrm>
          <a:prstGeom prst="roundRect">
            <a:avLst>
              <a:gd name="adj" fmla="val 25000"/>
            </a:avLst>
          </a:prstGeom>
          <a:solidFill>
            <a:srgbClr val="3B82F6">
              <a:alpha val="14000"/>
            </a:srgbClr>
          </a:solidFill>
          <a:ln/>
        </p:spPr>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1050" y="1699172"/>
            <a:ext cx="190500" cy="190500"/>
          </a:xfrm>
          <a:prstGeom prst="rect">
            <a:avLst/>
          </a:prstGeom>
        </p:spPr>
      </p:pic>
      <p:sp>
        <p:nvSpPr>
          <p:cNvPr id="8" name="Text 5"/>
          <p:cNvSpPr/>
          <p:nvPr/>
        </p:nvSpPr>
        <p:spPr>
          <a:xfrm>
            <a:off x="1200150" y="1475334"/>
            <a:ext cx="1181953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A document that contains personal or sensitive information is anonymised before it is uploaded to any AI tool</a:t>
            </a:r>
            <a:endParaRPr lang="en-US" sz="1600" dirty="0"/>
          </a:p>
        </p:txBody>
      </p:sp>
      <p:sp>
        <p:nvSpPr>
          <p:cNvPr id="9" name="Text 6"/>
          <p:cNvSpPr/>
          <p:nvPr/>
        </p:nvSpPr>
        <p:spPr>
          <a:xfrm>
            <a:off x="1200150" y="1837284"/>
            <a:ext cx="10117122"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In either lane — the rule does not change with the tool</a:t>
            </a:r>
            <a:endParaRPr lang="en-US" sz="1100" dirty="0"/>
          </a:p>
        </p:txBody>
      </p:sp>
      <p:sp>
        <p:nvSpPr>
          <p:cNvPr id="10" name="Shape 7"/>
          <p:cNvSpPr/>
          <p:nvPr/>
        </p:nvSpPr>
        <p:spPr>
          <a:xfrm>
            <a:off x="457200" y="2546873"/>
            <a:ext cx="6286500" cy="723900"/>
          </a:xfrm>
          <a:prstGeom prst="roundRect">
            <a:avLst>
              <a:gd name="adj" fmla="val 15752"/>
            </a:avLst>
          </a:prstGeom>
          <a:gradFill rotWithShape="1">
            <a:gsLst>
              <a:gs pos="0">
                <a:srgbClr val="FFFFFF">
                  <a:alpha val="11000"/>
                </a:srgbClr>
              </a:gs>
              <a:gs pos="1838">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1" name="Shape 8"/>
          <p:cNvSpPr/>
          <p:nvPr/>
        </p:nvSpPr>
        <p:spPr>
          <a:xfrm>
            <a:off x="457200" y="3261248"/>
            <a:ext cx="6286500" cy="9525"/>
          </a:xfrm>
          <a:prstGeom prst="rect">
            <a:avLst/>
          </a:prstGeom>
          <a:solidFill>
            <a:srgbClr val="FFFFFF">
              <a:alpha val="8000"/>
            </a:srgbClr>
          </a:solidFill>
          <a:ln/>
        </p:spPr>
      </p:sp>
      <p:sp>
        <p:nvSpPr>
          <p:cNvPr id="12" name="Shape 9"/>
          <p:cNvSpPr/>
          <p:nvPr/>
        </p:nvSpPr>
        <p:spPr>
          <a:xfrm>
            <a:off x="457200" y="2546873"/>
            <a:ext cx="6286500" cy="9525"/>
          </a:xfrm>
          <a:prstGeom prst="rect">
            <a:avLst/>
          </a:prstGeom>
          <a:solidFill>
            <a:srgbClr val="FFFFFF">
              <a:alpha val="8000"/>
            </a:srgbClr>
          </a:solidFill>
          <a:ln/>
        </p:spPr>
      </p:sp>
      <p:sp>
        <p:nvSpPr>
          <p:cNvPr id="13" name="Shape 10"/>
          <p:cNvSpPr/>
          <p:nvPr/>
        </p:nvSpPr>
        <p:spPr>
          <a:xfrm>
            <a:off x="457200" y="2642123"/>
            <a:ext cx="28575" cy="533400"/>
          </a:xfrm>
          <a:prstGeom prst="rect">
            <a:avLst/>
          </a:prstGeom>
          <a:solidFill>
            <a:srgbClr val="EF4444"/>
          </a:solidFill>
          <a:ln/>
        </p:spPr>
      </p:sp>
      <p:sp>
        <p:nvSpPr>
          <p:cNvPr id="14" name="Shape 11"/>
          <p:cNvSpPr/>
          <p:nvPr/>
        </p:nvSpPr>
        <p:spPr>
          <a:xfrm>
            <a:off x="6734175" y="2642123"/>
            <a:ext cx="9525" cy="533400"/>
          </a:xfrm>
          <a:prstGeom prst="rect">
            <a:avLst/>
          </a:prstGeom>
          <a:solidFill>
            <a:srgbClr val="FFFFFF">
              <a:alpha val="8000"/>
            </a:srgbClr>
          </a:solidFill>
          <a:ln/>
        </p:spPr>
      </p:sp>
      <p:sp>
        <p:nvSpPr>
          <p:cNvPr id="15" name="Shape 12"/>
          <p:cNvSpPr/>
          <p:nvPr/>
        </p:nvSpPr>
        <p:spPr>
          <a:xfrm>
            <a:off x="687883" y="2718323"/>
            <a:ext cx="381000" cy="381000"/>
          </a:xfrm>
          <a:prstGeom prst="roundRect">
            <a:avLst>
              <a:gd name="adj" fmla="val 25000"/>
            </a:avLst>
          </a:prstGeom>
          <a:solidFill>
            <a:srgbClr val="EF4444">
              <a:alpha val="14000"/>
            </a:srgbClr>
          </a:solidFill>
          <a:ln/>
        </p:spPr>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3133" y="2813573"/>
            <a:ext cx="190500" cy="190500"/>
          </a:xfrm>
          <a:prstGeom prst="rect">
            <a:avLst/>
          </a:prstGeom>
        </p:spPr>
      </p:pic>
      <p:sp>
        <p:nvSpPr>
          <p:cNvPr id="17" name="Text 13"/>
          <p:cNvSpPr/>
          <p:nvPr/>
        </p:nvSpPr>
        <p:spPr>
          <a:xfrm>
            <a:off x="1202002" y="2718323"/>
            <a:ext cx="5313098"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Sensitive Lane — anonymise first</a:t>
            </a:r>
            <a:endParaRPr lang="en-US" sz="1600" dirty="0"/>
          </a:p>
        </p:txBody>
      </p:sp>
      <p:sp>
        <p:nvSpPr>
          <p:cNvPr id="18" name="Shape 14"/>
          <p:cNvSpPr/>
          <p:nvPr/>
        </p:nvSpPr>
        <p:spPr>
          <a:xfrm>
            <a:off x="6972300" y="2546873"/>
            <a:ext cx="6286500" cy="723900"/>
          </a:xfrm>
          <a:prstGeom prst="roundRect">
            <a:avLst>
              <a:gd name="adj" fmla="val 15752"/>
            </a:avLst>
          </a:prstGeom>
          <a:gradFill rotWithShape="1">
            <a:gsLst>
              <a:gs pos="0">
                <a:srgbClr val="FFFFFF">
                  <a:alpha val="11000"/>
                </a:srgbClr>
              </a:gs>
              <a:gs pos="1838">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9" name="Shape 15"/>
          <p:cNvSpPr/>
          <p:nvPr/>
        </p:nvSpPr>
        <p:spPr>
          <a:xfrm>
            <a:off x="6972300" y="3261248"/>
            <a:ext cx="6286500" cy="9525"/>
          </a:xfrm>
          <a:prstGeom prst="rect">
            <a:avLst/>
          </a:prstGeom>
          <a:solidFill>
            <a:srgbClr val="FFFFFF">
              <a:alpha val="8000"/>
            </a:srgbClr>
          </a:solidFill>
          <a:ln/>
        </p:spPr>
      </p:sp>
      <p:sp>
        <p:nvSpPr>
          <p:cNvPr id="20" name="Shape 16"/>
          <p:cNvSpPr/>
          <p:nvPr/>
        </p:nvSpPr>
        <p:spPr>
          <a:xfrm>
            <a:off x="6972300" y="2546873"/>
            <a:ext cx="6286500" cy="9525"/>
          </a:xfrm>
          <a:prstGeom prst="rect">
            <a:avLst/>
          </a:prstGeom>
          <a:solidFill>
            <a:srgbClr val="FFFFFF">
              <a:alpha val="8000"/>
            </a:srgbClr>
          </a:solidFill>
          <a:ln/>
        </p:spPr>
      </p:sp>
      <p:sp>
        <p:nvSpPr>
          <p:cNvPr id="21" name="Shape 17"/>
          <p:cNvSpPr/>
          <p:nvPr/>
        </p:nvSpPr>
        <p:spPr>
          <a:xfrm>
            <a:off x="6972300" y="2642123"/>
            <a:ext cx="28575" cy="533400"/>
          </a:xfrm>
          <a:prstGeom prst="rect">
            <a:avLst/>
          </a:prstGeom>
          <a:solidFill>
            <a:srgbClr val="3B82F6"/>
          </a:solidFill>
          <a:ln/>
        </p:spPr>
      </p:sp>
      <p:sp>
        <p:nvSpPr>
          <p:cNvPr id="22" name="Shape 18"/>
          <p:cNvSpPr/>
          <p:nvPr/>
        </p:nvSpPr>
        <p:spPr>
          <a:xfrm>
            <a:off x="13249275" y="2642123"/>
            <a:ext cx="9525" cy="533400"/>
          </a:xfrm>
          <a:prstGeom prst="rect">
            <a:avLst/>
          </a:prstGeom>
          <a:solidFill>
            <a:srgbClr val="FFFFFF">
              <a:alpha val="8000"/>
            </a:srgbClr>
          </a:solidFill>
          <a:ln/>
        </p:spPr>
      </p:sp>
      <p:sp>
        <p:nvSpPr>
          <p:cNvPr id="23" name="Shape 19"/>
          <p:cNvSpPr/>
          <p:nvPr/>
        </p:nvSpPr>
        <p:spPr>
          <a:xfrm>
            <a:off x="7202984" y="2718323"/>
            <a:ext cx="381000" cy="381000"/>
          </a:xfrm>
          <a:prstGeom prst="roundRect">
            <a:avLst>
              <a:gd name="adj" fmla="val 25000"/>
            </a:avLst>
          </a:prstGeom>
          <a:solidFill>
            <a:srgbClr val="3B82F6">
              <a:alpha val="14000"/>
            </a:srgbClr>
          </a:solidFill>
          <a:ln/>
        </p:spPr>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98234" y="2813573"/>
            <a:ext cx="190500" cy="190500"/>
          </a:xfrm>
          <a:prstGeom prst="rect">
            <a:avLst/>
          </a:prstGeom>
        </p:spPr>
      </p:pic>
      <p:sp>
        <p:nvSpPr>
          <p:cNvPr id="25" name="Text 20"/>
          <p:cNvSpPr/>
          <p:nvPr/>
        </p:nvSpPr>
        <p:spPr>
          <a:xfrm>
            <a:off x="7717102" y="2718323"/>
            <a:ext cx="5313098"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Daily Driver — anonymise first</a:t>
            </a:r>
            <a:endParaRPr lang="en-US" sz="1600" dirty="0"/>
          </a:p>
        </p:txBody>
      </p:sp>
      <p:sp>
        <p:nvSpPr>
          <p:cNvPr id="26" name="Shape 21"/>
          <p:cNvSpPr/>
          <p:nvPr/>
        </p:nvSpPr>
        <p:spPr>
          <a:xfrm>
            <a:off x="457200" y="3525291"/>
            <a:ext cx="6286500" cy="2914650"/>
          </a:xfrm>
          <a:prstGeom prst="roundRect">
            <a:avLst>
              <a:gd name="adj" fmla="val 3174"/>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7" name="Text 22"/>
          <p:cNvSpPr/>
          <p:nvPr/>
        </p:nvSpPr>
        <p:spPr>
          <a:xfrm>
            <a:off x="685800" y="3753891"/>
            <a:ext cx="587593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What anonymising removes or replaces</a:t>
            </a:r>
            <a:endParaRPr lang="en-US" sz="1600" dirty="0"/>
          </a:p>
        </p:txBody>
      </p:sp>
      <p:sp>
        <p:nvSpPr>
          <p:cNvPr id="28" name="Text 23"/>
          <p:cNvSpPr/>
          <p:nvPr/>
        </p:nvSpPr>
        <p:spPr>
          <a:xfrm>
            <a:off x="685800" y="4210992"/>
            <a:ext cx="5875933"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Names and any personal identifier — people, roles tied to a unit, contact details</a:t>
            </a:r>
            <a:endParaRPr lang="en-US" sz="1300" dirty="0"/>
          </a:p>
        </p:txBody>
      </p:sp>
      <p:sp>
        <p:nvSpPr>
          <p:cNvPr id="29" name="Text 24"/>
          <p:cNvSpPr/>
          <p:nvPr/>
        </p:nvSpPr>
        <p:spPr>
          <a:xfrm>
            <a:off x="685800" y="4858659"/>
            <a:ext cx="5875933"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Unpublished amounts — budgets, salaries, internal financial figures</a:t>
            </a:r>
            <a:endParaRPr lang="en-US" sz="1300" dirty="0"/>
          </a:p>
        </p:txBody>
      </p:sp>
      <p:sp>
        <p:nvSpPr>
          <p:cNvPr id="30" name="Text 25"/>
          <p:cNvSpPr/>
          <p:nvPr/>
        </p:nvSpPr>
        <p:spPr>
          <a:xfrm>
            <a:off x="685800" y="5249151"/>
            <a:ext cx="5875933"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Partner identities and consortium composition on anything unsubmitted</a:t>
            </a:r>
            <a:endParaRPr lang="en-US" sz="1300" dirty="0"/>
          </a:p>
        </p:txBody>
      </p:sp>
      <p:sp>
        <p:nvSpPr>
          <p:cNvPr id="31" name="Text 26"/>
          <p:cNvSpPr/>
          <p:nvPr/>
        </p:nvSpPr>
        <p:spPr>
          <a:xfrm>
            <a:off x="685800" y="5639644"/>
            <a:ext cx="5875933"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Anything that still links the document back to a person or to an unsubmitted proposal</a:t>
            </a:r>
            <a:endParaRPr lang="en-US" sz="1300" dirty="0"/>
          </a:p>
        </p:txBody>
      </p:sp>
      <p:sp>
        <p:nvSpPr>
          <p:cNvPr id="32" name="Shape 27"/>
          <p:cNvSpPr/>
          <p:nvPr/>
        </p:nvSpPr>
        <p:spPr>
          <a:xfrm>
            <a:off x="6972300" y="3525291"/>
            <a:ext cx="6286500" cy="2914650"/>
          </a:xfrm>
          <a:prstGeom prst="roundRect">
            <a:avLst>
              <a:gd name="adj" fmla="val 3174"/>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3" name="Shape 28"/>
          <p:cNvSpPr/>
          <p:nvPr/>
        </p:nvSpPr>
        <p:spPr>
          <a:xfrm>
            <a:off x="7200900" y="4220616"/>
            <a:ext cx="381000" cy="381000"/>
          </a:xfrm>
          <a:prstGeom prst="roundRect">
            <a:avLst>
              <a:gd name="adj" fmla="val 25000"/>
            </a:avLst>
          </a:prstGeom>
          <a:solidFill>
            <a:srgbClr val="10B981">
              <a:alpha val="14000"/>
            </a:srgbClr>
          </a:solidFill>
          <a:ln/>
        </p:spPr>
      </p:sp>
      <p:pic>
        <p:nvPicPr>
          <p:cNvPr id="3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96150" y="4315866"/>
            <a:ext cx="190500" cy="190500"/>
          </a:xfrm>
          <a:prstGeom prst="rect">
            <a:avLst/>
          </a:prstGeom>
        </p:spPr>
      </p:pic>
      <p:sp>
        <p:nvSpPr>
          <p:cNvPr id="35" name="Text 29"/>
          <p:cNvSpPr/>
          <p:nvPr/>
        </p:nvSpPr>
        <p:spPr>
          <a:xfrm>
            <a:off x="7696002" y="4220616"/>
            <a:ext cx="5323681"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You did this in Lesson 1</a:t>
            </a:r>
            <a:endParaRPr lang="en-US" sz="1600" dirty="0"/>
          </a:p>
        </p:txBody>
      </p:sp>
      <p:sp>
        <p:nvSpPr>
          <p:cNvPr id="36" name="Text 30"/>
          <p:cNvSpPr/>
          <p:nvPr/>
        </p:nvSpPr>
        <p:spPr>
          <a:xfrm>
            <a:off x="7200900" y="4766253"/>
            <a:ext cx="5875933" cy="82867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The Anchor Project rule — real-but-anonymised, or fictional — was this rule in miniature. The anonymisation one-pager from Lesson 1's materials is the checklist.</a:t>
            </a:r>
            <a:endParaRPr lang="en-US" sz="1300" dirty="0"/>
          </a:p>
        </p:txBody>
      </p:sp>
      <p:sp>
        <p:nvSpPr>
          <p:cNvPr id="37" name="Shape 31"/>
          <p:cNvSpPr/>
          <p:nvPr/>
        </p:nvSpPr>
        <p:spPr>
          <a:xfrm>
            <a:off x="457200" y="6991350"/>
            <a:ext cx="12801600" cy="9525"/>
          </a:xfrm>
          <a:prstGeom prst="rect">
            <a:avLst/>
          </a:prstGeom>
          <a:solidFill>
            <a:srgbClr val="FFFFFF">
              <a:alpha val="7000"/>
            </a:srgbClr>
          </a:solidFill>
          <a:ln/>
        </p:spPr>
      </p:sp>
      <p:sp>
        <p:nvSpPr>
          <p:cNvPr id="38" name="Text 32"/>
          <p:cNvSpPr/>
          <p:nvPr/>
        </p:nvSpPr>
        <p:spPr>
          <a:xfrm>
            <a:off x="457200" y="6859041"/>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The check happens before the upload, not after the answer comes back</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Text 1"/>
          <p:cNvSpPr/>
          <p:nvPr/>
        </p:nvSpPr>
        <p:spPr>
          <a:xfrm>
            <a:off x="457068" y="457068"/>
            <a:ext cx="14082052" cy="444897"/>
          </a:xfrm>
          <a:prstGeom prst="rect">
            <a:avLst/>
          </a:prstGeom>
          <a:noFill/>
          <a:ln/>
        </p:spPr>
        <p:txBody>
          <a:bodyPr wrap="square" lIns="25400" tIns="25400" rIns="25400" bIns="25400" rtlCol="0" anchor="t">
            <a:normAutofit lnSpcReduction="10000"/>
          </a:bodyPr>
          <a:lstStyle/>
          <a:p>
            <a:pPr marL="0" indent="0" algn="l">
              <a:lnSpc>
                <a:spcPct val="83543"/>
              </a:lnSpc>
              <a:buNone/>
            </a:pPr>
            <a:r>
              <a:rPr lang="en-US" sz="3203" b="1" kern="0" spc="-32" dirty="0">
                <a:solidFill>
                  <a:srgbClr val="FFFFFF"/>
                </a:solidFill>
                <a:latin typeface="Inter" pitchFamily="34" charset="0"/>
                <a:ea typeface="Inter" pitchFamily="34" charset="-122"/>
                <a:cs typeface="Inter" pitchFamily="34" charset="-120"/>
              </a:rPr>
              <a:t>AI data safety and ethical use — the framework</a:t>
            </a:r>
            <a:endParaRPr lang="en-US" sz="3203" dirty="0"/>
          </a:p>
        </p:txBody>
      </p:sp>
      <p:sp>
        <p:nvSpPr>
          <p:cNvPr id="4" name="Text 2"/>
          <p:cNvSpPr/>
          <p:nvPr/>
        </p:nvSpPr>
        <p:spPr>
          <a:xfrm>
            <a:off x="457068" y="939932"/>
            <a:ext cx="11772900" cy="458126"/>
          </a:xfrm>
          <a:prstGeom prst="rect">
            <a:avLst/>
          </a:prstGeom>
          <a:noFill/>
          <a:ln/>
        </p:spPr>
        <p:txBody>
          <a:bodyPr wrap="square" lIns="25400" tIns="25400" rIns="25400" bIns="25400" rtlCol="0" anchor="t">
            <a:normAutofit/>
          </a:bodyPr>
          <a:lstStyle/>
          <a:p>
            <a:pPr marL="0" indent="0" algn="l">
              <a:lnSpc>
                <a:spcPct val="124031"/>
              </a:lnSpc>
              <a:buNone/>
            </a:pPr>
            <a:r>
              <a:rPr lang="en-US" sz="1102" dirty="0">
                <a:solidFill>
                  <a:srgbClr val="94A3B8"/>
                </a:solidFill>
                <a:latin typeface="Inter" pitchFamily="34" charset="0"/>
                <a:ea typeface="Inter" pitchFamily="34" charset="-122"/>
                <a:cs typeface="Inter" pitchFamily="34" charset="-120"/>
              </a:rPr>
              <a:t>Protecting sensitive information, preventing algorithmic bias, and keeping human control over automated systems. As AI scales, balancing rapid innovation against robust risk management stops being an aspiration and becomes an operational requirement. [1–3]</a:t>
            </a:r>
            <a:endParaRPr lang="en-US" sz="1102" dirty="0"/>
          </a:p>
        </p:txBody>
      </p:sp>
      <p:sp>
        <p:nvSpPr>
          <p:cNvPr id="5" name="Shape 3"/>
          <p:cNvSpPr/>
          <p:nvPr/>
        </p:nvSpPr>
        <p:spPr>
          <a:xfrm>
            <a:off x="457068" y="2132542"/>
            <a:ext cx="12801865" cy="342801"/>
          </a:xfrm>
          <a:prstGeom prst="roundRect">
            <a:avLst>
              <a:gd name="adj" fmla="val 33343"/>
            </a:avLst>
          </a:prstGeom>
          <a:solidFill>
            <a:srgbClr val="FFFFFF">
              <a:alpha val="6000"/>
            </a:srgbClr>
          </a:solidFill>
          <a:ln/>
        </p:spPr>
      </p:sp>
      <p:sp>
        <p:nvSpPr>
          <p:cNvPr id="6" name="Text 4"/>
          <p:cNvSpPr/>
          <p:nvPr/>
        </p:nvSpPr>
        <p:spPr>
          <a:xfrm>
            <a:off x="647568" y="2132542"/>
            <a:ext cx="12804921" cy="380901"/>
          </a:xfrm>
          <a:prstGeom prst="rect">
            <a:avLst/>
          </a:prstGeom>
          <a:noFill/>
          <a:ln/>
        </p:spPr>
        <p:txBody>
          <a:bodyPr wrap="square" lIns="25400" tIns="25400" rIns="25400" bIns="25400" rtlCol="0" anchor="ctr">
            <a:normAutofit/>
          </a:bodyPr>
          <a:lstStyle/>
          <a:p>
            <a:pPr marL="0" indent="0" algn="l">
              <a:buNone/>
            </a:pPr>
            <a:r>
              <a:rPr lang="en-US" sz="900" b="1" kern="0" spc="72" dirty="0">
                <a:solidFill>
                  <a:srgbClr val="60A5FA"/>
                </a:solidFill>
                <a:latin typeface="Courier New" pitchFamily="34" charset="0"/>
                <a:ea typeface="Courier New" pitchFamily="34" charset="-122"/>
                <a:cs typeface="Courier New" pitchFamily="34" charset="-120"/>
              </a:rPr>
              <a:t>PILLARS OF TRUSTWORTHY AI</a:t>
            </a:r>
            <a:endParaRPr lang="en-US" sz="900" dirty="0"/>
          </a:p>
        </p:txBody>
      </p:sp>
      <p:sp>
        <p:nvSpPr>
          <p:cNvPr id="7" name="Shape 5"/>
          <p:cNvSpPr/>
          <p:nvPr/>
        </p:nvSpPr>
        <p:spPr>
          <a:xfrm>
            <a:off x="457068" y="2627643"/>
            <a:ext cx="3028983" cy="1213941"/>
          </a:xfrm>
          <a:prstGeom prst="roundRect">
            <a:avLst>
              <a:gd name="adj" fmla="val 9416"/>
            </a:avLst>
          </a:prstGeom>
          <a:gradFill rotWithShape="1">
            <a:gsLst>
              <a:gs pos="0">
                <a:srgbClr val="FFFFFF">
                  <a:alpha val="11000"/>
                </a:srgbClr>
              </a:gs>
              <a:gs pos="100000">
                <a:srgbClr val="FFFFFF">
                  <a:alpha val="2000"/>
                </a:srgbClr>
              </a:gs>
            </a:gsLst>
            <a:lin ang="5400000" scaled="0"/>
          </a:gradFill>
          <a:ln/>
          <a:effectLst>
            <a:outerShdw blurRad="228600" dist="76200" dir="5400000" algn="bl" rotWithShape="0">
              <a:srgbClr val="000000">
                <a:alpha val="25000"/>
              </a:srgbClr>
            </a:outerShdw>
          </a:effectLst>
        </p:spPr>
      </p:sp>
      <p:sp>
        <p:nvSpPr>
          <p:cNvPr id="8" name="Shape 6"/>
          <p:cNvSpPr/>
          <p:nvPr/>
        </p:nvSpPr>
        <p:spPr>
          <a:xfrm>
            <a:off x="457068" y="3831002"/>
            <a:ext cx="3028983" cy="10583"/>
          </a:xfrm>
          <a:prstGeom prst="rect">
            <a:avLst/>
          </a:prstGeom>
          <a:solidFill>
            <a:srgbClr val="FFFFFF">
              <a:alpha val="12000"/>
            </a:srgbClr>
          </a:solidFill>
          <a:ln/>
        </p:spPr>
      </p:sp>
      <p:sp>
        <p:nvSpPr>
          <p:cNvPr id="9" name="Shape 7"/>
          <p:cNvSpPr/>
          <p:nvPr/>
        </p:nvSpPr>
        <p:spPr>
          <a:xfrm>
            <a:off x="457068" y="2627643"/>
            <a:ext cx="3028983" cy="10583"/>
          </a:xfrm>
          <a:prstGeom prst="rect">
            <a:avLst/>
          </a:prstGeom>
          <a:solidFill>
            <a:srgbClr val="FFFFFF">
              <a:alpha val="12000"/>
            </a:srgbClr>
          </a:solidFill>
          <a:ln/>
        </p:spPr>
      </p:sp>
      <p:sp>
        <p:nvSpPr>
          <p:cNvPr id="10" name="Shape 8"/>
          <p:cNvSpPr/>
          <p:nvPr/>
        </p:nvSpPr>
        <p:spPr>
          <a:xfrm>
            <a:off x="457068" y="2627643"/>
            <a:ext cx="21167" cy="1213941"/>
          </a:xfrm>
          <a:prstGeom prst="rect">
            <a:avLst/>
          </a:prstGeom>
          <a:solidFill>
            <a:srgbClr val="3B82F6"/>
          </a:solidFill>
          <a:ln/>
        </p:spPr>
      </p:sp>
      <p:sp>
        <p:nvSpPr>
          <p:cNvPr id="11" name="Shape 9"/>
          <p:cNvSpPr/>
          <p:nvPr/>
        </p:nvSpPr>
        <p:spPr>
          <a:xfrm>
            <a:off x="3475468" y="2627643"/>
            <a:ext cx="10583" cy="1213941"/>
          </a:xfrm>
          <a:prstGeom prst="rect">
            <a:avLst/>
          </a:prstGeom>
          <a:solidFill>
            <a:srgbClr val="FFFFFF">
              <a:alpha val="12000"/>
            </a:srgbClr>
          </a:solidFill>
          <a:ln/>
        </p:spPr>
      </p:sp>
      <p:sp>
        <p:nvSpPr>
          <p:cNvPr id="12" name="Text 10"/>
          <p:cNvSpPr/>
          <p:nvPr/>
        </p:nvSpPr>
        <p:spPr>
          <a:xfrm>
            <a:off x="630535" y="2790527"/>
            <a:ext cx="2961895" cy="239183"/>
          </a:xfrm>
          <a:prstGeom prst="rect">
            <a:avLst/>
          </a:prstGeom>
          <a:noFill/>
          <a:ln/>
        </p:spPr>
        <p:txBody>
          <a:bodyPr wrap="square" lIns="25400" tIns="25400" rIns="25400" bIns="25400" rtlCol="0" anchor="t">
            <a:normAutofit lnSpcReduction="10000"/>
          </a:bodyPr>
          <a:lstStyle/>
          <a:p>
            <a:pPr marL="0" indent="0" algn="l">
              <a:buNone/>
            </a:pPr>
            <a:r>
              <a:rPr lang="en-US" sz="1298" b="1" dirty="0">
                <a:solidFill>
                  <a:srgbClr val="60A5FA"/>
                </a:solidFill>
                <a:latin typeface="Inter" pitchFamily="34" charset="0"/>
                <a:ea typeface="Inter" pitchFamily="34" charset="-122"/>
                <a:cs typeface="Inter" pitchFamily="34" charset="-120"/>
              </a:rPr>
              <a:t>Data governance</a:t>
            </a:r>
            <a:endParaRPr lang="en-US" sz="1298" dirty="0"/>
          </a:p>
        </p:txBody>
      </p:sp>
      <p:sp>
        <p:nvSpPr>
          <p:cNvPr id="13" name="Text 11"/>
          <p:cNvSpPr/>
          <p:nvPr/>
        </p:nvSpPr>
        <p:spPr>
          <a:xfrm>
            <a:off x="630535" y="3048662"/>
            <a:ext cx="2773411" cy="668139"/>
          </a:xfrm>
          <a:prstGeom prst="rect">
            <a:avLst/>
          </a:prstGeom>
          <a:noFill/>
          <a:ln/>
        </p:spPr>
        <p:txBody>
          <a:bodyPr wrap="square" lIns="25400" tIns="25400" rIns="25400" bIns="25400" rtlCol="0" anchor="t">
            <a:normAutofit/>
          </a:bodyPr>
          <a:lstStyle/>
          <a:p>
            <a:pPr marL="0" indent="0" algn="l">
              <a:lnSpc>
                <a:spcPct val="124031"/>
              </a:lnSpc>
              <a:buNone/>
            </a:pPr>
            <a:r>
              <a:rPr lang="en-US" sz="1102" dirty="0">
                <a:solidFill>
                  <a:srgbClr val="94A3B8"/>
                </a:solidFill>
                <a:latin typeface="Inter" pitchFamily="34" charset="0"/>
                <a:ea typeface="Inter" pitchFamily="34" charset="-122"/>
                <a:cs typeface="Inter" pitchFamily="34" charset="-120"/>
              </a:rPr>
              <a:t>What may be collected, where it is allowed to travel, and who is accountable for it</a:t>
            </a:r>
            <a:endParaRPr lang="en-US" sz="1102" dirty="0"/>
          </a:p>
        </p:txBody>
      </p:sp>
      <p:sp>
        <p:nvSpPr>
          <p:cNvPr id="14" name="Shape 12"/>
          <p:cNvSpPr/>
          <p:nvPr/>
        </p:nvSpPr>
        <p:spPr>
          <a:xfrm>
            <a:off x="3714585" y="2627643"/>
            <a:ext cx="3029149" cy="1213941"/>
          </a:xfrm>
          <a:prstGeom prst="roundRect">
            <a:avLst>
              <a:gd name="adj" fmla="val 9416"/>
            </a:avLst>
          </a:prstGeom>
          <a:gradFill rotWithShape="1">
            <a:gsLst>
              <a:gs pos="0">
                <a:srgbClr val="FFFFFF">
                  <a:alpha val="11000"/>
                </a:srgbClr>
              </a:gs>
              <a:gs pos="100000">
                <a:srgbClr val="FFFFFF">
                  <a:alpha val="2000"/>
                </a:srgbClr>
              </a:gs>
            </a:gsLst>
            <a:lin ang="5400000" scaled="0"/>
          </a:gradFill>
          <a:ln/>
          <a:effectLst>
            <a:outerShdw blurRad="228600" dist="76200" dir="5400000" algn="bl" rotWithShape="0">
              <a:srgbClr val="000000">
                <a:alpha val="25000"/>
              </a:srgbClr>
            </a:outerShdw>
          </a:effectLst>
        </p:spPr>
      </p:sp>
      <p:sp>
        <p:nvSpPr>
          <p:cNvPr id="15" name="Shape 13"/>
          <p:cNvSpPr/>
          <p:nvPr/>
        </p:nvSpPr>
        <p:spPr>
          <a:xfrm>
            <a:off x="3714585" y="3831002"/>
            <a:ext cx="3029149" cy="10583"/>
          </a:xfrm>
          <a:prstGeom prst="rect">
            <a:avLst/>
          </a:prstGeom>
          <a:solidFill>
            <a:srgbClr val="FFFFFF">
              <a:alpha val="12000"/>
            </a:srgbClr>
          </a:solidFill>
          <a:ln/>
        </p:spPr>
      </p:sp>
      <p:sp>
        <p:nvSpPr>
          <p:cNvPr id="16" name="Shape 14"/>
          <p:cNvSpPr/>
          <p:nvPr/>
        </p:nvSpPr>
        <p:spPr>
          <a:xfrm>
            <a:off x="3714585" y="2627643"/>
            <a:ext cx="3029149" cy="10583"/>
          </a:xfrm>
          <a:prstGeom prst="rect">
            <a:avLst/>
          </a:prstGeom>
          <a:solidFill>
            <a:srgbClr val="FFFFFF">
              <a:alpha val="12000"/>
            </a:srgbClr>
          </a:solidFill>
          <a:ln/>
        </p:spPr>
      </p:sp>
      <p:sp>
        <p:nvSpPr>
          <p:cNvPr id="17" name="Shape 15"/>
          <p:cNvSpPr/>
          <p:nvPr/>
        </p:nvSpPr>
        <p:spPr>
          <a:xfrm>
            <a:off x="3714585" y="2627643"/>
            <a:ext cx="21167" cy="1213941"/>
          </a:xfrm>
          <a:prstGeom prst="rect">
            <a:avLst/>
          </a:prstGeom>
          <a:solidFill>
            <a:srgbClr val="EF4444"/>
          </a:solidFill>
          <a:ln/>
        </p:spPr>
      </p:sp>
      <p:sp>
        <p:nvSpPr>
          <p:cNvPr id="18" name="Shape 16"/>
          <p:cNvSpPr/>
          <p:nvPr/>
        </p:nvSpPr>
        <p:spPr>
          <a:xfrm>
            <a:off x="6733150" y="2627643"/>
            <a:ext cx="10583" cy="1213941"/>
          </a:xfrm>
          <a:prstGeom prst="rect">
            <a:avLst/>
          </a:prstGeom>
          <a:solidFill>
            <a:srgbClr val="FFFFFF">
              <a:alpha val="12000"/>
            </a:srgbClr>
          </a:solidFill>
          <a:ln/>
        </p:spPr>
      </p:sp>
      <p:sp>
        <p:nvSpPr>
          <p:cNvPr id="19" name="Text 17"/>
          <p:cNvSpPr/>
          <p:nvPr/>
        </p:nvSpPr>
        <p:spPr>
          <a:xfrm>
            <a:off x="3888052" y="2790527"/>
            <a:ext cx="2962077" cy="239183"/>
          </a:xfrm>
          <a:prstGeom prst="rect">
            <a:avLst/>
          </a:prstGeom>
          <a:noFill/>
          <a:ln/>
        </p:spPr>
        <p:txBody>
          <a:bodyPr wrap="square" lIns="25400" tIns="25400" rIns="25400" bIns="25400" rtlCol="0" anchor="t">
            <a:normAutofit lnSpcReduction="10000"/>
          </a:bodyPr>
          <a:lstStyle/>
          <a:p>
            <a:pPr marL="0" indent="0" algn="l">
              <a:buNone/>
            </a:pPr>
            <a:r>
              <a:rPr lang="en-US" sz="1298" b="1" dirty="0">
                <a:solidFill>
                  <a:srgbClr val="F87171"/>
                </a:solidFill>
                <a:latin typeface="Inter" pitchFamily="34" charset="0"/>
                <a:ea typeface="Inter" pitchFamily="34" charset="-122"/>
                <a:cs typeface="Inter" pitchFamily="34" charset="-120"/>
              </a:rPr>
              <a:t>Algorithmic fairness</a:t>
            </a:r>
            <a:endParaRPr lang="en-US" sz="1298" dirty="0"/>
          </a:p>
        </p:txBody>
      </p:sp>
      <p:sp>
        <p:nvSpPr>
          <p:cNvPr id="20" name="Text 18"/>
          <p:cNvSpPr/>
          <p:nvPr/>
        </p:nvSpPr>
        <p:spPr>
          <a:xfrm>
            <a:off x="3888052" y="3048662"/>
            <a:ext cx="2773581" cy="458126"/>
          </a:xfrm>
          <a:prstGeom prst="rect">
            <a:avLst/>
          </a:prstGeom>
          <a:noFill/>
          <a:ln/>
        </p:spPr>
        <p:txBody>
          <a:bodyPr wrap="square" lIns="25400" tIns="25400" rIns="25400" bIns="25400" rtlCol="0" anchor="t">
            <a:normAutofit/>
          </a:bodyPr>
          <a:lstStyle/>
          <a:p>
            <a:pPr marL="0" indent="0" algn="l">
              <a:lnSpc>
                <a:spcPct val="124031"/>
              </a:lnSpc>
              <a:buNone/>
            </a:pPr>
            <a:r>
              <a:rPr lang="en-US" sz="1102" dirty="0">
                <a:solidFill>
                  <a:srgbClr val="94A3B8"/>
                </a:solidFill>
                <a:latin typeface="Inter" pitchFamily="34" charset="0"/>
                <a:ea typeface="Inter" pitchFamily="34" charset="-122"/>
                <a:cs typeface="Inter" pitchFamily="34" charset="-120"/>
              </a:rPr>
              <a:t>Training and outputs actively filtered for systemic bias</a:t>
            </a:r>
            <a:endParaRPr lang="en-US" sz="1102" dirty="0"/>
          </a:p>
        </p:txBody>
      </p:sp>
      <p:sp>
        <p:nvSpPr>
          <p:cNvPr id="21" name="Shape 19"/>
          <p:cNvSpPr/>
          <p:nvPr/>
        </p:nvSpPr>
        <p:spPr>
          <a:xfrm>
            <a:off x="6972267" y="2627643"/>
            <a:ext cx="3028983" cy="1213941"/>
          </a:xfrm>
          <a:prstGeom prst="roundRect">
            <a:avLst>
              <a:gd name="adj" fmla="val 9416"/>
            </a:avLst>
          </a:prstGeom>
          <a:gradFill rotWithShape="1">
            <a:gsLst>
              <a:gs pos="0">
                <a:srgbClr val="FFFFFF">
                  <a:alpha val="11000"/>
                </a:srgbClr>
              </a:gs>
              <a:gs pos="100000">
                <a:srgbClr val="FFFFFF">
                  <a:alpha val="2000"/>
                </a:srgbClr>
              </a:gs>
            </a:gsLst>
            <a:lin ang="5400000" scaled="0"/>
          </a:gradFill>
          <a:ln/>
          <a:effectLst>
            <a:outerShdw blurRad="228600" dist="76200" dir="5400000" algn="bl" rotWithShape="0">
              <a:srgbClr val="000000">
                <a:alpha val="25000"/>
              </a:srgbClr>
            </a:outerShdw>
          </a:effectLst>
        </p:spPr>
      </p:sp>
      <p:sp>
        <p:nvSpPr>
          <p:cNvPr id="22" name="Shape 20"/>
          <p:cNvSpPr/>
          <p:nvPr/>
        </p:nvSpPr>
        <p:spPr>
          <a:xfrm>
            <a:off x="6972267" y="3831002"/>
            <a:ext cx="3028983" cy="10583"/>
          </a:xfrm>
          <a:prstGeom prst="rect">
            <a:avLst/>
          </a:prstGeom>
          <a:solidFill>
            <a:srgbClr val="FFFFFF">
              <a:alpha val="12000"/>
            </a:srgbClr>
          </a:solidFill>
          <a:ln/>
        </p:spPr>
      </p:sp>
      <p:sp>
        <p:nvSpPr>
          <p:cNvPr id="23" name="Shape 21"/>
          <p:cNvSpPr/>
          <p:nvPr/>
        </p:nvSpPr>
        <p:spPr>
          <a:xfrm>
            <a:off x="6972267" y="2627643"/>
            <a:ext cx="3028983" cy="10583"/>
          </a:xfrm>
          <a:prstGeom prst="rect">
            <a:avLst/>
          </a:prstGeom>
          <a:solidFill>
            <a:srgbClr val="FFFFFF">
              <a:alpha val="12000"/>
            </a:srgbClr>
          </a:solidFill>
          <a:ln/>
        </p:spPr>
      </p:sp>
      <p:sp>
        <p:nvSpPr>
          <p:cNvPr id="24" name="Shape 22"/>
          <p:cNvSpPr/>
          <p:nvPr/>
        </p:nvSpPr>
        <p:spPr>
          <a:xfrm>
            <a:off x="6972267" y="2627643"/>
            <a:ext cx="21167" cy="1213941"/>
          </a:xfrm>
          <a:prstGeom prst="rect">
            <a:avLst/>
          </a:prstGeom>
          <a:solidFill>
            <a:srgbClr val="8B5CF6"/>
          </a:solidFill>
          <a:ln/>
        </p:spPr>
      </p:sp>
      <p:sp>
        <p:nvSpPr>
          <p:cNvPr id="25" name="Shape 23"/>
          <p:cNvSpPr/>
          <p:nvPr/>
        </p:nvSpPr>
        <p:spPr>
          <a:xfrm>
            <a:off x="9990667" y="2627643"/>
            <a:ext cx="10583" cy="1213941"/>
          </a:xfrm>
          <a:prstGeom prst="rect">
            <a:avLst/>
          </a:prstGeom>
          <a:solidFill>
            <a:srgbClr val="FFFFFF">
              <a:alpha val="12000"/>
            </a:srgbClr>
          </a:solidFill>
          <a:ln/>
        </p:spPr>
      </p:sp>
      <p:sp>
        <p:nvSpPr>
          <p:cNvPr id="26" name="Text 24"/>
          <p:cNvSpPr/>
          <p:nvPr/>
        </p:nvSpPr>
        <p:spPr>
          <a:xfrm>
            <a:off x="7145735" y="2790527"/>
            <a:ext cx="2961895" cy="239183"/>
          </a:xfrm>
          <a:prstGeom prst="rect">
            <a:avLst/>
          </a:prstGeom>
          <a:noFill/>
          <a:ln/>
        </p:spPr>
        <p:txBody>
          <a:bodyPr wrap="square" lIns="25400" tIns="25400" rIns="25400" bIns="25400" rtlCol="0" anchor="t">
            <a:normAutofit lnSpcReduction="10000"/>
          </a:bodyPr>
          <a:lstStyle/>
          <a:p>
            <a:pPr marL="0" indent="0" algn="l">
              <a:buNone/>
            </a:pPr>
            <a:r>
              <a:rPr lang="en-US" sz="1298" b="1" dirty="0">
                <a:solidFill>
                  <a:srgbClr val="A78BFA"/>
                </a:solidFill>
                <a:latin typeface="Inter" pitchFamily="34" charset="0"/>
                <a:ea typeface="Inter" pitchFamily="34" charset="-122"/>
                <a:cs typeface="Inter" pitchFamily="34" charset="-120"/>
              </a:rPr>
              <a:t>Transparency &amp; explainability</a:t>
            </a:r>
            <a:endParaRPr lang="en-US" sz="1298" dirty="0"/>
          </a:p>
        </p:txBody>
      </p:sp>
      <p:sp>
        <p:nvSpPr>
          <p:cNvPr id="27" name="Text 25"/>
          <p:cNvSpPr/>
          <p:nvPr/>
        </p:nvSpPr>
        <p:spPr>
          <a:xfrm>
            <a:off x="7145735" y="3048662"/>
            <a:ext cx="2773411" cy="458126"/>
          </a:xfrm>
          <a:prstGeom prst="rect">
            <a:avLst/>
          </a:prstGeom>
          <a:noFill/>
          <a:ln/>
        </p:spPr>
        <p:txBody>
          <a:bodyPr wrap="square" lIns="25400" tIns="25400" rIns="25400" bIns="25400" rtlCol="0" anchor="t">
            <a:normAutofit/>
          </a:bodyPr>
          <a:lstStyle/>
          <a:p>
            <a:pPr marL="0" indent="0" algn="l">
              <a:lnSpc>
                <a:spcPct val="124031"/>
              </a:lnSpc>
              <a:buNone/>
            </a:pPr>
            <a:r>
              <a:rPr lang="en-US" sz="1102" dirty="0">
                <a:solidFill>
                  <a:srgbClr val="94A3B8"/>
                </a:solidFill>
                <a:latin typeface="Inter" pitchFamily="34" charset="0"/>
                <a:ea typeface="Inter" pitchFamily="34" charset="-122"/>
                <a:cs typeface="Inter" pitchFamily="34" charset="-120"/>
              </a:rPr>
              <a:t>What data was used, and how a given automated decision was reached</a:t>
            </a:r>
            <a:endParaRPr lang="en-US" sz="1102" dirty="0"/>
          </a:p>
        </p:txBody>
      </p:sp>
      <p:sp>
        <p:nvSpPr>
          <p:cNvPr id="28" name="Shape 26"/>
          <p:cNvSpPr/>
          <p:nvPr/>
        </p:nvSpPr>
        <p:spPr>
          <a:xfrm>
            <a:off x="10229785" y="2627643"/>
            <a:ext cx="3029149" cy="1213941"/>
          </a:xfrm>
          <a:prstGeom prst="roundRect">
            <a:avLst>
              <a:gd name="adj" fmla="val 9416"/>
            </a:avLst>
          </a:prstGeom>
          <a:gradFill rotWithShape="1">
            <a:gsLst>
              <a:gs pos="0">
                <a:srgbClr val="FFFFFF">
                  <a:alpha val="11000"/>
                </a:srgbClr>
              </a:gs>
              <a:gs pos="100000">
                <a:srgbClr val="FFFFFF">
                  <a:alpha val="2000"/>
                </a:srgbClr>
              </a:gs>
            </a:gsLst>
            <a:lin ang="5400000" scaled="0"/>
          </a:gradFill>
          <a:ln/>
          <a:effectLst>
            <a:outerShdw blurRad="228600" dist="76200" dir="5400000" algn="bl" rotWithShape="0">
              <a:srgbClr val="000000">
                <a:alpha val="25000"/>
              </a:srgbClr>
            </a:outerShdw>
          </a:effectLst>
        </p:spPr>
      </p:sp>
      <p:sp>
        <p:nvSpPr>
          <p:cNvPr id="29" name="Shape 27"/>
          <p:cNvSpPr/>
          <p:nvPr/>
        </p:nvSpPr>
        <p:spPr>
          <a:xfrm>
            <a:off x="10229785" y="3831002"/>
            <a:ext cx="3029149" cy="10583"/>
          </a:xfrm>
          <a:prstGeom prst="rect">
            <a:avLst/>
          </a:prstGeom>
          <a:solidFill>
            <a:srgbClr val="FFFFFF">
              <a:alpha val="12000"/>
            </a:srgbClr>
          </a:solidFill>
          <a:ln/>
        </p:spPr>
      </p:sp>
      <p:sp>
        <p:nvSpPr>
          <p:cNvPr id="30" name="Shape 28"/>
          <p:cNvSpPr/>
          <p:nvPr/>
        </p:nvSpPr>
        <p:spPr>
          <a:xfrm>
            <a:off x="10229785" y="2627643"/>
            <a:ext cx="3029149" cy="10583"/>
          </a:xfrm>
          <a:prstGeom prst="rect">
            <a:avLst/>
          </a:prstGeom>
          <a:solidFill>
            <a:srgbClr val="FFFFFF">
              <a:alpha val="12000"/>
            </a:srgbClr>
          </a:solidFill>
          <a:ln/>
        </p:spPr>
      </p:sp>
      <p:sp>
        <p:nvSpPr>
          <p:cNvPr id="31" name="Shape 29"/>
          <p:cNvSpPr/>
          <p:nvPr/>
        </p:nvSpPr>
        <p:spPr>
          <a:xfrm>
            <a:off x="10229785" y="2627643"/>
            <a:ext cx="21167" cy="1213941"/>
          </a:xfrm>
          <a:prstGeom prst="rect">
            <a:avLst/>
          </a:prstGeom>
          <a:solidFill>
            <a:srgbClr val="10B981"/>
          </a:solidFill>
          <a:ln/>
        </p:spPr>
      </p:sp>
      <p:sp>
        <p:nvSpPr>
          <p:cNvPr id="32" name="Shape 30"/>
          <p:cNvSpPr/>
          <p:nvPr/>
        </p:nvSpPr>
        <p:spPr>
          <a:xfrm>
            <a:off x="13248350" y="2627643"/>
            <a:ext cx="10583" cy="1213941"/>
          </a:xfrm>
          <a:prstGeom prst="rect">
            <a:avLst/>
          </a:prstGeom>
          <a:solidFill>
            <a:srgbClr val="FFFFFF">
              <a:alpha val="12000"/>
            </a:srgbClr>
          </a:solidFill>
          <a:ln/>
        </p:spPr>
      </p:sp>
      <p:sp>
        <p:nvSpPr>
          <p:cNvPr id="33" name="Text 31"/>
          <p:cNvSpPr/>
          <p:nvPr/>
        </p:nvSpPr>
        <p:spPr>
          <a:xfrm>
            <a:off x="10403252" y="2790527"/>
            <a:ext cx="2962077" cy="239183"/>
          </a:xfrm>
          <a:prstGeom prst="rect">
            <a:avLst/>
          </a:prstGeom>
          <a:noFill/>
          <a:ln/>
        </p:spPr>
        <p:txBody>
          <a:bodyPr wrap="square" lIns="25400" tIns="25400" rIns="25400" bIns="25400" rtlCol="0" anchor="t">
            <a:normAutofit lnSpcReduction="10000"/>
          </a:bodyPr>
          <a:lstStyle/>
          <a:p>
            <a:pPr marL="0" indent="0" algn="l">
              <a:buNone/>
            </a:pPr>
            <a:r>
              <a:rPr lang="en-US" sz="1298" b="1" dirty="0">
                <a:solidFill>
                  <a:srgbClr val="34D399"/>
                </a:solidFill>
                <a:latin typeface="Inter" pitchFamily="34" charset="0"/>
                <a:ea typeface="Inter" pitchFamily="34" charset="-122"/>
                <a:cs typeface="Inter" pitchFamily="34" charset="-120"/>
              </a:rPr>
              <a:t>Human control</a:t>
            </a:r>
            <a:endParaRPr lang="en-US" sz="1298" dirty="0"/>
          </a:p>
        </p:txBody>
      </p:sp>
      <p:sp>
        <p:nvSpPr>
          <p:cNvPr id="34" name="Text 32"/>
          <p:cNvSpPr/>
          <p:nvPr/>
        </p:nvSpPr>
        <p:spPr>
          <a:xfrm>
            <a:off x="10403252" y="3048662"/>
            <a:ext cx="2773581" cy="668139"/>
          </a:xfrm>
          <a:prstGeom prst="rect">
            <a:avLst/>
          </a:prstGeom>
          <a:noFill/>
          <a:ln/>
        </p:spPr>
        <p:txBody>
          <a:bodyPr wrap="square" lIns="25400" tIns="25400" rIns="25400" bIns="25400" rtlCol="0" anchor="t">
            <a:normAutofit/>
          </a:bodyPr>
          <a:lstStyle/>
          <a:p>
            <a:pPr marL="0" indent="0" algn="l">
              <a:lnSpc>
                <a:spcPct val="124031"/>
              </a:lnSpc>
              <a:buNone/>
            </a:pPr>
            <a:r>
              <a:rPr lang="en-US" sz="1102" dirty="0">
                <a:solidFill>
                  <a:srgbClr val="94A3B8"/>
                </a:solidFill>
                <a:latin typeface="Inter" pitchFamily="34" charset="0"/>
                <a:ea typeface="Inter" pitchFamily="34" charset="-122"/>
                <a:cs typeface="Inter" pitchFamily="34" charset="-120"/>
              </a:rPr>
              <a:t>Automated systems supplement human judgement; they never take over the responsibility</a:t>
            </a:r>
            <a:endParaRPr lang="en-US" sz="1102" dirty="0"/>
          </a:p>
        </p:txBody>
      </p:sp>
      <p:sp>
        <p:nvSpPr>
          <p:cNvPr id="35" name="Text 33"/>
          <p:cNvSpPr/>
          <p:nvPr/>
        </p:nvSpPr>
        <p:spPr>
          <a:xfrm>
            <a:off x="457068" y="3993886"/>
            <a:ext cx="14082052" cy="207433"/>
          </a:xfrm>
          <a:prstGeom prst="rect">
            <a:avLst/>
          </a:prstGeom>
          <a:noFill/>
          <a:ln/>
        </p:spPr>
        <p:txBody>
          <a:bodyPr wrap="square" lIns="25400" tIns="25400" rIns="25400" bIns="25400" rtlCol="0" anchor="t">
            <a:normAutofit lnSpcReduction="10000"/>
          </a:bodyPr>
          <a:lstStyle/>
          <a:p>
            <a:pPr marL="0" indent="0" algn="l">
              <a:buNone/>
            </a:pPr>
            <a:r>
              <a:rPr lang="en-US" sz="1102" dirty="0">
                <a:solidFill>
                  <a:srgbClr val="94A3B8"/>
                </a:solidFill>
                <a:latin typeface="Inter" pitchFamily="34" charset="0"/>
                <a:ea typeface="Inter" pitchFamily="34" charset="-122"/>
                <a:cs typeface="Inter" pitchFamily="34" charset="-120"/>
              </a:rPr>
              <a:t>Where this is written down for us</a:t>
            </a:r>
            <a:endParaRPr lang="en-US" sz="1102" dirty="0"/>
          </a:p>
        </p:txBody>
      </p:sp>
      <p:sp>
        <p:nvSpPr>
          <p:cNvPr id="36" name="Shape 34"/>
          <p:cNvSpPr/>
          <p:nvPr/>
        </p:nvSpPr>
        <p:spPr>
          <a:xfrm>
            <a:off x="457068" y="4315520"/>
            <a:ext cx="6286666" cy="1423955"/>
          </a:xfrm>
          <a:prstGeom prst="roundRect">
            <a:avLst>
              <a:gd name="adj" fmla="val 8027"/>
            </a:avLst>
          </a:prstGeom>
          <a:gradFill rotWithShape="1">
            <a:gsLst>
              <a:gs pos="0">
                <a:srgbClr val="FFFFFF">
                  <a:alpha val="11000"/>
                </a:srgbClr>
              </a:gs>
              <a:gs pos="100000">
                <a:srgbClr val="FFFFFF">
                  <a:alpha val="2000"/>
                </a:srgbClr>
              </a:gs>
            </a:gsLst>
            <a:lin ang="5400000" scaled="0"/>
          </a:gradFill>
          <a:ln/>
          <a:effectLst>
            <a:outerShdw blurRad="228600" dist="76200" dir="5400000" algn="bl" rotWithShape="0">
              <a:srgbClr val="000000">
                <a:alpha val="25000"/>
              </a:srgbClr>
            </a:outerShdw>
          </a:effectLst>
        </p:spPr>
      </p:sp>
      <p:sp>
        <p:nvSpPr>
          <p:cNvPr id="37" name="Shape 35"/>
          <p:cNvSpPr/>
          <p:nvPr/>
        </p:nvSpPr>
        <p:spPr>
          <a:xfrm>
            <a:off x="457068" y="5728891"/>
            <a:ext cx="6286666" cy="10583"/>
          </a:xfrm>
          <a:prstGeom prst="rect">
            <a:avLst/>
          </a:prstGeom>
          <a:solidFill>
            <a:srgbClr val="FFFFFF">
              <a:alpha val="12000"/>
            </a:srgbClr>
          </a:solidFill>
          <a:ln/>
        </p:spPr>
      </p:sp>
      <p:sp>
        <p:nvSpPr>
          <p:cNvPr id="38" name="Shape 36"/>
          <p:cNvSpPr/>
          <p:nvPr/>
        </p:nvSpPr>
        <p:spPr>
          <a:xfrm>
            <a:off x="457068" y="4315520"/>
            <a:ext cx="6286666" cy="10583"/>
          </a:xfrm>
          <a:prstGeom prst="rect">
            <a:avLst/>
          </a:prstGeom>
          <a:solidFill>
            <a:srgbClr val="FFFFFF">
              <a:alpha val="12000"/>
            </a:srgbClr>
          </a:solidFill>
          <a:ln/>
        </p:spPr>
      </p:sp>
      <p:sp>
        <p:nvSpPr>
          <p:cNvPr id="39" name="Shape 37"/>
          <p:cNvSpPr/>
          <p:nvPr/>
        </p:nvSpPr>
        <p:spPr>
          <a:xfrm>
            <a:off x="457068" y="4315520"/>
            <a:ext cx="21167" cy="1423955"/>
          </a:xfrm>
          <a:prstGeom prst="rect">
            <a:avLst/>
          </a:prstGeom>
          <a:solidFill>
            <a:srgbClr val="8B5CF6"/>
          </a:solidFill>
          <a:ln/>
        </p:spPr>
      </p:sp>
      <p:sp>
        <p:nvSpPr>
          <p:cNvPr id="40" name="Shape 38"/>
          <p:cNvSpPr/>
          <p:nvPr/>
        </p:nvSpPr>
        <p:spPr>
          <a:xfrm>
            <a:off x="6733150" y="4315520"/>
            <a:ext cx="10583" cy="1423955"/>
          </a:xfrm>
          <a:prstGeom prst="rect">
            <a:avLst/>
          </a:prstGeom>
          <a:solidFill>
            <a:srgbClr val="FFFFFF">
              <a:alpha val="12000"/>
            </a:srgbClr>
          </a:solidFill>
          <a:ln/>
        </p:spPr>
      </p:sp>
      <p:sp>
        <p:nvSpPr>
          <p:cNvPr id="41" name="Text 39"/>
          <p:cNvSpPr/>
          <p:nvPr/>
        </p:nvSpPr>
        <p:spPr>
          <a:xfrm>
            <a:off x="630535" y="4478404"/>
            <a:ext cx="6545346" cy="239183"/>
          </a:xfrm>
          <a:prstGeom prst="rect">
            <a:avLst/>
          </a:prstGeom>
          <a:noFill/>
          <a:ln/>
        </p:spPr>
        <p:txBody>
          <a:bodyPr wrap="square" lIns="25400" tIns="25400" rIns="25400" bIns="25400" rtlCol="0" anchor="t">
            <a:normAutofit lnSpcReduction="10000"/>
          </a:bodyPr>
          <a:lstStyle/>
          <a:p>
            <a:pPr marL="0" indent="0" algn="l">
              <a:buNone/>
            </a:pPr>
            <a:r>
              <a:rPr lang="en-US" sz="1298" b="1" dirty="0">
                <a:solidFill>
                  <a:srgbClr val="A78BFA"/>
                </a:solidFill>
                <a:latin typeface="Inter" pitchFamily="34" charset="0"/>
                <a:ea typeface="Inter" pitchFamily="34" charset="-122"/>
                <a:cs typeface="Inter" pitchFamily="34" charset="-120"/>
              </a:rPr>
              <a:t>Umbrella — Rector’s directive 4/2025. (X. 28.)</a:t>
            </a:r>
            <a:endParaRPr lang="en-US" sz="1298" dirty="0"/>
          </a:p>
        </p:txBody>
      </p:sp>
      <p:sp>
        <p:nvSpPr>
          <p:cNvPr id="42" name="Text 40"/>
          <p:cNvSpPr/>
          <p:nvPr/>
        </p:nvSpPr>
        <p:spPr>
          <a:xfrm>
            <a:off x="630535" y="4736538"/>
            <a:ext cx="6545346" cy="248113"/>
          </a:xfrm>
          <a:prstGeom prst="rect">
            <a:avLst/>
          </a:prstGeom>
          <a:noFill/>
          <a:ln/>
        </p:spPr>
        <p:txBody>
          <a:bodyPr wrap="square" lIns="25400" tIns="25400" rIns="25400" bIns="25400" rtlCol="0" anchor="t">
            <a:normAutofit/>
          </a:bodyPr>
          <a:lstStyle/>
          <a:p>
            <a:pPr marL="0" indent="0" algn="l">
              <a:lnSpc>
                <a:spcPct val="124031"/>
              </a:lnSpc>
              <a:buNone/>
            </a:pPr>
            <a:r>
              <a:rPr lang="en-US" sz="1102" dirty="0">
                <a:solidFill>
                  <a:srgbClr val="94A3B8"/>
                </a:solidFill>
                <a:latin typeface="Inter" pitchFamily="34" charset="0"/>
                <a:ea typeface="Inter" pitchFamily="34" charset="-122"/>
                <a:cs typeface="Inter" pitchFamily="34" charset="-120"/>
              </a:rPr>
              <a:t>On the use of artificial intelligence in education at ELTE</a:t>
            </a:r>
            <a:endParaRPr lang="en-US" sz="1102" dirty="0"/>
          </a:p>
        </p:txBody>
      </p:sp>
      <p:sp>
        <p:nvSpPr>
          <p:cNvPr id="43" name="Shape 41"/>
          <p:cNvSpPr/>
          <p:nvPr/>
        </p:nvSpPr>
        <p:spPr>
          <a:xfrm>
            <a:off x="6972267" y="4315520"/>
            <a:ext cx="6286666" cy="1423955"/>
          </a:xfrm>
          <a:prstGeom prst="roundRect">
            <a:avLst>
              <a:gd name="adj" fmla="val 8027"/>
            </a:avLst>
          </a:prstGeom>
          <a:gradFill rotWithShape="1">
            <a:gsLst>
              <a:gs pos="0">
                <a:srgbClr val="FFFFFF">
                  <a:alpha val="11000"/>
                </a:srgbClr>
              </a:gs>
              <a:gs pos="100000">
                <a:srgbClr val="FFFFFF">
                  <a:alpha val="2000"/>
                </a:srgbClr>
              </a:gs>
            </a:gsLst>
            <a:lin ang="5400000" scaled="0"/>
          </a:gradFill>
          <a:ln/>
          <a:effectLst>
            <a:outerShdw blurRad="228600" dist="76200" dir="5400000" algn="bl" rotWithShape="0">
              <a:srgbClr val="000000">
                <a:alpha val="25000"/>
              </a:srgbClr>
            </a:outerShdw>
          </a:effectLst>
        </p:spPr>
      </p:sp>
      <p:sp>
        <p:nvSpPr>
          <p:cNvPr id="44" name="Shape 42"/>
          <p:cNvSpPr/>
          <p:nvPr/>
        </p:nvSpPr>
        <p:spPr>
          <a:xfrm>
            <a:off x="6972267" y="5728891"/>
            <a:ext cx="6286666" cy="10583"/>
          </a:xfrm>
          <a:prstGeom prst="rect">
            <a:avLst/>
          </a:prstGeom>
          <a:solidFill>
            <a:srgbClr val="FFFFFF">
              <a:alpha val="12000"/>
            </a:srgbClr>
          </a:solidFill>
          <a:ln/>
        </p:spPr>
      </p:sp>
      <p:sp>
        <p:nvSpPr>
          <p:cNvPr id="45" name="Shape 43"/>
          <p:cNvSpPr/>
          <p:nvPr/>
        </p:nvSpPr>
        <p:spPr>
          <a:xfrm>
            <a:off x="6972267" y="4315520"/>
            <a:ext cx="6286666" cy="10583"/>
          </a:xfrm>
          <a:prstGeom prst="rect">
            <a:avLst/>
          </a:prstGeom>
          <a:solidFill>
            <a:srgbClr val="FFFFFF">
              <a:alpha val="12000"/>
            </a:srgbClr>
          </a:solidFill>
          <a:ln/>
        </p:spPr>
      </p:sp>
      <p:sp>
        <p:nvSpPr>
          <p:cNvPr id="46" name="Shape 44"/>
          <p:cNvSpPr/>
          <p:nvPr/>
        </p:nvSpPr>
        <p:spPr>
          <a:xfrm>
            <a:off x="6972267" y="4315520"/>
            <a:ext cx="21167" cy="1423955"/>
          </a:xfrm>
          <a:prstGeom prst="rect">
            <a:avLst/>
          </a:prstGeom>
          <a:solidFill>
            <a:srgbClr val="3B82F6"/>
          </a:solidFill>
          <a:ln/>
        </p:spPr>
      </p:sp>
      <p:sp>
        <p:nvSpPr>
          <p:cNvPr id="47" name="Shape 45"/>
          <p:cNvSpPr/>
          <p:nvPr/>
        </p:nvSpPr>
        <p:spPr>
          <a:xfrm>
            <a:off x="13248350" y="4315520"/>
            <a:ext cx="10583" cy="1423955"/>
          </a:xfrm>
          <a:prstGeom prst="rect">
            <a:avLst/>
          </a:prstGeom>
          <a:solidFill>
            <a:srgbClr val="FFFFFF">
              <a:alpha val="12000"/>
            </a:srgbClr>
          </a:solidFill>
          <a:ln/>
        </p:spPr>
      </p:sp>
      <p:sp>
        <p:nvSpPr>
          <p:cNvPr id="48" name="Text 46"/>
          <p:cNvSpPr/>
          <p:nvPr/>
        </p:nvSpPr>
        <p:spPr>
          <a:xfrm>
            <a:off x="7145735" y="4478404"/>
            <a:ext cx="6545346" cy="239183"/>
          </a:xfrm>
          <a:prstGeom prst="rect">
            <a:avLst/>
          </a:prstGeom>
          <a:noFill/>
          <a:ln/>
        </p:spPr>
        <p:txBody>
          <a:bodyPr wrap="square" lIns="25400" tIns="25400" rIns="25400" bIns="25400" rtlCol="0" anchor="t">
            <a:normAutofit lnSpcReduction="10000"/>
          </a:bodyPr>
          <a:lstStyle/>
          <a:p>
            <a:pPr marL="0" indent="0" algn="l">
              <a:buNone/>
            </a:pPr>
            <a:r>
              <a:rPr lang="en-US" sz="1298" b="1" dirty="0">
                <a:solidFill>
                  <a:srgbClr val="60A5FA"/>
                </a:solidFill>
                <a:latin typeface="Inter" pitchFamily="34" charset="0"/>
                <a:ea typeface="Inter" pitchFamily="34" charset="-122"/>
                <a:cs typeface="Inter" pitchFamily="34" charset="-120"/>
              </a:rPr>
              <a:t>Faculty — Dean’s directive 1/2026 (III.26.)</a:t>
            </a:r>
            <a:endParaRPr lang="en-US" sz="1298" dirty="0"/>
          </a:p>
        </p:txBody>
      </p:sp>
      <p:sp>
        <p:nvSpPr>
          <p:cNvPr id="49" name="Text 47"/>
          <p:cNvSpPr/>
          <p:nvPr/>
        </p:nvSpPr>
        <p:spPr>
          <a:xfrm>
            <a:off x="7145735" y="4736538"/>
            <a:ext cx="6128824" cy="878152"/>
          </a:xfrm>
          <a:prstGeom prst="rect">
            <a:avLst/>
          </a:prstGeom>
          <a:noFill/>
          <a:ln/>
        </p:spPr>
        <p:txBody>
          <a:bodyPr wrap="square" lIns="25400" tIns="25400" rIns="25400" bIns="25400" rtlCol="0" anchor="t">
            <a:normAutofit/>
          </a:bodyPr>
          <a:lstStyle/>
          <a:p>
            <a:pPr marL="0" indent="0" algn="l">
              <a:lnSpc>
                <a:spcPct val="124031"/>
              </a:lnSpc>
              <a:buNone/>
            </a:pPr>
            <a:r>
              <a:rPr lang="en-US" sz="1102" dirty="0">
                <a:solidFill>
                  <a:srgbClr val="94A3B8"/>
                </a:solidFill>
                <a:latin typeface="Inter" pitchFamily="34" charset="0"/>
                <a:ea typeface="Inter" pitchFamily="34" charset="-122"/>
                <a:cs typeface="Inter" pitchFamily="34" charset="-120"/>
              </a:rPr>
              <a:t>ELTE Faculty of Informatics · supplements the rector’s directive and the EU AI Act (Regulation (EU) 2024/1689) · human oversight and final responsibility, documented AI use, no sensitive data into external AI tools without explicit permission, critical checking of every output</a:t>
            </a:r>
            <a:endParaRPr lang="en-US" sz="1102" dirty="0"/>
          </a:p>
        </p:txBody>
      </p:sp>
      <p:sp>
        <p:nvSpPr>
          <p:cNvPr id="50" name="Shape 48"/>
          <p:cNvSpPr/>
          <p:nvPr/>
        </p:nvSpPr>
        <p:spPr>
          <a:xfrm>
            <a:off x="457068" y="5891775"/>
            <a:ext cx="12801865" cy="488818"/>
          </a:xfrm>
          <a:prstGeom prst="roundRect">
            <a:avLst>
              <a:gd name="adj" fmla="val 23383"/>
            </a:avLst>
          </a:prstGeom>
          <a:gradFill rotWithShape="1">
            <a:gsLst>
              <a:gs pos="0">
                <a:srgbClr val="3B82F6">
                  <a:alpha val="18000"/>
                </a:srgbClr>
              </a:gs>
              <a:gs pos="100000">
                <a:srgbClr val="3B82F6">
                  <a:alpha val="10000"/>
                </a:srgbClr>
              </a:gs>
            </a:gsLst>
            <a:lin ang="5400000" scaled="0"/>
          </a:gradFill>
          <a:ln w="10583">
            <a:solidFill>
              <a:srgbClr val="3B82F6">
                <a:alpha val="35000"/>
              </a:srgbClr>
            </a:solidFill>
            <a:prstDash val="solid"/>
          </a:ln>
          <a:effectLst>
            <a:outerShdw blurRad="228600" dist="50800" dir="16200000" algn="bl" rotWithShape="0">
              <a:srgbClr val="3B82F6">
                <a:alpha val="26000"/>
              </a:srgbClr>
            </a:outerShdw>
          </a:effectLst>
        </p:spPr>
      </p:sp>
      <p:sp>
        <p:nvSpPr>
          <p:cNvPr id="51" name="Text 49"/>
          <p:cNvSpPr/>
          <p:nvPr/>
        </p:nvSpPr>
        <p:spPr>
          <a:xfrm>
            <a:off x="658151" y="6035709"/>
            <a:ext cx="12783754" cy="239051"/>
          </a:xfrm>
          <a:prstGeom prst="rect">
            <a:avLst/>
          </a:prstGeom>
          <a:noFill/>
          <a:ln/>
        </p:spPr>
        <p:txBody>
          <a:bodyPr wrap="square" lIns="25400" tIns="25400" rIns="25400" bIns="25400" rtlCol="0" anchor="ctr">
            <a:normAutofit lnSpcReduction="10000"/>
          </a:bodyPr>
          <a:lstStyle/>
          <a:p>
            <a:pPr marL="0" indent="0" algn="l">
              <a:buNone/>
            </a:pPr>
            <a:r>
              <a:rPr lang="en-US" sz="1298" b="1" dirty="0">
                <a:solidFill>
                  <a:srgbClr val="FFFFFF"/>
                </a:solidFill>
                <a:latin typeface="Inter" pitchFamily="34" charset="0"/>
                <a:ea typeface="Inter" pitchFamily="34" charset="-122"/>
                <a:cs typeface="Inter" pitchFamily="34" charset="-120"/>
              </a:rPr>
              <a:t>The rule exists so the judgement is made once, at routing time — not again at every prompt</a:t>
            </a:r>
            <a:endParaRPr lang="en-US" sz="1298" dirty="0"/>
          </a:p>
        </p:txBody>
      </p:sp>
      <p:sp>
        <p:nvSpPr>
          <p:cNvPr id="52" name="Text 50"/>
          <p:cNvSpPr/>
          <p:nvPr/>
        </p:nvSpPr>
        <p:spPr>
          <a:xfrm>
            <a:off x="457068" y="6962676"/>
            <a:ext cx="14082052" cy="248113"/>
          </a:xfrm>
          <a:prstGeom prst="rect">
            <a:avLst/>
          </a:prstGeom>
          <a:noFill/>
          <a:ln/>
        </p:spPr>
        <p:txBody>
          <a:bodyPr wrap="square" lIns="25400" tIns="25400" rIns="25400" bIns="25400" rtlCol="0" anchor="t">
            <a:normAutofit/>
          </a:bodyPr>
          <a:lstStyle/>
          <a:p>
            <a:pPr marL="0" indent="0" algn="l">
              <a:lnSpc>
                <a:spcPct val="124031"/>
              </a:lnSpc>
              <a:buNone/>
            </a:pPr>
            <a:r>
              <a:rPr lang="en-US" sz="1102" dirty="0">
                <a:solidFill>
                  <a:srgbClr val="94A3B8"/>
                </a:solidFill>
                <a:latin typeface="Inter" pitchFamily="34" charset="0"/>
                <a:ea typeface="Inter" pitchFamily="34" charset="-122"/>
                <a:cs typeface="Inter" pitchFamily="34" charset="-120"/>
              </a:rPr>
              <a:t>Cited, not reproduced — read the directives themselves before you rely on them. Dean’s directive version 1.0, effective 26 March 2026, review expected 1 July 2026.</a:t>
            </a:r>
            <a:endParaRPr lang="en-US" sz="1102" dirty="0"/>
          </a:p>
        </p:txBody>
      </p:sp>
      <p:sp>
        <p:nvSpPr>
          <p:cNvPr id="53" name="Shape 51"/>
          <p:cNvSpPr/>
          <p:nvPr/>
        </p:nvSpPr>
        <p:spPr>
          <a:xfrm>
            <a:off x="457068" y="7248757"/>
            <a:ext cx="12801865" cy="9525"/>
          </a:xfrm>
          <a:prstGeom prst="rect">
            <a:avLst/>
          </a:prstGeom>
          <a:solidFill>
            <a:srgbClr val="FFFFFF">
              <a:alpha val="7000"/>
            </a:srgbClr>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Text 1"/>
          <p:cNvSpPr/>
          <p:nvPr/>
        </p:nvSpPr>
        <p:spPr>
          <a:xfrm>
            <a:off x="457068" y="457068"/>
            <a:ext cx="14082052" cy="444897"/>
          </a:xfrm>
          <a:prstGeom prst="rect">
            <a:avLst/>
          </a:prstGeom>
          <a:noFill/>
          <a:ln/>
        </p:spPr>
        <p:txBody>
          <a:bodyPr wrap="square" lIns="25400" tIns="25400" rIns="25400" bIns="25400" rtlCol="0" anchor="t">
            <a:normAutofit lnSpcReduction="10000"/>
          </a:bodyPr>
          <a:lstStyle/>
          <a:p>
            <a:pPr marL="0" indent="0" algn="l">
              <a:lnSpc>
                <a:spcPct val="83543"/>
              </a:lnSpc>
              <a:buNone/>
            </a:pPr>
            <a:r>
              <a:rPr lang="en-US" sz="3203" b="1" kern="0" spc="-32" dirty="0">
                <a:solidFill>
                  <a:srgbClr val="FFFFFF"/>
                </a:solidFill>
                <a:latin typeface="Inter" pitchFamily="34" charset="0"/>
                <a:ea typeface="Inter" pitchFamily="34" charset="-122"/>
                <a:cs typeface="Inter" pitchFamily="34" charset="-120"/>
              </a:rPr>
              <a:t>Key pillars of data safety</a:t>
            </a:r>
            <a:endParaRPr lang="en-US" sz="3203" dirty="0"/>
          </a:p>
        </p:txBody>
      </p:sp>
      <p:sp>
        <p:nvSpPr>
          <p:cNvPr id="4" name="Text 2"/>
          <p:cNvSpPr/>
          <p:nvPr/>
        </p:nvSpPr>
        <p:spPr>
          <a:xfrm>
            <a:off x="457068" y="939932"/>
            <a:ext cx="14082052" cy="239183"/>
          </a:xfrm>
          <a:prstGeom prst="rect">
            <a:avLst/>
          </a:prstGeom>
          <a:noFill/>
          <a:ln/>
        </p:spPr>
        <p:txBody>
          <a:bodyPr wrap="square" lIns="25400" tIns="25400" rIns="25400" bIns="25400" rtlCol="0" anchor="t">
            <a:normAutofit lnSpcReduction="10000"/>
          </a:bodyPr>
          <a:lstStyle/>
          <a:p>
            <a:pPr marL="0" indent="0" algn="l">
              <a:buNone/>
            </a:pPr>
            <a:r>
              <a:rPr lang="en-US" sz="1298" dirty="0">
                <a:solidFill>
                  <a:srgbClr val="94A3B8"/>
                </a:solidFill>
                <a:latin typeface="Inter" pitchFamily="34" charset="0"/>
                <a:ea typeface="Inter" pitchFamily="34" charset="-122"/>
                <a:cs typeface="Inter" pitchFamily="34" charset="-120"/>
              </a:rPr>
              <a:t>The four practices the pillars come down to in daily work</a:t>
            </a:r>
            <a:endParaRPr lang="en-US" sz="1298" dirty="0"/>
          </a:p>
        </p:txBody>
      </p:sp>
      <p:sp>
        <p:nvSpPr>
          <p:cNvPr id="5" name="Shape 3"/>
          <p:cNvSpPr/>
          <p:nvPr/>
        </p:nvSpPr>
        <p:spPr>
          <a:xfrm>
            <a:off x="457068" y="2361241"/>
            <a:ext cx="6286666" cy="1592957"/>
          </a:xfrm>
          <a:prstGeom prst="roundRect">
            <a:avLst>
              <a:gd name="adj" fmla="val 7175"/>
            </a:avLst>
          </a:prstGeom>
          <a:gradFill rotWithShape="1">
            <a:gsLst>
              <a:gs pos="0">
                <a:srgbClr val="FFFFFF">
                  <a:alpha val="11000"/>
                </a:srgbClr>
              </a:gs>
              <a:gs pos="100000">
                <a:srgbClr val="FFFFFF">
                  <a:alpha val="2000"/>
                </a:srgbClr>
              </a:gs>
            </a:gsLst>
            <a:lin ang="5400000" scaled="0"/>
          </a:gradFill>
          <a:ln/>
          <a:effectLst>
            <a:outerShdw blurRad="228600" dist="76200" dir="5400000" algn="bl" rotWithShape="0">
              <a:srgbClr val="000000">
                <a:alpha val="25000"/>
              </a:srgbClr>
            </a:outerShdw>
          </a:effectLst>
        </p:spPr>
      </p:sp>
      <p:sp>
        <p:nvSpPr>
          <p:cNvPr id="6" name="Shape 4"/>
          <p:cNvSpPr/>
          <p:nvPr/>
        </p:nvSpPr>
        <p:spPr>
          <a:xfrm>
            <a:off x="457068" y="3943615"/>
            <a:ext cx="6286666" cy="10583"/>
          </a:xfrm>
          <a:prstGeom prst="rect">
            <a:avLst/>
          </a:prstGeom>
          <a:solidFill>
            <a:srgbClr val="FFFFFF">
              <a:alpha val="12000"/>
            </a:srgbClr>
          </a:solidFill>
          <a:ln/>
        </p:spPr>
      </p:sp>
      <p:sp>
        <p:nvSpPr>
          <p:cNvPr id="7" name="Shape 5"/>
          <p:cNvSpPr/>
          <p:nvPr/>
        </p:nvSpPr>
        <p:spPr>
          <a:xfrm>
            <a:off x="457068" y="2361241"/>
            <a:ext cx="6286666" cy="10583"/>
          </a:xfrm>
          <a:prstGeom prst="rect">
            <a:avLst/>
          </a:prstGeom>
          <a:solidFill>
            <a:srgbClr val="FFFFFF">
              <a:alpha val="12000"/>
            </a:srgbClr>
          </a:solidFill>
          <a:ln/>
        </p:spPr>
      </p:sp>
      <p:sp>
        <p:nvSpPr>
          <p:cNvPr id="8" name="Shape 6"/>
          <p:cNvSpPr/>
          <p:nvPr/>
        </p:nvSpPr>
        <p:spPr>
          <a:xfrm>
            <a:off x="457068" y="2361241"/>
            <a:ext cx="21167" cy="1592957"/>
          </a:xfrm>
          <a:prstGeom prst="rect">
            <a:avLst/>
          </a:prstGeom>
          <a:solidFill>
            <a:srgbClr val="3B82F6"/>
          </a:solidFill>
          <a:ln/>
        </p:spPr>
      </p:sp>
      <p:sp>
        <p:nvSpPr>
          <p:cNvPr id="9" name="Shape 7"/>
          <p:cNvSpPr/>
          <p:nvPr/>
        </p:nvSpPr>
        <p:spPr>
          <a:xfrm>
            <a:off x="6733150" y="2361241"/>
            <a:ext cx="10583" cy="1592957"/>
          </a:xfrm>
          <a:prstGeom prst="rect">
            <a:avLst/>
          </a:prstGeom>
          <a:solidFill>
            <a:srgbClr val="FFFFFF">
              <a:alpha val="12000"/>
            </a:srgbClr>
          </a:solidFill>
          <a:ln/>
        </p:spPr>
      </p:sp>
      <p:sp>
        <p:nvSpPr>
          <p:cNvPr id="10" name="Text 8"/>
          <p:cNvSpPr/>
          <p:nvPr/>
        </p:nvSpPr>
        <p:spPr>
          <a:xfrm>
            <a:off x="706768" y="2600358"/>
            <a:ext cx="6377633" cy="292100"/>
          </a:xfrm>
          <a:prstGeom prst="rect">
            <a:avLst/>
          </a:prstGeom>
          <a:noFill/>
          <a:ln/>
        </p:spPr>
        <p:txBody>
          <a:bodyPr wrap="square" lIns="25400" tIns="25400" rIns="25400" bIns="25400" rtlCol="0" anchor="t">
            <a:normAutofit lnSpcReduction="10000"/>
          </a:bodyPr>
          <a:lstStyle/>
          <a:p>
            <a:pPr marL="0" indent="0" algn="l">
              <a:buNone/>
            </a:pPr>
            <a:r>
              <a:rPr lang="en-US" sz="1598" b="1" dirty="0">
                <a:solidFill>
                  <a:srgbClr val="60A5FA"/>
                </a:solidFill>
                <a:latin typeface="Inter" pitchFamily="34" charset="0"/>
                <a:ea typeface="Inter" pitchFamily="34" charset="-122"/>
                <a:cs typeface="Inter" pitchFamily="34" charset="-120"/>
              </a:rPr>
              <a:t>Data minimisation</a:t>
            </a:r>
            <a:endParaRPr lang="en-US" sz="1598" dirty="0"/>
          </a:p>
        </p:txBody>
      </p:sp>
      <p:sp>
        <p:nvSpPr>
          <p:cNvPr id="11" name="Text 9"/>
          <p:cNvSpPr/>
          <p:nvPr/>
        </p:nvSpPr>
        <p:spPr>
          <a:xfrm>
            <a:off x="706768" y="2949608"/>
            <a:ext cx="5971783" cy="803573"/>
          </a:xfrm>
          <a:prstGeom prst="rect">
            <a:avLst/>
          </a:prstGeom>
          <a:noFill/>
          <a:ln/>
        </p:spPr>
        <p:txBody>
          <a:bodyPr wrap="square" lIns="25400" tIns="25400" rIns="25400" bIns="25400" rtlCol="0" anchor="t">
            <a:normAutofit/>
          </a:bodyPr>
          <a:lstStyle/>
          <a:p>
            <a:pPr marL="0" indent="0" algn="l">
              <a:lnSpc>
                <a:spcPct val="127018"/>
              </a:lnSpc>
              <a:buNone/>
            </a:pPr>
            <a:r>
              <a:rPr lang="en-US" sz="1298" dirty="0">
                <a:solidFill>
                  <a:srgbClr val="CBD5E1"/>
                </a:solidFill>
                <a:latin typeface="Inter" pitchFamily="34" charset="0"/>
                <a:ea typeface="Inter" pitchFamily="34" charset="-122"/>
                <a:cs typeface="Inter" pitchFamily="34" charset="-120"/>
              </a:rPr>
              <a:t>Collect and process only the information a clear, designated purpose actually needs. “More context is not better context” and data minimisation point the same way. [4]</a:t>
            </a:r>
            <a:endParaRPr lang="en-US" sz="1298" dirty="0"/>
          </a:p>
        </p:txBody>
      </p:sp>
      <p:sp>
        <p:nvSpPr>
          <p:cNvPr id="12" name="Shape 10"/>
          <p:cNvSpPr/>
          <p:nvPr/>
        </p:nvSpPr>
        <p:spPr>
          <a:xfrm>
            <a:off x="6972267" y="2361241"/>
            <a:ext cx="6286666" cy="1592957"/>
          </a:xfrm>
          <a:prstGeom prst="roundRect">
            <a:avLst>
              <a:gd name="adj" fmla="val 7175"/>
            </a:avLst>
          </a:prstGeom>
          <a:gradFill rotWithShape="1">
            <a:gsLst>
              <a:gs pos="0">
                <a:srgbClr val="FFFFFF">
                  <a:alpha val="11000"/>
                </a:srgbClr>
              </a:gs>
              <a:gs pos="100000">
                <a:srgbClr val="FFFFFF">
                  <a:alpha val="2000"/>
                </a:srgbClr>
              </a:gs>
            </a:gsLst>
            <a:lin ang="5400000" scaled="0"/>
          </a:gradFill>
          <a:ln/>
          <a:effectLst>
            <a:outerShdw blurRad="228600" dist="76200" dir="5400000" algn="bl" rotWithShape="0">
              <a:srgbClr val="000000">
                <a:alpha val="25000"/>
              </a:srgbClr>
            </a:outerShdw>
          </a:effectLst>
        </p:spPr>
      </p:sp>
      <p:sp>
        <p:nvSpPr>
          <p:cNvPr id="13" name="Shape 11"/>
          <p:cNvSpPr/>
          <p:nvPr/>
        </p:nvSpPr>
        <p:spPr>
          <a:xfrm>
            <a:off x="6972267" y="3943615"/>
            <a:ext cx="6286666" cy="10583"/>
          </a:xfrm>
          <a:prstGeom prst="rect">
            <a:avLst/>
          </a:prstGeom>
          <a:solidFill>
            <a:srgbClr val="FFFFFF">
              <a:alpha val="12000"/>
            </a:srgbClr>
          </a:solidFill>
          <a:ln/>
        </p:spPr>
      </p:sp>
      <p:sp>
        <p:nvSpPr>
          <p:cNvPr id="14" name="Shape 12"/>
          <p:cNvSpPr/>
          <p:nvPr/>
        </p:nvSpPr>
        <p:spPr>
          <a:xfrm>
            <a:off x="6972267" y="2361241"/>
            <a:ext cx="6286666" cy="10583"/>
          </a:xfrm>
          <a:prstGeom prst="rect">
            <a:avLst/>
          </a:prstGeom>
          <a:solidFill>
            <a:srgbClr val="FFFFFF">
              <a:alpha val="12000"/>
            </a:srgbClr>
          </a:solidFill>
          <a:ln/>
        </p:spPr>
      </p:sp>
      <p:sp>
        <p:nvSpPr>
          <p:cNvPr id="15" name="Shape 13"/>
          <p:cNvSpPr/>
          <p:nvPr/>
        </p:nvSpPr>
        <p:spPr>
          <a:xfrm>
            <a:off x="6972267" y="2361241"/>
            <a:ext cx="21167" cy="1592957"/>
          </a:xfrm>
          <a:prstGeom prst="rect">
            <a:avLst/>
          </a:prstGeom>
          <a:solidFill>
            <a:srgbClr val="8B5CF6"/>
          </a:solidFill>
          <a:ln/>
        </p:spPr>
      </p:sp>
      <p:sp>
        <p:nvSpPr>
          <p:cNvPr id="16" name="Shape 14"/>
          <p:cNvSpPr/>
          <p:nvPr/>
        </p:nvSpPr>
        <p:spPr>
          <a:xfrm>
            <a:off x="13248350" y="2361241"/>
            <a:ext cx="10583" cy="1592957"/>
          </a:xfrm>
          <a:prstGeom prst="rect">
            <a:avLst/>
          </a:prstGeom>
          <a:solidFill>
            <a:srgbClr val="FFFFFF">
              <a:alpha val="12000"/>
            </a:srgbClr>
          </a:solidFill>
          <a:ln/>
        </p:spPr>
      </p:sp>
      <p:sp>
        <p:nvSpPr>
          <p:cNvPr id="17" name="Text 15"/>
          <p:cNvSpPr/>
          <p:nvPr/>
        </p:nvSpPr>
        <p:spPr>
          <a:xfrm>
            <a:off x="7221968" y="2600358"/>
            <a:ext cx="6377633" cy="292100"/>
          </a:xfrm>
          <a:prstGeom prst="rect">
            <a:avLst/>
          </a:prstGeom>
          <a:noFill/>
          <a:ln/>
        </p:spPr>
        <p:txBody>
          <a:bodyPr wrap="square" lIns="25400" tIns="25400" rIns="25400" bIns="25400" rtlCol="0" anchor="t">
            <a:normAutofit lnSpcReduction="10000"/>
          </a:bodyPr>
          <a:lstStyle/>
          <a:p>
            <a:pPr marL="0" indent="0" algn="l">
              <a:buNone/>
            </a:pPr>
            <a:r>
              <a:rPr lang="en-US" sz="1598" b="1" dirty="0">
                <a:solidFill>
                  <a:srgbClr val="A78BFA"/>
                </a:solidFill>
                <a:latin typeface="Inter" pitchFamily="34" charset="0"/>
                <a:ea typeface="Inter" pitchFamily="34" charset="-122"/>
                <a:cs typeface="Inter" pitchFamily="34" charset="-120"/>
              </a:rPr>
              <a:t>Privacy by design</a:t>
            </a:r>
            <a:endParaRPr lang="en-US" sz="1598" dirty="0"/>
          </a:p>
        </p:txBody>
      </p:sp>
      <p:sp>
        <p:nvSpPr>
          <p:cNvPr id="18" name="Text 16"/>
          <p:cNvSpPr/>
          <p:nvPr/>
        </p:nvSpPr>
        <p:spPr>
          <a:xfrm>
            <a:off x="7221968" y="2949608"/>
            <a:ext cx="5971783" cy="548415"/>
          </a:xfrm>
          <a:prstGeom prst="rect">
            <a:avLst/>
          </a:prstGeom>
          <a:noFill/>
          <a:ln/>
        </p:spPr>
        <p:txBody>
          <a:bodyPr wrap="square" lIns="25400" tIns="25400" rIns="25400" bIns="25400" rtlCol="0" anchor="t">
            <a:normAutofit/>
          </a:bodyPr>
          <a:lstStyle/>
          <a:p>
            <a:pPr marL="0" indent="0" algn="l">
              <a:lnSpc>
                <a:spcPct val="127018"/>
              </a:lnSpc>
              <a:buNone/>
            </a:pPr>
            <a:r>
              <a:rPr lang="en-US" sz="1298" dirty="0">
                <a:solidFill>
                  <a:srgbClr val="CBD5E1"/>
                </a:solidFill>
                <a:latin typeface="Inter" pitchFamily="34" charset="0"/>
                <a:ea typeface="Inter" pitchFamily="34" charset="-122"/>
                <a:cs typeface="Inter" pitchFamily="34" charset="-120"/>
              </a:rPr>
              <a:t>Data protection built into the design of a system from the start, rather than bolted on afterwards. [4]</a:t>
            </a:r>
            <a:endParaRPr lang="en-US" sz="1298" dirty="0"/>
          </a:p>
        </p:txBody>
      </p:sp>
      <p:sp>
        <p:nvSpPr>
          <p:cNvPr id="19" name="Shape 17"/>
          <p:cNvSpPr/>
          <p:nvPr/>
        </p:nvSpPr>
        <p:spPr>
          <a:xfrm>
            <a:off x="457068" y="4182732"/>
            <a:ext cx="6286666" cy="1337800"/>
          </a:xfrm>
          <a:prstGeom prst="roundRect">
            <a:avLst>
              <a:gd name="adj" fmla="val 8544"/>
            </a:avLst>
          </a:prstGeom>
          <a:gradFill rotWithShape="1">
            <a:gsLst>
              <a:gs pos="0">
                <a:srgbClr val="FFFFFF">
                  <a:alpha val="11000"/>
                </a:srgbClr>
              </a:gs>
              <a:gs pos="100000">
                <a:srgbClr val="FFFFFF">
                  <a:alpha val="2000"/>
                </a:srgbClr>
              </a:gs>
            </a:gsLst>
            <a:lin ang="5400000" scaled="0"/>
          </a:gradFill>
          <a:ln/>
          <a:effectLst>
            <a:outerShdw blurRad="228600" dist="76200" dir="5400000" algn="bl" rotWithShape="0">
              <a:srgbClr val="000000">
                <a:alpha val="25000"/>
              </a:srgbClr>
            </a:outerShdw>
          </a:effectLst>
        </p:spPr>
      </p:sp>
      <p:sp>
        <p:nvSpPr>
          <p:cNvPr id="20" name="Shape 18"/>
          <p:cNvSpPr/>
          <p:nvPr/>
        </p:nvSpPr>
        <p:spPr>
          <a:xfrm>
            <a:off x="457068" y="5509948"/>
            <a:ext cx="6286666" cy="10583"/>
          </a:xfrm>
          <a:prstGeom prst="rect">
            <a:avLst/>
          </a:prstGeom>
          <a:solidFill>
            <a:srgbClr val="FFFFFF">
              <a:alpha val="12000"/>
            </a:srgbClr>
          </a:solidFill>
          <a:ln/>
        </p:spPr>
      </p:sp>
      <p:sp>
        <p:nvSpPr>
          <p:cNvPr id="21" name="Shape 19"/>
          <p:cNvSpPr/>
          <p:nvPr/>
        </p:nvSpPr>
        <p:spPr>
          <a:xfrm>
            <a:off x="457068" y="4182732"/>
            <a:ext cx="6286666" cy="10583"/>
          </a:xfrm>
          <a:prstGeom prst="rect">
            <a:avLst/>
          </a:prstGeom>
          <a:solidFill>
            <a:srgbClr val="FFFFFF">
              <a:alpha val="12000"/>
            </a:srgbClr>
          </a:solidFill>
          <a:ln/>
        </p:spPr>
      </p:sp>
      <p:sp>
        <p:nvSpPr>
          <p:cNvPr id="22" name="Shape 20"/>
          <p:cNvSpPr/>
          <p:nvPr/>
        </p:nvSpPr>
        <p:spPr>
          <a:xfrm>
            <a:off x="457068" y="4182732"/>
            <a:ext cx="21167" cy="1337800"/>
          </a:xfrm>
          <a:prstGeom prst="rect">
            <a:avLst/>
          </a:prstGeom>
          <a:solidFill>
            <a:srgbClr val="EF4444"/>
          </a:solidFill>
          <a:ln/>
        </p:spPr>
      </p:sp>
      <p:sp>
        <p:nvSpPr>
          <p:cNvPr id="23" name="Shape 21"/>
          <p:cNvSpPr/>
          <p:nvPr/>
        </p:nvSpPr>
        <p:spPr>
          <a:xfrm>
            <a:off x="6733150" y="4182732"/>
            <a:ext cx="10583" cy="1337800"/>
          </a:xfrm>
          <a:prstGeom prst="rect">
            <a:avLst/>
          </a:prstGeom>
          <a:solidFill>
            <a:srgbClr val="FFFFFF">
              <a:alpha val="12000"/>
            </a:srgbClr>
          </a:solidFill>
          <a:ln/>
        </p:spPr>
      </p:sp>
      <p:sp>
        <p:nvSpPr>
          <p:cNvPr id="24" name="Text 22"/>
          <p:cNvSpPr/>
          <p:nvPr/>
        </p:nvSpPr>
        <p:spPr>
          <a:xfrm>
            <a:off x="706768" y="4421849"/>
            <a:ext cx="6377633" cy="292100"/>
          </a:xfrm>
          <a:prstGeom prst="rect">
            <a:avLst/>
          </a:prstGeom>
          <a:noFill/>
          <a:ln/>
        </p:spPr>
        <p:txBody>
          <a:bodyPr wrap="square" lIns="25400" tIns="25400" rIns="25400" bIns="25400" rtlCol="0" anchor="t">
            <a:normAutofit lnSpcReduction="10000"/>
          </a:bodyPr>
          <a:lstStyle/>
          <a:p>
            <a:pPr marL="0" indent="0" algn="l">
              <a:buNone/>
            </a:pPr>
            <a:r>
              <a:rPr lang="en-US" sz="1598" b="1" dirty="0">
                <a:solidFill>
                  <a:srgbClr val="F87171"/>
                </a:solidFill>
                <a:latin typeface="Inter" pitchFamily="34" charset="0"/>
                <a:ea typeface="Inter" pitchFamily="34" charset="-122"/>
                <a:cs typeface="Inter" pitchFamily="34" charset="-120"/>
              </a:rPr>
              <a:t>Anonymisation</a:t>
            </a:r>
            <a:endParaRPr lang="en-US" sz="1598" dirty="0"/>
          </a:p>
        </p:txBody>
      </p:sp>
      <p:sp>
        <p:nvSpPr>
          <p:cNvPr id="25" name="Text 23"/>
          <p:cNvSpPr/>
          <p:nvPr/>
        </p:nvSpPr>
        <p:spPr>
          <a:xfrm>
            <a:off x="706768" y="4771099"/>
            <a:ext cx="5971783" cy="548415"/>
          </a:xfrm>
          <a:prstGeom prst="rect">
            <a:avLst/>
          </a:prstGeom>
          <a:noFill/>
          <a:ln/>
        </p:spPr>
        <p:txBody>
          <a:bodyPr wrap="square" lIns="25400" tIns="25400" rIns="25400" bIns="25400" rtlCol="0" anchor="t">
            <a:normAutofit/>
          </a:bodyPr>
          <a:lstStyle/>
          <a:p>
            <a:pPr marL="0" indent="0" algn="l">
              <a:lnSpc>
                <a:spcPct val="127018"/>
              </a:lnSpc>
              <a:buNone/>
            </a:pPr>
            <a:r>
              <a:rPr lang="en-US" sz="1298" dirty="0">
                <a:solidFill>
                  <a:srgbClr val="CBD5E1"/>
                </a:solidFill>
                <a:latin typeface="Inter" pitchFamily="34" charset="0"/>
                <a:ea typeface="Inter" pitchFamily="34" charset="-122"/>
                <a:cs typeface="Inter" pitchFamily="34" charset="-120"/>
              </a:rPr>
              <a:t>Masking or removing personally identifiable information (PII) safeguards people against breaches and unapproved tracking. [2, 4, 5]</a:t>
            </a:r>
            <a:endParaRPr lang="en-US" sz="1298" dirty="0"/>
          </a:p>
        </p:txBody>
      </p:sp>
      <p:sp>
        <p:nvSpPr>
          <p:cNvPr id="26" name="Shape 24"/>
          <p:cNvSpPr/>
          <p:nvPr/>
        </p:nvSpPr>
        <p:spPr>
          <a:xfrm>
            <a:off x="6972267" y="4182732"/>
            <a:ext cx="6286666" cy="1337800"/>
          </a:xfrm>
          <a:prstGeom prst="roundRect">
            <a:avLst>
              <a:gd name="adj" fmla="val 8544"/>
            </a:avLst>
          </a:prstGeom>
          <a:gradFill rotWithShape="1">
            <a:gsLst>
              <a:gs pos="0">
                <a:srgbClr val="FFFFFF">
                  <a:alpha val="11000"/>
                </a:srgbClr>
              </a:gs>
              <a:gs pos="100000">
                <a:srgbClr val="FFFFFF">
                  <a:alpha val="2000"/>
                </a:srgbClr>
              </a:gs>
            </a:gsLst>
            <a:lin ang="5400000" scaled="0"/>
          </a:gradFill>
          <a:ln/>
          <a:effectLst>
            <a:outerShdw blurRad="228600" dist="76200" dir="5400000" algn="bl" rotWithShape="0">
              <a:srgbClr val="000000">
                <a:alpha val="25000"/>
              </a:srgbClr>
            </a:outerShdw>
          </a:effectLst>
        </p:spPr>
      </p:sp>
      <p:sp>
        <p:nvSpPr>
          <p:cNvPr id="27" name="Shape 25"/>
          <p:cNvSpPr/>
          <p:nvPr/>
        </p:nvSpPr>
        <p:spPr>
          <a:xfrm>
            <a:off x="6972267" y="5509948"/>
            <a:ext cx="6286666" cy="10583"/>
          </a:xfrm>
          <a:prstGeom prst="rect">
            <a:avLst/>
          </a:prstGeom>
          <a:solidFill>
            <a:srgbClr val="FFFFFF">
              <a:alpha val="12000"/>
            </a:srgbClr>
          </a:solidFill>
          <a:ln/>
        </p:spPr>
      </p:sp>
      <p:sp>
        <p:nvSpPr>
          <p:cNvPr id="28" name="Shape 26"/>
          <p:cNvSpPr/>
          <p:nvPr/>
        </p:nvSpPr>
        <p:spPr>
          <a:xfrm>
            <a:off x="6972267" y="4182732"/>
            <a:ext cx="6286666" cy="10583"/>
          </a:xfrm>
          <a:prstGeom prst="rect">
            <a:avLst/>
          </a:prstGeom>
          <a:solidFill>
            <a:srgbClr val="FFFFFF">
              <a:alpha val="12000"/>
            </a:srgbClr>
          </a:solidFill>
          <a:ln/>
        </p:spPr>
      </p:sp>
      <p:sp>
        <p:nvSpPr>
          <p:cNvPr id="29" name="Shape 27"/>
          <p:cNvSpPr/>
          <p:nvPr/>
        </p:nvSpPr>
        <p:spPr>
          <a:xfrm>
            <a:off x="6972267" y="4182732"/>
            <a:ext cx="21167" cy="1337800"/>
          </a:xfrm>
          <a:prstGeom prst="rect">
            <a:avLst/>
          </a:prstGeom>
          <a:solidFill>
            <a:srgbClr val="10B981"/>
          </a:solidFill>
          <a:ln/>
        </p:spPr>
      </p:sp>
      <p:sp>
        <p:nvSpPr>
          <p:cNvPr id="30" name="Shape 28"/>
          <p:cNvSpPr/>
          <p:nvPr/>
        </p:nvSpPr>
        <p:spPr>
          <a:xfrm>
            <a:off x="13248350" y="4182732"/>
            <a:ext cx="10583" cy="1337800"/>
          </a:xfrm>
          <a:prstGeom prst="rect">
            <a:avLst/>
          </a:prstGeom>
          <a:solidFill>
            <a:srgbClr val="FFFFFF">
              <a:alpha val="12000"/>
            </a:srgbClr>
          </a:solidFill>
          <a:ln/>
        </p:spPr>
      </p:sp>
      <p:sp>
        <p:nvSpPr>
          <p:cNvPr id="31" name="Text 29"/>
          <p:cNvSpPr/>
          <p:nvPr/>
        </p:nvSpPr>
        <p:spPr>
          <a:xfrm>
            <a:off x="7221968" y="4421849"/>
            <a:ext cx="6377633" cy="292100"/>
          </a:xfrm>
          <a:prstGeom prst="rect">
            <a:avLst/>
          </a:prstGeom>
          <a:noFill/>
          <a:ln/>
        </p:spPr>
        <p:txBody>
          <a:bodyPr wrap="square" lIns="25400" tIns="25400" rIns="25400" bIns="25400" rtlCol="0" anchor="t">
            <a:normAutofit lnSpcReduction="10000"/>
          </a:bodyPr>
          <a:lstStyle/>
          <a:p>
            <a:pPr marL="0" indent="0" algn="l">
              <a:buNone/>
            </a:pPr>
            <a:r>
              <a:rPr lang="en-US" sz="1598" b="1" dirty="0">
                <a:solidFill>
                  <a:srgbClr val="34D399"/>
                </a:solidFill>
                <a:latin typeface="Inter" pitchFamily="34" charset="0"/>
                <a:ea typeface="Inter" pitchFamily="34" charset="-122"/>
                <a:cs typeface="Inter" pitchFamily="34" charset="-120"/>
              </a:rPr>
              <a:t>Regulatory compliance</a:t>
            </a:r>
            <a:endParaRPr lang="en-US" sz="1598" dirty="0"/>
          </a:p>
        </p:txBody>
      </p:sp>
      <p:sp>
        <p:nvSpPr>
          <p:cNvPr id="32" name="Text 30"/>
          <p:cNvSpPr/>
          <p:nvPr/>
        </p:nvSpPr>
        <p:spPr>
          <a:xfrm>
            <a:off x="7221968" y="4771099"/>
            <a:ext cx="5971783" cy="548415"/>
          </a:xfrm>
          <a:prstGeom prst="rect">
            <a:avLst/>
          </a:prstGeom>
          <a:noFill/>
          <a:ln/>
        </p:spPr>
        <p:txBody>
          <a:bodyPr wrap="square" lIns="25400" tIns="25400" rIns="25400" bIns="25400" rtlCol="0" anchor="t">
            <a:normAutofit/>
          </a:bodyPr>
          <a:lstStyle/>
          <a:p>
            <a:pPr marL="0" indent="0" algn="l">
              <a:lnSpc>
                <a:spcPct val="127018"/>
              </a:lnSpc>
              <a:buNone/>
            </a:pPr>
            <a:r>
              <a:rPr lang="en-US" sz="1298" dirty="0">
                <a:solidFill>
                  <a:srgbClr val="CBD5E1"/>
                </a:solidFill>
                <a:latin typeface="Inter" pitchFamily="34" charset="0"/>
                <a:ea typeface="Inter" pitchFamily="34" charset="-122"/>
                <a:cs typeface="Inter" pitchFamily="34" charset="-120"/>
              </a:rPr>
              <a:t>The GDPR and the EU AI Act in Europe, equivalents such as the CCPA elsewhere — what you deploy has to align with them. [1]</a:t>
            </a:r>
            <a:endParaRPr lang="en-US" sz="1298" dirty="0"/>
          </a:p>
        </p:txBody>
      </p:sp>
      <p:sp>
        <p:nvSpPr>
          <p:cNvPr id="33" name="Shape 31"/>
          <p:cNvSpPr/>
          <p:nvPr/>
        </p:nvSpPr>
        <p:spPr>
          <a:xfrm>
            <a:off x="457068" y="5787099"/>
            <a:ext cx="12801865" cy="488818"/>
          </a:xfrm>
          <a:prstGeom prst="roundRect">
            <a:avLst>
              <a:gd name="adj" fmla="val 23383"/>
            </a:avLst>
          </a:prstGeom>
          <a:gradFill rotWithShape="1">
            <a:gsLst>
              <a:gs pos="0">
                <a:srgbClr val="3B82F6">
                  <a:alpha val="18000"/>
                </a:srgbClr>
              </a:gs>
              <a:gs pos="100000">
                <a:srgbClr val="3B82F6">
                  <a:alpha val="10000"/>
                </a:srgbClr>
              </a:gs>
            </a:gsLst>
            <a:lin ang="5400000" scaled="0"/>
          </a:gradFill>
          <a:ln w="10583">
            <a:solidFill>
              <a:srgbClr val="3B82F6">
                <a:alpha val="35000"/>
              </a:srgbClr>
            </a:solidFill>
            <a:prstDash val="solid"/>
          </a:ln>
          <a:effectLst>
            <a:outerShdw blurRad="228600" dist="50800" dir="16200000" algn="bl" rotWithShape="0">
              <a:srgbClr val="3B82F6">
                <a:alpha val="26000"/>
              </a:srgbClr>
            </a:outerShdw>
          </a:effectLst>
        </p:spPr>
      </p:sp>
      <p:sp>
        <p:nvSpPr>
          <p:cNvPr id="34" name="Text 32"/>
          <p:cNvSpPr/>
          <p:nvPr/>
        </p:nvSpPr>
        <p:spPr>
          <a:xfrm>
            <a:off x="658151" y="5931032"/>
            <a:ext cx="12783754" cy="239051"/>
          </a:xfrm>
          <a:prstGeom prst="rect">
            <a:avLst/>
          </a:prstGeom>
          <a:noFill/>
          <a:ln/>
        </p:spPr>
        <p:txBody>
          <a:bodyPr wrap="square" lIns="25400" tIns="25400" rIns="25400" bIns="25400" rtlCol="0" anchor="ctr">
            <a:normAutofit lnSpcReduction="10000"/>
          </a:bodyPr>
          <a:lstStyle/>
          <a:p>
            <a:pPr marL="0" indent="0" algn="l">
              <a:buNone/>
            </a:pPr>
            <a:r>
              <a:rPr lang="en-US" sz="1298" b="1" dirty="0">
                <a:solidFill>
                  <a:srgbClr val="FFFFFF"/>
                </a:solidFill>
                <a:latin typeface="Inter" pitchFamily="34" charset="0"/>
                <a:ea typeface="Inter" pitchFamily="34" charset="-122"/>
                <a:cs typeface="Inter" pitchFamily="34" charset="-120"/>
              </a:rPr>
              <a:t>The same discipline Lesson 1 already asked for — minimise the data, curate the context; none of this costs you answer quality</a:t>
            </a:r>
            <a:endParaRPr lang="en-US" sz="1298" dirty="0"/>
          </a:p>
        </p:txBody>
      </p:sp>
      <p:sp>
        <p:nvSpPr>
          <p:cNvPr id="35" name="Shape 33"/>
          <p:cNvSpPr/>
          <p:nvPr/>
        </p:nvSpPr>
        <p:spPr>
          <a:xfrm>
            <a:off x="457068" y="7248757"/>
            <a:ext cx="12801865" cy="9525"/>
          </a:xfrm>
          <a:prstGeom prst="rect">
            <a:avLst/>
          </a:prstGeom>
          <a:solidFill>
            <a:srgbClr val="FFFFFF">
              <a:alpha val="7000"/>
            </a:srgbClr>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Text 1"/>
          <p:cNvSpPr/>
          <p:nvPr/>
        </p:nvSpPr>
        <p:spPr>
          <a:xfrm>
            <a:off x="457068" y="457068"/>
            <a:ext cx="14082052" cy="444897"/>
          </a:xfrm>
          <a:prstGeom prst="rect">
            <a:avLst/>
          </a:prstGeom>
          <a:noFill/>
          <a:ln/>
        </p:spPr>
        <p:txBody>
          <a:bodyPr wrap="square" lIns="25400" tIns="25400" rIns="25400" bIns="25400" rtlCol="0" anchor="t">
            <a:normAutofit lnSpcReduction="10000"/>
          </a:bodyPr>
          <a:lstStyle/>
          <a:p>
            <a:pPr marL="0" indent="0" algn="l">
              <a:lnSpc>
                <a:spcPct val="83543"/>
              </a:lnSpc>
              <a:buNone/>
            </a:pPr>
            <a:r>
              <a:rPr lang="en-US" sz="3203" b="1" kern="0" spc="-32" dirty="0">
                <a:solidFill>
                  <a:srgbClr val="FFFFFF"/>
                </a:solidFill>
                <a:latin typeface="Inter" pitchFamily="34" charset="0"/>
                <a:ea typeface="Inter" pitchFamily="34" charset="-122"/>
                <a:cs typeface="Inter" pitchFamily="34" charset="-120"/>
              </a:rPr>
              <a:t>Ethical AI principles</a:t>
            </a:r>
            <a:endParaRPr lang="en-US" sz="3203" dirty="0"/>
          </a:p>
        </p:txBody>
      </p:sp>
      <p:sp>
        <p:nvSpPr>
          <p:cNvPr id="4" name="Text 2"/>
          <p:cNvSpPr/>
          <p:nvPr/>
        </p:nvSpPr>
        <p:spPr>
          <a:xfrm>
            <a:off x="457068" y="939932"/>
            <a:ext cx="14082052" cy="239183"/>
          </a:xfrm>
          <a:prstGeom prst="rect">
            <a:avLst/>
          </a:prstGeom>
          <a:noFill/>
          <a:ln/>
        </p:spPr>
        <p:txBody>
          <a:bodyPr wrap="square" lIns="25400" tIns="25400" rIns="25400" bIns="25400" rtlCol="0" anchor="t">
            <a:normAutofit lnSpcReduction="10000"/>
          </a:bodyPr>
          <a:lstStyle/>
          <a:p>
            <a:pPr marL="0" indent="0" algn="l">
              <a:buNone/>
            </a:pPr>
            <a:r>
              <a:rPr lang="en-US" sz="1298" dirty="0">
                <a:solidFill>
                  <a:srgbClr val="94A3B8"/>
                </a:solidFill>
                <a:latin typeface="Inter" pitchFamily="34" charset="0"/>
                <a:ea typeface="Inter" pitchFamily="34" charset="-122"/>
                <a:cs typeface="Inter" pitchFamily="34" charset="-120"/>
              </a:rPr>
              <a:t>Four principles — and the one the institution puts first</a:t>
            </a:r>
            <a:endParaRPr lang="en-US" sz="1298" dirty="0"/>
          </a:p>
        </p:txBody>
      </p:sp>
      <p:sp>
        <p:nvSpPr>
          <p:cNvPr id="5" name="Shape 3"/>
          <p:cNvSpPr/>
          <p:nvPr/>
        </p:nvSpPr>
        <p:spPr>
          <a:xfrm>
            <a:off x="457068" y="2488902"/>
            <a:ext cx="6286666" cy="1337800"/>
          </a:xfrm>
          <a:prstGeom prst="roundRect">
            <a:avLst>
              <a:gd name="adj" fmla="val 8544"/>
            </a:avLst>
          </a:prstGeom>
          <a:gradFill rotWithShape="1">
            <a:gsLst>
              <a:gs pos="0">
                <a:srgbClr val="FFFFFF">
                  <a:alpha val="11000"/>
                </a:srgbClr>
              </a:gs>
              <a:gs pos="100000">
                <a:srgbClr val="FFFFFF">
                  <a:alpha val="2000"/>
                </a:srgbClr>
              </a:gs>
            </a:gsLst>
            <a:lin ang="5400000" scaled="0"/>
          </a:gradFill>
          <a:ln/>
          <a:effectLst>
            <a:outerShdw blurRad="228600" dist="76200" dir="5400000" algn="bl" rotWithShape="0">
              <a:srgbClr val="000000">
                <a:alpha val="25000"/>
              </a:srgbClr>
            </a:outerShdw>
          </a:effectLst>
        </p:spPr>
      </p:sp>
      <p:sp>
        <p:nvSpPr>
          <p:cNvPr id="6" name="Shape 4"/>
          <p:cNvSpPr/>
          <p:nvPr/>
        </p:nvSpPr>
        <p:spPr>
          <a:xfrm>
            <a:off x="457068" y="3816119"/>
            <a:ext cx="6286666" cy="10583"/>
          </a:xfrm>
          <a:prstGeom prst="rect">
            <a:avLst/>
          </a:prstGeom>
          <a:solidFill>
            <a:srgbClr val="FFFFFF">
              <a:alpha val="12000"/>
            </a:srgbClr>
          </a:solidFill>
          <a:ln/>
        </p:spPr>
      </p:sp>
      <p:sp>
        <p:nvSpPr>
          <p:cNvPr id="7" name="Shape 5"/>
          <p:cNvSpPr/>
          <p:nvPr/>
        </p:nvSpPr>
        <p:spPr>
          <a:xfrm>
            <a:off x="457068" y="2488902"/>
            <a:ext cx="6286666" cy="10583"/>
          </a:xfrm>
          <a:prstGeom prst="rect">
            <a:avLst/>
          </a:prstGeom>
          <a:solidFill>
            <a:srgbClr val="FFFFFF">
              <a:alpha val="12000"/>
            </a:srgbClr>
          </a:solidFill>
          <a:ln/>
        </p:spPr>
      </p:sp>
      <p:sp>
        <p:nvSpPr>
          <p:cNvPr id="8" name="Shape 6"/>
          <p:cNvSpPr/>
          <p:nvPr/>
        </p:nvSpPr>
        <p:spPr>
          <a:xfrm>
            <a:off x="457068" y="2488902"/>
            <a:ext cx="21167" cy="1337800"/>
          </a:xfrm>
          <a:prstGeom prst="rect">
            <a:avLst/>
          </a:prstGeom>
          <a:solidFill>
            <a:srgbClr val="EF4444"/>
          </a:solidFill>
          <a:ln/>
        </p:spPr>
      </p:sp>
      <p:sp>
        <p:nvSpPr>
          <p:cNvPr id="9" name="Shape 7"/>
          <p:cNvSpPr/>
          <p:nvPr/>
        </p:nvSpPr>
        <p:spPr>
          <a:xfrm>
            <a:off x="6733150" y="2488902"/>
            <a:ext cx="10583" cy="1337800"/>
          </a:xfrm>
          <a:prstGeom prst="rect">
            <a:avLst/>
          </a:prstGeom>
          <a:solidFill>
            <a:srgbClr val="FFFFFF">
              <a:alpha val="12000"/>
            </a:srgbClr>
          </a:solidFill>
          <a:ln/>
        </p:spPr>
      </p:sp>
      <p:sp>
        <p:nvSpPr>
          <p:cNvPr id="10" name="Text 8"/>
          <p:cNvSpPr/>
          <p:nvPr/>
        </p:nvSpPr>
        <p:spPr>
          <a:xfrm>
            <a:off x="706768" y="2728020"/>
            <a:ext cx="6377633" cy="292100"/>
          </a:xfrm>
          <a:prstGeom prst="rect">
            <a:avLst/>
          </a:prstGeom>
          <a:noFill/>
          <a:ln/>
        </p:spPr>
        <p:txBody>
          <a:bodyPr wrap="square" lIns="25400" tIns="25400" rIns="25400" bIns="25400" rtlCol="0" anchor="t">
            <a:normAutofit lnSpcReduction="10000"/>
          </a:bodyPr>
          <a:lstStyle/>
          <a:p>
            <a:pPr marL="0" indent="0" algn="l">
              <a:buNone/>
            </a:pPr>
            <a:r>
              <a:rPr lang="en-US" sz="1598" b="1" dirty="0">
                <a:solidFill>
                  <a:srgbClr val="F87171"/>
                </a:solidFill>
                <a:latin typeface="Inter" pitchFamily="34" charset="0"/>
                <a:ea typeface="Inter" pitchFamily="34" charset="-122"/>
                <a:cs typeface="Inter" pitchFamily="34" charset="-120"/>
              </a:rPr>
              <a:t>Fairness and non-discrimination</a:t>
            </a:r>
            <a:endParaRPr lang="en-US" sz="1598" dirty="0"/>
          </a:p>
        </p:txBody>
      </p:sp>
      <p:sp>
        <p:nvSpPr>
          <p:cNvPr id="11" name="Text 9"/>
          <p:cNvSpPr/>
          <p:nvPr/>
        </p:nvSpPr>
        <p:spPr>
          <a:xfrm>
            <a:off x="706768" y="3077270"/>
            <a:ext cx="5971783" cy="548415"/>
          </a:xfrm>
          <a:prstGeom prst="rect">
            <a:avLst/>
          </a:prstGeom>
          <a:noFill/>
          <a:ln/>
        </p:spPr>
        <p:txBody>
          <a:bodyPr wrap="square" lIns="25400" tIns="25400" rIns="25400" bIns="25400" rtlCol="0" anchor="t">
            <a:normAutofit/>
          </a:bodyPr>
          <a:lstStyle/>
          <a:p>
            <a:pPr marL="0" indent="0" algn="l">
              <a:lnSpc>
                <a:spcPct val="127018"/>
              </a:lnSpc>
              <a:buNone/>
            </a:pPr>
            <a:r>
              <a:rPr lang="en-US" sz="1298" dirty="0">
                <a:solidFill>
                  <a:srgbClr val="CBD5E1"/>
                </a:solidFill>
                <a:latin typeface="Inter" pitchFamily="34" charset="0"/>
                <a:ea typeface="Inter" pitchFamily="34" charset="-122"/>
                <a:cs typeface="Inter" pitchFamily="34" charset="-120"/>
              </a:rPr>
              <a:t>Training and prompting actively filter out systemic bias, or the model replicates historical inequalities as if they were findings. [6, 7]</a:t>
            </a:r>
            <a:endParaRPr lang="en-US" sz="1298" dirty="0"/>
          </a:p>
        </p:txBody>
      </p:sp>
      <p:sp>
        <p:nvSpPr>
          <p:cNvPr id="12" name="Shape 10"/>
          <p:cNvSpPr/>
          <p:nvPr/>
        </p:nvSpPr>
        <p:spPr>
          <a:xfrm>
            <a:off x="6972267" y="2488902"/>
            <a:ext cx="6286666" cy="1337800"/>
          </a:xfrm>
          <a:prstGeom prst="roundRect">
            <a:avLst>
              <a:gd name="adj" fmla="val 8544"/>
            </a:avLst>
          </a:prstGeom>
          <a:gradFill rotWithShape="1">
            <a:gsLst>
              <a:gs pos="0">
                <a:srgbClr val="FFFFFF">
                  <a:alpha val="11000"/>
                </a:srgbClr>
              </a:gs>
              <a:gs pos="100000">
                <a:srgbClr val="FFFFFF">
                  <a:alpha val="2000"/>
                </a:srgbClr>
              </a:gs>
            </a:gsLst>
            <a:lin ang="5400000" scaled="0"/>
          </a:gradFill>
          <a:ln/>
          <a:effectLst>
            <a:outerShdw blurRad="228600" dist="76200" dir="5400000" algn="bl" rotWithShape="0">
              <a:srgbClr val="000000">
                <a:alpha val="25000"/>
              </a:srgbClr>
            </a:outerShdw>
          </a:effectLst>
        </p:spPr>
      </p:sp>
      <p:sp>
        <p:nvSpPr>
          <p:cNvPr id="13" name="Shape 11"/>
          <p:cNvSpPr/>
          <p:nvPr/>
        </p:nvSpPr>
        <p:spPr>
          <a:xfrm>
            <a:off x="6972267" y="3816119"/>
            <a:ext cx="6286666" cy="10583"/>
          </a:xfrm>
          <a:prstGeom prst="rect">
            <a:avLst/>
          </a:prstGeom>
          <a:solidFill>
            <a:srgbClr val="FFFFFF">
              <a:alpha val="12000"/>
            </a:srgbClr>
          </a:solidFill>
          <a:ln/>
        </p:spPr>
      </p:sp>
      <p:sp>
        <p:nvSpPr>
          <p:cNvPr id="14" name="Shape 12"/>
          <p:cNvSpPr/>
          <p:nvPr/>
        </p:nvSpPr>
        <p:spPr>
          <a:xfrm>
            <a:off x="6972267" y="2488902"/>
            <a:ext cx="6286666" cy="10583"/>
          </a:xfrm>
          <a:prstGeom prst="rect">
            <a:avLst/>
          </a:prstGeom>
          <a:solidFill>
            <a:srgbClr val="FFFFFF">
              <a:alpha val="12000"/>
            </a:srgbClr>
          </a:solidFill>
          <a:ln/>
        </p:spPr>
      </p:sp>
      <p:sp>
        <p:nvSpPr>
          <p:cNvPr id="15" name="Shape 13"/>
          <p:cNvSpPr/>
          <p:nvPr/>
        </p:nvSpPr>
        <p:spPr>
          <a:xfrm>
            <a:off x="6972267" y="2488902"/>
            <a:ext cx="21167" cy="1337800"/>
          </a:xfrm>
          <a:prstGeom prst="rect">
            <a:avLst/>
          </a:prstGeom>
          <a:solidFill>
            <a:srgbClr val="3B82F6"/>
          </a:solidFill>
          <a:ln/>
        </p:spPr>
      </p:sp>
      <p:sp>
        <p:nvSpPr>
          <p:cNvPr id="16" name="Shape 14"/>
          <p:cNvSpPr/>
          <p:nvPr/>
        </p:nvSpPr>
        <p:spPr>
          <a:xfrm>
            <a:off x="13248350" y="2488902"/>
            <a:ext cx="10583" cy="1337800"/>
          </a:xfrm>
          <a:prstGeom prst="rect">
            <a:avLst/>
          </a:prstGeom>
          <a:solidFill>
            <a:srgbClr val="FFFFFF">
              <a:alpha val="12000"/>
            </a:srgbClr>
          </a:solidFill>
          <a:ln/>
        </p:spPr>
      </p:sp>
      <p:sp>
        <p:nvSpPr>
          <p:cNvPr id="17" name="Text 15"/>
          <p:cNvSpPr/>
          <p:nvPr/>
        </p:nvSpPr>
        <p:spPr>
          <a:xfrm>
            <a:off x="7221968" y="2728020"/>
            <a:ext cx="6377633" cy="292100"/>
          </a:xfrm>
          <a:prstGeom prst="rect">
            <a:avLst/>
          </a:prstGeom>
          <a:noFill/>
          <a:ln/>
        </p:spPr>
        <p:txBody>
          <a:bodyPr wrap="square" lIns="25400" tIns="25400" rIns="25400" bIns="25400" rtlCol="0" anchor="t">
            <a:normAutofit lnSpcReduction="10000"/>
          </a:bodyPr>
          <a:lstStyle/>
          <a:p>
            <a:pPr marL="0" indent="0" algn="l">
              <a:buNone/>
            </a:pPr>
            <a:r>
              <a:rPr lang="en-US" sz="1598" b="1" dirty="0">
                <a:solidFill>
                  <a:srgbClr val="60A5FA"/>
                </a:solidFill>
                <a:latin typeface="Inter" pitchFamily="34" charset="0"/>
                <a:ea typeface="Inter" pitchFamily="34" charset="-122"/>
                <a:cs typeface="Inter" pitchFamily="34" charset="-120"/>
              </a:rPr>
              <a:t>Transparency</a:t>
            </a:r>
            <a:endParaRPr lang="en-US" sz="1598" dirty="0"/>
          </a:p>
        </p:txBody>
      </p:sp>
      <p:sp>
        <p:nvSpPr>
          <p:cNvPr id="18" name="Text 16"/>
          <p:cNvSpPr/>
          <p:nvPr/>
        </p:nvSpPr>
        <p:spPr>
          <a:xfrm>
            <a:off x="7221968" y="3077270"/>
            <a:ext cx="5971783" cy="548415"/>
          </a:xfrm>
          <a:prstGeom prst="rect">
            <a:avLst/>
          </a:prstGeom>
          <a:noFill/>
          <a:ln/>
        </p:spPr>
        <p:txBody>
          <a:bodyPr wrap="square" lIns="25400" tIns="25400" rIns="25400" bIns="25400" rtlCol="0" anchor="t">
            <a:normAutofit/>
          </a:bodyPr>
          <a:lstStyle/>
          <a:p>
            <a:pPr marL="0" indent="0" algn="l">
              <a:lnSpc>
                <a:spcPct val="127018"/>
              </a:lnSpc>
              <a:buNone/>
            </a:pPr>
            <a:r>
              <a:rPr lang="en-US" sz="1298" dirty="0">
                <a:solidFill>
                  <a:srgbClr val="CBD5E1"/>
                </a:solidFill>
                <a:latin typeface="Inter" pitchFamily="34" charset="0"/>
                <a:ea typeface="Inter" pitchFamily="34" charset="-122"/>
                <a:cs typeface="Inter" pitchFamily="34" charset="-120"/>
              </a:rPr>
              <a:t>Anyone affected by an automated outcome is owed clear insight into what data was tracked and how the decision was reached. [7, 8]</a:t>
            </a:r>
            <a:endParaRPr lang="en-US" sz="1298" dirty="0"/>
          </a:p>
        </p:txBody>
      </p:sp>
      <p:sp>
        <p:nvSpPr>
          <p:cNvPr id="19" name="Shape 17"/>
          <p:cNvSpPr/>
          <p:nvPr/>
        </p:nvSpPr>
        <p:spPr>
          <a:xfrm>
            <a:off x="457068" y="4055236"/>
            <a:ext cx="6286666" cy="1337800"/>
          </a:xfrm>
          <a:prstGeom prst="roundRect">
            <a:avLst>
              <a:gd name="adj" fmla="val 8544"/>
            </a:avLst>
          </a:prstGeom>
          <a:gradFill rotWithShape="1">
            <a:gsLst>
              <a:gs pos="0">
                <a:srgbClr val="FFFFFF">
                  <a:alpha val="11000"/>
                </a:srgbClr>
              </a:gs>
              <a:gs pos="100000">
                <a:srgbClr val="FFFFFF">
                  <a:alpha val="2000"/>
                </a:srgbClr>
              </a:gs>
            </a:gsLst>
            <a:lin ang="5400000" scaled="0"/>
          </a:gradFill>
          <a:ln/>
          <a:effectLst>
            <a:outerShdw blurRad="228600" dist="76200" dir="5400000" algn="bl" rotWithShape="0">
              <a:srgbClr val="000000">
                <a:alpha val="25000"/>
              </a:srgbClr>
            </a:outerShdw>
          </a:effectLst>
        </p:spPr>
      </p:sp>
      <p:sp>
        <p:nvSpPr>
          <p:cNvPr id="20" name="Shape 18"/>
          <p:cNvSpPr/>
          <p:nvPr/>
        </p:nvSpPr>
        <p:spPr>
          <a:xfrm>
            <a:off x="457068" y="5382452"/>
            <a:ext cx="6286666" cy="10583"/>
          </a:xfrm>
          <a:prstGeom prst="rect">
            <a:avLst/>
          </a:prstGeom>
          <a:solidFill>
            <a:srgbClr val="FFFFFF">
              <a:alpha val="12000"/>
            </a:srgbClr>
          </a:solidFill>
          <a:ln/>
        </p:spPr>
      </p:sp>
      <p:sp>
        <p:nvSpPr>
          <p:cNvPr id="21" name="Shape 19"/>
          <p:cNvSpPr/>
          <p:nvPr/>
        </p:nvSpPr>
        <p:spPr>
          <a:xfrm>
            <a:off x="457068" y="4055236"/>
            <a:ext cx="6286666" cy="10583"/>
          </a:xfrm>
          <a:prstGeom prst="rect">
            <a:avLst/>
          </a:prstGeom>
          <a:solidFill>
            <a:srgbClr val="FFFFFF">
              <a:alpha val="12000"/>
            </a:srgbClr>
          </a:solidFill>
          <a:ln/>
        </p:spPr>
      </p:sp>
      <p:sp>
        <p:nvSpPr>
          <p:cNvPr id="22" name="Shape 20"/>
          <p:cNvSpPr/>
          <p:nvPr/>
        </p:nvSpPr>
        <p:spPr>
          <a:xfrm>
            <a:off x="457068" y="4055236"/>
            <a:ext cx="21167" cy="1337800"/>
          </a:xfrm>
          <a:prstGeom prst="rect">
            <a:avLst/>
          </a:prstGeom>
          <a:solidFill>
            <a:srgbClr val="8B5CF6"/>
          </a:solidFill>
          <a:ln/>
        </p:spPr>
      </p:sp>
      <p:sp>
        <p:nvSpPr>
          <p:cNvPr id="23" name="Shape 21"/>
          <p:cNvSpPr/>
          <p:nvPr/>
        </p:nvSpPr>
        <p:spPr>
          <a:xfrm>
            <a:off x="6733150" y="4055236"/>
            <a:ext cx="10583" cy="1337800"/>
          </a:xfrm>
          <a:prstGeom prst="rect">
            <a:avLst/>
          </a:prstGeom>
          <a:solidFill>
            <a:srgbClr val="FFFFFF">
              <a:alpha val="12000"/>
            </a:srgbClr>
          </a:solidFill>
          <a:ln/>
        </p:spPr>
      </p:sp>
      <p:sp>
        <p:nvSpPr>
          <p:cNvPr id="24" name="Text 22"/>
          <p:cNvSpPr/>
          <p:nvPr/>
        </p:nvSpPr>
        <p:spPr>
          <a:xfrm>
            <a:off x="706768" y="4294353"/>
            <a:ext cx="6377633" cy="292100"/>
          </a:xfrm>
          <a:prstGeom prst="rect">
            <a:avLst/>
          </a:prstGeom>
          <a:noFill/>
          <a:ln/>
        </p:spPr>
        <p:txBody>
          <a:bodyPr wrap="square" lIns="25400" tIns="25400" rIns="25400" bIns="25400" rtlCol="0" anchor="t">
            <a:normAutofit lnSpcReduction="10000"/>
          </a:bodyPr>
          <a:lstStyle/>
          <a:p>
            <a:pPr marL="0" indent="0" algn="l">
              <a:buNone/>
            </a:pPr>
            <a:r>
              <a:rPr lang="en-US" sz="1598" b="1" dirty="0">
                <a:solidFill>
                  <a:srgbClr val="A78BFA"/>
                </a:solidFill>
                <a:latin typeface="Inter" pitchFamily="34" charset="0"/>
                <a:ea typeface="Inter" pitchFamily="34" charset="-122"/>
                <a:cs typeface="Inter" pitchFamily="34" charset="-120"/>
              </a:rPr>
              <a:t>Accountability</a:t>
            </a:r>
            <a:endParaRPr lang="en-US" sz="1598" dirty="0"/>
          </a:p>
        </p:txBody>
      </p:sp>
      <p:sp>
        <p:nvSpPr>
          <p:cNvPr id="25" name="Text 23"/>
          <p:cNvSpPr/>
          <p:nvPr/>
        </p:nvSpPr>
        <p:spPr>
          <a:xfrm>
            <a:off x="706768" y="4643603"/>
            <a:ext cx="5971783" cy="548415"/>
          </a:xfrm>
          <a:prstGeom prst="rect">
            <a:avLst/>
          </a:prstGeom>
          <a:noFill/>
          <a:ln/>
        </p:spPr>
        <p:txBody>
          <a:bodyPr wrap="square" lIns="25400" tIns="25400" rIns="25400" bIns="25400" rtlCol="0" anchor="t">
            <a:normAutofit/>
          </a:bodyPr>
          <a:lstStyle/>
          <a:p>
            <a:pPr marL="0" indent="0" algn="l">
              <a:lnSpc>
                <a:spcPct val="127018"/>
              </a:lnSpc>
              <a:buNone/>
            </a:pPr>
            <a:r>
              <a:rPr lang="en-US" sz="1298" dirty="0">
                <a:solidFill>
                  <a:srgbClr val="CBD5E1"/>
                </a:solidFill>
                <a:latin typeface="Inter" pitchFamily="34" charset="0"/>
                <a:ea typeface="Inter" pitchFamily="34" charset="-122"/>
                <a:cs typeface="Inter" pitchFamily="34" charset="-120"/>
              </a:rPr>
              <a:t>Responsibility for a system’s behaviour, its audits and its performance tracking is assigned before the tool is launched. [7, 9]</a:t>
            </a:r>
            <a:endParaRPr lang="en-US" sz="1298" dirty="0"/>
          </a:p>
        </p:txBody>
      </p:sp>
      <p:sp>
        <p:nvSpPr>
          <p:cNvPr id="26" name="Shape 24"/>
          <p:cNvSpPr/>
          <p:nvPr/>
        </p:nvSpPr>
        <p:spPr>
          <a:xfrm>
            <a:off x="6972267" y="4055236"/>
            <a:ext cx="6286666" cy="1337800"/>
          </a:xfrm>
          <a:prstGeom prst="roundRect">
            <a:avLst>
              <a:gd name="adj" fmla="val 8544"/>
            </a:avLst>
          </a:prstGeom>
          <a:gradFill rotWithShape="1">
            <a:gsLst>
              <a:gs pos="0">
                <a:srgbClr val="FFFFFF">
                  <a:alpha val="11000"/>
                </a:srgbClr>
              </a:gs>
              <a:gs pos="100000">
                <a:srgbClr val="FFFFFF">
                  <a:alpha val="2000"/>
                </a:srgbClr>
              </a:gs>
            </a:gsLst>
            <a:lin ang="5400000" scaled="0"/>
          </a:gradFill>
          <a:ln/>
          <a:effectLst>
            <a:outerShdw blurRad="228600" dist="76200" dir="5400000" algn="bl" rotWithShape="0">
              <a:srgbClr val="000000">
                <a:alpha val="25000"/>
              </a:srgbClr>
            </a:outerShdw>
          </a:effectLst>
        </p:spPr>
      </p:sp>
      <p:sp>
        <p:nvSpPr>
          <p:cNvPr id="27" name="Shape 25"/>
          <p:cNvSpPr/>
          <p:nvPr/>
        </p:nvSpPr>
        <p:spPr>
          <a:xfrm>
            <a:off x="6972267" y="5382452"/>
            <a:ext cx="6286666" cy="10583"/>
          </a:xfrm>
          <a:prstGeom prst="rect">
            <a:avLst/>
          </a:prstGeom>
          <a:solidFill>
            <a:srgbClr val="FFFFFF">
              <a:alpha val="12000"/>
            </a:srgbClr>
          </a:solidFill>
          <a:ln/>
        </p:spPr>
      </p:sp>
      <p:sp>
        <p:nvSpPr>
          <p:cNvPr id="28" name="Shape 26"/>
          <p:cNvSpPr/>
          <p:nvPr/>
        </p:nvSpPr>
        <p:spPr>
          <a:xfrm>
            <a:off x="6972267" y="4055236"/>
            <a:ext cx="6286666" cy="10583"/>
          </a:xfrm>
          <a:prstGeom prst="rect">
            <a:avLst/>
          </a:prstGeom>
          <a:solidFill>
            <a:srgbClr val="FFFFFF">
              <a:alpha val="12000"/>
            </a:srgbClr>
          </a:solidFill>
          <a:ln/>
        </p:spPr>
      </p:sp>
      <p:sp>
        <p:nvSpPr>
          <p:cNvPr id="29" name="Shape 27"/>
          <p:cNvSpPr/>
          <p:nvPr/>
        </p:nvSpPr>
        <p:spPr>
          <a:xfrm>
            <a:off x="6972267" y="4055236"/>
            <a:ext cx="21167" cy="1337800"/>
          </a:xfrm>
          <a:prstGeom prst="rect">
            <a:avLst/>
          </a:prstGeom>
          <a:solidFill>
            <a:srgbClr val="10B981"/>
          </a:solidFill>
          <a:ln/>
        </p:spPr>
      </p:sp>
      <p:sp>
        <p:nvSpPr>
          <p:cNvPr id="30" name="Shape 28"/>
          <p:cNvSpPr/>
          <p:nvPr/>
        </p:nvSpPr>
        <p:spPr>
          <a:xfrm>
            <a:off x="13248350" y="4055236"/>
            <a:ext cx="10583" cy="1337800"/>
          </a:xfrm>
          <a:prstGeom prst="rect">
            <a:avLst/>
          </a:prstGeom>
          <a:solidFill>
            <a:srgbClr val="FFFFFF">
              <a:alpha val="12000"/>
            </a:srgbClr>
          </a:solidFill>
          <a:ln/>
        </p:spPr>
      </p:sp>
      <p:sp>
        <p:nvSpPr>
          <p:cNvPr id="31" name="Text 29"/>
          <p:cNvSpPr/>
          <p:nvPr/>
        </p:nvSpPr>
        <p:spPr>
          <a:xfrm>
            <a:off x="7221968" y="4294353"/>
            <a:ext cx="6377633" cy="292100"/>
          </a:xfrm>
          <a:prstGeom prst="rect">
            <a:avLst/>
          </a:prstGeom>
          <a:noFill/>
          <a:ln/>
        </p:spPr>
        <p:txBody>
          <a:bodyPr wrap="square" lIns="25400" tIns="25400" rIns="25400" bIns="25400" rtlCol="0" anchor="t">
            <a:normAutofit lnSpcReduction="10000"/>
          </a:bodyPr>
          <a:lstStyle/>
          <a:p>
            <a:pPr marL="0" indent="0" algn="l">
              <a:buNone/>
            </a:pPr>
            <a:r>
              <a:rPr lang="en-US" sz="1598" b="1" dirty="0">
                <a:solidFill>
                  <a:srgbClr val="34D399"/>
                </a:solidFill>
                <a:latin typeface="Inter" pitchFamily="34" charset="0"/>
                <a:ea typeface="Inter" pitchFamily="34" charset="-122"/>
                <a:cs typeface="Inter" pitchFamily="34" charset="-120"/>
              </a:rPr>
              <a:t>Human oversight</a:t>
            </a:r>
            <a:endParaRPr lang="en-US" sz="1598" dirty="0"/>
          </a:p>
        </p:txBody>
      </p:sp>
      <p:sp>
        <p:nvSpPr>
          <p:cNvPr id="32" name="Text 30"/>
          <p:cNvSpPr/>
          <p:nvPr/>
        </p:nvSpPr>
        <p:spPr>
          <a:xfrm>
            <a:off x="7221968" y="4643603"/>
            <a:ext cx="5971783" cy="548415"/>
          </a:xfrm>
          <a:prstGeom prst="rect">
            <a:avLst/>
          </a:prstGeom>
          <a:noFill/>
          <a:ln/>
        </p:spPr>
        <p:txBody>
          <a:bodyPr wrap="square" lIns="25400" tIns="25400" rIns="25400" bIns="25400" rtlCol="0" anchor="t">
            <a:normAutofit/>
          </a:bodyPr>
          <a:lstStyle/>
          <a:p>
            <a:pPr marL="0" indent="0" algn="l">
              <a:lnSpc>
                <a:spcPct val="127018"/>
              </a:lnSpc>
              <a:buNone/>
            </a:pPr>
            <a:r>
              <a:rPr lang="en-US" sz="1298" dirty="0">
                <a:solidFill>
                  <a:srgbClr val="CBD5E1"/>
                </a:solidFill>
                <a:latin typeface="Inter" pitchFamily="34" charset="0"/>
                <a:ea typeface="Inter" pitchFamily="34" charset="-122"/>
                <a:cs typeface="Inter" pitchFamily="34" charset="-120"/>
              </a:rPr>
              <a:t>The model supplements human judgement rather than displacing human responsibility. The tool assists; the person signs. [1, 9]</a:t>
            </a:r>
            <a:endParaRPr lang="en-US" sz="1298" dirty="0"/>
          </a:p>
        </p:txBody>
      </p:sp>
      <p:sp>
        <p:nvSpPr>
          <p:cNvPr id="33" name="Shape 31"/>
          <p:cNvSpPr/>
          <p:nvPr/>
        </p:nvSpPr>
        <p:spPr>
          <a:xfrm>
            <a:off x="457068" y="5659603"/>
            <a:ext cx="12801865" cy="488818"/>
          </a:xfrm>
          <a:prstGeom prst="roundRect">
            <a:avLst>
              <a:gd name="adj" fmla="val 23383"/>
            </a:avLst>
          </a:prstGeom>
          <a:gradFill rotWithShape="1">
            <a:gsLst>
              <a:gs pos="0">
                <a:srgbClr val="3B82F6">
                  <a:alpha val="18000"/>
                </a:srgbClr>
              </a:gs>
              <a:gs pos="100000">
                <a:srgbClr val="3B82F6">
                  <a:alpha val="10000"/>
                </a:srgbClr>
              </a:gs>
            </a:gsLst>
            <a:lin ang="5400000" scaled="0"/>
          </a:gradFill>
          <a:ln w="10583">
            <a:solidFill>
              <a:srgbClr val="3B82F6">
                <a:alpha val="35000"/>
              </a:srgbClr>
            </a:solidFill>
            <a:prstDash val="solid"/>
          </a:ln>
          <a:effectLst>
            <a:outerShdw blurRad="228600" dist="50800" dir="16200000" algn="bl" rotWithShape="0">
              <a:srgbClr val="3B82F6">
                <a:alpha val="26000"/>
              </a:srgbClr>
            </a:outerShdw>
          </a:effectLst>
        </p:spPr>
      </p:sp>
      <p:sp>
        <p:nvSpPr>
          <p:cNvPr id="34" name="Text 32"/>
          <p:cNvSpPr/>
          <p:nvPr/>
        </p:nvSpPr>
        <p:spPr>
          <a:xfrm>
            <a:off x="658151" y="5803537"/>
            <a:ext cx="12783754" cy="239051"/>
          </a:xfrm>
          <a:prstGeom prst="rect">
            <a:avLst/>
          </a:prstGeom>
          <a:noFill/>
          <a:ln/>
        </p:spPr>
        <p:txBody>
          <a:bodyPr wrap="square" lIns="25400" tIns="25400" rIns="25400" bIns="25400" rtlCol="0" anchor="ctr">
            <a:normAutofit lnSpcReduction="10000"/>
          </a:bodyPr>
          <a:lstStyle/>
          <a:p>
            <a:pPr marL="0" indent="0" algn="l">
              <a:buNone/>
            </a:pPr>
            <a:r>
              <a:rPr lang="en-US" sz="1298" b="1" dirty="0">
                <a:solidFill>
                  <a:srgbClr val="FFFFFF"/>
                </a:solidFill>
                <a:latin typeface="Inter" pitchFamily="34" charset="0"/>
                <a:ea typeface="Inter" pitchFamily="34" charset="-122"/>
                <a:cs typeface="Inter" pitchFamily="34" charset="-120"/>
              </a:rPr>
              <a:t>Critical checking of every output before use — the directive’s rule, and the floor under the other three</a:t>
            </a:r>
            <a:endParaRPr lang="en-US" sz="1298" dirty="0"/>
          </a:p>
        </p:txBody>
      </p:sp>
      <p:sp>
        <p:nvSpPr>
          <p:cNvPr id="35" name="Shape 33"/>
          <p:cNvSpPr/>
          <p:nvPr/>
        </p:nvSpPr>
        <p:spPr>
          <a:xfrm>
            <a:off x="457068" y="7248757"/>
            <a:ext cx="12801865" cy="9525"/>
          </a:xfrm>
          <a:prstGeom prst="rect">
            <a:avLst/>
          </a:prstGeom>
          <a:solidFill>
            <a:srgbClr val="FFFFFF">
              <a:alpha val="7000"/>
            </a:srgbClr>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Text 1"/>
          <p:cNvSpPr/>
          <p:nvPr/>
        </p:nvSpPr>
        <p:spPr>
          <a:xfrm>
            <a:off x="457068" y="457068"/>
            <a:ext cx="14082052" cy="444897"/>
          </a:xfrm>
          <a:prstGeom prst="rect">
            <a:avLst/>
          </a:prstGeom>
          <a:noFill/>
          <a:ln/>
        </p:spPr>
        <p:txBody>
          <a:bodyPr wrap="square" lIns="25400" tIns="25400" rIns="25400" bIns="25400" rtlCol="0" anchor="t">
            <a:normAutofit lnSpcReduction="10000"/>
          </a:bodyPr>
          <a:lstStyle/>
          <a:p>
            <a:pPr marL="0" indent="0" algn="l">
              <a:lnSpc>
                <a:spcPct val="83543"/>
              </a:lnSpc>
              <a:buNone/>
            </a:pPr>
            <a:r>
              <a:rPr lang="en-US" sz="3203" b="1" kern="0" spc="-32" dirty="0">
                <a:solidFill>
                  <a:srgbClr val="FFFFFF"/>
                </a:solidFill>
                <a:latin typeface="Inter" pitchFamily="34" charset="0"/>
                <a:ea typeface="Inter" pitchFamily="34" charset="-122"/>
                <a:cs typeface="Inter" pitchFamily="34" charset="-120"/>
              </a:rPr>
              <a:t>Sources</a:t>
            </a:r>
            <a:endParaRPr lang="en-US" sz="3203" dirty="0"/>
          </a:p>
        </p:txBody>
      </p:sp>
      <p:sp>
        <p:nvSpPr>
          <p:cNvPr id="4" name="Text 2"/>
          <p:cNvSpPr/>
          <p:nvPr/>
        </p:nvSpPr>
        <p:spPr>
          <a:xfrm>
            <a:off x="457068" y="939932"/>
            <a:ext cx="14082052" cy="239183"/>
          </a:xfrm>
          <a:prstGeom prst="rect">
            <a:avLst/>
          </a:prstGeom>
          <a:noFill/>
          <a:ln/>
        </p:spPr>
        <p:txBody>
          <a:bodyPr wrap="square" lIns="25400" tIns="25400" rIns="25400" bIns="25400" rtlCol="0" anchor="t">
            <a:normAutofit lnSpcReduction="10000"/>
          </a:bodyPr>
          <a:lstStyle/>
          <a:p>
            <a:pPr marL="0" indent="0" algn="l">
              <a:buNone/>
            </a:pPr>
            <a:r>
              <a:rPr lang="en-US" sz="1298" dirty="0">
                <a:solidFill>
                  <a:srgbClr val="94A3B8"/>
                </a:solidFill>
                <a:latin typeface="Inter" pitchFamily="34" charset="0"/>
                <a:ea typeface="Inter" pitchFamily="34" charset="-122"/>
                <a:cs typeface="Inter" pitchFamily="34" charset="-120"/>
              </a:rPr>
              <a:t>The reading list behind the previous three slides — the bracketed numbers on those slides point here. Photograph it; it is not read out.</a:t>
            </a:r>
            <a:endParaRPr lang="en-US" sz="1298" dirty="0"/>
          </a:p>
        </p:txBody>
      </p:sp>
      <p:sp>
        <p:nvSpPr>
          <p:cNvPr id="5" name="Shape 3"/>
          <p:cNvSpPr/>
          <p:nvPr/>
        </p:nvSpPr>
        <p:spPr>
          <a:xfrm>
            <a:off x="457068" y="2333129"/>
            <a:ext cx="6286666" cy="550333"/>
          </a:xfrm>
          <a:prstGeom prst="roundRect">
            <a:avLst>
              <a:gd name="adj" fmla="val 20769"/>
            </a:avLst>
          </a:prstGeom>
          <a:gradFill rotWithShape="1">
            <a:gsLst>
              <a:gs pos="0">
                <a:srgbClr val="FFFFFF">
                  <a:alpha val="11000"/>
                </a:srgbClr>
              </a:gs>
              <a:gs pos="100000">
                <a:srgbClr val="FFFFFF">
                  <a:alpha val="2000"/>
                </a:srgbClr>
              </a:gs>
            </a:gsLst>
            <a:lin ang="5400000" scaled="0"/>
          </a:gradFill>
          <a:ln/>
        </p:spPr>
      </p:sp>
      <p:sp>
        <p:nvSpPr>
          <p:cNvPr id="6" name="Shape 4"/>
          <p:cNvSpPr/>
          <p:nvPr/>
        </p:nvSpPr>
        <p:spPr>
          <a:xfrm>
            <a:off x="457068" y="2872879"/>
            <a:ext cx="6286666" cy="10583"/>
          </a:xfrm>
          <a:prstGeom prst="rect">
            <a:avLst/>
          </a:prstGeom>
          <a:solidFill>
            <a:srgbClr val="FFFFFF">
              <a:alpha val="12000"/>
            </a:srgbClr>
          </a:solidFill>
          <a:ln/>
        </p:spPr>
      </p:sp>
      <p:sp>
        <p:nvSpPr>
          <p:cNvPr id="7" name="Shape 5"/>
          <p:cNvSpPr/>
          <p:nvPr/>
        </p:nvSpPr>
        <p:spPr>
          <a:xfrm>
            <a:off x="457068" y="2333129"/>
            <a:ext cx="6286666" cy="10583"/>
          </a:xfrm>
          <a:prstGeom prst="rect">
            <a:avLst/>
          </a:prstGeom>
          <a:solidFill>
            <a:srgbClr val="FFFFFF">
              <a:alpha val="12000"/>
            </a:srgbClr>
          </a:solidFill>
          <a:ln/>
        </p:spPr>
      </p:sp>
      <p:sp>
        <p:nvSpPr>
          <p:cNvPr id="8" name="Shape 6"/>
          <p:cNvSpPr/>
          <p:nvPr/>
        </p:nvSpPr>
        <p:spPr>
          <a:xfrm>
            <a:off x="457068" y="2333129"/>
            <a:ext cx="21167" cy="550333"/>
          </a:xfrm>
          <a:prstGeom prst="rect">
            <a:avLst/>
          </a:prstGeom>
          <a:solidFill>
            <a:srgbClr val="3B82F6"/>
          </a:solidFill>
          <a:ln/>
        </p:spPr>
      </p:sp>
      <p:sp>
        <p:nvSpPr>
          <p:cNvPr id="9" name="Shape 7"/>
          <p:cNvSpPr/>
          <p:nvPr/>
        </p:nvSpPr>
        <p:spPr>
          <a:xfrm>
            <a:off x="6733150" y="2333129"/>
            <a:ext cx="10583" cy="550333"/>
          </a:xfrm>
          <a:prstGeom prst="rect">
            <a:avLst/>
          </a:prstGeom>
          <a:solidFill>
            <a:srgbClr val="FFFFFF">
              <a:alpha val="12000"/>
            </a:srgbClr>
          </a:solidFill>
          <a:ln/>
        </p:spPr>
      </p:sp>
      <p:sp>
        <p:nvSpPr>
          <p:cNvPr id="10" name="Text 8"/>
          <p:cNvSpPr/>
          <p:nvPr/>
        </p:nvSpPr>
        <p:spPr>
          <a:xfrm>
            <a:off x="668734" y="2518337"/>
            <a:ext cx="328381" cy="218017"/>
          </a:xfrm>
          <a:prstGeom prst="rect">
            <a:avLst/>
          </a:prstGeom>
          <a:noFill/>
          <a:ln/>
        </p:spPr>
        <p:txBody>
          <a:bodyPr wrap="square" lIns="25400" tIns="25400" rIns="25400" bIns="25400" rtlCol="0" anchor="t">
            <a:normAutofit lnSpcReduction="10000"/>
          </a:bodyPr>
          <a:lstStyle/>
          <a:p>
            <a:pPr marL="0" indent="0" algn="l">
              <a:buNone/>
            </a:pPr>
            <a:r>
              <a:rPr lang="en-US" sz="1102" b="1" dirty="0">
                <a:solidFill>
                  <a:srgbClr val="60A5FA"/>
                </a:solidFill>
                <a:latin typeface="JetBrains Mono" pitchFamily="34" charset="0"/>
                <a:ea typeface="JetBrains Mono" pitchFamily="34" charset="-122"/>
                <a:cs typeface="JetBrains Mono" pitchFamily="34" charset="-120"/>
              </a:rPr>
              <a:t>[1]</a:t>
            </a:r>
            <a:endParaRPr lang="en-US" sz="1102" dirty="0"/>
          </a:p>
        </p:txBody>
      </p:sp>
      <p:sp>
        <p:nvSpPr>
          <p:cNvPr id="11" name="Text 9"/>
          <p:cNvSpPr/>
          <p:nvPr/>
        </p:nvSpPr>
        <p:spPr>
          <a:xfrm>
            <a:off x="1016165" y="2438962"/>
            <a:ext cx="3740689" cy="376767"/>
          </a:xfrm>
          <a:prstGeom prst="rect">
            <a:avLst/>
          </a:prstGeom>
          <a:noFill/>
          <a:ln/>
        </p:spPr>
        <p:txBody>
          <a:bodyPr wrap="square" lIns="25400" tIns="25400" rIns="25400" bIns="25400" rtlCol="0" anchor="t">
            <a:normAutofit lnSpcReduction="10000"/>
          </a:bodyPr>
          <a:lstStyle/>
          <a:p>
            <a:pPr marL="0" indent="0" algn="l">
              <a:buNone/>
            </a:pPr>
            <a:r>
              <a:rPr lang="en-US" sz="1102" dirty="0">
                <a:solidFill>
                  <a:srgbClr val="CBD5E1"/>
                </a:solidFill>
                <a:latin typeface="Inter" pitchFamily="34" charset="0"/>
                <a:ea typeface="Inter" pitchFamily="34" charset="-122"/>
                <a:cs typeface="Inter" pitchFamily="34" charset="-120"/>
              </a:rPr>
              <a:t>European Commission — Ethics guidelines for trustworthy AI</a:t>
            </a:r>
            <a:endParaRPr lang="en-US" sz="1102" dirty="0"/>
          </a:p>
        </p:txBody>
      </p:sp>
      <p:sp>
        <p:nvSpPr>
          <p:cNvPr id="12" name="Text 10"/>
          <p:cNvSpPr/>
          <p:nvPr/>
        </p:nvSpPr>
        <p:spPr>
          <a:xfrm>
            <a:off x="4743153" y="2438962"/>
            <a:ext cx="1875697" cy="376767"/>
          </a:xfrm>
          <a:prstGeom prst="rect">
            <a:avLst/>
          </a:prstGeom>
          <a:noFill/>
          <a:ln/>
        </p:spPr>
        <p:txBody>
          <a:bodyPr wrap="square" lIns="25400" tIns="25400" rIns="25400" bIns="25400" rtlCol="0" anchor="t">
            <a:normAutofit/>
          </a:bodyPr>
          <a:lstStyle/>
          <a:p>
            <a:pPr marL="0" indent="0" algn="l">
              <a:buNone/>
            </a:pPr>
            <a:r>
              <a:rPr lang="en-US" sz="1102" dirty="0">
                <a:solidFill>
                  <a:srgbClr val="94A3B8"/>
                </a:solidFill>
                <a:latin typeface="Inter" pitchFamily="34" charset="0"/>
                <a:ea typeface="Inter" pitchFamily="34" charset="-122"/>
                <a:cs typeface="Inter" pitchFamily="34" charset="-120"/>
              </a:rPr>
              <a:t>· digital-strategy.ec.europa.eu</a:t>
            </a:r>
            <a:endParaRPr lang="en-US" sz="1102" dirty="0"/>
          </a:p>
        </p:txBody>
      </p:sp>
      <p:sp>
        <p:nvSpPr>
          <p:cNvPr id="13" name="Shape 11"/>
          <p:cNvSpPr/>
          <p:nvPr/>
        </p:nvSpPr>
        <p:spPr>
          <a:xfrm>
            <a:off x="6972267" y="2333129"/>
            <a:ext cx="6286666" cy="550333"/>
          </a:xfrm>
          <a:prstGeom prst="roundRect">
            <a:avLst>
              <a:gd name="adj" fmla="val 20769"/>
            </a:avLst>
          </a:prstGeom>
          <a:gradFill rotWithShape="1">
            <a:gsLst>
              <a:gs pos="0">
                <a:srgbClr val="FFFFFF">
                  <a:alpha val="11000"/>
                </a:srgbClr>
              </a:gs>
              <a:gs pos="100000">
                <a:srgbClr val="FFFFFF">
                  <a:alpha val="2000"/>
                </a:srgbClr>
              </a:gs>
            </a:gsLst>
            <a:lin ang="5400000" scaled="0"/>
          </a:gradFill>
          <a:ln/>
        </p:spPr>
      </p:sp>
      <p:sp>
        <p:nvSpPr>
          <p:cNvPr id="14" name="Shape 12"/>
          <p:cNvSpPr/>
          <p:nvPr/>
        </p:nvSpPr>
        <p:spPr>
          <a:xfrm>
            <a:off x="6972267" y="2872879"/>
            <a:ext cx="6286666" cy="10583"/>
          </a:xfrm>
          <a:prstGeom prst="rect">
            <a:avLst/>
          </a:prstGeom>
          <a:solidFill>
            <a:srgbClr val="FFFFFF">
              <a:alpha val="12000"/>
            </a:srgbClr>
          </a:solidFill>
          <a:ln/>
        </p:spPr>
      </p:sp>
      <p:sp>
        <p:nvSpPr>
          <p:cNvPr id="15" name="Shape 13"/>
          <p:cNvSpPr/>
          <p:nvPr/>
        </p:nvSpPr>
        <p:spPr>
          <a:xfrm>
            <a:off x="6972267" y="2333129"/>
            <a:ext cx="6286666" cy="10583"/>
          </a:xfrm>
          <a:prstGeom prst="rect">
            <a:avLst/>
          </a:prstGeom>
          <a:solidFill>
            <a:srgbClr val="FFFFFF">
              <a:alpha val="12000"/>
            </a:srgbClr>
          </a:solidFill>
          <a:ln/>
        </p:spPr>
      </p:sp>
      <p:sp>
        <p:nvSpPr>
          <p:cNvPr id="16" name="Shape 14"/>
          <p:cNvSpPr/>
          <p:nvPr/>
        </p:nvSpPr>
        <p:spPr>
          <a:xfrm>
            <a:off x="6972267" y="2333129"/>
            <a:ext cx="21167" cy="550333"/>
          </a:xfrm>
          <a:prstGeom prst="rect">
            <a:avLst/>
          </a:prstGeom>
          <a:solidFill>
            <a:srgbClr val="3B82F6"/>
          </a:solidFill>
          <a:ln/>
        </p:spPr>
      </p:sp>
      <p:sp>
        <p:nvSpPr>
          <p:cNvPr id="17" name="Shape 15"/>
          <p:cNvSpPr/>
          <p:nvPr/>
        </p:nvSpPr>
        <p:spPr>
          <a:xfrm>
            <a:off x="13248350" y="2333129"/>
            <a:ext cx="10583" cy="550333"/>
          </a:xfrm>
          <a:prstGeom prst="rect">
            <a:avLst/>
          </a:prstGeom>
          <a:solidFill>
            <a:srgbClr val="FFFFFF">
              <a:alpha val="12000"/>
            </a:srgbClr>
          </a:solidFill>
          <a:ln/>
        </p:spPr>
      </p:sp>
      <p:sp>
        <p:nvSpPr>
          <p:cNvPr id="18" name="Text 16"/>
          <p:cNvSpPr/>
          <p:nvPr/>
        </p:nvSpPr>
        <p:spPr>
          <a:xfrm>
            <a:off x="7183934" y="2518337"/>
            <a:ext cx="328381" cy="218017"/>
          </a:xfrm>
          <a:prstGeom prst="rect">
            <a:avLst/>
          </a:prstGeom>
          <a:noFill/>
          <a:ln/>
        </p:spPr>
        <p:txBody>
          <a:bodyPr wrap="square" lIns="25400" tIns="25400" rIns="25400" bIns="25400" rtlCol="0" anchor="t">
            <a:normAutofit lnSpcReduction="10000"/>
          </a:bodyPr>
          <a:lstStyle/>
          <a:p>
            <a:pPr marL="0" indent="0" algn="l">
              <a:buNone/>
            </a:pPr>
            <a:r>
              <a:rPr lang="en-US" sz="1102" b="1" dirty="0">
                <a:solidFill>
                  <a:srgbClr val="60A5FA"/>
                </a:solidFill>
                <a:latin typeface="JetBrains Mono" pitchFamily="34" charset="0"/>
                <a:ea typeface="JetBrains Mono" pitchFamily="34" charset="-122"/>
                <a:cs typeface="JetBrains Mono" pitchFamily="34" charset="-120"/>
              </a:rPr>
              <a:t>[6]</a:t>
            </a:r>
            <a:endParaRPr lang="en-US" sz="1102" dirty="0"/>
          </a:p>
        </p:txBody>
      </p:sp>
      <p:sp>
        <p:nvSpPr>
          <p:cNvPr id="19" name="Text 17"/>
          <p:cNvSpPr/>
          <p:nvPr/>
        </p:nvSpPr>
        <p:spPr>
          <a:xfrm>
            <a:off x="7531365" y="2523629"/>
            <a:ext cx="1600365" cy="207433"/>
          </a:xfrm>
          <a:prstGeom prst="rect">
            <a:avLst/>
          </a:prstGeom>
          <a:noFill/>
          <a:ln/>
        </p:spPr>
        <p:txBody>
          <a:bodyPr wrap="square" lIns="25400" tIns="25400" rIns="25400" bIns="25400" rtlCol="0" anchor="t">
            <a:normAutofit lnSpcReduction="10000"/>
          </a:bodyPr>
          <a:lstStyle/>
          <a:p>
            <a:pPr marL="0" indent="0" algn="l">
              <a:buNone/>
            </a:pPr>
            <a:r>
              <a:rPr lang="en-US" sz="1102" dirty="0">
                <a:solidFill>
                  <a:srgbClr val="CBD5E1"/>
                </a:solidFill>
                <a:latin typeface="Inter" pitchFamily="34" charset="0"/>
                <a:ea typeface="Inter" pitchFamily="34" charset="-122"/>
                <a:cs typeface="Inter" pitchFamily="34" charset="-120"/>
              </a:rPr>
              <a:t>SDAIA — AI principles</a:t>
            </a:r>
            <a:endParaRPr lang="en-US" sz="1102" dirty="0"/>
          </a:p>
        </p:txBody>
      </p:sp>
      <p:sp>
        <p:nvSpPr>
          <p:cNvPr id="20" name="Text 18"/>
          <p:cNvSpPr/>
          <p:nvPr/>
        </p:nvSpPr>
        <p:spPr>
          <a:xfrm>
            <a:off x="9081493" y="2523629"/>
            <a:ext cx="979587" cy="207433"/>
          </a:xfrm>
          <a:prstGeom prst="rect">
            <a:avLst/>
          </a:prstGeom>
          <a:noFill/>
          <a:ln/>
        </p:spPr>
        <p:txBody>
          <a:bodyPr wrap="square" lIns="25400" tIns="25400" rIns="25400" bIns="25400" rtlCol="0" anchor="t">
            <a:normAutofit lnSpcReduction="10000"/>
          </a:bodyPr>
          <a:lstStyle/>
          <a:p>
            <a:pPr marL="0" indent="0" algn="l">
              <a:buNone/>
            </a:pPr>
            <a:r>
              <a:rPr lang="en-US" sz="1102" dirty="0">
                <a:solidFill>
                  <a:srgbClr val="94A3B8"/>
                </a:solidFill>
                <a:latin typeface="Inter" pitchFamily="34" charset="0"/>
                <a:ea typeface="Inter" pitchFamily="34" charset="-122"/>
                <a:cs typeface="Inter" pitchFamily="34" charset="-120"/>
              </a:rPr>
              <a:t>· sdaia.gov.sa</a:t>
            </a:r>
            <a:endParaRPr lang="en-US" sz="1102" dirty="0"/>
          </a:p>
        </p:txBody>
      </p:sp>
      <p:sp>
        <p:nvSpPr>
          <p:cNvPr id="21" name="Shape 19"/>
          <p:cNvSpPr/>
          <p:nvPr/>
        </p:nvSpPr>
        <p:spPr>
          <a:xfrm>
            <a:off x="457068" y="2978712"/>
            <a:ext cx="6286666" cy="495267"/>
          </a:xfrm>
          <a:prstGeom prst="roundRect">
            <a:avLst>
              <a:gd name="adj" fmla="val 23078"/>
            </a:avLst>
          </a:prstGeom>
          <a:gradFill rotWithShape="1">
            <a:gsLst>
              <a:gs pos="0">
                <a:srgbClr val="FFFFFF">
                  <a:alpha val="11000"/>
                </a:srgbClr>
              </a:gs>
              <a:gs pos="100000">
                <a:srgbClr val="FFFFFF">
                  <a:alpha val="2000"/>
                </a:srgbClr>
              </a:gs>
            </a:gsLst>
            <a:lin ang="5400000" scaled="0"/>
          </a:gradFill>
          <a:ln/>
        </p:spPr>
      </p:sp>
      <p:sp>
        <p:nvSpPr>
          <p:cNvPr id="22" name="Shape 20"/>
          <p:cNvSpPr/>
          <p:nvPr/>
        </p:nvSpPr>
        <p:spPr>
          <a:xfrm>
            <a:off x="457068" y="3463396"/>
            <a:ext cx="6286666" cy="10583"/>
          </a:xfrm>
          <a:prstGeom prst="rect">
            <a:avLst/>
          </a:prstGeom>
          <a:solidFill>
            <a:srgbClr val="FFFFFF">
              <a:alpha val="12000"/>
            </a:srgbClr>
          </a:solidFill>
          <a:ln/>
        </p:spPr>
      </p:sp>
      <p:sp>
        <p:nvSpPr>
          <p:cNvPr id="23" name="Shape 21"/>
          <p:cNvSpPr/>
          <p:nvPr/>
        </p:nvSpPr>
        <p:spPr>
          <a:xfrm>
            <a:off x="457068" y="2978712"/>
            <a:ext cx="6286666" cy="10583"/>
          </a:xfrm>
          <a:prstGeom prst="rect">
            <a:avLst/>
          </a:prstGeom>
          <a:solidFill>
            <a:srgbClr val="FFFFFF">
              <a:alpha val="12000"/>
            </a:srgbClr>
          </a:solidFill>
          <a:ln/>
        </p:spPr>
      </p:sp>
      <p:sp>
        <p:nvSpPr>
          <p:cNvPr id="24" name="Shape 22"/>
          <p:cNvSpPr/>
          <p:nvPr/>
        </p:nvSpPr>
        <p:spPr>
          <a:xfrm>
            <a:off x="457068" y="2978712"/>
            <a:ext cx="21167" cy="495267"/>
          </a:xfrm>
          <a:prstGeom prst="rect">
            <a:avLst/>
          </a:prstGeom>
          <a:solidFill>
            <a:srgbClr val="3B82F6"/>
          </a:solidFill>
          <a:ln/>
        </p:spPr>
      </p:sp>
      <p:sp>
        <p:nvSpPr>
          <p:cNvPr id="25" name="Shape 23"/>
          <p:cNvSpPr/>
          <p:nvPr/>
        </p:nvSpPr>
        <p:spPr>
          <a:xfrm>
            <a:off x="6733150" y="2978712"/>
            <a:ext cx="10583" cy="495267"/>
          </a:xfrm>
          <a:prstGeom prst="rect">
            <a:avLst/>
          </a:prstGeom>
          <a:solidFill>
            <a:srgbClr val="FFFFFF">
              <a:alpha val="12000"/>
            </a:srgbClr>
          </a:solidFill>
          <a:ln/>
        </p:spPr>
      </p:sp>
      <p:sp>
        <p:nvSpPr>
          <p:cNvPr id="26" name="Text 24"/>
          <p:cNvSpPr/>
          <p:nvPr/>
        </p:nvSpPr>
        <p:spPr>
          <a:xfrm>
            <a:off x="668734" y="3136305"/>
            <a:ext cx="328381" cy="218017"/>
          </a:xfrm>
          <a:prstGeom prst="rect">
            <a:avLst/>
          </a:prstGeom>
          <a:noFill/>
          <a:ln/>
        </p:spPr>
        <p:txBody>
          <a:bodyPr wrap="square" lIns="25400" tIns="25400" rIns="25400" bIns="25400" rtlCol="0" anchor="t">
            <a:normAutofit lnSpcReduction="10000"/>
          </a:bodyPr>
          <a:lstStyle/>
          <a:p>
            <a:pPr marL="0" indent="0" algn="l">
              <a:buNone/>
            </a:pPr>
            <a:r>
              <a:rPr lang="en-US" sz="1102" b="1" dirty="0">
                <a:solidFill>
                  <a:srgbClr val="60A5FA"/>
                </a:solidFill>
                <a:latin typeface="JetBrains Mono" pitchFamily="34" charset="0"/>
                <a:ea typeface="JetBrains Mono" pitchFamily="34" charset="-122"/>
                <a:cs typeface="JetBrains Mono" pitchFamily="34" charset="-120"/>
              </a:rPr>
              <a:t>[2]</a:t>
            </a:r>
            <a:endParaRPr lang="en-US" sz="1102" dirty="0"/>
          </a:p>
        </p:txBody>
      </p:sp>
      <p:sp>
        <p:nvSpPr>
          <p:cNvPr id="27" name="Text 25"/>
          <p:cNvSpPr/>
          <p:nvPr/>
        </p:nvSpPr>
        <p:spPr>
          <a:xfrm>
            <a:off x="1016165" y="3141597"/>
            <a:ext cx="3099958" cy="207433"/>
          </a:xfrm>
          <a:prstGeom prst="rect">
            <a:avLst/>
          </a:prstGeom>
          <a:noFill/>
          <a:ln/>
        </p:spPr>
        <p:txBody>
          <a:bodyPr wrap="square" lIns="25400" tIns="25400" rIns="25400" bIns="25400" rtlCol="0" anchor="t">
            <a:normAutofit lnSpcReduction="10000"/>
          </a:bodyPr>
          <a:lstStyle/>
          <a:p>
            <a:pPr marL="0" indent="0" algn="l">
              <a:buNone/>
            </a:pPr>
            <a:r>
              <a:rPr lang="en-US" sz="1102" dirty="0">
                <a:solidFill>
                  <a:srgbClr val="CBD5E1"/>
                </a:solidFill>
                <a:latin typeface="Inter" pitchFamily="34" charset="0"/>
                <a:ea typeface="Inter" pitchFamily="34" charset="-122"/>
                <a:cs typeface="Inter" pitchFamily="34" charset="-120"/>
              </a:rPr>
              <a:t>Harvard DCE — Ethics in AI: why it matters</a:t>
            </a:r>
            <a:endParaRPr lang="en-US" sz="1102" dirty="0"/>
          </a:p>
        </p:txBody>
      </p:sp>
      <p:sp>
        <p:nvSpPr>
          <p:cNvPr id="28" name="Text 26"/>
          <p:cNvSpPr/>
          <p:nvPr/>
        </p:nvSpPr>
        <p:spPr>
          <a:xfrm>
            <a:off x="3929559" y="3141597"/>
            <a:ext cx="2219557" cy="207433"/>
          </a:xfrm>
          <a:prstGeom prst="rect">
            <a:avLst/>
          </a:prstGeom>
          <a:noFill/>
          <a:ln/>
        </p:spPr>
        <p:txBody>
          <a:bodyPr wrap="square" lIns="25400" tIns="25400" rIns="25400" bIns="25400" rtlCol="0" anchor="t">
            <a:normAutofit lnSpcReduction="10000"/>
          </a:bodyPr>
          <a:lstStyle/>
          <a:p>
            <a:pPr marL="0" indent="0" algn="l">
              <a:buNone/>
            </a:pPr>
            <a:r>
              <a:rPr lang="en-US" sz="1102" dirty="0">
                <a:solidFill>
                  <a:srgbClr val="94A3B8"/>
                </a:solidFill>
                <a:latin typeface="Inter" pitchFamily="34" charset="0"/>
                <a:ea typeface="Inter" pitchFamily="34" charset="-122"/>
                <a:cs typeface="Inter" pitchFamily="34" charset="-120"/>
              </a:rPr>
              <a:t>· professional.dce.harvard.edu</a:t>
            </a:r>
            <a:endParaRPr lang="en-US" sz="1102" dirty="0"/>
          </a:p>
        </p:txBody>
      </p:sp>
      <p:sp>
        <p:nvSpPr>
          <p:cNvPr id="29" name="Shape 27"/>
          <p:cNvSpPr/>
          <p:nvPr/>
        </p:nvSpPr>
        <p:spPr>
          <a:xfrm>
            <a:off x="6972267" y="2978712"/>
            <a:ext cx="6286666" cy="495267"/>
          </a:xfrm>
          <a:prstGeom prst="roundRect">
            <a:avLst>
              <a:gd name="adj" fmla="val 23078"/>
            </a:avLst>
          </a:prstGeom>
          <a:gradFill rotWithShape="1">
            <a:gsLst>
              <a:gs pos="0">
                <a:srgbClr val="FFFFFF">
                  <a:alpha val="11000"/>
                </a:srgbClr>
              </a:gs>
              <a:gs pos="100000">
                <a:srgbClr val="FFFFFF">
                  <a:alpha val="2000"/>
                </a:srgbClr>
              </a:gs>
            </a:gsLst>
            <a:lin ang="5400000" scaled="0"/>
          </a:gradFill>
          <a:ln/>
        </p:spPr>
      </p:sp>
      <p:sp>
        <p:nvSpPr>
          <p:cNvPr id="30" name="Shape 28"/>
          <p:cNvSpPr/>
          <p:nvPr/>
        </p:nvSpPr>
        <p:spPr>
          <a:xfrm>
            <a:off x="6972267" y="3463396"/>
            <a:ext cx="6286666" cy="10583"/>
          </a:xfrm>
          <a:prstGeom prst="rect">
            <a:avLst/>
          </a:prstGeom>
          <a:solidFill>
            <a:srgbClr val="FFFFFF">
              <a:alpha val="12000"/>
            </a:srgbClr>
          </a:solidFill>
          <a:ln/>
        </p:spPr>
      </p:sp>
      <p:sp>
        <p:nvSpPr>
          <p:cNvPr id="31" name="Shape 29"/>
          <p:cNvSpPr/>
          <p:nvPr/>
        </p:nvSpPr>
        <p:spPr>
          <a:xfrm>
            <a:off x="6972267" y="2978712"/>
            <a:ext cx="6286666" cy="10583"/>
          </a:xfrm>
          <a:prstGeom prst="rect">
            <a:avLst/>
          </a:prstGeom>
          <a:solidFill>
            <a:srgbClr val="FFFFFF">
              <a:alpha val="12000"/>
            </a:srgbClr>
          </a:solidFill>
          <a:ln/>
        </p:spPr>
      </p:sp>
      <p:sp>
        <p:nvSpPr>
          <p:cNvPr id="32" name="Shape 30"/>
          <p:cNvSpPr/>
          <p:nvPr/>
        </p:nvSpPr>
        <p:spPr>
          <a:xfrm>
            <a:off x="6972267" y="2978712"/>
            <a:ext cx="21167" cy="495267"/>
          </a:xfrm>
          <a:prstGeom prst="rect">
            <a:avLst/>
          </a:prstGeom>
          <a:solidFill>
            <a:srgbClr val="3B82F6"/>
          </a:solidFill>
          <a:ln/>
        </p:spPr>
      </p:sp>
      <p:sp>
        <p:nvSpPr>
          <p:cNvPr id="33" name="Shape 31"/>
          <p:cNvSpPr/>
          <p:nvPr/>
        </p:nvSpPr>
        <p:spPr>
          <a:xfrm>
            <a:off x="13248350" y="2978712"/>
            <a:ext cx="10583" cy="495267"/>
          </a:xfrm>
          <a:prstGeom prst="rect">
            <a:avLst/>
          </a:prstGeom>
          <a:solidFill>
            <a:srgbClr val="FFFFFF">
              <a:alpha val="12000"/>
            </a:srgbClr>
          </a:solidFill>
          <a:ln/>
        </p:spPr>
      </p:sp>
      <p:sp>
        <p:nvSpPr>
          <p:cNvPr id="34" name="Text 32"/>
          <p:cNvSpPr/>
          <p:nvPr/>
        </p:nvSpPr>
        <p:spPr>
          <a:xfrm>
            <a:off x="7183934" y="3136305"/>
            <a:ext cx="328381" cy="218017"/>
          </a:xfrm>
          <a:prstGeom prst="rect">
            <a:avLst/>
          </a:prstGeom>
          <a:noFill/>
          <a:ln/>
        </p:spPr>
        <p:txBody>
          <a:bodyPr wrap="square" lIns="25400" tIns="25400" rIns="25400" bIns="25400" rtlCol="0" anchor="t">
            <a:normAutofit lnSpcReduction="10000"/>
          </a:bodyPr>
          <a:lstStyle/>
          <a:p>
            <a:pPr marL="0" indent="0" algn="l">
              <a:buNone/>
            </a:pPr>
            <a:r>
              <a:rPr lang="en-US" sz="1102" b="1" dirty="0">
                <a:solidFill>
                  <a:srgbClr val="60A5FA"/>
                </a:solidFill>
                <a:latin typeface="JetBrains Mono" pitchFamily="34" charset="0"/>
                <a:ea typeface="JetBrains Mono" pitchFamily="34" charset="-122"/>
                <a:cs typeface="JetBrains Mono" pitchFamily="34" charset="-120"/>
              </a:rPr>
              <a:t>[7]</a:t>
            </a:r>
            <a:endParaRPr lang="en-US" sz="1102" dirty="0"/>
          </a:p>
        </p:txBody>
      </p:sp>
      <p:sp>
        <p:nvSpPr>
          <p:cNvPr id="35" name="Text 33"/>
          <p:cNvSpPr/>
          <p:nvPr/>
        </p:nvSpPr>
        <p:spPr>
          <a:xfrm>
            <a:off x="7531365" y="3141597"/>
            <a:ext cx="1640020" cy="207433"/>
          </a:xfrm>
          <a:prstGeom prst="rect">
            <a:avLst/>
          </a:prstGeom>
          <a:noFill/>
          <a:ln/>
        </p:spPr>
        <p:txBody>
          <a:bodyPr wrap="square" lIns="25400" tIns="25400" rIns="25400" bIns="25400" rtlCol="0" anchor="t">
            <a:normAutofit lnSpcReduction="10000"/>
          </a:bodyPr>
          <a:lstStyle/>
          <a:p>
            <a:pPr marL="0" indent="0" algn="l">
              <a:buNone/>
            </a:pPr>
            <a:r>
              <a:rPr lang="en-US" sz="1102" dirty="0">
                <a:solidFill>
                  <a:srgbClr val="CBD5E1"/>
                </a:solidFill>
                <a:latin typeface="Inter" pitchFamily="34" charset="0"/>
                <a:ea typeface="Inter" pitchFamily="34" charset="-122"/>
                <a:cs typeface="Inter" pitchFamily="34" charset="-120"/>
              </a:rPr>
              <a:t>Transcend — AI ethics</a:t>
            </a:r>
            <a:endParaRPr lang="en-US" sz="1102" dirty="0"/>
          </a:p>
        </p:txBody>
      </p:sp>
      <p:sp>
        <p:nvSpPr>
          <p:cNvPr id="36" name="Text 34"/>
          <p:cNvSpPr/>
          <p:nvPr/>
        </p:nvSpPr>
        <p:spPr>
          <a:xfrm>
            <a:off x="9117542" y="3141597"/>
            <a:ext cx="978099" cy="207433"/>
          </a:xfrm>
          <a:prstGeom prst="rect">
            <a:avLst/>
          </a:prstGeom>
          <a:noFill/>
          <a:ln/>
        </p:spPr>
        <p:txBody>
          <a:bodyPr wrap="square" lIns="25400" tIns="25400" rIns="25400" bIns="25400" rtlCol="0" anchor="t">
            <a:normAutofit lnSpcReduction="10000"/>
          </a:bodyPr>
          <a:lstStyle/>
          <a:p>
            <a:pPr marL="0" indent="0" algn="l">
              <a:buNone/>
            </a:pPr>
            <a:r>
              <a:rPr lang="en-US" sz="1102" dirty="0">
                <a:solidFill>
                  <a:srgbClr val="94A3B8"/>
                </a:solidFill>
                <a:latin typeface="Inter" pitchFamily="34" charset="0"/>
                <a:ea typeface="Inter" pitchFamily="34" charset="-122"/>
                <a:cs typeface="Inter" pitchFamily="34" charset="-120"/>
              </a:rPr>
              <a:t>· transcend.io</a:t>
            </a:r>
            <a:endParaRPr lang="en-US" sz="1102" dirty="0"/>
          </a:p>
        </p:txBody>
      </p:sp>
      <p:sp>
        <p:nvSpPr>
          <p:cNvPr id="37" name="Shape 35"/>
          <p:cNvSpPr/>
          <p:nvPr/>
        </p:nvSpPr>
        <p:spPr>
          <a:xfrm>
            <a:off x="457068" y="3569229"/>
            <a:ext cx="6286666" cy="550333"/>
          </a:xfrm>
          <a:prstGeom prst="roundRect">
            <a:avLst>
              <a:gd name="adj" fmla="val 20769"/>
            </a:avLst>
          </a:prstGeom>
          <a:gradFill rotWithShape="1">
            <a:gsLst>
              <a:gs pos="0">
                <a:srgbClr val="FFFFFF">
                  <a:alpha val="11000"/>
                </a:srgbClr>
              </a:gs>
              <a:gs pos="100000">
                <a:srgbClr val="FFFFFF">
                  <a:alpha val="2000"/>
                </a:srgbClr>
              </a:gs>
            </a:gsLst>
            <a:lin ang="5400000" scaled="0"/>
          </a:gradFill>
          <a:ln/>
        </p:spPr>
      </p:sp>
      <p:sp>
        <p:nvSpPr>
          <p:cNvPr id="38" name="Shape 36"/>
          <p:cNvSpPr/>
          <p:nvPr/>
        </p:nvSpPr>
        <p:spPr>
          <a:xfrm>
            <a:off x="457068" y="4108979"/>
            <a:ext cx="6286666" cy="10583"/>
          </a:xfrm>
          <a:prstGeom prst="rect">
            <a:avLst/>
          </a:prstGeom>
          <a:solidFill>
            <a:srgbClr val="FFFFFF">
              <a:alpha val="12000"/>
            </a:srgbClr>
          </a:solidFill>
          <a:ln/>
        </p:spPr>
      </p:sp>
      <p:sp>
        <p:nvSpPr>
          <p:cNvPr id="39" name="Shape 37"/>
          <p:cNvSpPr/>
          <p:nvPr/>
        </p:nvSpPr>
        <p:spPr>
          <a:xfrm>
            <a:off x="457068" y="3569229"/>
            <a:ext cx="6286666" cy="10583"/>
          </a:xfrm>
          <a:prstGeom prst="rect">
            <a:avLst/>
          </a:prstGeom>
          <a:solidFill>
            <a:srgbClr val="FFFFFF">
              <a:alpha val="12000"/>
            </a:srgbClr>
          </a:solidFill>
          <a:ln/>
        </p:spPr>
      </p:sp>
      <p:sp>
        <p:nvSpPr>
          <p:cNvPr id="40" name="Shape 38"/>
          <p:cNvSpPr/>
          <p:nvPr/>
        </p:nvSpPr>
        <p:spPr>
          <a:xfrm>
            <a:off x="457068" y="3569229"/>
            <a:ext cx="21167" cy="550333"/>
          </a:xfrm>
          <a:prstGeom prst="rect">
            <a:avLst/>
          </a:prstGeom>
          <a:solidFill>
            <a:srgbClr val="3B82F6"/>
          </a:solidFill>
          <a:ln/>
        </p:spPr>
      </p:sp>
      <p:sp>
        <p:nvSpPr>
          <p:cNvPr id="41" name="Shape 39"/>
          <p:cNvSpPr/>
          <p:nvPr/>
        </p:nvSpPr>
        <p:spPr>
          <a:xfrm>
            <a:off x="6733150" y="3569229"/>
            <a:ext cx="10583" cy="550333"/>
          </a:xfrm>
          <a:prstGeom prst="rect">
            <a:avLst/>
          </a:prstGeom>
          <a:solidFill>
            <a:srgbClr val="FFFFFF">
              <a:alpha val="12000"/>
            </a:srgbClr>
          </a:solidFill>
          <a:ln/>
        </p:spPr>
      </p:sp>
      <p:sp>
        <p:nvSpPr>
          <p:cNvPr id="42" name="Text 40"/>
          <p:cNvSpPr/>
          <p:nvPr/>
        </p:nvSpPr>
        <p:spPr>
          <a:xfrm>
            <a:off x="668734" y="3754438"/>
            <a:ext cx="328381" cy="218017"/>
          </a:xfrm>
          <a:prstGeom prst="rect">
            <a:avLst/>
          </a:prstGeom>
          <a:noFill/>
          <a:ln/>
        </p:spPr>
        <p:txBody>
          <a:bodyPr wrap="square" lIns="25400" tIns="25400" rIns="25400" bIns="25400" rtlCol="0" anchor="t">
            <a:normAutofit lnSpcReduction="10000"/>
          </a:bodyPr>
          <a:lstStyle/>
          <a:p>
            <a:pPr marL="0" indent="0" algn="l">
              <a:buNone/>
            </a:pPr>
            <a:r>
              <a:rPr lang="en-US" sz="1102" b="1" dirty="0">
                <a:solidFill>
                  <a:srgbClr val="60A5FA"/>
                </a:solidFill>
                <a:latin typeface="JetBrains Mono" pitchFamily="34" charset="0"/>
                <a:ea typeface="JetBrains Mono" pitchFamily="34" charset="-122"/>
                <a:cs typeface="JetBrains Mono" pitchFamily="34" charset="-120"/>
              </a:rPr>
              <a:t>[3]</a:t>
            </a:r>
            <a:endParaRPr lang="en-US" sz="1102" dirty="0"/>
          </a:p>
        </p:txBody>
      </p:sp>
      <p:sp>
        <p:nvSpPr>
          <p:cNvPr id="43" name="Text 41"/>
          <p:cNvSpPr/>
          <p:nvPr/>
        </p:nvSpPr>
        <p:spPr>
          <a:xfrm>
            <a:off x="1016165" y="3675063"/>
            <a:ext cx="3878142" cy="376767"/>
          </a:xfrm>
          <a:prstGeom prst="rect">
            <a:avLst/>
          </a:prstGeom>
          <a:noFill/>
          <a:ln/>
        </p:spPr>
        <p:txBody>
          <a:bodyPr wrap="square" lIns="25400" tIns="25400" rIns="25400" bIns="25400" rtlCol="0" anchor="t">
            <a:normAutofit/>
          </a:bodyPr>
          <a:lstStyle/>
          <a:p>
            <a:pPr marL="0" indent="0" algn="l">
              <a:buNone/>
            </a:pPr>
            <a:r>
              <a:rPr lang="en-US" sz="1102" dirty="0">
                <a:solidFill>
                  <a:srgbClr val="CBD5E1"/>
                </a:solidFill>
                <a:latin typeface="Inter" pitchFamily="34" charset="0"/>
                <a:ea typeface="Inter" pitchFamily="34" charset="-122"/>
                <a:cs typeface="Inter" pitchFamily="34" charset="-120"/>
              </a:rPr>
              <a:t>Salesforce Trailhead — Data ethics and privacy in practice</a:t>
            </a:r>
            <a:endParaRPr lang="en-US" sz="1102" dirty="0"/>
          </a:p>
        </p:txBody>
      </p:sp>
      <p:sp>
        <p:nvSpPr>
          <p:cNvPr id="44" name="Text 42"/>
          <p:cNvSpPr/>
          <p:nvPr/>
        </p:nvSpPr>
        <p:spPr>
          <a:xfrm>
            <a:off x="4876602" y="3675063"/>
            <a:ext cx="1742248" cy="376767"/>
          </a:xfrm>
          <a:prstGeom prst="rect">
            <a:avLst/>
          </a:prstGeom>
          <a:noFill/>
          <a:ln/>
        </p:spPr>
        <p:txBody>
          <a:bodyPr wrap="square" lIns="25400" tIns="25400" rIns="25400" bIns="25400" rtlCol="0" anchor="t">
            <a:normAutofit/>
          </a:bodyPr>
          <a:lstStyle/>
          <a:p>
            <a:pPr marL="0" indent="0" algn="l">
              <a:buNone/>
            </a:pPr>
            <a:r>
              <a:rPr lang="en-US" sz="1102" dirty="0">
                <a:solidFill>
                  <a:srgbClr val="94A3B8"/>
                </a:solidFill>
                <a:latin typeface="Inter" pitchFamily="34" charset="0"/>
                <a:ea typeface="Inter" pitchFamily="34" charset="-122"/>
                <a:cs typeface="Inter" pitchFamily="34" charset="-120"/>
              </a:rPr>
              <a:t>· trailhead.salesforce.com</a:t>
            </a:r>
            <a:endParaRPr lang="en-US" sz="1102" dirty="0"/>
          </a:p>
        </p:txBody>
      </p:sp>
      <p:sp>
        <p:nvSpPr>
          <p:cNvPr id="45" name="Shape 43"/>
          <p:cNvSpPr/>
          <p:nvPr/>
        </p:nvSpPr>
        <p:spPr>
          <a:xfrm>
            <a:off x="6972267" y="3569229"/>
            <a:ext cx="6286666" cy="550333"/>
          </a:xfrm>
          <a:prstGeom prst="roundRect">
            <a:avLst>
              <a:gd name="adj" fmla="val 20769"/>
            </a:avLst>
          </a:prstGeom>
          <a:gradFill rotWithShape="1">
            <a:gsLst>
              <a:gs pos="0">
                <a:srgbClr val="FFFFFF">
                  <a:alpha val="11000"/>
                </a:srgbClr>
              </a:gs>
              <a:gs pos="100000">
                <a:srgbClr val="FFFFFF">
                  <a:alpha val="2000"/>
                </a:srgbClr>
              </a:gs>
            </a:gsLst>
            <a:lin ang="5400000" scaled="0"/>
          </a:gradFill>
          <a:ln/>
        </p:spPr>
      </p:sp>
      <p:sp>
        <p:nvSpPr>
          <p:cNvPr id="46" name="Shape 44"/>
          <p:cNvSpPr/>
          <p:nvPr/>
        </p:nvSpPr>
        <p:spPr>
          <a:xfrm>
            <a:off x="6972267" y="4108979"/>
            <a:ext cx="6286666" cy="10583"/>
          </a:xfrm>
          <a:prstGeom prst="rect">
            <a:avLst/>
          </a:prstGeom>
          <a:solidFill>
            <a:srgbClr val="FFFFFF">
              <a:alpha val="12000"/>
            </a:srgbClr>
          </a:solidFill>
          <a:ln/>
        </p:spPr>
      </p:sp>
      <p:sp>
        <p:nvSpPr>
          <p:cNvPr id="47" name="Shape 45"/>
          <p:cNvSpPr/>
          <p:nvPr/>
        </p:nvSpPr>
        <p:spPr>
          <a:xfrm>
            <a:off x="6972267" y="3569229"/>
            <a:ext cx="6286666" cy="10583"/>
          </a:xfrm>
          <a:prstGeom prst="rect">
            <a:avLst/>
          </a:prstGeom>
          <a:solidFill>
            <a:srgbClr val="FFFFFF">
              <a:alpha val="12000"/>
            </a:srgbClr>
          </a:solidFill>
          <a:ln/>
        </p:spPr>
      </p:sp>
      <p:sp>
        <p:nvSpPr>
          <p:cNvPr id="48" name="Shape 46"/>
          <p:cNvSpPr/>
          <p:nvPr/>
        </p:nvSpPr>
        <p:spPr>
          <a:xfrm>
            <a:off x="6972267" y="3569229"/>
            <a:ext cx="21167" cy="550333"/>
          </a:xfrm>
          <a:prstGeom prst="rect">
            <a:avLst/>
          </a:prstGeom>
          <a:solidFill>
            <a:srgbClr val="3B82F6"/>
          </a:solidFill>
          <a:ln/>
        </p:spPr>
      </p:sp>
      <p:sp>
        <p:nvSpPr>
          <p:cNvPr id="49" name="Shape 47"/>
          <p:cNvSpPr/>
          <p:nvPr/>
        </p:nvSpPr>
        <p:spPr>
          <a:xfrm>
            <a:off x="13248350" y="3569229"/>
            <a:ext cx="10583" cy="550333"/>
          </a:xfrm>
          <a:prstGeom prst="rect">
            <a:avLst/>
          </a:prstGeom>
          <a:solidFill>
            <a:srgbClr val="FFFFFF">
              <a:alpha val="12000"/>
            </a:srgbClr>
          </a:solidFill>
          <a:ln/>
        </p:spPr>
      </p:sp>
      <p:sp>
        <p:nvSpPr>
          <p:cNvPr id="50" name="Text 48"/>
          <p:cNvSpPr/>
          <p:nvPr/>
        </p:nvSpPr>
        <p:spPr>
          <a:xfrm>
            <a:off x="7183934" y="3754438"/>
            <a:ext cx="328381" cy="218017"/>
          </a:xfrm>
          <a:prstGeom prst="rect">
            <a:avLst/>
          </a:prstGeom>
          <a:noFill/>
          <a:ln/>
        </p:spPr>
        <p:txBody>
          <a:bodyPr wrap="square" lIns="25400" tIns="25400" rIns="25400" bIns="25400" rtlCol="0" anchor="t">
            <a:normAutofit lnSpcReduction="10000"/>
          </a:bodyPr>
          <a:lstStyle/>
          <a:p>
            <a:pPr marL="0" indent="0" algn="l">
              <a:buNone/>
            </a:pPr>
            <a:r>
              <a:rPr lang="en-US" sz="1102" b="1" dirty="0">
                <a:solidFill>
                  <a:srgbClr val="60A5FA"/>
                </a:solidFill>
                <a:latin typeface="JetBrains Mono" pitchFamily="34" charset="0"/>
                <a:ea typeface="JetBrains Mono" pitchFamily="34" charset="-122"/>
                <a:cs typeface="JetBrains Mono" pitchFamily="34" charset="-120"/>
              </a:rPr>
              <a:t>[8]</a:t>
            </a:r>
            <a:endParaRPr lang="en-US" sz="1102" dirty="0"/>
          </a:p>
        </p:txBody>
      </p:sp>
      <p:sp>
        <p:nvSpPr>
          <p:cNvPr id="51" name="Text 49"/>
          <p:cNvSpPr/>
          <p:nvPr/>
        </p:nvSpPr>
        <p:spPr>
          <a:xfrm>
            <a:off x="7531365" y="3759729"/>
            <a:ext cx="3830836" cy="207433"/>
          </a:xfrm>
          <a:prstGeom prst="rect">
            <a:avLst/>
          </a:prstGeom>
          <a:noFill/>
          <a:ln/>
        </p:spPr>
        <p:txBody>
          <a:bodyPr wrap="square" lIns="25400" tIns="25400" rIns="25400" bIns="25400" rtlCol="0" anchor="t">
            <a:normAutofit lnSpcReduction="10000"/>
          </a:bodyPr>
          <a:lstStyle/>
          <a:p>
            <a:pPr marL="0" indent="0" algn="l">
              <a:buNone/>
            </a:pPr>
            <a:r>
              <a:rPr lang="en-US" sz="1102" dirty="0">
                <a:solidFill>
                  <a:srgbClr val="CBD5E1"/>
                </a:solidFill>
                <a:latin typeface="Inter" pitchFamily="34" charset="0"/>
                <a:ea typeface="Inter" pitchFamily="34" charset="-122"/>
                <a:cs typeface="Inter" pitchFamily="34" charset="-120"/>
              </a:rPr>
              <a:t>ADP — AI and data ethics: five principles to consider</a:t>
            </a:r>
            <a:endParaRPr lang="en-US" sz="1102" dirty="0"/>
          </a:p>
        </p:txBody>
      </p:sp>
      <p:sp>
        <p:nvSpPr>
          <p:cNvPr id="52" name="Text 50"/>
          <p:cNvSpPr/>
          <p:nvPr/>
        </p:nvSpPr>
        <p:spPr>
          <a:xfrm>
            <a:off x="11109193" y="3759729"/>
            <a:ext cx="606359" cy="207433"/>
          </a:xfrm>
          <a:prstGeom prst="rect">
            <a:avLst/>
          </a:prstGeom>
          <a:noFill/>
          <a:ln/>
        </p:spPr>
        <p:txBody>
          <a:bodyPr wrap="square" lIns="25400" tIns="25400" rIns="25400" bIns="25400" rtlCol="0" anchor="t">
            <a:normAutofit lnSpcReduction="10000"/>
          </a:bodyPr>
          <a:lstStyle/>
          <a:p>
            <a:pPr marL="0" indent="0" algn="l">
              <a:buNone/>
            </a:pPr>
            <a:r>
              <a:rPr lang="en-US" sz="1102" dirty="0">
                <a:solidFill>
                  <a:srgbClr val="94A3B8"/>
                </a:solidFill>
                <a:latin typeface="Inter" pitchFamily="34" charset="0"/>
                <a:ea typeface="Inter" pitchFamily="34" charset="-122"/>
                <a:cs typeface="Inter" pitchFamily="34" charset="-120"/>
              </a:rPr>
              <a:t>· adp.ca</a:t>
            </a:r>
            <a:endParaRPr lang="en-US" sz="1102" dirty="0"/>
          </a:p>
        </p:txBody>
      </p:sp>
      <p:sp>
        <p:nvSpPr>
          <p:cNvPr id="53" name="Shape 51"/>
          <p:cNvSpPr/>
          <p:nvPr/>
        </p:nvSpPr>
        <p:spPr>
          <a:xfrm>
            <a:off x="457068" y="4214813"/>
            <a:ext cx="6286666" cy="495267"/>
          </a:xfrm>
          <a:prstGeom prst="roundRect">
            <a:avLst>
              <a:gd name="adj" fmla="val 23078"/>
            </a:avLst>
          </a:prstGeom>
          <a:gradFill rotWithShape="1">
            <a:gsLst>
              <a:gs pos="0">
                <a:srgbClr val="FFFFFF">
                  <a:alpha val="11000"/>
                </a:srgbClr>
              </a:gs>
              <a:gs pos="100000">
                <a:srgbClr val="FFFFFF">
                  <a:alpha val="2000"/>
                </a:srgbClr>
              </a:gs>
            </a:gsLst>
            <a:lin ang="5400000" scaled="0"/>
          </a:gradFill>
          <a:ln/>
        </p:spPr>
      </p:sp>
      <p:sp>
        <p:nvSpPr>
          <p:cNvPr id="54" name="Shape 52"/>
          <p:cNvSpPr/>
          <p:nvPr/>
        </p:nvSpPr>
        <p:spPr>
          <a:xfrm>
            <a:off x="457068" y="4699496"/>
            <a:ext cx="6286666" cy="10583"/>
          </a:xfrm>
          <a:prstGeom prst="rect">
            <a:avLst/>
          </a:prstGeom>
          <a:solidFill>
            <a:srgbClr val="FFFFFF">
              <a:alpha val="12000"/>
            </a:srgbClr>
          </a:solidFill>
          <a:ln/>
        </p:spPr>
      </p:sp>
      <p:sp>
        <p:nvSpPr>
          <p:cNvPr id="55" name="Shape 53"/>
          <p:cNvSpPr/>
          <p:nvPr/>
        </p:nvSpPr>
        <p:spPr>
          <a:xfrm>
            <a:off x="457068" y="4214813"/>
            <a:ext cx="6286666" cy="10583"/>
          </a:xfrm>
          <a:prstGeom prst="rect">
            <a:avLst/>
          </a:prstGeom>
          <a:solidFill>
            <a:srgbClr val="FFFFFF">
              <a:alpha val="12000"/>
            </a:srgbClr>
          </a:solidFill>
          <a:ln/>
        </p:spPr>
      </p:sp>
      <p:sp>
        <p:nvSpPr>
          <p:cNvPr id="56" name="Shape 54"/>
          <p:cNvSpPr/>
          <p:nvPr/>
        </p:nvSpPr>
        <p:spPr>
          <a:xfrm>
            <a:off x="457068" y="4214813"/>
            <a:ext cx="21167" cy="495267"/>
          </a:xfrm>
          <a:prstGeom prst="rect">
            <a:avLst/>
          </a:prstGeom>
          <a:solidFill>
            <a:srgbClr val="3B82F6"/>
          </a:solidFill>
          <a:ln/>
        </p:spPr>
      </p:sp>
      <p:sp>
        <p:nvSpPr>
          <p:cNvPr id="57" name="Shape 55"/>
          <p:cNvSpPr/>
          <p:nvPr/>
        </p:nvSpPr>
        <p:spPr>
          <a:xfrm>
            <a:off x="6733150" y="4214813"/>
            <a:ext cx="10583" cy="495267"/>
          </a:xfrm>
          <a:prstGeom prst="rect">
            <a:avLst/>
          </a:prstGeom>
          <a:solidFill>
            <a:srgbClr val="FFFFFF">
              <a:alpha val="12000"/>
            </a:srgbClr>
          </a:solidFill>
          <a:ln/>
        </p:spPr>
      </p:sp>
      <p:sp>
        <p:nvSpPr>
          <p:cNvPr id="58" name="Text 56"/>
          <p:cNvSpPr/>
          <p:nvPr/>
        </p:nvSpPr>
        <p:spPr>
          <a:xfrm>
            <a:off x="668734" y="4372405"/>
            <a:ext cx="328381" cy="218017"/>
          </a:xfrm>
          <a:prstGeom prst="rect">
            <a:avLst/>
          </a:prstGeom>
          <a:noFill/>
          <a:ln/>
        </p:spPr>
        <p:txBody>
          <a:bodyPr wrap="square" lIns="25400" tIns="25400" rIns="25400" bIns="25400" rtlCol="0" anchor="t">
            <a:normAutofit lnSpcReduction="10000"/>
          </a:bodyPr>
          <a:lstStyle/>
          <a:p>
            <a:pPr marL="0" indent="0" algn="l">
              <a:buNone/>
            </a:pPr>
            <a:r>
              <a:rPr lang="en-US" sz="1102" b="1" dirty="0">
                <a:solidFill>
                  <a:srgbClr val="60A5FA"/>
                </a:solidFill>
                <a:latin typeface="JetBrains Mono" pitchFamily="34" charset="0"/>
                <a:ea typeface="JetBrains Mono" pitchFamily="34" charset="-122"/>
                <a:cs typeface="JetBrains Mono" pitchFamily="34" charset="-120"/>
              </a:rPr>
              <a:t>[4]</a:t>
            </a:r>
            <a:endParaRPr lang="en-US" sz="1102" dirty="0"/>
          </a:p>
        </p:txBody>
      </p:sp>
      <p:sp>
        <p:nvSpPr>
          <p:cNvPr id="59" name="Text 57"/>
          <p:cNvSpPr/>
          <p:nvPr/>
        </p:nvSpPr>
        <p:spPr>
          <a:xfrm>
            <a:off x="1016165" y="4377697"/>
            <a:ext cx="3687134" cy="207433"/>
          </a:xfrm>
          <a:prstGeom prst="rect">
            <a:avLst/>
          </a:prstGeom>
          <a:noFill/>
          <a:ln/>
        </p:spPr>
        <p:txBody>
          <a:bodyPr wrap="square" lIns="25400" tIns="25400" rIns="25400" bIns="25400" rtlCol="0" anchor="t">
            <a:normAutofit lnSpcReduction="10000"/>
          </a:bodyPr>
          <a:lstStyle/>
          <a:p>
            <a:pPr marL="0" indent="0" algn="l">
              <a:buNone/>
            </a:pPr>
            <a:r>
              <a:rPr lang="en-US" sz="1102" dirty="0">
                <a:solidFill>
                  <a:srgbClr val="CBD5E1"/>
                </a:solidFill>
                <a:latin typeface="Inter" pitchFamily="34" charset="0"/>
                <a:ea typeface="Inter" pitchFamily="34" charset="-122"/>
                <a:cs typeface="Inter" pitchFamily="34" charset="-120"/>
              </a:rPr>
              <a:t>TrustCloud — Ethical AI and data privacy practices</a:t>
            </a:r>
            <a:endParaRPr lang="en-US" sz="1102" dirty="0"/>
          </a:p>
        </p:txBody>
      </p:sp>
      <p:sp>
        <p:nvSpPr>
          <p:cNvPr id="60" name="Text 58"/>
          <p:cNvSpPr/>
          <p:nvPr/>
        </p:nvSpPr>
        <p:spPr>
          <a:xfrm>
            <a:off x="4463356" y="4377697"/>
            <a:ext cx="974957" cy="207433"/>
          </a:xfrm>
          <a:prstGeom prst="rect">
            <a:avLst/>
          </a:prstGeom>
          <a:noFill/>
          <a:ln/>
        </p:spPr>
        <p:txBody>
          <a:bodyPr wrap="square" lIns="25400" tIns="25400" rIns="25400" bIns="25400" rtlCol="0" anchor="t">
            <a:normAutofit lnSpcReduction="10000"/>
          </a:bodyPr>
          <a:lstStyle/>
          <a:p>
            <a:pPr marL="0" indent="0" algn="l">
              <a:buNone/>
            </a:pPr>
            <a:r>
              <a:rPr lang="en-US" sz="1102" dirty="0">
                <a:solidFill>
                  <a:srgbClr val="94A3B8"/>
                </a:solidFill>
                <a:latin typeface="Inter" pitchFamily="34" charset="0"/>
                <a:ea typeface="Inter" pitchFamily="34" charset="-122"/>
                <a:cs typeface="Inter" pitchFamily="34" charset="-120"/>
              </a:rPr>
              <a:t>· trustcloud.ai</a:t>
            </a:r>
            <a:endParaRPr lang="en-US" sz="1102" dirty="0"/>
          </a:p>
        </p:txBody>
      </p:sp>
      <p:sp>
        <p:nvSpPr>
          <p:cNvPr id="61" name="Shape 59"/>
          <p:cNvSpPr/>
          <p:nvPr/>
        </p:nvSpPr>
        <p:spPr>
          <a:xfrm>
            <a:off x="6972267" y="4214813"/>
            <a:ext cx="6286666" cy="495267"/>
          </a:xfrm>
          <a:prstGeom prst="roundRect">
            <a:avLst>
              <a:gd name="adj" fmla="val 23078"/>
            </a:avLst>
          </a:prstGeom>
          <a:gradFill rotWithShape="1">
            <a:gsLst>
              <a:gs pos="0">
                <a:srgbClr val="FFFFFF">
                  <a:alpha val="11000"/>
                </a:srgbClr>
              </a:gs>
              <a:gs pos="100000">
                <a:srgbClr val="FFFFFF">
                  <a:alpha val="2000"/>
                </a:srgbClr>
              </a:gs>
            </a:gsLst>
            <a:lin ang="5400000" scaled="0"/>
          </a:gradFill>
          <a:ln/>
        </p:spPr>
      </p:sp>
      <p:sp>
        <p:nvSpPr>
          <p:cNvPr id="62" name="Shape 60"/>
          <p:cNvSpPr/>
          <p:nvPr/>
        </p:nvSpPr>
        <p:spPr>
          <a:xfrm>
            <a:off x="6972267" y="4699496"/>
            <a:ext cx="6286666" cy="10583"/>
          </a:xfrm>
          <a:prstGeom prst="rect">
            <a:avLst/>
          </a:prstGeom>
          <a:solidFill>
            <a:srgbClr val="FFFFFF">
              <a:alpha val="12000"/>
            </a:srgbClr>
          </a:solidFill>
          <a:ln/>
        </p:spPr>
      </p:sp>
      <p:sp>
        <p:nvSpPr>
          <p:cNvPr id="63" name="Shape 61"/>
          <p:cNvSpPr/>
          <p:nvPr/>
        </p:nvSpPr>
        <p:spPr>
          <a:xfrm>
            <a:off x="6972267" y="4214813"/>
            <a:ext cx="6286666" cy="10583"/>
          </a:xfrm>
          <a:prstGeom prst="rect">
            <a:avLst/>
          </a:prstGeom>
          <a:solidFill>
            <a:srgbClr val="FFFFFF">
              <a:alpha val="12000"/>
            </a:srgbClr>
          </a:solidFill>
          <a:ln/>
        </p:spPr>
      </p:sp>
      <p:sp>
        <p:nvSpPr>
          <p:cNvPr id="64" name="Shape 62"/>
          <p:cNvSpPr/>
          <p:nvPr/>
        </p:nvSpPr>
        <p:spPr>
          <a:xfrm>
            <a:off x="6972267" y="4214813"/>
            <a:ext cx="21167" cy="495267"/>
          </a:xfrm>
          <a:prstGeom prst="rect">
            <a:avLst/>
          </a:prstGeom>
          <a:solidFill>
            <a:srgbClr val="3B82F6"/>
          </a:solidFill>
          <a:ln/>
        </p:spPr>
      </p:sp>
      <p:sp>
        <p:nvSpPr>
          <p:cNvPr id="65" name="Shape 63"/>
          <p:cNvSpPr/>
          <p:nvPr/>
        </p:nvSpPr>
        <p:spPr>
          <a:xfrm>
            <a:off x="13248350" y="4214813"/>
            <a:ext cx="10583" cy="495267"/>
          </a:xfrm>
          <a:prstGeom prst="rect">
            <a:avLst/>
          </a:prstGeom>
          <a:solidFill>
            <a:srgbClr val="FFFFFF">
              <a:alpha val="12000"/>
            </a:srgbClr>
          </a:solidFill>
          <a:ln/>
        </p:spPr>
      </p:sp>
      <p:sp>
        <p:nvSpPr>
          <p:cNvPr id="66" name="Text 64"/>
          <p:cNvSpPr/>
          <p:nvPr/>
        </p:nvSpPr>
        <p:spPr>
          <a:xfrm>
            <a:off x="7183934" y="4372405"/>
            <a:ext cx="328381" cy="218017"/>
          </a:xfrm>
          <a:prstGeom prst="rect">
            <a:avLst/>
          </a:prstGeom>
          <a:noFill/>
          <a:ln/>
        </p:spPr>
        <p:txBody>
          <a:bodyPr wrap="square" lIns="25400" tIns="25400" rIns="25400" bIns="25400" rtlCol="0" anchor="t">
            <a:normAutofit lnSpcReduction="10000"/>
          </a:bodyPr>
          <a:lstStyle/>
          <a:p>
            <a:pPr marL="0" indent="0" algn="l">
              <a:buNone/>
            </a:pPr>
            <a:r>
              <a:rPr lang="en-US" sz="1102" b="1" dirty="0">
                <a:solidFill>
                  <a:srgbClr val="60A5FA"/>
                </a:solidFill>
                <a:latin typeface="JetBrains Mono" pitchFamily="34" charset="0"/>
                <a:ea typeface="JetBrains Mono" pitchFamily="34" charset="-122"/>
                <a:cs typeface="JetBrains Mono" pitchFamily="34" charset="-120"/>
              </a:rPr>
              <a:t>[9]</a:t>
            </a:r>
            <a:endParaRPr lang="en-US" sz="1102" dirty="0"/>
          </a:p>
        </p:txBody>
      </p:sp>
      <p:sp>
        <p:nvSpPr>
          <p:cNvPr id="67" name="Text 65"/>
          <p:cNvSpPr/>
          <p:nvPr/>
        </p:nvSpPr>
        <p:spPr>
          <a:xfrm>
            <a:off x="7531365" y="4377697"/>
            <a:ext cx="4834020" cy="207433"/>
          </a:xfrm>
          <a:prstGeom prst="rect">
            <a:avLst/>
          </a:prstGeom>
          <a:noFill/>
          <a:ln/>
        </p:spPr>
        <p:txBody>
          <a:bodyPr wrap="square" lIns="25400" tIns="25400" rIns="25400" bIns="25400" rtlCol="0" anchor="t">
            <a:normAutofit lnSpcReduction="10000"/>
          </a:bodyPr>
          <a:lstStyle/>
          <a:p>
            <a:pPr marL="0" indent="0" algn="l">
              <a:buNone/>
            </a:pPr>
            <a:r>
              <a:rPr lang="en-US" sz="1102" dirty="0">
                <a:solidFill>
                  <a:srgbClr val="CBD5E1"/>
                </a:solidFill>
                <a:latin typeface="Inter" pitchFamily="34" charset="0"/>
                <a:ea typeface="Inter" pitchFamily="34" charset="-122"/>
                <a:cs typeface="Inter" pitchFamily="34" charset="-120"/>
              </a:rPr>
              <a:t>UNESCO — Recommendation on the ethics of artificial intelligence</a:t>
            </a:r>
            <a:endParaRPr lang="en-US" sz="1102" dirty="0"/>
          </a:p>
        </p:txBody>
      </p:sp>
      <p:sp>
        <p:nvSpPr>
          <p:cNvPr id="68" name="Text 66"/>
          <p:cNvSpPr/>
          <p:nvPr/>
        </p:nvSpPr>
        <p:spPr>
          <a:xfrm>
            <a:off x="12021179" y="4377697"/>
            <a:ext cx="901535" cy="207433"/>
          </a:xfrm>
          <a:prstGeom prst="rect">
            <a:avLst/>
          </a:prstGeom>
          <a:noFill/>
          <a:ln/>
        </p:spPr>
        <p:txBody>
          <a:bodyPr wrap="square" lIns="25400" tIns="25400" rIns="25400" bIns="25400" rtlCol="0" anchor="t">
            <a:normAutofit lnSpcReduction="10000"/>
          </a:bodyPr>
          <a:lstStyle/>
          <a:p>
            <a:pPr marL="0" indent="0" algn="l">
              <a:buNone/>
            </a:pPr>
            <a:r>
              <a:rPr lang="en-US" sz="1102" dirty="0">
                <a:solidFill>
                  <a:srgbClr val="94A3B8"/>
                </a:solidFill>
                <a:latin typeface="Inter" pitchFamily="34" charset="0"/>
                <a:ea typeface="Inter" pitchFamily="34" charset="-122"/>
                <a:cs typeface="Inter" pitchFamily="34" charset="-120"/>
              </a:rPr>
              <a:t>· unesco.org</a:t>
            </a:r>
            <a:endParaRPr lang="en-US" sz="1102" dirty="0"/>
          </a:p>
        </p:txBody>
      </p:sp>
      <p:sp>
        <p:nvSpPr>
          <p:cNvPr id="69" name="Shape 67"/>
          <p:cNvSpPr/>
          <p:nvPr/>
        </p:nvSpPr>
        <p:spPr>
          <a:xfrm>
            <a:off x="457068" y="4805330"/>
            <a:ext cx="6286666" cy="495267"/>
          </a:xfrm>
          <a:prstGeom prst="roundRect">
            <a:avLst>
              <a:gd name="adj" fmla="val 23078"/>
            </a:avLst>
          </a:prstGeom>
          <a:gradFill rotWithShape="1">
            <a:gsLst>
              <a:gs pos="0">
                <a:srgbClr val="FFFFFF">
                  <a:alpha val="11000"/>
                </a:srgbClr>
              </a:gs>
              <a:gs pos="100000">
                <a:srgbClr val="FFFFFF">
                  <a:alpha val="2000"/>
                </a:srgbClr>
              </a:gs>
            </a:gsLst>
            <a:lin ang="5400000" scaled="0"/>
          </a:gradFill>
          <a:ln/>
        </p:spPr>
      </p:sp>
      <p:sp>
        <p:nvSpPr>
          <p:cNvPr id="70" name="Shape 68"/>
          <p:cNvSpPr/>
          <p:nvPr/>
        </p:nvSpPr>
        <p:spPr>
          <a:xfrm>
            <a:off x="457068" y="5290013"/>
            <a:ext cx="6286666" cy="10583"/>
          </a:xfrm>
          <a:prstGeom prst="rect">
            <a:avLst/>
          </a:prstGeom>
          <a:solidFill>
            <a:srgbClr val="FFFFFF">
              <a:alpha val="12000"/>
            </a:srgbClr>
          </a:solidFill>
          <a:ln/>
        </p:spPr>
      </p:sp>
      <p:sp>
        <p:nvSpPr>
          <p:cNvPr id="71" name="Shape 69"/>
          <p:cNvSpPr/>
          <p:nvPr/>
        </p:nvSpPr>
        <p:spPr>
          <a:xfrm>
            <a:off x="457068" y="4805330"/>
            <a:ext cx="6286666" cy="10583"/>
          </a:xfrm>
          <a:prstGeom prst="rect">
            <a:avLst/>
          </a:prstGeom>
          <a:solidFill>
            <a:srgbClr val="FFFFFF">
              <a:alpha val="12000"/>
            </a:srgbClr>
          </a:solidFill>
          <a:ln/>
        </p:spPr>
      </p:sp>
      <p:sp>
        <p:nvSpPr>
          <p:cNvPr id="72" name="Shape 70"/>
          <p:cNvSpPr/>
          <p:nvPr/>
        </p:nvSpPr>
        <p:spPr>
          <a:xfrm>
            <a:off x="457068" y="4805330"/>
            <a:ext cx="21167" cy="495267"/>
          </a:xfrm>
          <a:prstGeom prst="rect">
            <a:avLst/>
          </a:prstGeom>
          <a:solidFill>
            <a:srgbClr val="3B82F6"/>
          </a:solidFill>
          <a:ln/>
        </p:spPr>
      </p:sp>
      <p:sp>
        <p:nvSpPr>
          <p:cNvPr id="73" name="Shape 71"/>
          <p:cNvSpPr/>
          <p:nvPr/>
        </p:nvSpPr>
        <p:spPr>
          <a:xfrm>
            <a:off x="6733150" y="4805330"/>
            <a:ext cx="10583" cy="495267"/>
          </a:xfrm>
          <a:prstGeom prst="rect">
            <a:avLst/>
          </a:prstGeom>
          <a:solidFill>
            <a:srgbClr val="FFFFFF">
              <a:alpha val="12000"/>
            </a:srgbClr>
          </a:solidFill>
          <a:ln/>
        </p:spPr>
      </p:sp>
      <p:sp>
        <p:nvSpPr>
          <p:cNvPr id="74" name="Text 72"/>
          <p:cNvSpPr/>
          <p:nvPr/>
        </p:nvSpPr>
        <p:spPr>
          <a:xfrm>
            <a:off x="668734" y="4962922"/>
            <a:ext cx="328381" cy="218017"/>
          </a:xfrm>
          <a:prstGeom prst="rect">
            <a:avLst/>
          </a:prstGeom>
          <a:noFill/>
          <a:ln/>
        </p:spPr>
        <p:txBody>
          <a:bodyPr wrap="square" lIns="25400" tIns="25400" rIns="25400" bIns="25400" rtlCol="0" anchor="t">
            <a:normAutofit lnSpcReduction="10000"/>
          </a:bodyPr>
          <a:lstStyle/>
          <a:p>
            <a:pPr marL="0" indent="0" algn="l">
              <a:buNone/>
            </a:pPr>
            <a:r>
              <a:rPr lang="en-US" sz="1102" b="1" dirty="0">
                <a:solidFill>
                  <a:srgbClr val="60A5FA"/>
                </a:solidFill>
                <a:latin typeface="JetBrains Mono" pitchFamily="34" charset="0"/>
                <a:ea typeface="JetBrains Mono" pitchFamily="34" charset="-122"/>
                <a:cs typeface="JetBrains Mono" pitchFamily="34" charset="-120"/>
              </a:rPr>
              <a:t>[5]</a:t>
            </a:r>
            <a:endParaRPr lang="en-US" sz="1102" dirty="0"/>
          </a:p>
        </p:txBody>
      </p:sp>
      <p:sp>
        <p:nvSpPr>
          <p:cNvPr id="75" name="Text 73"/>
          <p:cNvSpPr/>
          <p:nvPr/>
        </p:nvSpPr>
        <p:spPr>
          <a:xfrm>
            <a:off x="1016165" y="4968214"/>
            <a:ext cx="3155074" cy="207433"/>
          </a:xfrm>
          <a:prstGeom prst="rect">
            <a:avLst/>
          </a:prstGeom>
          <a:noFill/>
          <a:ln/>
        </p:spPr>
        <p:txBody>
          <a:bodyPr wrap="square" lIns="25400" tIns="25400" rIns="25400" bIns="25400" rtlCol="0" anchor="t">
            <a:normAutofit lnSpcReduction="10000"/>
          </a:bodyPr>
          <a:lstStyle/>
          <a:p>
            <a:pPr marL="0" indent="0" algn="l">
              <a:buNone/>
            </a:pPr>
            <a:r>
              <a:rPr lang="en-US" sz="1102" dirty="0">
                <a:solidFill>
                  <a:srgbClr val="CBD5E1"/>
                </a:solidFill>
                <a:latin typeface="Inter" pitchFamily="34" charset="0"/>
                <a:ea typeface="Inter" pitchFamily="34" charset="-122"/>
                <a:cs typeface="Inter" pitchFamily="34" charset="-120"/>
              </a:rPr>
              <a:t>Alation — Data ethics in AI: 6 key principles</a:t>
            </a:r>
            <a:endParaRPr lang="en-US" sz="1102" dirty="0"/>
          </a:p>
        </p:txBody>
      </p:sp>
      <p:sp>
        <p:nvSpPr>
          <p:cNvPr id="76" name="Text 74"/>
          <p:cNvSpPr/>
          <p:nvPr/>
        </p:nvSpPr>
        <p:spPr>
          <a:xfrm>
            <a:off x="3979664" y="4968214"/>
            <a:ext cx="920552" cy="207433"/>
          </a:xfrm>
          <a:prstGeom prst="rect">
            <a:avLst/>
          </a:prstGeom>
          <a:noFill/>
          <a:ln/>
        </p:spPr>
        <p:txBody>
          <a:bodyPr wrap="square" lIns="25400" tIns="25400" rIns="25400" bIns="25400" rtlCol="0" anchor="t">
            <a:normAutofit lnSpcReduction="10000"/>
          </a:bodyPr>
          <a:lstStyle/>
          <a:p>
            <a:pPr marL="0" indent="0" algn="l">
              <a:buNone/>
            </a:pPr>
            <a:r>
              <a:rPr lang="en-US" sz="1102" dirty="0">
                <a:solidFill>
                  <a:srgbClr val="94A3B8"/>
                </a:solidFill>
                <a:latin typeface="Inter" pitchFamily="34" charset="0"/>
                <a:ea typeface="Inter" pitchFamily="34" charset="-122"/>
                <a:cs typeface="Inter" pitchFamily="34" charset="-120"/>
              </a:rPr>
              <a:t>· alation.com</a:t>
            </a:r>
            <a:endParaRPr lang="en-US" sz="1102" dirty="0"/>
          </a:p>
        </p:txBody>
      </p:sp>
      <p:sp>
        <p:nvSpPr>
          <p:cNvPr id="77" name="Shape 75"/>
          <p:cNvSpPr/>
          <p:nvPr/>
        </p:nvSpPr>
        <p:spPr>
          <a:xfrm>
            <a:off x="457068" y="5529131"/>
            <a:ext cx="12801865" cy="488818"/>
          </a:xfrm>
          <a:prstGeom prst="roundRect">
            <a:avLst>
              <a:gd name="adj" fmla="val 23383"/>
            </a:avLst>
          </a:prstGeom>
          <a:gradFill rotWithShape="1">
            <a:gsLst>
              <a:gs pos="0">
                <a:srgbClr val="3B82F6">
                  <a:alpha val="18000"/>
                </a:srgbClr>
              </a:gs>
              <a:gs pos="100000">
                <a:srgbClr val="3B82F6">
                  <a:alpha val="10000"/>
                </a:srgbClr>
              </a:gs>
            </a:gsLst>
            <a:lin ang="5400000" scaled="0"/>
          </a:gradFill>
          <a:ln w="10583">
            <a:solidFill>
              <a:srgbClr val="3B82F6">
                <a:alpha val="35000"/>
              </a:srgbClr>
            </a:solidFill>
            <a:prstDash val="solid"/>
          </a:ln>
          <a:effectLst>
            <a:outerShdw blurRad="228600" dist="50800" dir="16200000" algn="bl" rotWithShape="0">
              <a:srgbClr val="3B82F6">
                <a:alpha val="26000"/>
              </a:srgbClr>
            </a:outerShdw>
          </a:effectLst>
        </p:spPr>
      </p:sp>
      <p:sp>
        <p:nvSpPr>
          <p:cNvPr id="78" name="Text 76"/>
          <p:cNvSpPr/>
          <p:nvPr/>
        </p:nvSpPr>
        <p:spPr>
          <a:xfrm>
            <a:off x="658151" y="5673064"/>
            <a:ext cx="12783754" cy="239051"/>
          </a:xfrm>
          <a:prstGeom prst="rect">
            <a:avLst/>
          </a:prstGeom>
          <a:noFill/>
          <a:ln/>
        </p:spPr>
        <p:txBody>
          <a:bodyPr wrap="square" lIns="25400" tIns="25400" rIns="25400" bIns="25400" rtlCol="0" anchor="ctr">
            <a:normAutofit lnSpcReduction="10000"/>
          </a:bodyPr>
          <a:lstStyle/>
          <a:p>
            <a:pPr marL="0" indent="0" algn="l">
              <a:buNone/>
            </a:pPr>
            <a:r>
              <a:rPr lang="en-US" sz="1298" b="1" dirty="0">
                <a:solidFill>
                  <a:srgbClr val="FFFFFF"/>
                </a:solidFill>
                <a:latin typeface="Inter" pitchFamily="34" charset="0"/>
                <a:ea typeface="Inter" pitchFamily="34" charset="-122"/>
                <a:cs typeface="Inter" pitchFamily="34" charset="-120"/>
              </a:rPr>
              <a:t>Institutional sources — Rector’s directive 4/2025. (X. 28.) and Dean’s directive 1/2026 (III.26.)</a:t>
            </a:r>
            <a:endParaRPr lang="en-US" sz="1298" dirty="0"/>
          </a:p>
        </p:txBody>
      </p:sp>
      <p:sp>
        <p:nvSpPr>
          <p:cNvPr id="79" name="Text 77"/>
          <p:cNvSpPr/>
          <p:nvPr/>
        </p:nvSpPr>
        <p:spPr>
          <a:xfrm>
            <a:off x="457068" y="6962676"/>
            <a:ext cx="14082052" cy="248113"/>
          </a:xfrm>
          <a:prstGeom prst="rect">
            <a:avLst/>
          </a:prstGeom>
          <a:noFill/>
          <a:ln/>
        </p:spPr>
        <p:txBody>
          <a:bodyPr wrap="square" lIns="25400" tIns="25400" rIns="25400" bIns="25400" rtlCol="0" anchor="t">
            <a:normAutofit/>
          </a:bodyPr>
          <a:lstStyle/>
          <a:p>
            <a:pPr marL="0" indent="0" algn="l">
              <a:lnSpc>
                <a:spcPct val="124031"/>
              </a:lnSpc>
              <a:buNone/>
            </a:pPr>
            <a:r>
              <a:rPr lang="en-US" sz="1102" dirty="0">
                <a:solidFill>
                  <a:srgbClr val="94A3B8"/>
                </a:solidFill>
                <a:latin typeface="Inter" pitchFamily="34" charset="0"/>
                <a:ea typeface="Inter" pitchFamily="34" charset="-122"/>
                <a:cs typeface="Inter" pitchFamily="34" charset="-120"/>
              </a:rPr>
              <a:t>Every link is live on the slide — the deck goes into the Teams channel after the session, so the list travels with it.</a:t>
            </a:r>
            <a:endParaRPr lang="en-US" sz="1102" dirty="0"/>
          </a:p>
        </p:txBody>
      </p:sp>
      <p:sp>
        <p:nvSpPr>
          <p:cNvPr id="80" name="Shape 78"/>
          <p:cNvSpPr/>
          <p:nvPr/>
        </p:nvSpPr>
        <p:spPr>
          <a:xfrm>
            <a:off x="457068" y="7248757"/>
            <a:ext cx="12801865" cy="9525"/>
          </a:xfrm>
          <a:prstGeom prst="rect">
            <a:avLst/>
          </a:prstGeom>
          <a:solidFill>
            <a:srgbClr val="FFFFFF">
              <a:alpha val="7000"/>
            </a:srgbClr>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Text 2"/>
          <p:cNvSpPr/>
          <p:nvPr/>
        </p:nvSpPr>
        <p:spPr>
          <a:xfrm>
            <a:off x="457200" y="4572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What must never enter Gemini</a:t>
            </a:r>
            <a:endParaRPr lang="en-US" sz="3200" dirty="0"/>
          </a:p>
        </p:txBody>
      </p:sp>
      <p:sp>
        <p:nvSpPr>
          <p:cNvPr id="5" name="Text 3"/>
          <p:cNvSpPr/>
          <p:nvPr/>
        </p:nvSpPr>
        <p:spPr>
          <a:xfrm>
            <a:off x="457200" y="1076325"/>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The rule Lesson 1 left open, now complete</a:t>
            </a:r>
            <a:endParaRPr lang="en-US" sz="1300" dirty="0"/>
          </a:p>
        </p:txBody>
      </p:sp>
      <p:sp>
        <p:nvSpPr>
          <p:cNvPr id="6" name="Shape 4"/>
          <p:cNvSpPr/>
          <p:nvPr/>
        </p:nvSpPr>
        <p:spPr>
          <a:xfrm>
            <a:off x="457200" y="1524000"/>
            <a:ext cx="12801600" cy="571500"/>
          </a:xfrm>
          <a:prstGeom prst="roundRect">
            <a:avLst>
              <a:gd name="adj" fmla="val 19531"/>
            </a:avLst>
          </a:prstGeom>
          <a:gradFill rotWithShape="1">
            <a:gsLst>
              <a:gs pos="0">
                <a:srgbClr val="FFFFFF">
                  <a:alpha val="11000"/>
                </a:srgbClr>
              </a:gs>
              <a:gs pos="2279">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7" name="Shape 5"/>
          <p:cNvSpPr/>
          <p:nvPr/>
        </p:nvSpPr>
        <p:spPr>
          <a:xfrm>
            <a:off x="457200" y="2085975"/>
            <a:ext cx="12801600" cy="9525"/>
          </a:xfrm>
          <a:prstGeom prst="rect">
            <a:avLst/>
          </a:prstGeom>
          <a:solidFill>
            <a:srgbClr val="FFFFFF">
              <a:alpha val="8000"/>
            </a:srgbClr>
          </a:solidFill>
          <a:ln/>
        </p:spPr>
      </p:sp>
      <p:sp>
        <p:nvSpPr>
          <p:cNvPr id="8" name="Shape 6"/>
          <p:cNvSpPr/>
          <p:nvPr/>
        </p:nvSpPr>
        <p:spPr>
          <a:xfrm>
            <a:off x="457200" y="1524000"/>
            <a:ext cx="12801600" cy="9525"/>
          </a:xfrm>
          <a:prstGeom prst="rect">
            <a:avLst/>
          </a:prstGeom>
          <a:solidFill>
            <a:srgbClr val="FFFFFF">
              <a:alpha val="8000"/>
            </a:srgbClr>
          </a:solidFill>
          <a:ln/>
        </p:spPr>
      </p:sp>
      <p:sp>
        <p:nvSpPr>
          <p:cNvPr id="9" name="Shape 7"/>
          <p:cNvSpPr/>
          <p:nvPr/>
        </p:nvSpPr>
        <p:spPr>
          <a:xfrm>
            <a:off x="457200" y="1619250"/>
            <a:ext cx="28575" cy="381000"/>
          </a:xfrm>
          <a:prstGeom prst="rect">
            <a:avLst/>
          </a:prstGeom>
          <a:solidFill>
            <a:srgbClr val="EF4444"/>
          </a:solidFill>
          <a:ln/>
        </p:spPr>
      </p:sp>
      <p:sp>
        <p:nvSpPr>
          <p:cNvPr id="10" name="Shape 8"/>
          <p:cNvSpPr/>
          <p:nvPr/>
        </p:nvSpPr>
        <p:spPr>
          <a:xfrm>
            <a:off x="13249275" y="1619250"/>
            <a:ext cx="9525" cy="381000"/>
          </a:xfrm>
          <a:prstGeom prst="rect">
            <a:avLst/>
          </a:prstGeom>
          <a:solidFill>
            <a:srgbClr val="FFFFFF">
              <a:alpha val="8000"/>
            </a:srgbClr>
          </a:solidFill>
          <a:ln/>
        </p:spPr>
      </p:sp>
      <p:sp>
        <p:nvSpPr>
          <p:cNvPr id="11" name="Shape 9"/>
          <p:cNvSpPr/>
          <p:nvPr/>
        </p:nvSpPr>
        <p:spPr>
          <a:xfrm>
            <a:off x="552450" y="1619250"/>
            <a:ext cx="381000" cy="381000"/>
          </a:xfrm>
          <a:prstGeom prst="roundRect">
            <a:avLst>
              <a:gd name="adj" fmla="val 25000"/>
            </a:avLst>
          </a:prstGeom>
          <a:solidFill>
            <a:srgbClr val="EF4444">
              <a:alpha val="14000"/>
            </a:srgbClr>
          </a:solidFill>
          <a:ln/>
        </p:spPr>
      </p:sp>
      <p:pic>
        <p:nvPicPr>
          <p:cNvPr id="1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7700" y="1714500"/>
            <a:ext cx="190500" cy="190500"/>
          </a:xfrm>
          <a:prstGeom prst="rect">
            <a:avLst/>
          </a:prstGeom>
        </p:spPr>
      </p:pic>
      <p:sp>
        <p:nvSpPr>
          <p:cNvPr id="13" name="Text 10"/>
          <p:cNvSpPr/>
          <p:nvPr/>
        </p:nvSpPr>
        <p:spPr>
          <a:xfrm>
            <a:off x="971484" y="1619250"/>
            <a:ext cx="11997598"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Personal data of any kind — names with roles, contact details, evaluations, CVs, personnel matters</a:t>
            </a:r>
            <a:endParaRPr lang="en-US" sz="1300" dirty="0"/>
          </a:p>
        </p:txBody>
      </p:sp>
      <p:sp>
        <p:nvSpPr>
          <p:cNvPr id="14" name="Shape 11"/>
          <p:cNvSpPr/>
          <p:nvPr/>
        </p:nvSpPr>
        <p:spPr>
          <a:xfrm>
            <a:off x="457200" y="2153212"/>
            <a:ext cx="12801600" cy="571500"/>
          </a:xfrm>
          <a:prstGeom prst="roundRect">
            <a:avLst>
              <a:gd name="adj" fmla="val 19531"/>
            </a:avLst>
          </a:prstGeom>
          <a:gradFill rotWithShape="1">
            <a:gsLst>
              <a:gs pos="0">
                <a:srgbClr val="FFFFFF">
                  <a:alpha val="11000"/>
                </a:srgbClr>
              </a:gs>
              <a:gs pos="2279">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5" name="Shape 12"/>
          <p:cNvSpPr/>
          <p:nvPr/>
        </p:nvSpPr>
        <p:spPr>
          <a:xfrm>
            <a:off x="457200" y="2715187"/>
            <a:ext cx="12801600" cy="9525"/>
          </a:xfrm>
          <a:prstGeom prst="rect">
            <a:avLst/>
          </a:prstGeom>
          <a:solidFill>
            <a:srgbClr val="FFFFFF">
              <a:alpha val="8000"/>
            </a:srgbClr>
          </a:solidFill>
          <a:ln/>
        </p:spPr>
      </p:sp>
      <p:sp>
        <p:nvSpPr>
          <p:cNvPr id="16" name="Shape 13"/>
          <p:cNvSpPr/>
          <p:nvPr/>
        </p:nvSpPr>
        <p:spPr>
          <a:xfrm>
            <a:off x="457200" y="2153212"/>
            <a:ext cx="12801600" cy="9525"/>
          </a:xfrm>
          <a:prstGeom prst="rect">
            <a:avLst/>
          </a:prstGeom>
          <a:solidFill>
            <a:srgbClr val="FFFFFF">
              <a:alpha val="8000"/>
            </a:srgbClr>
          </a:solidFill>
          <a:ln/>
        </p:spPr>
      </p:sp>
      <p:sp>
        <p:nvSpPr>
          <p:cNvPr id="17" name="Shape 14"/>
          <p:cNvSpPr/>
          <p:nvPr/>
        </p:nvSpPr>
        <p:spPr>
          <a:xfrm>
            <a:off x="457200" y="2248462"/>
            <a:ext cx="28575" cy="381000"/>
          </a:xfrm>
          <a:prstGeom prst="rect">
            <a:avLst/>
          </a:prstGeom>
          <a:solidFill>
            <a:srgbClr val="EF4444"/>
          </a:solidFill>
          <a:ln/>
        </p:spPr>
      </p:sp>
      <p:sp>
        <p:nvSpPr>
          <p:cNvPr id="18" name="Shape 15"/>
          <p:cNvSpPr/>
          <p:nvPr/>
        </p:nvSpPr>
        <p:spPr>
          <a:xfrm>
            <a:off x="13249275" y="2248462"/>
            <a:ext cx="9525" cy="381000"/>
          </a:xfrm>
          <a:prstGeom prst="rect">
            <a:avLst/>
          </a:prstGeom>
          <a:solidFill>
            <a:srgbClr val="FFFFFF">
              <a:alpha val="8000"/>
            </a:srgbClr>
          </a:solidFill>
          <a:ln/>
        </p:spPr>
      </p:sp>
      <p:sp>
        <p:nvSpPr>
          <p:cNvPr id="19" name="Shape 16"/>
          <p:cNvSpPr/>
          <p:nvPr/>
        </p:nvSpPr>
        <p:spPr>
          <a:xfrm>
            <a:off x="552450" y="2248462"/>
            <a:ext cx="381000" cy="381000"/>
          </a:xfrm>
          <a:prstGeom prst="roundRect">
            <a:avLst>
              <a:gd name="adj" fmla="val 25000"/>
            </a:avLst>
          </a:prstGeom>
          <a:solidFill>
            <a:srgbClr val="EF4444">
              <a:alpha val="14000"/>
            </a:srgbClr>
          </a:solidFill>
          <a:ln/>
        </p:spPr>
      </p:sp>
      <p:pic>
        <p:nvPicPr>
          <p:cNvPr id="2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7700" y="2343712"/>
            <a:ext cx="190500" cy="190500"/>
          </a:xfrm>
          <a:prstGeom prst="rect">
            <a:avLst/>
          </a:prstGeom>
        </p:spPr>
      </p:pic>
      <p:sp>
        <p:nvSpPr>
          <p:cNvPr id="21" name="Text 17"/>
          <p:cNvSpPr/>
          <p:nvPr/>
        </p:nvSpPr>
        <p:spPr>
          <a:xfrm>
            <a:off x="971484" y="2248462"/>
            <a:ext cx="11997598"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Unsubmitted grant proposals — and their drafts, budgets, partner lists</a:t>
            </a:r>
            <a:endParaRPr lang="en-US" sz="1300" dirty="0"/>
          </a:p>
        </p:txBody>
      </p:sp>
      <p:sp>
        <p:nvSpPr>
          <p:cNvPr id="22" name="Shape 18"/>
          <p:cNvSpPr/>
          <p:nvPr/>
        </p:nvSpPr>
        <p:spPr>
          <a:xfrm>
            <a:off x="457200" y="2829388"/>
            <a:ext cx="12801600" cy="571500"/>
          </a:xfrm>
          <a:prstGeom prst="roundRect">
            <a:avLst>
              <a:gd name="adj" fmla="val 19531"/>
            </a:avLst>
          </a:prstGeom>
          <a:gradFill rotWithShape="1">
            <a:gsLst>
              <a:gs pos="0">
                <a:srgbClr val="FFFFFF">
                  <a:alpha val="11000"/>
                </a:srgbClr>
              </a:gs>
              <a:gs pos="2279">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3" name="Shape 19"/>
          <p:cNvSpPr/>
          <p:nvPr/>
        </p:nvSpPr>
        <p:spPr>
          <a:xfrm>
            <a:off x="457200" y="3391363"/>
            <a:ext cx="12801600" cy="9525"/>
          </a:xfrm>
          <a:prstGeom prst="rect">
            <a:avLst/>
          </a:prstGeom>
          <a:solidFill>
            <a:srgbClr val="FFFFFF">
              <a:alpha val="8000"/>
            </a:srgbClr>
          </a:solidFill>
          <a:ln/>
        </p:spPr>
      </p:sp>
      <p:sp>
        <p:nvSpPr>
          <p:cNvPr id="24" name="Shape 20"/>
          <p:cNvSpPr/>
          <p:nvPr/>
        </p:nvSpPr>
        <p:spPr>
          <a:xfrm>
            <a:off x="457200" y="2829388"/>
            <a:ext cx="12801600" cy="9525"/>
          </a:xfrm>
          <a:prstGeom prst="rect">
            <a:avLst/>
          </a:prstGeom>
          <a:solidFill>
            <a:srgbClr val="FFFFFF">
              <a:alpha val="8000"/>
            </a:srgbClr>
          </a:solidFill>
          <a:ln/>
        </p:spPr>
      </p:sp>
      <p:sp>
        <p:nvSpPr>
          <p:cNvPr id="25" name="Shape 21"/>
          <p:cNvSpPr/>
          <p:nvPr/>
        </p:nvSpPr>
        <p:spPr>
          <a:xfrm>
            <a:off x="457200" y="2924638"/>
            <a:ext cx="28575" cy="381000"/>
          </a:xfrm>
          <a:prstGeom prst="rect">
            <a:avLst/>
          </a:prstGeom>
          <a:solidFill>
            <a:srgbClr val="EF4444"/>
          </a:solidFill>
          <a:ln/>
        </p:spPr>
      </p:sp>
      <p:sp>
        <p:nvSpPr>
          <p:cNvPr id="26" name="Shape 22"/>
          <p:cNvSpPr/>
          <p:nvPr/>
        </p:nvSpPr>
        <p:spPr>
          <a:xfrm>
            <a:off x="13249275" y="2924638"/>
            <a:ext cx="9525" cy="381000"/>
          </a:xfrm>
          <a:prstGeom prst="rect">
            <a:avLst/>
          </a:prstGeom>
          <a:solidFill>
            <a:srgbClr val="FFFFFF">
              <a:alpha val="8000"/>
            </a:srgbClr>
          </a:solidFill>
          <a:ln/>
        </p:spPr>
      </p:sp>
      <p:sp>
        <p:nvSpPr>
          <p:cNvPr id="27" name="Shape 23"/>
          <p:cNvSpPr/>
          <p:nvPr/>
        </p:nvSpPr>
        <p:spPr>
          <a:xfrm>
            <a:off x="552450" y="2924638"/>
            <a:ext cx="381000" cy="381000"/>
          </a:xfrm>
          <a:prstGeom prst="roundRect">
            <a:avLst>
              <a:gd name="adj" fmla="val 25000"/>
            </a:avLst>
          </a:prstGeom>
          <a:solidFill>
            <a:srgbClr val="EF4444">
              <a:alpha val="14000"/>
            </a:srgbClr>
          </a:solidFill>
          <a:ln/>
        </p:spPr>
      </p:sp>
      <p:pic>
        <p:nvPicPr>
          <p:cNvPr id="2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7700" y="3019888"/>
            <a:ext cx="190500" cy="190500"/>
          </a:xfrm>
          <a:prstGeom prst="rect">
            <a:avLst/>
          </a:prstGeom>
        </p:spPr>
      </p:pic>
      <p:sp>
        <p:nvSpPr>
          <p:cNvPr id="29" name="Text 24"/>
          <p:cNvSpPr/>
          <p:nvPr/>
        </p:nvSpPr>
        <p:spPr>
          <a:xfrm>
            <a:off x="971484" y="2924638"/>
            <a:ext cx="11997598"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Internal financial planning — and strategic documents</a:t>
            </a:r>
            <a:endParaRPr lang="en-US" sz="1300" dirty="0"/>
          </a:p>
        </p:txBody>
      </p:sp>
      <p:sp>
        <p:nvSpPr>
          <p:cNvPr id="30" name="Shape 25"/>
          <p:cNvSpPr/>
          <p:nvPr/>
        </p:nvSpPr>
        <p:spPr>
          <a:xfrm>
            <a:off x="457200" y="3505564"/>
            <a:ext cx="12801600" cy="571500"/>
          </a:xfrm>
          <a:prstGeom prst="roundRect">
            <a:avLst>
              <a:gd name="adj" fmla="val 19531"/>
            </a:avLst>
          </a:prstGeom>
          <a:gradFill rotWithShape="1">
            <a:gsLst>
              <a:gs pos="0">
                <a:srgbClr val="FFFFFF">
                  <a:alpha val="11000"/>
                </a:srgbClr>
              </a:gs>
              <a:gs pos="2279">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1" name="Shape 26"/>
          <p:cNvSpPr/>
          <p:nvPr/>
        </p:nvSpPr>
        <p:spPr>
          <a:xfrm>
            <a:off x="457200" y="4067539"/>
            <a:ext cx="12801600" cy="9525"/>
          </a:xfrm>
          <a:prstGeom prst="rect">
            <a:avLst/>
          </a:prstGeom>
          <a:solidFill>
            <a:srgbClr val="FFFFFF">
              <a:alpha val="8000"/>
            </a:srgbClr>
          </a:solidFill>
          <a:ln/>
        </p:spPr>
      </p:sp>
      <p:sp>
        <p:nvSpPr>
          <p:cNvPr id="32" name="Shape 27"/>
          <p:cNvSpPr/>
          <p:nvPr/>
        </p:nvSpPr>
        <p:spPr>
          <a:xfrm>
            <a:off x="457200" y="3505564"/>
            <a:ext cx="12801600" cy="9525"/>
          </a:xfrm>
          <a:prstGeom prst="rect">
            <a:avLst/>
          </a:prstGeom>
          <a:solidFill>
            <a:srgbClr val="FFFFFF">
              <a:alpha val="8000"/>
            </a:srgbClr>
          </a:solidFill>
          <a:ln/>
        </p:spPr>
      </p:sp>
      <p:sp>
        <p:nvSpPr>
          <p:cNvPr id="33" name="Shape 28"/>
          <p:cNvSpPr/>
          <p:nvPr/>
        </p:nvSpPr>
        <p:spPr>
          <a:xfrm>
            <a:off x="457200" y="3600814"/>
            <a:ext cx="28575" cy="381000"/>
          </a:xfrm>
          <a:prstGeom prst="rect">
            <a:avLst/>
          </a:prstGeom>
          <a:solidFill>
            <a:srgbClr val="EF4444"/>
          </a:solidFill>
          <a:ln/>
        </p:spPr>
      </p:sp>
      <p:sp>
        <p:nvSpPr>
          <p:cNvPr id="34" name="Shape 29"/>
          <p:cNvSpPr/>
          <p:nvPr/>
        </p:nvSpPr>
        <p:spPr>
          <a:xfrm>
            <a:off x="13249275" y="3600814"/>
            <a:ext cx="9525" cy="381000"/>
          </a:xfrm>
          <a:prstGeom prst="rect">
            <a:avLst/>
          </a:prstGeom>
          <a:solidFill>
            <a:srgbClr val="FFFFFF">
              <a:alpha val="8000"/>
            </a:srgbClr>
          </a:solidFill>
          <a:ln/>
        </p:spPr>
      </p:sp>
      <p:sp>
        <p:nvSpPr>
          <p:cNvPr id="35" name="Shape 30"/>
          <p:cNvSpPr/>
          <p:nvPr/>
        </p:nvSpPr>
        <p:spPr>
          <a:xfrm>
            <a:off x="552450" y="3600814"/>
            <a:ext cx="381000" cy="381000"/>
          </a:xfrm>
          <a:prstGeom prst="roundRect">
            <a:avLst>
              <a:gd name="adj" fmla="val 25000"/>
            </a:avLst>
          </a:prstGeom>
          <a:solidFill>
            <a:srgbClr val="EF4444">
              <a:alpha val="14000"/>
            </a:srgbClr>
          </a:solidFill>
          <a:ln/>
        </p:spPr>
      </p:sp>
      <p:pic>
        <p:nvPicPr>
          <p:cNvPr id="3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7700" y="3696064"/>
            <a:ext cx="190500" cy="190500"/>
          </a:xfrm>
          <a:prstGeom prst="rect">
            <a:avLst/>
          </a:prstGeom>
        </p:spPr>
      </p:pic>
      <p:sp>
        <p:nvSpPr>
          <p:cNvPr id="37" name="Text 31"/>
          <p:cNvSpPr/>
          <p:nvPr/>
        </p:nvSpPr>
        <p:spPr>
          <a:xfrm>
            <a:off x="971484" y="3600814"/>
            <a:ext cx="11997598"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Unpublished research results — and raw data</a:t>
            </a:r>
            <a:endParaRPr lang="en-US" sz="1300" dirty="0"/>
          </a:p>
        </p:txBody>
      </p:sp>
      <p:sp>
        <p:nvSpPr>
          <p:cNvPr id="38" name="Shape 32"/>
          <p:cNvSpPr/>
          <p:nvPr/>
        </p:nvSpPr>
        <p:spPr>
          <a:xfrm>
            <a:off x="457200" y="4181740"/>
            <a:ext cx="12801600" cy="571500"/>
          </a:xfrm>
          <a:prstGeom prst="roundRect">
            <a:avLst>
              <a:gd name="adj" fmla="val 19531"/>
            </a:avLst>
          </a:prstGeom>
          <a:gradFill rotWithShape="1">
            <a:gsLst>
              <a:gs pos="0">
                <a:srgbClr val="FFFFFF">
                  <a:alpha val="11000"/>
                </a:srgbClr>
              </a:gs>
              <a:gs pos="2279">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9" name="Shape 33"/>
          <p:cNvSpPr/>
          <p:nvPr/>
        </p:nvSpPr>
        <p:spPr>
          <a:xfrm>
            <a:off x="457200" y="4743715"/>
            <a:ext cx="12801600" cy="9525"/>
          </a:xfrm>
          <a:prstGeom prst="rect">
            <a:avLst/>
          </a:prstGeom>
          <a:solidFill>
            <a:srgbClr val="FFFFFF">
              <a:alpha val="8000"/>
            </a:srgbClr>
          </a:solidFill>
          <a:ln/>
        </p:spPr>
      </p:sp>
      <p:sp>
        <p:nvSpPr>
          <p:cNvPr id="40" name="Shape 34"/>
          <p:cNvSpPr/>
          <p:nvPr/>
        </p:nvSpPr>
        <p:spPr>
          <a:xfrm>
            <a:off x="457200" y="4181740"/>
            <a:ext cx="12801600" cy="9525"/>
          </a:xfrm>
          <a:prstGeom prst="rect">
            <a:avLst/>
          </a:prstGeom>
          <a:solidFill>
            <a:srgbClr val="FFFFFF">
              <a:alpha val="8000"/>
            </a:srgbClr>
          </a:solidFill>
          <a:ln/>
        </p:spPr>
      </p:sp>
      <p:sp>
        <p:nvSpPr>
          <p:cNvPr id="41" name="Shape 35"/>
          <p:cNvSpPr/>
          <p:nvPr/>
        </p:nvSpPr>
        <p:spPr>
          <a:xfrm>
            <a:off x="457200" y="4276990"/>
            <a:ext cx="28575" cy="381000"/>
          </a:xfrm>
          <a:prstGeom prst="rect">
            <a:avLst/>
          </a:prstGeom>
          <a:solidFill>
            <a:srgbClr val="EF4444"/>
          </a:solidFill>
          <a:ln/>
        </p:spPr>
      </p:sp>
      <p:sp>
        <p:nvSpPr>
          <p:cNvPr id="42" name="Shape 36"/>
          <p:cNvSpPr/>
          <p:nvPr/>
        </p:nvSpPr>
        <p:spPr>
          <a:xfrm>
            <a:off x="13249275" y="4276990"/>
            <a:ext cx="9525" cy="381000"/>
          </a:xfrm>
          <a:prstGeom prst="rect">
            <a:avLst/>
          </a:prstGeom>
          <a:solidFill>
            <a:srgbClr val="FFFFFF">
              <a:alpha val="8000"/>
            </a:srgbClr>
          </a:solidFill>
          <a:ln/>
        </p:spPr>
      </p:sp>
      <p:sp>
        <p:nvSpPr>
          <p:cNvPr id="43" name="Shape 37"/>
          <p:cNvSpPr/>
          <p:nvPr/>
        </p:nvSpPr>
        <p:spPr>
          <a:xfrm>
            <a:off x="552450" y="4276990"/>
            <a:ext cx="381000" cy="381000"/>
          </a:xfrm>
          <a:prstGeom prst="roundRect">
            <a:avLst>
              <a:gd name="adj" fmla="val 25000"/>
            </a:avLst>
          </a:prstGeom>
          <a:solidFill>
            <a:srgbClr val="EF4444">
              <a:alpha val="14000"/>
            </a:srgbClr>
          </a:solidFill>
          <a:ln/>
        </p:spPr>
      </p:sp>
      <p:pic>
        <p:nvPicPr>
          <p:cNvPr id="4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7700" y="4372240"/>
            <a:ext cx="190500" cy="190500"/>
          </a:xfrm>
          <a:prstGeom prst="rect">
            <a:avLst/>
          </a:prstGeom>
        </p:spPr>
      </p:pic>
      <p:sp>
        <p:nvSpPr>
          <p:cNvPr id="45" name="Text 38"/>
          <p:cNvSpPr/>
          <p:nvPr/>
        </p:nvSpPr>
        <p:spPr>
          <a:xfrm>
            <a:off x="971484" y="4276990"/>
            <a:ext cx="11997598"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Results of industrial or contract research</a:t>
            </a:r>
            <a:endParaRPr lang="en-US" sz="1300" dirty="0"/>
          </a:p>
        </p:txBody>
      </p:sp>
      <p:sp>
        <p:nvSpPr>
          <p:cNvPr id="46" name="Shape 39"/>
          <p:cNvSpPr/>
          <p:nvPr/>
        </p:nvSpPr>
        <p:spPr>
          <a:xfrm>
            <a:off x="457200" y="4857916"/>
            <a:ext cx="12801600" cy="571500"/>
          </a:xfrm>
          <a:prstGeom prst="roundRect">
            <a:avLst>
              <a:gd name="adj" fmla="val 19525"/>
            </a:avLst>
          </a:prstGeom>
          <a:gradFill rotWithShape="1">
            <a:gsLst>
              <a:gs pos="0">
                <a:srgbClr val="FFFFFF">
                  <a:alpha val="11000"/>
                </a:srgbClr>
              </a:gs>
              <a:gs pos="2278">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47" name="Shape 40"/>
          <p:cNvSpPr/>
          <p:nvPr/>
        </p:nvSpPr>
        <p:spPr>
          <a:xfrm>
            <a:off x="457200" y="5419891"/>
            <a:ext cx="12801600" cy="9525"/>
          </a:xfrm>
          <a:prstGeom prst="rect">
            <a:avLst/>
          </a:prstGeom>
          <a:solidFill>
            <a:srgbClr val="FFFFFF">
              <a:alpha val="8000"/>
            </a:srgbClr>
          </a:solidFill>
          <a:ln/>
        </p:spPr>
      </p:sp>
      <p:sp>
        <p:nvSpPr>
          <p:cNvPr id="48" name="Shape 41"/>
          <p:cNvSpPr/>
          <p:nvPr/>
        </p:nvSpPr>
        <p:spPr>
          <a:xfrm>
            <a:off x="457200" y="4857916"/>
            <a:ext cx="12801600" cy="9525"/>
          </a:xfrm>
          <a:prstGeom prst="rect">
            <a:avLst/>
          </a:prstGeom>
          <a:solidFill>
            <a:srgbClr val="FFFFFF">
              <a:alpha val="8000"/>
            </a:srgbClr>
          </a:solidFill>
          <a:ln/>
        </p:spPr>
      </p:sp>
      <p:sp>
        <p:nvSpPr>
          <p:cNvPr id="49" name="Shape 42"/>
          <p:cNvSpPr/>
          <p:nvPr/>
        </p:nvSpPr>
        <p:spPr>
          <a:xfrm>
            <a:off x="457200" y="4953166"/>
            <a:ext cx="28575" cy="381000"/>
          </a:xfrm>
          <a:prstGeom prst="rect">
            <a:avLst/>
          </a:prstGeom>
          <a:solidFill>
            <a:srgbClr val="EF4444"/>
          </a:solidFill>
          <a:ln/>
        </p:spPr>
      </p:sp>
      <p:sp>
        <p:nvSpPr>
          <p:cNvPr id="50" name="Shape 43"/>
          <p:cNvSpPr/>
          <p:nvPr/>
        </p:nvSpPr>
        <p:spPr>
          <a:xfrm>
            <a:off x="13249275" y="4953166"/>
            <a:ext cx="9525" cy="381000"/>
          </a:xfrm>
          <a:prstGeom prst="rect">
            <a:avLst/>
          </a:prstGeom>
          <a:solidFill>
            <a:srgbClr val="FFFFFF">
              <a:alpha val="8000"/>
            </a:srgbClr>
          </a:solidFill>
          <a:ln/>
        </p:spPr>
      </p:sp>
      <p:sp>
        <p:nvSpPr>
          <p:cNvPr id="51" name="Shape 44"/>
          <p:cNvSpPr/>
          <p:nvPr/>
        </p:nvSpPr>
        <p:spPr>
          <a:xfrm>
            <a:off x="552450" y="4953166"/>
            <a:ext cx="381000" cy="381000"/>
          </a:xfrm>
          <a:prstGeom prst="roundRect">
            <a:avLst>
              <a:gd name="adj" fmla="val 25000"/>
            </a:avLst>
          </a:prstGeom>
          <a:solidFill>
            <a:srgbClr val="EF4444">
              <a:alpha val="14000"/>
            </a:srgbClr>
          </a:solidFill>
          <a:ln/>
        </p:spPr>
      </p:sp>
      <p:pic>
        <p:nvPicPr>
          <p:cNvPr id="5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47700" y="5048416"/>
            <a:ext cx="190500" cy="190500"/>
          </a:xfrm>
          <a:prstGeom prst="rect">
            <a:avLst/>
          </a:prstGeom>
        </p:spPr>
      </p:pic>
      <p:sp>
        <p:nvSpPr>
          <p:cNvPr id="53" name="Text 45"/>
          <p:cNvSpPr/>
          <p:nvPr/>
        </p:nvSpPr>
        <p:spPr>
          <a:xfrm>
            <a:off x="971484" y="4953166"/>
            <a:ext cx="11997598"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Any document under a confidentiality or data-processing agreement</a:t>
            </a:r>
            <a:endParaRPr lang="en-US" sz="1300" dirty="0"/>
          </a:p>
        </p:txBody>
      </p:sp>
      <p:sp>
        <p:nvSpPr>
          <p:cNvPr id="54" name="Shape 46"/>
          <p:cNvSpPr/>
          <p:nvPr/>
        </p:nvSpPr>
        <p:spPr>
          <a:xfrm>
            <a:off x="457200" y="5534092"/>
            <a:ext cx="12801600" cy="571500"/>
          </a:xfrm>
          <a:prstGeom prst="roundRect">
            <a:avLst>
              <a:gd name="adj" fmla="val 19525"/>
            </a:avLst>
          </a:prstGeom>
          <a:gradFill rotWithShape="1">
            <a:gsLst>
              <a:gs pos="0">
                <a:srgbClr val="FFFFFF">
                  <a:alpha val="11000"/>
                </a:srgbClr>
              </a:gs>
              <a:gs pos="2278">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55" name="Shape 47"/>
          <p:cNvSpPr/>
          <p:nvPr/>
        </p:nvSpPr>
        <p:spPr>
          <a:xfrm>
            <a:off x="457200" y="6096067"/>
            <a:ext cx="12801600" cy="9525"/>
          </a:xfrm>
          <a:prstGeom prst="rect">
            <a:avLst/>
          </a:prstGeom>
          <a:solidFill>
            <a:srgbClr val="FFFFFF">
              <a:alpha val="8000"/>
            </a:srgbClr>
          </a:solidFill>
          <a:ln/>
        </p:spPr>
      </p:sp>
      <p:sp>
        <p:nvSpPr>
          <p:cNvPr id="56" name="Shape 48"/>
          <p:cNvSpPr/>
          <p:nvPr/>
        </p:nvSpPr>
        <p:spPr>
          <a:xfrm>
            <a:off x="457200" y="5534092"/>
            <a:ext cx="12801600" cy="9525"/>
          </a:xfrm>
          <a:prstGeom prst="rect">
            <a:avLst/>
          </a:prstGeom>
          <a:solidFill>
            <a:srgbClr val="FFFFFF">
              <a:alpha val="8000"/>
            </a:srgbClr>
          </a:solidFill>
          <a:ln/>
        </p:spPr>
      </p:sp>
      <p:sp>
        <p:nvSpPr>
          <p:cNvPr id="57" name="Shape 49"/>
          <p:cNvSpPr/>
          <p:nvPr/>
        </p:nvSpPr>
        <p:spPr>
          <a:xfrm>
            <a:off x="457200" y="5629342"/>
            <a:ext cx="28575" cy="381000"/>
          </a:xfrm>
          <a:prstGeom prst="rect">
            <a:avLst/>
          </a:prstGeom>
          <a:solidFill>
            <a:srgbClr val="EF4444"/>
          </a:solidFill>
          <a:ln/>
        </p:spPr>
      </p:sp>
      <p:sp>
        <p:nvSpPr>
          <p:cNvPr id="58" name="Shape 50"/>
          <p:cNvSpPr/>
          <p:nvPr/>
        </p:nvSpPr>
        <p:spPr>
          <a:xfrm>
            <a:off x="13249275" y="5629342"/>
            <a:ext cx="9525" cy="381000"/>
          </a:xfrm>
          <a:prstGeom prst="rect">
            <a:avLst/>
          </a:prstGeom>
          <a:solidFill>
            <a:srgbClr val="FFFFFF">
              <a:alpha val="8000"/>
            </a:srgbClr>
          </a:solidFill>
          <a:ln/>
        </p:spPr>
      </p:sp>
      <p:sp>
        <p:nvSpPr>
          <p:cNvPr id="59" name="Shape 51"/>
          <p:cNvSpPr/>
          <p:nvPr/>
        </p:nvSpPr>
        <p:spPr>
          <a:xfrm>
            <a:off x="552450" y="5629342"/>
            <a:ext cx="381000" cy="381000"/>
          </a:xfrm>
          <a:prstGeom prst="roundRect">
            <a:avLst>
              <a:gd name="adj" fmla="val 25000"/>
            </a:avLst>
          </a:prstGeom>
          <a:solidFill>
            <a:srgbClr val="EF4444">
              <a:alpha val="14000"/>
            </a:srgbClr>
          </a:solidFill>
          <a:ln/>
        </p:spPr>
      </p:sp>
      <p:pic>
        <p:nvPicPr>
          <p:cNvPr id="60"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47700" y="5724592"/>
            <a:ext cx="190500" cy="190500"/>
          </a:xfrm>
          <a:prstGeom prst="rect">
            <a:avLst/>
          </a:prstGeom>
        </p:spPr>
      </p:pic>
      <p:sp>
        <p:nvSpPr>
          <p:cNvPr id="61" name="Text 52"/>
          <p:cNvSpPr/>
          <p:nvPr/>
        </p:nvSpPr>
        <p:spPr>
          <a:xfrm>
            <a:off x="971484" y="5629342"/>
            <a:ext cx="11997598"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Anything not anonymised that would need to be</a:t>
            </a:r>
            <a:endParaRPr lang="en-US" sz="1300" dirty="0"/>
          </a:p>
        </p:txBody>
      </p:sp>
      <p:sp>
        <p:nvSpPr>
          <p:cNvPr id="62" name="Shape 53"/>
          <p:cNvSpPr/>
          <p:nvPr/>
        </p:nvSpPr>
        <p:spPr>
          <a:xfrm>
            <a:off x="457200" y="6296091"/>
            <a:ext cx="12801600" cy="571500"/>
          </a:xfrm>
          <a:prstGeom prst="roundRect">
            <a:avLst>
              <a:gd name="adj" fmla="val 16623"/>
            </a:avLst>
          </a:prstGeom>
          <a:gradFill rotWithShape="1">
            <a:gsLst>
              <a:gs pos="0">
                <a:srgbClr val="3B82F6"/>
              </a:gs>
              <a:gs pos="230">
                <a:srgbClr val="3B82F6"/>
              </a:gs>
              <a:gs pos="231">
                <a:srgbClr val="FFFFFF">
                  <a:alpha val="5000"/>
                </a:srgbClr>
              </a:gs>
              <a:gs pos="100000">
                <a:srgbClr val="FFFFFF">
                  <a:alpha val="2500"/>
                </a:srgbClr>
              </a:gs>
            </a:gsLst>
            <a:lin ang="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63" name="Shape 54"/>
          <p:cNvSpPr/>
          <p:nvPr/>
        </p:nvSpPr>
        <p:spPr>
          <a:xfrm>
            <a:off x="552450" y="6391341"/>
            <a:ext cx="381000" cy="381000"/>
          </a:xfrm>
          <a:prstGeom prst="roundRect">
            <a:avLst>
              <a:gd name="adj" fmla="val 25000"/>
            </a:avLst>
          </a:prstGeom>
          <a:solidFill>
            <a:srgbClr val="3B82F6">
              <a:alpha val="14000"/>
            </a:srgbClr>
          </a:solidFill>
          <a:ln/>
        </p:spPr>
      </p:sp>
      <p:pic>
        <p:nvPicPr>
          <p:cNvPr id="64"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47700" y="6486591"/>
            <a:ext cx="190500" cy="190500"/>
          </a:xfrm>
          <a:prstGeom prst="rect">
            <a:avLst/>
          </a:prstGeom>
        </p:spPr>
      </p:pic>
      <p:sp>
        <p:nvSpPr>
          <p:cNvPr id="65" name="Text 55"/>
          <p:cNvSpPr/>
          <p:nvPr/>
        </p:nvSpPr>
        <p:spPr>
          <a:xfrm>
            <a:off x="1085585" y="6391341"/>
            <a:ext cx="11800748"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b="1" kern="1200" dirty="0">
                <a:solidFill>
                  <a:srgbClr val="FFFFFF"/>
                </a:solidFill>
                <a:latin typeface="Inter"/>
                <a:ea typeface="Inter"/>
                <a:cs typeface="Inter"/>
              </a:rPr>
              <a:t>Anything on this list → Sensitive Lane · Copilot Chat (Basic), anonymised first if it is a document</a:t>
            </a:r>
            <a:endParaRPr lang="en-US" sz="1300" dirty="0"/>
          </a:p>
        </p:txBody>
      </p:sp>
      <p:sp>
        <p:nvSpPr>
          <p:cNvPr id="66" name="Text 56"/>
          <p:cNvSpPr/>
          <p:nvPr/>
        </p:nvSpPr>
        <p:spPr>
          <a:xfrm>
            <a:off x="457200" y="7000875"/>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Fails the anonymisation test even there? Then it does not go into an AI tool at all</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50000" r="50000" b="100000"/>
            </a:path>
          </a:gradFill>
          <a:ln/>
        </p:spPr>
      </p:sp>
      <p:sp>
        <p:nvSpPr>
          <p:cNvPr id="4" name="Shape 2"/>
          <p:cNvSpPr/>
          <p:nvPr/>
        </p:nvSpPr>
        <p:spPr>
          <a:xfrm>
            <a:off x="457200" y="2895600"/>
            <a:ext cx="914400" cy="914400"/>
          </a:xfrm>
          <a:prstGeom prst="roundRect">
            <a:avLst>
              <a:gd name="adj" fmla="val 12500"/>
            </a:avLst>
          </a:prstGeom>
          <a:solidFill>
            <a:srgbClr val="2563EB"/>
          </a:solidFill>
          <a:ln/>
          <a:effectLst>
            <a:glow rad="190500">
              <a:srgbClr val="3B82F6">
                <a:alpha val="26000"/>
              </a:srgbClr>
            </a:glow>
          </a:effectLst>
        </p:spPr>
      </p:sp>
      <p:sp>
        <p:nvSpPr>
          <p:cNvPr id="5" name="Text 3"/>
          <p:cNvSpPr/>
          <p:nvPr/>
        </p:nvSpPr>
        <p:spPr>
          <a:xfrm>
            <a:off x="457200" y="2895600"/>
            <a:ext cx="914400" cy="914400"/>
          </a:xfrm>
          <a:prstGeom prst="rect">
            <a:avLst/>
          </a:prstGeom>
          <a:noFill/>
          <a:ln/>
        </p:spPr>
        <p:txBody>
          <a:bodyPr wrap="square" lIns="0" tIns="0" rIns="0" bIns="0" rtlCol="0" anchor="ctr">
            <a:normAutofit/>
          </a:bodyPr>
          <a:lstStyle/>
          <a:p>
            <a:pPr marL="0" indent="0" algn="ctr">
              <a:lnSpc>
                <a:spcPct val="98000"/>
              </a:lnSpc>
              <a:buNone/>
            </a:pPr>
            <a:r>
              <a:rPr lang="en-US" sz="4800" b="1" kern="1200" spc="-48" dirty="0">
                <a:solidFill>
                  <a:srgbClr val="FFFFFF"/>
                </a:solidFill>
                <a:latin typeface="JetBrains Mono"/>
                <a:ea typeface="JetBrains Mono"/>
                <a:cs typeface="JetBrains Mono"/>
              </a:rPr>
              <a:t>3</a:t>
            </a:r>
            <a:endParaRPr lang="en-US" sz="4800" dirty="0"/>
          </a:p>
        </p:txBody>
      </p:sp>
      <p:sp>
        <p:nvSpPr>
          <p:cNvPr id="6" name="Text 4"/>
          <p:cNvSpPr/>
          <p:nvPr/>
        </p:nvSpPr>
        <p:spPr>
          <a:xfrm>
            <a:off x="1676400" y="2876550"/>
            <a:ext cx="115824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Copilot Chat (Basic) in practice</a:t>
            </a:r>
            <a:endParaRPr lang="en-US" sz="3200" dirty="0"/>
          </a:p>
        </p:txBody>
      </p:sp>
      <p:sp>
        <p:nvSpPr>
          <p:cNvPr id="7" name="Text 5"/>
          <p:cNvSpPr/>
          <p:nvPr/>
        </p:nvSpPr>
        <p:spPr>
          <a:xfrm>
            <a:off x="1676400" y="3514725"/>
            <a:ext cx="115824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Segment 3 of 5 · Sensitive Lane · Copilot Chat (Basic)</a:t>
            </a:r>
            <a:endParaRPr lang="en-US" sz="1300" dirty="0"/>
          </a:p>
        </p:txBody>
      </p:sp>
      <p:sp>
        <p:nvSpPr>
          <p:cNvPr id="8" name="Shape 6"/>
          <p:cNvSpPr/>
          <p:nvPr/>
        </p:nvSpPr>
        <p:spPr>
          <a:xfrm>
            <a:off x="1676400" y="4076700"/>
            <a:ext cx="2762151" cy="304800"/>
          </a:xfrm>
          <a:prstGeom prst="roundRect">
            <a:avLst>
              <a:gd name="adj" fmla="val 50000"/>
            </a:avLst>
          </a:prstGeom>
          <a:solidFill>
            <a:srgbClr val="3B82F6">
              <a:alpha val="14000"/>
            </a:srgbClr>
          </a:solidFill>
          <a:ln w="10583">
            <a:solidFill>
              <a:srgbClr val="3B82F6">
                <a:alpha val="35000"/>
              </a:srgbClr>
            </a:solidFill>
            <a:prstDash val="solid"/>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28800" y="4152950"/>
            <a:ext cx="152301" cy="152301"/>
          </a:xfrm>
          <a:prstGeom prst="rect">
            <a:avLst/>
          </a:prstGeom>
        </p:spPr>
      </p:pic>
      <p:sp>
        <p:nvSpPr>
          <p:cNvPr id="10" name="Text 7"/>
          <p:cNvSpPr/>
          <p:nvPr/>
        </p:nvSpPr>
        <p:spPr>
          <a:xfrm>
            <a:off x="2057301" y="4095750"/>
            <a:ext cx="2228850" cy="266700"/>
          </a:xfrm>
          <a:prstGeom prst="rect">
            <a:avLst/>
          </a:prstGeom>
          <a:noFill/>
          <a:ln/>
        </p:spPr>
        <p:txBody>
          <a:bodyPr wrap="square" lIns="0" tIns="0" rIns="0" bIns="0" rtlCol="0" anchor="t">
            <a:normAutofit/>
          </a:bodyPr>
          <a:lstStyle/>
          <a:p>
            <a:pPr marL="0" indent="0" algn="l">
              <a:lnSpc>
                <a:spcPct val="125000"/>
              </a:lnSpc>
              <a:buNone/>
            </a:pPr>
            <a:r>
              <a:rPr lang="en-US" sz="1300" kern="1200" dirty="0">
                <a:solidFill>
                  <a:srgbClr val="60A5FA"/>
                </a:solidFill>
                <a:latin typeface="Inter"/>
                <a:ea typeface="Inter"/>
                <a:cs typeface="Inter"/>
              </a:rPr>
              <a:t>12 min · Live facilitator demo</a:t>
            </a:r>
            <a:endParaRPr lang="en-US" sz="1300" dirty="0"/>
          </a:p>
        </p:txBody>
      </p:sp>
      <p:sp>
        <p:nvSpPr>
          <p:cNvPr id="11" name="Text 8"/>
          <p:cNvSpPr/>
          <p:nvPr/>
        </p:nvSpPr>
        <p:spPr>
          <a:xfrm>
            <a:off x="457200" y="7138988"/>
            <a:ext cx="2466760" cy="238125"/>
          </a:xfrm>
          <a:prstGeom prst="rect">
            <a:avLst/>
          </a:prstGeom>
          <a:noFill/>
          <a:ln/>
        </p:spPr>
        <p:txBody>
          <a:bodyPr wrap="square" lIns="25400" tIns="25400" rIns="25400" bIns="25400" rtlCol="0" anchor="t">
            <a:normAutofit/>
          </a:bodyPr>
          <a:lstStyle/>
          <a:p>
            <a:pPr marL="0" indent="0" algn="l">
              <a:lnSpc>
                <a:spcPct val="120000"/>
              </a:lnSpc>
              <a:buNone/>
            </a:pPr>
            <a:r>
              <a:rPr lang="en-US" sz="900" kern="1200" dirty="0">
                <a:solidFill>
                  <a:srgbClr val="64748B"/>
                </a:solidFill>
                <a:latin typeface="JetBrains Mono"/>
                <a:ea typeface="JetBrains Mono"/>
                <a:cs typeface="JetBrains Mono"/>
              </a:rPr>
              <a:t>AI Research Management • Lesson 2</a:t>
            </a:r>
            <a:endParaRPr lang="en-US" sz="900" dirty="0"/>
          </a:p>
        </p:txBody>
      </p:sp>
      <p:sp>
        <p:nvSpPr>
          <p:cNvPr id="12" name="Text 9"/>
          <p:cNvSpPr/>
          <p:nvPr/>
        </p:nvSpPr>
        <p:spPr>
          <a:xfrm>
            <a:off x="9991757" y="7162800"/>
            <a:ext cx="561975" cy="190500"/>
          </a:xfrm>
          <a:prstGeom prst="rect">
            <a:avLst/>
          </a:prstGeom>
          <a:noFill/>
          <a:ln/>
        </p:spPr>
        <p:txBody>
          <a:bodyPr wrap="square" lIns="0" tIns="0" rIns="0" bIns="0" rtlCol="0" anchor="t">
            <a:normAutofit/>
          </a:bodyPr>
          <a:lstStyle/>
          <a:p>
            <a:pPr marL="0" indent="0" algn="l">
              <a:lnSpc>
                <a:spcPct val="120000"/>
              </a:lnSpc>
              <a:buNone/>
            </a:pPr>
            <a:r>
              <a:rPr lang="en-US" sz="900" kern="1200" dirty="0">
                <a:solidFill>
                  <a:srgbClr val="64748B"/>
                </a:solidFill>
                <a:latin typeface="JetBrains Mono"/>
                <a:ea typeface="JetBrains Mono"/>
                <a:cs typeface="JetBrains Mono"/>
              </a:rPr>
              <a:t>Progress</a:t>
            </a:r>
            <a:endParaRPr lang="en-US" sz="900" dirty="0"/>
          </a:p>
        </p:txBody>
      </p:sp>
      <p:sp>
        <p:nvSpPr>
          <p:cNvPr id="13" name="Shape 10"/>
          <p:cNvSpPr/>
          <p:nvPr/>
        </p:nvSpPr>
        <p:spPr>
          <a:xfrm>
            <a:off x="10668032" y="7239033"/>
            <a:ext cx="2064808" cy="38034"/>
          </a:xfrm>
          <a:prstGeom prst="roundRect">
            <a:avLst>
              <a:gd name="adj" fmla="val 50000"/>
            </a:avLst>
          </a:prstGeom>
          <a:solidFill>
            <a:srgbClr val="FFFFFF">
              <a:alpha val="6000"/>
            </a:srgbClr>
          </a:solidFill>
          <a:ln/>
        </p:spPr>
      </p:sp>
      <p:sp>
        <p:nvSpPr>
          <p:cNvPr id="14" name="Shape 11"/>
          <p:cNvSpPr/>
          <p:nvPr/>
        </p:nvSpPr>
        <p:spPr>
          <a:xfrm>
            <a:off x="10668032" y="7239033"/>
            <a:ext cx="1226575" cy="38034"/>
          </a:xfrm>
          <a:prstGeom prst="roundRect">
            <a:avLst>
              <a:gd name="adj" fmla="val 50000"/>
            </a:avLst>
          </a:prstGeom>
          <a:solidFill>
            <a:srgbClr val="3B82F6"/>
          </a:solidFill>
          <a:ln/>
          <a:effectLst>
            <a:glow rad="190500">
              <a:srgbClr val="3B82F6">
                <a:alpha val="26000"/>
              </a:srgbClr>
            </a:glow>
          </a:effectLst>
        </p:spPr>
      </p:sp>
      <p:sp>
        <p:nvSpPr>
          <p:cNvPr id="15" name="Text 12"/>
          <p:cNvSpPr/>
          <p:nvPr/>
        </p:nvSpPr>
        <p:spPr>
          <a:xfrm>
            <a:off x="12877800" y="7138988"/>
            <a:ext cx="381000" cy="238125"/>
          </a:xfrm>
          <a:prstGeom prst="rect">
            <a:avLst/>
          </a:prstGeom>
          <a:noFill/>
          <a:ln/>
        </p:spPr>
        <p:txBody>
          <a:bodyPr wrap="square" lIns="25400" tIns="25400" rIns="25400" bIns="25400" rtlCol="0" anchor="t">
            <a:normAutofit/>
          </a:bodyPr>
          <a:lstStyle/>
          <a:p>
            <a:pPr marL="0" indent="0" algn="l">
              <a:lnSpc>
                <a:spcPct val="120000"/>
              </a:lnSpc>
              <a:buNone/>
            </a:pPr>
            <a:r>
              <a:rPr lang="en-US" sz="900" kern="1200" dirty="0">
                <a:solidFill>
                  <a:srgbClr val="94A3B8"/>
                </a:solidFill>
                <a:latin typeface="JetBrains Mono"/>
                <a:ea typeface="JetBrains Mono"/>
                <a:cs typeface="JetBrains Mono"/>
              </a:rPr>
              <a:t>60%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Shape 2"/>
          <p:cNvSpPr/>
          <p:nvPr/>
        </p:nvSpPr>
        <p:spPr>
          <a:xfrm>
            <a:off x="457200" y="457200"/>
            <a:ext cx="3400359" cy="304800"/>
          </a:xfrm>
          <a:prstGeom prst="roundRect">
            <a:avLst>
              <a:gd name="adj" fmla="val 50000"/>
            </a:avLst>
          </a:prstGeom>
          <a:solidFill>
            <a:srgbClr val="EF4444">
              <a:alpha val="14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542958"/>
            <a:ext cx="133284" cy="133284"/>
          </a:xfrm>
          <a:prstGeom prst="rect">
            <a:avLst/>
          </a:prstGeom>
        </p:spPr>
      </p:pic>
      <p:sp>
        <p:nvSpPr>
          <p:cNvPr id="6" name="Text 3"/>
          <p:cNvSpPr/>
          <p:nvPr/>
        </p:nvSpPr>
        <p:spPr>
          <a:xfrm>
            <a:off x="819084" y="514350"/>
            <a:ext cx="2886075" cy="190500"/>
          </a:xfrm>
          <a:prstGeom prst="rect">
            <a:avLst/>
          </a:prstGeom>
          <a:noFill/>
          <a:ln/>
        </p:spPr>
        <p:txBody>
          <a:bodyPr wrap="square" lIns="0" tIns="0" rIns="0" bIns="0" rtlCol="0" anchor="t">
            <a:normAutofit/>
          </a:bodyPr>
          <a:lstStyle/>
          <a:p>
            <a:pPr marL="0" indent="0" algn="l">
              <a:lnSpc>
                <a:spcPct val="120000"/>
              </a:lnSpc>
              <a:buNone/>
            </a:pPr>
            <a:r>
              <a:rPr lang="en-US" sz="900" b="1" kern="1200" spc="72" dirty="0">
                <a:solidFill>
                  <a:srgbClr val="F87171"/>
                </a:solidFill>
                <a:latin typeface="JetBrains Mono"/>
                <a:ea typeface="JetBrains Mono"/>
                <a:cs typeface="JetBrains Mono"/>
              </a:rPr>
              <a:t>SENSITIVE LANE · COPILOT CHAT (BASIC)</a:t>
            </a:r>
            <a:endParaRPr lang="en-US" sz="900" dirty="0"/>
          </a:p>
        </p:txBody>
      </p:sp>
      <p:sp>
        <p:nvSpPr>
          <p:cNvPr id="7" name="Text 4"/>
          <p:cNvSpPr/>
          <p:nvPr/>
        </p:nvSpPr>
        <p:spPr>
          <a:xfrm>
            <a:off x="457200" y="8763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Four scenarios in the Sensitive Lane</a:t>
            </a:r>
            <a:endParaRPr lang="en-US" sz="3200" dirty="0"/>
          </a:p>
        </p:txBody>
      </p:sp>
      <p:sp>
        <p:nvSpPr>
          <p:cNvPr id="8" name="Text 5"/>
          <p:cNvSpPr/>
          <p:nvPr/>
        </p:nvSpPr>
        <p:spPr>
          <a:xfrm>
            <a:off x="457200" y="1495425"/>
            <a:ext cx="128016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Same prompt shape as last week — ICC: Instruction · Context · Constraints (Lesson 1). The lane decides where a prompt goes, never how it is written.</a:t>
            </a:r>
            <a:endParaRPr lang="en-US" sz="1300" dirty="0"/>
          </a:p>
        </p:txBody>
      </p:sp>
      <p:sp>
        <p:nvSpPr>
          <p:cNvPr id="9" name="Shape 6"/>
          <p:cNvSpPr/>
          <p:nvPr/>
        </p:nvSpPr>
        <p:spPr>
          <a:xfrm>
            <a:off x="457200" y="2057400"/>
            <a:ext cx="6286500" cy="1876425"/>
          </a:xfrm>
          <a:prstGeom prst="roundRect">
            <a:avLst>
              <a:gd name="adj" fmla="val 4978"/>
            </a:avLst>
          </a:prstGeom>
          <a:gradFill rotWithShape="1">
            <a:gsLst>
              <a:gs pos="0">
                <a:srgbClr val="FFFFFF">
                  <a:alpha val="11000"/>
                </a:srgbClr>
              </a:gs>
              <a:gs pos="581">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0" name="Shape 7"/>
          <p:cNvSpPr/>
          <p:nvPr/>
        </p:nvSpPr>
        <p:spPr>
          <a:xfrm>
            <a:off x="457200" y="3924300"/>
            <a:ext cx="6286500" cy="9525"/>
          </a:xfrm>
          <a:prstGeom prst="rect">
            <a:avLst/>
          </a:prstGeom>
          <a:solidFill>
            <a:srgbClr val="FFFFFF">
              <a:alpha val="8000"/>
            </a:srgbClr>
          </a:solidFill>
          <a:ln/>
        </p:spPr>
      </p:sp>
      <p:sp>
        <p:nvSpPr>
          <p:cNvPr id="11" name="Shape 8"/>
          <p:cNvSpPr/>
          <p:nvPr/>
        </p:nvSpPr>
        <p:spPr>
          <a:xfrm>
            <a:off x="457200" y="2057400"/>
            <a:ext cx="6286500" cy="9525"/>
          </a:xfrm>
          <a:prstGeom prst="rect">
            <a:avLst/>
          </a:prstGeom>
          <a:solidFill>
            <a:srgbClr val="FFFFFF">
              <a:alpha val="8000"/>
            </a:srgbClr>
          </a:solidFill>
          <a:ln/>
        </p:spPr>
      </p:sp>
      <p:sp>
        <p:nvSpPr>
          <p:cNvPr id="12" name="Shape 9"/>
          <p:cNvSpPr/>
          <p:nvPr/>
        </p:nvSpPr>
        <p:spPr>
          <a:xfrm>
            <a:off x="457200" y="2152650"/>
            <a:ext cx="28575" cy="1685925"/>
          </a:xfrm>
          <a:prstGeom prst="rect">
            <a:avLst/>
          </a:prstGeom>
          <a:solidFill>
            <a:srgbClr val="EF4444"/>
          </a:solidFill>
          <a:ln/>
        </p:spPr>
      </p:sp>
      <p:sp>
        <p:nvSpPr>
          <p:cNvPr id="13" name="Shape 10"/>
          <p:cNvSpPr/>
          <p:nvPr/>
        </p:nvSpPr>
        <p:spPr>
          <a:xfrm>
            <a:off x="6734175" y="2152650"/>
            <a:ext cx="9525" cy="1685925"/>
          </a:xfrm>
          <a:prstGeom prst="rect">
            <a:avLst/>
          </a:prstGeom>
          <a:solidFill>
            <a:srgbClr val="FFFFFF">
              <a:alpha val="8000"/>
            </a:srgbClr>
          </a:solidFill>
          <a:ln/>
        </p:spPr>
      </p:sp>
      <p:sp>
        <p:nvSpPr>
          <p:cNvPr id="14" name="Shape 11"/>
          <p:cNvSpPr/>
          <p:nvPr/>
        </p:nvSpPr>
        <p:spPr>
          <a:xfrm>
            <a:off x="687884" y="2319338"/>
            <a:ext cx="381000" cy="381000"/>
          </a:xfrm>
          <a:prstGeom prst="roundRect">
            <a:avLst>
              <a:gd name="adj" fmla="val 25000"/>
            </a:avLst>
          </a:prstGeom>
          <a:solidFill>
            <a:srgbClr val="EF4444">
              <a:alpha val="14000"/>
            </a:srgbClr>
          </a:solidFill>
          <a:ln/>
        </p:spPr>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3134" y="2414588"/>
            <a:ext cx="190500" cy="190500"/>
          </a:xfrm>
          <a:prstGeom prst="rect">
            <a:avLst/>
          </a:prstGeom>
        </p:spPr>
      </p:pic>
      <p:sp>
        <p:nvSpPr>
          <p:cNvPr id="16" name="Text 12"/>
          <p:cNvSpPr/>
          <p:nvPr/>
        </p:nvSpPr>
        <p:spPr>
          <a:xfrm>
            <a:off x="1087901" y="2319338"/>
            <a:ext cx="5427199"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Internal administration</a:t>
            </a:r>
            <a:endParaRPr lang="en-US" sz="1600" dirty="0"/>
          </a:p>
        </p:txBody>
      </p:sp>
      <p:sp>
        <p:nvSpPr>
          <p:cNvPr id="17" name="Shape 13"/>
          <p:cNvSpPr/>
          <p:nvPr/>
        </p:nvSpPr>
        <p:spPr>
          <a:xfrm>
            <a:off x="687884" y="2812223"/>
            <a:ext cx="5835717" cy="485775"/>
          </a:xfrm>
          <a:custGeom>
            <a:avLst/>
            <a:gdLst/>
            <a:ahLst/>
            <a:cxnLst/>
            <a:rect l="l" t="t" r="r" b="b"/>
            <a:pathLst>
              <a:path w="5750058" h="416388">
                <a:moveTo>
                  <a:pt x="0" y="0"/>
                </a:moveTo>
                <a:lnTo>
                  <a:pt x="5692908" y="0"/>
                </a:lnTo>
                <a:arcTo wR="57150" hR="57150" stAng="16200000" swAng="5400000"/>
                <a:lnTo>
                  <a:pt x="5750058" y="359238"/>
                </a:lnTo>
                <a:arcTo wR="57150" hR="57150" stAng="0" swAng="5400000"/>
                <a:lnTo>
                  <a:pt x="0" y="416388"/>
                </a:lnTo>
                <a:lnTo>
                  <a:pt x="0" y="0"/>
                </a:lnTo>
                <a:close/>
              </a:path>
            </a:pathLst>
          </a:custGeom>
          <a:gradFill rotWithShape="1">
            <a:gsLst>
              <a:gs pos="0">
                <a:srgbClr val="FFFFFF">
                  <a:alpha val="11000"/>
                </a:srgbClr>
              </a:gs>
              <a:gs pos="3203">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8" name="Shape 14"/>
          <p:cNvSpPr/>
          <p:nvPr/>
        </p:nvSpPr>
        <p:spPr>
          <a:xfrm>
            <a:off x="687884" y="2907473"/>
            <a:ext cx="28575" cy="295275"/>
          </a:xfrm>
          <a:prstGeom prst="rect">
            <a:avLst/>
          </a:prstGeom>
          <a:solidFill>
            <a:srgbClr val="60A5FA"/>
          </a:solidFill>
          <a:ln/>
        </p:spPr>
      </p:sp>
      <p:sp>
        <p:nvSpPr>
          <p:cNvPr id="19" name="Text 15"/>
          <p:cNvSpPr/>
          <p:nvPr/>
        </p:nvSpPr>
        <p:spPr>
          <a:xfrm>
            <a:off x="842400" y="2916998"/>
            <a:ext cx="5509751"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“Turn these meeting notes into a decision log and action list”</a:t>
            </a:r>
            <a:endParaRPr lang="en-US" sz="1100" dirty="0"/>
          </a:p>
        </p:txBody>
      </p:sp>
      <p:sp>
        <p:nvSpPr>
          <p:cNvPr id="20" name="Text 16"/>
          <p:cNvSpPr/>
          <p:nvPr/>
        </p:nvSpPr>
        <p:spPr>
          <a:xfrm>
            <a:off x="687884" y="3393248"/>
            <a:ext cx="5884366"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Notes pasted in, names replaced by roles</a:t>
            </a:r>
            <a:endParaRPr lang="en-US" sz="1100" dirty="0"/>
          </a:p>
        </p:txBody>
      </p:sp>
      <p:sp>
        <p:nvSpPr>
          <p:cNvPr id="21" name="Shape 17"/>
          <p:cNvSpPr/>
          <p:nvPr/>
        </p:nvSpPr>
        <p:spPr>
          <a:xfrm>
            <a:off x="6972300" y="2057400"/>
            <a:ext cx="6286500" cy="1876425"/>
          </a:xfrm>
          <a:prstGeom prst="roundRect">
            <a:avLst>
              <a:gd name="adj" fmla="val 4978"/>
            </a:avLst>
          </a:prstGeom>
          <a:gradFill rotWithShape="1">
            <a:gsLst>
              <a:gs pos="0">
                <a:srgbClr val="FFFFFF">
                  <a:alpha val="11000"/>
                </a:srgbClr>
              </a:gs>
              <a:gs pos="581">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2" name="Shape 18"/>
          <p:cNvSpPr/>
          <p:nvPr/>
        </p:nvSpPr>
        <p:spPr>
          <a:xfrm>
            <a:off x="6972300" y="3924300"/>
            <a:ext cx="6286500" cy="9525"/>
          </a:xfrm>
          <a:prstGeom prst="rect">
            <a:avLst/>
          </a:prstGeom>
          <a:solidFill>
            <a:srgbClr val="FFFFFF">
              <a:alpha val="8000"/>
            </a:srgbClr>
          </a:solidFill>
          <a:ln/>
        </p:spPr>
      </p:sp>
      <p:sp>
        <p:nvSpPr>
          <p:cNvPr id="23" name="Shape 19"/>
          <p:cNvSpPr/>
          <p:nvPr/>
        </p:nvSpPr>
        <p:spPr>
          <a:xfrm>
            <a:off x="6972300" y="2057400"/>
            <a:ext cx="6286500" cy="9525"/>
          </a:xfrm>
          <a:prstGeom prst="rect">
            <a:avLst/>
          </a:prstGeom>
          <a:solidFill>
            <a:srgbClr val="FFFFFF">
              <a:alpha val="8000"/>
            </a:srgbClr>
          </a:solidFill>
          <a:ln/>
        </p:spPr>
      </p:sp>
      <p:sp>
        <p:nvSpPr>
          <p:cNvPr id="24" name="Shape 20"/>
          <p:cNvSpPr/>
          <p:nvPr/>
        </p:nvSpPr>
        <p:spPr>
          <a:xfrm>
            <a:off x="6972300" y="2152650"/>
            <a:ext cx="28575" cy="1685925"/>
          </a:xfrm>
          <a:prstGeom prst="rect">
            <a:avLst/>
          </a:prstGeom>
          <a:solidFill>
            <a:srgbClr val="EF4444"/>
          </a:solidFill>
          <a:ln/>
        </p:spPr>
      </p:sp>
      <p:sp>
        <p:nvSpPr>
          <p:cNvPr id="25" name="Shape 21"/>
          <p:cNvSpPr/>
          <p:nvPr/>
        </p:nvSpPr>
        <p:spPr>
          <a:xfrm>
            <a:off x="13249275" y="2152650"/>
            <a:ext cx="9525" cy="1685925"/>
          </a:xfrm>
          <a:prstGeom prst="rect">
            <a:avLst/>
          </a:prstGeom>
          <a:solidFill>
            <a:srgbClr val="FFFFFF">
              <a:alpha val="8000"/>
            </a:srgbClr>
          </a:solidFill>
          <a:ln/>
        </p:spPr>
      </p:sp>
      <p:sp>
        <p:nvSpPr>
          <p:cNvPr id="26" name="Shape 22"/>
          <p:cNvSpPr/>
          <p:nvPr/>
        </p:nvSpPr>
        <p:spPr>
          <a:xfrm>
            <a:off x="7202984" y="2209800"/>
            <a:ext cx="381000" cy="381000"/>
          </a:xfrm>
          <a:prstGeom prst="roundRect">
            <a:avLst>
              <a:gd name="adj" fmla="val 25000"/>
            </a:avLst>
          </a:prstGeom>
          <a:solidFill>
            <a:srgbClr val="EF4444">
              <a:alpha val="14000"/>
            </a:srgbClr>
          </a:solidFill>
          <a:ln/>
        </p:spPr>
      </p:sp>
      <p:pic>
        <p:nvPicPr>
          <p:cNvPr id="2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98234" y="2305050"/>
            <a:ext cx="190500" cy="190500"/>
          </a:xfrm>
          <a:prstGeom prst="rect">
            <a:avLst/>
          </a:prstGeom>
        </p:spPr>
      </p:pic>
      <p:sp>
        <p:nvSpPr>
          <p:cNvPr id="28" name="Text 23"/>
          <p:cNvSpPr/>
          <p:nvPr/>
        </p:nvSpPr>
        <p:spPr>
          <a:xfrm>
            <a:off x="7603001" y="2209800"/>
            <a:ext cx="5427199"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Unsubmitted proposals</a:t>
            </a:r>
            <a:endParaRPr lang="en-US" sz="1600" dirty="0"/>
          </a:p>
        </p:txBody>
      </p:sp>
      <p:sp>
        <p:nvSpPr>
          <p:cNvPr id="29" name="Shape 24"/>
          <p:cNvSpPr/>
          <p:nvPr/>
        </p:nvSpPr>
        <p:spPr>
          <a:xfrm>
            <a:off x="7202984" y="2702685"/>
            <a:ext cx="5835717" cy="704850"/>
          </a:xfrm>
          <a:custGeom>
            <a:avLst/>
            <a:gdLst/>
            <a:ahLst/>
            <a:cxnLst/>
            <a:rect l="l" t="t" r="r" b="b"/>
            <a:pathLst>
              <a:path w="5750058" h="623425">
                <a:moveTo>
                  <a:pt x="0" y="0"/>
                </a:moveTo>
                <a:lnTo>
                  <a:pt x="5692908" y="0"/>
                </a:lnTo>
                <a:arcTo wR="57150" hR="57150" stAng="16200000" swAng="5400000"/>
                <a:lnTo>
                  <a:pt x="5750058" y="566275"/>
                </a:lnTo>
                <a:arcTo wR="57150" hR="57150" stAng="0" swAng="5400000"/>
                <a:lnTo>
                  <a:pt x="0" y="623425"/>
                </a:lnTo>
                <a:lnTo>
                  <a:pt x="0" y="0"/>
                </a:lnTo>
                <a:close/>
              </a:path>
            </a:pathLst>
          </a:custGeom>
          <a:gradFill rotWithShape="1">
            <a:gsLst>
              <a:gs pos="0">
                <a:srgbClr val="FFFFFF">
                  <a:alpha val="11000"/>
                </a:srgbClr>
              </a:gs>
              <a:gs pos="2139">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0" name="Shape 25"/>
          <p:cNvSpPr/>
          <p:nvPr/>
        </p:nvSpPr>
        <p:spPr>
          <a:xfrm>
            <a:off x="7202984" y="2797935"/>
            <a:ext cx="28575" cy="514350"/>
          </a:xfrm>
          <a:prstGeom prst="rect">
            <a:avLst/>
          </a:prstGeom>
          <a:solidFill>
            <a:srgbClr val="60A5FA"/>
          </a:solidFill>
          <a:ln/>
        </p:spPr>
      </p:sp>
      <p:sp>
        <p:nvSpPr>
          <p:cNvPr id="31" name="Text 26"/>
          <p:cNvSpPr/>
          <p:nvPr/>
        </p:nvSpPr>
        <p:spPr>
          <a:xfrm>
            <a:off x="7357501" y="2807460"/>
            <a:ext cx="5509750"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“Check this draft work-package description against the call's evaluation criteria and list gaps”</a:t>
            </a:r>
            <a:endParaRPr lang="en-US" sz="1100" dirty="0"/>
          </a:p>
        </p:txBody>
      </p:sp>
      <p:sp>
        <p:nvSpPr>
          <p:cNvPr id="32" name="Text 27"/>
          <p:cNvSpPr/>
          <p:nvPr/>
        </p:nvSpPr>
        <p:spPr>
          <a:xfrm>
            <a:off x="7202984" y="3502784"/>
            <a:ext cx="5884366"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The call text and the draft, both pasted in</a:t>
            </a:r>
            <a:endParaRPr lang="en-US" sz="1100" dirty="0"/>
          </a:p>
        </p:txBody>
      </p:sp>
      <p:sp>
        <p:nvSpPr>
          <p:cNvPr id="33" name="Shape 28"/>
          <p:cNvSpPr/>
          <p:nvPr/>
        </p:nvSpPr>
        <p:spPr>
          <a:xfrm>
            <a:off x="457200" y="4076866"/>
            <a:ext cx="6286500" cy="1876425"/>
          </a:xfrm>
          <a:prstGeom prst="roundRect">
            <a:avLst>
              <a:gd name="adj" fmla="val 4978"/>
            </a:avLst>
          </a:prstGeom>
          <a:gradFill rotWithShape="1">
            <a:gsLst>
              <a:gs pos="0">
                <a:srgbClr val="FFFFFF">
                  <a:alpha val="11000"/>
                </a:srgbClr>
              </a:gs>
              <a:gs pos="581">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4" name="Shape 29"/>
          <p:cNvSpPr/>
          <p:nvPr/>
        </p:nvSpPr>
        <p:spPr>
          <a:xfrm>
            <a:off x="457200" y="5943766"/>
            <a:ext cx="6286500" cy="9525"/>
          </a:xfrm>
          <a:prstGeom prst="rect">
            <a:avLst/>
          </a:prstGeom>
          <a:solidFill>
            <a:srgbClr val="FFFFFF">
              <a:alpha val="8000"/>
            </a:srgbClr>
          </a:solidFill>
          <a:ln/>
        </p:spPr>
      </p:sp>
      <p:sp>
        <p:nvSpPr>
          <p:cNvPr id="35" name="Shape 30"/>
          <p:cNvSpPr/>
          <p:nvPr/>
        </p:nvSpPr>
        <p:spPr>
          <a:xfrm>
            <a:off x="457200" y="4076866"/>
            <a:ext cx="6286500" cy="9525"/>
          </a:xfrm>
          <a:prstGeom prst="rect">
            <a:avLst/>
          </a:prstGeom>
          <a:solidFill>
            <a:srgbClr val="FFFFFF">
              <a:alpha val="8000"/>
            </a:srgbClr>
          </a:solidFill>
          <a:ln/>
        </p:spPr>
      </p:sp>
      <p:sp>
        <p:nvSpPr>
          <p:cNvPr id="36" name="Shape 31"/>
          <p:cNvSpPr/>
          <p:nvPr/>
        </p:nvSpPr>
        <p:spPr>
          <a:xfrm>
            <a:off x="457200" y="4172116"/>
            <a:ext cx="28575" cy="1685925"/>
          </a:xfrm>
          <a:prstGeom prst="rect">
            <a:avLst/>
          </a:prstGeom>
          <a:solidFill>
            <a:srgbClr val="EF4444"/>
          </a:solidFill>
          <a:ln/>
        </p:spPr>
      </p:sp>
      <p:sp>
        <p:nvSpPr>
          <p:cNvPr id="37" name="Shape 32"/>
          <p:cNvSpPr/>
          <p:nvPr/>
        </p:nvSpPr>
        <p:spPr>
          <a:xfrm>
            <a:off x="6734175" y="4172116"/>
            <a:ext cx="9525" cy="1685925"/>
          </a:xfrm>
          <a:prstGeom prst="rect">
            <a:avLst/>
          </a:prstGeom>
          <a:solidFill>
            <a:srgbClr val="FFFFFF">
              <a:alpha val="8000"/>
            </a:srgbClr>
          </a:solidFill>
          <a:ln/>
        </p:spPr>
      </p:sp>
      <p:sp>
        <p:nvSpPr>
          <p:cNvPr id="38" name="Shape 33"/>
          <p:cNvSpPr/>
          <p:nvPr/>
        </p:nvSpPr>
        <p:spPr>
          <a:xfrm>
            <a:off x="687884" y="4229266"/>
            <a:ext cx="381000" cy="381000"/>
          </a:xfrm>
          <a:prstGeom prst="roundRect">
            <a:avLst>
              <a:gd name="adj" fmla="val 25000"/>
            </a:avLst>
          </a:prstGeom>
          <a:solidFill>
            <a:srgbClr val="EF4444">
              <a:alpha val="14000"/>
            </a:srgbClr>
          </a:solidFill>
          <a:ln/>
        </p:spPr>
      </p:sp>
      <p:pic>
        <p:nvPicPr>
          <p:cNvPr id="3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83134" y="4324516"/>
            <a:ext cx="190500" cy="190500"/>
          </a:xfrm>
          <a:prstGeom prst="rect">
            <a:avLst/>
          </a:prstGeom>
        </p:spPr>
      </p:pic>
      <p:sp>
        <p:nvSpPr>
          <p:cNvPr id="40" name="Text 34"/>
          <p:cNvSpPr/>
          <p:nvPr/>
        </p:nvSpPr>
        <p:spPr>
          <a:xfrm>
            <a:off x="1087901" y="4229266"/>
            <a:ext cx="5427199"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Personnel matters</a:t>
            </a:r>
            <a:endParaRPr lang="en-US" sz="1600" dirty="0"/>
          </a:p>
        </p:txBody>
      </p:sp>
      <p:sp>
        <p:nvSpPr>
          <p:cNvPr id="41" name="Shape 35"/>
          <p:cNvSpPr/>
          <p:nvPr/>
        </p:nvSpPr>
        <p:spPr>
          <a:xfrm>
            <a:off x="687884" y="4722152"/>
            <a:ext cx="5835717" cy="704850"/>
          </a:xfrm>
          <a:custGeom>
            <a:avLst/>
            <a:gdLst/>
            <a:ahLst/>
            <a:cxnLst/>
            <a:rect l="l" t="t" r="r" b="b"/>
            <a:pathLst>
              <a:path w="5750058" h="623425">
                <a:moveTo>
                  <a:pt x="0" y="0"/>
                </a:moveTo>
                <a:lnTo>
                  <a:pt x="5692908" y="0"/>
                </a:lnTo>
                <a:arcTo wR="57150" hR="57150" stAng="16200000" swAng="5400000"/>
                <a:lnTo>
                  <a:pt x="5750058" y="566275"/>
                </a:lnTo>
                <a:arcTo wR="57150" hR="57150" stAng="0" swAng="5400000"/>
                <a:lnTo>
                  <a:pt x="0" y="623425"/>
                </a:lnTo>
                <a:lnTo>
                  <a:pt x="0" y="0"/>
                </a:lnTo>
                <a:close/>
              </a:path>
            </a:pathLst>
          </a:custGeom>
          <a:gradFill rotWithShape="1">
            <a:gsLst>
              <a:gs pos="0">
                <a:srgbClr val="FFFFFF">
                  <a:alpha val="11000"/>
                </a:srgbClr>
              </a:gs>
              <a:gs pos="2139">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42" name="Shape 36"/>
          <p:cNvSpPr/>
          <p:nvPr/>
        </p:nvSpPr>
        <p:spPr>
          <a:xfrm>
            <a:off x="687884" y="4817402"/>
            <a:ext cx="28575" cy="514350"/>
          </a:xfrm>
          <a:prstGeom prst="rect">
            <a:avLst/>
          </a:prstGeom>
          <a:solidFill>
            <a:srgbClr val="60A5FA"/>
          </a:solidFill>
          <a:ln/>
        </p:spPr>
      </p:sp>
      <p:sp>
        <p:nvSpPr>
          <p:cNvPr id="43" name="Text 37"/>
          <p:cNvSpPr/>
          <p:nvPr/>
        </p:nvSpPr>
        <p:spPr>
          <a:xfrm>
            <a:off x="842400" y="4826927"/>
            <a:ext cx="5509751"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“Draft a neutral workload-distribution note for a three-person unit from these constraints”</a:t>
            </a:r>
            <a:endParaRPr lang="en-US" sz="1100" dirty="0"/>
          </a:p>
        </p:txBody>
      </p:sp>
      <p:sp>
        <p:nvSpPr>
          <p:cNvPr id="44" name="Text 38"/>
          <p:cNvSpPr/>
          <p:nvPr/>
        </p:nvSpPr>
        <p:spPr>
          <a:xfrm>
            <a:off x="687884" y="5522251"/>
            <a:ext cx="5884366"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Constraints as roles and hours — no names, no evaluations</a:t>
            </a:r>
            <a:endParaRPr lang="en-US" sz="1100" dirty="0"/>
          </a:p>
        </p:txBody>
      </p:sp>
      <p:sp>
        <p:nvSpPr>
          <p:cNvPr id="45" name="Shape 39"/>
          <p:cNvSpPr/>
          <p:nvPr/>
        </p:nvSpPr>
        <p:spPr>
          <a:xfrm>
            <a:off x="6972300" y="4076866"/>
            <a:ext cx="6286500" cy="1876425"/>
          </a:xfrm>
          <a:prstGeom prst="roundRect">
            <a:avLst>
              <a:gd name="adj" fmla="val 4978"/>
            </a:avLst>
          </a:prstGeom>
          <a:gradFill rotWithShape="1">
            <a:gsLst>
              <a:gs pos="0">
                <a:srgbClr val="FFFFFF">
                  <a:alpha val="11000"/>
                </a:srgbClr>
              </a:gs>
              <a:gs pos="581">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46" name="Shape 40"/>
          <p:cNvSpPr/>
          <p:nvPr/>
        </p:nvSpPr>
        <p:spPr>
          <a:xfrm>
            <a:off x="6972300" y="5943766"/>
            <a:ext cx="6286500" cy="9525"/>
          </a:xfrm>
          <a:prstGeom prst="rect">
            <a:avLst/>
          </a:prstGeom>
          <a:solidFill>
            <a:srgbClr val="FFFFFF">
              <a:alpha val="8000"/>
            </a:srgbClr>
          </a:solidFill>
          <a:ln/>
        </p:spPr>
      </p:sp>
      <p:sp>
        <p:nvSpPr>
          <p:cNvPr id="47" name="Shape 41"/>
          <p:cNvSpPr/>
          <p:nvPr/>
        </p:nvSpPr>
        <p:spPr>
          <a:xfrm>
            <a:off x="6972300" y="4076866"/>
            <a:ext cx="6286500" cy="9525"/>
          </a:xfrm>
          <a:prstGeom prst="rect">
            <a:avLst/>
          </a:prstGeom>
          <a:solidFill>
            <a:srgbClr val="FFFFFF">
              <a:alpha val="8000"/>
            </a:srgbClr>
          </a:solidFill>
          <a:ln/>
        </p:spPr>
      </p:sp>
      <p:sp>
        <p:nvSpPr>
          <p:cNvPr id="48" name="Shape 42"/>
          <p:cNvSpPr/>
          <p:nvPr/>
        </p:nvSpPr>
        <p:spPr>
          <a:xfrm>
            <a:off x="6972300" y="4172116"/>
            <a:ext cx="28575" cy="1685925"/>
          </a:xfrm>
          <a:prstGeom prst="rect">
            <a:avLst/>
          </a:prstGeom>
          <a:solidFill>
            <a:srgbClr val="EF4444"/>
          </a:solidFill>
          <a:ln/>
        </p:spPr>
      </p:sp>
      <p:sp>
        <p:nvSpPr>
          <p:cNvPr id="49" name="Shape 43"/>
          <p:cNvSpPr/>
          <p:nvPr/>
        </p:nvSpPr>
        <p:spPr>
          <a:xfrm>
            <a:off x="13249275" y="4172116"/>
            <a:ext cx="9525" cy="1685925"/>
          </a:xfrm>
          <a:prstGeom prst="rect">
            <a:avLst/>
          </a:prstGeom>
          <a:solidFill>
            <a:srgbClr val="FFFFFF">
              <a:alpha val="8000"/>
            </a:srgbClr>
          </a:solidFill>
          <a:ln/>
        </p:spPr>
      </p:sp>
      <p:sp>
        <p:nvSpPr>
          <p:cNvPr id="50" name="Shape 44"/>
          <p:cNvSpPr/>
          <p:nvPr/>
        </p:nvSpPr>
        <p:spPr>
          <a:xfrm>
            <a:off x="7202984" y="4338803"/>
            <a:ext cx="381000" cy="381000"/>
          </a:xfrm>
          <a:prstGeom prst="roundRect">
            <a:avLst>
              <a:gd name="adj" fmla="val 25000"/>
            </a:avLst>
          </a:prstGeom>
          <a:solidFill>
            <a:srgbClr val="EF4444">
              <a:alpha val="14000"/>
            </a:srgbClr>
          </a:solidFill>
          <a:ln/>
        </p:spPr>
      </p:sp>
      <p:pic>
        <p:nvPicPr>
          <p:cNvPr id="5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98234" y="4434053"/>
            <a:ext cx="190500" cy="190500"/>
          </a:xfrm>
          <a:prstGeom prst="rect">
            <a:avLst/>
          </a:prstGeom>
        </p:spPr>
      </p:pic>
      <p:sp>
        <p:nvSpPr>
          <p:cNvPr id="52" name="Text 45"/>
          <p:cNvSpPr/>
          <p:nvPr/>
        </p:nvSpPr>
        <p:spPr>
          <a:xfrm>
            <a:off x="7603001" y="4338803"/>
            <a:ext cx="5427199"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Strategic financial planning</a:t>
            </a:r>
            <a:endParaRPr lang="en-US" sz="1600" dirty="0"/>
          </a:p>
        </p:txBody>
      </p:sp>
      <p:sp>
        <p:nvSpPr>
          <p:cNvPr id="53" name="Shape 46"/>
          <p:cNvSpPr/>
          <p:nvPr/>
        </p:nvSpPr>
        <p:spPr>
          <a:xfrm>
            <a:off x="7202984" y="4831689"/>
            <a:ext cx="5835717" cy="485775"/>
          </a:xfrm>
          <a:custGeom>
            <a:avLst/>
            <a:gdLst/>
            <a:ahLst/>
            <a:cxnLst/>
            <a:rect l="l" t="t" r="r" b="b"/>
            <a:pathLst>
              <a:path w="5750058" h="416388">
                <a:moveTo>
                  <a:pt x="0" y="0"/>
                </a:moveTo>
                <a:lnTo>
                  <a:pt x="5692908" y="0"/>
                </a:lnTo>
                <a:arcTo wR="57150" hR="57150" stAng="16200000" swAng="5400000"/>
                <a:lnTo>
                  <a:pt x="5750058" y="359238"/>
                </a:lnTo>
                <a:arcTo wR="57150" hR="57150" stAng="0" swAng="5400000"/>
                <a:lnTo>
                  <a:pt x="0" y="416388"/>
                </a:lnTo>
                <a:lnTo>
                  <a:pt x="0" y="0"/>
                </a:lnTo>
                <a:close/>
              </a:path>
            </a:pathLst>
          </a:custGeom>
          <a:gradFill rotWithShape="1">
            <a:gsLst>
              <a:gs pos="0">
                <a:srgbClr val="FFFFFF">
                  <a:alpha val="11000"/>
                </a:srgbClr>
              </a:gs>
              <a:gs pos="3203">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54" name="Shape 47"/>
          <p:cNvSpPr/>
          <p:nvPr/>
        </p:nvSpPr>
        <p:spPr>
          <a:xfrm>
            <a:off x="7202984" y="4926939"/>
            <a:ext cx="28575" cy="295275"/>
          </a:xfrm>
          <a:prstGeom prst="rect">
            <a:avLst/>
          </a:prstGeom>
          <a:solidFill>
            <a:srgbClr val="60A5FA"/>
          </a:solidFill>
          <a:ln/>
        </p:spPr>
      </p:sp>
      <p:sp>
        <p:nvSpPr>
          <p:cNvPr id="55" name="Text 48"/>
          <p:cNvSpPr/>
          <p:nvPr/>
        </p:nvSpPr>
        <p:spPr>
          <a:xfrm>
            <a:off x="7357501" y="4936464"/>
            <a:ext cx="550975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“Build a three-scenario cost projection table from these assumptions”</a:t>
            </a:r>
            <a:endParaRPr lang="en-US" sz="1100" dirty="0"/>
          </a:p>
        </p:txBody>
      </p:sp>
      <p:sp>
        <p:nvSpPr>
          <p:cNvPr id="56" name="Text 49"/>
          <p:cNvSpPr/>
          <p:nvPr/>
        </p:nvSpPr>
        <p:spPr>
          <a:xfrm>
            <a:off x="7202984" y="5412713"/>
            <a:ext cx="5884366"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Assumptions in; the figures never leave the institutional tenant</a:t>
            </a:r>
            <a:endParaRPr lang="en-US" sz="1100" dirty="0"/>
          </a:p>
        </p:txBody>
      </p:sp>
      <p:sp>
        <p:nvSpPr>
          <p:cNvPr id="57" name="Shape 50"/>
          <p:cNvSpPr/>
          <p:nvPr/>
        </p:nvSpPr>
        <p:spPr>
          <a:xfrm>
            <a:off x="457200" y="6124609"/>
            <a:ext cx="12801600" cy="628650"/>
          </a:xfrm>
          <a:prstGeom prst="roundRect">
            <a:avLst>
              <a:gd name="adj" fmla="val 18123"/>
            </a:avLst>
          </a:prstGeom>
          <a:gradFill rotWithShape="1">
            <a:gsLst>
              <a:gs pos="0">
                <a:srgbClr val="3B82F6"/>
              </a:gs>
              <a:gs pos="227">
                <a:srgbClr val="3B82F6"/>
              </a:gs>
              <a:gs pos="228">
                <a:srgbClr val="FFFFFF">
                  <a:alpha val="5000"/>
                </a:srgbClr>
              </a:gs>
              <a:gs pos="100000">
                <a:srgbClr val="FFFFFF">
                  <a:alpha val="2500"/>
                </a:srgbClr>
              </a:gs>
            </a:gsLst>
            <a:lin ang="0" scaled="0"/>
          </a:gradFill>
          <a:ln w="9525">
            <a:solidFill>
              <a:srgbClr val="FFFFFF">
                <a:alpha val="12000"/>
              </a:srgbClr>
            </a:solidFill>
            <a:prstDash val="solid"/>
          </a:ln>
          <a:effectLst>
            <a:glow rad="190500">
              <a:srgbClr val="3B82F6">
                <a:alpha val="26000"/>
              </a:srgbClr>
            </a:glow>
          </a:effectLst>
        </p:spPr>
      </p:sp>
      <p:sp>
        <p:nvSpPr>
          <p:cNvPr id="58" name="Shape 51"/>
          <p:cNvSpPr/>
          <p:nvPr/>
        </p:nvSpPr>
        <p:spPr>
          <a:xfrm>
            <a:off x="677300" y="6248434"/>
            <a:ext cx="381000" cy="381000"/>
          </a:xfrm>
          <a:prstGeom prst="roundRect">
            <a:avLst>
              <a:gd name="adj" fmla="val 25000"/>
            </a:avLst>
          </a:prstGeom>
          <a:solidFill>
            <a:srgbClr val="3B82F6">
              <a:alpha val="14000"/>
            </a:srgbClr>
          </a:solidFill>
          <a:ln/>
        </p:spPr>
      </p:sp>
      <p:pic>
        <p:nvPicPr>
          <p:cNvPr id="5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72550" y="6343684"/>
            <a:ext cx="190500" cy="190500"/>
          </a:xfrm>
          <a:prstGeom prst="rect">
            <a:avLst/>
          </a:prstGeom>
        </p:spPr>
      </p:pic>
      <p:sp>
        <p:nvSpPr>
          <p:cNvPr id="60" name="Text 52"/>
          <p:cNvSpPr/>
          <p:nvPr/>
        </p:nvSpPr>
        <p:spPr>
          <a:xfrm>
            <a:off x="1153385" y="6248434"/>
            <a:ext cx="11885315"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 DEMO — Scenario 1 in Copilot Chat — anonymised meeting notes in, decision log and action list out</a:t>
            </a:r>
            <a:endParaRPr lang="en-US" sz="1300" dirty="0"/>
          </a:p>
        </p:txBody>
      </p:sp>
      <p:sp>
        <p:nvSpPr>
          <p:cNvPr id="61" name="Text 53"/>
          <p:cNvSpPr/>
          <p:nvPr/>
        </p:nvSpPr>
        <p:spPr>
          <a:xfrm>
            <a:off x="457200" y="6867525"/>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You reproduce the other three in the assignment and at Practice Week 1 — watch the shape of the prompt, not the wording</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Shape 2"/>
          <p:cNvSpPr/>
          <p:nvPr/>
        </p:nvSpPr>
        <p:spPr>
          <a:xfrm>
            <a:off x="457200" y="457200"/>
            <a:ext cx="3400359" cy="304800"/>
          </a:xfrm>
          <a:prstGeom prst="roundRect">
            <a:avLst>
              <a:gd name="adj" fmla="val 50000"/>
            </a:avLst>
          </a:prstGeom>
          <a:solidFill>
            <a:srgbClr val="EF4444">
              <a:alpha val="14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542958"/>
            <a:ext cx="133284" cy="133284"/>
          </a:xfrm>
          <a:prstGeom prst="rect">
            <a:avLst/>
          </a:prstGeom>
        </p:spPr>
      </p:pic>
      <p:sp>
        <p:nvSpPr>
          <p:cNvPr id="6" name="Text 3"/>
          <p:cNvSpPr/>
          <p:nvPr/>
        </p:nvSpPr>
        <p:spPr>
          <a:xfrm>
            <a:off x="819084" y="514350"/>
            <a:ext cx="2886075" cy="190500"/>
          </a:xfrm>
          <a:prstGeom prst="rect">
            <a:avLst/>
          </a:prstGeom>
          <a:noFill/>
          <a:ln/>
        </p:spPr>
        <p:txBody>
          <a:bodyPr wrap="square" lIns="0" tIns="0" rIns="0" bIns="0" rtlCol="0" anchor="t">
            <a:normAutofit/>
          </a:bodyPr>
          <a:lstStyle/>
          <a:p>
            <a:pPr marL="0" indent="0" algn="l">
              <a:lnSpc>
                <a:spcPct val="120000"/>
              </a:lnSpc>
              <a:buNone/>
            </a:pPr>
            <a:r>
              <a:rPr lang="en-US" sz="900" b="1" kern="1200" spc="72" dirty="0">
                <a:solidFill>
                  <a:srgbClr val="F87171"/>
                </a:solidFill>
                <a:latin typeface="JetBrains Mono"/>
                <a:ea typeface="JetBrains Mono"/>
                <a:cs typeface="JetBrains Mono"/>
              </a:rPr>
              <a:t>SENSITIVE LANE · COPILOT CHAT (BASIC)</a:t>
            </a:r>
            <a:endParaRPr lang="en-US" sz="900" dirty="0"/>
          </a:p>
        </p:txBody>
      </p:sp>
      <p:sp>
        <p:nvSpPr>
          <p:cNvPr id="7" name="Text 4"/>
          <p:cNvSpPr/>
          <p:nvPr/>
        </p:nvSpPr>
        <p:spPr>
          <a:xfrm>
            <a:off x="457200" y="8763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Limits and guardrails</a:t>
            </a:r>
            <a:endParaRPr lang="en-US" sz="3200" dirty="0"/>
          </a:p>
        </p:txBody>
      </p:sp>
      <p:sp>
        <p:nvSpPr>
          <p:cNvPr id="8" name="Text 5"/>
          <p:cNvSpPr/>
          <p:nvPr/>
        </p:nvSpPr>
        <p:spPr>
          <a:xfrm>
            <a:off x="457200" y="1495425"/>
            <a:ext cx="128016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What the institutional account buys you, and what it does not</a:t>
            </a:r>
            <a:endParaRPr lang="en-US" sz="1300" dirty="0"/>
          </a:p>
        </p:txBody>
      </p:sp>
      <p:sp>
        <p:nvSpPr>
          <p:cNvPr id="9" name="Shape 6"/>
          <p:cNvSpPr/>
          <p:nvPr/>
        </p:nvSpPr>
        <p:spPr>
          <a:xfrm>
            <a:off x="457200" y="2216994"/>
            <a:ext cx="6286500" cy="1819275"/>
          </a:xfrm>
          <a:prstGeom prst="roundRect">
            <a:avLst>
              <a:gd name="adj" fmla="val 4602"/>
            </a:avLst>
          </a:prstGeom>
          <a:gradFill rotWithShape="1">
            <a:gsLst>
              <a:gs pos="0">
                <a:srgbClr val="FFFFFF">
                  <a:alpha val="11000"/>
                </a:srgbClr>
              </a:gs>
              <a:gs pos="537">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0" name="Shape 7"/>
          <p:cNvSpPr/>
          <p:nvPr/>
        </p:nvSpPr>
        <p:spPr>
          <a:xfrm>
            <a:off x="685800" y="2445594"/>
            <a:ext cx="381000" cy="381000"/>
          </a:xfrm>
          <a:prstGeom prst="roundRect">
            <a:avLst>
              <a:gd name="adj" fmla="val 25000"/>
            </a:avLst>
          </a:prstGeom>
          <a:solidFill>
            <a:srgbClr val="10B981">
              <a:alpha val="14000"/>
            </a:srgbClr>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1050" y="2540844"/>
            <a:ext cx="190500" cy="190500"/>
          </a:xfrm>
          <a:prstGeom prst="rect">
            <a:avLst/>
          </a:prstGeom>
        </p:spPr>
      </p:pic>
      <p:sp>
        <p:nvSpPr>
          <p:cNvPr id="12" name="Text 8"/>
          <p:cNvSpPr/>
          <p:nvPr/>
        </p:nvSpPr>
        <p:spPr>
          <a:xfrm>
            <a:off x="1200150" y="2445594"/>
            <a:ext cx="530443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34D399"/>
                </a:solidFill>
                <a:latin typeface="Inter"/>
                <a:ea typeface="Inter"/>
                <a:cs typeface="Inter"/>
              </a:rPr>
              <a:t>Enterprise behaviour</a:t>
            </a:r>
            <a:endParaRPr lang="en-US" sz="1600" dirty="0"/>
          </a:p>
        </p:txBody>
      </p:sp>
      <p:sp>
        <p:nvSpPr>
          <p:cNvPr id="13" name="Text 9"/>
          <p:cNvSpPr/>
          <p:nvPr/>
        </p:nvSpPr>
        <p:spPr>
          <a:xfrm>
            <a:off x="685800" y="2977836"/>
            <a:ext cx="5875933" cy="82867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Prompts and answers stay inside the institutional Microsoft 365 tenant, are not used to train the models, and are covered by the same terms as the institution's other tenant data. This is what makes it the Sensitive Lane.</a:t>
            </a:r>
            <a:endParaRPr lang="en-US" sz="1300" dirty="0"/>
          </a:p>
        </p:txBody>
      </p:sp>
      <p:sp>
        <p:nvSpPr>
          <p:cNvPr id="14" name="Shape 10"/>
          <p:cNvSpPr/>
          <p:nvPr/>
        </p:nvSpPr>
        <p:spPr>
          <a:xfrm>
            <a:off x="6972300" y="2216994"/>
            <a:ext cx="6286500" cy="1819275"/>
          </a:xfrm>
          <a:prstGeom prst="roundRect">
            <a:avLst>
              <a:gd name="adj" fmla="val 4602"/>
            </a:avLst>
          </a:prstGeom>
          <a:gradFill rotWithShape="1">
            <a:gsLst>
              <a:gs pos="0">
                <a:srgbClr val="FFFFFF">
                  <a:alpha val="11000"/>
                </a:srgbClr>
              </a:gs>
              <a:gs pos="537">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5" name="Shape 11"/>
          <p:cNvSpPr/>
          <p:nvPr/>
        </p:nvSpPr>
        <p:spPr>
          <a:xfrm>
            <a:off x="7200900" y="2445594"/>
            <a:ext cx="381000" cy="381000"/>
          </a:xfrm>
          <a:prstGeom prst="roundRect">
            <a:avLst>
              <a:gd name="adj" fmla="val 25000"/>
            </a:avLst>
          </a:prstGeom>
          <a:solidFill>
            <a:srgbClr val="EF4444">
              <a:alpha val="14000"/>
            </a:srgbClr>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96150" y="2540844"/>
            <a:ext cx="190500" cy="190500"/>
          </a:xfrm>
          <a:prstGeom prst="rect">
            <a:avLst/>
          </a:prstGeom>
        </p:spPr>
      </p:pic>
      <p:sp>
        <p:nvSpPr>
          <p:cNvPr id="17" name="Text 12"/>
          <p:cNvSpPr/>
          <p:nvPr/>
        </p:nvSpPr>
        <p:spPr>
          <a:xfrm>
            <a:off x="7715250" y="2445594"/>
            <a:ext cx="5304432"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87171"/>
                </a:solidFill>
                <a:latin typeface="Inter"/>
                <a:ea typeface="Inter"/>
                <a:cs typeface="Inter"/>
              </a:rPr>
              <a:t>No SharePoint or OneDrive grounding</a:t>
            </a:r>
            <a:endParaRPr lang="en-US" sz="1600" dirty="0"/>
          </a:p>
        </p:txBody>
      </p:sp>
      <p:sp>
        <p:nvSpPr>
          <p:cNvPr id="18" name="Text 13"/>
          <p:cNvSpPr/>
          <p:nvPr/>
        </p:nvSpPr>
        <p:spPr>
          <a:xfrm>
            <a:off x="7200900" y="2977836"/>
            <a:ext cx="5875932" cy="82867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It does not read the institution's files by itself. What it knows about a task is what you paste or attach — the relevant content has to be brought to it, and curated on the way in (context window, Lesson 1).</a:t>
            </a:r>
            <a:endParaRPr lang="en-US" sz="1300" dirty="0"/>
          </a:p>
        </p:txBody>
      </p:sp>
      <p:sp>
        <p:nvSpPr>
          <p:cNvPr id="19" name="Shape 14"/>
          <p:cNvSpPr/>
          <p:nvPr/>
        </p:nvSpPr>
        <p:spPr>
          <a:xfrm>
            <a:off x="457200" y="4431456"/>
            <a:ext cx="6286500" cy="1819275"/>
          </a:xfrm>
          <a:prstGeom prst="roundRect">
            <a:avLst>
              <a:gd name="adj" fmla="val 4602"/>
            </a:avLst>
          </a:prstGeom>
          <a:gradFill rotWithShape="1">
            <a:gsLst>
              <a:gs pos="0">
                <a:srgbClr val="FFFFFF">
                  <a:alpha val="11000"/>
                </a:srgbClr>
              </a:gs>
              <a:gs pos="537">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0" name="Shape 15"/>
          <p:cNvSpPr/>
          <p:nvPr/>
        </p:nvSpPr>
        <p:spPr>
          <a:xfrm>
            <a:off x="685800" y="4660056"/>
            <a:ext cx="381000" cy="381000"/>
          </a:xfrm>
          <a:prstGeom prst="roundRect">
            <a:avLst>
              <a:gd name="adj" fmla="val 25000"/>
            </a:avLst>
          </a:prstGeom>
          <a:solidFill>
            <a:srgbClr val="8B5CF6">
              <a:alpha val="14000"/>
            </a:srgbClr>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81050" y="4755306"/>
            <a:ext cx="190500" cy="190500"/>
          </a:xfrm>
          <a:prstGeom prst="rect">
            <a:avLst/>
          </a:prstGeom>
        </p:spPr>
      </p:pic>
      <p:sp>
        <p:nvSpPr>
          <p:cNvPr id="22" name="Text 16"/>
          <p:cNvSpPr/>
          <p:nvPr/>
        </p:nvSpPr>
        <p:spPr>
          <a:xfrm>
            <a:off x="1200150" y="4660056"/>
            <a:ext cx="530443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A78BFA"/>
                </a:solidFill>
                <a:latin typeface="Inter"/>
                <a:ea typeface="Inter"/>
                <a:cs typeface="Inter"/>
              </a:rPr>
              <a:t>Weaker on general work</a:t>
            </a:r>
            <a:endParaRPr lang="en-US" sz="1600" dirty="0"/>
          </a:p>
        </p:txBody>
      </p:sp>
      <p:sp>
        <p:nvSpPr>
          <p:cNvPr id="23" name="Text 17"/>
          <p:cNvSpPr/>
          <p:nvPr/>
        </p:nvSpPr>
        <p:spPr>
          <a:xfrm>
            <a:off x="685800" y="5192298"/>
            <a:ext cx="5875933" cy="82867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Shorter effective context and fewer capabilities than a free-tier tool. Sending ordinary drafting or research work here costs you quality and buys you nothing.</a:t>
            </a:r>
            <a:endParaRPr lang="en-US" sz="1300" dirty="0"/>
          </a:p>
        </p:txBody>
      </p:sp>
      <p:sp>
        <p:nvSpPr>
          <p:cNvPr id="24" name="Shape 18"/>
          <p:cNvSpPr/>
          <p:nvPr/>
        </p:nvSpPr>
        <p:spPr>
          <a:xfrm>
            <a:off x="6972300" y="4431456"/>
            <a:ext cx="6286500" cy="1819275"/>
          </a:xfrm>
          <a:prstGeom prst="roundRect">
            <a:avLst>
              <a:gd name="adj" fmla="val 4602"/>
            </a:avLst>
          </a:prstGeom>
          <a:gradFill rotWithShape="1">
            <a:gsLst>
              <a:gs pos="0">
                <a:srgbClr val="FFFFFF">
                  <a:alpha val="11000"/>
                </a:srgbClr>
              </a:gs>
              <a:gs pos="537">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5" name="Shape 19"/>
          <p:cNvSpPr/>
          <p:nvPr/>
        </p:nvSpPr>
        <p:spPr>
          <a:xfrm>
            <a:off x="7200900" y="4660056"/>
            <a:ext cx="381000" cy="381000"/>
          </a:xfrm>
          <a:prstGeom prst="roundRect">
            <a:avLst>
              <a:gd name="adj" fmla="val 25000"/>
            </a:avLst>
          </a:prstGeom>
          <a:solidFill>
            <a:srgbClr val="3B82F6">
              <a:alpha val="14000"/>
            </a:srgbClr>
          </a:solidFill>
          <a:ln/>
        </p:spPr>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96150" y="4755306"/>
            <a:ext cx="190500" cy="190500"/>
          </a:xfrm>
          <a:prstGeom prst="rect">
            <a:avLst/>
          </a:prstGeom>
        </p:spPr>
      </p:pic>
      <p:sp>
        <p:nvSpPr>
          <p:cNvPr id="27" name="Text 20"/>
          <p:cNvSpPr/>
          <p:nvPr/>
        </p:nvSpPr>
        <p:spPr>
          <a:xfrm>
            <a:off x="7715250" y="4660056"/>
            <a:ext cx="5304432"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60A5FA"/>
                </a:solidFill>
                <a:latin typeface="Inter"/>
                <a:ea typeface="Inter"/>
                <a:cs typeface="Inter"/>
              </a:rPr>
              <a:t>Anonymise anyway</a:t>
            </a:r>
            <a:endParaRPr lang="en-US" sz="1600" dirty="0"/>
          </a:p>
        </p:txBody>
      </p:sp>
      <p:sp>
        <p:nvSpPr>
          <p:cNvPr id="28" name="Text 21"/>
          <p:cNvSpPr/>
          <p:nvPr/>
        </p:nvSpPr>
        <p:spPr>
          <a:xfrm>
            <a:off x="7200900" y="5192298"/>
            <a:ext cx="5875932" cy="82867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The tenant boundary does not lift the anonymise-before-upload rule. A document carrying personal or sensitive information is anonymised before it is attached here too.</a:t>
            </a:r>
            <a:endParaRPr lang="en-US" sz="1300" dirty="0"/>
          </a:p>
        </p:txBody>
      </p:sp>
      <p:sp>
        <p:nvSpPr>
          <p:cNvPr id="29" name="Shape 22"/>
          <p:cNvSpPr/>
          <p:nvPr/>
        </p:nvSpPr>
        <p:spPr>
          <a:xfrm>
            <a:off x="457200" y="6991350"/>
            <a:ext cx="12801600" cy="9525"/>
          </a:xfrm>
          <a:prstGeom prst="rect">
            <a:avLst/>
          </a:prstGeom>
          <a:solidFill>
            <a:srgbClr val="FFFFFF">
              <a:alpha val="7000"/>
            </a:srgbClr>
          </a:solidFill>
          <a:ln/>
        </p:spPr>
      </p:sp>
      <p:sp>
        <p:nvSpPr>
          <p:cNvPr id="30" name="Text 23"/>
          <p:cNvSpPr/>
          <p:nvPr/>
        </p:nvSpPr>
        <p:spPr>
          <a:xfrm>
            <a:off x="457200" y="6669831"/>
            <a:ext cx="2619375"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Reserve it for the sensitive work</a:t>
            </a:r>
            <a:endParaRPr lang="en-US" sz="1300" dirty="0"/>
          </a:p>
        </p:txBody>
      </p:sp>
      <p:sp>
        <p:nvSpPr>
          <p:cNvPr id="31" name="Text 24"/>
          <p:cNvSpPr/>
          <p:nvPr/>
        </p:nvSpPr>
        <p:spPr>
          <a:xfrm>
            <a:off x="3190875" y="6669831"/>
            <a:ext cx="7267575"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The boundary is the whole reason this lane exists — and the reason everything else belongs somewhere else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Shape 2"/>
          <p:cNvSpPr/>
          <p:nvPr/>
        </p:nvSpPr>
        <p:spPr>
          <a:xfrm>
            <a:off x="457200" y="457200"/>
            <a:ext cx="3400359" cy="304800"/>
          </a:xfrm>
          <a:prstGeom prst="roundRect">
            <a:avLst>
              <a:gd name="adj" fmla="val 50000"/>
            </a:avLst>
          </a:prstGeom>
          <a:solidFill>
            <a:srgbClr val="EF4444">
              <a:alpha val="14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542958"/>
            <a:ext cx="133284" cy="133284"/>
          </a:xfrm>
          <a:prstGeom prst="rect">
            <a:avLst/>
          </a:prstGeom>
        </p:spPr>
      </p:pic>
      <p:sp>
        <p:nvSpPr>
          <p:cNvPr id="6" name="Text 3"/>
          <p:cNvSpPr/>
          <p:nvPr/>
        </p:nvSpPr>
        <p:spPr>
          <a:xfrm>
            <a:off x="819084" y="514350"/>
            <a:ext cx="2886075" cy="190500"/>
          </a:xfrm>
          <a:prstGeom prst="rect">
            <a:avLst/>
          </a:prstGeom>
          <a:noFill/>
          <a:ln/>
        </p:spPr>
        <p:txBody>
          <a:bodyPr wrap="square" lIns="0" tIns="0" rIns="0" bIns="0" rtlCol="0" anchor="t">
            <a:normAutofit/>
          </a:bodyPr>
          <a:lstStyle/>
          <a:p>
            <a:pPr marL="0" indent="0" algn="l">
              <a:lnSpc>
                <a:spcPct val="120000"/>
              </a:lnSpc>
              <a:buNone/>
            </a:pPr>
            <a:r>
              <a:rPr lang="en-US" sz="900" b="1" kern="1200" spc="72" dirty="0">
                <a:solidFill>
                  <a:srgbClr val="F87171"/>
                </a:solidFill>
                <a:latin typeface="JetBrains Mono"/>
                <a:ea typeface="JetBrains Mono"/>
                <a:cs typeface="JetBrains Mono"/>
              </a:rPr>
              <a:t>SENSITIVE LANE · COPILOT CHAT (BASIC)</a:t>
            </a:r>
            <a:endParaRPr lang="en-US" sz="900" dirty="0"/>
          </a:p>
        </p:txBody>
      </p:sp>
      <p:sp>
        <p:nvSpPr>
          <p:cNvPr id="7" name="Text 4"/>
          <p:cNvSpPr/>
          <p:nvPr/>
        </p:nvSpPr>
        <p:spPr>
          <a:xfrm>
            <a:off x="457200" y="8763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Adobe Acrobat in Teams and Copilot</a:t>
            </a:r>
            <a:endParaRPr lang="en-US" sz="3200" dirty="0"/>
          </a:p>
        </p:txBody>
      </p:sp>
      <p:sp>
        <p:nvSpPr>
          <p:cNvPr id="8" name="Text 5"/>
          <p:cNvSpPr/>
          <p:nvPr/>
        </p:nvSpPr>
        <p:spPr>
          <a:xfrm>
            <a:off x="457200" y="1495425"/>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A call document lands as a PDF in a Teams channel: read it in high fidelity, and collect the unit's comments in that one file instead of reconciling four separate attachments</a:t>
            </a:r>
            <a:endParaRPr lang="en-US" sz="1100" dirty="0"/>
          </a:p>
        </p:txBody>
      </p:sp>
      <p:sp>
        <p:nvSpPr>
          <p:cNvPr id="9" name="Shape 6"/>
          <p:cNvSpPr/>
          <p:nvPr/>
        </p:nvSpPr>
        <p:spPr>
          <a:xfrm>
            <a:off x="457200" y="2181242"/>
            <a:ext cx="6286500" cy="3371850"/>
          </a:xfrm>
          <a:prstGeom prst="roundRect">
            <a:avLst>
              <a:gd name="adj" fmla="val 2294"/>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0" name="Shape 7"/>
          <p:cNvSpPr/>
          <p:nvPr/>
        </p:nvSpPr>
        <p:spPr>
          <a:xfrm>
            <a:off x="457200" y="5543567"/>
            <a:ext cx="6286500" cy="9525"/>
          </a:xfrm>
          <a:prstGeom prst="rect">
            <a:avLst/>
          </a:prstGeom>
          <a:solidFill>
            <a:srgbClr val="FFFFFF">
              <a:alpha val="8000"/>
            </a:srgbClr>
          </a:solidFill>
          <a:ln/>
        </p:spPr>
      </p:sp>
      <p:sp>
        <p:nvSpPr>
          <p:cNvPr id="11" name="Shape 8"/>
          <p:cNvSpPr/>
          <p:nvPr/>
        </p:nvSpPr>
        <p:spPr>
          <a:xfrm>
            <a:off x="457200" y="2181242"/>
            <a:ext cx="6286500" cy="9525"/>
          </a:xfrm>
          <a:prstGeom prst="rect">
            <a:avLst/>
          </a:prstGeom>
          <a:solidFill>
            <a:srgbClr val="FFFFFF">
              <a:alpha val="8000"/>
            </a:srgbClr>
          </a:solidFill>
          <a:ln/>
        </p:spPr>
      </p:sp>
      <p:sp>
        <p:nvSpPr>
          <p:cNvPr id="12" name="Shape 9"/>
          <p:cNvSpPr/>
          <p:nvPr/>
        </p:nvSpPr>
        <p:spPr>
          <a:xfrm>
            <a:off x="457200" y="2276492"/>
            <a:ext cx="28575" cy="3181350"/>
          </a:xfrm>
          <a:prstGeom prst="rect">
            <a:avLst/>
          </a:prstGeom>
          <a:solidFill>
            <a:srgbClr val="10B981"/>
          </a:solidFill>
          <a:ln/>
        </p:spPr>
      </p:sp>
      <p:sp>
        <p:nvSpPr>
          <p:cNvPr id="13" name="Shape 10"/>
          <p:cNvSpPr/>
          <p:nvPr/>
        </p:nvSpPr>
        <p:spPr>
          <a:xfrm>
            <a:off x="6734175" y="2276492"/>
            <a:ext cx="9525" cy="3181350"/>
          </a:xfrm>
          <a:prstGeom prst="rect">
            <a:avLst/>
          </a:prstGeom>
          <a:solidFill>
            <a:srgbClr val="FFFFFF">
              <a:alpha val="8000"/>
            </a:srgbClr>
          </a:solidFill>
          <a:ln/>
        </p:spPr>
      </p:sp>
      <p:sp>
        <p:nvSpPr>
          <p:cNvPr id="14" name="Shape 11"/>
          <p:cNvSpPr/>
          <p:nvPr/>
        </p:nvSpPr>
        <p:spPr>
          <a:xfrm>
            <a:off x="687883" y="2362217"/>
            <a:ext cx="381000" cy="381000"/>
          </a:xfrm>
          <a:prstGeom prst="roundRect">
            <a:avLst>
              <a:gd name="adj" fmla="val 25000"/>
            </a:avLst>
          </a:prstGeom>
          <a:solidFill>
            <a:srgbClr val="10B981">
              <a:alpha val="14000"/>
            </a:srgbClr>
          </a:solidFill>
          <a:ln/>
        </p:spPr>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3133" y="2457467"/>
            <a:ext cx="190500" cy="190500"/>
          </a:xfrm>
          <a:prstGeom prst="rect">
            <a:avLst/>
          </a:prstGeom>
        </p:spPr>
      </p:pic>
      <p:sp>
        <p:nvSpPr>
          <p:cNvPr id="16" name="Text 12"/>
          <p:cNvSpPr/>
          <p:nvPr/>
        </p:nvSpPr>
        <p:spPr>
          <a:xfrm>
            <a:off x="1106917" y="2362217"/>
            <a:ext cx="540818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34D399"/>
                </a:solidFill>
                <a:latin typeface="Inter"/>
                <a:ea typeface="Inter"/>
                <a:cs typeface="Inter"/>
              </a:rPr>
              <a:t>Free to use</a:t>
            </a:r>
            <a:endParaRPr lang="en-US" sz="1600" dirty="0"/>
          </a:p>
        </p:txBody>
      </p:sp>
      <p:sp>
        <p:nvSpPr>
          <p:cNvPr id="17" name="Text 13"/>
          <p:cNvSpPr/>
          <p:nvPr/>
        </p:nvSpPr>
        <p:spPr>
          <a:xfrm>
            <a:off x="687883" y="2877758"/>
            <a:ext cx="5884367"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High-quality viewing — high-fidelity PDFs opened inside Teams, Outlook and Microsoft 365</a:t>
            </a:r>
            <a:endParaRPr lang="en-US" sz="1100" dirty="0"/>
          </a:p>
        </p:txBody>
      </p:sp>
      <p:sp>
        <p:nvSpPr>
          <p:cNvPr id="18" name="Text 14"/>
          <p:cNvSpPr/>
          <p:nvPr/>
        </p:nvSpPr>
        <p:spPr>
          <a:xfrm>
            <a:off x="687883" y="3430208"/>
            <a:ext cx="5884367"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Central access to PDFs — channel and chat files, OneDrive and your own machine, in one place</a:t>
            </a:r>
            <a:endParaRPr lang="en-US" sz="1100" dirty="0"/>
          </a:p>
        </p:txBody>
      </p:sp>
      <p:sp>
        <p:nvSpPr>
          <p:cNvPr id="19" name="Text 15"/>
          <p:cNvSpPr/>
          <p:nvPr/>
        </p:nvSpPr>
        <p:spPr>
          <a:xfrm>
            <a:off x="687883" y="3982659"/>
            <a:ext cx="5884367"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Streamline PDF review — the unit's feedback collected in a single PDF inside Teams (not on mobile)</a:t>
            </a:r>
            <a:endParaRPr lang="en-US" sz="1100" dirty="0"/>
          </a:p>
        </p:txBody>
      </p:sp>
      <p:sp>
        <p:nvSpPr>
          <p:cNvPr id="20" name="Text 16"/>
          <p:cNvSpPr/>
          <p:nvPr/>
        </p:nvSpPr>
        <p:spPr>
          <a:xfrm>
            <a:off x="687883" y="4535109"/>
            <a:ext cx="5884367"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Keep reviewers informed — a reviewer is notified when someone replies to their comment</a:t>
            </a:r>
            <a:endParaRPr lang="en-US" sz="1100" dirty="0"/>
          </a:p>
        </p:txBody>
      </p:sp>
      <p:sp>
        <p:nvSpPr>
          <p:cNvPr id="21" name="Text 17"/>
          <p:cNvSpPr/>
          <p:nvPr/>
        </p:nvSpPr>
        <p:spPr>
          <a:xfrm>
            <a:off x="687883" y="5087559"/>
            <a:ext cx="5884367"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Collaborate with confidence — versions retained in SharePoint or OneDrive</a:t>
            </a:r>
            <a:endParaRPr lang="en-US" sz="1100" dirty="0"/>
          </a:p>
        </p:txBody>
      </p:sp>
      <p:sp>
        <p:nvSpPr>
          <p:cNvPr id="22" name="Shape 18"/>
          <p:cNvSpPr/>
          <p:nvPr/>
        </p:nvSpPr>
        <p:spPr>
          <a:xfrm>
            <a:off x="6972300" y="2181242"/>
            <a:ext cx="6286500" cy="1419225"/>
          </a:xfrm>
          <a:prstGeom prst="roundRect">
            <a:avLst>
              <a:gd name="adj" fmla="val 4733"/>
            </a:avLst>
          </a:prstGeom>
          <a:gradFill rotWithShape="1">
            <a:gsLst>
              <a:gs pos="0">
                <a:srgbClr val="FFFFFF">
                  <a:alpha val="11000"/>
                </a:srgbClr>
              </a:gs>
              <a:gs pos="552">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3" name="Shape 19"/>
          <p:cNvSpPr/>
          <p:nvPr/>
        </p:nvSpPr>
        <p:spPr>
          <a:xfrm>
            <a:off x="6972300" y="3590942"/>
            <a:ext cx="6286500" cy="9525"/>
          </a:xfrm>
          <a:prstGeom prst="rect">
            <a:avLst/>
          </a:prstGeom>
          <a:solidFill>
            <a:srgbClr val="FFFFFF">
              <a:alpha val="8000"/>
            </a:srgbClr>
          </a:solidFill>
          <a:ln/>
        </p:spPr>
      </p:sp>
      <p:sp>
        <p:nvSpPr>
          <p:cNvPr id="24" name="Shape 20"/>
          <p:cNvSpPr/>
          <p:nvPr/>
        </p:nvSpPr>
        <p:spPr>
          <a:xfrm>
            <a:off x="6972300" y="2181242"/>
            <a:ext cx="6286500" cy="9525"/>
          </a:xfrm>
          <a:prstGeom prst="rect">
            <a:avLst/>
          </a:prstGeom>
          <a:solidFill>
            <a:srgbClr val="FFFFFF">
              <a:alpha val="8000"/>
            </a:srgbClr>
          </a:solidFill>
          <a:ln/>
        </p:spPr>
      </p:sp>
      <p:sp>
        <p:nvSpPr>
          <p:cNvPr id="25" name="Shape 21"/>
          <p:cNvSpPr/>
          <p:nvPr/>
        </p:nvSpPr>
        <p:spPr>
          <a:xfrm>
            <a:off x="6972300" y="2276492"/>
            <a:ext cx="28575" cy="1228725"/>
          </a:xfrm>
          <a:prstGeom prst="rect">
            <a:avLst/>
          </a:prstGeom>
          <a:solidFill>
            <a:srgbClr val="64748B"/>
          </a:solidFill>
          <a:ln/>
        </p:spPr>
      </p:sp>
      <p:sp>
        <p:nvSpPr>
          <p:cNvPr id="26" name="Shape 22"/>
          <p:cNvSpPr/>
          <p:nvPr/>
        </p:nvSpPr>
        <p:spPr>
          <a:xfrm>
            <a:off x="13249275" y="2276492"/>
            <a:ext cx="9525" cy="1228725"/>
          </a:xfrm>
          <a:prstGeom prst="rect">
            <a:avLst/>
          </a:prstGeom>
          <a:solidFill>
            <a:srgbClr val="FFFFFF">
              <a:alpha val="8000"/>
            </a:srgbClr>
          </a:solidFill>
          <a:ln/>
        </p:spPr>
      </p:sp>
      <p:sp>
        <p:nvSpPr>
          <p:cNvPr id="27" name="Text 23"/>
          <p:cNvSpPr/>
          <p:nvPr/>
        </p:nvSpPr>
        <p:spPr>
          <a:xfrm>
            <a:off x="7183966" y="2362217"/>
            <a:ext cx="5903384"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94A3B8"/>
                </a:solidFill>
                <a:latin typeface="Inter"/>
                <a:ea typeface="Inter"/>
                <a:cs typeface="Inter"/>
              </a:rPr>
              <a:t>Not available — Premium (needs an Acrobat subscription)</a:t>
            </a:r>
            <a:endParaRPr lang="en-US" sz="1300" dirty="0"/>
          </a:p>
        </p:txBody>
      </p:sp>
      <p:sp>
        <p:nvSpPr>
          <p:cNvPr id="28" name="Text 24"/>
          <p:cNvSpPr/>
          <p:nvPr/>
        </p:nvSpPr>
        <p:spPr>
          <a:xfrm>
            <a:off x="7183966" y="2714509"/>
            <a:ext cx="5903384" cy="70485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Convert PDFs to Word, Excel and PowerPoint, or to an image · combine multiple documents into one PDF · delete, rotate, extract, insert or reorder pages · reduce the size of a PDF · add a password</a:t>
            </a:r>
            <a:endParaRPr lang="en-US" sz="1100" dirty="0"/>
          </a:p>
        </p:txBody>
      </p:sp>
      <p:sp>
        <p:nvSpPr>
          <p:cNvPr id="29" name="Shape 25"/>
          <p:cNvSpPr/>
          <p:nvPr/>
        </p:nvSpPr>
        <p:spPr>
          <a:xfrm>
            <a:off x="6972300" y="4019567"/>
            <a:ext cx="6286500" cy="1533525"/>
          </a:xfrm>
          <a:prstGeom prst="roundRect">
            <a:avLst>
              <a:gd name="adj" fmla="val 4733"/>
            </a:avLst>
          </a:prstGeom>
          <a:gradFill rotWithShape="1">
            <a:gsLst>
              <a:gs pos="0">
                <a:srgbClr val="FFFFFF">
                  <a:alpha val="11000"/>
                </a:srgbClr>
              </a:gs>
              <a:gs pos="552">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0" name="Shape 26"/>
          <p:cNvSpPr/>
          <p:nvPr/>
        </p:nvSpPr>
        <p:spPr>
          <a:xfrm>
            <a:off x="6972300" y="5543567"/>
            <a:ext cx="6286500" cy="9525"/>
          </a:xfrm>
          <a:prstGeom prst="rect">
            <a:avLst/>
          </a:prstGeom>
          <a:solidFill>
            <a:srgbClr val="FFFFFF">
              <a:alpha val="8000"/>
            </a:srgbClr>
          </a:solidFill>
          <a:ln/>
        </p:spPr>
      </p:sp>
      <p:sp>
        <p:nvSpPr>
          <p:cNvPr id="31" name="Shape 27"/>
          <p:cNvSpPr/>
          <p:nvPr/>
        </p:nvSpPr>
        <p:spPr>
          <a:xfrm>
            <a:off x="6972300" y="4019567"/>
            <a:ext cx="6286500" cy="9525"/>
          </a:xfrm>
          <a:prstGeom prst="rect">
            <a:avLst/>
          </a:prstGeom>
          <a:solidFill>
            <a:srgbClr val="FFFFFF">
              <a:alpha val="8000"/>
            </a:srgbClr>
          </a:solidFill>
          <a:ln/>
        </p:spPr>
      </p:sp>
      <p:sp>
        <p:nvSpPr>
          <p:cNvPr id="32" name="Shape 28"/>
          <p:cNvSpPr/>
          <p:nvPr/>
        </p:nvSpPr>
        <p:spPr>
          <a:xfrm>
            <a:off x="6972300" y="4114817"/>
            <a:ext cx="28575" cy="1343025"/>
          </a:xfrm>
          <a:prstGeom prst="rect">
            <a:avLst/>
          </a:prstGeom>
          <a:solidFill>
            <a:srgbClr val="64748B"/>
          </a:solidFill>
          <a:ln/>
        </p:spPr>
      </p:sp>
      <p:sp>
        <p:nvSpPr>
          <p:cNvPr id="33" name="Shape 29"/>
          <p:cNvSpPr/>
          <p:nvPr/>
        </p:nvSpPr>
        <p:spPr>
          <a:xfrm>
            <a:off x="13249275" y="4114817"/>
            <a:ext cx="9525" cy="1343025"/>
          </a:xfrm>
          <a:prstGeom prst="rect">
            <a:avLst/>
          </a:prstGeom>
          <a:solidFill>
            <a:srgbClr val="FFFFFF">
              <a:alpha val="8000"/>
            </a:srgbClr>
          </a:solidFill>
          <a:ln/>
        </p:spPr>
      </p:sp>
      <p:sp>
        <p:nvSpPr>
          <p:cNvPr id="34" name="Text 30"/>
          <p:cNvSpPr/>
          <p:nvPr/>
        </p:nvSpPr>
        <p:spPr>
          <a:xfrm>
            <a:off x="7183966" y="4305317"/>
            <a:ext cx="5903384"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94A3B8"/>
                </a:solidFill>
                <a:latin typeface="Inter"/>
                <a:ea typeface="Inter"/>
                <a:cs typeface="Inter"/>
              </a:rPr>
              <a:t>Not available — AI Assistant (needs the add-on)</a:t>
            </a:r>
            <a:endParaRPr lang="en-US" sz="1300" dirty="0"/>
          </a:p>
        </p:txBody>
      </p:sp>
      <p:sp>
        <p:nvSpPr>
          <p:cNvPr id="35" name="Text 31"/>
          <p:cNvSpPr/>
          <p:nvPr/>
        </p:nvSpPr>
        <p:spPr>
          <a:xfrm>
            <a:off x="7183966" y="4657609"/>
            <a:ext cx="5903384"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Answers about a document with attributions back to the source · drafting from your own documents · meeting transcript summaries</a:t>
            </a:r>
            <a:endParaRPr lang="en-US" sz="1100" dirty="0"/>
          </a:p>
        </p:txBody>
      </p:sp>
      <p:sp>
        <p:nvSpPr>
          <p:cNvPr id="36" name="Shape 32"/>
          <p:cNvSpPr/>
          <p:nvPr/>
        </p:nvSpPr>
        <p:spPr>
          <a:xfrm>
            <a:off x="457200" y="5972192"/>
            <a:ext cx="12801600" cy="619125"/>
          </a:xfrm>
          <a:prstGeom prst="roundRect">
            <a:avLst>
              <a:gd name="adj" fmla="val 22239"/>
            </a:avLst>
          </a:prstGeom>
          <a:gradFill rotWithShape="1">
            <a:gsLst>
              <a:gs pos="0">
                <a:srgbClr val="3B82F6"/>
              </a:gs>
              <a:gs pos="226">
                <a:srgbClr val="3B82F6"/>
              </a:gs>
              <a:gs pos="227">
                <a:srgbClr val="FFFFFF">
                  <a:alpha val="5000"/>
                </a:srgbClr>
              </a:gs>
              <a:gs pos="100000">
                <a:srgbClr val="FFFFFF">
                  <a:alpha val="2500"/>
                </a:srgbClr>
              </a:gs>
            </a:gsLst>
            <a:lin ang="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7" name="Text 33"/>
          <p:cNvSpPr/>
          <p:nvPr/>
        </p:nvSpPr>
        <p:spPr>
          <a:xfrm>
            <a:off x="677300" y="6124592"/>
            <a:ext cx="1066800" cy="314325"/>
          </a:xfrm>
          <a:prstGeom prst="rect">
            <a:avLst/>
          </a:prstGeom>
          <a:noFill/>
          <a:ln/>
        </p:spPr>
        <p:txBody>
          <a:bodyPr wrap="square" lIns="25400" tIns="25400" rIns="25400" bIns="25400" rtlCol="0" anchor="t">
            <a:normAutofit fontScale="92500"/>
          </a:bodyPr>
          <a:lstStyle/>
          <a:p>
            <a:pPr marL="0" indent="0" algn="l">
              <a:lnSpc>
                <a:spcPct val="125000"/>
              </a:lnSpc>
              <a:buNone/>
            </a:pPr>
            <a:r>
              <a:rPr lang="en-US" sz="1300" b="1" kern="1200" dirty="0">
                <a:solidFill>
                  <a:srgbClr val="FFFFFF"/>
                </a:solidFill>
                <a:latin typeface="Inter"/>
                <a:ea typeface="Inter"/>
                <a:cs typeface="Inter"/>
              </a:rPr>
              <a:t>What you do</a:t>
            </a:r>
            <a:endParaRPr lang="en-US" sz="1300" dirty="0"/>
          </a:p>
        </p:txBody>
      </p:sp>
      <p:sp>
        <p:nvSpPr>
          <p:cNvPr id="38" name="Text 34"/>
          <p:cNvSpPr/>
          <p:nvPr/>
        </p:nvSpPr>
        <p:spPr>
          <a:xfrm>
            <a:off x="1858400" y="6124592"/>
            <a:ext cx="111803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Open the PDF from the channel → Comment → share the review back to the channel, so every reply lands on the same file</a:t>
            </a:r>
            <a:endParaRPr lang="en-US" sz="1100" dirty="0"/>
          </a:p>
        </p:txBody>
      </p:sp>
      <p:sp>
        <p:nvSpPr>
          <p:cNvPr id="39" name="Text 35"/>
          <p:cNvSpPr/>
          <p:nvPr/>
        </p:nvSpPr>
        <p:spPr>
          <a:xfrm>
            <a:off x="457200" y="6705584"/>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Plan the workflow around the free features — the paid tiers are not part of the institutional licence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Shape 2"/>
          <p:cNvSpPr/>
          <p:nvPr/>
        </p:nvSpPr>
        <p:spPr>
          <a:xfrm>
            <a:off x="457200" y="457200"/>
            <a:ext cx="3400359" cy="304800"/>
          </a:xfrm>
          <a:prstGeom prst="roundRect">
            <a:avLst>
              <a:gd name="adj" fmla="val 50000"/>
            </a:avLst>
          </a:prstGeom>
          <a:solidFill>
            <a:srgbClr val="EF4444">
              <a:alpha val="14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542958"/>
            <a:ext cx="133284" cy="133284"/>
          </a:xfrm>
          <a:prstGeom prst="rect">
            <a:avLst/>
          </a:prstGeom>
        </p:spPr>
      </p:pic>
      <p:sp>
        <p:nvSpPr>
          <p:cNvPr id="6" name="Text 3"/>
          <p:cNvSpPr/>
          <p:nvPr/>
        </p:nvSpPr>
        <p:spPr>
          <a:xfrm>
            <a:off x="819084" y="514350"/>
            <a:ext cx="2886075" cy="190500"/>
          </a:xfrm>
          <a:prstGeom prst="rect">
            <a:avLst/>
          </a:prstGeom>
          <a:noFill/>
          <a:ln/>
        </p:spPr>
        <p:txBody>
          <a:bodyPr wrap="square" lIns="0" tIns="0" rIns="0" bIns="0" rtlCol="0" anchor="t">
            <a:normAutofit/>
          </a:bodyPr>
          <a:lstStyle/>
          <a:p>
            <a:pPr marL="0" indent="0" algn="l">
              <a:lnSpc>
                <a:spcPct val="120000"/>
              </a:lnSpc>
              <a:buNone/>
            </a:pPr>
            <a:r>
              <a:rPr lang="en-US" sz="900" b="1" kern="1200" spc="72" dirty="0">
                <a:solidFill>
                  <a:srgbClr val="F87171"/>
                </a:solidFill>
                <a:latin typeface="JetBrains Mono"/>
                <a:ea typeface="JetBrains Mono"/>
                <a:cs typeface="JetBrains Mono"/>
              </a:rPr>
              <a:t>SENSITIVE LANE · COPILOT CHAT (BASIC)</a:t>
            </a:r>
            <a:endParaRPr lang="en-US" sz="900" dirty="0"/>
          </a:p>
        </p:txBody>
      </p:sp>
      <p:sp>
        <p:nvSpPr>
          <p:cNvPr id="7" name="Text 4"/>
          <p:cNvSpPr/>
          <p:nvPr/>
        </p:nvSpPr>
        <p:spPr>
          <a:xfrm>
            <a:off x="457200" y="8763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Prompt Coach — your own prompt, critiqued</a:t>
            </a:r>
            <a:endParaRPr lang="en-US" sz="3200" dirty="0"/>
          </a:p>
        </p:txBody>
      </p:sp>
      <p:sp>
        <p:nvSpPr>
          <p:cNvPr id="8" name="Text 5"/>
          <p:cNvSpPr/>
          <p:nvPr/>
        </p:nvSpPr>
        <p:spPr>
          <a:xfrm>
            <a:off x="457200" y="1495425"/>
            <a:ext cx="128016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Take one of the three ICC prompts from your Lesson 1 assignment, paste it in, and ask for a critique and a rewrite</a:t>
            </a:r>
            <a:endParaRPr lang="en-US" sz="1300" dirty="0"/>
          </a:p>
        </p:txBody>
      </p:sp>
      <p:sp>
        <p:nvSpPr>
          <p:cNvPr id="9" name="Shape 6"/>
          <p:cNvSpPr/>
          <p:nvPr/>
        </p:nvSpPr>
        <p:spPr>
          <a:xfrm>
            <a:off x="457200" y="2609867"/>
            <a:ext cx="4114800" cy="2543175"/>
          </a:xfrm>
          <a:prstGeom prst="roundRect">
            <a:avLst>
              <a:gd name="adj" fmla="val 2650"/>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0" name="Shape 7"/>
          <p:cNvSpPr/>
          <p:nvPr/>
        </p:nvSpPr>
        <p:spPr>
          <a:xfrm>
            <a:off x="685800" y="2819417"/>
            <a:ext cx="381000" cy="381000"/>
          </a:xfrm>
          <a:prstGeom prst="roundRect">
            <a:avLst>
              <a:gd name="adj" fmla="val 25000"/>
            </a:avLst>
          </a:prstGeom>
          <a:solidFill>
            <a:srgbClr val="3B82F6">
              <a:alpha val="14000"/>
            </a:srgbClr>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1050" y="2914667"/>
            <a:ext cx="190500" cy="190500"/>
          </a:xfrm>
          <a:prstGeom prst="rect">
            <a:avLst/>
          </a:prstGeom>
        </p:spPr>
      </p:pic>
      <p:sp>
        <p:nvSpPr>
          <p:cNvPr id="12" name="Text 8"/>
          <p:cNvSpPr/>
          <p:nvPr/>
        </p:nvSpPr>
        <p:spPr>
          <a:xfrm>
            <a:off x="1123851" y="2819417"/>
            <a:ext cx="3209032"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What you type</a:t>
            </a:r>
            <a:endParaRPr lang="en-US" sz="1600" dirty="0"/>
          </a:p>
        </p:txBody>
      </p:sp>
      <p:sp>
        <p:nvSpPr>
          <p:cNvPr id="13" name="Shape 9"/>
          <p:cNvSpPr/>
          <p:nvPr/>
        </p:nvSpPr>
        <p:spPr>
          <a:xfrm>
            <a:off x="685800" y="3363566"/>
            <a:ext cx="3636566" cy="1352550"/>
          </a:xfrm>
          <a:custGeom>
            <a:avLst/>
            <a:gdLst/>
            <a:ahLst/>
            <a:cxnLst/>
            <a:rect l="l" t="t" r="r" b="b"/>
            <a:pathLst>
              <a:path w="3834309" h="975486">
                <a:moveTo>
                  <a:pt x="0" y="0"/>
                </a:moveTo>
                <a:lnTo>
                  <a:pt x="3777159" y="0"/>
                </a:lnTo>
                <a:arcTo wR="57150" hR="57150" stAng="16200000" swAng="5400000"/>
                <a:lnTo>
                  <a:pt x="3834309" y="918336"/>
                </a:lnTo>
                <a:arcTo wR="57150" hR="57150" stAng="0" swAng="5400000"/>
                <a:lnTo>
                  <a:pt x="0" y="975486"/>
                </a:lnTo>
                <a:lnTo>
                  <a:pt x="0" y="0"/>
                </a:lnTo>
                <a:close/>
              </a:path>
            </a:pathLst>
          </a:custGeom>
          <a:gradFill rotWithShape="1">
            <a:gsLst>
              <a:gs pos="0">
                <a:srgbClr val="FFFFFF">
                  <a:alpha val="11000"/>
                </a:srgbClr>
              </a:gs>
              <a:gs pos="1367">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4" name="Shape 10"/>
          <p:cNvSpPr/>
          <p:nvPr/>
        </p:nvSpPr>
        <p:spPr>
          <a:xfrm>
            <a:off x="685800" y="3458816"/>
            <a:ext cx="28575" cy="1162050"/>
          </a:xfrm>
          <a:prstGeom prst="rect">
            <a:avLst/>
          </a:prstGeom>
          <a:solidFill>
            <a:srgbClr val="60A5FA"/>
          </a:solidFill>
          <a:ln/>
        </p:spPr>
      </p:sp>
      <p:sp>
        <p:nvSpPr>
          <p:cNvPr id="15" name="Text 11"/>
          <p:cNvSpPr/>
          <p:nvPr/>
        </p:nvSpPr>
        <p:spPr>
          <a:xfrm>
            <a:off x="859367" y="3496916"/>
            <a:ext cx="3291549" cy="1462914"/>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“Here is a prompt I wrote and the goal it was meant to serve. Critique it against that goal, then give me an improved version and explain each change.”</a:t>
            </a:r>
            <a:endParaRPr lang="en-US" sz="1300" dirty="0"/>
          </a:p>
        </p:txBody>
      </p:sp>
      <p:sp>
        <p:nvSpPr>
          <p:cNvPr id="16" name="Shape 12"/>
          <p:cNvSpPr/>
          <p:nvPr/>
        </p:nvSpPr>
        <p:spPr>
          <a:xfrm>
            <a:off x="4800600" y="2609867"/>
            <a:ext cx="4114800" cy="2543175"/>
          </a:xfrm>
          <a:prstGeom prst="roundRect">
            <a:avLst>
              <a:gd name="adj" fmla="val 2915"/>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7" name="Shape 13"/>
          <p:cNvSpPr/>
          <p:nvPr/>
        </p:nvSpPr>
        <p:spPr>
          <a:xfrm>
            <a:off x="5029200" y="2819417"/>
            <a:ext cx="381000" cy="381000"/>
          </a:xfrm>
          <a:prstGeom prst="roundRect">
            <a:avLst>
              <a:gd name="adj" fmla="val 25000"/>
            </a:avLst>
          </a:prstGeom>
          <a:solidFill>
            <a:srgbClr val="10B981">
              <a:alpha val="14000"/>
            </a:srgbClr>
          </a:solidFill>
          <a:ln/>
        </p:spPr>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24450" y="2914667"/>
            <a:ext cx="190500" cy="190500"/>
          </a:xfrm>
          <a:prstGeom prst="rect">
            <a:avLst/>
          </a:prstGeom>
        </p:spPr>
      </p:pic>
      <p:sp>
        <p:nvSpPr>
          <p:cNvPr id="19" name="Text 14"/>
          <p:cNvSpPr/>
          <p:nvPr/>
        </p:nvSpPr>
        <p:spPr>
          <a:xfrm>
            <a:off x="5467251" y="2819417"/>
            <a:ext cx="3209032"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What comes back</a:t>
            </a:r>
            <a:endParaRPr lang="en-US" sz="1600" dirty="0"/>
          </a:p>
        </p:txBody>
      </p:sp>
      <p:sp>
        <p:nvSpPr>
          <p:cNvPr id="20" name="Text 15"/>
          <p:cNvSpPr/>
          <p:nvPr/>
        </p:nvSpPr>
        <p:spPr>
          <a:xfrm>
            <a:off x="5029200" y="3363566"/>
            <a:ext cx="3704233"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A critique of your prompt against the goal you stated</a:t>
            </a:r>
            <a:endParaRPr lang="en-US" sz="1100" dirty="0"/>
          </a:p>
        </p:txBody>
      </p:sp>
      <p:sp>
        <p:nvSpPr>
          <p:cNvPr id="21" name="Text 16"/>
          <p:cNvSpPr/>
          <p:nvPr/>
        </p:nvSpPr>
        <p:spPr>
          <a:xfrm>
            <a:off x="5029200" y="3715958"/>
            <a:ext cx="3704233"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An improved version, ready to paste</a:t>
            </a:r>
            <a:endParaRPr lang="en-US" sz="1100" dirty="0"/>
          </a:p>
        </p:txBody>
      </p:sp>
      <p:sp>
        <p:nvSpPr>
          <p:cNvPr id="22" name="Text 17"/>
          <p:cNvSpPr/>
          <p:nvPr/>
        </p:nvSpPr>
        <p:spPr>
          <a:xfrm>
            <a:off x="5029200" y="4068349"/>
            <a:ext cx="3704233"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The reasoning behind each change — so the next prompt is better before it is critiqued</a:t>
            </a:r>
            <a:endParaRPr lang="en-US" sz="1100" dirty="0"/>
          </a:p>
        </p:txBody>
      </p:sp>
      <p:sp>
        <p:nvSpPr>
          <p:cNvPr id="23" name="Shape 18"/>
          <p:cNvSpPr/>
          <p:nvPr/>
        </p:nvSpPr>
        <p:spPr>
          <a:xfrm>
            <a:off x="9144000" y="2609867"/>
            <a:ext cx="4114800" cy="2543175"/>
          </a:xfrm>
          <a:prstGeom prst="roundRect">
            <a:avLst>
              <a:gd name="adj" fmla="val 2915"/>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4" name="Shape 19"/>
          <p:cNvSpPr/>
          <p:nvPr/>
        </p:nvSpPr>
        <p:spPr>
          <a:xfrm>
            <a:off x="9372600" y="2819417"/>
            <a:ext cx="381000" cy="381000"/>
          </a:xfrm>
          <a:prstGeom prst="roundRect">
            <a:avLst>
              <a:gd name="adj" fmla="val 25000"/>
            </a:avLst>
          </a:prstGeom>
          <a:solidFill>
            <a:srgbClr val="8B5CF6">
              <a:alpha val="14000"/>
            </a:srgbClr>
          </a:solidFill>
          <a:ln/>
        </p:spPr>
      </p:sp>
      <p:pic>
        <p:nvPicPr>
          <p:cNvPr id="2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67850" y="2914667"/>
            <a:ext cx="190500" cy="190500"/>
          </a:xfrm>
          <a:prstGeom prst="rect">
            <a:avLst/>
          </a:prstGeom>
        </p:spPr>
      </p:pic>
      <p:sp>
        <p:nvSpPr>
          <p:cNvPr id="26" name="Text 20"/>
          <p:cNvSpPr/>
          <p:nvPr/>
        </p:nvSpPr>
        <p:spPr>
          <a:xfrm>
            <a:off x="9810651" y="2819417"/>
            <a:ext cx="3209031"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The Lesson 1 link</a:t>
            </a:r>
            <a:endParaRPr lang="en-US" sz="1600" dirty="0"/>
          </a:p>
        </p:txBody>
      </p:sp>
      <p:sp>
        <p:nvSpPr>
          <p:cNvPr id="27" name="Text 21"/>
          <p:cNvSpPr/>
          <p:nvPr/>
        </p:nvSpPr>
        <p:spPr>
          <a:xfrm>
            <a:off x="9372600" y="3363566"/>
            <a:ext cx="3704232" cy="70485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Meta-prompting, packaged as an agent: the model as your prompt engineer, with the coach persona already built in</a:t>
            </a:r>
            <a:endParaRPr lang="en-US" sz="1100" dirty="0"/>
          </a:p>
        </p:txBody>
      </p:sp>
      <p:sp>
        <p:nvSpPr>
          <p:cNvPr id="28" name="Text 22"/>
          <p:cNvSpPr/>
          <p:nvPr/>
        </p:nvSpPr>
        <p:spPr>
          <a:xfrm>
            <a:off x="9372600" y="4144583"/>
            <a:ext cx="3704232"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Keep the improved prompt — it is the first entry in your prompt library</a:t>
            </a:r>
            <a:endParaRPr lang="en-US" sz="1100" dirty="0"/>
          </a:p>
        </p:txBody>
      </p:sp>
      <p:sp>
        <p:nvSpPr>
          <p:cNvPr id="29" name="Shape 23"/>
          <p:cNvSpPr/>
          <p:nvPr/>
        </p:nvSpPr>
        <p:spPr>
          <a:xfrm>
            <a:off x="457200" y="5572142"/>
            <a:ext cx="12801600" cy="628650"/>
          </a:xfrm>
          <a:prstGeom prst="roundRect">
            <a:avLst>
              <a:gd name="adj" fmla="val 18123"/>
            </a:avLst>
          </a:prstGeom>
          <a:gradFill rotWithShape="1">
            <a:gsLst>
              <a:gs pos="0">
                <a:srgbClr val="3B82F6"/>
              </a:gs>
              <a:gs pos="227">
                <a:srgbClr val="3B82F6"/>
              </a:gs>
              <a:gs pos="228">
                <a:srgbClr val="FFFFFF">
                  <a:alpha val="5000"/>
                </a:srgbClr>
              </a:gs>
              <a:gs pos="100000">
                <a:srgbClr val="FFFFFF">
                  <a:alpha val="2500"/>
                </a:srgbClr>
              </a:gs>
            </a:gsLst>
            <a:lin ang="0" scaled="0"/>
          </a:gradFill>
          <a:ln w="9525">
            <a:solidFill>
              <a:srgbClr val="FFFFFF">
                <a:alpha val="12000"/>
              </a:srgbClr>
            </a:solidFill>
            <a:prstDash val="solid"/>
          </a:ln>
          <a:effectLst>
            <a:glow rad="190500">
              <a:srgbClr val="3B82F6">
                <a:alpha val="26000"/>
              </a:srgbClr>
            </a:glow>
          </a:effectLst>
        </p:spPr>
      </p:sp>
      <p:sp>
        <p:nvSpPr>
          <p:cNvPr id="30" name="Shape 24"/>
          <p:cNvSpPr/>
          <p:nvPr/>
        </p:nvSpPr>
        <p:spPr>
          <a:xfrm>
            <a:off x="677300" y="5695967"/>
            <a:ext cx="381000" cy="381000"/>
          </a:xfrm>
          <a:prstGeom prst="roundRect">
            <a:avLst>
              <a:gd name="adj" fmla="val 25000"/>
            </a:avLst>
          </a:prstGeom>
          <a:solidFill>
            <a:srgbClr val="3B82F6">
              <a:alpha val="14000"/>
            </a:srgbClr>
          </a:solidFill>
          <a:ln/>
        </p:spPr>
      </p:sp>
      <p:pic>
        <p:nvPicPr>
          <p:cNvPr id="3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72550" y="5791217"/>
            <a:ext cx="190500" cy="190500"/>
          </a:xfrm>
          <a:prstGeom prst="rect">
            <a:avLst/>
          </a:prstGeom>
        </p:spPr>
      </p:pic>
      <p:sp>
        <p:nvSpPr>
          <p:cNvPr id="32" name="Text 25"/>
          <p:cNvSpPr/>
          <p:nvPr/>
        </p:nvSpPr>
        <p:spPr>
          <a:xfrm>
            <a:off x="1153385" y="5695967"/>
            <a:ext cx="11885315"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 DEMO — Prompt Coach on an ICC prompt from the debrief — with the author's permission</a:t>
            </a:r>
            <a:endParaRPr lang="en-US" sz="1300" dirty="0"/>
          </a:p>
        </p:txBody>
      </p:sp>
      <p:sp>
        <p:nvSpPr>
          <p:cNvPr id="33" name="Text 26"/>
          <p:cNvSpPr/>
          <p:nvPr/>
        </p:nvSpPr>
        <p:spPr>
          <a:xfrm>
            <a:off x="457200" y="6315059"/>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A prompt is worth improving once and reusing twenty times — that is what a prompt library is for</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Shape 2"/>
          <p:cNvSpPr/>
          <p:nvPr/>
        </p:nvSpPr>
        <p:spPr>
          <a:xfrm>
            <a:off x="457200" y="457200"/>
            <a:ext cx="3400359" cy="304800"/>
          </a:xfrm>
          <a:prstGeom prst="roundRect">
            <a:avLst>
              <a:gd name="adj" fmla="val 50000"/>
            </a:avLst>
          </a:prstGeom>
          <a:solidFill>
            <a:srgbClr val="EF4444">
              <a:alpha val="14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542958"/>
            <a:ext cx="133284" cy="133284"/>
          </a:xfrm>
          <a:prstGeom prst="rect">
            <a:avLst/>
          </a:prstGeom>
        </p:spPr>
      </p:pic>
      <p:sp>
        <p:nvSpPr>
          <p:cNvPr id="6" name="Text 3"/>
          <p:cNvSpPr/>
          <p:nvPr/>
        </p:nvSpPr>
        <p:spPr>
          <a:xfrm>
            <a:off x="819084" y="514350"/>
            <a:ext cx="2886075" cy="190500"/>
          </a:xfrm>
          <a:prstGeom prst="rect">
            <a:avLst/>
          </a:prstGeom>
          <a:noFill/>
          <a:ln/>
        </p:spPr>
        <p:txBody>
          <a:bodyPr wrap="square" lIns="0" tIns="0" rIns="0" bIns="0" rtlCol="0" anchor="t">
            <a:normAutofit/>
          </a:bodyPr>
          <a:lstStyle/>
          <a:p>
            <a:pPr marL="0" indent="0" algn="l">
              <a:lnSpc>
                <a:spcPct val="120000"/>
              </a:lnSpc>
              <a:buNone/>
            </a:pPr>
            <a:r>
              <a:rPr lang="en-US" sz="900" b="1" kern="1200" spc="72" dirty="0">
                <a:solidFill>
                  <a:srgbClr val="F87171"/>
                </a:solidFill>
                <a:latin typeface="JetBrains Mono"/>
                <a:ea typeface="JetBrains Mono"/>
                <a:cs typeface="JetBrains Mono"/>
              </a:rPr>
              <a:t>SENSITIVE LANE · COPILOT CHAT (BASIC)</a:t>
            </a:r>
            <a:endParaRPr lang="en-US" sz="900" dirty="0"/>
          </a:p>
        </p:txBody>
      </p:sp>
      <p:sp>
        <p:nvSpPr>
          <p:cNvPr id="7" name="Text 4"/>
          <p:cNvSpPr/>
          <p:nvPr/>
        </p:nvSpPr>
        <p:spPr>
          <a:xfrm>
            <a:off x="457200" y="8763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Study and Learn — concepts, flashcards, quizzes</a:t>
            </a:r>
            <a:endParaRPr lang="en-US" sz="3200" dirty="0"/>
          </a:p>
        </p:txBody>
      </p:sp>
      <p:sp>
        <p:nvSpPr>
          <p:cNvPr id="8" name="Text 5"/>
          <p:cNvSpPr/>
          <p:nvPr/>
        </p:nvSpPr>
        <p:spPr>
          <a:xfrm>
            <a:off x="457200" y="1495425"/>
            <a:ext cx="12801600"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Explain a concept from your Anchor Project's domain — eligible costs, say — then turn the explanation into flashcards and a five-question quiz for a junior colleague</a:t>
            </a:r>
            <a:endParaRPr lang="en-US" sz="1300" dirty="0"/>
          </a:p>
        </p:txBody>
      </p:sp>
      <p:sp>
        <p:nvSpPr>
          <p:cNvPr id="9" name="Shape 6"/>
          <p:cNvSpPr/>
          <p:nvPr/>
        </p:nvSpPr>
        <p:spPr>
          <a:xfrm>
            <a:off x="457200" y="2314575"/>
            <a:ext cx="4114800" cy="1562100"/>
          </a:xfrm>
          <a:prstGeom prst="roundRect">
            <a:avLst>
              <a:gd name="adj" fmla="val 7801"/>
            </a:avLst>
          </a:prstGeom>
          <a:gradFill rotWithShape="1">
            <a:gsLst>
              <a:gs pos="0">
                <a:srgbClr val="FFFFFF">
                  <a:alpha val="11000"/>
                </a:srgbClr>
              </a:gs>
              <a:gs pos="91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0" name="Shape 7"/>
          <p:cNvSpPr/>
          <p:nvPr/>
        </p:nvSpPr>
        <p:spPr>
          <a:xfrm>
            <a:off x="685800" y="2543175"/>
            <a:ext cx="381000" cy="381000"/>
          </a:xfrm>
          <a:prstGeom prst="roundRect">
            <a:avLst>
              <a:gd name="adj" fmla="val 25000"/>
            </a:avLst>
          </a:prstGeom>
          <a:solidFill>
            <a:srgbClr val="3B82F6">
              <a:alpha val="14000"/>
            </a:srgbClr>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1050" y="2638425"/>
            <a:ext cx="190500" cy="190500"/>
          </a:xfrm>
          <a:prstGeom prst="rect">
            <a:avLst/>
          </a:prstGeom>
        </p:spPr>
      </p:pic>
      <p:sp>
        <p:nvSpPr>
          <p:cNvPr id="12" name="Text 8"/>
          <p:cNvSpPr/>
          <p:nvPr/>
        </p:nvSpPr>
        <p:spPr>
          <a:xfrm>
            <a:off x="1200150" y="2543175"/>
            <a:ext cx="313273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60A5FA"/>
                </a:solidFill>
                <a:latin typeface="Inter"/>
                <a:ea typeface="Inter"/>
                <a:cs typeface="Inter"/>
              </a:rPr>
              <a:t>Understand</a:t>
            </a:r>
            <a:endParaRPr lang="en-US" sz="1600" dirty="0"/>
          </a:p>
        </p:txBody>
      </p:sp>
      <p:sp>
        <p:nvSpPr>
          <p:cNvPr id="13" name="Text 9"/>
          <p:cNvSpPr/>
          <p:nvPr/>
        </p:nvSpPr>
        <p:spPr>
          <a:xfrm>
            <a:off x="685800" y="3075418"/>
            <a:ext cx="3704233"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A concept explained conversationally, at the depth you ask for</a:t>
            </a:r>
            <a:endParaRPr lang="en-US" sz="1300" dirty="0"/>
          </a:p>
        </p:txBody>
      </p:sp>
      <p:sp>
        <p:nvSpPr>
          <p:cNvPr id="14" name="Shape 10"/>
          <p:cNvSpPr/>
          <p:nvPr/>
        </p:nvSpPr>
        <p:spPr>
          <a:xfrm>
            <a:off x="4800600" y="2314575"/>
            <a:ext cx="4114800" cy="1562100"/>
          </a:xfrm>
          <a:prstGeom prst="roundRect">
            <a:avLst>
              <a:gd name="adj" fmla="val 7801"/>
            </a:avLst>
          </a:prstGeom>
          <a:gradFill rotWithShape="1">
            <a:gsLst>
              <a:gs pos="0">
                <a:srgbClr val="FFFFFF">
                  <a:alpha val="11000"/>
                </a:srgbClr>
              </a:gs>
              <a:gs pos="91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5" name="Shape 11"/>
          <p:cNvSpPr/>
          <p:nvPr/>
        </p:nvSpPr>
        <p:spPr>
          <a:xfrm>
            <a:off x="5029200" y="2543175"/>
            <a:ext cx="381000" cy="381000"/>
          </a:xfrm>
          <a:prstGeom prst="roundRect">
            <a:avLst>
              <a:gd name="adj" fmla="val 25000"/>
            </a:avLst>
          </a:prstGeom>
          <a:solidFill>
            <a:srgbClr val="8B5CF6">
              <a:alpha val="14000"/>
            </a:srgbClr>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24450" y="2638425"/>
            <a:ext cx="190500" cy="190500"/>
          </a:xfrm>
          <a:prstGeom prst="rect">
            <a:avLst/>
          </a:prstGeom>
        </p:spPr>
      </p:pic>
      <p:sp>
        <p:nvSpPr>
          <p:cNvPr id="17" name="Text 12"/>
          <p:cNvSpPr/>
          <p:nvPr/>
        </p:nvSpPr>
        <p:spPr>
          <a:xfrm>
            <a:off x="5543550" y="2543175"/>
            <a:ext cx="313273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A78BFA"/>
                </a:solidFill>
                <a:latin typeface="Inter"/>
                <a:ea typeface="Inter"/>
                <a:cs typeface="Inter"/>
              </a:rPr>
              <a:t>Practise</a:t>
            </a:r>
            <a:endParaRPr lang="en-US" sz="1600" dirty="0"/>
          </a:p>
        </p:txBody>
      </p:sp>
      <p:sp>
        <p:nvSpPr>
          <p:cNvPr id="18" name="Text 13"/>
          <p:cNvSpPr/>
          <p:nvPr/>
        </p:nvSpPr>
        <p:spPr>
          <a:xfrm>
            <a:off x="5029200" y="3075418"/>
            <a:ext cx="3704233"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Flashcards generated from the explanation, for spaced repetition</a:t>
            </a:r>
            <a:endParaRPr lang="en-US" sz="1300" dirty="0"/>
          </a:p>
        </p:txBody>
      </p:sp>
      <p:sp>
        <p:nvSpPr>
          <p:cNvPr id="19" name="Shape 14"/>
          <p:cNvSpPr/>
          <p:nvPr/>
        </p:nvSpPr>
        <p:spPr>
          <a:xfrm>
            <a:off x="9144000" y="2314575"/>
            <a:ext cx="4114800" cy="1562100"/>
          </a:xfrm>
          <a:prstGeom prst="roundRect">
            <a:avLst>
              <a:gd name="adj" fmla="val 7801"/>
            </a:avLst>
          </a:prstGeom>
          <a:gradFill rotWithShape="1">
            <a:gsLst>
              <a:gs pos="0">
                <a:srgbClr val="FFFFFF">
                  <a:alpha val="11000"/>
                </a:srgbClr>
              </a:gs>
              <a:gs pos="91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0" name="Shape 15"/>
          <p:cNvSpPr/>
          <p:nvPr/>
        </p:nvSpPr>
        <p:spPr>
          <a:xfrm>
            <a:off x="9372600" y="2543175"/>
            <a:ext cx="381000" cy="381000"/>
          </a:xfrm>
          <a:prstGeom prst="roundRect">
            <a:avLst>
              <a:gd name="adj" fmla="val 25000"/>
            </a:avLst>
          </a:prstGeom>
          <a:solidFill>
            <a:srgbClr val="10B981">
              <a:alpha val="14000"/>
            </a:srgbClr>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67850" y="2638425"/>
            <a:ext cx="190500" cy="190500"/>
          </a:xfrm>
          <a:prstGeom prst="rect">
            <a:avLst/>
          </a:prstGeom>
        </p:spPr>
      </p:pic>
      <p:sp>
        <p:nvSpPr>
          <p:cNvPr id="22" name="Text 16"/>
          <p:cNvSpPr/>
          <p:nvPr/>
        </p:nvSpPr>
        <p:spPr>
          <a:xfrm>
            <a:off x="9886950" y="2543175"/>
            <a:ext cx="3132732"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34D399"/>
                </a:solidFill>
                <a:latin typeface="Inter"/>
                <a:ea typeface="Inter"/>
                <a:cs typeface="Inter"/>
              </a:rPr>
              <a:t>Check</a:t>
            </a:r>
            <a:endParaRPr lang="en-US" sz="1600" dirty="0"/>
          </a:p>
        </p:txBody>
      </p:sp>
      <p:sp>
        <p:nvSpPr>
          <p:cNvPr id="23" name="Text 17"/>
          <p:cNvSpPr/>
          <p:nvPr/>
        </p:nvSpPr>
        <p:spPr>
          <a:xfrm>
            <a:off x="9372600" y="3075418"/>
            <a:ext cx="3704232"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A study guide and a quiz — what the learner can actually do</a:t>
            </a:r>
            <a:endParaRPr lang="en-US" sz="1300" dirty="0"/>
          </a:p>
        </p:txBody>
      </p:sp>
      <p:sp>
        <p:nvSpPr>
          <p:cNvPr id="24" name="Shape 18"/>
          <p:cNvSpPr/>
          <p:nvPr/>
        </p:nvSpPr>
        <p:spPr>
          <a:xfrm>
            <a:off x="457200" y="4290753"/>
            <a:ext cx="12801600" cy="600075"/>
          </a:xfrm>
          <a:prstGeom prst="roundRect">
            <a:avLst>
              <a:gd name="adj" fmla="val 23102"/>
            </a:avLst>
          </a:prstGeom>
          <a:gradFill rotWithShape="1">
            <a:gsLst>
              <a:gs pos="0">
                <a:srgbClr val="FFFFFF">
                  <a:alpha val="11000"/>
                </a:srgbClr>
              </a:gs>
              <a:gs pos="2695">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5" name="Shape 19"/>
          <p:cNvSpPr/>
          <p:nvPr/>
        </p:nvSpPr>
        <p:spPr>
          <a:xfrm>
            <a:off x="457200" y="4881303"/>
            <a:ext cx="12801600" cy="9525"/>
          </a:xfrm>
          <a:prstGeom prst="rect">
            <a:avLst/>
          </a:prstGeom>
          <a:solidFill>
            <a:srgbClr val="FFFFFF">
              <a:alpha val="8000"/>
            </a:srgbClr>
          </a:solidFill>
          <a:ln/>
        </p:spPr>
      </p:sp>
      <p:sp>
        <p:nvSpPr>
          <p:cNvPr id="26" name="Shape 20"/>
          <p:cNvSpPr/>
          <p:nvPr/>
        </p:nvSpPr>
        <p:spPr>
          <a:xfrm>
            <a:off x="457200" y="4290753"/>
            <a:ext cx="12801600" cy="9525"/>
          </a:xfrm>
          <a:prstGeom prst="rect">
            <a:avLst/>
          </a:prstGeom>
          <a:solidFill>
            <a:srgbClr val="FFFFFF">
              <a:alpha val="8000"/>
            </a:srgbClr>
          </a:solidFill>
          <a:ln/>
        </p:spPr>
      </p:sp>
      <p:sp>
        <p:nvSpPr>
          <p:cNvPr id="27" name="Shape 21"/>
          <p:cNvSpPr/>
          <p:nvPr/>
        </p:nvSpPr>
        <p:spPr>
          <a:xfrm>
            <a:off x="457200" y="4386003"/>
            <a:ext cx="28575" cy="409575"/>
          </a:xfrm>
          <a:prstGeom prst="rect">
            <a:avLst/>
          </a:prstGeom>
          <a:solidFill>
            <a:srgbClr val="3B82F6"/>
          </a:solidFill>
          <a:ln/>
        </p:spPr>
      </p:sp>
      <p:sp>
        <p:nvSpPr>
          <p:cNvPr id="28" name="Shape 22"/>
          <p:cNvSpPr/>
          <p:nvPr/>
        </p:nvSpPr>
        <p:spPr>
          <a:xfrm>
            <a:off x="13249275" y="4386003"/>
            <a:ext cx="9525" cy="409575"/>
          </a:xfrm>
          <a:prstGeom prst="rect">
            <a:avLst/>
          </a:prstGeom>
          <a:solidFill>
            <a:srgbClr val="FFFFFF">
              <a:alpha val="8000"/>
            </a:srgbClr>
          </a:solidFill>
          <a:ln/>
        </p:spPr>
      </p:sp>
      <p:sp>
        <p:nvSpPr>
          <p:cNvPr id="29" name="Text 23"/>
          <p:cNvSpPr/>
          <p:nvPr/>
        </p:nvSpPr>
        <p:spPr>
          <a:xfrm>
            <a:off x="668867" y="4433628"/>
            <a:ext cx="116205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What it needs</a:t>
            </a:r>
            <a:endParaRPr lang="en-US" sz="1300" dirty="0"/>
          </a:p>
        </p:txBody>
      </p:sp>
      <p:sp>
        <p:nvSpPr>
          <p:cNvPr id="30" name="Text 24"/>
          <p:cNvSpPr/>
          <p:nvPr/>
        </p:nvSpPr>
        <p:spPr>
          <a:xfrm>
            <a:off x="1945217" y="4433628"/>
            <a:ext cx="11101916"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A Microsoft 365 Education account (Entra ID). No Copilot licence required.</a:t>
            </a:r>
            <a:endParaRPr lang="en-US" sz="1100" dirty="0"/>
          </a:p>
        </p:txBody>
      </p:sp>
      <p:sp>
        <p:nvSpPr>
          <p:cNvPr id="31" name="Shape 25"/>
          <p:cNvSpPr/>
          <p:nvPr/>
        </p:nvSpPr>
        <p:spPr>
          <a:xfrm>
            <a:off x="457200" y="5263211"/>
            <a:ext cx="12801600" cy="628650"/>
          </a:xfrm>
          <a:prstGeom prst="roundRect">
            <a:avLst>
              <a:gd name="adj" fmla="val 18123"/>
            </a:avLst>
          </a:prstGeom>
          <a:gradFill rotWithShape="1">
            <a:gsLst>
              <a:gs pos="0">
                <a:srgbClr val="3B82F6"/>
              </a:gs>
              <a:gs pos="227">
                <a:srgbClr val="3B82F6"/>
              </a:gs>
              <a:gs pos="228">
                <a:srgbClr val="FFFFFF">
                  <a:alpha val="5000"/>
                </a:srgbClr>
              </a:gs>
              <a:gs pos="100000">
                <a:srgbClr val="FFFFFF">
                  <a:alpha val="2500"/>
                </a:srgbClr>
              </a:gs>
            </a:gsLst>
            <a:lin ang="0" scaled="0"/>
          </a:gradFill>
          <a:ln w="9525">
            <a:solidFill>
              <a:srgbClr val="FFFFFF">
                <a:alpha val="12000"/>
              </a:srgbClr>
            </a:solidFill>
            <a:prstDash val="solid"/>
          </a:ln>
          <a:effectLst>
            <a:glow rad="190500">
              <a:srgbClr val="3B82F6">
                <a:alpha val="26000"/>
              </a:srgbClr>
            </a:glow>
          </a:effectLst>
        </p:spPr>
      </p:sp>
      <p:sp>
        <p:nvSpPr>
          <p:cNvPr id="32" name="Shape 26"/>
          <p:cNvSpPr/>
          <p:nvPr/>
        </p:nvSpPr>
        <p:spPr>
          <a:xfrm>
            <a:off x="677300" y="5387036"/>
            <a:ext cx="381000" cy="381000"/>
          </a:xfrm>
          <a:prstGeom prst="roundRect">
            <a:avLst>
              <a:gd name="adj" fmla="val 25000"/>
            </a:avLst>
          </a:prstGeom>
          <a:solidFill>
            <a:srgbClr val="3B82F6">
              <a:alpha val="14000"/>
            </a:srgbClr>
          </a:solidFill>
          <a:ln/>
        </p:spPr>
      </p:sp>
      <p:pic>
        <p:nvPicPr>
          <p:cNvPr id="3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72550" y="5482286"/>
            <a:ext cx="190500" cy="190500"/>
          </a:xfrm>
          <a:prstGeom prst="rect">
            <a:avLst/>
          </a:prstGeom>
        </p:spPr>
      </p:pic>
      <p:sp>
        <p:nvSpPr>
          <p:cNvPr id="34" name="Text 27"/>
          <p:cNvSpPr/>
          <p:nvPr/>
        </p:nvSpPr>
        <p:spPr>
          <a:xfrm>
            <a:off x="1153385" y="5387036"/>
            <a:ext cx="11885315"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 DEMO — The concept explained, then flashcards and a five-question quiz built from it</a:t>
            </a:r>
            <a:endParaRPr lang="en-US" sz="1300" dirty="0"/>
          </a:p>
        </p:txBody>
      </p:sp>
      <p:sp>
        <p:nvSpPr>
          <p:cNvPr id="35" name="Shape 28"/>
          <p:cNvSpPr/>
          <p:nvPr/>
        </p:nvSpPr>
        <p:spPr>
          <a:xfrm>
            <a:off x="457200" y="6264242"/>
            <a:ext cx="12801600" cy="9525"/>
          </a:xfrm>
          <a:prstGeom prst="rect">
            <a:avLst/>
          </a:prstGeom>
          <a:solidFill>
            <a:srgbClr val="FFFFFF">
              <a:alpha val="7000"/>
            </a:srgbClr>
          </a:solidFill>
          <a:ln/>
        </p:spPr>
      </p:sp>
      <p:sp>
        <p:nvSpPr>
          <p:cNvPr id="36" name="Text 29"/>
          <p:cNvSpPr/>
          <p:nvPr/>
        </p:nvSpPr>
        <p:spPr>
          <a:xfrm>
            <a:off x="457200" y="6648450"/>
            <a:ext cx="276225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Why it matters for the assignment</a:t>
            </a:r>
            <a:endParaRPr lang="en-US" sz="1300" dirty="0"/>
          </a:p>
        </p:txBody>
      </p:sp>
      <p:sp>
        <p:nvSpPr>
          <p:cNvPr id="37" name="Text 30"/>
          <p:cNvSpPr/>
          <p:nvPr/>
        </p:nvSpPr>
        <p:spPr>
          <a:xfrm>
            <a:off x="3333750" y="6648450"/>
            <a:ext cx="9925050"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Your deliverable is a presentation designed to facilitate learning outcomes. This is where you find out whether they land — build the quiz, and the gaps in the presentation show up as questions nobody can answer.</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Shape 2"/>
          <p:cNvSpPr/>
          <p:nvPr/>
        </p:nvSpPr>
        <p:spPr>
          <a:xfrm>
            <a:off x="457200" y="457200"/>
            <a:ext cx="3400359" cy="304800"/>
          </a:xfrm>
          <a:prstGeom prst="roundRect">
            <a:avLst>
              <a:gd name="adj" fmla="val 50000"/>
            </a:avLst>
          </a:prstGeom>
          <a:solidFill>
            <a:srgbClr val="EF4444">
              <a:alpha val="14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542958"/>
            <a:ext cx="133284" cy="133284"/>
          </a:xfrm>
          <a:prstGeom prst="rect">
            <a:avLst/>
          </a:prstGeom>
        </p:spPr>
      </p:pic>
      <p:sp>
        <p:nvSpPr>
          <p:cNvPr id="6" name="Text 3"/>
          <p:cNvSpPr/>
          <p:nvPr/>
        </p:nvSpPr>
        <p:spPr>
          <a:xfrm>
            <a:off x="819084" y="514350"/>
            <a:ext cx="2886075" cy="190500"/>
          </a:xfrm>
          <a:prstGeom prst="rect">
            <a:avLst/>
          </a:prstGeom>
          <a:noFill/>
          <a:ln/>
        </p:spPr>
        <p:txBody>
          <a:bodyPr wrap="square" lIns="0" tIns="0" rIns="0" bIns="0" rtlCol="0" anchor="t">
            <a:normAutofit/>
          </a:bodyPr>
          <a:lstStyle/>
          <a:p>
            <a:pPr marL="0" indent="0" algn="l">
              <a:lnSpc>
                <a:spcPct val="120000"/>
              </a:lnSpc>
              <a:buNone/>
            </a:pPr>
            <a:r>
              <a:rPr lang="en-US" sz="900" b="1" kern="1200" spc="72" dirty="0">
                <a:solidFill>
                  <a:srgbClr val="F87171"/>
                </a:solidFill>
                <a:latin typeface="JetBrains Mono"/>
                <a:ea typeface="JetBrains Mono"/>
                <a:cs typeface="JetBrains Mono"/>
              </a:rPr>
              <a:t>SENSITIVE LANE · COPILOT CHAT (BASIC)</a:t>
            </a:r>
            <a:endParaRPr lang="en-US" sz="900" dirty="0"/>
          </a:p>
        </p:txBody>
      </p:sp>
      <p:sp>
        <p:nvSpPr>
          <p:cNvPr id="7" name="Text 4"/>
          <p:cNvSpPr/>
          <p:nvPr/>
        </p:nvSpPr>
        <p:spPr>
          <a:xfrm>
            <a:off x="457200" y="8763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Canva in </a:t>
            </a:r>
            <a:r>
              <a:rPr lang="hu-HU" sz="3200" b="1" kern="1200" spc="-32" dirty="0" err="1">
                <a:solidFill>
                  <a:srgbClr val="FFFFFF"/>
                </a:solidFill>
                <a:latin typeface="Inter"/>
                <a:ea typeface="Inter"/>
                <a:cs typeface="Inter"/>
              </a:rPr>
              <a:t>Copilot</a:t>
            </a:r>
            <a:r>
              <a:rPr lang="en-US" sz="3200" b="1" kern="1200" spc="-32" dirty="0">
                <a:solidFill>
                  <a:srgbClr val="FFFFFF"/>
                </a:solidFill>
                <a:latin typeface="Inter"/>
                <a:ea typeface="Inter"/>
                <a:cs typeface="Inter"/>
              </a:rPr>
              <a:t> — prototype the presentation</a:t>
            </a:r>
            <a:endParaRPr lang="en-US" sz="3200" dirty="0"/>
          </a:p>
        </p:txBody>
      </p:sp>
      <p:sp>
        <p:nvSpPr>
          <p:cNvPr id="8" name="Text 5"/>
          <p:cNvSpPr/>
          <p:nvPr/>
        </p:nvSpPr>
        <p:spPr>
          <a:xfrm>
            <a:off x="457200" y="1495425"/>
            <a:ext cx="128016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Prototype the structure of your assignment presentation as a multi-page design, previewed and commented on without leaving Teams</a:t>
            </a:r>
            <a:endParaRPr lang="en-US" sz="1300" dirty="0"/>
          </a:p>
        </p:txBody>
      </p:sp>
      <p:sp>
        <p:nvSpPr>
          <p:cNvPr id="9" name="Shape 6"/>
          <p:cNvSpPr/>
          <p:nvPr/>
        </p:nvSpPr>
        <p:spPr>
          <a:xfrm>
            <a:off x="457200" y="2080341"/>
            <a:ext cx="6286500" cy="2095500"/>
          </a:xfrm>
          <a:prstGeom prst="roundRect">
            <a:avLst>
              <a:gd name="adj" fmla="val 3004"/>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0" name="Shape 7"/>
          <p:cNvSpPr/>
          <p:nvPr/>
        </p:nvSpPr>
        <p:spPr>
          <a:xfrm>
            <a:off x="685800" y="2289891"/>
            <a:ext cx="381000" cy="381000"/>
          </a:xfrm>
          <a:prstGeom prst="roundRect">
            <a:avLst>
              <a:gd name="adj" fmla="val 25000"/>
            </a:avLst>
          </a:prstGeom>
          <a:solidFill>
            <a:srgbClr val="3B82F6">
              <a:alpha val="14000"/>
            </a:srgbClr>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1050" y="2385141"/>
            <a:ext cx="190500" cy="190500"/>
          </a:xfrm>
          <a:prstGeom prst="rect">
            <a:avLst/>
          </a:prstGeom>
        </p:spPr>
      </p:pic>
      <p:sp>
        <p:nvSpPr>
          <p:cNvPr id="12" name="Text 8"/>
          <p:cNvSpPr/>
          <p:nvPr/>
        </p:nvSpPr>
        <p:spPr>
          <a:xfrm>
            <a:off x="1123851" y="2289891"/>
            <a:ext cx="5380732"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What the Teams app gives you</a:t>
            </a:r>
            <a:endParaRPr lang="en-US" sz="1600" dirty="0"/>
          </a:p>
        </p:txBody>
      </p:sp>
      <p:sp>
        <p:nvSpPr>
          <p:cNvPr id="13" name="Text 9"/>
          <p:cNvSpPr/>
          <p:nvPr/>
        </p:nvSpPr>
        <p:spPr>
          <a:xfrm>
            <a:off x="685800" y="2834040"/>
            <a:ext cx="5875933"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Design notifications and updates in one place, without leaving Teams</a:t>
            </a:r>
            <a:endParaRPr lang="en-US" sz="1300" dirty="0"/>
          </a:p>
        </p:txBody>
      </p:sp>
      <p:sp>
        <p:nvSpPr>
          <p:cNvPr id="14" name="Text 10"/>
          <p:cNvSpPr/>
          <p:nvPr/>
        </p:nvSpPr>
        <p:spPr>
          <a:xfrm>
            <a:off x="685800" y="3224532"/>
            <a:ext cx="5875933"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Colleagues invited to preview or collaborate on a design</a:t>
            </a:r>
            <a:endParaRPr lang="en-US" sz="1300" dirty="0"/>
          </a:p>
        </p:txBody>
      </p:sp>
      <p:sp>
        <p:nvSpPr>
          <p:cNvPr id="15" name="Text 11"/>
          <p:cNvSpPr/>
          <p:nvPr/>
        </p:nvSpPr>
        <p:spPr>
          <a:xfrm>
            <a:off x="685800" y="3615025"/>
            <a:ext cx="5875933"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Multi-page designs viewed inside Teams</a:t>
            </a:r>
            <a:endParaRPr lang="en-US" sz="1300" dirty="0"/>
          </a:p>
        </p:txBody>
      </p:sp>
      <p:sp>
        <p:nvSpPr>
          <p:cNvPr id="16" name="Shape 12"/>
          <p:cNvSpPr/>
          <p:nvPr/>
        </p:nvSpPr>
        <p:spPr>
          <a:xfrm>
            <a:off x="6972300" y="2080341"/>
            <a:ext cx="6286500" cy="2095500"/>
          </a:xfrm>
          <a:prstGeom prst="roundRect">
            <a:avLst>
              <a:gd name="adj" fmla="val 3004"/>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7" name="Shape 13"/>
          <p:cNvSpPr/>
          <p:nvPr/>
        </p:nvSpPr>
        <p:spPr>
          <a:xfrm>
            <a:off x="7200900" y="2289891"/>
            <a:ext cx="381000" cy="381000"/>
          </a:xfrm>
          <a:prstGeom prst="roundRect">
            <a:avLst>
              <a:gd name="adj" fmla="val 25000"/>
            </a:avLst>
          </a:prstGeom>
          <a:solidFill>
            <a:srgbClr val="8B5CF6">
              <a:alpha val="14000"/>
            </a:srgbClr>
          </a:solidFill>
          <a:ln/>
        </p:spPr>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96150" y="2385141"/>
            <a:ext cx="190500" cy="190500"/>
          </a:xfrm>
          <a:prstGeom prst="rect">
            <a:avLst/>
          </a:prstGeom>
        </p:spPr>
      </p:pic>
      <p:sp>
        <p:nvSpPr>
          <p:cNvPr id="19" name="Text 14"/>
          <p:cNvSpPr/>
          <p:nvPr/>
        </p:nvSpPr>
        <p:spPr>
          <a:xfrm>
            <a:off x="7638950" y="2289891"/>
            <a:ext cx="5380732"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Prototyping only</a:t>
            </a:r>
            <a:endParaRPr lang="en-US" sz="1600" dirty="0"/>
          </a:p>
        </p:txBody>
      </p:sp>
      <p:sp>
        <p:nvSpPr>
          <p:cNvPr id="20" name="Text 15"/>
          <p:cNvSpPr/>
          <p:nvPr/>
        </p:nvSpPr>
        <p:spPr>
          <a:xfrm>
            <a:off x="7200900" y="2834040"/>
            <a:ext cx="5875932"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The structure and the look of the presentation — the order of the sections, what goes on a page, where the examples sit</a:t>
            </a:r>
            <a:endParaRPr lang="en-US" sz="1300" dirty="0"/>
          </a:p>
        </p:txBody>
      </p:sp>
      <p:sp>
        <p:nvSpPr>
          <p:cNvPr id="21" name="Text 16"/>
          <p:cNvSpPr/>
          <p:nvPr/>
        </p:nvSpPr>
        <p:spPr>
          <a:xfrm>
            <a:off x="7200900" y="3481707"/>
            <a:ext cx="5875932"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Not the finished deck: that is the next slide</a:t>
            </a:r>
            <a:endParaRPr lang="en-US" sz="1300" dirty="0"/>
          </a:p>
        </p:txBody>
      </p:sp>
      <p:sp>
        <p:nvSpPr>
          <p:cNvPr id="22" name="Shape 17"/>
          <p:cNvSpPr/>
          <p:nvPr/>
        </p:nvSpPr>
        <p:spPr>
          <a:xfrm>
            <a:off x="457200" y="4594941"/>
            <a:ext cx="12801600" cy="619125"/>
          </a:xfrm>
          <a:prstGeom prst="roundRect">
            <a:avLst>
              <a:gd name="adj" fmla="val 22239"/>
            </a:avLst>
          </a:prstGeom>
          <a:gradFill rotWithShape="1">
            <a:gsLst>
              <a:gs pos="0">
                <a:srgbClr val="FFFFFF">
                  <a:alpha val="11000"/>
                </a:srgbClr>
              </a:gs>
              <a:gs pos="2595">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3" name="Shape 18"/>
          <p:cNvSpPr/>
          <p:nvPr/>
        </p:nvSpPr>
        <p:spPr>
          <a:xfrm>
            <a:off x="457200" y="5204541"/>
            <a:ext cx="12801600" cy="9525"/>
          </a:xfrm>
          <a:prstGeom prst="rect">
            <a:avLst/>
          </a:prstGeom>
          <a:solidFill>
            <a:srgbClr val="FFFFFF">
              <a:alpha val="8000"/>
            </a:srgbClr>
          </a:solidFill>
          <a:ln/>
        </p:spPr>
      </p:sp>
      <p:sp>
        <p:nvSpPr>
          <p:cNvPr id="24" name="Shape 19"/>
          <p:cNvSpPr/>
          <p:nvPr/>
        </p:nvSpPr>
        <p:spPr>
          <a:xfrm>
            <a:off x="457200" y="4594941"/>
            <a:ext cx="12801600" cy="9525"/>
          </a:xfrm>
          <a:prstGeom prst="rect">
            <a:avLst/>
          </a:prstGeom>
          <a:solidFill>
            <a:srgbClr val="FFFFFF">
              <a:alpha val="8000"/>
            </a:srgbClr>
          </a:solidFill>
          <a:ln/>
        </p:spPr>
      </p:sp>
      <p:sp>
        <p:nvSpPr>
          <p:cNvPr id="25" name="Shape 20"/>
          <p:cNvSpPr/>
          <p:nvPr/>
        </p:nvSpPr>
        <p:spPr>
          <a:xfrm>
            <a:off x="457200" y="4690191"/>
            <a:ext cx="28575" cy="428625"/>
          </a:xfrm>
          <a:prstGeom prst="rect">
            <a:avLst/>
          </a:prstGeom>
          <a:solidFill>
            <a:srgbClr val="3B82F6"/>
          </a:solidFill>
          <a:ln/>
        </p:spPr>
      </p:sp>
      <p:sp>
        <p:nvSpPr>
          <p:cNvPr id="26" name="Shape 21"/>
          <p:cNvSpPr/>
          <p:nvPr/>
        </p:nvSpPr>
        <p:spPr>
          <a:xfrm>
            <a:off x="13249275" y="4690191"/>
            <a:ext cx="9525" cy="428625"/>
          </a:xfrm>
          <a:prstGeom prst="rect">
            <a:avLst/>
          </a:prstGeom>
          <a:solidFill>
            <a:srgbClr val="FFFFFF">
              <a:alpha val="8000"/>
            </a:srgbClr>
          </a:solidFill>
          <a:ln/>
        </p:spPr>
      </p:sp>
      <p:sp>
        <p:nvSpPr>
          <p:cNvPr id="27" name="Text 22"/>
          <p:cNvSpPr/>
          <p:nvPr/>
        </p:nvSpPr>
        <p:spPr>
          <a:xfrm>
            <a:off x="687884" y="4747341"/>
            <a:ext cx="1066800" cy="314325"/>
          </a:xfrm>
          <a:prstGeom prst="rect">
            <a:avLst/>
          </a:prstGeom>
          <a:noFill/>
          <a:ln/>
        </p:spPr>
        <p:txBody>
          <a:bodyPr wrap="square" lIns="25400" tIns="25400" rIns="25400" bIns="25400" rtlCol="0" anchor="t">
            <a:normAutofit fontScale="92500"/>
          </a:bodyPr>
          <a:lstStyle/>
          <a:p>
            <a:pPr marL="0" indent="0" algn="l">
              <a:lnSpc>
                <a:spcPct val="125000"/>
              </a:lnSpc>
              <a:buNone/>
            </a:pPr>
            <a:r>
              <a:rPr lang="en-US" sz="1300" b="1" kern="1200" dirty="0">
                <a:solidFill>
                  <a:srgbClr val="FFFFFF"/>
                </a:solidFill>
                <a:latin typeface="Inter"/>
                <a:ea typeface="Inter"/>
                <a:cs typeface="Inter"/>
              </a:rPr>
              <a:t>What you do</a:t>
            </a:r>
            <a:endParaRPr lang="en-US" sz="1300" dirty="0"/>
          </a:p>
        </p:txBody>
      </p:sp>
      <p:sp>
        <p:nvSpPr>
          <p:cNvPr id="28" name="Text 23"/>
          <p:cNvSpPr/>
          <p:nvPr/>
        </p:nvSpPr>
        <p:spPr>
          <a:xfrm>
            <a:off x="1868984" y="4747341"/>
            <a:ext cx="11161216"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New multi-page design → one page per section of the presentation → share it to the channel and let the comments come back in Teams</a:t>
            </a:r>
            <a:endParaRPr lang="en-US" sz="1100" dirty="0"/>
          </a:p>
        </p:txBody>
      </p:sp>
      <p:sp>
        <p:nvSpPr>
          <p:cNvPr id="29" name="Shape 24"/>
          <p:cNvSpPr/>
          <p:nvPr/>
        </p:nvSpPr>
        <p:spPr>
          <a:xfrm>
            <a:off x="457200" y="5585809"/>
            <a:ext cx="12801600" cy="933450"/>
          </a:xfrm>
          <a:prstGeom prst="roundRect">
            <a:avLst>
              <a:gd name="adj" fmla="val 14903"/>
            </a:avLst>
          </a:prstGeom>
          <a:gradFill rotWithShape="1">
            <a:gsLst>
              <a:gs pos="0">
                <a:srgbClr val="EF4444"/>
              </a:gs>
              <a:gs pos="227">
                <a:srgbClr val="EF4444"/>
              </a:gs>
              <a:gs pos="228">
                <a:srgbClr val="FFFFFF">
                  <a:alpha val="5000"/>
                </a:srgbClr>
              </a:gs>
              <a:gs pos="100000">
                <a:srgbClr val="FFFFFF">
                  <a:alpha val="2500"/>
                </a:srgbClr>
              </a:gs>
            </a:gsLst>
            <a:lin ang="0" scaled="0"/>
          </a:gradFill>
          <a:ln w="9525">
            <a:solidFill>
              <a:srgbClr val="FFFFFF">
                <a:alpha val="12000"/>
              </a:srgbClr>
            </a:solidFill>
            <a:prstDash val="solid"/>
          </a:ln>
          <a:effectLst>
            <a:glow rad="190500">
              <a:srgbClr val="EF4444">
                <a:alpha val="26000"/>
              </a:srgbClr>
            </a:glow>
          </a:effectLst>
        </p:spPr>
      </p:sp>
      <p:sp>
        <p:nvSpPr>
          <p:cNvPr id="30" name="Shape 25"/>
          <p:cNvSpPr/>
          <p:nvPr/>
        </p:nvSpPr>
        <p:spPr>
          <a:xfrm>
            <a:off x="677300" y="5862034"/>
            <a:ext cx="381000" cy="381000"/>
          </a:xfrm>
          <a:prstGeom prst="roundRect">
            <a:avLst>
              <a:gd name="adj" fmla="val 25000"/>
            </a:avLst>
          </a:prstGeom>
          <a:solidFill>
            <a:srgbClr val="EF4444">
              <a:alpha val="14000"/>
            </a:srgbClr>
          </a:solidFill>
          <a:ln/>
        </p:spPr>
      </p:sp>
      <p:pic>
        <p:nvPicPr>
          <p:cNvPr id="3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72550" y="5957284"/>
            <a:ext cx="190500" cy="190500"/>
          </a:xfrm>
          <a:prstGeom prst="rect">
            <a:avLst/>
          </a:prstGeom>
        </p:spPr>
      </p:pic>
      <p:sp>
        <p:nvSpPr>
          <p:cNvPr id="32" name="Text 26"/>
          <p:cNvSpPr/>
          <p:nvPr/>
        </p:nvSpPr>
        <p:spPr>
          <a:xfrm>
            <a:off x="1153385" y="5747734"/>
            <a:ext cx="11885315"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A third-party design platform surfaced inside Teams</a:t>
            </a:r>
            <a:endParaRPr lang="en-US" sz="1300" dirty="0"/>
          </a:p>
        </p:txBody>
      </p:sp>
      <p:sp>
        <p:nvSpPr>
          <p:cNvPr id="33" name="Text 27"/>
          <p:cNvSpPr/>
          <p:nvPr/>
        </p:nvSpPr>
        <p:spPr>
          <a:xfrm>
            <a:off x="1153385" y="6081109"/>
            <a:ext cx="7865765"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The design leaves the institutional tenant, so the routing rule applies to it: anonymised, non-sensitive content only</a:t>
            </a:r>
            <a:endParaRPr lang="en-US" sz="1100" dirty="0"/>
          </a:p>
        </p:txBody>
      </p:sp>
      <p:sp>
        <p:nvSpPr>
          <p:cNvPr id="34" name="Text 28"/>
          <p:cNvSpPr/>
          <p:nvPr/>
        </p:nvSpPr>
        <p:spPr>
          <a:xfrm>
            <a:off x="457200" y="6844584"/>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Prototype first, build second — a structure is cheap to change, a finished deck is not</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Shape 2"/>
          <p:cNvSpPr/>
          <p:nvPr/>
        </p:nvSpPr>
        <p:spPr>
          <a:xfrm>
            <a:off x="457200" y="457200"/>
            <a:ext cx="3400359" cy="304800"/>
          </a:xfrm>
          <a:prstGeom prst="roundRect">
            <a:avLst>
              <a:gd name="adj" fmla="val 50000"/>
            </a:avLst>
          </a:prstGeom>
          <a:solidFill>
            <a:srgbClr val="EF4444">
              <a:alpha val="14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542958"/>
            <a:ext cx="133284" cy="133284"/>
          </a:xfrm>
          <a:prstGeom prst="rect">
            <a:avLst/>
          </a:prstGeom>
        </p:spPr>
      </p:pic>
      <p:sp>
        <p:nvSpPr>
          <p:cNvPr id="6" name="Text 3"/>
          <p:cNvSpPr/>
          <p:nvPr/>
        </p:nvSpPr>
        <p:spPr>
          <a:xfrm>
            <a:off x="819084" y="514350"/>
            <a:ext cx="2886075" cy="190500"/>
          </a:xfrm>
          <a:prstGeom prst="rect">
            <a:avLst/>
          </a:prstGeom>
          <a:noFill/>
          <a:ln/>
        </p:spPr>
        <p:txBody>
          <a:bodyPr wrap="square" lIns="0" tIns="0" rIns="0" bIns="0" rtlCol="0" anchor="t">
            <a:normAutofit/>
          </a:bodyPr>
          <a:lstStyle/>
          <a:p>
            <a:pPr marL="0" indent="0" algn="l">
              <a:lnSpc>
                <a:spcPct val="120000"/>
              </a:lnSpc>
              <a:buNone/>
            </a:pPr>
            <a:r>
              <a:rPr lang="en-US" sz="900" b="1" kern="1200" spc="72" dirty="0">
                <a:solidFill>
                  <a:srgbClr val="F87171"/>
                </a:solidFill>
                <a:latin typeface="JetBrains Mono"/>
                <a:ea typeface="JetBrains Mono"/>
                <a:cs typeface="JetBrains Mono"/>
              </a:rPr>
              <a:t>SENSITIVE LANE · COPILOT CHAT (BASIC)</a:t>
            </a:r>
            <a:endParaRPr lang="en-US" sz="900" dirty="0"/>
          </a:p>
        </p:txBody>
      </p:sp>
      <p:sp>
        <p:nvSpPr>
          <p:cNvPr id="7" name="Text 4"/>
          <p:cNvSpPr/>
          <p:nvPr/>
        </p:nvSpPr>
        <p:spPr>
          <a:xfrm>
            <a:off x="457200" y="8763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genspark.ai — build the actual presentation</a:t>
            </a:r>
            <a:endParaRPr lang="en-US" sz="3200" dirty="0"/>
          </a:p>
        </p:txBody>
      </p:sp>
      <p:sp>
        <p:nvSpPr>
          <p:cNvPr id="8" name="Text 5"/>
          <p:cNvSpPr/>
          <p:nvPr/>
        </p:nvSpPr>
        <p:spPr>
          <a:xfrm>
            <a:off x="457200" y="1495425"/>
            <a:ext cx="128016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Hand the approved prototype and the drafted content to genspark.ai and get the presentation itself back</a:t>
            </a:r>
            <a:endParaRPr lang="en-US" sz="1300" dirty="0"/>
          </a:p>
        </p:txBody>
      </p:sp>
      <p:sp>
        <p:nvSpPr>
          <p:cNvPr id="9" name="Shape 6"/>
          <p:cNvSpPr/>
          <p:nvPr/>
        </p:nvSpPr>
        <p:spPr>
          <a:xfrm>
            <a:off x="457200" y="2057400"/>
            <a:ext cx="4114800" cy="1228725"/>
          </a:xfrm>
          <a:prstGeom prst="roundRect">
            <a:avLst>
              <a:gd name="adj" fmla="val 11082"/>
            </a:avLst>
          </a:prstGeom>
          <a:gradFill rotWithShape="1">
            <a:gsLst>
              <a:gs pos="0">
                <a:srgbClr val="FFFFFF">
                  <a:alpha val="11000"/>
                </a:srgbClr>
              </a:gs>
              <a:gs pos="1293">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0" name="Shape 7"/>
          <p:cNvSpPr/>
          <p:nvPr/>
        </p:nvSpPr>
        <p:spPr>
          <a:xfrm>
            <a:off x="677300" y="2481263"/>
            <a:ext cx="381000" cy="381000"/>
          </a:xfrm>
          <a:prstGeom prst="roundRect">
            <a:avLst>
              <a:gd name="adj" fmla="val 25000"/>
            </a:avLst>
          </a:prstGeom>
          <a:solidFill>
            <a:srgbClr val="3B82F6">
              <a:alpha val="14000"/>
            </a:srgbClr>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2550" y="2576513"/>
            <a:ext cx="190500" cy="190500"/>
          </a:xfrm>
          <a:prstGeom prst="rect">
            <a:avLst/>
          </a:prstGeom>
        </p:spPr>
      </p:pic>
      <p:sp>
        <p:nvSpPr>
          <p:cNvPr id="12" name="Text 8"/>
          <p:cNvSpPr/>
          <p:nvPr/>
        </p:nvSpPr>
        <p:spPr>
          <a:xfrm>
            <a:off x="1191419" y="2257425"/>
            <a:ext cx="3209131"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1 · Prototype</a:t>
            </a:r>
            <a:endParaRPr lang="en-US" sz="1300" dirty="0"/>
          </a:p>
        </p:txBody>
      </p:sp>
      <p:sp>
        <p:nvSpPr>
          <p:cNvPr id="13" name="Text 9"/>
          <p:cNvSpPr/>
          <p:nvPr/>
        </p:nvSpPr>
        <p:spPr>
          <a:xfrm>
            <a:off x="1191419" y="2590800"/>
            <a:ext cx="3209131"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Canva in Teams — the structure, agreed before anything is built</a:t>
            </a:r>
            <a:endParaRPr lang="en-US" sz="1100"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81542" y="2567004"/>
            <a:ext cx="209517" cy="209517"/>
          </a:xfrm>
          <a:prstGeom prst="rect">
            <a:avLst/>
          </a:prstGeom>
        </p:spPr>
      </p:pic>
      <p:sp>
        <p:nvSpPr>
          <p:cNvPr id="15" name="Shape 10"/>
          <p:cNvSpPr/>
          <p:nvPr/>
        </p:nvSpPr>
        <p:spPr>
          <a:xfrm>
            <a:off x="4800600" y="2057400"/>
            <a:ext cx="4114800" cy="1228725"/>
          </a:xfrm>
          <a:prstGeom prst="roundRect">
            <a:avLst>
              <a:gd name="adj" fmla="val 11082"/>
            </a:avLst>
          </a:prstGeom>
          <a:gradFill rotWithShape="1">
            <a:gsLst>
              <a:gs pos="0">
                <a:srgbClr val="FFFFFF">
                  <a:alpha val="11000"/>
                </a:srgbClr>
              </a:gs>
              <a:gs pos="1293">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6" name="Shape 11"/>
          <p:cNvSpPr/>
          <p:nvPr/>
        </p:nvSpPr>
        <p:spPr>
          <a:xfrm>
            <a:off x="5020700" y="2481263"/>
            <a:ext cx="381000" cy="381000"/>
          </a:xfrm>
          <a:prstGeom prst="roundRect">
            <a:avLst>
              <a:gd name="adj" fmla="val 25000"/>
            </a:avLst>
          </a:prstGeom>
          <a:solidFill>
            <a:srgbClr val="8B5CF6">
              <a:alpha val="14000"/>
            </a:srgbClr>
          </a:solidFill>
          <a:ln/>
        </p:spPr>
      </p:sp>
      <p:pic>
        <p:nvPicPr>
          <p:cNvPr id="1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15950" y="2576513"/>
            <a:ext cx="190500" cy="190500"/>
          </a:xfrm>
          <a:prstGeom prst="rect">
            <a:avLst/>
          </a:prstGeom>
        </p:spPr>
      </p:pic>
      <p:sp>
        <p:nvSpPr>
          <p:cNvPr id="18" name="Text 12"/>
          <p:cNvSpPr/>
          <p:nvPr/>
        </p:nvSpPr>
        <p:spPr>
          <a:xfrm>
            <a:off x="5534819" y="2257425"/>
            <a:ext cx="3209131"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2 · Content</a:t>
            </a:r>
            <a:endParaRPr lang="en-US" sz="1300" dirty="0"/>
          </a:p>
        </p:txBody>
      </p:sp>
      <p:sp>
        <p:nvSpPr>
          <p:cNvPr id="19" name="Text 13"/>
          <p:cNvSpPr/>
          <p:nvPr/>
        </p:nvSpPr>
        <p:spPr>
          <a:xfrm>
            <a:off x="5534819" y="2590800"/>
            <a:ext cx="3209131"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Drafted in whichever lane the topic routes to, and checked</a:t>
            </a:r>
            <a:endParaRPr lang="en-US" sz="1100"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24942" y="2567004"/>
            <a:ext cx="209517" cy="209517"/>
          </a:xfrm>
          <a:prstGeom prst="rect">
            <a:avLst/>
          </a:prstGeom>
        </p:spPr>
      </p:pic>
      <p:sp>
        <p:nvSpPr>
          <p:cNvPr id="21" name="Shape 14"/>
          <p:cNvSpPr/>
          <p:nvPr/>
        </p:nvSpPr>
        <p:spPr>
          <a:xfrm>
            <a:off x="9144000" y="2057400"/>
            <a:ext cx="4114800" cy="1228725"/>
          </a:xfrm>
          <a:prstGeom prst="roundRect">
            <a:avLst>
              <a:gd name="adj" fmla="val 11082"/>
            </a:avLst>
          </a:prstGeom>
          <a:gradFill rotWithShape="1">
            <a:gsLst>
              <a:gs pos="0">
                <a:srgbClr val="FFFFFF">
                  <a:alpha val="11000"/>
                </a:srgbClr>
              </a:gs>
              <a:gs pos="1293">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2" name="Shape 15"/>
          <p:cNvSpPr/>
          <p:nvPr/>
        </p:nvSpPr>
        <p:spPr>
          <a:xfrm>
            <a:off x="9364101" y="2481263"/>
            <a:ext cx="381000" cy="381000"/>
          </a:xfrm>
          <a:prstGeom prst="roundRect">
            <a:avLst>
              <a:gd name="adj" fmla="val 25000"/>
            </a:avLst>
          </a:prstGeom>
          <a:solidFill>
            <a:srgbClr val="10B981">
              <a:alpha val="14000"/>
            </a:srgbClr>
          </a:solidFill>
          <a:ln/>
        </p:spPr>
      </p:sp>
      <p:pic>
        <p:nvPicPr>
          <p:cNvPr id="23"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459351" y="2576513"/>
            <a:ext cx="190500" cy="190500"/>
          </a:xfrm>
          <a:prstGeom prst="rect">
            <a:avLst/>
          </a:prstGeom>
        </p:spPr>
      </p:pic>
      <p:sp>
        <p:nvSpPr>
          <p:cNvPr id="24" name="Text 16"/>
          <p:cNvSpPr/>
          <p:nvPr/>
        </p:nvSpPr>
        <p:spPr>
          <a:xfrm>
            <a:off x="9878219" y="2257425"/>
            <a:ext cx="3209131"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3 · Deck</a:t>
            </a:r>
            <a:endParaRPr lang="en-US" sz="1300" dirty="0"/>
          </a:p>
        </p:txBody>
      </p:sp>
      <p:sp>
        <p:nvSpPr>
          <p:cNvPr id="25" name="Text 17"/>
          <p:cNvSpPr/>
          <p:nvPr/>
        </p:nvSpPr>
        <p:spPr>
          <a:xfrm>
            <a:off x="9878219" y="2590800"/>
            <a:ext cx="3209131"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genspark.ai — the presentation itself, from the prototype and the approved content</a:t>
            </a:r>
            <a:endParaRPr lang="en-US" sz="1100" dirty="0"/>
          </a:p>
        </p:txBody>
      </p:sp>
      <p:sp>
        <p:nvSpPr>
          <p:cNvPr id="26" name="Shape 18"/>
          <p:cNvSpPr/>
          <p:nvPr/>
        </p:nvSpPr>
        <p:spPr>
          <a:xfrm>
            <a:off x="457200" y="3623832"/>
            <a:ext cx="12801600" cy="1819275"/>
          </a:xfrm>
          <a:prstGeom prst="roundRect">
            <a:avLst>
              <a:gd name="adj" fmla="val 3462"/>
            </a:avLst>
          </a:prstGeom>
          <a:gradFill rotWithShape="1">
            <a:gsLst>
              <a:gs pos="0">
                <a:srgbClr val="FFFFFF">
                  <a:alpha val="11000"/>
                </a:srgbClr>
              </a:gs>
              <a:gs pos="404">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7" name="Shape 19"/>
          <p:cNvSpPr/>
          <p:nvPr/>
        </p:nvSpPr>
        <p:spPr>
          <a:xfrm>
            <a:off x="685800" y="3814332"/>
            <a:ext cx="381000" cy="381000"/>
          </a:xfrm>
          <a:prstGeom prst="roundRect">
            <a:avLst>
              <a:gd name="adj" fmla="val 25000"/>
            </a:avLst>
          </a:prstGeom>
          <a:solidFill>
            <a:srgbClr val="3B82F6">
              <a:alpha val="14000"/>
            </a:srgbClr>
          </a:solidFill>
          <a:ln/>
        </p:spPr>
      </p:sp>
      <p:pic>
        <p:nvPicPr>
          <p:cNvPr id="28"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81050" y="3909582"/>
            <a:ext cx="190500" cy="190500"/>
          </a:xfrm>
          <a:prstGeom prst="rect">
            <a:avLst/>
          </a:prstGeom>
        </p:spPr>
      </p:pic>
      <p:sp>
        <p:nvSpPr>
          <p:cNvPr id="29" name="Text 20"/>
          <p:cNvSpPr/>
          <p:nvPr/>
        </p:nvSpPr>
        <p:spPr>
          <a:xfrm>
            <a:off x="1123851" y="3814332"/>
            <a:ext cx="11895832"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What you type</a:t>
            </a:r>
            <a:endParaRPr lang="en-US" sz="1600" dirty="0"/>
          </a:p>
        </p:txBody>
      </p:sp>
      <p:sp>
        <p:nvSpPr>
          <p:cNvPr id="30" name="Shape 21"/>
          <p:cNvSpPr/>
          <p:nvPr/>
        </p:nvSpPr>
        <p:spPr>
          <a:xfrm>
            <a:off x="685800" y="4339464"/>
            <a:ext cx="12323365" cy="838200"/>
          </a:xfrm>
          <a:custGeom>
            <a:avLst/>
            <a:gdLst/>
            <a:ahLst/>
            <a:cxnLst/>
            <a:rect l="l" t="t" r="r" b="b"/>
            <a:pathLst>
              <a:path w="12094766" h="784490">
                <a:moveTo>
                  <a:pt x="0" y="0"/>
                </a:moveTo>
                <a:lnTo>
                  <a:pt x="12037616" y="0"/>
                </a:lnTo>
                <a:arcTo wR="57150" hR="57150" stAng="16200000" swAng="5400000"/>
                <a:lnTo>
                  <a:pt x="12094766" y="727340"/>
                </a:lnTo>
                <a:arcTo wR="57150" hR="57150" stAng="0" swAng="5400000"/>
                <a:lnTo>
                  <a:pt x="0" y="784490"/>
                </a:lnTo>
                <a:lnTo>
                  <a:pt x="0" y="0"/>
                </a:lnTo>
                <a:close/>
              </a:path>
            </a:pathLst>
          </a:custGeom>
          <a:gradFill rotWithShape="1">
            <a:gsLst>
              <a:gs pos="0">
                <a:srgbClr val="FFFFFF">
                  <a:alpha val="11000"/>
                </a:srgbClr>
              </a:gs>
              <a:gs pos="17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1" name="Shape 22"/>
          <p:cNvSpPr/>
          <p:nvPr/>
        </p:nvSpPr>
        <p:spPr>
          <a:xfrm>
            <a:off x="685800" y="4434714"/>
            <a:ext cx="28575" cy="647700"/>
          </a:xfrm>
          <a:prstGeom prst="rect">
            <a:avLst/>
          </a:prstGeom>
          <a:solidFill>
            <a:srgbClr val="60A5FA"/>
          </a:solidFill>
          <a:ln/>
        </p:spPr>
      </p:sp>
      <p:sp>
        <p:nvSpPr>
          <p:cNvPr id="32" name="Text 23"/>
          <p:cNvSpPr/>
          <p:nvPr/>
        </p:nvSpPr>
        <p:spPr>
          <a:xfrm>
            <a:off x="878417" y="4472814"/>
            <a:ext cx="11959298"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“Build a 12-slide educational presentation on &lt;topic&gt; from this outline. Audience: research management administrators. One idea per slide, a worked example every third slide, and a five-question quiz at the end.”</a:t>
            </a:r>
            <a:endParaRPr lang="en-US" sz="1300" dirty="0"/>
          </a:p>
        </p:txBody>
      </p:sp>
      <p:sp>
        <p:nvSpPr>
          <p:cNvPr id="33" name="Shape 24"/>
          <p:cNvSpPr/>
          <p:nvPr/>
        </p:nvSpPr>
        <p:spPr>
          <a:xfrm>
            <a:off x="457200" y="5719244"/>
            <a:ext cx="12801600" cy="933450"/>
          </a:xfrm>
          <a:prstGeom prst="roundRect">
            <a:avLst>
              <a:gd name="adj" fmla="val 14903"/>
            </a:avLst>
          </a:prstGeom>
          <a:gradFill rotWithShape="1">
            <a:gsLst>
              <a:gs pos="0">
                <a:srgbClr val="EF4444"/>
              </a:gs>
              <a:gs pos="227">
                <a:srgbClr val="EF4444"/>
              </a:gs>
              <a:gs pos="228">
                <a:srgbClr val="FFFFFF">
                  <a:alpha val="5000"/>
                </a:srgbClr>
              </a:gs>
              <a:gs pos="100000">
                <a:srgbClr val="FFFFFF">
                  <a:alpha val="2500"/>
                </a:srgbClr>
              </a:gs>
            </a:gsLst>
            <a:lin ang="0" scaled="0"/>
          </a:gradFill>
          <a:ln w="9525">
            <a:solidFill>
              <a:srgbClr val="FFFFFF">
                <a:alpha val="12000"/>
              </a:srgbClr>
            </a:solidFill>
            <a:prstDash val="solid"/>
          </a:ln>
          <a:effectLst>
            <a:glow rad="190500">
              <a:srgbClr val="EF4444">
                <a:alpha val="26000"/>
              </a:srgbClr>
            </a:glow>
          </a:effectLst>
        </p:spPr>
      </p:sp>
      <p:sp>
        <p:nvSpPr>
          <p:cNvPr id="34" name="Shape 25"/>
          <p:cNvSpPr/>
          <p:nvPr/>
        </p:nvSpPr>
        <p:spPr>
          <a:xfrm>
            <a:off x="677300" y="5995469"/>
            <a:ext cx="381000" cy="381000"/>
          </a:xfrm>
          <a:prstGeom prst="roundRect">
            <a:avLst>
              <a:gd name="adj" fmla="val 25000"/>
            </a:avLst>
          </a:prstGeom>
          <a:solidFill>
            <a:srgbClr val="EF4444">
              <a:alpha val="14000"/>
            </a:srgbClr>
          </a:solidFill>
          <a:ln/>
        </p:spPr>
      </p:sp>
      <p:pic>
        <p:nvPicPr>
          <p:cNvPr id="35"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72550" y="6090719"/>
            <a:ext cx="190500" cy="190500"/>
          </a:xfrm>
          <a:prstGeom prst="rect">
            <a:avLst/>
          </a:prstGeom>
        </p:spPr>
      </p:pic>
      <p:sp>
        <p:nvSpPr>
          <p:cNvPr id="36" name="Text 26"/>
          <p:cNvSpPr/>
          <p:nvPr/>
        </p:nvSpPr>
        <p:spPr>
          <a:xfrm>
            <a:off x="1153385" y="5881169"/>
            <a:ext cx="11885315"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Outside the institutional tenant — anonymised, non-sensitive content only</a:t>
            </a:r>
            <a:endParaRPr lang="en-US" sz="1300" dirty="0"/>
          </a:p>
        </p:txBody>
      </p:sp>
      <p:sp>
        <p:nvSpPr>
          <p:cNvPr id="37" name="Text 27"/>
          <p:cNvSpPr/>
          <p:nvPr/>
        </p:nvSpPr>
        <p:spPr>
          <a:xfrm>
            <a:off x="1153385" y="6214544"/>
            <a:ext cx="5451574"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The routing rule applies to every step of a chain, not only to the first one</a:t>
            </a:r>
            <a:endParaRPr lang="en-US" sz="1100" dirty="0"/>
          </a:p>
        </p:txBody>
      </p:sp>
      <p:sp>
        <p:nvSpPr>
          <p:cNvPr id="38" name="Text 28"/>
          <p:cNvSpPr/>
          <p:nvPr/>
        </p:nvSpPr>
        <p:spPr>
          <a:xfrm>
            <a:off x="457200" y="6867525"/>
            <a:ext cx="664845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The presentation itself is next week's deliverable — Segment 5 gives you the rest of the assignment</a:t>
            </a:r>
            <a:endParaRPr lang="en-US" sz="1100" dirty="0"/>
          </a:p>
        </p:txBody>
      </p:sp>
      <p:sp>
        <p:nvSpPr>
          <p:cNvPr id="39" name="Text 29"/>
          <p:cNvSpPr/>
          <p:nvPr/>
        </p:nvSpPr>
        <p:spPr>
          <a:xfrm>
            <a:off x="7219950" y="6867525"/>
            <a:ext cx="603885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Every step names its tool, its input, its output — and its lane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50000" r="50000" b="100000"/>
            </a:path>
          </a:gradFill>
          <a:ln/>
        </p:spPr>
      </p:sp>
      <p:sp>
        <p:nvSpPr>
          <p:cNvPr id="4" name="Shape 2"/>
          <p:cNvSpPr/>
          <p:nvPr/>
        </p:nvSpPr>
        <p:spPr>
          <a:xfrm>
            <a:off x="457200" y="2895600"/>
            <a:ext cx="914400" cy="914400"/>
          </a:xfrm>
          <a:prstGeom prst="roundRect">
            <a:avLst>
              <a:gd name="adj" fmla="val 12500"/>
            </a:avLst>
          </a:prstGeom>
          <a:solidFill>
            <a:srgbClr val="2563EB"/>
          </a:solidFill>
          <a:ln/>
          <a:effectLst>
            <a:glow rad="190500">
              <a:srgbClr val="3B82F6">
                <a:alpha val="26000"/>
              </a:srgbClr>
            </a:glow>
          </a:effectLst>
        </p:spPr>
      </p:sp>
      <p:sp>
        <p:nvSpPr>
          <p:cNvPr id="5" name="Text 3"/>
          <p:cNvSpPr/>
          <p:nvPr/>
        </p:nvSpPr>
        <p:spPr>
          <a:xfrm>
            <a:off x="457200" y="2895600"/>
            <a:ext cx="914400" cy="914400"/>
          </a:xfrm>
          <a:prstGeom prst="rect">
            <a:avLst/>
          </a:prstGeom>
          <a:noFill/>
          <a:ln/>
        </p:spPr>
        <p:txBody>
          <a:bodyPr wrap="square" lIns="0" tIns="0" rIns="0" bIns="0" rtlCol="0" anchor="ctr">
            <a:normAutofit/>
          </a:bodyPr>
          <a:lstStyle/>
          <a:p>
            <a:pPr marL="0" indent="0" algn="ctr">
              <a:lnSpc>
                <a:spcPct val="98000"/>
              </a:lnSpc>
              <a:buNone/>
            </a:pPr>
            <a:r>
              <a:rPr lang="en-US" sz="4800" b="1" kern="1200" spc="-48" dirty="0">
                <a:solidFill>
                  <a:srgbClr val="FFFFFF"/>
                </a:solidFill>
                <a:latin typeface="JetBrains Mono"/>
                <a:ea typeface="JetBrains Mono"/>
                <a:cs typeface="JetBrains Mono"/>
              </a:rPr>
              <a:t>4</a:t>
            </a:r>
            <a:endParaRPr lang="en-US" sz="4800" dirty="0"/>
          </a:p>
        </p:txBody>
      </p:sp>
      <p:sp>
        <p:nvSpPr>
          <p:cNvPr id="6" name="Text 4"/>
          <p:cNvSpPr/>
          <p:nvPr/>
        </p:nvSpPr>
        <p:spPr>
          <a:xfrm>
            <a:off x="1676400" y="2876550"/>
            <a:ext cx="115824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Gemini in depth (+ NotebookLM preview)</a:t>
            </a:r>
            <a:endParaRPr lang="en-US" sz="3200" dirty="0"/>
          </a:p>
        </p:txBody>
      </p:sp>
      <p:sp>
        <p:nvSpPr>
          <p:cNvPr id="7" name="Text 5"/>
          <p:cNvSpPr/>
          <p:nvPr/>
        </p:nvSpPr>
        <p:spPr>
          <a:xfrm>
            <a:off x="1676400" y="3514725"/>
            <a:ext cx="115824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Segment 4 of 5 · Daily Driver · Google Gemini</a:t>
            </a:r>
            <a:endParaRPr lang="en-US" sz="1300" dirty="0"/>
          </a:p>
        </p:txBody>
      </p:sp>
      <p:sp>
        <p:nvSpPr>
          <p:cNvPr id="8" name="Shape 6"/>
          <p:cNvSpPr/>
          <p:nvPr/>
        </p:nvSpPr>
        <p:spPr>
          <a:xfrm>
            <a:off x="1676400" y="4076700"/>
            <a:ext cx="2762151" cy="304800"/>
          </a:xfrm>
          <a:prstGeom prst="roundRect">
            <a:avLst>
              <a:gd name="adj" fmla="val 50000"/>
            </a:avLst>
          </a:prstGeom>
          <a:solidFill>
            <a:srgbClr val="3B82F6">
              <a:alpha val="14000"/>
            </a:srgbClr>
          </a:solidFill>
          <a:ln w="10583">
            <a:solidFill>
              <a:srgbClr val="3B82F6">
                <a:alpha val="35000"/>
              </a:srgbClr>
            </a:solidFill>
            <a:prstDash val="solid"/>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28800" y="4152950"/>
            <a:ext cx="152301" cy="152301"/>
          </a:xfrm>
          <a:prstGeom prst="rect">
            <a:avLst/>
          </a:prstGeom>
        </p:spPr>
      </p:pic>
      <p:sp>
        <p:nvSpPr>
          <p:cNvPr id="10" name="Text 7"/>
          <p:cNvSpPr/>
          <p:nvPr/>
        </p:nvSpPr>
        <p:spPr>
          <a:xfrm>
            <a:off x="2057301" y="4095750"/>
            <a:ext cx="2228850" cy="266700"/>
          </a:xfrm>
          <a:prstGeom prst="rect">
            <a:avLst/>
          </a:prstGeom>
          <a:noFill/>
          <a:ln/>
        </p:spPr>
        <p:txBody>
          <a:bodyPr wrap="square" lIns="0" tIns="0" rIns="0" bIns="0" rtlCol="0" anchor="t">
            <a:normAutofit/>
          </a:bodyPr>
          <a:lstStyle/>
          <a:p>
            <a:pPr marL="0" indent="0" algn="l">
              <a:lnSpc>
                <a:spcPct val="125000"/>
              </a:lnSpc>
              <a:buNone/>
            </a:pPr>
            <a:r>
              <a:rPr lang="en-US" sz="1300" kern="1200" dirty="0">
                <a:solidFill>
                  <a:srgbClr val="60A5FA"/>
                </a:solidFill>
                <a:latin typeface="Inter"/>
                <a:ea typeface="Inter"/>
                <a:cs typeface="Inter"/>
              </a:rPr>
              <a:t>15 min · Live facilitator demo</a:t>
            </a:r>
            <a:endParaRPr lang="en-US" sz="1300" dirty="0"/>
          </a:p>
        </p:txBody>
      </p:sp>
      <p:sp>
        <p:nvSpPr>
          <p:cNvPr id="11" name="Text 8"/>
          <p:cNvSpPr/>
          <p:nvPr/>
        </p:nvSpPr>
        <p:spPr>
          <a:xfrm>
            <a:off x="457200" y="7138988"/>
            <a:ext cx="2466760" cy="238125"/>
          </a:xfrm>
          <a:prstGeom prst="rect">
            <a:avLst/>
          </a:prstGeom>
          <a:noFill/>
          <a:ln/>
        </p:spPr>
        <p:txBody>
          <a:bodyPr wrap="square" lIns="25400" tIns="25400" rIns="25400" bIns="25400" rtlCol="0" anchor="t">
            <a:normAutofit/>
          </a:bodyPr>
          <a:lstStyle/>
          <a:p>
            <a:pPr marL="0" indent="0" algn="l">
              <a:lnSpc>
                <a:spcPct val="120000"/>
              </a:lnSpc>
              <a:buNone/>
            </a:pPr>
            <a:r>
              <a:rPr lang="en-US" sz="900" kern="1200" dirty="0">
                <a:solidFill>
                  <a:srgbClr val="64748B"/>
                </a:solidFill>
                <a:latin typeface="JetBrains Mono"/>
                <a:ea typeface="JetBrains Mono"/>
                <a:cs typeface="JetBrains Mono"/>
              </a:rPr>
              <a:t>AI Research Management • Lesson 2</a:t>
            </a:r>
            <a:endParaRPr lang="en-US" sz="900" dirty="0"/>
          </a:p>
        </p:txBody>
      </p:sp>
      <p:sp>
        <p:nvSpPr>
          <p:cNvPr id="12" name="Text 9"/>
          <p:cNvSpPr/>
          <p:nvPr/>
        </p:nvSpPr>
        <p:spPr>
          <a:xfrm>
            <a:off x="9991757" y="7162800"/>
            <a:ext cx="561975" cy="190500"/>
          </a:xfrm>
          <a:prstGeom prst="rect">
            <a:avLst/>
          </a:prstGeom>
          <a:noFill/>
          <a:ln/>
        </p:spPr>
        <p:txBody>
          <a:bodyPr wrap="square" lIns="0" tIns="0" rIns="0" bIns="0" rtlCol="0" anchor="t">
            <a:normAutofit/>
          </a:bodyPr>
          <a:lstStyle/>
          <a:p>
            <a:pPr marL="0" indent="0" algn="l">
              <a:lnSpc>
                <a:spcPct val="120000"/>
              </a:lnSpc>
              <a:buNone/>
            </a:pPr>
            <a:r>
              <a:rPr lang="en-US" sz="900" kern="1200" dirty="0">
                <a:solidFill>
                  <a:srgbClr val="64748B"/>
                </a:solidFill>
                <a:latin typeface="JetBrains Mono"/>
                <a:ea typeface="JetBrains Mono"/>
                <a:cs typeface="JetBrains Mono"/>
              </a:rPr>
              <a:t>Progress</a:t>
            </a:r>
            <a:endParaRPr lang="en-US" sz="900" dirty="0"/>
          </a:p>
        </p:txBody>
      </p:sp>
      <p:sp>
        <p:nvSpPr>
          <p:cNvPr id="13" name="Shape 10"/>
          <p:cNvSpPr/>
          <p:nvPr/>
        </p:nvSpPr>
        <p:spPr>
          <a:xfrm>
            <a:off x="10668032" y="7239033"/>
            <a:ext cx="2064808" cy="38034"/>
          </a:xfrm>
          <a:prstGeom prst="roundRect">
            <a:avLst>
              <a:gd name="adj" fmla="val 50000"/>
            </a:avLst>
          </a:prstGeom>
          <a:solidFill>
            <a:srgbClr val="FFFFFF">
              <a:alpha val="6000"/>
            </a:srgbClr>
          </a:solidFill>
          <a:ln/>
        </p:spPr>
      </p:sp>
      <p:sp>
        <p:nvSpPr>
          <p:cNvPr id="14" name="Shape 11"/>
          <p:cNvSpPr/>
          <p:nvPr/>
        </p:nvSpPr>
        <p:spPr>
          <a:xfrm>
            <a:off x="10668032" y="7239033"/>
            <a:ext cx="1645609" cy="38034"/>
          </a:xfrm>
          <a:prstGeom prst="roundRect">
            <a:avLst>
              <a:gd name="adj" fmla="val 50000"/>
            </a:avLst>
          </a:prstGeom>
          <a:solidFill>
            <a:srgbClr val="3B82F6"/>
          </a:solidFill>
          <a:ln/>
          <a:effectLst>
            <a:glow rad="190500">
              <a:srgbClr val="3B82F6">
                <a:alpha val="26000"/>
              </a:srgbClr>
            </a:glow>
          </a:effectLst>
        </p:spPr>
      </p:sp>
      <p:sp>
        <p:nvSpPr>
          <p:cNvPr id="15" name="Text 12"/>
          <p:cNvSpPr/>
          <p:nvPr/>
        </p:nvSpPr>
        <p:spPr>
          <a:xfrm>
            <a:off x="12877800" y="7138988"/>
            <a:ext cx="381000" cy="238125"/>
          </a:xfrm>
          <a:prstGeom prst="rect">
            <a:avLst/>
          </a:prstGeom>
          <a:noFill/>
          <a:ln/>
        </p:spPr>
        <p:txBody>
          <a:bodyPr wrap="square" lIns="25400" tIns="25400" rIns="25400" bIns="25400" rtlCol="0" anchor="t">
            <a:normAutofit/>
          </a:bodyPr>
          <a:lstStyle/>
          <a:p>
            <a:pPr marL="0" indent="0" algn="l">
              <a:lnSpc>
                <a:spcPct val="120000"/>
              </a:lnSpc>
              <a:buNone/>
            </a:pPr>
            <a:r>
              <a:rPr lang="en-US" sz="900" kern="1200" dirty="0">
                <a:solidFill>
                  <a:srgbClr val="94A3B8"/>
                </a:solidFill>
                <a:latin typeface="JetBrains Mono"/>
                <a:ea typeface="JetBrains Mono"/>
                <a:cs typeface="JetBrains Mono"/>
              </a:rPr>
              <a:t>80%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Shape 2"/>
          <p:cNvSpPr/>
          <p:nvPr/>
        </p:nvSpPr>
        <p:spPr>
          <a:xfrm>
            <a:off x="457200" y="457200"/>
            <a:ext cx="2705034" cy="304800"/>
          </a:xfrm>
          <a:prstGeom prst="roundRect">
            <a:avLst>
              <a:gd name="adj" fmla="val 50000"/>
            </a:avLst>
          </a:prstGeom>
          <a:solidFill>
            <a:srgbClr val="3B82F6">
              <a:alpha val="14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542958"/>
            <a:ext cx="133284" cy="133284"/>
          </a:xfrm>
          <a:prstGeom prst="rect">
            <a:avLst/>
          </a:prstGeom>
        </p:spPr>
      </p:pic>
      <p:sp>
        <p:nvSpPr>
          <p:cNvPr id="6" name="Text 3"/>
          <p:cNvSpPr/>
          <p:nvPr/>
        </p:nvSpPr>
        <p:spPr>
          <a:xfrm>
            <a:off x="819084" y="514350"/>
            <a:ext cx="2190750" cy="190500"/>
          </a:xfrm>
          <a:prstGeom prst="rect">
            <a:avLst/>
          </a:prstGeom>
          <a:noFill/>
          <a:ln/>
        </p:spPr>
        <p:txBody>
          <a:bodyPr wrap="square" lIns="0" tIns="0" rIns="0" bIns="0" rtlCol="0" anchor="t">
            <a:normAutofit/>
          </a:bodyPr>
          <a:lstStyle/>
          <a:p>
            <a:pPr marL="0" indent="0" algn="l">
              <a:lnSpc>
                <a:spcPct val="120000"/>
              </a:lnSpc>
              <a:buNone/>
            </a:pPr>
            <a:r>
              <a:rPr lang="en-US" sz="900" b="1" kern="1200" spc="72" dirty="0">
                <a:solidFill>
                  <a:srgbClr val="60A5FA"/>
                </a:solidFill>
                <a:latin typeface="JetBrains Mono"/>
                <a:ea typeface="JetBrains Mono"/>
                <a:cs typeface="JetBrains Mono"/>
              </a:rPr>
              <a:t>DAILY DRIVER · GOOGLE GEMINI</a:t>
            </a:r>
            <a:endParaRPr lang="en-US" sz="900" dirty="0"/>
          </a:p>
        </p:txBody>
      </p:sp>
      <p:sp>
        <p:nvSpPr>
          <p:cNvPr id="7" name="Text 4"/>
          <p:cNvSpPr/>
          <p:nvPr/>
        </p:nvSpPr>
        <p:spPr>
          <a:xfrm>
            <a:off x="457200" y="8763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What the Daily Driver adds</a:t>
            </a:r>
            <a:endParaRPr lang="en-US" sz="3200" dirty="0"/>
          </a:p>
        </p:txBody>
      </p:sp>
      <p:sp>
        <p:nvSpPr>
          <p:cNvPr id="8" name="Text 5"/>
          <p:cNvSpPr/>
          <p:nvPr/>
        </p:nvSpPr>
        <p:spPr>
          <a:xfrm>
            <a:off x="457200" y="1495425"/>
            <a:ext cx="128016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Ten free-tier capabilities, one research-management scenario each, all of them on your own Anchor Project material</a:t>
            </a:r>
            <a:endParaRPr lang="en-US" sz="1300" dirty="0"/>
          </a:p>
        </p:txBody>
      </p:sp>
      <p:sp>
        <p:nvSpPr>
          <p:cNvPr id="9" name="Shape 6"/>
          <p:cNvSpPr/>
          <p:nvPr/>
        </p:nvSpPr>
        <p:spPr>
          <a:xfrm>
            <a:off x="457200" y="2400316"/>
            <a:ext cx="4114800" cy="2457450"/>
          </a:xfrm>
          <a:prstGeom prst="roundRect">
            <a:avLst>
              <a:gd name="adj" fmla="val 2821"/>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0" name="Shape 7"/>
          <p:cNvSpPr/>
          <p:nvPr/>
        </p:nvSpPr>
        <p:spPr>
          <a:xfrm>
            <a:off x="457200" y="4848241"/>
            <a:ext cx="4114800" cy="9525"/>
          </a:xfrm>
          <a:prstGeom prst="rect">
            <a:avLst/>
          </a:prstGeom>
          <a:solidFill>
            <a:srgbClr val="FFFFFF">
              <a:alpha val="8000"/>
            </a:srgbClr>
          </a:solidFill>
          <a:ln/>
        </p:spPr>
      </p:sp>
      <p:sp>
        <p:nvSpPr>
          <p:cNvPr id="11" name="Shape 8"/>
          <p:cNvSpPr/>
          <p:nvPr/>
        </p:nvSpPr>
        <p:spPr>
          <a:xfrm>
            <a:off x="457200" y="2400316"/>
            <a:ext cx="4114800" cy="9525"/>
          </a:xfrm>
          <a:prstGeom prst="rect">
            <a:avLst/>
          </a:prstGeom>
          <a:solidFill>
            <a:srgbClr val="FFFFFF">
              <a:alpha val="8000"/>
            </a:srgbClr>
          </a:solidFill>
          <a:ln/>
        </p:spPr>
      </p:sp>
      <p:sp>
        <p:nvSpPr>
          <p:cNvPr id="12" name="Shape 9"/>
          <p:cNvSpPr/>
          <p:nvPr/>
        </p:nvSpPr>
        <p:spPr>
          <a:xfrm>
            <a:off x="457200" y="2495566"/>
            <a:ext cx="28575" cy="2266950"/>
          </a:xfrm>
          <a:prstGeom prst="rect">
            <a:avLst/>
          </a:prstGeom>
          <a:solidFill>
            <a:srgbClr val="10B981"/>
          </a:solidFill>
          <a:ln/>
        </p:spPr>
      </p:sp>
      <p:sp>
        <p:nvSpPr>
          <p:cNvPr id="13" name="Shape 10"/>
          <p:cNvSpPr/>
          <p:nvPr/>
        </p:nvSpPr>
        <p:spPr>
          <a:xfrm>
            <a:off x="4562475" y="2495566"/>
            <a:ext cx="9525" cy="2266950"/>
          </a:xfrm>
          <a:prstGeom prst="rect">
            <a:avLst/>
          </a:prstGeom>
          <a:solidFill>
            <a:srgbClr val="FFFFFF">
              <a:alpha val="8000"/>
            </a:srgbClr>
          </a:solidFill>
          <a:ln/>
        </p:spPr>
      </p:sp>
      <p:sp>
        <p:nvSpPr>
          <p:cNvPr id="14" name="Shape 11"/>
          <p:cNvSpPr/>
          <p:nvPr/>
        </p:nvSpPr>
        <p:spPr>
          <a:xfrm>
            <a:off x="685800" y="2609866"/>
            <a:ext cx="381000" cy="381000"/>
          </a:xfrm>
          <a:prstGeom prst="roundRect">
            <a:avLst>
              <a:gd name="adj" fmla="val 25000"/>
            </a:avLst>
          </a:prstGeom>
          <a:solidFill>
            <a:srgbClr val="10B981">
              <a:alpha val="14000"/>
            </a:srgbClr>
          </a:solidFill>
          <a:ln/>
        </p:spPr>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1050" y="2705116"/>
            <a:ext cx="190500" cy="190500"/>
          </a:xfrm>
          <a:prstGeom prst="rect">
            <a:avLst/>
          </a:prstGeom>
        </p:spPr>
      </p:pic>
      <p:sp>
        <p:nvSpPr>
          <p:cNvPr id="16" name="Text 12"/>
          <p:cNvSpPr/>
          <p:nvPr/>
        </p:nvSpPr>
        <p:spPr>
          <a:xfrm>
            <a:off x="1123850" y="2609866"/>
            <a:ext cx="3198449"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34D399"/>
                </a:solidFill>
                <a:latin typeface="Inter"/>
                <a:ea typeface="Inter"/>
                <a:cs typeface="Inter"/>
              </a:rPr>
              <a:t>Live on screen</a:t>
            </a:r>
            <a:endParaRPr lang="en-US" sz="1600" dirty="0"/>
          </a:p>
        </p:txBody>
      </p:sp>
      <p:sp>
        <p:nvSpPr>
          <p:cNvPr id="17" name="Text 13"/>
          <p:cNvSpPr/>
          <p:nvPr/>
        </p:nvSpPr>
        <p:spPr>
          <a:xfrm>
            <a:off x="685800" y="3154015"/>
            <a:ext cx="3693649"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File and image upload</a:t>
            </a:r>
            <a:endParaRPr lang="en-US" sz="1300" dirty="0"/>
          </a:p>
        </p:txBody>
      </p:sp>
      <p:sp>
        <p:nvSpPr>
          <p:cNvPr id="18" name="Text 14"/>
          <p:cNvSpPr/>
          <p:nvPr/>
        </p:nvSpPr>
        <p:spPr>
          <a:xfrm>
            <a:off x="685800" y="3544507"/>
            <a:ext cx="3693649"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Long context</a:t>
            </a:r>
            <a:endParaRPr lang="en-US" sz="1300" dirty="0"/>
          </a:p>
        </p:txBody>
      </p:sp>
      <p:sp>
        <p:nvSpPr>
          <p:cNvPr id="19" name="Text 15"/>
          <p:cNvSpPr/>
          <p:nvPr/>
        </p:nvSpPr>
        <p:spPr>
          <a:xfrm>
            <a:off x="685800" y="3935000"/>
            <a:ext cx="3693649"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Gems — persistent context</a:t>
            </a:r>
            <a:endParaRPr lang="en-US" sz="1300" dirty="0"/>
          </a:p>
        </p:txBody>
      </p:sp>
      <p:sp>
        <p:nvSpPr>
          <p:cNvPr id="20" name="Text 16"/>
          <p:cNvSpPr/>
          <p:nvPr/>
        </p:nvSpPr>
        <p:spPr>
          <a:xfrm>
            <a:off x="685800" y="4325492"/>
            <a:ext cx="3693649"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Canvas</a:t>
            </a:r>
            <a:endParaRPr lang="en-US" sz="1300" dirty="0"/>
          </a:p>
        </p:txBody>
      </p:sp>
      <p:sp>
        <p:nvSpPr>
          <p:cNvPr id="21" name="Shape 17"/>
          <p:cNvSpPr/>
          <p:nvPr/>
        </p:nvSpPr>
        <p:spPr>
          <a:xfrm>
            <a:off x="4800600" y="2400316"/>
            <a:ext cx="4114800" cy="2457450"/>
          </a:xfrm>
          <a:prstGeom prst="roundRect">
            <a:avLst>
              <a:gd name="adj" fmla="val 2821"/>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2" name="Shape 18"/>
          <p:cNvSpPr/>
          <p:nvPr/>
        </p:nvSpPr>
        <p:spPr>
          <a:xfrm>
            <a:off x="4800600" y="4848241"/>
            <a:ext cx="4114800" cy="9525"/>
          </a:xfrm>
          <a:prstGeom prst="rect">
            <a:avLst/>
          </a:prstGeom>
          <a:solidFill>
            <a:srgbClr val="FFFFFF">
              <a:alpha val="8000"/>
            </a:srgbClr>
          </a:solidFill>
          <a:ln/>
        </p:spPr>
      </p:sp>
      <p:sp>
        <p:nvSpPr>
          <p:cNvPr id="23" name="Shape 19"/>
          <p:cNvSpPr/>
          <p:nvPr/>
        </p:nvSpPr>
        <p:spPr>
          <a:xfrm>
            <a:off x="4800600" y="2400316"/>
            <a:ext cx="4114800" cy="9525"/>
          </a:xfrm>
          <a:prstGeom prst="rect">
            <a:avLst/>
          </a:prstGeom>
          <a:solidFill>
            <a:srgbClr val="FFFFFF">
              <a:alpha val="8000"/>
            </a:srgbClr>
          </a:solidFill>
          <a:ln/>
        </p:spPr>
      </p:sp>
      <p:sp>
        <p:nvSpPr>
          <p:cNvPr id="24" name="Shape 20"/>
          <p:cNvSpPr/>
          <p:nvPr/>
        </p:nvSpPr>
        <p:spPr>
          <a:xfrm>
            <a:off x="4800600" y="2495566"/>
            <a:ext cx="28575" cy="2266950"/>
          </a:xfrm>
          <a:prstGeom prst="rect">
            <a:avLst/>
          </a:prstGeom>
          <a:solidFill>
            <a:srgbClr val="3B82F6"/>
          </a:solidFill>
          <a:ln/>
        </p:spPr>
      </p:sp>
      <p:sp>
        <p:nvSpPr>
          <p:cNvPr id="25" name="Shape 21"/>
          <p:cNvSpPr/>
          <p:nvPr/>
        </p:nvSpPr>
        <p:spPr>
          <a:xfrm>
            <a:off x="8905875" y="2495566"/>
            <a:ext cx="9525" cy="2266950"/>
          </a:xfrm>
          <a:prstGeom prst="rect">
            <a:avLst/>
          </a:prstGeom>
          <a:solidFill>
            <a:srgbClr val="FFFFFF">
              <a:alpha val="8000"/>
            </a:srgbClr>
          </a:solidFill>
          <a:ln/>
        </p:spPr>
      </p:sp>
      <p:sp>
        <p:nvSpPr>
          <p:cNvPr id="26" name="Shape 22"/>
          <p:cNvSpPr/>
          <p:nvPr/>
        </p:nvSpPr>
        <p:spPr>
          <a:xfrm>
            <a:off x="5029200" y="2609866"/>
            <a:ext cx="381000" cy="381000"/>
          </a:xfrm>
          <a:prstGeom prst="roundRect">
            <a:avLst>
              <a:gd name="adj" fmla="val 25000"/>
            </a:avLst>
          </a:prstGeom>
          <a:solidFill>
            <a:srgbClr val="3B82F6">
              <a:alpha val="14000"/>
            </a:srgbClr>
          </a:solidFill>
          <a:ln/>
        </p:spPr>
      </p:sp>
      <p:pic>
        <p:nvPicPr>
          <p:cNvPr id="2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24450" y="2705116"/>
            <a:ext cx="190500" cy="190500"/>
          </a:xfrm>
          <a:prstGeom prst="rect">
            <a:avLst/>
          </a:prstGeom>
        </p:spPr>
      </p:pic>
      <p:sp>
        <p:nvSpPr>
          <p:cNvPr id="28" name="Text 23"/>
          <p:cNvSpPr/>
          <p:nvPr/>
        </p:nvSpPr>
        <p:spPr>
          <a:xfrm>
            <a:off x="5467250" y="2609866"/>
            <a:ext cx="3198449"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60A5FA"/>
                </a:solidFill>
                <a:latin typeface="Inter"/>
                <a:ea typeface="Inter"/>
                <a:cs typeface="Inter"/>
              </a:rPr>
              <a:t>Prepared result</a:t>
            </a:r>
            <a:endParaRPr lang="en-US" sz="1600" dirty="0"/>
          </a:p>
        </p:txBody>
      </p:sp>
      <p:sp>
        <p:nvSpPr>
          <p:cNvPr id="29" name="Text 24"/>
          <p:cNvSpPr/>
          <p:nvPr/>
        </p:nvSpPr>
        <p:spPr>
          <a:xfrm>
            <a:off x="5029200" y="3154015"/>
            <a:ext cx="3693649"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Deep Research</a:t>
            </a:r>
            <a:endParaRPr lang="en-US" sz="1300" dirty="0"/>
          </a:p>
        </p:txBody>
      </p:sp>
      <p:sp>
        <p:nvSpPr>
          <p:cNvPr id="30" name="Text 25"/>
          <p:cNvSpPr/>
          <p:nvPr/>
        </p:nvSpPr>
        <p:spPr>
          <a:xfrm>
            <a:off x="5029200" y="3544507"/>
            <a:ext cx="3693649"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Image generation and editing</a:t>
            </a:r>
            <a:endParaRPr lang="en-US" sz="1300" dirty="0"/>
          </a:p>
        </p:txBody>
      </p:sp>
      <p:sp>
        <p:nvSpPr>
          <p:cNvPr id="31" name="Shape 26"/>
          <p:cNvSpPr/>
          <p:nvPr/>
        </p:nvSpPr>
        <p:spPr>
          <a:xfrm>
            <a:off x="9144000" y="2400316"/>
            <a:ext cx="4114800" cy="2457450"/>
          </a:xfrm>
          <a:prstGeom prst="roundRect">
            <a:avLst>
              <a:gd name="adj" fmla="val 2821"/>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2" name="Shape 27"/>
          <p:cNvSpPr/>
          <p:nvPr/>
        </p:nvSpPr>
        <p:spPr>
          <a:xfrm>
            <a:off x="9144000" y="4848241"/>
            <a:ext cx="4114800" cy="9525"/>
          </a:xfrm>
          <a:prstGeom prst="rect">
            <a:avLst/>
          </a:prstGeom>
          <a:solidFill>
            <a:srgbClr val="FFFFFF">
              <a:alpha val="8000"/>
            </a:srgbClr>
          </a:solidFill>
          <a:ln/>
        </p:spPr>
      </p:sp>
      <p:sp>
        <p:nvSpPr>
          <p:cNvPr id="33" name="Shape 28"/>
          <p:cNvSpPr/>
          <p:nvPr/>
        </p:nvSpPr>
        <p:spPr>
          <a:xfrm>
            <a:off x="9144000" y="2400316"/>
            <a:ext cx="4114800" cy="9525"/>
          </a:xfrm>
          <a:prstGeom prst="rect">
            <a:avLst/>
          </a:prstGeom>
          <a:solidFill>
            <a:srgbClr val="FFFFFF">
              <a:alpha val="8000"/>
            </a:srgbClr>
          </a:solidFill>
          <a:ln/>
        </p:spPr>
      </p:sp>
      <p:sp>
        <p:nvSpPr>
          <p:cNvPr id="34" name="Shape 29"/>
          <p:cNvSpPr/>
          <p:nvPr/>
        </p:nvSpPr>
        <p:spPr>
          <a:xfrm>
            <a:off x="9144000" y="2495566"/>
            <a:ext cx="28575" cy="2266950"/>
          </a:xfrm>
          <a:prstGeom prst="rect">
            <a:avLst/>
          </a:prstGeom>
          <a:solidFill>
            <a:srgbClr val="64748B"/>
          </a:solidFill>
          <a:ln/>
        </p:spPr>
      </p:sp>
      <p:sp>
        <p:nvSpPr>
          <p:cNvPr id="35" name="Shape 30"/>
          <p:cNvSpPr/>
          <p:nvPr/>
        </p:nvSpPr>
        <p:spPr>
          <a:xfrm>
            <a:off x="13249275" y="2495566"/>
            <a:ext cx="9525" cy="2266950"/>
          </a:xfrm>
          <a:prstGeom prst="rect">
            <a:avLst/>
          </a:prstGeom>
          <a:solidFill>
            <a:srgbClr val="FFFFFF">
              <a:alpha val="8000"/>
            </a:srgbClr>
          </a:solidFill>
          <a:ln/>
        </p:spPr>
      </p:sp>
      <p:sp>
        <p:nvSpPr>
          <p:cNvPr id="36" name="Shape 31"/>
          <p:cNvSpPr/>
          <p:nvPr/>
        </p:nvSpPr>
        <p:spPr>
          <a:xfrm>
            <a:off x="9372600" y="2609866"/>
            <a:ext cx="381000" cy="381000"/>
          </a:xfrm>
          <a:prstGeom prst="roundRect">
            <a:avLst>
              <a:gd name="adj" fmla="val 25000"/>
            </a:avLst>
          </a:prstGeom>
          <a:solidFill>
            <a:srgbClr val="FFFFFF">
              <a:alpha val="6000"/>
            </a:srgbClr>
          </a:solidFill>
          <a:ln/>
        </p:spPr>
      </p:sp>
      <p:pic>
        <p:nvPicPr>
          <p:cNvPr id="3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67850" y="2705116"/>
            <a:ext cx="190500" cy="190500"/>
          </a:xfrm>
          <a:prstGeom prst="rect">
            <a:avLst/>
          </a:prstGeom>
        </p:spPr>
      </p:pic>
      <p:sp>
        <p:nvSpPr>
          <p:cNvPr id="38" name="Text 32"/>
          <p:cNvSpPr/>
          <p:nvPr/>
        </p:nvSpPr>
        <p:spPr>
          <a:xfrm>
            <a:off x="9810650" y="2609866"/>
            <a:ext cx="3198449"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94A3B8"/>
                </a:solidFill>
                <a:latin typeface="Inter"/>
                <a:ea typeface="Inter"/>
                <a:cs typeface="Inter"/>
              </a:rPr>
              <a:t>Named, not demonstrated</a:t>
            </a:r>
            <a:endParaRPr lang="en-US" sz="1600" dirty="0"/>
          </a:p>
        </p:txBody>
      </p:sp>
      <p:sp>
        <p:nvSpPr>
          <p:cNvPr id="39" name="Text 33"/>
          <p:cNvSpPr/>
          <p:nvPr/>
        </p:nvSpPr>
        <p:spPr>
          <a:xfrm>
            <a:off x="9372600" y="3154015"/>
            <a:ext cx="3693649"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Google Workspace hooks</a:t>
            </a:r>
            <a:endParaRPr lang="en-US" sz="1300" dirty="0"/>
          </a:p>
        </p:txBody>
      </p:sp>
      <p:sp>
        <p:nvSpPr>
          <p:cNvPr id="40" name="Text 34"/>
          <p:cNvSpPr/>
          <p:nvPr/>
        </p:nvSpPr>
        <p:spPr>
          <a:xfrm>
            <a:off x="9372600" y="3544507"/>
            <a:ext cx="3693649"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Gemini Live and mobile</a:t>
            </a:r>
            <a:endParaRPr lang="en-US" sz="1300" dirty="0"/>
          </a:p>
        </p:txBody>
      </p:sp>
      <p:sp>
        <p:nvSpPr>
          <p:cNvPr id="41" name="Text 35"/>
          <p:cNvSpPr/>
          <p:nvPr/>
        </p:nvSpPr>
        <p:spPr>
          <a:xfrm>
            <a:off x="9372600" y="3935000"/>
            <a:ext cx="3693649"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Guided Learning mode</a:t>
            </a:r>
            <a:endParaRPr lang="en-US" sz="1300" dirty="0"/>
          </a:p>
        </p:txBody>
      </p:sp>
      <p:sp>
        <p:nvSpPr>
          <p:cNvPr id="42" name="Text 36"/>
          <p:cNvSpPr/>
          <p:nvPr/>
        </p:nvSpPr>
        <p:spPr>
          <a:xfrm>
            <a:off x="9372600" y="4325492"/>
            <a:ext cx="3693649"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Saved info</a:t>
            </a:r>
            <a:endParaRPr lang="en-US" sz="1300" dirty="0"/>
          </a:p>
        </p:txBody>
      </p:sp>
      <p:sp>
        <p:nvSpPr>
          <p:cNvPr id="43" name="Shape 37"/>
          <p:cNvSpPr/>
          <p:nvPr/>
        </p:nvSpPr>
        <p:spPr>
          <a:xfrm>
            <a:off x="457200" y="5276866"/>
            <a:ext cx="12801600" cy="1133475"/>
          </a:xfrm>
          <a:prstGeom prst="roundRect">
            <a:avLst>
              <a:gd name="adj" fmla="val 11134"/>
            </a:avLst>
          </a:prstGeom>
          <a:gradFill rotWithShape="1">
            <a:gsLst>
              <a:gs pos="0">
                <a:srgbClr val="3B82F6"/>
              </a:gs>
              <a:gs pos="227">
                <a:srgbClr val="3B82F6"/>
              </a:gs>
              <a:gs pos="228">
                <a:srgbClr val="FFFFFF">
                  <a:alpha val="5000"/>
                </a:srgbClr>
              </a:gs>
              <a:gs pos="100000">
                <a:srgbClr val="FFFFFF">
                  <a:alpha val="2500"/>
                </a:srgbClr>
              </a:gs>
            </a:gsLst>
            <a:lin ang="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44" name="Shape 38"/>
          <p:cNvSpPr/>
          <p:nvPr/>
        </p:nvSpPr>
        <p:spPr>
          <a:xfrm>
            <a:off x="677300" y="5653104"/>
            <a:ext cx="381000" cy="381000"/>
          </a:xfrm>
          <a:prstGeom prst="roundRect">
            <a:avLst>
              <a:gd name="adj" fmla="val 25000"/>
            </a:avLst>
          </a:prstGeom>
          <a:solidFill>
            <a:srgbClr val="3B82F6">
              <a:alpha val="14000"/>
            </a:srgbClr>
          </a:solidFill>
          <a:ln/>
        </p:spPr>
      </p:sp>
      <p:pic>
        <p:nvPicPr>
          <p:cNvPr id="4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72550" y="5748354"/>
            <a:ext cx="190500" cy="190500"/>
          </a:xfrm>
          <a:prstGeom prst="rect">
            <a:avLst/>
          </a:prstGeom>
        </p:spPr>
      </p:pic>
      <p:sp>
        <p:nvSpPr>
          <p:cNvPr id="46" name="Text 39"/>
          <p:cNvSpPr/>
          <p:nvPr/>
        </p:nvSpPr>
        <p:spPr>
          <a:xfrm>
            <a:off x="1153385" y="5429266"/>
            <a:ext cx="11933965"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Free tier at the time of writing — September 2026</a:t>
            </a:r>
            <a:endParaRPr lang="en-US" sz="1300" dirty="0"/>
          </a:p>
        </p:txBody>
      </p:sp>
      <p:sp>
        <p:nvSpPr>
          <p:cNvPr id="47" name="Text 40"/>
          <p:cNvSpPr/>
          <p:nvPr/>
        </p:nvSpPr>
        <p:spPr>
          <a:xfrm>
            <a:off x="1153385" y="5762641"/>
            <a:ext cx="11933965"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Google moves capabilities between plans month to month. What is demonstrated today was checked in this account last week; check yours before you build a workflow on any one of them.</a:t>
            </a:r>
            <a:endParaRPr lang="en-US" sz="1100" dirty="0"/>
          </a:p>
        </p:txBody>
      </p:sp>
      <p:sp>
        <p:nvSpPr>
          <p:cNvPr id="48" name="Text 41"/>
          <p:cNvSpPr/>
          <p:nvPr/>
        </p:nvSpPr>
        <p:spPr>
          <a:xfrm>
            <a:off x="457200" y="6524609"/>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Everything on screen is anonymised or fictional — the “what must never enter Gemini” list from Segment 2 stays on the second monitor</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Shape 2"/>
          <p:cNvSpPr/>
          <p:nvPr/>
        </p:nvSpPr>
        <p:spPr>
          <a:xfrm>
            <a:off x="457200" y="457200"/>
            <a:ext cx="2705034" cy="304800"/>
          </a:xfrm>
          <a:prstGeom prst="roundRect">
            <a:avLst>
              <a:gd name="adj" fmla="val 50000"/>
            </a:avLst>
          </a:prstGeom>
          <a:solidFill>
            <a:srgbClr val="3B82F6">
              <a:alpha val="14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542958"/>
            <a:ext cx="133284" cy="133284"/>
          </a:xfrm>
          <a:prstGeom prst="rect">
            <a:avLst/>
          </a:prstGeom>
        </p:spPr>
      </p:pic>
      <p:sp>
        <p:nvSpPr>
          <p:cNvPr id="6" name="Text 3"/>
          <p:cNvSpPr/>
          <p:nvPr/>
        </p:nvSpPr>
        <p:spPr>
          <a:xfrm>
            <a:off x="819084" y="514350"/>
            <a:ext cx="2190750" cy="190500"/>
          </a:xfrm>
          <a:prstGeom prst="rect">
            <a:avLst/>
          </a:prstGeom>
          <a:noFill/>
          <a:ln/>
        </p:spPr>
        <p:txBody>
          <a:bodyPr wrap="square" lIns="0" tIns="0" rIns="0" bIns="0" rtlCol="0" anchor="t">
            <a:normAutofit/>
          </a:bodyPr>
          <a:lstStyle/>
          <a:p>
            <a:pPr marL="0" indent="0" algn="l">
              <a:lnSpc>
                <a:spcPct val="120000"/>
              </a:lnSpc>
              <a:buNone/>
            </a:pPr>
            <a:r>
              <a:rPr lang="en-US" sz="900" b="1" kern="1200" spc="72" dirty="0">
                <a:solidFill>
                  <a:srgbClr val="60A5FA"/>
                </a:solidFill>
                <a:latin typeface="JetBrains Mono"/>
                <a:ea typeface="JetBrains Mono"/>
                <a:cs typeface="JetBrains Mono"/>
              </a:rPr>
              <a:t>DAILY DRIVER · GOOGLE GEMINI</a:t>
            </a:r>
            <a:endParaRPr lang="en-US" sz="900" dirty="0"/>
          </a:p>
        </p:txBody>
      </p:sp>
      <p:sp>
        <p:nvSpPr>
          <p:cNvPr id="7" name="Text 4"/>
          <p:cNvSpPr/>
          <p:nvPr/>
        </p:nvSpPr>
        <p:spPr>
          <a:xfrm>
            <a:off x="457200" y="8763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File and image upload</a:t>
            </a:r>
            <a:endParaRPr lang="en-US" sz="3200" dirty="0"/>
          </a:p>
        </p:txBody>
      </p:sp>
      <p:sp>
        <p:nvSpPr>
          <p:cNvPr id="8" name="Text 5"/>
          <p:cNvSpPr/>
          <p:nvPr/>
        </p:nvSpPr>
        <p:spPr>
          <a:xfrm>
            <a:off x="457200" y="1495425"/>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An anonymised call document as a PDF and a photographed budget table as an image, in the same question — the checklist out of one, a reading of the numbers out of the other</a:t>
            </a:r>
            <a:endParaRPr lang="en-US" sz="1100" dirty="0"/>
          </a:p>
        </p:txBody>
      </p:sp>
      <p:sp>
        <p:nvSpPr>
          <p:cNvPr id="9" name="Shape 6"/>
          <p:cNvSpPr/>
          <p:nvPr/>
        </p:nvSpPr>
        <p:spPr>
          <a:xfrm>
            <a:off x="457200" y="2505092"/>
            <a:ext cx="4114800" cy="2714625"/>
          </a:xfrm>
          <a:prstGeom prst="roundRect">
            <a:avLst>
              <a:gd name="adj" fmla="val 2552"/>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0" name="Shape 7"/>
          <p:cNvSpPr/>
          <p:nvPr/>
        </p:nvSpPr>
        <p:spPr>
          <a:xfrm>
            <a:off x="677300" y="2686067"/>
            <a:ext cx="381000" cy="381000"/>
          </a:xfrm>
          <a:prstGeom prst="roundRect">
            <a:avLst>
              <a:gd name="adj" fmla="val 25000"/>
            </a:avLst>
          </a:prstGeom>
          <a:solidFill>
            <a:srgbClr val="3B82F6">
              <a:alpha val="14000"/>
            </a:srgbClr>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2550" y="2781317"/>
            <a:ext cx="190500" cy="190500"/>
          </a:xfrm>
          <a:prstGeom prst="rect">
            <a:avLst/>
          </a:prstGeom>
        </p:spPr>
      </p:pic>
      <p:sp>
        <p:nvSpPr>
          <p:cNvPr id="12" name="Text 8"/>
          <p:cNvSpPr/>
          <p:nvPr/>
        </p:nvSpPr>
        <p:spPr>
          <a:xfrm>
            <a:off x="1096334" y="2686067"/>
            <a:ext cx="3255566"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What you type</a:t>
            </a:r>
            <a:endParaRPr lang="en-US" sz="1600" dirty="0"/>
          </a:p>
        </p:txBody>
      </p:sp>
      <p:sp>
        <p:nvSpPr>
          <p:cNvPr id="13" name="Shape 9"/>
          <p:cNvSpPr/>
          <p:nvPr/>
        </p:nvSpPr>
        <p:spPr>
          <a:xfrm>
            <a:off x="677300" y="3207560"/>
            <a:ext cx="3674599" cy="1828800"/>
          </a:xfrm>
          <a:custGeom>
            <a:avLst/>
            <a:gdLst/>
            <a:ahLst/>
            <a:cxnLst/>
            <a:rect l="l" t="t" r="r" b="b"/>
            <a:pathLst>
              <a:path w="4038699" h="1318948">
                <a:moveTo>
                  <a:pt x="0" y="0"/>
                </a:moveTo>
                <a:lnTo>
                  <a:pt x="3981549" y="0"/>
                </a:lnTo>
                <a:arcTo wR="57150" hR="57150" stAng="16200000" swAng="5400000"/>
                <a:lnTo>
                  <a:pt x="4038699" y="1261798"/>
                </a:lnTo>
                <a:arcTo wR="57150" hR="57150" stAng="0" swAng="5400000"/>
                <a:lnTo>
                  <a:pt x="0" y="1318948"/>
                </a:lnTo>
                <a:lnTo>
                  <a:pt x="0" y="0"/>
                </a:lnTo>
                <a:close/>
              </a:path>
            </a:pathLst>
          </a:custGeom>
          <a:gradFill rotWithShape="1">
            <a:gsLst>
              <a:gs pos="0">
                <a:srgbClr val="FFFFFF">
                  <a:alpha val="11000"/>
                </a:srgbClr>
              </a:gs>
              <a:gs pos="1011">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4" name="Shape 10"/>
          <p:cNvSpPr/>
          <p:nvPr/>
        </p:nvSpPr>
        <p:spPr>
          <a:xfrm>
            <a:off x="677300" y="3302810"/>
            <a:ext cx="28575" cy="1638300"/>
          </a:xfrm>
          <a:prstGeom prst="rect">
            <a:avLst/>
          </a:prstGeom>
          <a:solidFill>
            <a:srgbClr val="60A5FA"/>
          </a:solidFill>
          <a:ln/>
        </p:spPr>
      </p:sp>
      <p:sp>
        <p:nvSpPr>
          <p:cNvPr id="15" name="Text 11"/>
          <p:cNvSpPr/>
          <p:nvPr/>
        </p:nvSpPr>
        <p:spPr>
          <a:xfrm>
            <a:off x="850867" y="3331385"/>
            <a:ext cx="3329582" cy="2091002"/>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“You are advising a research management office. From the attached call document, give me the eligibility criteria as a checklist we can tick off. From the attached table image, tell me which cost lines sit above the call's caps. Ask me before assuming anything the documents do not state.”</a:t>
            </a:r>
            <a:endParaRPr lang="en-US" sz="1100" dirty="0"/>
          </a:p>
        </p:txBody>
      </p:sp>
      <p:sp>
        <p:nvSpPr>
          <p:cNvPr id="16" name="Shape 12"/>
          <p:cNvSpPr/>
          <p:nvPr/>
        </p:nvSpPr>
        <p:spPr>
          <a:xfrm>
            <a:off x="4800600" y="2505092"/>
            <a:ext cx="4114800" cy="2714625"/>
          </a:xfrm>
          <a:prstGeom prst="roundRect">
            <a:avLst>
              <a:gd name="adj" fmla="val 2935"/>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7" name="Shape 13"/>
          <p:cNvSpPr/>
          <p:nvPr/>
        </p:nvSpPr>
        <p:spPr>
          <a:xfrm>
            <a:off x="5020700" y="2686067"/>
            <a:ext cx="381000" cy="381000"/>
          </a:xfrm>
          <a:prstGeom prst="roundRect">
            <a:avLst>
              <a:gd name="adj" fmla="val 25000"/>
            </a:avLst>
          </a:prstGeom>
          <a:solidFill>
            <a:srgbClr val="10B981">
              <a:alpha val="14000"/>
            </a:srgbClr>
          </a:solidFill>
          <a:ln/>
        </p:spPr>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15950" y="2781317"/>
            <a:ext cx="190500" cy="190500"/>
          </a:xfrm>
          <a:prstGeom prst="rect">
            <a:avLst/>
          </a:prstGeom>
        </p:spPr>
      </p:pic>
      <p:sp>
        <p:nvSpPr>
          <p:cNvPr id="19" name="Text 14"/>
          <p:cNvSpPr/>
          <p:nvPr/>
        </p:nvSpPr>
        <p:spPr>
          <a:xfrm>
            <a:off x="5439734" y="2686067"/>
            <a:ext cx="3255566"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What comes back</a:t>
            </a:r>
            <a:endParaRPr lang="en-US" sz="1600" dirty="0"/>
          </a:p>
        </p:txBody>
      </p:sp>
      <p:sp>
        <p:nvSpPr>
          <p:cNvPr id="20" name="Text 15"/>
          <p:cNvSpPr/>
          <p:nvPr/>
        </p:nvSpPr>
        <p:spPr>
          <a:xfrm>
            <a:off x="5020700" y="3207560"/>
            <a:ext cx="3723250"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A checklist you can paste into the project's guide page</a:t>
            </a:r>
            <a:endParaRPr lang="en-US" sz="1100" dirty="0"/>
          </a:p>
        </p:txBody>
      </p:sp>
      <p:sp>
        <p:nvSpPr>
          <p:cNvPr id="21" name="Text 16"/>
          <p:cNvSpPr/>
          <p:nvPr/>
        </p:nvSpPr>
        <p:spPr>
          <a:xfrm>
            <a:off x="5020700" y="3769436"/>
            <a:ext cx="3723250"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A reading of a table that only ever existed as a photograph</a:t>
            </a:r>
            <a:endParaRPr lang="en-US" sz="1100" dirty="0"/>
          </a:p>
        </p:txBody>
      </p:sp>
      <p:sp>
        <p:nvSpPr>
          <p:cNvPr id="22" name="Text 17"/>
          <p:cNvSpPr/>
          <p:nvPr/>
        </p:nvSpPr>
        <p:spPr>
          <a:xfrm>
            <a:off x="5020700" y="4331312"/>
            <a:ext cx="3723250"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Its own questions, where the documents are silent — the ask-me-first pattern from Lesson 1</a:t>
            </a:r>
            <a:endParaRPr lang="en-US" sz="1100" dirty="0"/>
          </a:p>
        </p:txBody>
      </p:sp>
      <p:sp>
        <p:nvSpPr>
          <p:cNvPr id="23" name="Shape 18"/>
          <p:cNvSpPr/>
          <p:nvPr/>
        </p:nvSpPr>
        <p:spPr>
          <a:xfrm>
            <a:off x="9144000" y="2505092"/>
            <a:ext cx="4114800" cy="2714625"/>
          </a:xfrm>
          <a:prstGeom prst="roundRect">
            <a:avLst>
              <a:gd name="adj" fmla="val 2935"/>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4" name="Shape 19"/>
          <p:cNvSpPr/>
          <p:nvPr/>
        </p:nvSpPr>
        <p:spPr>
          <a:xfrm>
            <a:off x="9144000" y="5210192"/>
            <a:ext cx="4114800" cy="9525"/>
          </a:xfrm>
          <a:prstGeom prst="rect">
            <a:avLst/>
          </a:prstGeom>
          <a:solidFill>
            <a:srgbClr val="FFFFFF">
              <a:alpha val="8000"/>
            </a:srgbClr>
          </a:solidFill>
          <a:ln/>
        </p:spPr>
      </p:sp>
      <p:sp>
        <p:nvSpPr>
          <p:cNvPr id="25" name="Shape 20"/>
          <p:cNvSpPr/>
          <p:nvPr/>
        </p:nvSpPr>
        <p:spPr>
          <a:xfrm>
            <a:off x="9144000" y="2505092"/>
            <a:ext cx="4114800" cy="9525"/>
          </a:xfrm>
          <a:prstGeom prst="rect">
            <a:avLst/>
          </a:prstGeom>
          <a:solidFill>
            <a:srgbClr val="FFFFFF">
              <a:alpha val="8000"/>
            </a:srgbClr>
          </a:solidFill>
          <a:ln/>
        </p:spPr>
      </p:sp>
      <p:sp>
        <p:nvSpPr>
          <p:cNvPr id="26" name="Shape 21"/>
          <p:cNvSpPr/>
          <p:nvPr/>
        </p:nvSpPr>
        <p:spPr>
          <a:xfrm>
            <a:off x="9144000" y="2600342"/>
            <a:ext cx="28575" cy="2524125"/>
          </a:xfrm>
          <a:prstGeom prst="rect">
            <a:avLst/>
          </a:prstGeom>
          <a:solidFill>
            <a:srgbClr val="EF4444"/>
          </a:solidFill>
          <a:ln/>
        </p:spPr>
      </p:sp>
      <p:sp>
        <p:nvSpPr>
          <p:cNvPr id="27" name="Shape 22"/>
          <p:cNvSpPr/>
          <p:nvPr/>
        </p:nvSpPr>
        <p:spPr>
          <a:xfrm>
            <a:off x="13249275" y="2600342"/>
            <a:ext cx="9525" cy="2524125"/>
          </a:xfrm>
          <a:prstGeom prst="rect">
            <a:avLst/>
          </a:prstGeom>
          <a:solidFill>
            <a:srgbClr val="FFFFFF">
              <a:alpha val="8000"/>
            </a:srgbClr>
          </a:solidFill>
          <a:ln/>
        </p:spPr>
      </p:sp>
      <p:sp>
        <p:nvSpPr>
          <p:cNvPr id="28" name="Shape 23"/>
          <p:cNvSpPr/>
          <p:nvPr/>
        </p:nvSpPr>
        <p:spPr>
          <a:xfrm>
            <a:off x="9374684" y="2686067"/>
            <a:ext cx="381000" cy="381000"/>
          </a:xfrm>
          <a:prstGeom prst="roundRect">
            <a:avLst>
              <a:gd name="adj" fmla="val 25000"/>
            </a:avLst>
          </a:prstGeom>
          <a:solidFill>
            <a:srgbClr val="EF4444">
              <a:alpha val="14000"/>
            </a:srgbClr>
          </a:solidFill>
          <a:ln/>
        </p:spPr>
      </p:sp>
      <p:pic>
        <p:nvPicPr>
          <p:cNvPr id="2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69934" y="2781317"/>
            <a:ext cx="190500" cy="190500"/>
          </a:xfrm>
          <a:prstGeom prst="rect">
            <a:avLst/>
          </a:prstGeom>
        </p:spPr>
      </p:pic>
      <p:sp>
        <p:nvSpPr>
          <p:cNvPr id="30" name="Text 24"/>
          <p:cNvSpPr/>
          <p:nvPr/>
        </p:nvSpPr>
        <p:spPr>
          <a:xfrm>
            <a:off x="9793718" y="2686067"/>
            <a:ext cx="3236482"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Before anything is uploaded</a:t>
            </a:r>
            <a:endParaRPr lang="en-US" sz="1600" dirty="0"/>
          </a:p>
        </p:txBody>
      </p:sp>
      <p:sp>
        <p:nvSpPr>
          <p:cNvPr id="31" name="Text 25"/>
          <p:cNvSpPr/>
          <p:nvPr/>
        </p:nvSpPr>
        <p:spPr>
          <a:xfrm>
            <a:off x="9374684" y="3207560"/>
            <a:ext cx="3712666" cy="9239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Both files are cleared first: the call document anonymised where your copy carries internal notes, the budget table fictional — names, sums and partners changed before the screenshot</a:t>
            </a:r>
            <a:endParaRPr lang="en-US" sz="1100" dirty="0"/>
          </a:p>
        </p:txBody>
      </p:sp>
      <p:sp>
        <p:nvSpPr>
          <p:cNvPr id="32" name="Text 26"/>
          <p:cNvSpPr/>
          <p:nvPr/>
        </p:nvSpPr>
        <p:spPr>
          <a:xfrm>
            <a:off x="9374684" y="4198061"/>
            <a:ext cx="3712666"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A document with personal or sensitive information does not come here at all (Segment 2)</a:t>
            </a:r>
            <a:endParaRPr lang="en-US" sz="1100" dirty="0"/>
          </a:p>
        </p:txBody>
      </p:sp>
      <p:sp>
        <p:nvSpPr>
          <p:cNvPr id="33" name="Shape 27"/>
          <p:cNvSpPr/>
          <p:nvPr/>
        </p:nvSpPr>
        <p:spPr>
          <a:xfrm>
            <a:off x="457200" y="5638817"/>
            <a:ext cx="12801600" cy="628650"/>
          </a:xfrm>
          <a:prstGeom prst="roundRect">
            <a:avLst>
              <a:gd name="adj" fmla="val 18123"/>
            </a:avLst>
          </a:prstGeom>
          <a:gradFill rotWithShape="1">
            <a:gsLst>
              <a:gs pos="0">
                <a:srgbClr val="3B82F6"/>
              </a:gs>
              <a:gs pos="226">
                <a:srgbClr val="3B82F6"/>
              </a:gs>
              <a:gs pos="227">
                <a:srgbClr val="FFFFFF">
                  <a:alpha val="5000"/>
                </a:srgbClr>
              </a:gs>
              <a:gs pos="100000">
                <a:srgbClr val="FFFFFF">
                  <a:alpha val="2500"/>
                </a:srgbClr>
              </a:gs>
            </a:gsLst>
            <a:lin ang="0" scaled="0"/>
          </a:gradFill>
          <a:ln w="9525">
            <a:solidFill>
              <a:srgbClr val="FFFFFF">
                <a:alpha val="12000"/>
              </a:srgbClr>
            </a:solidFill>
            <a:prstDash val="solid"/>
          </a:ln>
          <a:effectLst>
            <a:glow rad="190500">
              <a:srgbClr val="3B82F6">
                <a:alpha val="26000"/>
              </a:srgbClr>
            </a:glow>
          </a:effectLst>
        </p:spPr>
      </p:sp>
      <p:sp>
        <p:nvSpPr>
          <p:cNvPr id="34" name="Shape 28"/>
          <p:cNvSpPr/>
          <p:nvPr/>
        </p:nvSpPr>
        <p:spPr>
          <a:xfrm>
            <a:off x="677300" y="5762642"/>
            <a:ext cx="381000" cy="381000"/>
          </a:xfrm>
          <a:prstGeom prst="roundRect">
            <a:avLst>
              <a:gd name="adj" fmla="val 25000"/>
            </a:avLst>
          </a:prstGeom>
          <a:solidFill>
            <a:srgbClr val="3B82F6">
              <a:alpha val="14000"/>
            </a:srgbClr>
          </a:solidFill>
          <a:ln/>
        </p:spPr>
      </p:sp>
      <p:pic>
        <p:nvPicPr>
          <p:cNvPr id="3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72550" y="5857892"/>
            <a:ext cx="190500" cy="190500"/>
          </a:xfrm>
          <a:prstGeom prst="rect">
            <a:avLst/>
          </a:prstGeom>
        </p:spPr>
      </p:pic>
      <p:sp>
        <p:nvSpPr>
          <p:cNvPr id="36" name="Text 29"/>
          <p:cNvSpPr/>
          <p:nvPr/>
        </p:nvSpPr>
        <p:spPr>
          <a:xfrm>
            <a:off x="1153385" y="5762642"/>
            <a:ext cx="11885315"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 DEMO — PDF and screenshot attached to one prompt — eligibility checklist and the table read back</a:t>
            </a:r>
            <a:endParaRPr lang="en-US" sz="1300" dirty="0"/>
          </a:p>
        </p:txBody>
      </p:sp>
      <p:sp>
        <p:nvSpPr>
          <p:cNvPr id="37" name="Text 30"/>
          <p:cNvSpPr/>
          <p:nvPr/>
        </p:nvSpPr>
        <p:spPr>
          <a:xfrm>
            <a:off x="457200" y="6381733"/>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A photograph of a table is a document too — and it is anonymised the same way</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Shape 2"/>
          <p:cNvSpPr/>
          <p:nvPr/>
        </p:nvSpPr>
        <p:spPr>
          <a:xfrm>
            <a:off x="457200" y="457200"/>
            <a:ext cx="2705034" cy="304800"/>
          </a:xfrm>
          <a:prstGeom prst="roundRect">
            <a:avLst>
              <a:gd name="adj" fmla="val 50000"/>
            </a:avLst>
          </a:prstGeom>
          <a:solidFill>
            <a:srgbClr val="3B82F6">
              <a:alpha val="14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542958"/>
            <a:ext cx="133284" cy="133284"/>
          </a:xfrm>
          <a:prstGeom prst="rect">
            <a:avLst/>
          </a:prstGeom>
        </p:spPr>
      </p:pic>
      <p:sp>
        <p:nvSpPr>
          <p:cNvPr id="6" name="Text 3"/>
          <p:cNvSpPr/>
          <p:nvPr/>
        </p:nvSpPr>
        <p:spPr>
          <a:xfrm>
            <a:off x="819084" y="514350"/>
            <a:ext cx="2190750" cy="190500"/>
          </a:xfrm>
          <a:prstGeom prst="rect">
            <a:avLst/>
          </a:prstGeom>
          <a:noFill/>
          <a:ln/>
        </p:spPr>
        <p:txBody>
          <a:bodyPr wrap="square" lIns="0" tIns="0" rIns="0" bIns="0" rtlCol="0" anchor="t">
            <a:normAutofit/>
          </a:bodyPr>
          <a:lstStyle/>
          <a:p>
            <a:pPr marL="0" indent="0" algn="l">
              <a:lnSpc>
                <a:spcPct val="120000"/>
              </a:lnSpc>
              <a:buNone/>
            </a:pPr>
            <a:r>
              <a:rPr lang="en-US" sz="900" b="1" kern="1200" spc="72" dirty="0">
                <a:solidFill>
                  <a:srgbClr val="60A5FA"/>
                </a:solidFill>
                <a:latin typeface="JetBrains Mono"/>
                <a:ea typeface="JetBrains Mono"/>
                <a:cs typeface="JetBrains Mono"/>
              </a:rPr>
              <a:t>DAILY DRIVER · GOOGLE GEMINI</a:t>
            </a:r>
            <a:endParaRPr lang="en-US" sz="900" dirty="0"/>
          </a:p>
        </p:txBody>
      </p:sp>
      <p:sp>
        <p:nvSpPr>
          <p:cNvPr id="7" name="Text 4"/>
          <p:cNvSpPr/>
          <p:nvPr/>
        </p:nvSpPr>
        <p:spPr>
          <a:xfrm>
            <a:off x="457200" y="8763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Long context</a:t>
            </a:r>
            <a:endParaRPr lang="en-US" sz="3200" dirty="0"/>
          </a:p>
        </p:txBody>
      </p:sp>
      <p:sp>
        <p:nvSpPr>
          <p:cNvPr id="8" name="Text 5"/>
          <p:cNvSpPr/>
          <p:nvPr/>
        </p:nvSpPr>
        <p:spPr>
          <a:xfrm>
            <a:off x="457200" y="1495425"/>
            <a:ext cx="12801600" cy="314325"/>
          </a:xfrm>
          <a:prstGeom prst="rect">
            <a:avLst/>
          </a:prstGeom>
          <a:noFill/>
          <a:ln/>
        </p:spPr>
        <p:txBody>
          <a:bodyPr wrap="square" lIns="25400" tIns="25400" rIns="25400" bIns="25400" rtlCol="0" anchor="t">
            <a:normAutofit/>
          </a:bodyPr>
          <a:lstStyle/>
          <a:p>
            <a:pPr marL="0" indent="0" algn="l">
              <a:lnSpc>
                <a:spcPct val="125000"/>
              </a:lnSpc>
              <a:buNone/>
            </a:pPr>
            <a:r>
              <a:rPr lang="hu-HU" sz="1300" kern="1200" dirty="0" err="1">
                <a:solidFill>
                  <a:srgbClr val="94A3B8"/>
                </a:solidFill>
                <a:latin typeface="Inter"/>
                <a:ea typeface="Inter"/>
                <a:cs typeface="Inter"/>
              </a:rPr>
              <a:t>One</a:t>
            </a:r>
            <a:r>
              <a:rPr lang="hu-HU" sz="1300" kern="1200" dirty="0">
                <a:solidFill>
                  <a:srgbClr val="94A3B8"/>
                </a:solidFill>
                <a:latin typeface="Inter"/>
                <a:ea typeface="Inter"/>
                <a:cs typeface="Inter"/>
              </a:rPr>
              <a:t> </a:t>
            </a:r>
            <a:r>
              <a:rPr lang="hu-HU" sz="1300" kern="1200" dirty="0" err="1">
                <a:solidFill>
                  <a:srgbClr val="94A3B8"/>
                </a:solidFill>
                <a:latin typeface="Inter"/>
                <a:ea typeface="Inter"/>
                <a:cs typeface="Inter"/>
              </a:rPr>
              <a:t>large</a:t>
            </a:r>
            <a:r>
              <a:rPr lang="hu-HU" sz="1300" kern="1200" dirty="0">
                <a:solidFill>
                  <a:srgbClr val="94A3B8"/>
                </a:solidFill>
                <a:latin typeface="Inter"/>
                <a:ea typeface="Inter"/>
                <a:cs typeface="Inter"/>
              </a:rPr>
              <a:t> </a:t>
            </a:r>
            <a:r>
              <a:rPr lang="hu-HU" sz="1300" kern="1200" dirty="0" err="1">
                <a:solidFill>
                  <a:srgbClr val="94A3B8"/>
                </a:solidFill>
                <a:latin typeface="Inter"/>
                <a:ea typeface="Inter"/>
                <a:cs typeface="Inter"/>
              </a:rPr>
              <a:t>document</a:t>
            </a:r>
            <a:r>
              <a:rPr lang="hu-HU" sz="1300" kern="1200" dirty="0">
                <a:solidFill>
                  <a:srgbClr val="94A3B8"/>
                </a:solidFill>
                <a:latin typeface="Inter"/>
                <a:ea typeface="Inter"/>
                <a:cs typeface="Inter"/>
              </a:rPr>
              <a:t> is </a:t>
            </a:r>
            <a:r>
              <a:rPr lang="hu-HU" sz="1300" kern="1200" dirty="0" err="1">
                <a:solidFill>
                  <a:srgbClr val="94A3B8"/>
                </a:solidFill>
                <a:latin typeface="Inter"/>
                <a:ea typeface="Inter"/>
                <a:cs typeface="Inter"/>
              </a:rPr>
              <a:t>uploaded</a:t>
            </a:r>
            <a:r>
              <a:rPr lang="hu-HU" sz="1300" kern="1200" dirty="0">
                <a:solidFill>
                  <a:srgbClr val="94A3B8"/>
                </a:solidFill>
                <a:latin typeface="Inter"/>
                <a:ea typeface="Inter"/>
                <a:cs typeface="Inter"/>
              </a:rPr>
              <a:t>.</a:t>
            </a:r>
            <a:endParaRPr lang="en-US" sz="1300" dirty="0"/>
          </a:p>
        </p:txBody>
      </p:sp>
      <p:sp>
        <p:nvSpPr>
          <p:cNvPr id="9" name="Shape 6"/>
          <p:cNvSpPr/>
          <p:nvPr/>
        </p:nvSpPr>
        <p:spPr>
          <a:xfrm>
            <a:off x="457200" y="2057400"/>
            <a:ext cx="12801600" cy="1676400"/>
          </a:xfrm>
          <a:prstGeom prst="roundRect">
            <a:avLst>
              <a:gd name="adj" fmla="val 8033"/>
            </a:avLst>
          </a:prstGeom>
          <a:gradFill rotWithShape="1">
            <a:gsLst>
              <a:gs pos="0">
                <a:srgbClr val="FFFFFF">
                  <a:alpha val="11000"/>
                </a:srgbClr>
              </a:gs>
              <a:gs pos="937">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0" name="Shape 7"/>
          <p:cNvSpPr/>
          <p:nvPr/>
        </p:nvSpPr>
        <p:spPr>
          <a:xfrm>
            <a:off x="609600" y="2209800"/>
            <a:ext cx="381000" cy="381000"/>
          </a:xfrm>
          <a:prstGeom prst="roundRect">
            <a:avLst>
              <a:gd name="adj" fmla="val 25000"/>
            </a:avLst>
          </a:prstGeom>
          <a:solidFill>
            <a:srgbClr val="3B82F6">
              <a:alpha val="14000"/>
            </a:srgbClr>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4850" y="2305050"/>
            <a:ext cx="190500" cy="190500"/>
          </a:xfrm>
          <a:prstGeom prst="rect">
            <a:avLst/>
          </a:prstGeom>
        </p:spPr>
      </p:pic>
      <p:sp>
        <p:nvSpPr>
          <p:cNvPr id="12" name="Text 8"/>
          <p:cNvSpPr/>
          <p:nvPr/>
        </p:nvSpPr>
        <p:spPr>
          <a:xfrm>
            <a:off x="1047651" y="2209800"/>
            <a:ext cx="11895832"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What you type</a:t>
            </a:r>
            <a:endParaRPr lang="en-US" sz="1600" dirty="0"/>
          </a:p>
        </p:txBody>
      </p:sp>
      <p:sp>
        <p:nvSpPr>
          <p:cNvPr id="13" name="Shape 9"/>
          <p:cNvSpPr/>
          <p:nvPr/>
        </p:nvSpPr>
        <p:spPr>
          <a:xfrm>
            <a:off x="609600" y="2734932"/>
            <a:ext cx="12323365" cy="838200"/>
          </a:xfrm>
          <a:custGeom>
            <a:avLst/>
            <a:gdLst/>
            <a:ahLst/>
            <a:cxnLst/>
            <a:rect l="l" t="t" r="r" b="b"/>
            <a:pathLst>
              <a:path w="12094766" h="525529">
                <a:moveTo>
                  <a:pt x="0" y="0"/>
                </a:moveTo>
                <a:lnTo>
                  <a:pt x="12037616" y="0"/>
                </a:lnTo>
                <a:arcTo wR="57150" hR="57150" stAng="16200000" swAng="5400000"/>
                <a:lnTo>
                  <a:pt x="12094766" y="468379"/>
                </a:lnTo>
                <a:arcTo wR="57150" hR="57150" stAng="0" swAng="5400000"/>
                <a:lnTo>
                  <a:pt x="0" y="525529"/>
                </a:lnTo>
                <a:lnTo>
                  <a:pt x="0" y="0"/>
                </a:lnTo>
                <a:close/>
              </a:path>
            </a:pathLst>
          </a:custGeom>
          <a:gradFill rotWithShape="1">
            <a:gsLst>
              <a:gs pos="0">
                <a:srgbClr val="FFFFFF">
                  <a:alpha val="11000"/>
                </a:srgbClr>
              </a:gs>
              <a:gs pos="2537">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4" name="Shape 10"/>
          <p:cNvSpPr/>
          <p:nvPr/>
        </p:nvSpPr>
        <p:spPr>
          <a:xfrm>
            <a:off x="609600" y="2830182"/>
            <a:ext cx="28575" cy="647700"/>
          </a:xfrm>
          <a:prstGeom prst="rect">
            <a:avLst/>
          </a:prstGeom>
          <a:solidFill>
            <a:srgbClr val="60A5FA"/>
          </a:solidFill>
          <a:ln/>
        </p:spPr>
      </p:sp>
      <p:sp>
        <p:nvSpPr>
          <p:cNvPr id="15" name="Text 11"/>
          <p:cNvSpPr/>
          <p:nvPr/>
        </p:nvSpPr>
        <p:spPr>
          <a:xfrm>
            <a:off x="762000" y="2868282"/>
            <a:ext cx="11959298" cy="884171"/>
          </a:xfrm>
          <a:prstGeom prst="rect">
            <a:avLst/>
          </a:prstGeom>
          <a:noFill/>
          <a:ln/>
        </p:spPr>
        <p:txBody>
          <a:bodyPr wrap="square" lIns="25400" tIns="25400" rIns="25400" bIns="25400" rtlCol="0" anchor="t">
            <a:normAutofit/>
          </a:bodyPr>
          <a:lstStyle/>
          <a:p>
            <a:pPr>
              <a:lnSpc>
                <a:spcPct val="125000"/>
              </a:lnSpc>
            </a:pPr>
            <a:r>
              <a:rPr lang="en-US" sz="1300" kern="1200" dirty="0">
                <a:solidFill>
                  <a:srgbClr val="CBD5E1"/>
                </a:solidFill>
                <a:latin typeface="Inter"/>
                <a:ea typeface="Inter"/>
                <a:cs typeface="Inter"/>
              </a:rPr>
              <a:t>“Here is </a:t>
            </a:r>
            <a:r>
              <a:rPr lang="hu-HU" sz="1300" kern="1200" dirty="0">
                <a:solidFill>
                  <a:srgbClr val="CBD5E1"/>
                </a:solidFill>
                <a:latin typeface="Inter"/>
                <a:ea typeface="Inter"/>
                <a:cs typeface="Inter"/>
              </a:rPr>
              <a:t>a</a:t>
            </a:r>
            <a:r>
              <a:rPr lang="en-US" sz="1300" kern="1200" dirty="0">
                <a:solidFill>
                  <a:srgbClr val="CBD5E1"/>
                </a:solidFill>
                <a:latin typeface="Inter"/>
                <a:ea typeface="Inter"/>
                <a:cs typeface="Inter"/>
              </a:rPr>
              <a:t> guideline document. </a:t>
            </a:r>
            <a:r>
              <a:rPr lang="en-US" sz="1300" dirty="0" err="1">
                <a:solidFill>
                  <a:srgbClr val="CBD5E1"/>
                </a:solidFill>
              </a:rPr>
              <a:t>Summarise</a:t>
            </a:r>
            <a:r>
              <a:rPr lang="en-US" sz="1300" dirty="0">
                <a:solidFill>
                  <a:srgbClr val="CBD5E1"/>
                </a:solidFill>
              </a:rPr>
              <a:t> the ten things that a financial expert working in research management should know.</a:t>
            </a:r>
            <a:endParaRPr lang="en-US" sz="1300" dirty="0"/>
          </a:p>
        </p:txBody>
      </p:sp>
      <p:sp>
        <p:nvSpPr>
          <p:cNvPr id="16" name="Shape 12"/>
          <p:cNvSpPr/>
          <p:nvPr/>
        </p:nvSpPr>
        <p:spPr>
          <a:xfrm>
            <a:off x="457200" y="3857658"/>
            <a:ext cx="6286500" cy="2076450"/>
          </a:xfrm>
          <a:prstGeom prst="roundRect">
            <a:avLst>
              <a:gd name="adj" fmla="val 3818"/>
            </a:avLst>
          </a:prstGeom>
          <a:gradFill rotWithShape="1">
            <a:gsLst>
              <a:gs pos="0">
                <a:srgbClr val="FFFFFF">
                  <a:alpha val="11000"/>
                </a:srgbClr>
              </a:gs>
              <a:gs pos="445">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7" name="Shape 13"/>
          <p:cNvSpPr/>
          <p:nvPr/>
        </p:nvSpPr>
        <p:spPr>
          <a:xfrm>
            <a:off x="457200" y="5924583"/>
            <a:ext cx="6286500" cy="9525"/>
          </a:xfrm>
          <a:prstGeom prst="rect">
            <a:avLst/>
          </a:prstGeom>
          <a:solidFill>
            <a:srgbClr val="FFFFFF">
              <a:alpha val="8000"/>
            </a:srgbClr>
          </a:solidFill>
          <a:ln/>
        </p:spPr>
      </p:sp>
      <p:sp>
        <p:nvSpPr>
          <p:cNvPr id="18" name="Shape 14"/>
          <p:cNvSpPr/>
          <p:nvPr/>
        </p:nvSpPr>
        <p:spPr>
          <a:xfrm>
            <a:off x="457200" y="3857658"/>
            <a:ext cx="6286500" cy="9525"/>
          </a:xfrm>
          <a:prstGeom prst="rect">
            <a:avLst/>
          </a:prstGeom>
          <a:solidFill>
            <a:srgbClr val="FFFFFF">
              <a:alpha val="8000"/>
            </a:srgbClr>
          </a:solidFill>
          <a:ln/>
        </p:spPr>
      </p:sp>
      <p:sp>
        <p:nvSpPr>
          <p:cNvPr id="19" name="Shape 15"/>
          <p:cNvSpPr/>
          <p:nvPr/>
        </p:nvSpPr>
        <p:spPr>
          <a:xfrm>
            <a:off x="457200" y="3952908"/>
            <a:ext cx="28575" cy="1885950"/>
          </a:xfrm>
          <a:prstGeom prst="rect">
            <a:avLst/>
          </a:prstGeom>
          <a:solidFill>
            <a:srgbClr val="10B981"/>
          </a:solidFill>
          <a:ln/>
        </p:spPr>
      </p:sp>
      <p:sp>
        <p:nvSpPr>
          <p:cNvPr id="20" name="Shape 16"/>
          <p:cNvSpPr/>
          <p:nvPr/>
        </p:nvSpPr>
        <p:spPr>
          <a:xfrm>
            <a:off x="6734175" y="3952908"/>
            <a:ext cx="9525" cy="1885950"/>
          </a:xfrm>
          <a:prstGeom prst="rect">
            <a:avLst/>
          </a:prstGeom>
          <a:solidFill>
            <a:srgbClr val="FFFFFF">
              <a:alpha val="8000"/>
            </a:srgbClr>
          </a:solidFill>
          <a:ln/>
        </p:spPr>
      </p:sp>
      <p:sp>
        <p:nvSpPr>
          <p:cNvPr id="21" name="Shape 17"/>
          <p:cNvSpPr/>
          <p:nvPr/>
        </p:nvSpPr>
        <p:spPr>
          <a:xfrm>
            <a:off x="609600" y="4010058"/>
            <a:ext cx="381000" cy="381000"/>
          </a:xfrm>
          <a:prstGeom prst="roundRect">
            <a:avLst>
              <a:gd name="adj" fmla="val 25000"/>
            </a:avLst>
          </a:prstGeom>
          <a:solidFill>
            <a:srgbClr val="10B981">
              <a:alpha val="14000"/>
            </a:srgbClr>
          </a:solidFill>
          <a:ln/>
        </p:spPr>
      </p:sp>
      <p:pic>
        <p:nvPicPr>
          <p:cNvPr id="2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4850" y="4105308"/>
            <a:ext cx="190500" cy="190500"/>
          </a:xfrm>
          <a:prstGeom prst="rect">
            <a:avLst/>
          </a:prstGeom>
        </p:spPr>
      </p:pic>
      <p:sp>
        <p:nvSpPr>
          <p:cNvPr id="23" name="Text 18"/>
          <p:cNvSpPr/>
          <p:nvPr/>
        </p:nvSpPr>
        <p:spPr>
          <a:xfrm>
            <a:off x="1047650" y="4010058"/>
            <a:ext cx="5370149" cy="342900"/>
          </a:xfrm>
          <a:prstGeom prst="rect">
            <a:avLst/>
          </a:prstGeom>
          <a:noFill/>
          <a:ln/>
        </p:spPr>
        <p:txBody>
          <a:bodyPr wrap="square" lIns="25400" tIns="25400" rIns="25400" bIns="25400" rtlCol="0" anchor="t">
            <a:normAutofit/>
          </a:bodyPr>
          <a:lstStyle/>
          <a:p>
            <a:pPr marL="0" indent="0" algn="l">
              <a:lnSpc>
                <a:spcPct val="115000"/>
              </a:lnSpc>
              <a:buNone/>
            </a:pPr>
            <a:r>
              <a:rPr lang="hu-HU" sz="1600" b="1" kern="1200" dirty="0" err="1">
                <a:solidFill>
                  <a:srgbClr val="34D399"/>
                </a:solidFill>
                <a:latin typeface="Inter"/>
                <a:ea typeface="Inter"/>
                <a:cs typeface="Inter"/>
              </a:rPr>
              <a:t>What</a:t>
            </a:r>
            <a:r>
              <a:rPr lang="hu-HU" sz="1600" b="1" kern="1200" dirty="0">
                <a:solidFill>
                  <a:srgbClr val="34D399"/>
                </a:solidFill>
                <a:latin typeface="Inter"/>
                <a:ea typeface="Inter"/>
                <a:cs typeface="Inter"/>
              </a:rPr>
              <a:t> </a:t>
            </a:r>
            <a:r>
              <a:rPr lang="hu-HU" sz="1600" b="1" kern="1200" dirty="0" err="1">
                <a:solidFill>
                  <a:srgbClr val="34D399"/>
                </a:solidFill>
                <a:latin typeface="Inter"/>
                <a:ea typeface="Inter"/>
                <a:cs typeface="Inter"/>
              </a:rPr>
              <a:t>to</a:t>
            </a:r>
            <a:r>
              <a:rPr lang="hu-HU" sz="1600" b="1" kern="1200" dirty="0">
                <a:solidFill>
                  <a:srgbClr val="34D399"/>
                </a:solidFill>
                <a:latin typeface="Inter"/>
                <a:ea typeface="Inter"/>
                <a:cs typeface="Inter"/>
              </a:rPr>
              <a:t> </a:t>
            </a:r>
            <a:r>
              <a:rPr lang="hu-HU" sz="1600" b="1" kern="1200" dirty="0" err="1">
                <a:solidFill>
                  <a:srgbClr val="34D399"/>
                </a:solidFill>
                <a:latin typeface="Inter"/>
                <a:ea typeface="Inter"/>
                <a:cs typeface="Inter"/>
              </a:rPr>
              <a:t>observe</a:t>
            </a:r>
            <a:endParaRPr lang="en-US" sz="1600" dirty="0"/>
          </a:p>
        </p:txBody>
      </p:sp>
      <p:sp>
        <p:nvSpPr>
          <p:cNvPr id="24" name="Text 19"/>
          <p:cNvSpPr/>
          <p:nvPr/>
        </p:nvSpPr>
        <p:spPr>
          <a:xfrm>
            <a:off x="609600" y="4554207"/>
            <a:ext cx="5865349"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The whole guideline goes in at once instead of in extracts, and the answer can cite across all of it</a:t>
            </a:r>
            <a:endParaRPr lang="en-US" sz="1300" dirty="0"/>
          </a:p>
        </p:txBody>
      </p:sp>
      <p:sp>
        <p:nvSpPr>
          <p:cNvPr id="25" name="Text 20"/>
          <p:cNvSpPr/>
          <p:nvPr/>
        </p:nvSpPr>
        <p:spPr>
          <a:xfrm>
            <a:off x="609600" y="5201875"/>
            <a:ext cx="5865349"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The free tier's window is smaller than the paid plans'; a very long document may still have to be split</a:t>
            </a:r>
            <a:endParaRPr lang="en-US" sz="1300" dirty="0"/>
          </a:p>
        </p:txBody>
      </p:sp>
      <p:sp>
        <p:nvSpPr>
          <p:cNvPr id="26" name="Shape 21"/>
          <p:cNvSpPr/>
          <p:nvPr/>
        </p:nvSpPr>
        <p:spPr>
          <a:xfrm>
            <a:off x="6972300" y="3857658"/>
            <a:ext cx="6286500" cy="2076450"/>
          </a:xfrm>
          <a:prstGeom prst="roundRect">
            <a:avLst>
              <a:gd name="adj" fmla="val 3818"/>
            </a:avLst>
          </a:prstGeom>
          <a:gradFill rotWithShape="1">
            <a:gsLst>
              <a:gs pos="0">
                <a:srgbClr val="FFFFFF">
                  <a:alpha val="11000"/>
                </a:srgbClr>
              </a:gs>
              <a:gs pos="445">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7" name="Shape 22"/>
          <p:cNvSpPr/>
          <p:nvPr/>
        </p:nvSpPr>
        <p:spPr>
          <a:xfrm>
            <a:off x="6972300" y="5924583"/>
            <a:ext cx="6286500" cy="9525"/>
          </a:xfrm>
          <a:prstGeom prst="rect">
            <a:avLst/>
          </a:prstGeom>
          <a:solidFill>
            <a:srgbClr val="FFFFFF">
              <a:alpha val="8000"/>
            </a:srgbClr>
          </a:solidFill>
          <a:ln/>
        </p:spPr>
      </p:sp>
      <p:sp>
        <p:nvSpPr>
          <p:cNvPr id="28" name="Shape 23"/>
          <p:cNvSpPr/>
          <p:nvPr/>
        </p:nvSpPr>
        <p:spPr>
          <a:xfrm>
            <a:off x="6972300" y="3857658"/>
            <a:ext cx="6286500" cy="9525"/>
          </a:xfrm>
          <a:prstGeom prst="rect">
            <a:avLst/>
          </a:prstGeom>
          <a:solidFill>
            <a:srgbClr val="FFFFFF">
              <a:alpha val="8000"/>
            </a:srgbClr>
          </a:solidFill>
          <a:ln/>
        </p:spPr>
      </p:sp>
      <p:sp>
        <p:nvSpPr>
          <p:cNvPr id="29" name="Shape 24"/>
          <p:cNvSpPr/>
          <p:nvPr/>
        </p:nvSpPr>
        <p:spPr>
          <a:xfrm>
            <a:off x="6972300" y="3952908"/>
            <a:ext cx="28575" cy="1885950"/>
          </a:xfrm>
          <a:prstGeom prst="rect">
            <a:avLst/>
          </a:prstGeom>
          <a:solidFill>
            <a:srgbClr val="A78BFA"/>
          </a:solidFill>
          <a:ln/>
        </p:spPr>
      </p:sp>
      <p:sp>
        <p:nvSpPr>
          <p:cNvPr id="30" name="Shape 25"/>
          <p:cNvSpPr/>
          <p:nvPr/>
        </p:nvSpPr>
        <p:spPr>
          <a:xfrm>
            <a:off x="13249275" y="3952908"/>
            <a:ext cx="9525" cy="1885950"/>
          </a:xfrm>
          <a:prstGeom prst="rect">
            <a:avLst/>
          </a:prstGeom>
          <a:solidFill>
            <a:srgbClr val="FFFFFF">
              <a:alpha val="8000"/>
            </a:srgbClr>
          </a:solidFill>
          <a:ln/>
        </p:spPr>
      </p:sp>
      <p:sp>
        <p:nvSpPr>
          <p:cNvPr id="31" name="Shape 26"/>
          <p:cNvSpPr/>
          <p:nvPr/>
        </p:nvSpPr>
        <p:spPr>
          <a:xfrm>
            <a:off x="7124700" y="4138646"/>
            <a:ext cx="381000" cy="381000"/>
          </a:xfrm>
          <a:prstGeom prst="roundRect">
            <a:avLst>
              <a:gd name="adj" fmla="val 25000"/>
            </a:avLst>
          </a:prstGeom>
          <a:solidFill>
            <a:srgbClr val="8B5CF6">
              <a:alpha val="14000"/>
            </a:srgbClr>
          </a:solidFill>
          <a:ln/>
        </p:spPr>
      </p:sp>
      <p:pic>
        <p:nvPicPr>
          <p:cNvPr id="3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19950" y="4233896"/>
            <a:ext cx="190500" cy="190500"/>
          </a:xfrm>
          <a:prstGeom prst="rect">
            <a:avLst/>
          </a:prstGeom>
        </p:spPr>
      </p:pic>
      <p:sp>
        <p:nvSpPr>
          <p:cNvPr id="33" name="Text 27"/>
          <p:cNvSpPr/>
          <p:nvPr/>
        </p:nvSpPr>
        <p:spPr>
          <a:xfrm>
            <a:off x="7562750" y="4138646"/>
            <a:ext cx="5370149"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A78BFA"/>
                </a:solidFill>
                <a:latin typeface="Inter"/>
                <a:ea typeface="Inter"/>
                <a:cs typeface="Inter"/>
              </a:rPr>
              <a:t>It does not lift Lesson 1's rule</a:t>
            </a:r>
            <a:endParaRPr lang="en-US" sz="1600" dirty="0"/>
          </a:p>
        </p:txBody>
      </p:sp>
      <p:sp>
        <p:nvSpPr>
          <p:cNvPr id="34" name="Text 28"/>
          <p:cNvSpPr/>
          <p:nvPr/>
        </p:nvSpPr>
        <p:spPr>
          <a:xfrm>
            <a:off x="7124700" y="4682795"/>
            <a:ext cx="5865349"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More context is not better context. A guideline plus four unrelated documents gives you a worse summary, not a fuller one</a:t>
            </a:r>
            <a:endParaRPr lang="en-US" sz="1300" dirty="0"/>
          </a:p>
        </p:txBody>
      </p:sp>
      <p:sp>
        <p:nvSpPr>
          <p:cNvPr id="35" name="Text 29"/>
          <p:cNvSpPr/>
          <p:nvPr/>
        </p:nvSpPr>
        <p:spPr>
          <a:xfrm>
            <a:off x="7124700" y="5330463"/>
            <a:ext cx="5865349"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Curate on the way in: one document, one question, one job</a:t>
            </a:r>
            <a:endParaRPr lang="en-US" sz="1300" dirty="0"/>
          </a:p>
        </p:txBody>
      </p:sp>
      <p:sp>
        <p:nvSpPr>
          <p:cNvPr id="36" name="Shape 30"/>
          <p:cNvSpPr/>
          <p:nvPr/>
        </p:nvSpPr>
        <p:spPr>
          <a:xfrm>
            <a:off x="457200" y="6124608"/>
            <a:ext cx="12801600" cy="628650"/>
          </a:xfrm>
          <a:prstGeom prst="roundRect">
            <a:avLst>
              <a:gd name="adj" fmla="val 18123"/>
            </a:avLst>
          </a:prstGeom>
          <a:gradFill rotWithShape="1">
            <a:gsLst>
              <a:gs pos="0">
                <a:srgbClr val="3B82F6"/>
              </a:gs>
              <a:gs pos="227">
                <a:srgbClr val="3B82F6"/>
              </a:gs>
              <a:gs pos="228">
                <a:srgbClr val="FFFFFF">
                  <a:alpha val="5000"/>
                </a:srgbClr>
              </a:gs>
              <a:gs pos="100000">
                <a:srgbClr val="FFFFFF">
                  <a:alpha val="2500"/>
                </a:srgbClr>
              </a:gs>
            </a:gsLst>
            <a:lin ang="0" scaled="0"/>
          </a:gradFill>
          <a:ln w="9525">
            <a:solidFill>
              <a:srgbClr val="FFFFFF">
                <a:alpha val="12000"/>
              </a:srgbClr>
            </a:solidFill>
            <a:prstDash val="solid"/>
          </a:ln>
          <a:effectLst>
            <a:glow rad="190500">
              <a:srgbClr val="3B82F6">
                <a:alpha val="26000"/>
              </a:srgbClr>
            </a:glow>
          </a:effectLst>
        </p:spPr>
      </p:sp>
      <p:sp>
        <p:nvSpPr>
          <p:cNvPr id="37" name="Shape 31"/>
          <p:cNvSpPr/>
          <p:nvPr/>
        </p:nvSpPr>
        <p:spPr>
          <a:xfrm>
            <a:off x="609600" y="6248433"/>
            <a:ext cx="381000" cy="381000"/>
          </a:xfrm>
          <a:prstGeom prst="roundRect">
            <a:avLst>
              <a:gd name="adj" fmla="val 25000"/>
            </a:avLst>
          </a:prstGeom>
          <a:solidFill>
            <a:srgbClr val="3B82F6">
              <a:alpha val="14000"/>
            </a:srgbClr>
          </a:solidFill>
          <a:ln/>
        </p:spPr>
      </p:sp>
      <p:pic>
        <p:nvPicPr>
          <p:cNvPr id="3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04850" y="6343683"/>
            <a:ext cx="190500" cy="190500"/>
          </a:xfrm>
          <a:prstGeom prst="rect">
            <a:avLst/>
          </a:prstGeom>
        </p:spPr>
      </p:pic>
      <p:sp>
        <p:nvSpPr>
          <p:cNvPr id="39" name="Text 32"/>
          <p:cNvSpPr/>
          <p:nvPr/>
        </p:nvSpPr>
        <p:spPr>
          <a:xfrm>
            <a:off x="1085685" y="6248433"/>
            <a:ext cx="11885315"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 DEMO — One long guideline document in, a structured summary out</a:t>
            </a:r>
            <a:endParaRPr lang="en-US" sz="1300" dirty="0"/>
          </a:p>
        </p:txBody>
      </p:sp>
      <p:sp>
        <p:nvSpPr>
          <p:cNvPr id="40" name="Text 33"/>
          <p:cNvSpPr/>
          <p:nvPr/>
        </p:nvSpPr>
        <p:spPr>
          <a:xfrm>
            <a:off x="457200" y="6867525"/>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The window is what you may bring, not what you should bring</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1"/>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Shape 2"/>
          <p:cNvSpPr/>
          <p:nvPr/>
        </p:nvSpPr>
        <p:spPr>
          <a:xfrm>
            <a:off x="457200" y="457200"/>
            <a:ext cx="2705034" cy="304800"/>
          </a:xfrm>
          <a:prstGeom prst="roundRect">
            <a:avLst>
              <a:gd name="adj" fmla="val 50000"/>
            </a:avLst>
          </a:prstGeom>
          <a:solidFill>
            <a:srgbClr val="3B82F6">
              <a:alpha val="14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542958"/>
            <a:ext cx="133284" cy="133284"/>
          </a:xfrm>
          <a:prstGeom prst="rect">
            <a:avLst/>
          </a:prstGeom>
        </p:spPr>
      </p:pic>
      <p:sp>
        <p:nvSpPr>
          <p:cNvPr id="6" name="Text 3"/>
          <p:cNvSpPr/>
          <p:nvPr/>
        </p:nvSpPr>
        <p:spPr>
          <a:xfrm>
            <a:off x="819084" y="514350"/>
            <a:ext cx="2190750" cy="190500"/>
          </a:xfrm>
          <a:prstGeom prst="rect">
            <a:avLst/>
          </a:prstGeom>
          <a:noFill/>
          <a:ln/>
        </p:spPr>
        <p:txBody>
          <a:bodyPr wrap="square" lIns="0" tIns="0" rIns="0" bIns="0" rtlCol="0" anchor="t">
            <a:normAutofit/>
          </a:bodyPr>
          <a:lstStyle/>
          <a:p>
            <a:pPr marL="0" indent="0" algn="l">
              <a:lnSpc>
                <a:spcPct val="120000"/>
              </a:lnSpc>
              <a:buNone/>
            </a:pPr>
            <a:r>
              <a:rPr lang="en-US" sz="900" b="1" kern="1200" spc="72" dirty="0">
                <a:solidFill>
                  <a:srgbClr val="60A5FA"/>
                </a:solidFill>
                <a:latin typeface="JetBrains Mono"/>
                <a:ea typeface="JetBrains Mono"/>
                <a:cs typeface="JetBrains Mono"/>
              </a:rPr>
              <a:t>DAILY DRIVER · GOOGLE GEMINI</a:t>
            </a:r>
            <a:endParaRPr lang="en-US" sz="900" dirty="0"/>
          </a:p>
        </p:txBody>
      </p:sp>
      <p:sp>
        <p:nvSpPr>
          <p:cNvPr id="7" name="Text 4"/>
          <p:cNvSpPr/>
          <p:nvPr/>
        </p:nvSpPr>
        <p:spPr>
          <a:xfrm>
            <a:off x="457200" y="8763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Gems — persistent context</a:t>
            </a:r>
            <a:endParaRPr lang="en-US" sz="3200" dirty="0"/>
          </a:p>
        </p:txBody>
      </p:sp>
      <p:sp>
        <p:nvSpPr>
          <p:cNvPr id="8" name="Text 5"/>
          <p:cNvSpPr/>
          <p:nvPr/>
        </p:nvSpPr>
        <p:spPr>
          <a:xfrm>
            <a:off x="457200" y="1495425"/>
            <a:ext cx="12801600" cy="464343"/>
          </a:xfrm>
          <a:prstGeom prst="rect">
            <a:avLst/>
          </a:prstGeom>
          <a:noFill/>
          <a:ln/>
        </p:spPr>
        <p:txBody>
          <a:bodyPr wrap="square" lIns="25400" tIns="25400" rIns="25400" bIns="25400" rtlCol="0" anchor="t">
            <a:normAutofit lnSpcReduction="10000"/>
          </a:bodyPr>
          <a:lstStyle/>
          <a:p>
            <a:pPr marL="0" indent="0" algn="l">
              <a:lnSpc>
                <a:spcPct val="125000"/>
              </a:lnSpc>
              <a:buNone/>
            </a:pPr>
            <a:r>
              <a:rPr lang="en-US" sz="1100" kern="1200" dirty="0">
                <a:solidFill>
                  <a:srgbClr val="94A3B8"/>
                </a:solidFill>
                <a:latin typeface="Inter"/>
                <a:ea typeface="Inter"/>
                <a:cs typeface="Inter"/>
              </a:rPr>
              <a:t>Build one Gem for your Anchor Project, and every chat you open afterwards already knows the project, the funder and the rules you work under</a:t>
            </a:r>
            <a:endParaRPr lang="hu-HU" sz="1100" kern="1200" dirty="0">
              <a:solidFill>
                <a:srgbClr val="94A3B8"/>
              </a:solidFill>
              <a:latin typeface="Inter"/>
              <a:ea typeface="Inter"/>
              <a:cs typeface="Inter"/>
            </a:endParaRPr>
          </a:p>
          <a:p>
            <a:pPr>
              <a:lnSpc>
                <a:spcPct val="125000"/>
              </a:lnSpc>
            </a:pPr>
            <a:r>
              <a:rPr lang="en-US" sz="1100" b="1" dirty="0">
                <a:solidFill>
                  <a:schemeClr val="bg1"/>
                </a:solidFill>
                <a:hlinkClick r:id="rId4">
                  <a:extLst>
                    <a:ext uri="{A12FA001-AC4F-418D-AE19-62706E023703}">
                      <ahyp:hlinkClr xmlns:ahyp="http://schemas.microsoft.com/office/drawing/2018/hyperlinkcolor" val="tx"/>
                    </a:ext>
                  </a:extLst>
                </a:hlinkClick>
              </a:rPr>
              <a:t>https://gemini.google.com/gems/</a:t>
            </a:r>
            <a:r>
              <a:rPr lang="hu-HU" sz="1100" b="1" dirty="0">
                <a:solidFill>
                  <a:schemeClr val="bg1"/>
                </a:solidFill>
              </a:rPr>
              <a:t> https://gemini.google.com/gems/create</a:t>
            </a:r>
          </a:p>
          <a:p>
            <a:pPr>
              <a:lnSpc>
                <a:spcPct val="125000"/>
              </a:lnSpc>
            </a:pPr>
            <a:endParaRPr lang="hu-HU" sz="1100" b="1" dirty="0">
              <a:solidFill>
                <a:schemeClr val="bg1"/>
              </a:solidFill>
            </a:endParaRPr>
          </a:p>
        </p:txBody>
      </p:sp>
      <p:sp>
        <p:nvSpPr>
          <p:cNvPr id="9" name="Shape 6"/>
          <p:cNvSpPr/>
          <p:nvPr/>
        </p:nvSpPr>
        <p:spPr>
          <a:xfrm>
            <a:off x="457200" y="2173830"/>
            <a:ext cx="4114800" cy="2876550"/>
          </a:xfrm>
          <a:prstGeom prst="roundRect">
            <a:avLst>
              <a:gd name="adj" fmla="val 3168"/>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0" name="Shape 7"/>
          <p:cNvSpPr/>
          <p:nvPr/>
        </p:nvSpPr>
        <p:spPr>
          <a:xfrm>
            <a:off x="677300" y="2583405"/>
            <a:ext cx="381000" cy="381000"/>
          </a:xfrm>
          <a:prstGeom prst="roundRect">
            <a:avLst>
              <a:gd name="adj" fmla="val 25000"/>
            </a:avLst>
          </a:prstGeom>
          <a:solidFill>
            <a:srgbClr val="3B82F6">
              <a:alpha val="14000"/>
            </a:srgbClr>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2550" y="2678655"/>
            <a:ext cx="190500" cy="190500"/>
          </a:xfrm>
          <a:prstGeom prst="rect">
            <a:avLst/>
          </a:prstGeom>
        </p:spPr>
      </p:pic>
      <p:sp>
        <p:nvSpPr>
          <p:cNvPr id="12" name="Text 8"/>
          <p:cNvSpPr/>
          <p:nvPr/>
        </p:nvSpPr>
        <p:spPr>
          <a:xfrm>
            <a:off x="1096334" y="2583405"/>
            <a:ext cx="3255566"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Name and purpose</a:t>
            </a:r>
            <a:endParaRPr lang="en-US" sz="1600" dirty="0"/>
          </a:p>
        </p:txBody>
      </p:sp>
      <p:sp>
        <p:nvSpPr>
          <p:cNvPr id="13" name="Text 9"/>
          <p:cNvSpPr/>
          <p:nvPr/>
        </p:nvSpPr>
        <p:spPr>
          <a:xfrm>
            <a:off x="677300" y="3104898"/>
            <a:ext cx="3723250"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“Anchor Project assistant” — one Gem per project, not one per task</a:t>
            </a:r>
            <a:endParaRPr lang="en-US" sz="1300" dirty="0"/>
          </a:p>
        </p:txBody>
      </p:sp>
      <p:sp>
        <p:nvSpPr>
          <p:cNvPr id="14" name="Shape 10"/>
          <p:cNvSpPr/>
          <p:nvPr/>
        </p:nvSpPr>
        <p:spPr>
          <a:xfrm>
            <a:off x="4800600" y="2173830"/>
            <a:ext cx="4114800" cy="2876550"/>
          </a:xfrm>
          <a:prstGeom prst="roundRect">
            <a:avLst>
              <a:gd name="adj" fmla="val 2603"/>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5" name="Shape 11"/>
          <p:cNvSpPr/>
          <p:nvPr/>
        </p:nvSpPr>
        <p:spPr>
          <a:xfrm>
            <a:off x="5020700" y="2354805"/>
            <a:ext cx="381000" cy="381000"/>
          </a:xfrm>
          <a:prstGeom prst="roundRect">
            <a:avLst>
              <a:gd name="adj" fmla="val 25000"/>
            </a:avLst>
          </a:prstGeom>
          <a:solidFill>
            <a:srgbClr val="8B5CF6">
              <a:alpha val="14000"/>
            </a:srgbClr>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15950" y="2450055"/>
            <a:ext cx="190500" cy="190500"/>
          </a:xfrm>
          <a:prstGeom prst="rect">
            <a:avLst/>
          </a:prstGeom>
        </p:spPr>
      </p:pic>
      <p:sp>
        <p:nvSpPr>
          <p:cNvPr id="17" name="Text 12"/>
          <p:cNvSpPr/>
          <p:nvPr/>
        </p:nvSpPr>
        <p:spPr>
          <a:xfrm>
            <a:off x="5439734" y="2354805"/>
            <a:ext cx="3255566"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Standing instructions</a:t>
            </a:r>
            <a:endParaRPr lang="en-US" sz="1600" dirty="0"/>
          </a:p>
        </p:txBody>
      </p:sp>
      <p:sp>
        <p:nvSpPr>
          <p:cNvPr id="18" name="Text 13"/>
          <p:cNvSpPr/>
          <p:nvPr/>
        </p:nvSpPr>
        <p:spPr>
          <a:xfrm>
            <a:off x="5020700" y="2876298"/>
            <a:ext cx="3723250" cy="108585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Your Lesson 1 ICC prompt, promoted: what it should do, who it is advising, the constraints it always works under — written once, applied to every future chat</a:t>
            </a:r>
            <a:endParaRPr lang="en-US" sz="1300" dirty="0"/>
          </a:p>
        </p:txBody>
      </p:sp>
      <p:sp>
        <p:nvSpPr>
          <p:cNvPr id="19" name="Text 14"/>
          <p:cNvSpPr/>
          <p:nvPr/>
        </p:nvSpPr>
        <p:spPr>
          <a:xfrm>
            <a:off x="5020700" y="4038315"/>
            <a:ext cx="3723250" cy="82867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The reverse prompt becomes its opening move: ask me what you need before you answer</a:t>
            </a:r>
            <a:endParaRPr lang="en-US" sz="1300" dirty="0"/>
          </a:p>
        </p:txBody>
      </p:sp>
      <p:sp>
        <p:nvSpPr>
          <p:cNvPr id="20" name="Shape 15"/>
          <p:cNvSpPr/>
          <p:nvPr/>
        </p:nvSpPr>
        <p:spPr>
          <a:xfrm>
            <a:off x="9144000" y="2173830"/>
            <a:ext cx="4114800" cy="2876550"/>
          </a:xfrm>
          <a:prstGeom prst="roundRect">
            <a:avLst>
              <a:gd name="adj" fmla="val 3168"/>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1" name="Shape 16"/>
          <p:cNvSpPr/>
          <p:nvPr/>
        </p:nvSpPr>
        <p:spPr>
          <a:xfrm>
            <a:off x="9364100" y="2583405"/>
            <a:ext cx="381000" cy="381000"/>
          </a:xfrm>
          <a:prstGeom prst="roundRect">
            <a:avLst>
              <a:gd name="adj" fmla="val 25000"/>
            </a:avLst>
          </a:prstGeom>
          <a:solidFill>
            <a:srgbClr val="10B981">
              <a:alpha val="14000"/>
            </a:srgbClr>
          </a:solidFill>
          <a:ln/>
        </p:spPr>
      </p:sp>
      <p:pic>
        <p:nvPicPr>
          <p:cNvPr id="22" name="Image 3"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59350" y="2678655"/>
            <a:ext cx="190500" cy="190500"/>
          </a:xfrm>
          <a:prstGeom prst="rect">
            <a:avLst/>
          </a:prstGeom>
        </p:spPr>
      </p:pic>
      <p:sp>
        <p:nvSpPr>
          <p:cNvPr id="23" name="Text 17"/>
          <p:cNvSpPr/>
          <p:nvPr/>
        </p:nvSpPr>
        <p:spPr>
          <a:xfrm>
            <a:off x="9783135" y="2583405"/>
            <a:ext cx="3255565"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Reference files</a:t>
            </a:r>
            <a:endParaRPr lang="en-US" sz="1600" dirty="0"/>
          </a:p>
        </p:txBody>
      </p:sp>
      <p:sp>
        <p:nvSpPr>
          <p:cNvPr id="24" name="Text 18"/>
          <p:cNvSpPr/>
          <p:nvPr/>
        </p:nvSpPr>
        <p:spPr>
          <a:xfrm>
            <a:off x="9364100" y="3104898"/>
            <a:ext cx="3723250"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The project description, the call text, your own notes — up to the free tier's reference-file limit</a:t>
            </a:r>
            <a:endParaRPr lang="en-US" sz="1300" dirty="0"/>
          </a:p>
        </p:txBody>
      </p:sp>
      <p:sp>
        <p:nvSpPr>
          <p:cNvPr id="25" name="Shape 19"/>
          <p:cNvSpPr/>
          <p:nvPr/>
        </p:nvSpPr>
        <p:spPr>
          <a:xfrm>
            <a:off x="457200" y="5446170"/>
            <a:ext cx="12801600" cy="628650"/>
          </a:xfrm>
          <a:prstGeom prst="roundRect">
            <a:avLst>
              <a:gd name="adj" fmla="val 18123"/>
            </a:avLst>
          </a:prstGeom>
          <a:gradFill rotWithShape="1">
            <a:gsLst>
              <a:gs pos="0">
                <a:srgbClr val="3B82F6"/>
              </a:gs>
              <a:gs pos="226">
                <a:srgbClr val="3B82F6"/>
              </a:gs>
              <a:gs pos="227">
                <a:srgbClr val="FFFFFF">
                  <a:alpha val="5000"/>
                </a:srgbClr>
              </a:gs>
              <a:gs pos="100000">
                <a:srgbClr val="FFFFFF">
                  <a:alpha val="2500"/>
                </a:srgbClr>
              </a:gs>
            </a:gsLst>
            <a:lin ang="0" scaled="0"/>
          </a:gradFill>
          <a:ln w="9525">
            <a:solidFill>
              <a:srgbClr val="FFFFFF">
                <a:alpha val="12000"/>
              </a:srgbClr>
            </a:solidFill>
            <a:prstDash val="solid"/>
          </a:ln>
          <a:effectLst>
            <a:glow rad="190500">
              <a:srgbClr val="3B82F6">
                <a:alpha val="26000"/>
              </a:srgbClr>
            </a:glow>
          </a:effectLst>
        </p:spPr>
      </p:sp>
      <p:sp>
        <p:nvSpPr>
          <p:cNvPr id="26" name="Shape 20"/>
          <p:cNvSpPr/>
          <p:nvPr/>
        </p:nvSpPr>
        <p:spPr>
          <a:xfrm>
            <a:off x="677300" y="5569995"/>
            <a:ext cx="381000" cy="381000"/>
          </a:xfrm>
          <a:prstGeom prst="roundRect">
            <a:avLst>
              <a:gd name="adj" fmla="val 25000"/>
            </a:avLst>
          </a:prstGeom>
          <a:solidFill>
            <a:srgbClr val="3B82F6">
              <a:alpha val="14000"/>
            </a:srgbClr>
          </a:solidFill>
          <a:ln/>
        </p:spPr>
      </p:sp>
      <p:pic>
        <p:nvPicPr>
          <p:cNvPr id="27" name="Image 4"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72550" y="5665245"/>
            <a:ext cx="190500" cy="190500"/>
          </a:xfrm>
          <a:prstGeom prst="rect">
            <a:avLst/>
          </a:prstGeom>
        </p:spPr>
      </p:pic>
      <p:sp>
        <p:nvSpPr>
          <p:cNvPr id="28" name="Text 21"/>
          <p:cNvSpPr/>
          <p:nvPr/>
        </p:nvSpPr>
        <p:spPr>
          <a:xfrm>
            <a:off x="1153385" y="5569995"/>
            <a:ext cx="11885315"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 DEMO — A Gem built from scratch — name, instructions, reference files, then the first chat that already knows the project</a:t>
            </a:r>
            <a:endParaRPr lang="en-US" sz="1300" dirty="0"/>
          </a:p>
        </p:txBody>
      </p:sp>
      <p:sp>
        <p:nvSpPr>
          <p:cNvPr id="29" name="Shape 22"/>
          <p:cNvSpPr/>
          <p:nvPr/>
        </p:nvSpPr>
        <p:spPr>
          <a:xfrm>
            <a:off x="457200" y="6991350"/>
            <a:ext cx="12801600" cy="9525"/>
          </a:xfrm>
          <a:prstGeom prst="rect">
            <a:avLst/>
          </a:prstGeom>
          <a:solidFill>
            <a:srgbClr val="FFFFFF">
              <a:alpha val="7000"/>
            </a:srgbClr>
          </a:solidFill>
          <a:ln/>
        </p:spPr>
      </p:sp>
      <p:sp>
        <p:nvSpPr>
          <p:cNvPr id="30" name="Text 23"/>
          <p:cNvSpPr/>
          <p:nvPr/>
        </p:nvSpPr>
        <p:spPr>
          <a:xfrm>
            <a:off x="457200" y="6493920"/>
            <a:ext cx="1971675"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This is the Level 3 move</a:t>
            </a:r>
            <a:endParaRPr lang="en-US" sz="1300" dirty="0"/>
          </a:p>
        </p:txBody>
      </p:sp>
      <p:sp>
        <p:nvSpPr>
          <p:cNvPr id="31" name="Text 24"/>
          <p:cNvSpPr/>
          <p:nvPr/>
        </p:nvSpPr>
        <p:spPr>
          <a:xfrm>
            <a:off x="2543175" y="6493920"/>
            <a:ext cx="10715625"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Level 2 was writing a good prompt every time. Level 3 is building the workspace that no longer needs you to — persistent context, ready before the question. The assignment lays the foundation for Level 4.</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Shape 2"/>
          <p:cNvSpPr/>
          <p:nvPr/>
        </p:nvSpPr>
        <p:spPr>
          <a:xfrm>
            <a:off x="457200" y="457200"/>
            <a:ext cx="2705034" cy="304800"/>
          </a:xfrm>
          <a:prstGeom prst="roundRect">
            <a:avLst>
              <a:gd name="adj" fmla="val 50000"/>
            </a:avLst>
          </a:prstGeom>
          <a:solidFill>
            <a:srgbClr val="3B82F6">
              <a:alpha val="14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542958"/>
            <a:ext cx="133284" cy="133284"/>
          </a:xfrm>
          <a:prstGeom prst="rect">
            <a:avLst/>
          </a:prstGeom>
        </p:spPr>
      </p:pic>
      <p:sp>
        <p:nvSpPr>
          <p:cNvPr id="6" name="Text 3"/>
          <p:cNvSpPr/>
          <p:nvPr/>
        </p:nvSpPr>
        <p:spPr>
          <a:xfrm>
            <a:off x="819084" y="514350"/>
            <a:ext cx="2190750" cy="190500"/>
          </a:xfrm>
          <a:prstGeom prst="rect">
            <a:avLst/>
          </a:prstGeom>
          <a:noFill/>
          <a:ln/>
        </p:spPr>
        <p:txBody>
          <a:bodyPr wrap="square" lIns="0" tIns="0" rIns="0" bIns="0" rtlCol="0" anchor="t">
            <a:normAutofit/>
          </a:bodyPr>
          <a:lstStyle/>
          <a:p>
            <a:pPr marL="0" indent="0" algn="l">
              <a:lnSpc>
                <a:spcPct val="120000"/>
              </a:lnSpc>
              <a:buNone/>
            </a:pPr>
            <a:r>
              <a:rPr lang="en-US" sz="900" b="1" kern="1200" spc="72" dirty="0">
                <a:solidFill>
                  <a:srgbClr val="60A5FA"/>
                </a:solidFill>
                <a:latin typeface="JetBrains Mono"/>
                <a:ea typeface="JetBrains Mono"/>
                <a:cs typeface="JetBrains Mono"/>
              </a:rPr>
              <a:t>DAILY DRIVER · GOOGLE GEMINI</a:t>
            </a:r>
            <a:endParaRPr lang="en-US" sz="900" dirty="0"/>
          </a:p>
        </p:txBody>
      </p:sp>
      <p:sp>
        <p:nvSpPr>
          <p:cNvPr id="7" name="Text 4"/>
          <p:cNvSpPr/>
          <p:nvPr/>
        </p:nvSpPr>
        <p:spPr>
          <a:xfrm>
            <a:off x="457200" y="8763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Deep Research</a:t>
            </a:r>
            <a:endParaRPr lang="en-US" sz="3200" dirty="0"/>
          </a:p>
        </p:txBody>
      </p:sp>
      <p:sp>
        <p:nvSpPr>
          <p:cNvPr id="8" name="Text 5"/>
          <p:cNvSpPr/>
          <p:nvPr/>
        </p:nvSpPr>
        <p:spPr>
          <a:xfrm>
            <a:off x="457200" y="1495425"/>
            <a:ext cx="128016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One question about the funding landscape, answered as a briefing with its sources — the work that used to be an afternoon of opening funder pages</a:t>
            </a:r>
            <a:endParaRPr lang="en-US" sz="1300" dirty="0"/>
          </a:p>
        </p:txBody>
      </p:sp>
      <p:sp>
        <p:nvSpPr>
          <p:cNvPr id="9" name="Shape 6"/>
          <p:cNvSpPr/>
          <p:nvPr/>
        </p:nvSpPr>
        <p:spPr>
          <a:xfrm>
            <a:off x="457200" y="2057400"/>
            <a:ext cx="6286500" cy="3933626"/>
          </a:xfrm>
          <a:prstGeom prst="roundRect">
            <a:avLst>
              <a:gd name="adj" fmla="val 2471"/>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0" name="Shape 7"/>
          <p:cNvSpPr/>
          <p:nvPr/>
        </p:nvSpPr>
        <p:spPr>
          <a:xfrm>
            <a:off x="647700" y="2943126"/>
            <a:ext cx="381000" cy="381000"/>
          </a:xfrm>
          <a:prstGeom prst="roundRect">
            <a:avLst>
              <a:gd name="adj" fmla="val 25000"/>
            </a:avLst>
          </a:prstGeom>
          <a:solidFill>
            <a:srgbClr val="3B82F6">
              <a:alpha val="14000"/>
            </a:srgbClr>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2950" y="3038376"/>
            <a:ext cx="190500" cy="190500"/>
          </a:xfrm>
          <a:prstGeom prst="rect">
            <a:avLst/>
          </a:prstGeom>
        </p:spPr>
      </p:pic>
      <p:sp>
        <p:nvSpPr>
          <p:cNvPr id="12" name="Text 8"/>
          <p:cNvSpPr/>
          <p:nvPr/>
        </p:nvSpPr>
        <p:spPr>
          <a:xfrm>
            <a:off x="1085751" y="2943126"/>
            <a:ext cx="5380732"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What you type</a:t>
            </a:r>
            <a:endParaRPr lang="en-US" sz="1600" dirty="0"/>
          </a:p>
        </p:txBody>
      </p:sp>
      <p:sp>
        <p:nvSpPr>
          <p:cNvPr id="13" name="Shape 9"/>
          <p:cNvSpPr/>
          <p:nvPr/>
        </p:nvSpPr>
        <p:spPr>
          <a:xfrm>
            <a:off x="647700" y="3487274"/>
            <a:ext cx="5808266" cy="1390650"/>
          </a:xfrm>
          <a:custGeom>
            <a:avLst/>
            <a:gdLst/>
            <a:ahLst/>
            <a:cxnLst/>
            <a:rect l="l" t="t" r="r" b="b"/>
            <a:pathLst>
              <a:path w="5987852" h="1081484">
                <a:moveTo>
                  <a:pt x="0" y="0"/>
                </a:moveTo>
                <a:lnTo>
                  <a:pt x="5930702" y="0"/>
                </a:lnTo>
                <a:arcTo wR="57150" hR="57150" stAng="16200000" swAng="5400000"/>
                <a:lnTo>
                  <a:pt x="5987852" y="1024334"/>
                </a:lnTo>
                <a:arcTo wR="57150" hR="57150" stAng="0" swAng="5400000"/>
                <a:lnTo>
                  <a:pt x="0" y="1081484"/>
                </a:lnTo>
                <a:lnTo>
                  <a:pt x="0" y="0"/>
                </a:lnTo>
                <a:close/>
              </a:path>
            </a:pathLst>
          </a:custGeom>
          <a:gradFill rotWithShape="1">
            <a:gsLst>
              <a:gs pos="0">
                <a:srgbClr val="FFFFFF">
                  <a:alpha val="11000"/>
                </a:srgbClr>
              </a:gs>
              <a:gs pos="1233">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4" name="Shape 10"/>
          <p:cNvSpPr/>
          <p:nvPr/>
        </p:nvSpPr>
        <p:spPr>
          <a:xfrm>
            <a:off x="647700" y="3582524"/>
            <a:ext cx="28575" cy="1200150"/>
          </a:xfrm>
          <a:prstGeom prst="rect">
            <a:avLst/>
          </a:prstGeom>
          <a:solidFill>
            <a:srgbClr val="60A5FA"/>
          </a:solidFill>
          <a:ln/>
        </p:spPr>
      </p:sp>
      <p:sp>
        <p:nvSpPr>
          <p:cNvPr id="15" name="Text 11"/>
          <p:cNvSpPr/>
          <p:nvPr/>
        </p:nvSpPr>
        <p:spPr>
          <a:xfrm>
            <a:off x="840317" y="3639674"/>
            <a:ext cx="5444199" cy="1395016"/>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“Which national and European funders opened calls in the last twelve months for work in my Anchor Project's field? For each: the funder, what it funds, the deadline pattern, and the source you found it in.”</a:t>
            </a:r>
            <a:endParaRPr lang="en-US" sz="1300" dirty="0"/>
          </a:p>
        </p:txBody>
      </p:sp>
      <p:sp>
        <p:nvSpPr>
          <p:cNvPr id="16" name="Shape 12"/>
          <p:cNvSpPr/>
          <p:nvPr/>
        </p:nvSpPr>
        <p:spPr>
          <a:xfrm>
            <a:off x="6972300" y="2057400"/>
            <a:ext cx="6286500" cy="1209675"/>
          </a:xfrm>
          <a:prstGeom prst="roundRect">
            <a:avLst>
              <a:gd name="adj" fmla="val 7936"/>
            </a:avLst>
          </a:prstGeom>
          <a:gradFill rotWithShape="1">
            <a:gsLst>
              <a:gs pos="0">
                <a:srgbClr val="FFFFFF">
                  <a:alpha val="11000"/>
                </a:srgbClr>
              </a:gs>
              <a:gs pos="926">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7" name="Shape 13"/>
          <p:cNvSpPr/>
          <p:nvPr/>
        </p:nvSpPr>
        <p:spPr>
          <a:xfrm>
            <a:off x="6972300" y="3257550"/>
            <a:ext cx="6286500" cy="9525"/>
          </a:xfrm>
          <a:prstGeom prst="rect">
            <a:avLst/>
          </a:prstGeom>
          <a:solidFill>
            <a:srgbClr val="FFFFFF">
              <a:alpha val="8000"/>
            </a:srgbClr>
          </a:solidFill>
          <a:ln/>
        </p:spPr>
      </p:sp>
      <p:sp>
        <p:nvSpPr>
          <p:cNvPr id="18" name="Shape 14"/>
          <p:cNvSpPr/>
          <p:nvPr/>
        </p:nvSpPr>
        <p:spPr>
          <a:xfrm>
            <a:off x="6972300" y="2057400"/>
            <a:ext cx="6286500" cy="9525"/>
          </a:xfrm>
          <a:prstGeom prst="rect">
            <a:avLst/>
          </a:prstGeom>
          <a:solidFill>
            <a:srgbClr val="FFFFFF">
              <a:alpha val="8000"/>
            </a:srgbClr>
          </a:solidFill>
          <a:ln/>
        </p:spPr>
      </p:sp>
      <p:sp>
        <p:nvSpPr>
          <p:cNvPr id="19" name="Shape 15"/>
          <p:cNvSpPr/>
          <p:nvPr/>
        </p:nvSpPr>
        <p:spPr>
          <a:xfrm>
            <a:off x="6972300" y="2152650"/>
            <a:ext cx="28575" cy="1019175"/>
          </a:xfrm>
          <a:prstGeom prst="rect">
            <a:avLst/>
          </a:prstGeom>
          <a:solidFill>
            <a:srgbClr val="10B981"/>
          </a:solidFill>
          <a:ln/>
        </p:spPr>
      </p:sp>
      <p:sp>
        <p:nvSpPr>
          <p:cNvPr id="20" name="Shape 16"/>
          <p:cNvSpPr/>
          <p:nvPr/>
        </p:nvSpPr>
        <p:spPr>
          <a:xfrm>
            <a:off x="13249275" y="2152650"/>
            <a:ext cx="9525" cy="1019175"/>
          </a:xfrm>
          <a:prstGeom prst="rect">
            <a:avLst/>
          </a:prstGeom>
          <a:solidFill>
            <a:srgbClr val="FFFFFF">
              <a:alpha val="8000"/>
            </a:srgbClr>
          </a:solidFill>
          <a:ln/>
        </p:spPr>
      </p:sp>
      <p:sp>
        <p:nvSpPr>
          <p:cNvPr id="21" name="Shape 17"/>
          <p:cNvSpPr/>
          <p:nvPr/>
        </p:nvSpPr>
        <p:spPr>
          <a:xfrm>
            <a:off x="7162800" y="2471738"/>
            <a:ext cx="381000" cy="381000"/>
          </a:xfrm>
          <a:prstGeom prst="roundRect">
            <a:avLst>
              <a:gd name="adj" fmla="val 25000"/>
            </a:avLst>
          </a:prstGeom>
          <a:solidFill>
            <a:srgbClr val="10B981">
              <a:alpha val="14000"/>
            </a:srgbClr>
          </a:solidFill>
          <a:ln/>
        </p:spPr>
      </p:sp>
      <p:pic>
        <p:nvPicPr>
          <p:cNvPr id="2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58050" y="2566988"/>
            <a:ext cx="190500" cy="190500"/>
          </a:xfrm>
          <a:prstGeom prst="rect">
            <a:avLst/>
          </a:prstGeom>
        </p:spPr>
      </p:pic>
      <p:sp>
        <p:nvSpPr>
          <p:cNvPr id="23" name="Text 18"/>
          <p:cNvSpPr/>
          <p:nvPr/>
        </p:nvSpPr>
        <p:spPr>
          <a:xfrm>
            <a:off x="7600851" y="2247900"/>
            <a:ext cx="5465332"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What comes back</a:t>
            </a:r>
            <a:endParaRPr lang="en-US" sz="1300" dirty="0"/>
          </a:p>
        </p:txBody>
      </p:sp>
      <p:sp>
        <p:nvSpPr>
          <p:cNvPr id="24" name="Text 19"/>
          <p:cNvSpPr/>
          <p:nvPr/>
        </p:nvSpPr>
        <p:spPr>
          <a:xfrm>
            <a:off x="7600851" y="2581275"/>
            <a:ext cx="5465332"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A briefing rather than a chat answer: sections, a source list, and a statement of what it could not find</a:t>
            </a:r>
            <a:endParaRPr lang="en-US" sz="1100" dirty="0"/>
          </a:p>
        </p:txBody>
      </p:sp>
      <p:sp>
        <p:nvSpPr>
          <p:cNvPr id="25" name="Shape 20"/>
          <p:cNvSpPr/>
          <p:nvPr/>
        </p:nvSpPr>
        <p:spPr>
          <a:xfrm>
            <a:off x="6972300" y="3419376"/>
            <a:ext cx="6286500" cy="1209675"/>
          </a:xfrm>
          <a:prstGeom prst="roundRect">
            <a:avLst>
              <a:gd name="adj" fmla="val 7935"/>
            </a:avLst>
          </a:prstGeom>
          <a:gradFill rotWithShape="1">
            <a:gsLst>
              <a:gs pos="0">
                <a:srgbClr val="FFFFFF">
                  <a:alpha val="11000"/>
                </a:srgbClr>
              </a:gs>
              <a:gs pos="926">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6" name="Shape 21"/>
          <p:cNvSpPr/>
          <p:nvPr/>
        </p:nvSpPr>
        <p:spPr>
          <a:xfrm>
            <a:off x="6972300" y="4619526"/>
            <a:ext cx="6286500" cy="9525"/>
          </a:xfrm>
          <a:prstGeom prst="rect">
            <a:avLst/>
          </a:prstGeom>
          <a:solidFill>
            <a:srgbClr val="FFFFFF">
              <a:alpha val="8000"/>
            </a:srgbClr>
          </a:solidFill>
          <a:ln/>
        </p:spPr>
      </p:sp>
      <p:sp>
        <p:nvSpPr>
          <p:cNvPr id="27" name="Shape 22"/>
          <p:cNvSpPr/>
          <p:nvPr/>
        </p:nvSpPr>
        <p:spPr>
          <a:xfrm>
            <a:off x="6972300" y="3419376"/>
            <a:ext cx="6286500" cy="9525"/>
          </a:xfrm>
          <a:prstGeom prst="rect">
            <a:avLst/>
          </a:prstGeom>
          <a:solidFill>
            <a:srgbClr val="FFFFFF">
              <a:alpha val="8000"/>
            </a:srgbClr>
          </a:solidFill>
          <a:ln/>
        </p:spPr>
      </p:sp>
      <p:sp>
        <p:nvSpPr>
          <p:cNvPr id="28" name="Shape 23"/>
          <p:cNvSpPr/>
          <p:nvPr/>
        </p:nvSpPr>
        <p:spPr>
          <a:xfrm>
            <a:off x="6972300" y="3514626"/>
            <a:ext cx="28575" cy="1019175"/>
          </a:xfrm>
          <a:prstGeom prst="rect">
            <a:avLst/>
          </a:prstGeom>
          <a:solidFill>
            <a:srgbClr val="A78BFA"/>
          </a:solidFill>
          <a:ln/>
        </p:spPr>
      </p:sp>
      <p:sp>
        <p:nvSpPr>
          <p:cNvPr id="29" name="Shape 24"/>
          <p:cNvSpPr/>
          <p:nvPr/>
        </p:nvSpPr>
        <p:spPr>
          <a:xfrm>
            <a:off x="13249275" y="3514626"/>
            <a:ext cx="9525" cy="1019175"/>
          </a:xfrm>
          <a:prstGeom prst="rect">
            <a:avLst/>
          </a:prstGeom>
          <a:solidFill>
            <a:srgbClr val="FFFFFF">
              <a:alpha val="8000"/>
            </a:srgbClr>
          </a:solidFill>
          <a:ln/>
        </p:spPr>
      </p:sp>
      <p:sp>
        <p:nvSpPr>
          <p:cNvPr id="30" name="Shape 25"/>
          <p:cNvSpPr/>
          <p:nvPr/>
        </p:nvSpPr>
        <p:spPr>
          <a:xfrm>
            <a:off x="7162800" y="3833714"/>
            <a:ext cx="381000" cy="381000"/>
          </a:xfrm>
          <a:prstGeom prst="roundRect">
            <a:avLst>
              <a:gd name="adj" fmla="val 25000"/>
            </a:avLst>
          </a:prstGeom>
          <a:solidFill>
            <a:srgbClr val="8B5CF6">
              <a:alpha val="14000"/>
            </a:srgbClr>
          </a:solidFill>
          <a:ln/>
        </p:spPr>
      </p:sp>
      <p:pic>
        <p:nvPicPr>
          <p:cNvPr id="3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58050" y="3928964"/>
            <a:ext cx="190500" cy="190500"/>
          </a:xfrm>
          <a:prstGeom prst="rect">
            <a:avLst/>
          </a:prstGeom>
        </p:spPr>
      </p:pic>
      <p:sp>
        <p:nvSpPr>
          <p:cNvPr id="32" name="Text 26"/>
          <p:cNvSpPr/>
          <p:nvPr/>
        </p:nvSpPr>
        <p:spPr>
          <a:xfrm>
            <a:off x="7600851" y="3609876"/>
            <a:ext cx="5465332"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The cap</a:t>
            </a:r>
            <a:endParaRPr lang="en-US" sz="1300" dirty="0"/>
          </a:p>
        </p:txBody>
      </p:sp>
      <p:sp>
        <p:nvSpPr>
          <p:cNvPr id="33" name="Text 27"/>
          <p:cNvSpPr/>
          <p:nvPr/>
        </p:nvSpPr>
        <p:spPr>
          <a:xfrm>
            <a:off x="7600851" y="3943251"/>
            <a:ext cx="5465332"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The free tier allows a small number of reports a month, and a run takes minutes rather than seconds — this one was started last night</a:t>
            </a:r>
            <a:endParaRPr lang="en-US" sz="1100" dirty="0"/>
          </a:p>
        </p:txBody>
      </p:sp>
      <p:sp>
        <p:nvSpPr>
          <p:cNvPr id="34" name="Shape 28"/>
          <p:cNvSpPr/>
          <p:nvPr/>
        </p:nvSpPr>
        <p:spPr>
          <a:xfrm>
            <a:off x="6972300" y="4781351"/>
            <a:ext cx="6286500" cy="1209675"/>
          </a:xfrm>
          <a:prstGeom prst="roundRect">
            <a:avLst>
              <a:gd name="adj" fmla="val 7935"/>
            </a:avLst>
          </a:prstGeom>
          <a:gradFill rotWithShape="1">
            <a:gsLst>
              <a:gs pos="0">
                <a:srgbClr val="FFFFFF">
                  <a:alpha val="11000"/>
                </a:srgbClr>
              </a:gs>
              <a:gs pos="926">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5" name="Shape 29"/>
          <p:cNvSpPr/>
          <p:nvPr/>
        </p:nvSpPr>
        <p:spPr>
          <a:xfrm>
            <a:off x="6972300" y="5981501"/>
            <a:ext cx="6286500" cy="9525"/>
          </a:xfrm>
          <a:prstGeom prst="rect">
            <a:avLst/>
          </a:prstGeom>
          <a:solidFill>
            <a:srgbClr val="FFFFFF">
              <a:alpha val="8000"/>
            </a:srgbClr>
          </a:solidFill>
          <a:ln/>
        </p:spPr>
      </p:sp>
      <p:sp>
        <p:nvSpPr>
          <p:cNvPr id="36" name="Shape 30"/>
          <p:cNvSpPr/>
          <p:nvPr/>
        </p:nvSpPr>
        <p:spPr>
          <a:xfrm>
            <a:off x="6972300" y="4781351"/>
            <a:ext cx="6286500" cy="9525"/>
          </a:xfrm>
          <a:prstGeom prst="rect">
            <a:avLst/>
          </a:prstGeom>
          <a:solidFill>
            <a:srgbClr val="FFFFFF">
              <a:alpha val="8000"/>
            </a:srgbClr>
          </a:solidFill>
          <a:ln/>
        </p:spPr>
      </p:sp>
      <p:sp>
        <p:nvSpPr>
          <p:cNvPr id="37" name="Shape 31"/>
          <p:cNvSpPr/>
          <p:nvPr/>
        </p:nvSpPr>
        <p:spPr>
          <a:xfrm>
            <a:off x="6972300" y="4876601"/>
            <a:ext cx="28575" cy="1019175"/>
          </a:xfrm>
          <a:prstGeom prst="rect">
            <a:avLst/>
          </a:prstGeom>
          <a:solidFill>
            <a:srgbClr val="EF4444"/>
          </a:solidFill>
          <a:ln/>
        </p:spPr>
      </p:sp>
      <p:sp>
        <p:nvSpPr>
          <p:cNvPr id="38" name="Shape 32"/>
          <p:cNvSpPr/>
          <p:nvPr/>
        </p:nvSpPr>
        <p:spPr>
          <a:xfrm>
            <a:off x="13249275" y="4876601"/>
            <a:ext cx="9525" cy="1019175"/>
          </a:xfrm>
          <a:prstGeom prst="rect">
            <a:avLst/>
          </a:prstGeom>
          <a:solidFill>
            <a:srgbClr val="FFFFFF">
              <a:alpha val="8000"/>
            </a:srgbClr>
          </a:solidFill>
          <a:ln/>
        </p:spPr>
      </p:sp>
      <p:sp>
        <p:nvSpPr>
          <p:cNvPr id="39" name="Shape 33"/>
          <p:cNvSpPr/>
          <p:nvPr/>
        </p:nvSpPr>
        <p:spPr>
          <a:xfrm>
            <a:off x="7162800" y="5195688"/>
            <a:ext cx="381000" cy="381000"/>
          </a:xfrm>
          <a:prstGeom prst="roundRect">
            <a:avLst>
              <a:gd name="adj" fmla="val 25000"/>
            </a:avLst>
          </a:prstGeom>
          <a:solidFill>
            <a:srgbClr val="EF4444">
              <a:alpha val="14000"/>
            </a:srgbClr>
          </a:solidFill>
          <a:ln/>
        </p:spPr>
      </p:sp>
      <p:pic>
        <p:nvPicPr>
          <p:cNvPr id="4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58050" y="5290938"/>
            <a:ext cx="190500" cy="190500"/>
          </a:xfrm>
          <a:prstGeom prst="rect">
            <a:avLst/>
          </a:prstGeom>
        </p:spPr>
      </p:pic>
      <p:sp>
        <p:nvSpPr>
          <p:cNvPr id="41" name="Text 34"/>
          <p:cNvSpPr/>
          <p:nvPr/>
        </p:nvSpPr>
        <p:spPr>
          <a:xfrm>
            <a:off x="7600851" y="4971851"/>
            <a:ext cx="5465332"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Check it anyway</a:t>
            </a:r>
            <a:endParaRPr lang="en-US" sz="1300" dirty="0"/>
          </a:p>
        </p:txBody>
      </p:sp>
      <p:sp>
        <p:nvSpPr>
          <p:cNvPr id="42" name="Text 35"/>
          <p:cNvSpPr/>
          <p:nvPr/>
        </p:nvSpPr>
        <p:spPr>
          <a:xfrm>
            <a:off x="7600851" y="5305226"/>
            <a:ext cx="5465332"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It lists its sources so you can open them. A deadline that is not in the source is not a deadline</a:t>
            </a:r>
            <a:endParaRPr lang="en-US" sz="1100" dirty="0"/>
          </a:p>
        </p:txBody>
      </p:sp>
      <p:sp>
        <p:nvSpPr>
          <p:cNvPr id="47" name="Text 39"/>
          <p:cNvSpPr/>
          <p:nvPr/>
        </p:nvSpPr>
        <p:spPr>
          <a:xfrm>
            <a:off x="457200" y="6867525"/>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A monthly cap is a planning constraint: decide what the question is before you spend one</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Shape 2"/>
          <p:cNvSpPr/>
          <p:nvPr/>
        </p:nvSpPr>
        <p:spPr>
          <a:xfrm>
            <a:off x="457200" y="457200"/>
            <a:ext cx="2705034" cy="304800"/>
          </a:xfrm>
          <a:prstGeom prst="roundRect">
            <a:avLst>
              <a:gd name="adj" fmla="val 50000"/>
            </a:avLst>
          </a:prstGeom>
          <a:solidFill>
            <a:srgbClr val="3B82F6">
              <a:alpha val="14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542958"/>
            <a:ext cx="133284" cy="133284"/>
          </a:xfrm>
          <a:prstGeom prst="rect">
            <a:avLst/>
          </a:prstGeom>
        </p:spPr>
      </p:pic>
      <p:sp>
        <p:nvSpPr>
          <p:cNvPr id="6" name="Text 3"/>
          <p:cNvSpPr/>
          <p:nvPr/>
        </p:nvSpPr>
        <p:spPr>
          <a:xfrm>
            <a:off x="819084" y="514350"/>
            <a:ext cx="2190750" cy="190500"/>
          </a:xfrm>
          <a:prstGeom prst="rect">
            <a:avLst/>
          </a:prstGeom>
          <a:noFill/>
          <a:ln/>
        </p:spPr>
        <p:txBody>
          <a:bodyPr wrap="square" lIns="0" tIns="0" rIns="0" bIns="0" rtlCol="0" anchor="t">
            <a:normAutofit/>
          </a:bodyPr>
          <a:lstStyle/>
          <a:p>
            <a:pPr marL="0" indent="0" algn="l">
              <a:lnSpc>
                <a:spcPct val="120000"/>
              </a:lnSpc>
              <a:buNone/>
            </a:pPr>
            <a:r>
              <a:rPr lang="en-US" sz="900" b="1" kern="1200" spc="72" dirty="0">
                <a:solidFill>
                  <a:srgbClr val="60A5FA"/>
                </a:solidFill>
                <a:latin typeface="JetBrains Mono"/>
                <a:ea typeface="JetBrains Mono"/>
                <a:cs typeface="JetBrains Mono"/>
              </a:rPr>
              <a:t>DAILY DRIVER · GOOGLE GEMINI</a:t>
            </a:r>
            <a:endParaRPr lang="en-US" sz="900" dirty="0"/>
          </a:p>
        </p:txBody>
      </p:sp>
      <p:sp>
        <p:nvSpPr>
          <p:cNvPr id="7" name="Text 4"/>
          <p:cNvSpPr/>
          <p:nvPr/>
        </p:nvSpPr>
        <p:spPr>
          <a:xfrm>
            <a:off x="457200" y="8763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Canvas</a:t>
            </a:r>
            <a:endParaRPr lang="en-US" sz="3200" dirty="0"/>
          </a:p>
        </p:txBody>
      </p:sp>
      <p:sp>
        <p:nvSpPr>
          <p:cNvPr id="8" name="Text 5"/>
          <p:cNvSpPr/>
          <p:nvPr/>
        </p:nvSpPr>
        <p:spPr>
          <a:xfrm>
            <a:off x="457200" y="1495425"/>
            <a:ext cx="128016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Draft the outline of your assignment presentation, then rewrite one section at a time without losing the rest</a:t>
            </a:r>
            <a:endParaRPr lang="en-US" sz="1300" dirty="0"/>
          </a:p>
        </p:txBody>
      </p:sp>
      <p:sp>
        <p:nvSpPr>
          <p:cNvPr id="9" name="Shape 6"/>
          <p:cNvSpPr/>
          <p:nvPr/>
        </p:nvSpPr>
        <p:spPr>
          <a:xfrm>
            <a:off x="457200" y="2462229"/>
            <a:ext cx="4114800" cy="2838450"/>
          </a:xfrm>
          <a:prstGeom prst="roundRect">
            <a:avLst>
              <a:gd name="adj" fmla="val 2576"/>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0" name="Shape 7"/>
          <p:cNvSpPr/>
          <p:nvPr/>
        </p:nvSpPr>
        <p:spPr>
          <a:xfrm>
            <a:off x="685800" y="2671779"/>
            <a:ext cx="381000" cy="381000"/>
          </a:xfrm>
          <a:prstGeom prst="roundRect">
            <a:avLst>
              <a:gd name="adj" fmla="val 25000"/>
            </a:avLst>
          </a:prstGeom>
          <a:solidFill>
            <a:srgbClr val="3B82F6">
              <a:alpha val="14000"/>
            </a:srgbClr>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1050" y="2767029"/>
            <a:ext cx="190500" cy="190500"/>
          </a:xfrm>
          <a:prstGeom prst="rect">
            <a:avLst/>
          </a:prstGeom>
        </p:spPr>
      </p:pic>
      <p:sp>
        <p:nvSpPr>
          <p:cNvPr id="12" name="Text 8"/>
          <p:cNvSpPr/>
          <p:nvPr/>
        </p:nvSpPr>
        <p:spPr>
          <a:xfrm>
            <a:off x="1123851" y="2671779"/>
            <a:ext cx="3209032"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What you type</a:t>
            </a:r>
            <a:endParaRPr lang="en-US" sz="1600" dirty="0"/>
          </a:p>
        </p:txBody>
      </p:sp>
      <p:sp>
        <p:nvSpPr>
          <p:cNvPr id="13" name="Shape 9"/>
          <p:cNvSpPr/>
          <p:nvPr/>
        </p:nvSpPr>
        <p:spPr>
          <a:xfrm>
            <a:off x="685800" y="3215928"/>
            <a:ext cx="3636565" cy="1866900"/>
          </a:xfrm>
          <a:custGeom>
            <a:avLst/>
            <a:gdLst/>
            <a:ahLst/>
            <a:cxnLst/>
            <a:rect l="l" t="t" r="r" b="b"/>
            <a:pathLst>
              <a:path w="3958828" h="1211792">
                <a:moveTo>
                  <a:pt x="0" y="0"/>
                </a:moveTo>
                <a:lnTo>
                  <a:pt x="3901678" y="0"/>
                </a:lnTo>
                <a:arcTo wR="57150" hR="57150" stAng="16200000" swAng="5400000"/>
                <a:lnTo>
                  <a:pt x="3958828" y="1154642"/>
                </a:lnTo>
                <a:arcTo wR="57150" hR="57150" stAng="0" swAng="5400000"/>
                <a:lnTo>
                  <a:pt x="0" y="1211792"/>
                </a:lnTo>
                <a:lnTo>
                  <a:pt x="0" y="0"/>
                </a:lnTo>
                <a:close/>
              </a:path>
            </a:pathLst>
          </a:custGeom>
          <a:gradFill rotWithShape="1">
            <a:gsLst>
              <a:gs pos="0">
                <a:srgbClr val="FFFFFF">
                  <a:alpha val="11000"/>
                </a:srgbClr>
              </a:gs>
              <a:gs pos="11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4" name="Shape 10"/>
          <p:cNvSpPr/>
          <p:nvPr/>
        </p:nvSpPr>
        <p:spPr>
          <a:xfrm>
            <a:off x="685800" y="3311178"/>
            <a:ext cx="28575" cy="1676400"/>
          </a:xfrm>
          <a:prstGeom prst="rect">
            <a:avLst/>
          </a:prstGeom>
          <a:solidFill>
            <a:srgbClr val="60A5FA"/>
          </a:solidFill>
          <a:ln/>
        </p:spPr>
      </p:sp>
      <p:sp>
        <p:nvSpPr>
          <p:cNvPr id="15" name="Text 11"/>
          <p:cNvSpPr/>
          <p:nvPr/>
        </p:nvSpPr>
        <p:spPr>
          <a:xfrm>
            <a:off x="859367" y="3349278"/>
            <a:ext cx="3291548" cy="2255308"/>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“Draft the outline of a 20-minute presentation that teaches a junior colleague how our office handles reporting periods. Sections, one learning outcome each, and where an example goes.”</a:t>
            </a:r>
            <a:endParaRPr lang="en-US" sz="1300" dirty="0"/>
          </a:p>
        </p:txBody>
      </p:sp>
      <p:sp>
        <p:nvSpPr>
          <p:cNvPr id="16" name="Shape 12"/>
          <p:cNvSpPr/>
          <p:nvPr/>
        </p:nvSpPr>
        <p:spPr>
          <a:xfrm>
            <a:off x="4800600" y="2462229"/>
            <a:ext cx="4114800" cy="2838450"/>
          </a:xfrm>
          <a:prstGeom prst="roundRect">
            <a:avLst>
              <a:gd name="adj" fmla="val 2962"/>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7" name="Shape 13"/>
          <p:cNvSpPr/>
          <p:nvPr/>
        </p:nvSpPr>
        <p:spPr>
          <a:xfrm>
            <a:off x="5029200" y="2819417"/>
            <a:ext cx="381000" cy="381000"/>
          </a:xfrm>
          <a:prstGeom prst="roundRect">
            <a:avLst>
              <a:gd name="adj" fmla="val 25000"/>
            </a:avLst>
          </a:prstGeom>
          <a:solidFill>
            <a:srgbClr val="8B5CF6">
              <a:alpha val="14000"/>
            </a:srgbClr>
          </a:solidFill>
          <a:ln/>
        </p:spPr>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24450" y="2914667"/>
            <a:ext cx="190500" cy="190500"/>
          </a:xfrm>
          <a:prstGeom prst="rect">
            <a:avLst/>
          </a:prstGeom>
        </p:spPr>
      </p:pic>
      <p:sp>
        <p:nvSpPr>
          <p:cNvPr id="19" name="Text 14"/>
          <p:cNvSpPr/>
          <p:nvPr/>
        </p:nvSpPr>
        <p:spPr>
          <a:xfrm>
            <a:off x="5467251" y="2819417"/>
            <a:ext cx="3209032"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What Canvas is</a:t>
            </a:r>
            <a:endParaRPr lang="en-US" sz="1600" dirty="0"/>
          </a:p>
        </p:txBody>
      </p:sp>
      <p:sp>
        <p:nvSpPr>
          <p:cNvPr id="20" name="Text 15"/>
          <p:cNvSpPr/>
          <p:nvPr/>
        </p:nvSpPr>
        <p:spPr>
          <a:xfrm>
            <a:off x="5029200" y="3363566"/>
            <a:ext cx="3704233"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A document beside the chat, edited in place — not a wall of chat text you have to copy out</a:t>
            </a:r>
            <a:endParaRPr lang="en-US" sz="1300" dirty="0"/>
          </a:p>
        </p:txBody>
      </p:sp>
      <p:sp>
        <p:nvSpPr>
          <p:cNvPr id="21" name="Text 16"/>
          <p:cNvSpPr/>
          <p:nvPr/>
        </p:nvSpPr>
        <p:spPr>
          <a:xfrm>
            <a:off x="5029200" y="4011233"/>
            <a:ext cx="3704233"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Rewrite one section and the rest stays where it was</a:t>
            </a:r>
            <a:endParaRPr lang="en-US" sz="1300" dirty="0"/>
          </a:p>
        </p:txBody>
      </p:sp>
      <p:sp>
        <p:nvSpPr>
          <p:cNvPr id="22" name="Shape 17"/>
          <p:cNvSpPr/>
          <p:nvPr/>
        </p:nvSpPr>
        <p:spPr>
          <a:xfrm>
            <a:off x="9144000" y="2462229"/>
            <a:ext cx="4114800" cy="2838450"/>
          </a:xfrm>
          <a:prstGeom prst="roundRect">
            <a:avLst>
              <a:gd name="adj" fmla="val 2962"/>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3" name="Shape 18"/>
          <p:cNvSpPr/>
          <p:nvPr/>
        </p:nvSpPr>
        <p:spPr>
          <a:xfrm>
            <a:off x="9372600" y="2819417"/>
            <a:ext cx="381000" cy="381000"/>
          </a:xfrm>
          <a:prstGeom prst="roundRect">
            <a:avLst>
              <a:gd name="adj" fmla="val 25000"/>
            </a:avLst>
          </a:prstGeom>
          <a:solidFill>
            <a:srgbClr val="10B981">
              <a:alpha val="14000"/>
            </a:srgbClr>
          </a:solidFill>
          <a:ln/>
        </p:spPr>
      </p:sp>
      <p:pic>
        <p:nvPicPr>
          <p:cNvPr id="2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67850" y="2914667"/>
            <a:ext cx="190500" cy="190500"/>
          </a:xfrm>
          <a:prstGeom prst="rect">
            <a:avLst/>
          </a:prstGeom>
        </p:spPr>
      </p:pic>
      <p:sp>
        <p:nvSpPr>
          <p:cNvPr id="25" name="Text 19"/>
          <p:cNvSpPr/>
          <p:nvPr/>
        </p:nvSpPr>
        <p:spPr>
          <a:xfrm>
            <a:off x="9810650" y="2819417"/>
            <a:ext cx="320903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What you take away</a:t>
            </a:r>
            <a:endParaRPr lang="en-US" sz="1600" dirty="0"/>
          </a:p>
        </p:txBody>
      </p:sp>
      <p:sp>
        <p:nvSpPr>
          <p:cNvPr id="26" name="Text 20"/>
          <p:cNvSpPr/>
          <p:nvPr/>
        </p:nvSpPr>
        <p:spPr>
          <a:xfrm>
            <a:off x="9372600" y="3363566"/>
            <a:ext cx="3704233"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A structured draft you can export and keep working on</a:t>
            </a:r>
            <a:endParaRPr lang="en-US" sz="1300" dirty="0"/>
          </a:p>
        </p:txBody>
      </p:sp>
      <p:sp>
        <p:nvSpPr>
          <p:cNvPr id="27" name="Text 21"/>
          <p:cNvSpPr/>
          <p:nvPr/>
        </p:nvSpPr>
        <p:spPr>
          <a:xfrm>
            <a:off x="9372600" y="4011233"/>
            <a:ext cx="3704233" cy="82867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This is the assignment's deliverable, started: an educational presentation on a topic you pick</a:t>
            </a:r>
            <a:endParaRPr lang="en-US" sz="1300" dirty="0"/>
          </a:p>
        </p:txBody>
      </p:sp>
      <p:sp>
        <p:nvSpPr>
          <p:cNvPr id="28" name="Shape 22"/>
          <p:cNvSpPr/>
          <p:nvPr/>
        </p:nvSpPr>
        <p:spPr>
          <a:xfrm>
            <a:off x="457200" y="5719779"/>
            <a:ext cx="12801600" cy="628650"/>
          </a:xfrm>
          <a:prstGeom prst="roundRect">
            <a:avLst>
              <a:gd name="adj" fmla="val 18123"/>
            </a:avLst>
          </a:prstGeom>
          <a:gradFill rotWithShape="1">
            <a:gsLst>
              <a:gs pos="0">
                <a:srgbClr val="3B82F6"/>
              </a:gs>
              <a:gs pos="227">
                <a:srgbClr val="3B82F6"/>
              </a:gs>
              <a:gs pos="228">
                <a:srgbClr val="FFFFFF">
                  <a:alpha val="5000"/>
                </a:srgbClr>
              </a:gs>
              <a:gs pos="100000">
                <a:srgbClr val="FFFFFF">
                  <a:alpha val="2500"/>
                </a:srgbClr>
              </a:gs>
            </a:gsLst>
            <a:lin ang="0" scaled="0"/>
          </a:gradFill>
          <a:ln w="9525">
            <a:solidFill>
              <a:srgbClr val="FFFFFF">
                <a:alpha val="12000"/>
              </a:srgbClr>
            </a:solidFill>
            <a:prstDash val="solid"/>
          </a:ln>
          <a:effectLst>
            <a:glow rad="190500">
              <a:srgbClr val="3B82F6">
                <a:alpha val="26000"/>
              </a:srgbClr>
            </a:glow>
          </a:effectLst>
        </p:spPr>
      </p:sp>
      <p:sp>
        <p:nvSpPr>
          <p:cNvPr id="29" name="Shape 23"/>
          <p:cNvSpPr/>
          <p:nvPr/>
        </p:nvSpPr>
        <p:spPr>
          <a:xfrm>
            <a:off x="677300" y="5843604"/>
            <a:ext cx="381000" cy="381000"/>
          </a:xfrm>
          <a:prstGeom prst="roundRect">
            <a:avLst>
              <a:gd name="adj" fmla="val 25000"/>
            </a:avLst>
          </a:prstGeom>
          <a:solidFill>
            <a:srgbClr val="3B82F6">
              <a:alpha val="14000"/>
            </a:srgbClr>
          </a:solidFill>
          <a:ln/>
        </p:spPr>
      </p:sp>
      <p:pic>
        <p:nvPicPr>
          <p:cNvPr id="3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72550" y="5938854"/>
            <a:ext cx="190500" cy="190500"/>
          </a:xfrm>
          <a:prstGeom prst="rect">
            <a:avLst/>
          </a:prstGeom>
        </p:spPr>
      </p:pic>
      <p:sp>
        <p:nvSpPr>
          <p:cNvPr id="31" name="Text 24"/>
          <p:cNvSpPr/>
          <p:nvPr/>
        </p:nvSpPr>
        <p:spPr>
          <a:xfrm>
            <a:off x="1153385" y="5843604"/>
            <a:ext cx="11885315"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 DEMO — The outline drafted in Canvas, then one section rewritten in place</a:t>
            </a:r>
            <a:endParaRPr lang="en-US" sz="1300" dirty="0"/>
          </a:p>
        </p:txBody>
      </p:sp>
      <p:sp>
        <p:nvSpPr>
          <p:cNvPr id="32" name="Text 25"/>
          <p:cNvSpPr/>
          <p:nvPr/>
        </p:nvSpPr>
        <p:spPr>
          <a:xfrm>
            <a:off x="457200" y="6462696"/>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Structured outputs are what the next step in a workflow can actually use</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Shape 2"/>
          <p:cNvSpPr/>
          <p:nvPr/>
        </p:nvSpPr>
        <p:spPr>
          <a:xfrm>
            <a:off x="457200" y="457200"/>
            <a:ext cx="2705034" cy="304800"/>
          </a:xfrm>
          <a:prstGeom prst="roundRect">
            <a:avLst>
              <a:gd name="adj" fmla="val 50000"/>
            </a:avLst>
          </a:prstGeom>
          <a:solidFill>
            <a:srgbClr val="3B82F6">
              <a:alpha val="14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542958"/>
            <a:ext cx="133284" cy="133284"/>
          </a:xfrm>
          <a:prstGeom prst="rect">
            <a:avLst/>
          </a:prstGeom>
        </p:spPr>
      </p:pic>
      <p:sp>
        <p:nvSpPr>
          <p:cNvPr id="6" name="Text 3"/>
          <p:cNvSpPr/>
          <p:nvPr/>
        </p:nvSpPr>
        <p:spPr>
          <a:xfrm>
            <a:off x="819084" y="514350"/>
            <a:ext cx="2190750" cy="190500"/>
          </a:xfrm>
          <a:prstGeom prst="rect">
            <a:avLst/>
          </a:prstGeom>
          <a:noFill/>
          <a:ln/>
        </p:spPr>
        <p:txBody>
          <a:bodyPr wrap="square" lIns="0" tIns="0" rIns="0" bIns="0" rtlCol="0" anchor="t">
            <a:normAutofit/>
          </a:bodyPr>
          <a:lstStyle/>
          <a:p>
            <a:pPr marL="0" indent="0" algn="l">
              <a:lnSpc>
                <a:spcPct val="120000"/>
              </a:lnSpc>
              <a:buNone/>
            </a:pPr>
            <a:r>
              <a:rPr lang="en-US" sz="900" b="1" kern="1200" spc="72" dirty="0">
                <a:solidFill>
                  <a:srgbClr val="60A5FA"/>
                </a:solidFill>
                <a:latin typeface="JetBrains Mono"/>
                <a:ea typeface="JetBrains Mono"/>
                <a:cs typeface="JetBrains Mono"/>
              </a:rPr>
              <a:t>DAILY DRIVER · GOOGLE GEMINI</a:t>
            </a:r>
            <a:endParaRPr lang="en-US" sz="900" dirty="0"/>
          </a:p>
        </p:txBody>
      </p:sp>
      <p:sp>
        <p:nvSpPr>
          <p:cNvPr id="7" name="Text 4"/>
          <p:cNvSpPr/>
          <p:nvPr/>
        </p:nvSpPr>
        <p:spPr>
          <a:xfrm>
            <a:off x="457200" y="8763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Google Workspace hooks</a:t>
            </a:r>
            <a:endParaRPr lang="en-US" sz="3200" dirty="0"/>
          </a:p>
        </p:txBody>
      </p:sp>
      <p:sp>
        <p:nvSpPr>
          <p:cNvPr id="8" name="Text 5"/>
          <p:cNvSpPr/>
          <p:nvPr/>
        </p:nvSpPr>
        <p:spPr>
          <a:xfrm>
            <a:off x="457200" y="1495425"/>
            <a:ext cx="128016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“Summarise the three call documents in this Drive folder, and draft the reply to the funder's email” — the chat reaching into Drive, Docs and Gmail on its own</a:t>
            </a:r>
            <a:endParaRPr lang="en-US" sz="1300" dirty="0"/>
          </a:p>
        </p:txBody>
      </p:sp>
      <p:sp>
        <p:nvSpPr>
          <p:cNvPr id="9" name="Shape 6"/>
          <p:cNvSpPr/>
          <p:nvPr/>
        </p:nvSpPr>
        <p:spPr>
          <a:xfrm>
            <a:off x="457200" y="2487067"/>
            <a:ext cx="6286500" cy="2466975"/>
          </a:xfrm>
          <a:prstGeom prst="roundRect">
            <a:avLst>
              <a:gd name="adj" fmla="val 2550"/>
            </a:avLst>
          </a:prstGeom>
          <a:gradFill rotWithShape="1">
            <a:gsLst>
              <a:gs pos="0">
                <a:srgbClr val="EF4444"/>
              </a:gs>
              <a:gs pos="463">
                <a:srgbClr val="EF4444"/>
              </a:gs>
              <a:gs pos="464">
                <a:srgbClr val="FFFFFF">
                  <a:alpha val="5000"/>
                </a:srgbClr>
              </a:gs>
              <a:gs pos="100000">
                <a:srgbClr val="FFFFFF">
                  <a:alpha val="2500"/>
                </a:srgbClr>
              </a:gs>
            </a:gsLst>
            <a:lin ang="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0" name="Shape 7"/>
          <p:cNvSpPr/>
          <p:nvPr/>
        </p:nvSpPr>
        <p:spPr>
          <a:xfrm>
            <a:off x="685800" y="2715667"/>
            <a:ext cx="381000" cy="381000"/>
          </a:xfrm>
          <a:prstGeom prst="roundRect">
            <a:avLst>
              <a:gd name="adj" fmla="val 25000"/>
            </a:avLst>
          </a:prstGeom>
          <a:solidFill>
            <a:srgbClr val="EF4444">
              <a:alpha val="14000"/>
            </a:srgbClr>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1050" y="2810917"/>
            <a:ext cx="190500" cy="190500"/>
          </a:xfrm>
          <a:prstGeom prst="rect">
            <a:avLst/>
          </a:prstGeom>
        </p:spPr>
      </p:pic>
      <p:sp>
        <p:nvSpPr>
          <p:cNvPr id="12" name="Text 8"/>
          <p:cNvSpPr/>
          <p:nvPr/>
        </p:nvSpPr>
        <p:spPr>
          <a:xfrm>
            <a:off x="1200150" y="2715667"/>
            <a:ext cx="5285416"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87171"/>
                </a:solidFill>
                <a:latin typeface="Inter"/>
                <a:ea typeface="Inter"/>
                <a:cs typeface="Inter"/>
              </a:rPr>
              <a:t>Not on the free tier at the time of writing</a:t>
            </a:r>
            <a:endParaRPr lang="en-US" sz="1600" dirty="0"/>
          </a:p>
        </p:txBody>
      </p:sp>
      <p:sp>
        <p:nvSpPr>
          <p:cNvPr id="13" name="Text 9"/>
          <p:cNvSpPr/>
          <p:nvPr/>
        </p:nvSpPr>
        <p:spPr>
          <a:xfrm>
            <a:off x="685800" y="3285944"/>
            <a:ext cx="5856916"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The Drive, Docs and Gmail connections are limited or absent on the free tier — this is the clearest place the paid plans start</a:t>
            </a:r>
            <a:endParaRPr lang="en-US" sz="1300" dirty="0"/>
          </a:p>
        </p:txBody>
      </p:sp>
      <p:sp>
        <p:nvSpPr>
          <p:cNvPr id="14" name="Text 10"/>
          <p:cNvSpPr/>
          <p:nvPr/>
        </p:nvSpPr>
        <p:spPr>
          <a:xfrm>
            <a:off x="685800" y="3952628"/>
            <a:ext cx="5856916"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Shown here so you recognise it in a comparison table, not because you are expected to have it</a:t>
            </a:r>
            <a:endParaRPr lang="en-US" sz="1300" dirty="0"/>
          </a:p>
        </p:txBody>
      </p:sp>
      <p:sp>
        <p:nvSpPr>
          <p:cNvPr id="15" name="Shape 11"/>
          <p:cNvSpPr/>
          <p:nvPr/>
        </p:nvSpPr>
        <p:spPr>
          <a:xfrm>
            <a:off x="6972300" y="2487067"/>
            <a:ext cx="6286500" cy="2466975"/>
          </a:xfrm>
          <a:prstGeom prst="roundRect">
            <a:avLst>
              <a:gd name="adj" fmla="val 2550"/>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6" name="Shape 12"/>
          <p:cNvSpPr/>
          <p:nvPr/>
        </p:nvSpPr>
        <p:spPr>
          <a:xfrm>
            <a:off x="7200900" y="2715667"/>
            <a:ext cx="381000" cy="381000"/>
          </a:xfrm>
          <a:prstGeom prst="roundRect">
            <a:avLst>
              <a:gd name="adj" fmla="val 25000"/>
            </a:avLst>
          </a:prstGeom>
          <a:solidFill>
            <a:srgbClr val="10B981">
              <a:alpha val="14000"/>
            </a:srgbClr>
          </a:solidFill>
          <a:ln/>
        </p:spPr>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96150" y="2810917"/>
            <a:ext cx="190500" cy="190500"/>
          </a:xfrm>
          <a:prstGeom prst="rect">
            <a:avLst/>
          </a:prstGeom>
        </p:spPr>
      </p:pic>
      <p:sp>
        <p:nvSpPr>
          <p:cNvPr id="18" name="Text 13"/>
          <p:cNvSpPr/>
          <p:nvPr/>
        </p:nvSpPr>
        <p:spPr>
          <a:xfrm>
            <a:off x="7715250" y="2715667"/>
            <a:ext cx="5285416"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34D399"/>
                </a:solidFill>
                <a:latin typeface="Inter"/>
                <a:ea typeface="Inter"/>
                <a:cs typeface="Inter"/>
              </a:rPr>
              <a:t>What you do instead</a:t>
            </a:r>
            <a:endParaRPr lang="en-US" sz="1600" dirty="0"/>
          </a:p>
        </p:txBody>
      </p:sp>
      <p:sp>
        <p:nvSpPr>
          <p:cNvPr id="19" name="Text 14"/>
          <p:cNvSpPr/>
          <p:nvPr/>
        </p:nvSpPr>
        <p:spPr>
          <a:xfrm>
            <a:off x="7200900" y="3285944"/>
            <a:ext cx="5856916"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Upload the three documents to the chat, or attach them to the project's Gem once and stop attaching them</a:t>
            </a:r>
            <a:endParaRPr lang="en-US" sz="1300" dirty="0"/>
          </a:p>
        </p:txBody>
      </p:sp>
      <p:sp>
        <p:nvSpPr>
          <p:cNvPr id="20" name="Text 15"/>
          <p:cNvSpPr/>
          <p:nvPr/>
        </p:nvSpPr>
        <p:spPr>
          <a:xfrm>
            <a:off x="7200900" y="3952628"/>
            <a:ext cx="5856916"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The manual step is the upload; everything after it is the same</a:t>
            </a:r>
            <a:endParaRPr lang="en-US" sz="1300" dirty="0"/>
          </a:p>
        </p:txBody>
      </p:sp>
      <p:sp>
        <p:nvSpPr>
          <p:cNvPr id="21" name="Shape 16"/>
          <p:cNvSpPr/>
          <p:nvPr/>
        </p:nvSpPr>
        <p:spPr>
          <a:xfrm>
            <a:off x="457200" y="5373142"/>
            <a:ext cx="12801600" cy="704850"/>
          </a:xfrm>
          <a:prstGeom prst="roundRect">
            <a:avLst>
              <a:gd name="adj" fmla="val 18932"/>
            </a:avLst>
          </a:prstGeom>
          <a:gradFill rotWithShape="1">
            <a:gsLst>
              <a:gs pos="0">
                <a:srgbClr val="3B82F6"/>
              </a:gs>
              <a:gs pos="227">
                <a:srgbClr val="3B82F6"/>
              </a:gs>
              <a:gs pos="228">
                <a:srgbClr val="FFFFFF">
                  <a:alpha val="5000"/>
                </a:srgbClr>
              </a:gs>
              <a:gs pos="100000">
                <a:srgbClr val="FFFFFF">
                  <a:alpha val="2500"/>
                </a:srgbClr>
              </a:gs>
            </a:gsLst>
            <a:lin ang="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2" name="Text 17"/>
          <p:cNvSpPr/>
          <p:nvPr/>
        </p:nvSpPr>
        <p:spPr>
          <a:xfrm>
            <a:off x="685800" y="5554117"/>
            <a:ext cx="12390967"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A capability you do not have is still a capability you have to plan around</a:t>
            </a:r>
            <a:endParaRPr lang="en-US" sz="1600" dirty="0"/>
          </a:p>
        </p:txBody>
      </p:sp>
      <p:sp>
        <p:nvSpPr>
          <p:cNvPr id="23" name="Text 18"/>
          <p:cNvSpPr/>
          <p:nvPr/>
        </p:nvSpPr>
        <p:spPr>
          <a:xfrm>
            <a:off x="457200" y="6437858"/>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Check this one before your workflow blueprint depends on it — the boundary moves</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Shape 2"/>
          <p:cNvSpPr/>
          <p:nvPr/>
        </p:nvSpPr>
        <p:spPr>
          <a:xfrm>
            <a:off x="457200" y="457200"/>
            <a:ext cx="2705034" cy="304800"/>
          </a:xfrm>
          <a:prstGeom prst="roundRect">
            <a:avLst>
              <a:gd name="adj" fmla="val 50000"/>
            </a:avLst>
          </a:prstGeom>
          <a:solidFill>
            <a:srgbClr val="3B82F6">
              <a:alpha val="14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542958"/>
            <a:ext cx="133284" cy="133284"/>
          </a:xfrm>
          <a:prstGeom prst="rect">
            <a:avLst/>
          </a:prstGeom>
        </p:spPr>
      </p:pic>
      <p:sp>
        <p:nvSpPr>
          <p:cNvPr id="6" name="Text 3"/>
          <p:cNvSpPr/>
          <p:nvPr/>
        </p:nvSpPr>
        <p:spPr>
          <a:xfrm>
            <a:off x="819084" y="514350"/>
            <a:ext cx="2190750" cy="190500"/>
          </a:xfrm>
          <a:prstGeom prst="rect">
            <a:avLst/>
          </a:prstGeom>
          <a:noFill/>
          <a:ln/>
        </p:spPr>
        <p:txBody>
          <a:bodyPr wrap="square" lIns="0" tIns="0" rIns="0" bIns="0" rtlCol="0" anchor="t">
            <a:normAutofit/>
          </a:bodyPr>
          <a:lstStyle/>
          <a:p>
            <a:pPr marL="0" indent="0" algn="l">
              <a:lnSpc>
                <a:spcPct val="120000"/>
              </a:lnSpc>
              <a:buNone/>
            </a:pPr>
            <a:r>
              <a:rPr lang="en-US" sz="900" b="1" kern="1200" spc="72" dirty="0">
                <a:solidFill>
                  <a:srgbClr val="60A5FA"/>
                </a:solidFill>
                <a:latin typeface="JetBrains Mono"/>
                <a:ea typeface="JetBrains Mono"/>
                <a:cs typeface="JetBrains Mono"/>
              </a:rPr>
              <a:t>DAILY DRIVER · GOOGLE GEMINI</a:t>
            </a:r>
            <a:endParaRPr lang="en-US" sz="900" dirty="0"/>
          </a:p>
        </p:txBody>
      </p:sp>
      <p:sp>
        <p:nvSpPr>
          <p:cNvPr id="7" name="Text 4"/>
          <p:cNvSpPr/>
          <p:nvPr/>
        </p:nvSpPr>
        <p:spPr>
          <a:xfrm>
            <a:off x="457200" y="8763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Image generation and editing</a:t>
            </a:r>
            <a:endParaRPr lang="en-US" sz="3200" dirty="0"/>
          </a:p>
        </p:txBody>
      </p:sp>
      <p:sp>
        <p:nvSpPr>
          <p:cNvPr id="8" name="Text 5"/>
          <p:cNvSpPr/>
          <p:nvPr/>
        </p:nvSpPr>
        <p:spPr>
          <a:xfrm>
            <a:off x="457200" y="1495425"/>
            <a:ext cx="128016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The one diagram your presentation needs — described in a sentence, adjusted in another, and dropped onto the slide</a:t>
            </a:r>
            <a:endParaRPr lang="en-US" sz="1300" dirty="0"/>
          </a:p>
        </p:txBody>
      </p:sp>
      <p:sp>
        <p:nvSpPr>
          <p:cNvPr id="9" name="Shape 6"/>
          <p:cNvSpPr/>
          <p:nvPr/>
        </p:nvSpPr>
        <p:spPr>
          <a:xfrm>
            <a:off x="457200" y="2202707"/>
            <a:ext cx="12801600" cy="1495425"/>
          </a:xfrm>
          <a:prstGeom prst="roundRect">
            <a:avLst>
              <a:gd name="adj" fmla="val 8033"/>
            </a:avLst>
          </a:prstGeom>
          <a:gradFill rotWithShape="1">
            <a:gsLst>
              <a:gs pos="0">
                <a:srgbClr val="FFFFFF">
                  <a:alpha val="11000"/>
                </a:srgbClr>
              </a:gs>
              <a:gs pos="937">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0" name="Shape 7"/>
          <p:cNvSpPr/>
          <p:nvPr/>
        </p:nvSpPr>
        <p:spPr>
          <a:xfrm>
            <a:off x="685800" y="2393207"/>
            <a:ext cx="381000" cy="381000"/>
          </a:xfrm>
          <a:prstGeom prst="roundRect">
            <a:avLst>
              <a:gd name="adj" fmla="val 25000"/>
            </a:avLst>
          </a:prstGeom>
          <a:solidFill>
            <a:srgbClr val="3B82F6">
              <a:alpha val="14000"/>
            </a:srgbClr>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1050" y="2488457"/>
            <a:ext cx="190500" cy="190500"/>
          </a:xfrm>
          <a:prstGeom prst="rect">
            <a:avLst/>
          </a:prstGeom>
        </p:spPr>
      </p:pic>
      <p:sp>
        <p:nvSpPr>
          <p:cNvPr id="12" name="Text 8"/>
          <p:cNvSpPr/>
          <p:nvPr/>
        </p:nvSpPr>
        <p:spPr>
          <a:xfrm>
            <a:off x="1123851" y="2393207"/>
            <a:ext cx="11895832"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What you type</a:t>
            </a:r>
            <a:endParaRPr lang="en-US" sz="1600" dirty="0"/>
          </a:p>
        </p:txBody>
      </p:sp>
      <p:sp>
        <p:nvSpPr>
          <p:cNvPr id="13" name="Shape 9"/>
          <p:cNvSpPr/>
          <p:nvPr/>
        </p:nvSpPr>
        <p:spPr>
          <a:xfrm>
            <a:off x="685800" y="2918339"/>
            <a:ext cx="12323365" cy="581025"/>
          </a:xfrm>
          <a:custGeom>
            <a:avLst/>
            <a:gdLst/>
            <a:ahLst/>
            <a:cxnLst/>
            <a:rect l="l" t="t" r="r" b="b"/>
            <a:pathLst>
              <a:path w="12094766" h="525529">
                <a:moveTo>
                  <a:pt x="0" y="0"/>
                </a:moveTo>
                <a:lnTo>
                  <a:pt x="12037616" y="0"/>
                </a:lnTo>
                <a:arcTo wR="57150" hR="57150" stAng="16200000" swAng="5400000"/>
                <a:lnTo>
                  <a:pt x="12094766" y="468379"/>
                </a:lnTo>
                <a:arcTo wR="57150" hR="57150" stAng="0" swAng="5400000"/>
                <a:lnTo>
                  <a:pt x="0" y="525529"/>
                </a:lnTo>
                <a:lnTo>
                  <a:pt x="0" y="0"/>
                </a:lnTo>
                <a:close/>
              </a:path>
            </a:pathLst>
          </a:custGeom>
          <a:gradFill rotWithShape="1">
            <a:gsLst>
              <a:gs pos="0">
                <a:srgbClr val="FFFFFF">
                  <a:alpha val="11000"/>
                </a:srgbClr>
              </a:gs>
              <a:gs pos="2537">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4" name="Shape 10"/>
          <p:cNvSpPr/>
          <p:nvPr/>
        </p:nvSpPr>
        <p:spPr>
          <a:xfrm>
            <a:off x="685800" y="3013589"/>
            <a:ext cx="28575" cy="390525"/>
          </a:xfrm>
          <a:prstGeom prst="rect">
            <a:avLst/>
          </a:prstGeom>
          <a:solidFill>
            <a:srgbClr val="60A5FA"/>
          </a:solidFill>
          <a:ln/>
        </p:spPr>
      </p:sp>
      <p:sp>
        <p:nvSpPr>
          <p:cNvPr id="15" name="Text 11"/>
          <p:cNvSpPr/>
          <p:nvPr/>
        </p:nvSpPr>
        <p:spPr>
          <a:xfrm>
            <a:off x="878417" y="3051689"/>
            <a:ext cx="11959298"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“A simple flow diagram for a slide: proposal → evaluation → grant agreement → reporting. Four boxes, one arrow each, no decoration, labels in English.”</a:t>
            </a:r>
            <a:endParaRPr lang="en-US" sz="1300" dirty="0"/>
          </a:p>
        </p:txBody>
      </p:sp>
      <p:sp>
        <p:nvSpPr>
          <p:cNvPr id="16" name="Shape 12"/>
          <p:cNvSpPr/>
          <p:nvPr/>
        </p:nvSpPr>
        <p:spPr>
          <a:xfrm>
            <a:off x="457200" y="4112368"/>
            <a:ext cx="6286500" cy="2190750"/>
          </a:xfrm>
          <a:prstGeom prst="roundRect">
            <a:avLst>
              <a:gd name="adj" fmla="val 3320"/>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7" name="Shape 13"/>
          <p:cNvSpPr/>
          <p:nvPr/>
        </p:nvSpPr>
        <p:spPr>
          <a:xfrm>
            <a:off x="457200" y="6293593"/>
            <a:ext cx="6286500" cy="9525"/>
          </a:xfrm>
          <a:prstGeom prst="rect">
            <a:avLst/>
          </a:prstGeom>
          <a:solidFill>
            <a:srgbClr val="FFFFFF">
              <a:alpha val="8000"/>
            </a:srgbClr>
          </a:solidFill>
          <a:ln/>
        </p:spPr>
      </p:sp>
      <p:sp>
        <p:nvSpPr>
          <p:cNvPr id="18" name="Shape 14"/>
          <p:cNvSpPr/>
          <p:nvPr/>
        </p:nvSpPr>
        <p:spPr>
          <a:xfrm>
            <a:off x="457200" y="4112368"/>
            <a:ext cx="6286500" cy="9525"/>
          </a:xfrm>
          <a:prstGeom prst="rect">
            <a:avLst/>
          </a:prstGeom>
          <a:solidFill>
            <a:srgbClr val="FFFFFF">
              <a:alpha val="8000"/>
            </a:srgbClr>
          </a:solidFill>
          <a:ln/>
        </p:spPr>
      </p:sp>
      <p:sp>
        <p:nvSpPr>
          <p:cNvPr id="19" name="Shape 15"/>
          <p:cNvSpPr/>
          <p:nvPr/>
        </p:nvSpPr>
        <p:spPr>
          <a:xfrm>
            <a:off x="457200" y="4207618"/>
            <a:ext cx="28575" cy="2000250"/>
          </a:xfrm>
          <a:prstGeom prst="rect">
            <a:avLst/>
          </a:prstGeom>
          <a:solidFill>
            <a:srgbClr val="10B981"/>
          </a:solidFill>
          <a:ln/>
        </p:spPr>
      </p:sp>
      <p:sp>
        <p:nvSpPr>
          <p:cNvPr id="20" name="Shape 16"/>
          <p:cNvSpPr/>
          <p:nvPr/>
        </p:nvSpPr>
        <p:spPr>
          <a:xfrm>
            <a:off x="6734175" y="4207618"/>
            <a:ext cx="9525" cy="2000250"/>
          </a:xfrm>
          <a:prstGeom prst="rect">
            <a:avLst/>
          </a:prstGeom>
          <a:solidFill>
            <a:srgbClr val="FFFFFF">
              <a:alpha val="8000"/>
            </a:srgbClr>
          </a:solidFill>
          <a:ln/>
        </p:spPr>
      </p:sp>
      <p:sp>
        <p:nvSpPr>
          <p:cNvPr id="21" name="Shape 17"/>
          <p:cNvSpPr/>
          <p:nvPr/>
        </p:nvSpPr>
        <p:spPr>
          <a:xfrm>
            <a:off x="685800" y="4450505"/>
            <a:ext cx="381000" cy="381000"/>
          </a:xfrm>
          <a:prstGeom prst="roundRect">
            <a:avLst>
              <a:gd name="adj" fmla="val 25000"/>
            </a:avLst>
          </a:prstGeom>
          <a:solidFill>
            <a:srgbClr val="10B981">
              <a:alpha val="14000"/>
            </a:srgbClr>
          </a:solidFill>
          <a:ln/>
        </p:spPr>
      </p:sp>
      <p:pic>
        <p:nvPicPr>
          <p:cNvPr id="2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1050" y="4545755"/>
            <a:ext cx="190500" cy="190500"/>
          </a:xfrm>
          <a:prstGeom prst="rect">
            <a:avLst/>
          </a:prstGeom>
        </p:spPr>
      </p:pic>
      <p:sp>
        <p:nvSpPr>
          <p:cNvPr id="23" name="Text 18"/>
          <p:cNvSpPr/>
          <p:nvPr/>
        </p:nvSpPr>
        <p:spPr>
          <a:xfrm>
            <a:off x="1123850" y="4450505"/>
            <a:ext cx="5370149"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34D399"/>
                </a:solidFill>
                <a:latin typeface="Inter"/>
                <a:ea typeface="Inter"/>
                <a:cs typeface="Inter"/>
              </a:rPr>
              <a:t>What it is good for</a:t>
            </a:r>
            <a:endParaRPr lang="en-US" sz="1600" dirty="0"/>
          </a:p>
        </p:txBody>
      </p:sp>
      <p:sp>
        <p:nvSpPr>
          <p:cNvPr id="24" name="Text 19"/>
          <p:cNvSpPr/>
          <p:nvPr/>
        </p:nvSpPr>
        <p:spPr>
          <a:xfrm>
            <a:off x="685800" y="4994654"/>
            <a:ext cx="5865349"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The diagram a presentation needs and nobody has time to draw</a:t>
            </a:r>
            <a:endParaRPr lang="en-US" sz="1300" dirty="0"/>
          </a:p>
        </p:txBody>
      </p:sp>
      <p:sp>
        <p:nvSpPr>
          <p:cNvPr id="25" name="Text 20"/>
          <p:cNvSpPr/>
          <p:nvPr/>
        </p:nvSpPr>
        <p:spPr>
          <a:xfrm>
            <a:off x="685800" y="5385146"/>
            <a:ext cx="5865349"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Editing what came back — “make the third box the widest” — instead of starting again</a:t>
            </a:r>
            <a:endParaRPr lang="en-US" sz="1300" dirty="0"/>
          </a:p>
        </p:txBody>
      </p:sp>
      <p:sp>
        <p:nvSpPr>
          <p:cNvPr id="26" name="Shape 21"/>
          <p:cNvSpPr/>
          <p:nvPr/>
        </p:nvSpPr>
        <p:spPr>
          <a:xfrm>
            <a:off x="6972300" y="4112368"/>
            <a:ext cx="6286500" cy="2190750"/>
          </a:xfrm>
          <a:prstGeom prst="roundRect">
            <a:avLst>
              <a:gd name="adj" fmla="val 3320"/>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7" name="Shape 22"/>
          <p:cNvSpPr/>
          <p:nvPr/>
        </p:nvSpPr>
        <p:spPr>
          <a:xfrm>
            <a:off x="6972300" y="6293593"/>
            <a:ext cx="6286500" cy="9525"/>
          </a:xfrm>
          <a:prstGeom prst="rect">
            <a:avLst/>
          </a:prstGeom>
          <a:solidFill>
            <a:srgbClr val="FFFFFF">
              <a:alpha val="8000"/>
            </a:srgbClr>
          </a:solidFill>
          <a:ln/>
        </p:spPr>
      </p:sp>
      <p:sp>
        <p:nvSpPr>
          <p:cNvPr id="28" name="Shape 23"/>
          <p:cNvSpPr/>
          <p:nvPr/>
        </p:nvSpPr>
        <p:spPr>
          <a:xfrm>
            <a:off x="6972300" y="4112368"/>
            <a:ext cx="6286500" cy="9525"/>
          </a:xfrm>
          <a:prstGeom prst="rect">
            <a:avLst/>
          </a:prstGeom>
          <a:solidFill>
            <a:srgbClr val="FFFFFF">
              <a:alpha val="8000"/>
            </a:srgbClr>
          </a:solidFill>
          <a:ln/>
        </p:spPr>
      </p:sp>
      <p:sp>
        <p:nvSpPr>
          <p:cNvPr id="29" name="Shape 24"/>
          <p:cNvSpPr/>
          <p:nvPr/>
        </p:nvSpPr>
        <p:spPr>
          <a:xfrm>
            <a:off x="6972300" y="4207618"/>
            <a:ext cx="28575" cy="2000250"/>
          </a:xfrm>
          <a:prstGeom prst="rect">
            <a:avLst/>
          </a:prstGeom>
          <a:solidFill>
            <a:srgbClr val="EF4444"/>
          </a:solidFill>
          <a:ln/>
        </p:spPr>
      </p:sp>
      <p:sp>
        <p:nvSpPr>
          <p:cNvPr id="30" name="Shape 25"/>
          <p:cNvSpPr/>
          <p:nvPr/>
        </p:nvSpPr>
        <p:spPr>
          <a:xfrm>
            <a:off x="13249275" y="4207618"/>
            <a:ext cx="9525" cy="2000250"/>
          </a:xfrm>
          <a:prstGeom prst="rect">
            <a:avLst/>
          </a:prstGeom>
          <a:solidFill>
            <a:srgbClr val="FFFFFF">
              <a:alpha val="8000"/>
            </a:srgbClr>
          </a:solidFill>
          <a:ln/>
        </p:spPr>
      </p:sp>
      <p:sp>
        <p:nvSpPr>
          <p:cNvPr id="31" name="Shape 26"/>
          <p:cNvSpPr/>
          <p:nvPr/>
        </p:nvSpPr>
        <p:spPr>
          <a:xfrm>
            <a:off x="7200900" y="4321918"/>
            <a:ext cx="381000" cy="381000"/>
          </a:xfrm>
          <a:prstGeom prst="roundRect">
            <a:avLst>
              <a:gd name="adj" fmla="val 25000"/>
            </a:avLst>
          </a:prstGeom>
          <a:solidFill>
            <a:srgbClr val="EF4444">
              <a:alpha val="14000"/>
            </a:srgbClr>
          </a:solidFill>
          <a:ln/>
        </p:spPr>
      </p:sp>
      <p:pic>
        <p:nvPicPr>
          <p:cNvPr id="3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96150" y="4417168"/>
            <a:ext cx="190500" cy="190500"/>
          </a:xfrm>
          <a:prstGeom prst="rect">
            <a:avLst/>
          </a:prstGeom>
        </p:spPr>
      </p:pic>
      <p:sp>
        <p:nvSpPr>
          <p:cNvPr id="33" name="Text 27"/>
          <p:cNvSpPr/>
          <p:nvPr/>
        </p:nvSpPr>
        <p:spPr>
          <a:xfrm>
            <a:off x="7638950" y="4321918"/>
            <a:ext cx="5370149"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87171"/>
                </a:solidFill>
                <a:latin typeface="Inter"/>
                <a:ea typeface="Inter"/>
                <a:cs typeface="Inter"/>
              </a:rPr>
              <a:t>What it is not for</a:t>
            </a:r>
            <a:endParaRPr lang="en-US" sz="1600" dirty="0"/>
          </a:p>
        </p:txBody>
      </p:sp>
      <p:sp>
        <p:nvSpPr>
          <p:cNvPr id="34" name="Text 28"/>
          <p:cNvSpPr/>
          <p:nvPr/>
        </p:nvSpPr>
        <p:spPr>
          <a:xfrm>
            <a:off x="7200900" y="4866067"/>
            <a:ext cx="5865349"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Anything that has to be true: it draws what a chart looks like, not your figures</a:t>
            </a:r>
            <a:endParaRPr lang="en-US" sz="1300" dirty="0"/>
          </a:p>
        </p:txBody>
      </p:sp>
      <p:sp>
        <p:nvSpPr>
          <p:cNvPr id="35" name="Text 29"/>
          <p:cNvSpPr/>
          <p:nvPr/>
        </p:nvSpPr>
        <p:spPr>
          <a:xfrm>
            <a:off x="7200900" y="5513734"/>
            <a:ext cx="5865349"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Faces, logos, institutional identity — none of that comes out of a generator and into an official document</a:t>
            </a:r>
            <a:endParaRPr lang="en-US" sz="1300" dirty="0"/>
          </a:p>
        </p:txBody>
      </p:sp>
      <p:sp>
        <p:nvSpPr>
          <p:cNvPr id="36" name="Shape 30"/>
          <p:cNvSpPr/>
          <p:nvPr/>
        </p:nvSpPr>
        <p:spPr>
          <a:xfrm>
            <a:off x="457200" y="6991350"/>
            <a:ext cx="12801600" cy="9525"/>
          </a:xfrm>
          <a:prstGeom prst="rect">
            <a:avLst/>
          </a:prstGeom>
          <a:solidFill>
            <a:srgbClr val="FFFFFF">
              <a:alpha val="7000"/>
            </a:srgbClr>
          </a:solidFill>
          <a:ln/>
        </p:spPr>
      </p:sp>
      <p:sp>
        <p:nvSpPr>
          <p:cNvPr id="37" name="Text 31"/>
          <p:cNvSpPr/>
          <p:nvPr/>
        </p:nvSpPr>
        <p:spPr>
          <a:xfrm>
            <a:off x="457200" y="6722218"/>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On screen today: the diagram this prompt produced, before and after one edit</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Shape 2"/>
          <p:cNvSpPr/>
          <p:nvPr/>
        </p:nvSpPr>
        <p:spPr>
          <a:xfrm>
            <a:off x="457200" y="457200"/>
            <a:ext cx="2705034" cy="304800"/>
          </a:xfrm>
          <a:prstGeom prst="roundRect">
            <a:avLst>
              <a:gd name="adj" fmla="val 50000"/>
            </a:avLst>
          </a:prstGeom>
          <a:solidFill>
            <a:srgbClr val="3B82F6">
              <a:alpha val="14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542958"/>
            <a:ext cx="133284" cy="133284"/>
          </a:xfrm>
          <a:prstGeom prst="rect">
            <a:avLst/>
          </a:prstGeom>
        </p:spPr>
      </p:pic>
      <p:sp>
        <p:nvSpPr>
          <p:cNvPr id="6" name="Text 3"/>
          <p:cNvSpPr/>
          <p:nvPr/>
        </p:nvSpPr>
        <p:spPr>
          <a:xfrm>
            <a:off x="819084" y="514350"/>
            <a:ext cx="2190750" cy="190500"/>
          </a:xfrm>
          <a:prstGeom prst="rect">
            <a:avLst/>
          </a:prstGeom>
          <a:noFill/>
          <a:ln/>
        </p:spPr>
        <p:txBody>
          <a:bodyPr wrap="square" lIns="0" tIns="0" rIns="0" bIns="0" rtlCol="0" anchor="t">
            <a:normAutofit/>
          </a:bodyPr>
          <a:lstStyle/>
          <a:p>
            <a:pPr marL="0" indent="0" algn="l">
              <a:lnSpc>
                <a:spcPct val="120000"/>
              </a:lnSpc>
              <a:buNone/>
            </a:pPr>
            <a:r>
              <a:rPr lang="en-US" sz="900" b="1" kern="1200" spc="72" dirty="0">
                <a:solidFill>
                  <a:srgbClr val="60A5FA"/>
                </a:solidFill>
                <a:latin typeface="JetBrains Mono"/>
                <a:ea typeface="JetBrains Mono"/>
                <a:cs typeface="JetBrains Mono"/>
              </a:rPr>
              <a:t>DAILY DRIVER · GOOGLE GEMINI</a:t>
            </a:r>
            <a:endParaRPr lang="en-US" sz="900" dirty="0"/>
          </a:p>
        </p:txBody>
      </p:sp>
      <p:sp>
        <p:nvSpPr>
          <p:cNvPr id="7" name="Text 4"/>
          <p:cNvSpPr/>
          <p:nvPr/>
        </p:nvSpPr>
        <p:spPr>
          <a:xfrm>
            <a:off x="457200" y="8763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Gemini Live and mobile</a:t>
            </a:r>
            <a:endParaRPr lang="en-US" sz="3200" dirty="0"/>
          </a:p>
        </p:txBody>
      </p:sp>
      <p:sp>
        <p:nvSpPr>
          <p:cNvPr id="8" name="Text 5"/>
          <p:cNvSpPr/>
          <p:nvPr/>
        </p:nvSpPr>
        <p:spPr>
          <a:xfrm>
            <a:off x="457200" y="1495425"/>
            <a:ext cx="128016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Rehearse the presentation out loud, in the car or on the tram, and let it ask you the questions your audience will</a:t>
            </a:r>
            <a:endParaRPr lang="en-US" sz="1300" dirty="0"/>
          </a:p>
        </p:txBody>
      </p:sp>
      <p:sp>
        <p:nvSpPr>
          <p:cNvPr id="9" name="Shape 6"/>
          <p:cNvSpPr/>
          <p:nvPr/>
        </p:nvSpPr>
        <p:spPr>
          <a:xfrm>
            <a:off x="457200" y="2509019"/>
            <a:ext cx="6286500" cy="2333625"/>
          </a:xfrm>
          <a:prstGeom prst="roundRect">
            <a:avLst>
              <a:gd name="adj" fmla="val 2696"/>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0" name="Shape 7"/>
          <p:cNvSpPr/>
          <p:nvPr/>
        </p:nvSpPr>
        <p:spPr>
          <a:xfrm>
            <a:off x="685800" y="2737619"/>
            <a:ext cx="381000" cy="381000"/>
          </a:xfrm>
          <a:prstGeom prst="roundRect">
            <a:avLst>
              <a:gd name="adj" fmla="val 25000"/>
            </a:avLst>
          </a:prstGeom>
          <a:solidFill>
            <a:srgbClr val="3B82F6">
              <a:alpha val="14000"/>
            </a:srgbClr>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1050" y="2832869"/>
            <a:ext cx="190500" cy="190500"/>
          </a:xfrm>
          <a:prstGeom prst="rect">
            <a:avLst/>
          </a:prstGeom>
        </p:spPr>
      </p:pic>
      <p:sp>
        <p:nvSpPr>
          <p:cNvPr id="12" name="Text 8"/>
          <p:cNvSpPr/>
          <p:nvPr/>
        </p:nvSpPr>
        <p:spPr>
          <a:xfrm>
            <a:off x="1200150" y="2737619"/>
            <a:ext cx="5266399"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60A5FA"/>
                </a:solidFill>
                <a:latin typeface="Inter"/>
                <a:ea typeface="Inter"/>
                <a:cs typeface="Inter"/>
              </a:rPr>
              <a:t>Voice, both ways</a:t>
            </a:r>
            <a:endParaRPr lang="en-US" sz="1600" dirty="0"/>
          </a:p>
        </p:txBody>
      </p:sp>
      <p:sp>
        <p:nvSpPr>
          <p:cNvPr id="13" name="Text 9"/>
          <p:cNvSpPr/>
          <p:nvPr/>
        </p:nvSpPr>
        <p:spPr>
          <a:xfrm>
            <a:off x="685800" y="3301942"/>
            <a:ext cx="5837899"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Talk through your section on the way to work and get questioned on it — the rehearsal that finds the slide you cannot explain</a:t>
            </a:r>
            <a:endParaRPr lang="en-US" sz="1300" dirty="0"/>
          </a:p>
        </p:txBody>
      </p:sp>
      <p:sp>
        <p:nvSpPr>
          <p:cNvPr id="14" name="Shape 10"/>
          <p:cNvSpPr/>
          <p:nvPr/>
        </p:nvSpPr>
        <p:spPr>
          <a:xfrm>
            <a:off x="6972300" y="2509019"/>
            <a:ext cx="6286500" cy="2333625"/>
          </a:xfrm>
          <a:prstGeom prst="roundRect">
            <a:avLst>
              <a:gd name="adj" fmla="val 2696"/>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5" name="Shape 11"/>
          <p:cNvSpPr/>
          <p:nvPr/>
        </p:nvSpPr>
        <p:spPr>
          <a:xfrm>
            <a:off x="7200900" y="2737619"/>
            <a:ext cx="381000" cy="381000"/>
          </a:xfrm>
          <a:prstGeom prst="roundRect">
            <a:avLst>
              <a:gd name="adj" fmla="val 25000"/>
            </a:avLst>
          </a:prstGeom>
          <a:solidFill>
            <a:srgbClr val="10B981">
              <a:alpha val="14000"/>
            </a:srgbClr>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96150" y="2832869"/>
            <a:ext cx="190500" cy="190500"/>
          </a:xfrm>
          <a:prstGeom prst="rect">
            <a:avLst/>
          </a:prstGeom>
        </p:spPr>
      </p:pic>
      <p:sp>
        <p:nvSpPr>
          <p:cNvPr id="17" name="Text 12"/>
          <p:cNvSpPr/>
          <p:nvPr/>
        </p:nvSpPr>
        <p:spPr>
          <a:xfrm>
            <a:off x="7715250" y="2737619"/>
            <a:ext cx="5266399"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34D399"/>
                </a:solidFill>
                <a:latin typeface="Inter"/>
                <a:ea typeface="Inter"/>
                <a:cs typeface="Inter"/>
              </a:rPr>
              <a:t>Same account, same Gems</a:t>
            </a:r>
            <a:endParaRPr lang="en-US" sz="1600" dirty="0"/>
          </a:p>
        </p:txBody>
      </p:sp>
      <p:sp>
        <p:nvSpPr>
          <p:cNvPr id="18" name="Text 13"/>
          <p:cNvSpPr/>
          <p:nvPr/>
        </p:nvSpPr>
        <p:spPr>
          <a:xfrm>
            <a:off x="7200900" y="3301942"/>
            <a:ext cx="5837899"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The mobile app is the same workspace: the Anchor Project Gem you built ten minutes ago is already there</a:t>
            </a:r>
            <a:endParaRPr lang="en-US" sz="1300" dirty="0"/>
          </a:p>
        </p:txBody>
      </p:sp>
      <p:sp>
        <p:nvSpPr>
          <p:cNvPr id="19" name="Shape 14"/>
          <p:cNvSpPr/>
          <p:nvPr/>
        </p:nvSpPr>
        <p:spPr>
          <a:xfrm>
            <a:off x="457200" y="5261744"/>
            <a:ext cx="12801600" cy="742950"/>
          </a:xfrm>
          <a:prstGeom prst="roundRect">
            <a:avLst>
              <a:gd name="adj" fmla="val 17441"/>
            </a:avLst>
          </a:prstGeom>
          <a:gradFill rotWithShape="1">
            <a:gsLst>
              <a:gs pos="0">
                <a:srgbClr val="3B82F6"/>
              </a:gs>
              <a:gs pos="227">
                <a:srgbClr val="3B82F6"/>
              </a:gs>
              <a:gs pos="228">
                <a:srgbClr val="FFFFFF">
                  <a:alpha val="5000"/>
                </a:srgbClr>
              </a:gs>
              <a:gs pos="100000">
                <a:srgbClr val="FFFFFF">
                  <a:alpha val="2500"/>
                </a:srgbClr>
              </a:gs>
            </a:gsLst>
            <a:lin ang="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0" name="Text 15"/>
          <p:cNvSpPr/>
          <p:nvPr/>
        </p:nvSpPr>
        <p:spPr>
          <a:xfrm>
            <a:off x="685800" y="5461769"/>
            <a:ext cx="12371917"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The one capability you use with your hands full</a:t>
            </a:r>
            <a:endParaRPr lang="en-US" sz="1600" dirty="0"/>
          </a:p>
        </p:txBody>
      </p:sp>
      <p:sp>
        <p:nvSpPr>
          <p:cNvPr id="21" name="Text 16"/>
          <p:cNvSpPr/>
          <p:nvPr/>
        </p:nvSpPr>
        <p:spPr>
          <a:xfrm>
            <a:off x="457200" y="6415906"/>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Voice is still an upload: what you say out loud goes to the same place a pasted document would</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Shape 2"/>
          <p:cNvSpPr/>
          <p:nvPr/>
        </p:nvSpPr>
        <p:spPr>
          <a:xfrm>
            <a:off x="457200" y="457200"/>
            <a:ext cx="2705034" cy="304800"/>
          </a:xfrm>
          <a:prstGeom prst="roundRect">
            <a:avLst>
              <a:gd name="adj" fmla="val 50000"/>
            </a:avLst>
          </a:prstGeom>
          <a:solidFill>
            <a:srgbClr val="3B82F6">
              <a:alpha val="14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542958"/>
            <a:ext cx="133284" cy="133284"/>
          </a:xfrm>
          <a:prstGeom prst="rect">
            <a:avLst/>
          </a:prstGeom>
        </p:spPr>
      </p:pic>
      <p:sp>
        <p:nvSpPr>
          <p:cNvPr id="6" name="Text 3"/>
          <p:cNvSpPr/>
          <p:nvPr/>
        </p:nvSpPr>
        <p:spPr>
          <a:xfrm>
            <a:off x="819084" y="514350"/>
            <a:ext cx="2190750" cy="190500"/>
          </a:xfrm>
          <a:prstGeom prst="rect">
            <a:avLst/>
          </a:prstGeom>
          <a:noFill/>
          <a:ln/>
        </p:spPr>
        <p:txBody>
          <a:bodyPr wrap="square" lIns="0" tIns="0" rIns="0" bIns="0" rtlCol="0" anchor="t">
            <a:normAutofit/>
          </a:bodyPr>
          <a:lstStyle/>
          <a:p>
            <a:pPr marL="0" indent="0" algn="l">
              <a:lnSpc>
                <a:spcPct val="120000"/>
              </a:lnSpc>
              <a:buNone/>
            </a:pPr>
            <a:r>
              <a:rPr lang="en-US" sz="900" b="1" kern="1200" spc="72" dirty="0">
                <a:solidFill>
                  <a:srgbClr val="60A5FA"/>
                </a:solidFill>
                <a:latin typeface="JetBrains Mono"/>
                <a:ea typeface="JetBrains Mono"/>
                <a:cs typeface="JetBrains Mono"/>
              </a:rPr>
              <a:t>DAILY DRIVER · GOOGLE GEMINI</a:t>
            </a:r>
            <a:endParaRPr lang="en-US" sz="900" dirty="0"/>
          </a:p>
        </p:txBody>
      </p:sp>
      <p:sp>
        <p:nvSpPr>
          <p:cNvPr id="7" name="Text 4"/>
          <p:cNvSpPr/>
          <p:nvPr/>
        </p:nvSpPr>
        <p:spPr>
          <a:xfrm>
            <a:off x="457200" y="8763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Guided Learning mode</a:t>
            </a:r>
            <a:endParaRPr lang="en-US" sz="3200" dirty="0"/>
          </a:p>
        </p:txBody>
      </p:sp>
      <p:sp>
        <p:nvSpPr>
          <p:cNvPr id="8" name="Text 5"/>
          <p:cNvSpPr/>
          <p:nvPr/>
        </p:nvSpPr>
        <p:spPr>
          <a:xfrm>
            <a:off x="457200" y="1495425"/>
            <a:ext cx="128016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Learn a concept from your Anchor Project's domain the way you will have to teach it — step by step, questions first</a:t>
            </a:r>
            <a:endParaRPr lang="en-US" sz="1300" dirty="0"/>
          </a:p>
        </p:txBody>
      </p:sp>
      <p:sp>
        <p:nvSpPr>
          <p:cNvPr id="9" name="Shape 6"/>
          <p:cNvSpPr/>
          <p:nvPr/>
        </p:nvSpPr>
        <p:spPr>
          <a:xfrm>
            <a:off x="457200" y="2338388"/>
            <a:ext cx="12801600" cy="1571625"/>
          </a:xfrm>
          <a:prstGeom prst="roundRect">
            <a:avLst>
              <a:gd name="adj" fmla="val 7548"/>
            </a:avLst>
          </a:prstGeom>
          <a:gradFill rotWithShape="1">
            <a:gsLst>
              <a:gs pos="0">
                <a:srgbClr val="FFFFFF">
                  <a:alpha val="11000"/>
                </a:srgbClr>
              </a:gs>
              <a:gs pos="881">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0" name="Shape 7"/>
          <p:cNvSpPr/>
          <p:nvPr/>
        </p:nvSpPr>
        <p:spPr>
          <a:xfrm>
            <a:off x="685800" y="2547938"/>
            <a:ext cx="381000" cy="381000"/>
          </a:xfrm>
          <a:prstGeom prst="roundRect">
            <a:avLst>
              <a:gd name="adj" fmla="val 25000"/>
            </a:avLst>
          </a:prstGeom>
          <a:solidFill>
            <a:srgbClr val="3B82F6">
              <a:alpha val="14000"/>
            </a:srgbClr>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1050" y="2643188"/>
            <a:ext cx="190500" cy="190500"/>
          </a:xfrm>
          <a:prstGeom prst="rect">
            <a:avLst/>
          </a:prstGeom>
        </p:spPr>
      </p:pic>
      <p:sp>
        <p:nvSpPr>
          <p:cNvPr id="12" name="Text 8"/>
          <p:cNvSpPr/>
          <p:nvPr/>
        </p:nvSpPr>
        <p:spPr>
          <a:xfrm>
            <a:off x="1123851" y="2547938"/>
            <a:ext cx="11895832"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What you type</a:t>
            </a:r>
            <a:endParaRPr lang="en-US" sz="1600" dirty="0"/>
          </a:p>
        </p:txBody>
      </p:sp>
      <p:sp>
        <p:nvSpPr>
          <p:cNvPr id="13" name="Shape 9"/>
          <p:cNvSpPr/>
          <p:nvPr/>
        </p:nvSpPr>
        <p:spPr>
          <a:xfrm>
            <a:off x="685800" y="3073070"/>
            <a:ext cx="12323365" cy="619125"/>
          </a:xfrm>
          <a:custGeom>
            <a:avLst/>
            <a:gdLst/>
            <a:ahLst/>
            <a:cxnLst/>
            <a:rect l="l" t="t" r="r" b="b"/>
            <a:pathLst>
              <a:path w="12094766" h="578941">
                <a:moveTo>
                  <a:pt x="0" y="0"/>
                </a:moveTo>
                <a:lnTo>
                  <a:pt x="12037616" y="0"/>
                </a:lnTo>
                <a:arcTo wR="57150" hR="57150" stAng="16200000" swAng="5400000"/>
                <a:lnTo>
                  <a:pt x="12094766" y="521791"/>
                </a:lnTo>
                <a:arcTo wR="57150" hR="57150" stAng="0" swAng="5400000"/>
                <a:lnTo>
                  <a:pt x="0" y="578941"/>
                </a:lnTo>
                <a:lnTo>
                  <a:pt x="0" y="0"/>
                </a:lnTo>
                <a:close/>
              </a:path>
            </a:pathLst>
          </a:custGeom>
          <a:gradFill rotWithShape="1">
            <a:gsLst>
              <a:gs pos="0">
                <a:srgbClr val="FFFFFF">
                  <a:alpha val="11000"/>
                </a:srgbClr>
              </a:gs>
              <a:gs pos="2303">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4" name="Shape 10"/>
          <p:cNvSpPr/>
          <p:nvPr/>
        </p:nvSpPr>
        <p:spPr>
          <a:xfrm>
            <a:off x="685800" y="3168320"/>
            <a:ext cx="28575" cy="428625"/>
          </a:xfrm>
          <a:prstGeom prst="rect">
            <a:avLst/>
          </a:prstGeom>
          <a:solidFill>
            <a:srgbClr val="60A5FA"/>
          </a:solidFill>
          <a:ln/>
        </p:spPr>
      </p:sp>
      <p:sp>
        <p:nvSpPr>
          <p:cNvPr id="15" name="Text 11"/>
          <p:cNvSpPr/>
          <p:nvPr/>
        </p:nvSpPr>
        <p:spPr>
          <a:xfrm>
            <a:off x="878417" y="3225470"/>
            <a:ext cx="11959298"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“Teach me how indirect costs work in this funder's scheme. Do not give me the answer — take me through it, and check whether I followed.”</a:t>
            </a:r>
            <a:endParaRPr lang="en-US" sz="1300" dirty="0"/>
          </a:p>
        </p:txBody>
      </p:sp>
      <p:sp>
        <p:nvSpPr>
          <p:cNvPr id="16" name="Shape 12"/>
          <p:cNvSpPr/>
          <p:nvPr/>
        </p:nvSpPr>
        <p:spPr>
          <a:xfrm>
            <a:off x="457200" y="4329113"/>
            <a:ext cx="6286500" cy="1838325"/>
          </a:xfrm>
          <a:prstGeom prst="roundRect">
            <a:avLst>
              <a:gd name="adj" fmla="val 3573"/>
            </a:avLst>
          </a:prstGeom>
          <a:gradFill rotWithShape="1">
            <a:gsLst>
              <a:gs pos="0">
                <a:srgbClr val="FFFFFF">
                  <a:alpha val="11000"/>
                </a:srgbClr>
              </a:gs>
              <a:gs pos="417">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7" name="Shape 13"/>
          <p:cNvSpPr/>
          <p:nvPr/>
        </p:nvSpPr>
        <p:spPr>
          <a:xfrm>
            <a:off x="457200" y="6157913"/>
            <a:ext cx="6286500" cy="9525"/>
          </a:xfrm>
          <a:prstGeom prst="rect">
            <a:avLst/>
          </a:prstGeom>
          <a:solidFill>
            <a:srgbClr val="FFFFFF">
              <a:alpha val="8000"/>
            </a:srgbClr>
          </a:solidFill>
          <a:ln/>
        </p:spPr>
      </p:sp>
      <p:sp>
        <p:nvSpPr>
          <p:cNvPr id="18" name="Shape 14"/>
          <p:cNvSpPr/>
          <p:nvPr/>
        </p:nvSpPr>
        <p:spPr>
          <a:xfrm>
            <a:off x="457200" y="4329113"/>
            <a:ext cx="6286500" cy="9525"/>
          </a:xfrm>
          <a:prstGeom prst="rect">
            <a:avLst/>
          </a:prstGeom>
          <a:solidFill>
            <a:srgbClr val="FFFFFF">
              <a:alpha val="8000"/>
            </a:srgbClr>
          </a:solidFill>
          <a:ln/>
        </p:spPr>
      </p:sp>
      <p:sp>
        <p:nvSpPr>
          <p:cNvPr id="19" name="Shape 15"/>
          <p:cNvSpPr/>
          <p:nvPr/>
        </p:nvSpPr>
        <p:spPr>
          <a:xfrm>
            <a:off x="457200" y="4424363"/>
            <a:ext cx="28575" cy="1647825"/>
          </a:xfrm>
          <a:prstGeom prst="rect">
            <a:avLst/>
          </a:prstGeom>
          <a:solidFill>
            <a:srgbClr val="A78BFA"/>
          </a:solidFill>
          <a:ln/>
        </p:spPr>
      </p:sp>
      <p:sp>
        <p:nvSpPr>
          <p:cNvPr id="20" name="Shape 16"/>
          <p:cNvSpPr/>
          <p:nvPr/>
        </p:nvSpPr>
        <p:spPr>
          <a:xfrm>
            <a:off x="6734175" y="4424363"/>
            <a:ext cx="9525" cy="1647825"/>
          </a:xfrm>
          <a:prstGeom prst="rect">
            <a:avLst/>
          </a:prstGeom>
          <a:solidFill>
            <a:srgbClr val="FFFFFF">
              <a:alpha val="8000"/>
            </a:srgbClr>
          </a:solidFill>
          <a:ln/>
        </p:spPr>
      </p:sp>
      <p:sp>
        <p:nvSpPr>
          <p:cNvPr id="21" name="Shape 17"/>
          <p:cNvSpPr/>
          <p:nvPr/>
        </p:nvSpPr>
        <p:spPr>
          <a:xfrm>
            <a:off x="685800" y="4557713"/>
            <a:ext cx="381000" cy="381000"/>
          </a:xfrm>
          <a:prstGeom prst="roundRect">
            <a:avLst>
              <a:gd name="adj" fmla="val 25000"/>
            </a:avLst>
          </a:prstGeom>
          <a:solidFill>
            <a:srgbClr val="8B5CF6">
              <a:alpha val="14000"/>
            </a:srgbClr>
          </a:solidFill>
          <a:ln/>
        </p:spPr>
      </p:sp>
      <p:pic>
        <p:nvPicPr>
          <p:cNvPr id="2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1050" y="4652963"/>
            <a:ext cx="190500" cy="190500"/>
          </a:xfrm>
          <a:prstGeom prst="rect">
            <a:avLst/>
          </a:prstGeom>
        </p:spPr>
      </p:pic>
      <p:sp>
        <p:nvSpPr>
          <p:cNvPr id="23" name="Text 18"/>
          <p:cNvSpPr/>
          <p:nvPr/>
        </p:nvSpPr>
        <p:spPr>
          <a:xfrm>
            <a:off x="1200150" y="4557713"/>
            <a:ext cx="527483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A78BFA"/>
                </a:solidFill>
                <a:latin typeface="Inter"/>
                <a:ea typeface="Inter"/>
                <a:cs typeface="Inter"/>
              </a:rPr>
              <a:t>What changes</a:t>
            </a:r>
            <a:endParaRPr lang="en-US" sz="1600" dirty="0"/>
          </a:p>
        </p:txBody>
      </p:sp>
      <p:sp>
        <p:nvSpPr>
          <p:cNvPr id="24" name="Text 19"/>
          <p:cNvSpPr/>
          <p:nvPr/>
        </p:nvSpPr>
        <p:spPr>
          <a:xfrm>
            <a:off x="685800" y="5108972"/>
            <a:ext cx="5846333"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It asks you questions instead of answering yours, and stops when you have got there rather than when it has finished</a:t>
            </a:r>
            <a:endParaRPr lang="en-US" sz="1300" dirty="0"/>
          </a:p>
        </p:txBody>
      </p:sp>
      <p:sp>
        <p:nvSpPr>
          <p:cNvPr id="25" name="Shape 20"/>
          <p:cNvSpPr/>
          <p:nvPr/>
        </p:nvSpPr>
        <p:spPr>
          <a:xfrm>
            <a:off x="6972300" y="4329113"/>
            <a:ext cx="6286500" cy="1838325"/>
          </a:xfrm>
          <a:prstGeom prst="roundRect">
            <a:avLst>
              <a:gd name="adj" fmla="val 3573"/>
            </a:avLst>
          </a:prstGeom>
          <a:gradFill rotWithShape="1">
            <a:gsLst>
              <a:gs pos="0">
                <a:srgbClr val="FFFFFF">
                  <a:alpha val="11000"/>
                </a:srgbClr>
              </a:gs>
              <a:gs pos="417">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6" name="Shape 21"/>
          <p:cNvSpPr/>
          <p:nvPr/>
        </p:nvSpPr>
        <p:spPr>
          <a:xfrm>
            <a:off x="6972300" y="6157913"/>
            <a:ext cx="6286500" cy="9525"/>
          </a:xfrm>
          <a:prstGeom prst="rect">
            <a:avLst/>
          </a:prstGeom>
          <a:solidFill>
            <a:srgbClr val="FFFFFF">
              <a:alpha val="8000"/>
            </a:srgbClr>
          </a:solidFill>
          <a:ln/>
        </p:spPr>
      </p:sp>
      <p:sp>
        <p:nvSpPr>
          <p:cNvPr id="27" name="Shape 22"/>
          <p:cNvSpPr/>
          <p:nvPr/>
        </p:nvSpPr>
        <p:spPr>
          <a:xfrm>
            <a:off x="6972300" y="4329113"/>
            <a:ext cx="6286500" cy="9525"/>
          </a:xfrm>
          <a:prstGeom prst="rect">
            <a:avLst/>
          </a:prstGeom>
          <a:solidFill>
            <a:srgbClr val="FFFFFF">
              <a:alpha val="8000"/>
            </a:srgbClr>
          </a:solidFill>
          <a:ln/>
        </p:spPr>
      </p:sp>
      <p:sp>
        <p:nvSpPr>
          <p:cNvPr id="28" name="Shape 23"/>
          <p:cNvSpPr/>
          <p:nvPr/>
        </p:nvSpPr>
        <p:spPr>
          <a:xfrm>
            <a:off x="6972300" y="4424363"/>
            <a:ext cx="28575" cy="1647825"/>
          </a:xfrm>
          <a:prstGeom prst="rect">
            <a:avLst/>
          </a:prstGeom>
          <a:solidFill>
            <a:srgbClr val="10B981"/>
          </a:solidFill>
          <a:ln/>
        </p:spPr>
      </p:sp>
      <p:sp>
        <p:nvSpPr>
          <p:cNvPr id="29" name="Shape 24"/>
          <p:cNvSpPr/>
          <p:nvPr/>
        </p:nvSpPr>
        <p:spPr>
          <a:xfrm>
            <a:off x="13249275" y="4424363"/>
            <a:ext cx="9525" cy="1647825"/>
          </a:xfrm>
          <a:prstGeom prst="rect">
            <a:avLst/>
          </a:prstGeom>
          <a:solidFill>
            <a:srgbClr val="FFFFFF">
              <a:alpha val="8000"/>
            </a:srgbClr>
          </a:solidFill>
          <a:ln/>
        </p:spPr>
      </p:sp>
      <p:sp>
        <p:nvSpPr>
          <p:cNvPr id="30" name="Shape 25"/>
          <p:cNvSpPr/>
          <p:nvPr/>
        </p:nvSpPr>
        <p:spPr>
          <a:xfrm>
            <a:off x="7200900" y="4557713"/>
            <a:ext cx="381000" cy="381000"/>
          </a:xfrm>
          <a:prstGeom prst="roundRect">
            <a:avLst>
              <a:gd name="adj" fmla="val 25000"/>
            </a:avLst>
          </a:prstGeom>
          <a:solidFill>
            <a:srgbClr val="10B981">
              <a:alpha val="14000"/>
            </a:srgbClr>
          </a:solidFill>
          <a:ln/>
        </p:spPr>
      </p:sp>
      <p:pic>
        <p:nvPicPr>
          <p:cNvPr id="3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96150" y="4652963"/>
            <a:ext cx="190500" cy="190500"/>
          </a:xfrm>
          <a:prstGeom prst="rect">
            <a:avLst/>
          </a:prstGeom>
        </p:spPr>
      </p:pic>
      <p:sp>
        <p:nvSpPr>
          <p:cNvPr id="32" name="Text 26"/>
          <p:cNvSpPr/>
          <p:nvPr/>
        </p:nvSpPr>
        <p:spPr>
          <a:xfrm>
            <a:off x="7715250" y="4557713"/>
            <a:ext cx="527483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34D399"/>
                </a:solidFill>
                <a:latin typeface="Inter"/>
                <a:ea typeface="Inter"/>
                <a:cs typeface="Inter"/>
              </a:rPr>
              <a:t>Why it is on this list</a:t>
            </a:r>
            <a:endParaRPr lang="en-US" sz="1600" dirty="0"/>
          </a:p>
        </p:txBody>
      </p:sp>
      <p:sp>
        <p:nvSpPr>
          <p:cNvPr id="33" name="Text 27"/>
          <p:cNvSpPr/>
          <p:nvPr/>
        </p:nvSpPr>
        <p:spPr>
          <a:xfrm>
            <a:off x="7200900" y="5108972"/>
            <a:ext cx="5846333" cy="82867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Your deliverable is a presentation that has to produce learning outcomes. This is a worked example of the shape you are being asked to build — watch what it does with a concept, then do that</a:t>
            </a:r>
            <a:endParaRPr lang="en-US" sz="1300" dirty="0"/>
          </a:p>
        </p:txBody>
      </p:sp>
      <p:sp>
        <p:nvSpPr>
          <p:cNvPr id="34" name="Shape 28"/>
          <p:cNvSpPr/>
          <p:nvPr/>
        </p:nvSpPr>
        <p:spPr>
          <a:xfrm>
            <a:off x="457200" y="6991350"/>
            <a:ext cx="12801600" cy="9525"/>
          </a:xfrm>
          <a:prstGeom prst="rect">
            <a:avLst/>
          </a:prstGeom>
          <a:solidFill>
            <a:srgbClr val="FFFFFF">
              <a:alpha val="7000"/>
            </a:srgbClr>
          </a:solidFill>
          <a:ln/>
        </p:spPr>
      </p:sp>
      <p:sp>
        <p:nvSpPr>
          <p:cNvPr id="35" name="Text 29"/>
          <p:cNvSpPr/>
          <p:nvPr/>
        </p:nvSpPr>
        <p:spPr>
          <a:xfrm>
            <a:off x="457200" y="6586538"/>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A concept explained to you badly is a concept you are about to explain badly</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Shape 2"/>
          <p:cNvSpPr/>
          <p:nvPr/>
        </p:nvSpPr>
        <p:spPr>
          <a:xfrm>
            <a:off x="457200" y="457200"/>
            <a:ext cx="2705034" cy="304800"/>
          </a:xfrm>
          <a:prstGeom prst="roundRect">
            <a:avLst>
              <a:gd name="adj" fmla="val 50000"/>
            </a:avLst>
          </a:prstGeom>
          <a:solidFill>
            <a:srgbClr val="3B82F6">
              <a:alpha val="14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542958"/>
            <a:ext cx="133284" cy="133284"/>
          </a:xfrm>
          <a:prstGeom prst="rect">
            <a:avLst/>
          </a:prstGeom>
        </p:spPr>
      </p:pic>
      <p:sp>
        <p:nvSpPr>
          <p:cNvPr id="6" name="Text 3"/>
          <p:cNvSpPr/>
          <p:nvPr/>
        </p:nvSpPr>
        <p:spPr>
          <a:xfrm>
            <a:off x="819084" y="514350"/>
            <a:ext cx="2190750" cy="190500"/>
          </a:xfrm>
          <a:prstGeom prst="rect">
            <a:avLst/>
          </a:prstGeom>
          <a:noFill/>
          <a:ln/>
        </p:spPr>
        <p:txBody>
          <a:bodyPr wrap="square" lIns="0" tIns="0" rIns="0" bIns="0" rtlCol="0" anchor="t">
            <a:normAutofit/>
          </a:bodyPr>
          <a:lstStyle/>
          <a:p>
            <a:pPr marL="0" indent="0" algn="l">
              <a:lnSpc>
                <a:spcPct val="120000"/>
              </a:lnSpc>
              <a:buNone/>
            </a:pPr>
            <a:r>
              <a:rPr lang="en-US" sz="900" b="1" kern="1200" spc="72" dirty="0">
                <a:solidFill>
                  <a:srgbClr val="60A5FA"/>
                </a:solidFill>
                <a:latin typeface="JetBrains Mono"/>
                <a:ea typeface="JetBrains Mono"/>
                <a:cs typeface="JetBrains Mono"/>
              </a:rPr>
              <a:t>DAILY DRIVER · GOOGLE GEMINI</a:t>
            </a:r>
            <a:endParaRPr lang="en-US" sz="900" dirty="0"/>
          </a:p>
        </p:txBody>
      </p:sp>
      <p:sp>
        <p:nvSpPr>
          <p:cNvPr id="7" name="Text 4"/>
          <p:cNvSpPr/>
          <p:nvPr/>
        </p:nvSpPr>
        <p:spPr>
          <a:xfrm>
            <a:off x="457200" y="8763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Saved info — the lightweight Gem</a:t>
            </a:r>
            <a:endParaRPr lang="en-US" sz="3200" dirty="0"/>
          </a:p>
        </p:txBody>
      </p:sp>
      <p:sp>
        <p:nvSpPr>
          <p:cNvPr id="8" name="Text 5"/>
          <p:cNvSpPr/>
          <p:nvPr/>
        </p:nvSpPr>
        <p:spPr>
          <a:xfrm>
            <a:off x="457200" y="1495425"/>
            <a:ext cx="128016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Stop opening every conversation by explaining who you are and what your office does</a:t>
            </a:r>
            <a:endParaRPr lang="en-US" sz="1300" dirty="0"/>
          </a:p>
        </p:txBody>
      </p:sp>
      <p:sp>
        <p:nvSpPr>
          <p:cNvPr id="9" name="Shape 6"/>
          <p:cNvSpPr/>
          <p:nvPr/>
        </p:nvSpPr>
        <p:spPr>
          <a:xfrm>
            <a:off x="457200" y="2909408"/>
            <a:ext cx="4114800" cy="2676525"/>
          </a:xfrm>
          <a:prstGeom prst="roundRect">
            <a:avLst>
              <a:gd name="adj" fmla="val 2830"/>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0" name="Shape 7"/>
          <p:cNvSpPr/>
          <p:nvPr/>
        </p:nvSpPr>
        <p:spPr>
          <a:xfrm>
            <a:off x="685800" y="3138008"/>
            <a:ext cx="381000" cy="381000"/>
          </a:xfrm>
          <a:prstGeom prst="roundRect">
            <a:avLst>
              <a:gd name="adj" fmla="val 25000"/>
            </a:avLst>
          </a:prstGeom>
          <a:solidFill>
            <a:srgbClr val="3B82F6">
              <a:alpha val="14000"/>
            </a:srgbClr>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1050" y="3233258"/>
            <a:ext cx="190500" cy="190500"/>
          </a:xfrm>
          <a:prstGeom prst="rect">
            <a:avLst/>
          </a:prstGeom>
        </p:spPr>
      </p:pic>
      <p:sp>
        <p:nvSpPr>
          <p:cNvPr id="12" name="Text 8"/>
          <p:cNvSpPr/>
          <p:nvPr/>
        </p:nvSpPr>
        <p:spPr>
          <a:xfrm>
            <a:off x="1200150" y="3138008"/>
            <a:ext cx="3113716"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60A5FA"/>
                </a:solidFill>
                <a:latin typeface="Inter"/>
                <a:ea typeface="Inter"/>
                <a:cs typeface="Inter"/>
              </a:rPr>
              <a:t>Three facts, once</a:t>
            </a:r>
            <a:endParaRPr lang="en-US" sz="1600" dirty="0"/>
          </a:p>
        </p:txBody>
      </p:sp>
      <p:sp>
        <p:nvSpPr>
          <p:cNvPr id="13" name="Text 9"/>
          <p:cNvSpPr/>
          <p:nvPr/>
        </p:nvSpPr>
        <p:spPr>
          <a:xfrm>
            <a:off x="685800" y="3695220"/>
            <a:ext cx="3685216" cy="82867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Your role, your institution, the field your Anchor Project sits in — and every new chat starts from them instead of from nothing</a:t>
            </a:r>
            <a:endParaRPr lang="en-US" sz="1300" dirty="0"/>
          </a:p>
        </p:txBody>
      </p:sp>
      <p:sp>
        <p:nvSpPr>
          <p:cNvPr id="14" name="Shape 10"/>
          <p:cNvSpPr/>
          <p:nvPr/>
        </p:nvSpPr>
        <p:spPr>
          <a:xfrm>
            <a:off x="4800600" y="2909408"/>
            <a:ext cx="4114800" cy="2676525"/>
          </a:xfrm>
          <a:prstGeom prst="roundRect">
            <a:avLst>
              <a:gd name="adj" fmla="val 2830"/>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5" name="Shape 11"/>
          <p:cNvSpPr/>
          <p:nvPr/>
        </p:nvSpPr>
        <p:spPr>
          <a:xfrm>
            <a:off x="5029200" y="3266595"/>
            <a:ext cx="381000" cy="381000"/>
          </a:xfrm>
          <a:prstGeom prst="roundRect">
            <a:avLst>
              <a:gd name="adj" fmla="val 25000"/>
            </a:avLst>
          </a:prstGeom>
          <a:solidFill>
            <a:srgbClr val="8B5CF6">
              <a:alpha val="14000"/>
            </a:srgbClr>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24450" y="3361845"/>
            <a:ext cx="190500" cy="190500"/>
          </a:xfrm>
          <a:prstGeom prst="rect">
            <a:avLst/>
          </a:prstGeom>
        </p:spPr>
      </p:pic>
      <p:sp>
        <p:nvSpPr>
          <p:cNvPr id="17" name="Text 12"/>
          <p:cNvSpPr/>
          <p:nvPr/>
        </p:nvSpPr>
        <p:spPr>
          <a:xfrm>
            <a:off x="5543550" y="3138008"/>
            <a:ext cx="3170866" cy="638175"/>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A78BFA"/>
                </a:solidFill>
                <a:latin typeface="Inter"/>
                <a:ea typeface="Inter"/>
                <a:cs typeface="Inter"/>
              </a:rPr>
              <a:t>The lightweight version of a Gem</a:t>
            </a:r>
            <a:endParaRPr lang="en-US" sz="1600" dirty="0"/>
          </a:p>
        </p:txBody>
      </p:sp>
      <p:sp>
        <p:nvSpPr>
          <p:cNvPr id="18" name="Text 13"/>
          <p:cNvSpPr/>
          <p:nvPr/>
        </p:nvSpPr>
        <p:spPr>
          <a:xfrm>
            <a:off x="5029200" y="3952395"/>
            <a:ext cx="3685216" cy="82867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Saved info follows you everywhere; a Gem is one project's workspace. Standing facts here, project context there</a:t>
            </a:r>
            <a:endParaRPr lang="en-US" sz="1300" dirty="0"/>
          </a:p>
        </p:txBody>
      </p:sp>
      <p:sp>
        <p:nvSpPr>
          <p:cNvPr id="19" name="Shape 14"/>
          <p:cNvSpPr/>
          <p:nvPr/>
        </p:nvSpPr>
        <p:spPr>
          <a:xfrm>
            <a:off x="9144000" y="2909408"/>
            <a:ext cx="4114800" cy="2676525"/>
          </a:xfrm>
          <a:prstGeom prst="roundRect">
            <a:avLst>
              <a:gd name="adj" fmla="val 2830"/>
            </a:avLst>
          </a:prstGeom>
          <a:gradFill rotWithShape="1">
            <a:gsLst>
              <a:gs pos="0">
                <a:srgbClr val="EF4444"/>
              </a:gs>
              <a:gs pos="708">
                <a:srgbClr val="EF4444"/>
              </a:gs>
              <a:gs pos="709">
                <a:srgbClr val="FFFFFF">
                  <a:alpha val="5000"/>
                </a:srgbClr>
              </a:gs>
              <a:gs pos="100000">
                <a:srgbClr val="FFFFFF">
                  <a:alpha val="2500"/>
                </a:srgbClr>
              </a:gs>
            </a:gsLst>
            <a:lin ang="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0" name="Shape 15"/>
          <p:cNvSpPr/>
          <p:nvPr/>
        </p:nvSpPr>
        <p:spPr>
          <a:xfrm>
            <a:off x="9372600" y="3138008"/>
            <a:ext cx="381000" cy="381000"/>
          </a:xfrm>
          <a:prstGeom prst="roundRect">
            <a:avLst>
              <a:gd name="adj" fmla="val 25000"/>
            </a:avLst>
          </a:prstGeom>
          <a:solidFill>
            <a:srgbClr val="EF4444">
              <a:alpha val="14000"/>
            </a:srgbClr>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67850" y="3233258"/>
            <a:ext cx="190500" cy="190500"/>
          </a:xfrm>
          <a:prstGeom prst="rect">
            <a:avLst/>
          </a:prstGeom>
        </p:spPr>
      </p:pic>
      <p:sp>
        <p:nvSpPr>
          <p:cNvPr id="22" name="Text 16"/>
          <p:cNvSpPr/>
          <p:nvPr/>
        </p:nvSpPr>
        <p:spPr>
          <a:xfrm>
            <a:off x="9886950" y="3138008"/>
            <a:ext cx="3113716"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87171"/>
                </a:solidFill>
                <a:latin typeface="Inter"/>
                <a:ea typeface="Inter"/>
                <a:cs typeface="Inter"/>
              </a:rPr>
              <a:t>What does not go in here</a:t>
            </a:r>
            <a:endParaRPr lang="en-US" sz="1600" dirty="0"/>
          </a:p>
        </p:txBody>
      </p:sp>
      <p:sp>
        <p:nvSpPr>
          <p:cNvPr id="23" name="Text 17"/>
          <p:cNvSpPr/>
          <p:nvPr/>
        </p:nvSpPr>
        <p:spPr>
          <a:xfrm>
            <a:off x="9372600" y="3695220"/>
            <a:ext cx="3685216" cy="13430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Nothing from the Segment 2 list. Saved info is stored on your personal Google account and read by every chat you open — it is the last place a colleague's name or an unsubmitted figure belongs.</a:t>
            </a:r>
            <a:endParaRPr lang="en-US" sz="1300" dirty="0"/>
          </a:p>
        </p:txBody>
      </p:sp>
      <p:sp>
        <p:nvSpPr>
          <p:cNvPr id="24" name="Shape 18"/>
          <p:cNvSpPr/>
          <p:nvPr/>
        </p:nvSpPr>
        <p:spPr>
          <a:xfrm>
            <a:off x="457200" y="6991350"/>
            <a:ext cx="12801600" cy="9525"/>
          </a:xfrm>
          <a:prstGeom prst="rect">
            <a:avLst/>
          </a:prstGeom>
          <a:solidFill>
            <a:srgbClr val="FFFFFF">
              <a:alpha val="7000"/>
            </a:srgbClr>
          </a:solidFill>
          <a:ln/>
        </p:spPr>
      </p:sp>
      <p:sp>
        <p:nvSpPr>
          <p:cNvPr id="25" name="Text 19"/>
          <p:cNvSpPr/>
          <p:nvPr/>
        </p:nvSpPr>
        <p:spPr>
          <a:xfrm>
            <a:off x="457200" y="6015517"/>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Standing context is a convenience; it is not a place to keep anything</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Shape 2"/>
          <p:cNvSpPr/>
          <p:nvPr/>
        </p:nvSpPr>
        <p:spPr>
          <a:xfrm>
            <a:off x="457200" y="457200"/>
            <a:ext cx="2705034" cy="304800"/>
          </a:xfrm>
          <a:prstGeom prst="roundRect">
            <a:avLst>
              <a:gd name="adj" fmla="val 50000"/>
            </a:avLst>
          </a:prstGeom>
          <a:solidFill>
            <a:srgbClr val="3B82F6">
              <a:alpha val="14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542958"/>
            <a:ext cx="133284" cy="133284"/>
          </a:xfrm>
          <a:prstGeom prst="rect">
            <a:avLst/>
          </a:prstGeom>
        </p:spPr>
      </p:pic>
      <p:sp>
        <p:nvSpPr>
          <p:cNvPr id="6" name="Text 3"/>
          <p:cNvSpPr/>
          <p:nvPr/>
        </p:nvSpPr>
        <p:spPr>
          <a:xfrm>
            <a:off x="819084" y="514350"/>
            <a:ext cx="2190750" cy="190500"/>
          </a:xfrm>
          <a:prstGeom prst="rect">
            <a:avLst/>
          </a:prstGeom>
          <a:noFill/>
          <a:ln/>
        </p:spPr>
        <p:txBody>
          <a:bodyPr wrap="square" lIns="0" tIns="0" rIns="0" bIns="0" rtlCol="0" anchor="t">
            <a:normAutofit/>
          </a:bodyPr>
          <a:lstStyle/>
          <a:p>
            <a:pPr marL="0" indent="0" algn="l">
              <a:lnSpc>
                <a:spcPct val="120000"/>
              </a:lnSpc>
              <a:buNone/>
            </a:pPr>
            <a:r>
              <a:rPr lang="en-US" sz="900" b="1" kern="1200" spc="72" dirty="0">
                <a:solidFill>
                  <a:srgbClr val="60A5FA"/>
                </a:solidFill>
                <a:latin typeface="JetBrains Mono"/>
                <a:ea typeface="JetBrains Mono"/>
                <a:cs typeface="JetBrains Mono"/>
              </a:rPr>
              <a:t>DAILY DRIVER · GOOGLE GEMINI</a:t>
            </a:r>
            <a:endParaRPr lang="en-US" sz="900" dirty="0"/>
          </a:p>
        </p:txBody>
      </p:sp>
      <p:sp>
        <p:nvSpPr>
          <p:cNvPr id="7" name="Shape 4"/>
          <p:cNvSpPr/>
          <p:nvPr/>
        </p:nvSpPr>
        <p:spPr>
          <a:xfrm>
            <a:off x="3110971" y="457283"/>
            <a:ext cx="4838700" cy="304800"/>
          </a:xfrm>
          <a:prstGeom prst="roundRect">
            <a:avLst>
              <a:gd name="adj" fmla="val 50000"/>
            </a:avLst>
          </a:prstGeom>
          <a:solidFill>
            <a:srgbClr val="8B5CF6">
              <a:alpha val="14000"/>
            </a:srgbClr>
          </a:solidFill>
          <a:ln/>
        </p:spPr>
      </p:sp>
      <p:sp>
        <p:nvSpPr>
          <p:cNvPr id="8" name="Text 5"/>
          <p:cNvSpPr/>
          <p:nvPr/>
        </p:nvSpPr>
        <p:spPr>
          <a:xfrm>
            <a:off x="3263371" y="471571"/>
            <a:ext cx="45339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A78BFA"/>
                </a:solidFill>
                <a:latin typeface="Inter"/>
                <a:ea typeface="Inter"/>
                <a:cs typeface="Inter"/>
              </a:rPr>
              <a:t>The Lesson 3 tool — what it is for today, the walkthrough next week</a:t>
            </a:r>
            <a:endParaRPr lang="en-US" sz="1100" dirty="0"/>
          </a:p>
        </p:txBody>
      </p:sp>
      <p:sp>
        <p:nvSpPr>
          <p:cNvPr id="9" name="Text 6"/>
          <p:cNvSpPr/>
          <p:nvPr/>
        </p:nvSpPr>
        <p:spPr>
          <a:xfrm>
            <a:off x="457200" y="876383"/>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NotebookLM: a YouTube link becomes a source</a:t>
            </a:r>
            <a:endParaRPr lang="en-US" sz="3200" dirty="0"/>
          </a:p>
        </p:txBody>
      </p:sp>
      <p:sp>
        <p:nvSpPr>
          <p:cNvPr id="10" name="Text 7"/>
          <p:cNvSpPr/>
          <p:nvPr/>
        </p:nvSpPr>
        <p:spPr>
          <a:xfrm>
            <a:off x="457200" y="1495508"/>
            <a:ext cx="128016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A funder's recorded information session on YouTube — an hour of video nobody will rewatch — turned into a text source you can question and quote</a:t>
            </a:r>
            <a:endParaRPr lang="en-US" sz="1300" dirty="0"/>
          </a:p>
        </p:txBody>
      </p:sp>
      <p:sp>
        <p:nvSpPr>
          <p:cNvPr id="11" name="Shape 8"/>
          <p:cNvSpPr/>
          <p:nvPr/>
        </p:nvSpPr>
        <p:spPr>
          <a:xfrm>
            <a:off x="457200" y="2895162"/>
            <a:ext cx="6286500" cy="2705100"/>
          </a:xfrm>
          <a:prstGeom prst="roundRect">
            <a:avLst>
              <a:gd name="adj" fmla="val 2327"/>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2" name="Shape 9"/>
          <p:cNvSpPr/>
          <p:nvPr/>
        </p:nvSpPr>
        <p:spPr>
          <a:xfrm>
            <a:off x="457200" y="5590737"/>
            <a:ext cx="6286500" cy="9525"/>
          </a:xfrm>
          <a:prstGeom prst="rect">
            <a:avLst/>
          </a:prstGeom>
          <a:solidFill>
            <a:srgbClr val="FFFFFF">
              <a:alpha val="8000"/>
            </a:srgbClr>
          </a:solidFill>
          <a:ln/>
        </p:spPr>
      </p:sp>
      <p:sp>
        <p:nvSpPr>
          <p:cNvPr id="13" name="Shape 10"/>
          <p:cNvSpPr/>
          <p:nvPr/>
        </p:nvSpPr>
        <p:spPr>
          <a:xfrm>
            <a:off x="457200" y="2895162"/>
            <a:ext cx="6286500" cy="9525"/>
          </a:xfrm>
          <a:prstGeom prst="rect">
            <a:avLst/>
          </a:prstGeom>
          <a:solidFill>
            <a:srgbClr val="FFFFFF">
              <a:alpha val="8000"/>
            </a:srgbClr>
          </a:solidFill>
          <a:ln/>
        </p:spPr>
      </p:sp>
      <p:sp>
        <p:nvSpPr>
          <p:cNvPr id="14" name="Shape 11"/>
          <p:cNvSpPr/>
          <p:nvPr/>
        </p:nvSpPr>
        <p:spPr>
          <a:xfrm>
            <a:off x="457200" y="2990412"/>
            <a:ext cx="28575" cy="2514600"/>
          </a:xfrm>
          <a:prstGeom prst="rect">
            <a:avLst/>
          </a:prstGeom>
          <a:solidFill>
            <a:srgbClr val="10B981"/>
          </a:solidFill>
          <a:ln/>
        </p:spPr>
      </p:sp>
      <p:sp>
        <p:nvSpPr>
          <p:cNvPr id="15" name="Shape 12"/>
          <p:cNvSpPr/>
          <p:nvPr/>
        </p:nvSpPr>
        <p:spPr>
          <a:xfrm>
            <a:off x="6734175" y="2990412"/>
            <a:ext cx="9525" cy="2514600"/>
          </a:xfrm>
          <a:prstGeom prst="rect">
            <a:avLst/>
          </a:prstGeom>
          <a:solidFill>
            <a:srgbClr val="FFFFFF">
              <a:alpha val="8000"/>
            </a:srgbClr>
          </a:solidFill>
          <a:ln/>
        </p:spPr>
      </p:sp>
      <p:sp>
        <p:nvSpPr>
          <p:cNvPr id="16" name="Shape 13"/>
          <p:cNvSpPr/>
          <p:nvPr/>
        </p:nvSpPr>
        <p:spPr>
          <a:xfrm>
            <a:off x="685800" y="3123762"/>
            <a:ext cx="381000" cy="381000"/>
          </a:xfrm>
          <a:prstGeom prst="roundRect">
            <a:avLst>
              <a:gd name="adj" fmla="val 25000"/>
            </a:avLst>
          </a:prstGeom>
          <a:solidFill>
            <a:srgbClr val="10B981">
              <a:alpha val="14000"/>
            </a:srgbClr>
          </a:solidFill>
          <a:ln/>
        </p:spPr>
      </p:sp>
      <p:pic>
        <p:nvPicPr>
          <p:cNvPr id="1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1050" y="3219012"/>
            <a:ext cx="190500" cy="190500"/>
          </a:xfrm>
          <a:prstGeom prst="rect">
            <a:avLst/>
          </a:prstGeom>
        </p:spPr>
      </p:pic>
      <p:sp>
        <p:nvSpPr>
          <p:cNvPr id="18" name="Text 14"/>
          <p:cNvSpPr/>
          <p:nvPr/>
        </p:nvSpPr>
        <p:spPr>
          <a:xfrm>
            <a:off x="1200150" y="3123762"/>
            <a:ext cx="527483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34D399"/>
                </a:solidFill>
                <a:latin typeface="Inter"/>
                <a:ea typeface="Inter"/>
                <a:cs typeface="Inter"/>
              </a:rPr>
              <a:t>What you get</a:t>
            </a:r>
            <a:endParaRPr lang="en-US" sz="1600" dirty="0"/>
          </a:p>
        </p:txBody>
      </p:sp>
      <p:sp>
        <p:nvSpPr>
          <p:cNvPr id="19" name="Text 15"/>
          <p:cNvSpPr/>
          <p:nvPr/>
        </p:nvSpPr>
        <p:spPr>
          <a:xfrm>
            <a:off x="685800" y="3694039"/>
            <a:ext cx="5846333"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The spoken hour as a text source the notebook can quote, with the point in the recording each answer came from</a:t>
            </a:r>
            <a:endParaRPr lang="en-US" sz="1300" dirty="0"/>
          </a:p>
        </p:txBody>
      </p:sp>
      <p:sp>
        <p:nvSpPr>
          <p:cNvPr id="20" name="Text 16"/>
          <p:cNvSpPr/>
          <p:nvPr/>
        </p:nvSpPr>
        <p:spPr>
          <a:xfrm>
            <a:off x="685800" y="4360723"/>
            <a:ext cx="5846333"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Searchable: “what did they say about co-financing?” instead of scrubbing a timeline</a:t>
            </a:r>
            <a:endParaRPr lang="en-US" sz="1300" dirty="0"/>
          </a:p>
        </p:txBody>
      </p:sp>
      <p:sp>
        <p:nvSpPr>
          <p:cNvPr id="21" name="Shape 17"/>
          <p:cNvSpPr/>
          <p:nvPr/>
        </p:nvSpPr>
        <p:spPr>
          <a:xfrm>
            <a:off x="6972300" y="2895162"/>
            <a:ext cx="6286500" cy="2705100"/>
          </a:xfrm>
          <a:prstGeom prst="roundRect">
            <a:avLst>
              <a:gd name="adj" fmla="val 2327"/>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2" name="Shape 18"/>
          <p:cNvSpPr/>
          <p:nvPr/>
        </p:nvSpPr>
        <p:spPr>
          <a:xfrm>
            <a:off x="6972300" y="5590737"/>
            <a:ext cx="6286500" cy="9525"/>
          </a:xfrm>
          <a:prstGeom prst="rect">
            <a:avLst/>
          </a:prstGeom>
          <a:solidFill>
            <a:srgbClr val="FFFFFF">
              <a:alpha val="8000"/>
            </a:srgbClr>
          </a:solidFill>
          <a:ln/>
        </p:spPr>
      </p:sp>
      <p:sp>
        <p:nvSpPr>
          <p:cNvPr id="23" name="Shape 19"/>
          <p:cNvSpPr/>
          <p:nvPr/>
        </p:nvSpPr>
        <p:spPr>
          <a:xfrm>
            <a:off x="6972300" y="2895162"/>
            <a:ext cx="6286500" cy="9525"/>
          </a:xfrm>
          <a:prstGeom prst="rect">
            <a:avLst/>
          </a:prstGeom>
          <a:solidFill>
            <a:srgbClr val="FFFFFF">
              <a:alpha val="8000"/>
            </a:srgbClr>
          </a:solidFill>
          <a:ln/>
        </p:spPr>
      </p:sp>
      <p:sp>
        <p:nvSpPr>
          <p:cNvPr id="24" name="Shape 20"/>
          <p:cNvSpPr/>
          <p:nvPr/>
        </p:nvSpPr>
        <p:spPr>
          <a:xfrm>
            <a:off x="6972300" y="2990412"/>
            <a:ext cx="28575" cy="2514600"/>
          </a:xfrm>
          <a:prstGeom prst="rect">
            <a:avLst/>
          </a:prstGeom>
          <a:solidFill>
            <a:srgbClr val="3B82F6"/>
          </a:solidFill>
          <a:ln/>
        </p:spPr>
      </p:sp>
      <p:sp>
        <p:nvSpPr>
          <p:cNvPr id="25" name="Shape 21"/>
          <p:cNvSpPr/>
          <p:nvPr/>
        </p:nvSpPr>
        <p:spPr>
          <a:xfrm>
            <a:off x="13249275" y="2990412"/>
            <a:ext cx="9525" cy="2514600"/>
          </a:xfrm>
          <a:prstGeom prst="rect">
            <a:avLst/>
          </a:prstGeom>
          <a:solidFill>
            <a:srgbClr val="FFFFFF">
              <a:alpha val="8000"/>
            </a:srgbClr>
          </a:solidFill>
          <a:ln/>
        </p:spPr>
      </p:sp>
      <p:sp>
        <p:nvSpPr>
          <p:cNvPr id="26" name="Shape 22"/>
          <p:cNvSpPr/>
          <p:nvPr/>
        </p:nvSpPr>
        <p:spPr>
          <a:xfrm>
            <a:off x="7200900" y="3123762"/>
            <a:ext cx="381000" cy="381000"/>
          </a:xfrm>
          <a:prstGeom prst="roundRect">
            <a:avLst>
              <a:gd name="adj" fmla="val 25000"/>
            </a:avLst>
          </a:prstGeom>
          <a:solidFill>
            <a:srgbClr val="3B82F6">
              <a:alpha val="14000"/>
            </a:srgbClr>
          </a:solidFill>
          <a:ln/>
        </p:spPr>
      </p:sp>
      <p:pic>
        <p:nvPicPr>
          <p:cNvPr id="2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96150" y="3219012"/>
            <a:ext cx="190500" cy="190500"/>
          </a:xfrm>
          <a:prstGeom prst="rect">
            <a:avLst/>
          </a:prstGeom>
        </p:spPr>
      </p:pic>
      <p:sp>
        <p:nvSpPr>
          <p:cNvPr id="28" name="Text 23"/>
          <p:cNvSpPr/>
          <p:nvPr/>
        </p:nvSpPr>
        <p:spPr>
          <a:xfrm>
            <a:off x="7715250" y="3123762"/>
            <a:ext cx="527483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60A5FA"/>
                </a:solidFill>
                <a:latin typeface="Inter"/>
                <a:ea typeface="Inter"/>
                <a:cs typeface="Inter"/>
              </a:rPr>
              <a:t>What it needs</a:t>
            </a:r>
            <a:endParaRPr lang="en-US" sz="1600" dirty="0"/>
          </a:p>
        </p:txBody>
      </p:sp>
      <p:sp>
        <p:nvSpPr>
          <p:cNvPr id="29" name="Text 24"/>
          <p:cNvSpPr/>
          <p:nvPr/>
        </p:nvSpPr>
        <p:spPr>
          <a:xfrm>
            <a:off x="7200900" y="3694039"/>
            <a:ext cx="5846333"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A public YouTube video with captions — the captions are what the notebook actually reads, so a recording without them is not a source</a:t>
            </a:r>
            <a:endParaRPr lang="en-US" sz="1300" dirty="0"/>
          </a:p>
        </p:txBody>
      </p:sp>
      <p:sp>
        <p:nvSpPr>
          <p:cNvPr id="30" name="Text 25"/>
          <p:cNvSpPr/>
          <p:nvPr/>
        </p:nvSpPr>
        <p:spPr>
          <a:xfrm>
            <a:off x="7200900" y="4360723"/>
            <a:ext cx="5846333"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No link goes in this deck: the scenario is described, and the recording you use on the day is your own</a:t>
            </a:r>
            <a:endParaRPr lang="en-US" sz="1300" dirty="0"/>
          </a:p>
        </p:txBody>
      </p:sp>
      <p:sp>
        <p:nvSpPr>
          <p:cNvPr id="31" name="Shape 26"/>
          <p:cNvSpPr/>
          <p:nvPr/>
        </p:nvSpPr>
        <p:spPr>
          <a:xfrm>
            <a:off x="457200" y="6991350"/>
            <a:ext cx="12801600" cy="9525"/>
          </a:xfrm>
          <a:prstGeom prst="rect">
            <a:avLst/>
          </a:prstGeom>
          <a:solidFill>
            <a:srgbClr val="FFFFFF">
              <a:alpha val="7000"/>
            </a:srgbClr>
          </a:solidFill>
          <a:ln/>
        </p:spPr>
      </p:sp>
      <p:sp>
        <p:nvSpPr>
          <p:cNvPr id="32" name="Text 27"/>
          <p:cNvSpPr/>
          <p:nvPr/>
        </p:nvSpPr>
        <p:spPr>
          <a:xfrm>
            <a:off x="457200" y="6029846"/>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The hour of video you could not cite becomes a source you can</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Shape 2"/>
          <p:cNvSpPr/>
          <p:nvPr/>
        </p:nvSpPr>
        <p:spPr>
          <a:xfrm>
            <a:off x="457200" y="457200"/>
            <a:ext cx="2705034" cy="304800"/>
          </a:xfrm>
          <a:prstGeom prst="roundRect">
            <a:avLst>
              <a:gd name="adj" fmla="val 50000"/>
            </a:avLst>
          </a:prstGeom>
          <a:solidFill>
            <a:srgbClr val="3B82F6">
              <a:alpha val="14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542958"/>
            <a:ext cx="133284" cy="133284"/>
          </a:xfrm>
          <a:prstGeom prst="rect">
            <a:avLst/>
          </a:prstGeom>
        </p:spPr>
      </p:pic>
      <p:sp>
        <p:nvSpPr>
          <p:cNvPr id="6" name="Text 3"/>
          <p:cNvSpPr/>
          <p:nvPr/>
        </p:nvSpPr>
        <p:spPr>
          <a:xfrm>
            <a:off x="819084" y="514350"/>
            <a:ext cx="2190750" cy="190500"/>
          </a:xfrm>
          <a:prstGeom prst="rect">
            <a:avLst/>
          </a:prstGeom>
          <a:noFill/>
          <a:ln/>
        </p:spPr>
        <p:txBody>
          <a:bodyPr wrap="square" lIns="0" tIns="0" rIns="0" bIns="0" rtlCol="0" anchor="t">
            <a:normAutofit/>
          </a:bodyPr>
          <a:lstStyle/>
          <a:p>
            <a:pPr marL="0" indent="0" algn="l">
              <a:lnSpc>
                <a:spcPct val="120000"/>
              </a:lnSpc>
              <a:buNone/>
            </a:pPr>
            <a:r>
              <a:rPr lang="en-US" sz="900" b="1" kern="1200" spc="72" dirty="0">
                <a:solidFill>
                  <a:srgbClr val="60A5FA"/>
                </a:solidFill>
                <a:latin typeface="JetBrains Mono"/>
                <a:ea typeface="JetBrains Mono"/>
                <a:cs typeface="JetBrains Mono"/>
              </a:rPr>
              <a:t>DAILY DRIVER · GOOGLE GEMINI</a:t>
            </a:r>
            <a:endParaRPr lang="en-US" sz="900" dirty="0"/>
          </a:p>
        </p:txBody>
      </p:sp>
      <p:sp>
        <p:nvSpPr>
          <p:cNvPr id="7" name="Shape 4"/>
          <p:cNvSpPr/>
          <p:nvPr/>
        </p:nvSpPr>
        <p:spPr>
          <a:xfrm>
            <a:off x="3110971" y="457283"/>
            <a:ext cx="4838700" cy="304800"/>
          </a:xfrm>
          <a:prstGeom prst="roundRect">
            <a:avLst>
              <a:gd name="adj" fmla="val 50000"/>
            </a:avLst>
          </a:prstGeom>
          <a:solidFill>
            <a:srgbClr val="8B5CF6">
              <a:alpha val="14000"/>
            </a:srgbClr>
          </a:solidFill>
          <a:ln/>
        </p:spPr>
      </p:sp>
      <p:sp>
        <p:nvSpPr>
          <p:cNvPr id="8" name="Text 5"/>
          <p:cNvSpPr/>
          <p:nvPr/>
        </p:nvSpPr>
        <p:spPr>
          <a:xfrm>
            <a:off x="3263371" y="471571"/>
            <a:ext cx="45339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A78BFA"/>
                </a:solidFill>
                <a:latin typeface="Inter"/>
                <a:ea typeface="Inter"/>
                <a:cs typeface="Inter"/>
              </a:rPr>
              <a:t>The Lesson 3 tool — what it is for today, the walkthrough next week</a:t>
            </a:r>
            <a:endParaRPr lang="en-US" sz="1100" dirty="0"/>
          </a:p>
        </p:txBody>
      </p:sp>
      <p:sp>
        <p:nvSpPr>
          <p:cNvPr id="9" name="Text 6"/>
          <p:cNvSpPr/>
          <p:nvPr/>
        </p:nvSpPr>
        <p:spPr>
          <a:xfrm>
            <a:off x="457200" y="876383"/>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NotebookLM: several documents, one notebook</a:t>
            </a:r>
            <a:endParaRPr lang="en-US" sz="3200" dirty="0"/>
          </a:p>
        </p:txBody>
      </p:sp>
      <p:sp>
        <p:nvSpPr>
          <p:cNvPr id="10" name="Text 7"/>
          <p:cNvSpPr/>
          <p:nvPr/>
        </p:nvSpPr>
        <p:spPr>
          <a:xfrm>
            <a:off x="457200" y="1495508"/>
            <a:ext cx="128016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Everything the office holds on one call — the document, the guidelines, the FAQ and your own notes — answering as one source, with citations</a:t>
            </a:r>
            <a:endParaRPr lang="en-US" sz="1300" dirty="0"/>
          </a:p>
        </p:txBody>
      </p:sp>
      <p:sp>
        <p:nvSpPr>
          <p:cNvPr id="11" name="Shape 8"/>
          <p:cNvSpPr/>
          <p:nvPr/>
        </p:nvSpPr>
        <p:spPr>
          <a:xfrm>
            <a:off x="457200" y="2776579"/>
            <a:ext cx="6286500" cy="2543175"/>
          </a:xfrm>
          <a:prstGeom prst="roundRect">
            <a:avLst>
              <a:gd name="adj" fmla="val 2474"/>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2" name="Shape 9"/>
          <p:cNvSpPr/>
          <p:nvPr/>
        </p:nvSpPr>
        <p:spPr>
          <a:xfrm>
            <a:off x="457200" y="5310229"/>
            <a:ext cx="6286500" cy="9525"/>
          </a:xfrm>
          <a:prstGeom prst="rect">
            <a:avLst/>
          </a:prstGeom>
          <a:solidFill>
            <a:srgbClr val="FFFFFF">
              <a:alpha val="8000"/>
            </a:srgbClr>
          </a:solidFill>
          <a:ln/>
        </p:spPr>
      </p:sp>
      <p:sp>
        <p:nvSpPr>
          <p:cNvPr id="13" name="Shape 10"/>
          <p:cNvSpPr/>
          <p:nvPr/>
        </p:nvSpPr>
        <p:spPr>
          <a:xfrm>
            <a:off x="457200" y="2776579"/>
            <a:ext cx="6286500" cy="9525"/>
          </a:xfrm>
          <a:prstGeom prst="rect">
            <a:avLst/>
          </a:prstGeom>
          <a:solidFill>
            <a:srgbClr val="FFFFFF">
              <a:alpha val="8000"/>
            </a:srgbClr>
          </a:solidFill>
          <a:ln/>
        </p:spPr>
      </p:sp>
      <p:sp>
        <p:nvSpPr>
          <p:cNvPr id="14" name="Shape 11"/>
          <p:cNvSpPr/>
          <p:nvPr/>
        </p:nvSpPr>
        <p:spPr>
          <a:xfrm>
            <a:off x="457200" y="2871829"/>
            <a:ext cx="28575" cy="2352675"/>
          </a:xfrm>
          <a:prstGeom prst="rect">
            <a:avLst/>
          </a:prstGeom>
          <a:solidFill>
            <a:srgbClr val="3B82F6"/>
          </a:solidFill>
          <a:ln/>
        </p:spPr>
      </p:sp>
      <p:sp>
        <p:nvSpPr>
          <p:cNvPr id="15" name="Shape 12"/>
          <p:cNvSpPr/>
          <p:nvPr/>
        </p:nvSpPr>
        <p:spPr>
          <a:xfrm>
            <a:off x="6734175" y="2871829"/>
            <a:ext cx="9525" cy="2352675"/>
          </a:xfrm>
          <a:prstGeom prst="rect">
            <a:avLst/>
          </a:prstGeom>
          <a:solidFill>
            <a:srgbClr val="FFFFFF">
              <a:alpha val="8000"/>
            </a:srgbClr>
          </a:solidFill>
          <a:ln/>
        </p:spPr>
      </p:sp>
      <p:sp>
        <p:nvSpPr>
          <p:cNvPr id="16" name="Shape 13"/>
          <p:cNvSpPr/>
          <p:nvPr/>
        </p:nvSpPr>
        <p:spPr>
          <a:xfrm>
            <a:off x="685800" y="3005179"/>
            <a:ext cx="381000" cy="381000"/>
          </a:xfrm>
          <a:prstGeom prst="roundRect">
            <a:avLst>
              <a:gd name="adj" fmla="val 25000"/>
            </a:avLst>
          </a:prstGeom>
          <a:solidFill>
            <a:srgbClr val="3B82F6">
              <a:alpha val="14000"/>
            </a:srgbClr>
          </a:solidFill>
          <a:ln/>
        </p:spPr>
      </p:sp>
      <p:pic>
        <p:nvPicPr>
          <p:cNvPr id="1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1050" y="3100429"/>
            <a:ext cx="190500" cy="190500"/>
          </a:xfrm>
          <a:prstGeom prst="rect">
            <a:avLst/>
          </a:prstGeom>
        </p:spPr>
      </p:pic>
      <p:sp>
        <p:nvSpPr>
          <p:cNvPr id="18" name="Text 14"/>
          <p:cNvSpPr/>
          <p:nvPr/>
        </p:nvSpPr>
        <p:spPr>
          <a:xfrm>
            <a:off x="1200150" y="3005179"/>
            <a:ext cx="527483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60A5FA"/>
                </a:solidFill>
                <a:latin typeface="Inter"/>
                <a:ea typeface="Inter"/>
                <a:cs typeface="Inter"/>
              </a:rPr>
              <a:t>Four sources, one question</a:t>
            </a:r>
            <a:endParaRPr lang="en-US" sz="1600" dirty="0"/>
          </a:p>
        </p:txBody>
      </p:sp>
      <p:sp>
        <p:nvSpPr>
          <p:cNvPr id="19" name="Text 15"/>
          <p:cNvSpPr/>
          <p:nvPr/>
        </p:nvSpPr>
        <p:spPr>
          <a:xfrm>
            <a:off x="685800" y="3575456"/>
            <a:ext cx="5846333"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The call document, the funder's guidelines, the FAQ and your own notes in one notebook</a:t>
            </a:r>
            <a:endParaRPr lang="en-US" sz="1300" dirty="0"/>
          </a:p>
        </p:txBody>
      </p:sp>
      <p:sp>
        <p:nvSpPr>
          <p:cNvPr id="20" name="Text 16"/>
          <p:cNvSpPr/>
          <p:nvPr/>
        </p:nvSpPr>
        <p:spPr>
          <a:xfrm>
            <a:off x="685800" y="4242140"/>
            <a:ext cx="5846333"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Ask it once — “what does eligibility actually require?” — and the answer says which of the four it came from</a:t>
            </a:r>
            <a:endParaRPr lang="en-US" sz="1300" dirty="0"/>
          </a:p>
        </p:txBody>
      </p:sp>
      <p:sp>
        <p:nvSpPr>
          <p:cNvPr id="21" name="Shape 17"/>
          <p:cNvSpPr/>
          <p:nvPr/>
        </p:nvSpPr>
        <p:spPr>
          <a:xfrm>
            <a:off x="6972300" y="2776579"/>
            <a:ext cx="6286500" cy="2543175"/>
          </a:xfrm>
          <a:prstGeom prst="roundRect">
            <a:avLst>
              <a:gd name="adj" fmla="val 2474"/>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2" name="Shape 18"/>
          <p:cNvSpPr/>
          <p:nvPr/>
        </p:nvSpPr>
        <p:spPr>
          <a:xfrm>
            <a:off x="6972300" y="5310229"/>
            <a:ext cx="6286500" cy="9525"/>
          </a:xfrm>
          <a:prstGeom prst="rect">
            <a:avLst/>
          </a:prstGeom>
          <a:solidFill>
            <a:srgbClr val="FFFFFF">
              <a:alpha val="8000"/>
            </a:srgbClr>
          </a:solidFill>
          <a:ln/>
        </p:spPr>
      </p:sp>
      <p:sp>
        <p:nvSpPr>
          <p:cNvPr id="23" name="Shape 19"/>
          <p:cNvSpPr/>
          <p:nvPr/>
        </p:nvSpPr>
        <p:spPr>
          <a:xfrm>
            <a:off x="6972300" y="2776579"/>
            <a:ext cx="6286500" cy="9525"/>
          </a:xfrm>
          <a:prstGeom prst="rect">
            <a:avLst/>
          </a:prstGeom>
          <a:solidFill>
            <a:srgbClr val="FFFFFF">
              <a:alpha val="8000"/>
            </a:srgbClr>
          </a:solidFill>
          <a:ln/>
        </p:spPr>
      </p:sp>
      <p:sp>
        <p:nvSpPr>
          <p:cNvPr id="24" name="Shape 20"/>
          <p:cNvSpPr/>
          <p:nvPr/>
        </p:nvSpPr>
        <p:spPr>
          <a:xfrm>
            <a:off x="6972300" y="2871829"/>
            <a:ext cx="28575" cy="2352675"/>
          </a:xfrm>
          <a:prstGeom prst="rect">
            <a:avLst/>
          </a:prstGeom>
          <a:solidFill>
            <a:srgbClr val="A78BFA"/>
          </a:solidFill>
          <a:ln/>
        </p:spPr>
      </p:sp>
      <p:sp>
        <p:nvSpPr>
          <p:cNvPr id="25" name="Shape 21"/>
          <p:cNvSpPr/>
          <p:nvPr/>
        </p:nvSpPr>
        <p:spPr>
          <a:xfrm>
            <a:off x="13249275" y="2871829"/>
            <a:ext cx="9525" cy="2352675"/>
          </a:xfrm>
          <a:prstGeom prst="rect">
            <a:avLst/>
          </a:prstGeom>
          <a:solidFill>
            <a:srgbClr val="FFFFFF">
              <a:alpha val="8000"/>
            </a:srgbClr>
          </a:solidFill>
          <a:ln/>
        </p:spPr>
      </p:sp>
      <p:sp>
        <p:nvSpPr>
          <p:cNvPr id="26" name="Shape 22"/>
          <p:cNvSpPr/>
          <p:nvPr/>
        </p:nvSpPr>
        <p:spPr>
          <a:xfrm>
            <a:off x="7200900" y="3005179"/>
            <a:ext cx="381000" cy="381000"/>
          </a:xfrm>
          <a:prstGeom prst="roundRect">
            <a:avLst>
              <a:gd name="adj" fmla="val 25000"/>
            </a:avLst>
          </a:prstGeom>
          <a:solidFill>
            <a:srgbClr val="8B5CF6">
              <a:alpha val="14000"/>
            </a:srgbClr>
          </a:solidFill>
          <a:ln/>
        </p:spPr>
      </p:sp>
      <p:pic>
        <p:nvPicPr>
          <p:cNvPr id="2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96150" y="3100429"/>
            <a:ext cx="190500" cy="190500"/>
          </a:xfrm>
          <a:prstGeom prst="rect">
            <a:avLst/>
          </a:prstGeom>
        </p:spPr>
      </p:pic>
      <p:sp>
        <p:nvSpPr>
          <p:cNvPr id="28" name="Text 23"/>
          <p:cNvSpPr/>
          <p:nvPr/>
        </p:nvSpPr>
        <p:spPr>
          <a:xfrm>
            <a:off x="7715250" y="3005179"/>
            <a:ext cx="527483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A78BFA"/>
                </a:solidFill>
                <a:latin typeface="Inter"/>
                <a:ea typeface="Inter"/>
                <a:cs typeface="Inter"/>
              </a:rPr>
              <a:t>The answer to “more context is not better context”</a:t>
            </a:r>
            <a:endParaRPr lang="en-US" sz="1600" dirty="0"/>
          </a:p>
        </p:txBody>
      </p:sp>
      <p:sp>
        <p:nvSpPr>
          <p:cNvPr id="29" name="Text 24"/>
          <p:cNvSpPr/>
          <p:nvPr/>
        </p:nvSpPr>
        <p:spPr>
          <a:xfrm>
            <a:off x="7200900" y="3575456"/>
            <a:ext cx="5846333"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It answers from the sources you gave it and says so, rather than from everything it has ever read</a:t>
            </a:r>
            <a:endParaRPr lang="en-US" sz="1300" dirty="0"/>
          </a:p>
        </p:txBody>
      </p:sp>
      <p:sp>
        <p:nvSpPr>
          <p:cNvPr id="30" name="Text 25"/>
          <p:cNvSpPr/>
          <p:nvPr/>
        </p:nvSpPr>
        <p:spPr>
          <a:xfrm>
            <a:off x="7200900" y="4242140"/>
            <a:ext cx="5846333"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Curation stops being a discipline you have to remember and becomes the shape of the tool</a:t>
            </a:r>
            <a:endParaRPr lang="en-US" sz="1300" dirty="0"/>
          </a:p>
        </p:txBody>
      </p:sp>
      <p:sp>
        <p:nvSpPr>
          <p:cNvPr id="31" name="Shape 26"/>
          <p:cNvSpPr/>
          <p:nvPr/>
        </p:nvSpPr>
        <p:spPr>
          <a:xfrm>
            <a:off x="457200" y="5738854"/>
            <a:ext cx="12801600" cy="685800"/>
          </a:xfrm>
          <a:prstGeom prst="roundRect">
            <a:avLst>
              <a:gd name="adj" fmla="val 16623"/>
            </a:avLst>
          </a:prstGeom>
          <a:gradFill rotWithShape="1">
            <a:gsLst>
              <a:gs pos="0">
                <a:srgbClr val="3B82F6"/>
              </a:gs>
              <a:gs pos="227">
                <a:srgbClr val="3B82F6"/>
              </a:gs>
              <a:gs pos="228">
                <a:srgbClr val="FFFFFF">
                  <a:alpha val="5000"/>
                </a:srgbClr>
              </a:gs>
              <a:gs pos="100000">
                <a:srgbClr val="FFFFFF">
                  <a:alpha val="2500"/>
                </a:srgbClr>
              </a:gs>
            </a:gsLst>
            <a:lin ang="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2" name="Shape 27"/>
          <p:cNvSpPr/>
          <p:nvPr/>
        </p:nvSpPr>
        <p:spPr>
          <a:xfrm>
            <a:off x="685800" y="5891254"/>
            <a:ext cx="381000" cy="381000"/>
          </a:xfrm>
          <a:prstGeom prst="roundRect">
            <a:avLst>
              <a:gd name="adj" fmla="val 25000"/>
            </a:avLst>
          </a:prstGeom>
          <a:solidFill>
            <a:srgbClr val="3B82F6">
              <a:alpha val="14000"/>
            </a:srgbClr>
          </a:solidFill>
          <a:ln/>
        </p:spPr>
      </p:sp>
      <p:pic>
        <p:nvPicPr>
          <p:cNvPr id="3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81050" y="5986504"/>
            <a:ext cx="190500" cy="190500"/>
          </a:xfrm>
          <a:prstGeom prst="rect">
            <a:avLst/>
          </a:prstGeom>
        </p:spPr>
      </p:pic>
      <p:sp>
        <p:nvSpPr>
          <p:cNvPr id="34" name="Text 28"/>
          <p:cNvSpPr/>
          <p:nvPr/>
        </p:nvSpPr>
        <p:spPr>
          <a:xfrm>
            <a:off x="1161885" y="5891254"/>
            <a:ext cx="11857798"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Source-grounded: every claim carries the document it came from, so checking it takes one click rather than one afternoon</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Shape 2"/>
          <p:cNvSpPr/>
          <p:nvPr/>
        </p:nvSpPr>
        <p:spPr>
          <a:xfrm>
            <a:off x="457200" y="457200"/>
            <a:ext cx="2705034" cy="304800"/>
          </a:xfrm>
          <a:prstGeom prst="roundRect">
            <a:avLst>
              <a:gd name="adj" fmla="val 50000"/>
            </a:avLst>
          </a:prstGeom>
          <a:solidFill>
            <a:srgbClr val="3B82F6">
              <a:alpha val="14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542958"/>
            <a:ext cx="133284" cy="133284"/>
          </a:xfrm>
          <a:prstGeom prst="rect">
            <a:avLst/>
          </a:prstGeom>
        </p:spPr>
      </p:pic>
      <p:sp>
        <p:nvSpPr>
          <p:cNvPr id="6" name="Text 3"/>
          <p:cNvSpPr/>
          <p:nvPr/>
        </p:nvSpPr>
        <p:spPr>
          <a:xfrm>
            <a:off x="819084" y="514350"/>
            <a:ext cx="2190750" cy="190500"/>
          </a:xfrm>
          <a:prstGeom prst="rect">
            <a:avLst/>
          </a:prstGeom>
          <a:noFill/>
          <a:ln/>
        </p:spPr>
        <p:txBody>
          <a:bodyPr wrap="square" lIns="0" tIns="0" rIns="0" bIns="0" rtlCol="0" anchor="t">
            <a:normAutofit/>
          </a:bodyPr>
          <a:lstStyle/>
          <a:p>
            <a:pPr marL="0" indent="0" algn="l">
              <a:lnSpc>
                <a:spcPct val="120000"/>
              </a:lnSpc>
              <a:buNone/>
            </a:pPr>
            <a:r>
              <a:rPr lang="en-US" sz="900" b="1" kern="1200" spc="72" dirty="0">
                <a:solidFill>
                  <a:srgbClr val="60A5FA"/>
                </a:solidFill>
                <a:latin typeface="JetBrains Mono"/>
                <a:ea typeface="JetBrains Mono"/>
                <a:cs typeface="JetBrains Mono"/>
              </a:rPr>
              <a:t>DAILY DRIVER · GOOGLE GEMINI</a:t>
            </a:r>
            <a:endParaRPr lang="en-US" sz="900" dirty="0"/>
          </a:p>
        </p:txBody>
      </p:sp>
      <p:sp>
        <p:nvSpPr>
          <p:cNvPr id="7" name="Shape 4"/>
          <p:cNvSpPr/>
          <p:nvPr/>
        </p:nvSpPr>
        <p:spPr>
          <a:xfrm>
            <a:off x="3110971" y="457283"/>
            <a:ext cx="4838700" cy="304800"/>
          </a:xfrm>
          <a:prstGeom prst="roundRect">
            <a:avLst>
              <a:gd name="adj" fmla="val 50000"/>
            </a:avLst>
          </a:prstGeom>
          <a:solidFill>
            <a:srgbClr val="8B5CF6">
              <a:alpha val="14000"/>
            </a:srgbClr>
          </a:solidFill>
          <a:ln/>
        </p:spPr>
      </p:sp>
      <p:sp>
        <p:nvSpPr>
          <p:cNvPr id="8" name="Text 5"/>
          <p:cNvSpPr/>
          <p:nvPr/>
        </p:nvSpPr>
        <p:spPr>
          <a:xfrm>
            <a:off x="3263371" y="471571"/>
            <a:ext cx="45339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A78BFA"/>
                </a:solidFill>
                <a:latin typeface="Inter"/>
                <a:ea typeface="Inter"/>
                <a:cs typeface="Inter"/>
              </a:rPr>
              <a:t>The Lesson 3 tool — what it is for today, the walkthrough next week</a:t>
            </a:r>
            <a:endParaRPr lang="en-US" sz="1100" dirty="0"/>
          </a:p>
        </p:txBody>
      </p:sp>
      <p:sp>
        <p:nvSpPr>
          <p:cNvPr id="9" name="Text 6"/>
          <p:cNvSpPr/>
          <p:nvPr/>
        </p:nvSpPr>
        <p:spPr>
          <a:xfrm>
            <a:off x="457200" y="876383"/>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NotebookLM: a notebook as the project folder</a:t>
            </a:r>
            <a:endParaRPr lang="en-US" sz="3200" dirty="0"/>
          </a:p>
        </p:txBody>
      </p:sp>
      <p:sp>
        <p:nvSpPr>
          <p:cNvPr id="10" name="Text 7"/>
          <p:cNvSpPr/>
          <p:nvPr/>
        </p:nvSpPr>
        <p:spPr>
          <a:xfrm>
            <a:off x="457200" y="1495508"/>
            <a:ext cx="128016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Link the Anchor Project's notebook into a conversation, and stop re-uploading the same four documents every time you open one</a:t>
            </a:r>
            <a:endParaRPr lang="en-US" sz="1300" dirty="0"/>
          </a:p>
        </p:txBody>
      </p:sp>
      <p:sp>
        <p:nvSpPr>
          <p:cNvPr id="11" name="Shape 8"/>
          <p:cNvSpPr/>
          <p:nvPr/>
        </p:nvSpPr>
        <p:spPr>
          <a:xfrm>
            <a:off x="457200" y="2895162"/>
            <a:ext cx="6286500" cy="2705100"/>
          </a:xfrm>
          <a:prstGeom prst="roundRect">
            <a:avLst>
              <a:gd name="adj" fmla="val 2327"/>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2" name="Shape 9"/>
          <p:cNvSpPr/>
          <p:nvPr/>
        </p:nvSpPr>
        <p:spPr>
          <a:xfrm>
            <a:off x="457200" y="5590737"/>
            <a:ext cx="6286500" cy="9525"/>
          </a:xfrm>
          <a:prstGeom prst="rect">
            <a:avLst/>
          </a:prstGeom>
          <a:solidFill>
            <a:srgbClr val="FFFFFF">
              <a:alpha val="8000"/>
            </a:srgbClr>
          </a:solidFill>
          <a:ln/>
        </p:spPr>
      </p:sp>
      <p:sp>
        <p:nvSpPr>
          <p:cNvPr id="13" name="Shape 10"/>
          <p:cNvSpPr/>
          <p:nvPr/>
        </p:nvSpPr>
        <p:spPr>
          <a:xfrm>
            <a:off x="457200" y="2895162"/>
            <a:ext cx="6286500" cy="9525"/>
          </a:xfrm>
          <a:prstGeom prst="rect">
            <a:avLst/>
          </a:prstGeom>
          <a:solidFill>
            <a:srgbClr val="FFFFFF">
              <a:alpha val="8000"/>
            </a:srgbClr>
          </a:solidFill>
          <a:ln/>
        </p:spPr>
      </p:sp>
      <p:sp>
        <p:nvSpPr>
          <p:cNvPr id="14" name="Shape 11"/>
          <p:cNvSpPr/>
          <p:nvPr/>
        </p:nvSpPr>
        <p:spPr>
          <a:xfrm>
            <a:off x="457200" y="2990412"/>
            <a:ext cx="28575" cy="2514600"/>
          </a:xfrm>
          <a:prstGeom prst="rect">
            <a:avLst/>
          </a:prstGeom>
          <a:solidFill>
            <a:srgbClr val="10B981"/>
          </a:solidFill>
          <a:ln/>
        </p:spPr>
      </p:sp>
      <p:sp>
        <p:nvSpPr>
          <p:cNvPr id="15" name="Shape 12"/>
          <p:cNvSpPr/>
          <p:nvPr/>
        </p:nvSpPr>
        <p:spPr>
          <a:xfrm>
            <a:off x="6734175" y="2990412"/>
            <a:ext cx="9525" cy="2514600"/>
          </a:xfrm>
          <a:prstGeom prst="rect">
            <a:avLst/>
          </a:prstGeom>
          <a:solidFill>
            <a:srgbClr val="FFFFFF">
              <a:alpha val="8000"/>
            </a:srgbClr>
          </a:solidFill>
          <a:ln/>
        </p:spPr>
      </p:sp>
      <p:sp>
        <p:nvSpPr>
          <p:cNvPr id="16" name="Shape 13"/>
          <p:cNvSpPr/>
          <p:nvPr/>
        </p:nvSpPr>
        <p:spPr>
          <a:xfrm>
            <a:off x="685800" y="3123762"/>
            <a:ext cx="381000" cy="381000"/>
          </a:xfrm>
          <a:prstGeom prst="roundRect">
            <a:avLst>
              <a:gd name="adj" fmla="val 25000"/>
            </a:avLst>
          </a:prstGeom>
          <a:solidFill>
            <a:srgbClr val="10B981">
              <a:alpha val="14000"/>
            </a:srgbClr>
          </a:solidFill>
          <a:ln/>
        </p:spPr>
      </p:sp>
      <p:pic>
        <p:nvPicPr>
          <p:cNvPr id="1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1050" y="3219012"/>
            <a:ext cx="190500" cy="190500"/>
          </a:xfrm>
          <a:prstGeom prst="rect">
            <a:avLst/>
          </a:prstGeom>
        </p:spPr>
      </p:pic>
      <p:sp>
        <p:nvSpPr>
          <p:cNvPr id="18" name="Text 14"/>
          <p:cNvSpPr/>
          <p:nvPr/>
        </p:nvSpPr>
        <p:spPr>
          <a:xfrm>
            <a:off x="1200150" y="3123762"/>
            <a:ext cx="527483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34D399"/>
                </a:solidFill>
                <a:latin typeface="Inter"/>
                <a:ea typeface="Inter"/>
                <a:cs typeface="Inter"/>
              </a:rPr>
              <a:t>What it changes</a:t>
            </a:r>
            <a:endParaRPr lang="en-US" sz="1600" dirty="0"/>
          </a:p>
        </p:txBody>
      </p:sp>
      <p:sp>
        <p:nvSpPr>
          <p:cNvPr id="19" name="Text 15"/>
          <p:cNvSpPr/>
          <p:nvPr/>
        </p:nvSpPr>
        <p:spPr>
          <a:xfrm>
            <a:off x="685800" y="3694039"/>
            <a:ext cx="5846333"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The notebook becomes the project's folder inside a conversation: the Anchor Project's sources travel with the chat</a:t>
            </a:r>
            <a:endParaRPr lang="en-US" sz="1300" dirty="0"/>
          </a:p>
        </p:txBody>
      </p:sp>
      <p:sp>
        <p:nvSpPr>
          <p:cNvPr id="20" name="Text 16"/>
          <p:cNvSpPr/>
          <p:nvPr/>
        </p:nvSpPr>
        <p:spPr>
          <a:xfrm>
            <a:off x="685800" y="4360723"/>
            <a:ext cx="5846333"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Persistent context again, one level up — a Gem knows how you work, a notebook knows what you are working from</a:t>
            </a:r>
            <a:endParaRPr lang="en-US" sz="1300" dirty="0"/>
          </a:p>
        </p:txBody>
      </p:sp>
      <p:sp>
        <p:nvSpPr>
          <p:cNvPr id="21" name="Shape 17"/>
          <p:cNvSpPr/>
          <p:nvPr/>
        </p:nvSpPr>
        <p:spPr>
          <a:xfrm>
            <a:off x="6972300" y="2895162"/>
            <a:ext cx="6286500" cy="2705100"/>
          </a:xfrm>
          <a:prstGeom prst="roundRect">
            <a:avLst>
              <a:gd name="adj" fmla="val 2327"/>
            </a:avLst>
          </a:prstGeom>
          <a:gradFill rotWithShape="1">
            <a:gsLst>
              <a:gs pos="0">
                <a:srgbClr val="EF4444"/>
              </a:gs>
              <a:gs pos="464">
                <a:srgbClr val="EF4444"/>
              </a:gs>
              <a:gs pos="465">
                <a:srgbClr val="FFFFFF">
                  <a:alpha val="5000"/>
                </a:srgbClr>
              </a:gs>
              <a:gs pos="100000">
                <a:srgbClr val="FFFFFF">
                  <a:alpha val="2500"/>
                </a:srgbClr>
              </a:gs>
            </a:gsLst>
            <a:lin ang="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2" name="Shape 18"/>
          <p:cNvSpPr/>
          <p:nvPr/>
        </p:nvSpPr>
        <p:spPr>
          <a:xfrm>
            <a:off x="7200900" y="3123762"/>
            <a:ext cx="381000" cy="381000"/>
          </a:xfrm>
          <a:prstGeom prst="roundRect">
            <a:avLst>
              <a:gd name="adj" fmla="val 25000"/>
            </a:avLst>
          </a:prstGeom>
          <a:solidFill>
            <a:srgbClr val="EF4444">
              <a:alpha val="14000"/>
            </a:srgbClr>
          </a:solidFill>
          <a:ln/>
        </p:spPr>
      </p:sp>
      <p:pic>
        <p:nvPicPr>
          <p:cNvPr id="2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96150" y="3219012"/>
            <a:ext cx="190500" cy="190500"/>
          </a:xfrm>
          <a:prstGeom prst="rect">
            <a:avLst/>
          </a:prstGeom>
        </p:spPr>
      </p:pic>
      <p:sp>
        <p:nvSpPr>
          <p:cNvPr id="24" name="Text 19"/>
          <p:cNvSpPr/>
          <p:nvPr/>
        </p:nvSpPr>
        <p:spPr>
          <a:xfrm>
            <a:off x="7715250" y="3123762"/>
            <a:ext cx="5285416"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87171"/>
                </a:solidFill>
                <a:latin typeface="Inter"/>
                <a:ea typeface="Inter"/>
                <a:cs typeface="Inter"/>
              </a:rPr>
              <a:t>Check before you promise it</a:t>
            </a:r>
            <a:endParaRPr lang="en-US" sz="1600" dirty="0"/>
          </a:p>
        </p:txBody>
      </p:sp>
      <p:sp>
        <p:nvSpPr>
          <p:cNvPr id="25" name="Text 20"/>
          <p:cNvSpPr/>
          <p:nvPr/>
        </p:nvSpPr>
        <p:spPr>
          <a:xfrm>
            <a:off x="7200900" y="3694039"/>
            <a:ext cx="5856916" cy="82867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Google folded NotebookLM into the Gemini family in 2026 — the product itself was renamed “Gemini Notebook” in mid-2026, and the notebook-to-chat link arrived on paid plans first</a:t>
            </a:r>
            <a:endParaRPr lang="en-US" sz="1300" dirty="0"/>
          </a:p>
        </p:txBody>
      </p:sp>
      <p:sp>
        <p:nvSpPr>
          <p:cNvPr id="26" name="Text 21"/>
          <p:cNvSpPr/>
          <p:nvPr/>
        </p:nvSpPr>
        <p:spPr>
          <a:xfrm>
            <a:off x="7200900" y="4617898"/>
            <a:ext cx="5856916"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Any step of this that is paid-only on the day is marked on the slide before delivery</a:t>
            </a:r>
            <a:endParaRPr lang="en-US" sz="1300" dirty="0"/>
          </a:p>
        </p:txBody>
      </p:sp>
      <p:sp>
        <p:nvSpPr>
          <p:cNvPr id="27" name="Shape 22"/>
          <p:cNvSpPr/>
          <p:nvPr/>
        </p:nvSpPr>
        <p:spPr>
          <a:xfrm>
            <a:off x="457200" y="6991350"/>
            <a:ext cx="12801600" cy="9525"/>
          </a:xfrm>
          <a:prstGeom prst="rect">
            <a:avLst/>
          </a:prstGeom>
          <a:solidFill>
            <a:srgbClr val="FFFFFF">
              <a:alpha val="7000"/>
            </a:srgbClr>
          </a:solidFill>
          <a:ln/>
        </p:spPr>
      </p:sp>
      <p:sp>
        <p:nvSpPr>
          <p:cNvPr id="28" name="Text 23"/>
          <p:cNvSpPr/>
          <p:nvPr/>
        </p:nvSpPr>
        <p:spPr>
          <a:xfrm>
            <a:off x="457200" y="6029846"/>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Next week: the notebook itself. Today: what it is for</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Shape 2"/>
          <p:cNvSpPr/>
          <p:nvPr/>
        </p:nvSpPr>
        <p:spPr>
          <a:xfrm>
            <a:off x="457200" y="457200"/>
            <a:ext cx="2705034" cy="304800"/>
          </a:xfrm>
          <a:prstGeom prst="roundRect">
            <a:avLst>
              <a:gd name="adj" fmla="val 50000"/>
            </a:avLst>
          </a:prstGeom>
          <a:solidFill>
            <a:srgbClr val="3B82F6">
              <a:alpha val="14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542958"/>
            <a:ext cx="133284" cy="133284"/>
          </a:xfrm>
          <a:prstGeom prst="rect">
            <a:avLst/>
          </a:prstGeom>
        </p:spPr>
      </p:pic>
      <p:sp>
        <p:nvSpPr>
          <p:cNvPr id="6" name="Text 3"/>
          <p:cNvSpPr/>
          <p:nvPr/>
        </p:nvSpPr>
        <p:spPr>
          <a:xfrm>
            <a:off x="819084" y="514350"/>
            <a:ext cx="2190750" cy="190500"/>
          </a:xfrm>
          <a:prstGeom prst="rect">
            <a:avLst/>
          </a:prstGeom>
          <a:noFill/>
          <a:ln/>
        </p:spPr>
        <p:txBody>
          <a:bodyPr wrap="square" lIns="0" tIns="0" rIns="0" bIns="0" rtlCol="0" anchor="t">
            <a:normAutofit/>
          </a:bodyPr>
          <a:lstStyle/>
          <a:p>
            <a:pPr marL="0" indent="0" algn="l">
              <a:lnSpc>
                <a:spcPct val="120000"/>
              </a:lnSpc>
              <a:buNone/>
            </a:pPr>
            <a:r>
              <a:rPr lang="en-US" sz="900" b="1" kern="1200" spc="72" dirty="0">
                <a:solidFill>
                  <a:srgbClr val="60A5FA"/>
                </a:solidFill>
                <a:latin typeface="JetBrains Mono"/>
                <a:ea typeface="JetBrains Mono"/>
                <a:cs typeface="JetBrains Mono"/>
              </a:rPr>
              <a:t>DAILY DRIVER · GOOGLE GEMINI</a:t>
            </a:r>
            <a:endParaRPr lang="en-US" sz="900" dirty="0"/>
          </a:p>
        </p:txBody>
      </p:sp>
      <p:sp>
        <p:nvSpPr>
          <p:cNvPr id="7" name="Text 4"/>
          <p:cNvSpPr/>
          <p:nvPr/>
        </p:nvSpPr>
        <p:spPr>
          <a:xfrm>
            <a:off x="457200" y="8763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Chaining what you have just seen</a:t>
            </a:r>
            <a:endParaRPr lang="en-US" sz="3200" dirty="0"/>
          </a:p>
        </p:txBody>
      </p:sp>
      <p:sp>
        <p:nvSpPr>
          <p:cNvPr id="8" name="Text 5"/>
          <p:cNvSpPr/>
          <p:nvPr/>
        </p:nvSpPr>
        <p:spPr>
          <a:xfrm>
            <a:off x="457200" y="1495425"/>
            <a:ext cx="128016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No single capability on its own is the interesting part. Two of them in a row, with a reason for the order, is a workflow.</a:t>
            </a:r>
            <a:endParaRPr lang="en-US" sz="1300" dirty="0"/>
          </a:p>
        </p:txBody>
      </p:sp>
      <p:sp>
        <p:nvSpPr>
          <p:cNvPr id="9" name="Shape 6"/>
          <p:cNvSpPr/>
          <p:nvPr/>
        </p:nvSpPr>
        <p:spPr>
          <a:xfrm>
            <a:off x="457200" y="2151670"/>
            <a:ext cx="6286500" cy="2952750"/>
          </a:xfrm>
          <a:prstGeom prst="roundRect">
            <a:avLst>
              <a:gd name="adj" fmla="val 2683"/>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0" name="Shape 7"/>
          <p:cNvSpPr/>
          <p:nvPr/>
        </p:nvSpPr>
        <p:spPr>
          <a:xfrm>
            <a:off x="457200" y="5094895"/>
            <a:ext cx="6286500" cy="9525"/>
          </a:xfrm>
          <a:prstGeom prst="rect">
            <a:avLst/>
          </a:prstGeom>
          <a:solidFill>
            <a:srgbClr val="FFFFFF">
              <a:alpha val="8000"/>
            </a:srgbClr>
          </a:solidFill>
          <a:ln/>
        </p:spPr>
      </p:sp>
      <p:sp>
        <p:nvSpPr>
          <p:cNvPr id="11" name="Shape 8"/>
          <p:cNvSpPr/>
          <p:nvPr/>
        </p:nvSpPr>
        <p:spPr>
          <a:xfrm>
            <a:off x="457200" y="2151670"/>
            <a:ext cx="6286500" cy="9525"/>
          </a:xfrm>
          <a:prstGeom prst="rect">
            <a:avLst/>
          </a:prstGeom>
          <a:solidFill>
            <a:srgbClr val="FFFFFF">
              <a:alpha val="8000"/>
            </a:srgbClr>
          </a:solidFill>
          <a:ln/>
        </p:spPr>
      </p:sp>
      <p:sp>
        <p:nvSpPr>
          <p:cNvPr id="12" name="Shape 9"/>
          <p:cNvSpPr/>
          <p:nvPr/>
        </p:nvSpPr>
        <p:spPr>
          <a:xfrm>
            <a:off x="457200" y="2246920"/>
            <a:ext cx="28575" cy="2762250"/>
          </a:xfrm>
          <a:prstGeom prst="rect">
            <a:avLst/>
          </a:prstGeom>
          <a:solidFill>
            <a:srgbClr val="3B82F6"/>
          </a:solidFill>
          <a:ln/>
        </p:spPr>
      </p:sp>
      <p:sp>
        <p:nvSpPr>
          <p:cNvPr id="13" name="Shape 10"/>
          <p:cNvSpPr/>
          <p:nvPr/>
        </p:nvSpPr>
        <p:spPr>
          <a:xfrm>
            <a:off x="6734175" y="2246920"/>
            <a:ext cx="9525" cy="2762250"/>
          </a:xfrm>
          <a:prstGeom prst="rect">
            <a:avLst/>
          </a:prstGeom>
          <a:solidFill>
            <a:srgbClr val="FFFFFF">
              <a:alpha val="8000"/>
            </a:srgbClr>
          </a:solidFill>
          <a:ln/>
        </p:spPr>
      </p:sp>
      <p:sp>
        <p:nvSpPr>
          <p:cNvPr id="14" name="Shape 11"/>
          <p:cNvSpPr/>
          <p:nvPr/>
        </p:nvSpPr>
        <p:spPr>
          <a:xfrm>
            <a:off x="685800" y="2380270"/>
            <a:ext cx="381000" cy="381000"/>
          </a:xfrm>
          <a:prstGeom prst="roundRect">
            <a:avLst>
              <a:gd name="adj" fmla="val 25000"/>
            </a:avLst>
          </a:prstGeom>
          <a:solidFill>
            <a:srgbClr val="3B82F6">
              <a:alpha val="14000"/>
            </a:srgbClr>
          </a:solidFill>
          <a:ln/>
        </p:spPr>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1050" y="2475520"/>
            <a:ext cx="190500" cy="190500"/>
          </a:xfrm>
          <a:prstGeom prst="rect">
            <a:avLst/>
          </a:prstGeom>
        </p:spPr>
      </p:pic>
      <p:sp>
        <p:nvSpPr>
          <p:cNvPr id="16" name="Text 12"/>
          <p:cNvSpPr/>
          <p:nvPr/>
        </p:nvSpPr>
        <p:spPr>
          <a:xfrm>
            <a:off x="1200150" y="2380270"/>
            <a:ext cx="527483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60A5FA"/>
                </a:solidFill>
                <a:latin typeface="Inter"/>
                <a:ea typeface="Inter"/>
                <a:cs typeface="Inter"/>
              </a:rPr>
              <a:t>Upload → Gem → Canvas</a:t>
            </a:r>
            <a:endParaRPr lang="en-US" sz="1600" dirty="0"/>
          </a:p>
        </p:txBody>
      </p:sp>
      <p:sp>
        <p:nvSpPr>
          <p:cNvPr id="17" name="Text 13"/>
          <p:cNvSpPr/>
          <p:nvPr/>
        </p:nvSpPr>
        <p:spPr>
          <a:xfrm>
            <a:off x="685800" y="2969564"/>
            <a:ext cx="5846333"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Upload the anonymised call document and read the eligibility criteria out of it</a:t>
            </a:r>
            <a:endParaRPr lang="en-US" sz="1300" dirty="0"/>
          </a:p>
        </p:txBody>
      </p:sp>
      <p:sp>
        <p:nvSpPr>
          <p:cNvPr id="18" name="Text 14"/>
          <p:cNvSpPr/>
          <p:nvPr/>
        </p:nvSpPr>
        <p:spPr>
          <a:xfrm>
            <a:off x="685800" y="3636248"/>
            <a:ext cx="5846333"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Put the project's standing context in a Gem, so the next chat starts where this one ended</a:t>
            </a:r>
            <a:endParaRPr lang="en-US" sz="1300" dirty="0"/>
          </a:p>
        </p:txBody>
      </p:sp>
      <p:sp>
        <p:nvSpPr>
          <p:cNvPr id="19" name="Text 15"/>
          <p:cNvSpPr/>
          <p:nvPr/>
        </p:nvSpPr>
        <p:spPr>
          <a:xfrm>
            <a:off x="685800" y="4302932"/>
            <a:ext cx="5846333"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Draft the presentation in Canvas, from a workspace that already knows the project</a:t>
            </a:r>
            <a:endParaRPr lang="en-US" sz="1300" dirty="0"/>
          </a:p>
        </p:txBody>
      </p:sp>
      <p:sp>
        <p:nvSpPr>
          <p:cNvPr id="20" name="Shape 16"/>
          <p:cNvSpPr/>
          <p:nvPr/>
        </p:nvSpPr>
        <p:spPr>
          <a:xfrm>
            <a:off x="6972300" y="2151670"/>
            <a:ext cx="6286500" cy="2952750"/>
          </a:xfrm>
          <a:prstGeom prst="roundRect">
            <a:avLst>
              <a:gd name="adj" fmla="val 2683"/>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1" name="Shape 17"/>
          <p:cNvSpPr/>
          <p:nvPr/>
        </p:nvSpPr>
        <p:spPr>
          <a:xfrm>
            <a:off x="6972300" y="5094895"/>
            <a:ext cx="6286500" cy="9525"/>
          </a:xfrm>
          <a:prstGeom prst="rect">
            <a:avLst/>
          </a:prstGeom>
          <a:solidFill>
            <a:srgbClr val="FFFFFF">
              <a:alpha val="8000"/>
            </a:srgbClr>
          </a:solidFill>
          <a:ln/>
        </p:spPr>
      </p:sp>
      <p:sp>
        <p:nvSpPr>
          <p:cNvPr id="22" name="Shape 18"/>
          <p:cNvSpPr/>
          <p:nvPr/>
        </p:nvSpPr>
        <p:spPr>
          <a:xfrm>
            <a:off x="6972300" y="2151670"/>
            <a:ext cx="6286500" cy="9525"/>
          </a:xfrm>
          <a:prstGeom prst="rect">
            <a:avLst/>
          </a:prstGeom>
          <a:solidFill>
            <a:srgbClr val="FFFFFF">
              <a:alpha val="8000"/>
            </a:srgbClr>
          </a:solidFill>
          <a:ln/>
        </p:spPr>
      </p:sp>
      <p:sp>
        <p:nvSpPr>
          <p:cNvPr id="23" name="Shape 19"/>
          <p:cNvSpPr/>
          <p:nvPr/>
        </p:nvSpPr>
        <p:spPr>
          <a:xfrm>
            <a:off x="6972300" y="2246920"/>
            <a:ext cx="28575" cy="2762250"/>
          </a:xfrm>
          <a:prstGeom prst="rect">
            <a:avLst/>
          </a:prstGeom>
          <a:solidFill>
            <a:srgbClr val="10B981"/>
          </a:solidFill>
          <a:ln/>
        </p:spPr>
      </p:sp>
      <p:sp>
        <p:nvSpPr>
          <p:cNvPr id="24" name="Shape 20"/>
          <p:cNvSpPr/>
          <p:nvPr/>
        </p:nvSpPr>
        <p:spPr>
          <a:xfrm>
            <a:off x="13249275" y="2246920"/>
            <a:ext cx="9525" cy="2762250"/>
          </a:xfrm>
          <a:prstGeom prst="rect">
            <a:avLst/>
          </a:prstGeom>
          <a:solidFill>
            <a:srgbClr val="FFFFFF">
              <a:alpha val="8000"/>
            </a:srgbClr>
          </a:solidFill>
          <a:ln/>
        </p:spPr>
      </p:sp>
      <p:sp>
        <p:nvSpPr>
          <p:cNvPr id="25" name="Shape 21"/>
          <p:cNvSpPr/>
          <p:nvPr/>
        </p:nvSpPr>
        <p:spPr>
          <a:xfrm>
            <a:off x="7200900" y="2637445"/>
            <a:ext cx="381000" cy="381000"/>
          </a:xfrm>
          <a:prstGeom prst="roundRect">
            <a:avLst>
              <a:gd name="adj" fmla="val 25000"/>
            </a:avLst>
          </a:prstGeom>
          <a:solidFill>
            <a:srgbClr val="10B981">
              <a:alpha val="14000"/>
            </a:srgbClr>
          </a:solidFill>
          <a:ln/>
        </p:spPr>
      </p:sp>
      <p:pic>
        <p:nvPicPr>
          <p:cNvPr id="2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96150" y="2732695"/>
            <a:ext cx="190500" cy="190500"/>
          </a:xfrm>
          <a:prstGeom prst="rect">
            <a:avLst/>
          </a:prstGeom>
        </p:spPr>
      </p:pic>
      <p:sp>
        <p:nvSpPr>
          <p:cNvPr id="27" name="Text 22"/>
          <p:cNvSpPr/>
          <p:nvPr/>
        </p:nvSpPr>
        <p:spPr>
          <a:xfrm>
            <a:off x="7715250" y="2637445"/>
            <a:ext cx="527483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34D399"/>
                </a:solidFill>
                <a:latin typeface="Inter"/>
                <a:ea typeface="Inter"/>
                <a:cs typeface="Inter"/>
              </a:rPr>
              <a:t>Notebook → chat → draft</a:t>
            </a:r>
            <a:endParaRPr lang="en-US" sz="1600" dirty="0"/>
          </a:p>
        </p:txBody>
      </p:sp>
      <p:sp>
        <p:nvSpPr>
          <p:cNvPr id="28" name="Text 23"/>
          <p:cNvSpPr/>
          <p:nvPr/>
        </p:nvSpPr>
        <p:spPr>
          <a:xfrm>
            <a:off x="7200900" y="3226739"/>
            <a:ext cx="5846333"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Aggregate the call's four documents in one notebook, source-grounded</a:t>
            </a:r>
            <a:endParaRPr lang="en-US" sz="1300" dirty="0"/>
          </a:p>
        </p:txBody>
      </p:sp>
      <p:sp>
        <p:nvSpPr>
          <p:cNvPr id="29" name="Text 24"/>
          <p:cNvSpPr/>
          <p:nvPr/>
        </p:nvSpPr>
        <p:spPr>
          <a:xfrm>
            <a:off x="7200900" y="3636248"/>
            <a:ext cx="5846333"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Link the notebook into a chat as the project's folder</a:t>
            </a:r>
            <a:endParaRPr lang="en-US" sz="1300" dirty="0"/>
          </a:p>
        </p:txBody>
      </p:sp>
      <p:sp>
        <p:nvSpPr>
          <p:cNvPr id="30" name="Text 25"/>
          <p:cNvSpPr/>
          <p:nvPr/>
        </p:nvSpPr>
        <p:spPr>
          <a:xfrm>
            <a:off x="7200900" y="4045757"/>
            <a:ext cx="5846333"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Draft from sources you can cite, instead of from a conversation you have to trust</a:t>
            </a:r>
            <a:endParaRPr lang="en-US" sz="1300" dirty="0"/>
          </a:p>
        </p:txBody>
      </p:sp>
      <p:sp>
        <p:nvSpPr>
          <p:cNvPr id="31" name="Shape 26"/>
          <p:cNvSpPr/>
          <p:nvPr/>
        </p:nvSpPr>
        <p:spPr>
          <a:xfrm>
            <a:off x="457200" y="5523520"/>
            <a:ext cx="12801600" cy="895350"/>
          </a:xfrm>
          <a:prstGeom prst="roundRect">
            <a:avLst>
              <a:gd name="adj" fmla="val 13526"/>
            </a:avLst>
          </a:prstGeom>
          <a:gradFill rotWithShape="1">
            <a:gsLst>
              <a:gs pos="0">
                <a:srgbClr val="3B82F6"/>
              </a:gs>
              <a:gs pos="227">
                <a:srgbClr val="3B82F6"/>
              </a:gs>
              <a:gs pos="228">
                <a:srgbClr val="FFFFFF">
                  <a:alpha val="5000"/>
                </a:srgbClr>
              </a:gs>
              <a:gs pos="100000">
                <a:srgbClr val="FFFFFF">
                  <a:alpha val="2500"/>
                </a:srgbClr>
              </a:gs>
            </a:gsLst>
            <a:lin ang="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2" name="Text 27"/>
          <p:cNvSpPr/>
          <p:nvPr/>
        </p:nvSpPr>
        <p:spPr>
          <a:xfrm>
            <a:off x="685800" y="5723545"/>
            <a:ext cx="2266950"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This is the assignment</a:t>
            </a:r>
            <a:endParaRPr lang="en-US" sz="1600" dirty="0"/>
          </a:p>
        </p:txBody>
      </p:sp>
      <p:sp>
        <p:nvSpPr>
          <p:cNvPr id="33" name="Text 28"/>
          <p:cNvSpPr/>
          <p:nvPr/>
        </p:nvSpPr>
        <p:spPr>
          <a:xfrm>
            <a:off x="3067050" y="5723545"/>
            <a:ext cx="10009783"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Next segment: chain the tools and capabilities from both weeks into one workflow, and justify every step — which tool, why that one, and what the step before it had to produce.</a:t>
            </a:r>
            <a:endParaRPr lang="en-US" sz="1100" dirty="0"/>
          </a:p>
        </p:txBody>
      </p:sp>
      <p:sp>
        <p:nvSpPr>
          <p:cNvPr id="34" name="Text 29"/>
          <p:cNvSpPr/>
          <p:nvPr/>
        </p:nvSpPr>
        <p:spPr>
          <a:xfrm>
            <a:off x="457200" y="6773255"/>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Level 3 was persistent context. Level 4 is orchestration — and the blueprint you write this week is its foundation.</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50000" r="50000" b="100000"/>
            </a:path>
          </a:gradFill>
          <a:ln/>
        </p:spPr>
      </p:sp>
      <p:sp>
        <p:nvSpPr>
          <p:cNvPr id="4" name="Shape 2"/>
          <p:cNvSpPr/>
          <p:nvPr/>
        </p:nvSpPr>
        <p:spPr>
          <a:xfrm>
            <a:off x="457200" y="2895600"/>
            <a:ext cx="914400" cy="914400"/>
          </a:xfrm>
          <a:prstGeom prst="roundRect">
            <a:avLst>
              <a:gd name="adj" fmla="val 12500"/>
            </a:avLst>
          </a:prstGeom>
          <a:solidFill>
            <a:srgbClr val="2563EB"/>
          </a:solidFill>
          <a:ln/>
          <a:effectLst>
            <a:glow rad="190500">
              <a:srgbClr val="3B82F6">
                <a:alpha val="26000"/>
              </a:srgbClr>
            </a:glow>
          </a:effectLst>
        </p:spPr>
      </p:sp>
      <p:sp>
        <p:nvSpPr>
          <p:cNvPr id="5" name="Text 3"/>
          <p:cNvSpPr/>
          <p:nvPr/>
        </p:nvSpPr>
        <p:spPr>
          <a:xfrm>
            <a:off x="457200" y="2895600"/>
            <a:ext cx="914400" cy="914400"/>
          </a:xfrm>
          <a:prstGeom prst="rect">
            <a:avLst/>
          </a:prstGeom>
          <a:noFill/>
          <a:ln/>
        </p:spPr>
        <p:txBody>
          <a:bodyPr wrap="square" lIns="0" tIns="0" rIns="0" bIns="0" rtlCol="0" anchor="ctr">
            <a:normAutofit/>
          </a:bodyPr>
          <a:lstStyle/>
          <a:p>
            <a:pPr marL="0" indent="0" algn="ctr">
              <a:lnSpc>
                <a:spcPct val="98000"/>
              </a:lnSpc>
              <a:buNone/>
            </a:pPr>
            <a:r>
              <a:rPr lang="en-US" sz="4800" b="1" kern="1200" spc="-48" dirty="0">
                <a:solidFill>
                  <a:srgbClr val="FFFFFF"/>
                </a:solidFill>
                <a:latin typeface="JetBrains Mono"/>
                <a:ea typeface="JetBrains Mono"/>
                <a:cs typeface="JetBrains Mono"/>
              </a:rPr>
              <a:t>5</a:t>
            </a:r>
            <a:endParaRPr lang="en-US" sz="4800" dirty="0"/>
          </a:p>
        </p:txBody>
      </p:sp>
      <p:sp>
        <p:nvSpPr>
          <p:cNvPr id="6" name="Text 4"/>
          <p:cNvSpPr/>
          <p:nvPr/>
        </p:nvSpPr>
        <p:spPr>
          <a:xfrm>
            <a:off x="1676400" y="2867025"/>
            <a:ext cx="115824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Assignment briefing + close</a:t>
            </a:r>
            <a:endParaRPr lang="en-US" sz="3200" dirty="0"/>
          </a:p>
        </p:txBody>
      </p:sp>
      <p:sp>
        <p:nvSpPr>
          <p:cNvPr id="7" name="Text 5"/>
          <p:cNvSpPr/>
          <p:nvPr/>
        </p:nvSpPr>
        <p:spPr>
          <a:xfrm>
            <a:off x="1676400" y="3505200"/>
            <a:ext cx="11582400" cy="33337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JetBrains Mono"/>
                <a:ea typeface="JetBrains Mono"/>
                <a:cs typeface="JetBrains Mono"/>
              </a:rPr>
              <a:t>Segment 5 of 5</a:t>
            </a:r>
            <a:endParaRPr lang="en-US" sz="1300" dirty="0"/>
          </a:p>
        </p:txBody>
      </p:sp>
      <p:sp>
        <p:nvSpPr>
          <p:cNvPr id="8" name="Shape 6"/>
          <p:cNvSpPr/>
          <p:nvPr/>
        </p:nvSpPr>
        <p:spPr>
          <a:xfrm>
            <a:off x="1676400" y="4086225"/>
            <a:ext cx="2647851" cy="304800"/>
          </a:xfrm>
          <a:prstGeom prst="roundRect">
            <a:avLst>
              <a:gd name="adj" fmla="val 50000"/>
            </a:avLst>
          </a:prstGeom>
          <a:solidFill>
            <a:srgbClr val="3B82F6">
              <a:alpha val="14000"/>
            </a:srgbClr>
          </a:solidFill>
          <a:ln w="10583">
            <a:solidFill>
              <a:srgbClr val="3B82F6">
                <a:alpha val="35000"/>
              </a:srgbClr>
            </a:solidFill>
            <a:prstDash val="solid"/>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28800" y="4162475"/>
            <a:ext cx="152301" cy="152301"/>
          </a:xfrm>
          <a:prstGeom prst="rect">
            <a:avLst/>
          </a:prstGeom>
        </p:spPr>
      </p:pic>
      <p:sp>
        <p:nvSpPr>
          <p:cNvPr id="10" name="Text 7"/>
          <p:cNvSpPr/>
          <p:nvPr/>
        </p:nvSpPr>
        <p:spPr>
          <a:xfrm>
            <a:off x="2057301" y="4105275"/>
            <a:ext cx="2114550" cy="266700"/>
          </a:xfrm>
          <a:prstGeom prst="rect">
            <a:avLst/>
          </a:prstGeom>
          <a:noFill/>
          <a:ln/>
        </p:spPr>
        <p:txBody>
          <a:bodyPr wrap="square" lIns="0" tIns="0" rIns="0" bIns="0" rtlCol="0" anchor="t">
            <a:normAutofit/>
          </a:bodyPr>
          <a:lstStyle/>
          <a:p>
            <a:pPr marL="0" indent="0" algn="l">
              <a:lnSpc>
                <a:spcPct val="125000"/>
              </a:lnSpc>
              <a:buNone/>
            </a:pPr>
            <a:r>
              <a:rPr lang="en-US" sz="1300" kern="1200" dirty="0">
                <a:solidFill>
                  <a:srgbClr val="60A5FA"/>
                </a:solidFill>
                <a:latin typeface="Inter"/>
                <a:ea typeface="Inter"/>
                <a:cs typeface="Inter"/>
              </a:rPr>
              <a:t>8 min · Presentation + Q&amp;A</a:t>
            </a:r>
            <a:endParaRPr lang="en-US" sz="1300" dirty="0"/>
          </a:p>
        </p:txBody>
      </p:sp>
      <p:sp>
        <p:nvSpPr>
          <p:cNvPr id="11" name="Text 8"/>
          <p:cNvSpPr/>
          <p:nvPr/>
        </p:nvSpPr>
        <p:spPr>
          <a:xfrm>
            <a:off x="457200" y="7138988"/>
            <a:ext cx="2466760" cy="238125"/>
          </a:xfrm>
          <a:prstGeom prst="rect">
            <a:avLst/>
          </a:prstGeom>
          <a:noFill/>
          <a:ln/>
        </p:spPr>
        <p:txBody>
          <a:bodyPr wrap="square" lIns="25400" tIns="25400" rIns="25400" bIns="25400" rtlCol="0" anchor="t">
            <a:normAutofit/>
          </a:bodyPr>
          <a:lstStyle/>
          <a:p>
            <a:pPr marL="0" indent="0" algn="l">
              <a:lnSpc>
                <a:spcPct val="120000"/>
              </a:lnSpc>
              <a:buNone/>
            </a:pPr>
            <a:r>
              <a:rPr lang="en-US" sz="900" kern="1200" dirty="0">
                <a:solidFill>
                  <a:srgbClr val="64748B"/>
                </a:solidFill>
                <a:latin typeface="JetBrains Mono"/>
                <a:ea typeface="JetBrains Mono"/>
                <a:cs typeface="JetBrains Mono"/>
              </a:rPr>
              <a:t>AI Research Management • Lesson 2</a:t>
            </a:r>
            <a:endParaRPr lang="en-US" sz="900" dirty="0"/>
          </a:p>
        </p:txBody>
      </p:sp>
      <p:sp>
        <p:nvSpPr>
          <p:cNvPr id="12" name="Text 9"/>
          <p:cNvSpPr/>
          <p:nvPr/>
        </p:nvSpPr>
        <p:spPr>
          <a:xfrm>
            <a:off x="9991758" y="7162800"/>
            <a:ext cx="561975" cy="190500"/>
          </a:xfrm>
          <a:prstGeom prst="rect">
            <a:avLst/>
          </a:prstGeom>
          <a:noFill/>
          <a:ln/>
        </p:spPr>
        <p:txBody>
          <a:bodyPr wrap="square" lIns="0" tIns="0" rIns="0" bIns="0" rtlCol="0" anchor="t">
            <a:normAutofit/>
          </a:bodyPr>
          <a:lstStyle/>
          <a:p>
            <a:pPr marL="0" indent="0" algn="l">
              <a:lnSpc>
                <a:spcPct val="120000"/>
              </a:lnSpc>
              <a:buNone/>
            </a:pPr>
            <a:r>
              <a:rPr lang="en-US" sz="900" kern="1200" dirty="0">
                <a:solidFill>
                  <a:srgbClr val="64748B"/>
                </a:solidFill>
                <a:latin typeface="JetBrains Mono"/>
                <a:ea typeface="JetBrains Mono"/>
                <a:cs typeface="JetBrains Mono"/>
              </a:rPr>
              <a:t>Progress</a:t>
            </a:r>
            <a:endParaRPr lang="en-US" sz="900" dirty="0"/>
          </a:p>
        </p:txBody>
      </p:sp>
      <p:sp>
        <p:nvSpPr>
          <p:cNvPr id="13" name="Shape 10"/>
          <p:cNvSpPr/>
          <p:nvPr/>
        </p:nvSpPr>
        <p:spPr>
          <a:xfrm>
            <a:off x="10668033" y="7239033"/>
            <a:ext cx="2064808" cy="38034"/>
          </a:xfrm>
          <a:prstGeom prst="roundRect">
            <a:avLst>
              <a:gd name="adj" fmla="val 50000"/>
            </a:avLst>
          </a:prstGeom>
          <a:solidFill>
            <a:srgbClr val="FFFFFF">
              <a:alpha val="6000"/>
            </a:srgbClr>
          </a:solidFill>
          <a:ln/>
        </p:spPr>
      </p:sp>
      <p:sp>
        <p:nvSpPr>
          <p:cNvPr id="14" name="Shape 11"/>
          <p:cNvSpPr/>
          <p:nvPr/>
        </p:nvSpPr>
        <p:spPr>
          <a:xfrm>
            <a:off x="10668033" y="7239033"/>
            <a:ext cx="2064808" cy="38034"/>
          </a:xfrm>
          <a:prstGeom prst="roundRect">
            <a:avLst>
              <a:gd name="adj" fmla="val 50000"/>
            </a:avLst>
          </a:prstGeom>
          <a:solidFill>
            <a:srgbClr val="3B82F6"/>
          </a:solidFill>
          <a:ln/>
          <a:effectLst>
            <a:glow rad="190500">
              <a:srgbClr val="3B82F6">
                <a:alpha val="26000"/>
              </a:srgbClr>
            </a:glow>
          </a:effectLst>
        </p:spPr>
      </p:sp>
      <p:sp>
        <p:nvSpPr>
          <p:cNvPr id="15" name="Text 12"/>
          <p:cNvSpPr/>
          <p:nvPr/>
        </p:nvSpPr>
        <p:spPr>
          <a:xfrm>
            <a:off x="12877800" y="7138988"/>
            <a:ext cx="381000" cy="238125"/>
          </a:xfrm>
          <a:prstGeom prst="rect">
            <a:avLst/>
          </a:prstGeom>
          <a:noFill/>
          <a:ln/>
        </p:spPr>
        <p:txBody>
          <a:bodyPr wrap="square" lIns="25400" tIns="25400" rIns="25400" bIns="25400" rtlCol="0" anchor="t">
            <a:normAutofit/>
          </a:bodyPr>
          <a:lstStyle/>
          <a:p>
            <a:pPr marL="0" indent="0" algn="l">
              <a:lnSpc>
                <a:spcPct val="120000"/>
              </a:lnSpc>
              <a:buNone/>
            </a:pPr>
            <a:r>
              <a:rPr lang="en-US" sz="900" kern="1200" dirty="0">
                <a:solidFill>
                  <a:srgbClr val="94A3B8"/>
                </a:solidFill>
                <a:latin typeface="JetBrains Mono"/>
                <a:ea typeface="JetBrains Mono"/>
                <a:cs typeface="JetBrains Mono"/>
              </a:rPr>
              <a:t>100%</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3994"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Text 2"/>
          <p:cNvSpPr/>
          <p:nvPr/>
        </p:nvSpPr>
        <p:spPr>
          <a:xfrm>
            <a:off x="457068" y="457068"/>
            <a:ext cx="14081688" cy="530225"/>
          </a:xfrm>
          <a:prstGeom prst="rect">
            <a:avLst/>
          </a:prstGeom>
          <a:noFill/>
          <a:ln/>
        </p:spPr>
        <p:txBody>
          <a:bodyPr wrap="square" lIns="25400" tIns="25400" rIns="25400" bIns="25400" rtlCol="0" anchor="t">
            <a:normAutofit/>
          </a:bodyPr>
          <a:lstStyle/>
          <a:p>
            <a:pPr marL="0" indent="0" algn="l">
              <a:lnSpc>
                <a:spcPct val="101088"/>
              </a:lnSpc>
              <a:buNone/>
            </a:pPr>
            <a:r>
              <a:rPr lang="en-US" sz="3203" b="1" dirty="0">
                <a:solidFill>
                  <a:srgbClr val="FFFFFF"/>
                </a:solidFill>
                <a:latin typeface="Inter" pitchFamily="34" charset="0"/>
                <a:ea typeface="Inter" pitchFamily="34" charset="-122"/>
                <a:cs typeface="Inter" pitchFamily="34" charset="-120"/>
              </a:rPr>
              <a:t>The roadmap: eight steps, end to end</a:t>
            </a:r>
            <a:endParaRPr lang="en-US" sz="3203" dirty="0"/>
          </a:p>
        </p:txBody>
      </p:sp>
      <p:sp>
        <p:nvSpPr>
          <p:cNvPr id="5" name="Text 3"/>
          <p:cNvSpPr/>
          <p:nvPr/>
        </p:nvSpPr>
        <p:spPr>
          <a:xfrm>
            <a:off x="457068" y="1076193"/>
            <a:ext cx="13185581" cy="460772"/>
          </a:xfrm>
          <a:prstGeom prst="rect">
            <a:avLst/>
          </a:prstGeom>
          <a:noFill/>
          <a:ln/>
        </p:spPr>
        <p:txBody>
          <a:bodyPr wrap="square" lIns="25400" tIns="25400" rIns="25400" bIns="25400" rtlCol="0" anchor="t">
            <a:normAutofit/>
          </a:bodyPr>
          <a:lstStyle/>
          <a:p>
            <a:pPr marL="0" indent="0" algn="l">
              <a:lnSpc>
                <a:spcPct val="124858"/>
              </a:lnSpc>
              <a:buNone/>
            </a:pPr>
            <a:r>
              <a:rPr lang="en-US" sz="1102" dirty="0">
                <a:solidFill>
                  <a:srgbClr val="94A3B8"/>
                </a:solidFill>
                <a:latin typeface="Inter" pitchFamily="34" charset="0"/>
                <a:ea typeface="Inter" pitchFamily="34" charset="-122"/>
                <a:cs typeface="Inter" pitchFamily="34" charset="-120"/>
              </a:rPr>
              <a:t>Three phases: prepare (1–2), gather (3–4), produce (5–8). Each card says which tool runs the step and whether you must run it. The colour is the lane: each step is routed on its own, and no step inherits a lane from the one before it.</a:t>
            </a:r>
            <a:endParaRPr lang="en-US" sz="1102" dirty="0"/>
          </a:p>
        </p:txBody>
      </p:sp>
      <p:sp>
        <p:nvSpPr>
          <p:cNvPr id="6" name="Text 4"/>
          <p:cNvSpPr/>
          <p:nvPr/>
        </p:nvSpPr>
        <p:spPr>
          <a:xfrm>
            <a:off x="457068" y="1562034"/>
            <a:ext cx="14081688" cy="203630"/>
          </a:xfrm>
          <a:prstGeom prst="rect">
            <a:avLst/>
          </a:prstGeom>
          <a:noFill/>
          <a:ln/>
        </p:spPr>
        <p:txBody>
          <a:bodyPr wrap="square" lIns="25400" tIns="25400" rIns="25400" bIns="25400" rtlCol="0" anchor="t">
            <a:normAutofit/>
          </a:bodyPr>
          <a:lstStyle/>
          <a:p>
            <a:pPr marL="0" indent="0" algn="l">
              <a:lnSpc>
                <a:spcPct val="120462"/>
              </a:lnSpc>
              <a:buNone/>
            </a:pPr>
            <a:r>
              <a:rPr lang="en-US" sz="900" b="1" kern="0" spc="72" dirty="0">
                <a:solidFill>
                  <a:srgbClr val="60A5FA"/>
                </a:solidFill>
                <a:latin typeface="Inter" pitchFamily="34" charset="0"/>
                <a:ea typeface="Inter" pitchFamily="34" charset="-122"/>
                <a:cs typeface="Inter" pitchFamily="34" charset="-120"/>
              </a:rPr>
              <a:t>STEPS 1–4 · PREPARE AND GATHER</a:t>
            </a:r>
            <a:endParaRPr lang="en-US" sz="900" dirty="0"/>
          </a:p>
        </p:txBody>
      </p:sp>
      <p:sp>
        <p:nvSpPr>
          <p:cNvPr id="7" name="Shape 5"/>
          <p:cNvSpPr/>
          <p:nvPr/>
        </p:nvSpPr>
        <p:spPr>
          <a:xfrm>
            <a:off x="457068" y="1819176"/>
            <a:ext cx="2381250" cy="1257267"/>
          </a:xfrm>
          <a:prstGeom prst="roundRect">
            <a:avLst>
              <a:gd name="adj" fmla="val 9091"/>
            </a:avLst>
          </a:prstGeom>
          <a:gradFill rotWithShape="1">
            <a:gsLst>
              <a:gs pos="0">
                <a:srgbClr val="FFFFFF">
                  <a:alpha val="11000"/>
                </a:srgbClr>
              </a:gs>
              <a:gs pos="100000">
                <a:srgbClr val="FFFFFF">
                  <a:alpha val="2000"/>
                </a:srgbClr>
              </a:gs>
            </a:gsLst>
            <a:lin ang="5400000" scaled="0"/>
          </a:gradFill>
          <a:ln w="10583">
            <a:solidFill>
              <a:srgbClr val="FFFFFF">
                <a:alpha val="12000"/>
              </a:srgbClr>
            </a:solidFill>
            <a:prstDash val="solid"/>
          </a:ln>
          <a:effectLst>
            <a:outerShdw blurRad="228600" dist="76200" dir="5400000" algn="bl" rotWithShape="0">
              <a:srgbClr val="000000">
                <a:alpha val="25000"/>
              </a:srgbClr>
            </a:outerShdw>
          </a:effectLst>
        </p:spPr>
      </p:sp>
      <p:sp>
        <p:nvSpPr>
          <p:cNvPr id="8" name="Shape 6"/>
          <p:cNvSpPr/>
          <p:nvPr/>
        </p:nvSpPr>
        <p:spPr>
          <a:xfrm>
            <a:off x="457068" y="3067017"/>
            <a:ext cx="2381250" cy="9525"/>
          </a:xfrm>
          <a:prstGeom prst="rect">
            <a:avLst/>
          </a:prstGeom>
          <a:solidFill>
            <a:srgbClr val="FFFFFF">
              <a:alpha val="8000"/>
            </a:srgbClr>
          </a:solidFill>
          <a:ln/>
        </p:spPr>
      </p:sp>
      <p:sp>
        <p:nvSpPr>
          <p:cNvPr id="9" name="Shape 7"/>
          <p:cNvSpPr/>
          <p:nvPr/>
        </p:nvSpPr>
        <p:spPr>
          <a:xfrm>
            <a:off x="457068" y="1819176"/>
            <a:ext cx="2381250" cy="9525"/>
          </a:xfrm>
          <a:prstGeom prst="rect">
            <a:avLst/>
          </a:prstGeom>
          <a:solidFill>
            <a:srgbClr val="FFFFFF">
              <a:alpha val="8000"/>
            </a:srgbClr>
          </a:solidFill>
          <a:ln/>
        </p:spPr>
      </p:sp>
      <p:sp>
        <p:nvSpPr>
          <p:cNvPr id="10" name="Shape 8"/>
          <p:cNvSpPr/>
          <p:nvPr/>
        </p:nvSpPr>
        <p:spPr>
          <a:xfrm>
            <a:off x="457068" y="1914426"/>
            <a:ext cx="28443" cy="1066767"/>
          </a:xfrm>
          <a:prstGeom prst="rect">
            <a:avLst/>
          </a:prstGeom>
          <a:solidFill>
            <a:srgbClr val="3B82F6"/>
          </a:solidFill>
          <a:ln/>
        </p:spPr>
      </p:sp>
      <p:sp>
        <p:nvSpPr>
          <p:cNvPr id="11" name="Shape 9"/>
          <p:cNvSpPr/>
          <p:nvPr/>
        </p:nvSpPr>
        <p:spPr>
          <a:xfrm>
            <a:off x="2828892" y="1914426"/>
            <a:ext cx="9525" cy="1066767"/>
          </a:xfrm>
          <a:prstGeom prst="rect">
            <a:avLst/>
          </a:prstGeom>
          <a:solidFill>
            <a:srgbClr val="FFFFFF">
              <a:alpha val="8000"/>
            </a:srgbClr>
          </a:solidFill>
          <a:ln/>
        </p:spPr>
      </p:sp>
      <p:sp>
        <p:nvSpPr>
          <p:cNvPr id="12" name="Text 10"/>
          <p:cNvSpPr/>
          <p:nvPr/>
        </p:nvSpPr>
        <p:spPr>
          <a:xfrm>
            <a:off x="609534" y="1933443"/>
            <a:ext cx="2283950" cy="203630"/>
          </a:xfrm>
          <a:prstGeom prst="rect">
            <a:avLst/>
          </a:prstGeom>
          <a:noFill/>
          <a:ln/>
        </p:spPr>
        <p:txBody>
          <a:bodyPr wrap="square" lIns="25400" tIns="25400" rIns="25400" bIns="25400" rtlCol="0" anchor="t">
            <a:normAutofit/>
          </a:bodyPr>
          <a:lstStyle/>
          <a:p>
            <a:pPr marL="0" indent="0" algn="l">
              <a:lnSpc>
                <a:spcPct val="120462"/>
              </a:lnSpc>
              <a:buNone/>
            </a:pPr>
            <a:r>
              <a:rPr lang="en-US" sz="900" b="1" kern="0" spc="72" dirty="0">
                <a:solidFill>
                  <a:srgbClr val="64748B"/>
                </a:solidFill>
                <a:latin typeface="Inter" pitchFamily="34" charset="0"/>
                <a:ea typeface="Inter" pitchFamily="34" charset="-122"/>
                <a:cs typeface="Inter" pitchFamily="34" charset="-120"/>
              </a:rPr>
              <a:t>STEP 1</a:t>
            </a:r>
            <a:endParaRPr lang="en-US" sz="900" dirty="0"/>
          </a:p>
        </p:txBody>
      </p:sp>
      <p:sp>
        <p:nvSpPr>
          <p:cNvPr id="13" name="Text 11"/>
          <p:cNvSpPr/>
          <p:nvPr/>
        </p:nvSpPr>
        <p:spPr>
          <a:xfrm>
            <a:off x="5848120" y="2132277"/>
            <a:ext cx="2283950" cy="286643"/>
          </a:xfrm>
          <a:prstGeom prst="rect">
            <a:avLst/>
          </a:prstGeom>
          <a:noFill/>
          <a:ln/>
        </p:spPr>
        <p:txBody>
          <a:bodyPr wrap="square" lIns="25400" tIns="25400" rIns="25400" bIns="25400" rtlCol="0" anchor="t">
            <a:normAutofit/>
          </a:bodyPr>
          <a:lstStyle/>
          <a:p>
            <a:pPr marL="0" indent="0" algn="l">
              <a:lnSpc>
                <a:spcPct val="123741"/>
              </a:lnSpc>
              <a:buNone/>
            </a:pPr>
            <a:r>
              <a:rPr lang="en-US" sz="1298" b="1" dirty="0">
                <a:solidFill>
                  <a:srgbClr val="FFFFFF"/>
                </a:solidFill>
                <a:latin typeface="Inter" pitchFamily="34" charset="0"/>
                <a:ea typeface="Inter" pitchFamily="34" charset="-122"/>
                <a:cs typeface="Inter" pitchFamily="34" charset="-120"/>
              </a:rPr>
              <a:t>Frame the topic</a:t>
            </a:r>
            <a:endParaRPr lang="en-US" sz="1298" dirty="0"/>
          </a:p>
        </p:txBody>
      </p:sp>
      <p:sp>
        <p:nvSpPr>
          <p:cNvPr id="14" name="Text 12"/>
          <p:cNvSpPr/>
          <p:nvPr/>
        </p:nvSpPr>
        <p:spPr>
          <a:xfrm>
            <a:off x="5956292" y="2495335"/>
            <a:ext cx="2283950" cy="249436"/>
          </a:xfrm>
          <a:prstGeom prst="rect">
            <a:avLst/>
          </a:prstGeom>
          <a:noFill/>
          <a:ln/>
        </p:spPr>
        <p:txBody>
          <a:bodyPr wrap="square" lIns="25400" tIns="25400" rIns="25400" bIns="25400" rtlCol="0" anchor="t">
            <a:normAutofit/>
          </a:bodyPr>
          <a:lstStyle/>
          <a:p>
            <a:pPr marL="0" indent="0" algn="l">
              <a:lnSpc>
                <a:spcPct val="124858"/>
              </a:lnSpc>
              <a:buNone/>
            </a:pPr>
            <a:r>
              <a:rPr lang="en-US" sz="1102" dirty="0">
                <a:solidFill>
                  <a:srgbClr val="94A3B8"/>
                </a:solidFill>
                <a:latin typeface="Inter" pitchFamily="34" charset="0"/>
                <a:ea typeface="Inter" pitchFamily="34" charset="-122"/>
                <a:cs typeface="Inter" pitchFamily="34" charset="-120"/>
              </a:rPr>
              <a:t>Gemini · Guided Learning</a:t>
            </a:r>
            <a:endParaRPr lang="en-US" sz="1102" dirty="0"/>
          </a:p>
        </p:txBody>
      </p:sp>
      <p:sp>
        <p:nvSpPr>
          <p:cNvPr id="15" name="Text 13"/>
          <p:cNvSpPr/>
          <p:nvPr/>
        </p:nvSpPr>
        <p:spPr>
          <a:xfrm>
            <a:off x="609534" y="2781267"/>
            <a:ext cx="2283950" cy="203630"/>
          </a:xfrm>
          <a:prstGeom prst="rect">
            <a:avLst/>
          </a:prstGeom>
          <a:noFill/>
          <a:ln/>
        </p:spPr>
        <p:txBody>
          <a:bodyPr wrap="square" lIns="25400" tIns="25400" rIns="25400" bIns="25400" rtlCol="0" anchor="t">
            <a:normAutofit/>
          </a:bodyPr>
          <a:lstStyle/>
          <a:p>
            <a:pPr marL="0" indent="0" algn="l">
              <a:lnSpc>
                <a:spcPct val="120462"/>
              </a:lnSpc>
              <a:buNone/>
            </a:pPr>
            <a:endParaRPr lang="en-US" sz="900" dirty="0"/>
          </a:p>
        </p:txBody>
      </p:sp>
      <p:sp>
        <p:nvSpPr>
          <p:cNvPr id="16" name="Text 14"/>
          <p:cNvSpPr/>
          <p:nvPr/>
        </p:nvSpPr>
        <p:spPr>
          <a:xfrm>
            <a:off x="2828892" y="2257392"/>
            <a:ext cx="419001" cy="286643"/>
          </a:xfrm>
          <a:prstGeom prst="rect">
            <a:avLst/>
          </a:prstGeom>
          <a:noFill/>
          <a:ln/>
        </p:spPr>
        <p:txBody>
          <a:bodyPr wrap="square" lIns="25400" tIns="25400" rIns="25400" bIns="25400" rtlCol="0" anchor="t">
            <a:normAutofit/>
          </a:bodyPr>
          <a:lstStyle/>
          <a:p>
            <a:pPr marL="0" indent="0" algn="l">
              <a:lnSpc>
                <a:spcPct val="123741"/>
              </a:lnSpc>
              <a:buNone/>
            </a:pPr>
            <a:r>
              <a:rPr lang="en-US" sz="1298" dirty="0">
                <a:solidFill>
                  <a:srgbClr val="60A5FA"/>
                </a:solidFill>
                <a:latin typeface="Inter" pitchFamily="34" charset="0"/>
                <a:ea typeface="Inter" pitchFamily="34" charset="-122"/>
                <a:cs typeface="Inter" pitchFamily="34" charset="-120"/>
              </a:rPr>
              <a:t>→</a:t>
            </a:r>
            <a:endParaRPr lang="en-US" sz="1298" dirty="0"/>
          </a:p>
        </p:txBody>
      </p:sp>
      <p:sp>
        <p:nvSpPr>
          <p:cNvPr id="17" name="Shape 15"/>
          <p:cNvSpPr/>
          <p:nvPr/>
        </p:nvSpPr>
        <p:spPr>
          <a:xfrm>
            <a:off x="3067017" y="1819176"/>
            <a:ext cx="2381250" cy="1257267"/>
          </a:xfrm>
          <a:prstGeom prst="roundRect">
            <a:avLst>
              <a:gd name="adj" fmla="val 9091"/>
            </a:avLst>
          </a:prstGeom>
          <a:gradFill rotWithShape="1">
            <a:gsLst>
              <a:gs pos="0">
                <a:srgbClr val="FFFFFF">
                  <a:alpha val="11000"/>
                </a:srgbClr>
              </a:gs>
              <a:gs pos="100000">
                <a:srgbClr val="FFFFFF">
                  <a:alpha val="2000"/>
                </a:srgbClr>
              </a:gs>
            </a:gsLst>
            <a:lin ang="5400000" scaled="0"/>
          </a:gradFill>
          <a:ln w="10583">
            <a:solidFill>
              <a:srgbClr val="FFFFFF">
                <a:alpha val="12000"/>
              </a:srgbClr>
            </a:solidFill>
            <a:prstDash val="solid"/>
          </a:ln>
          <a:effectLst>
            <a:outerShdw blurRad="228600" dist="76200" dir="5400000" algn="bl" rotWithShape="0">
              <a:srgbClr val="000000">
                <a:alpha val="25000"/>
              </a:srgbClr>
            </a:outerShdw>
          </a:effectLst>
        </p:spPr>
      </p:sp>
      <p:sp>
        <p:nvSpPr>
          <p:cNvPr id="18" name="Shape 16"/>
          <p:cNvSpPr/>
          <p:nvPr/>
        </p:nvSpPr>
        <p:spPr>
          <a:xfrm>
            <a:off x="3067017" y="3067017"/>
            <a:ext cx="2381250" cy="9525"/>
          </a:xfrm>
          <a:prstGeom prst="rect">
            <a:avLst/>
          </a:prstGeom>
          <a:solidFill>
            <a:srgbClr val="FFFFFF">
              <a:alpha val="8000"/>
            </a:srgbClr>
          </a:solidFill>
          <a:ln/>
        </p:spPr>
      </p:sp>
      <p:sp>
        <p:nvSpPr>
          <p:cNvPr id="19" name="Shape 17"/>
          <p:cNvSpPr/>
          <p:nvPr/>
        </p:nvSpPr>
        <p:spPr>
          <a:xfrm>
            <a:off x="3067017" y="1819176"/>
            <a:ext cx="2381250" cy="9525"/>
          </a:xfrm>
          <a:prstGeom prst="rect">
            <a:avLst/>
          </a:prstGeom>
          <a:solidFill>
            <a:srgbClr val="FFFFFF">
              <a:alpha val="8000"/>
            </a:srgbClr>
          </a:solidFill>
          <a:ln/>
        </p:spPr>
      </p:sp>
      <p:sp>
        <p:nvSpPr>
          <p:cNvPr id="20" name="Shape 18"/>
          <p:cNvSpPr/>
          <p:nvPr/>
        </p:nvSpPr>
        <p:spPr>
          <a:xfrm>
            <a:off x="3067017" y="1914426"/>
            <a:ext cx="28443" cy="1066767"/>
          </a:xfrm>
          <a:prstGeom prst="rect">
            <a:avLst/>
          </a:prstGeom>
          <a:solidFill>
            <a:srgbClr val="64748B"/>
          </a:solidFill>
          <a:ln/>
        </p:spPr>
      </p:sp>
      <p:sp>
        <p:nvSpPr>
          <p:cNvPr id="21" name="Shape 19"/>
          <p:cNvSpPr/>
          <p:nvPr/>
        </p:nvSpPr>
        <p:spPr>
          <a:xfrm>
            <a:off x="5438676" y="1914426"/>
            <a:ext cx="9525" cy="1066767"/>
          </a:xfrm>
          <a:prstGeom prst="rect">
            <a:avLst/>
          </a:prstGeom>
          <a:solidFill>
            <a:srgbClr val="FFFFFF">
              <a:alpha val="8000"/>
            </a:srgbClr>
          </a:solidFill>
          <a:ln/>
        </p:spPr>
      </p:sp>
      <p:sp>
        <p:nvSpPr>
          <p:cNvPr id="22" name="Text 20"/>
          <p:cNvSpPr/>
          <p:nvPr/>
        </p:nvSpPr>
        <p:spPr>
          <a:xfrm>
            <a:off x="3219318" y="1933443"/>
            <a:ext cx="2283950" cy="203630"/>
          </a:xfrm>
          <a:prstGeom prst="rect">
            <a:avLst/>
          </a:prstGeom>
          <a:noFill/>
          <a:ln/>
        </p:spPr>
        <p:txBody>
          <a:bodyPr wrap="square" lIns="25400" tIns="25400" rIns="25400" bIns="25400" rtlCol="0" anchor="t">
            <a:normAutofit/>
          </a:bodyPr>
          <a:lstStyle/>
          <a:p>
            <a:pPr marL="0" indent="0" algn="l">
              <a:lnSpc>
                <a:spcPct val="120462"/>
              </a:lnSpc>
              <a:buNone/>
            </a:pPr>
            <a:r>
              <a:rPr lang="en-US" sz="900" b="1" kern="0" spc="72" dirty="0">
                <a:solidFill>
                  <a:srgbClr val="64748B"/>
                </a:solidFill>
                <a:latin typeface="Inter" pitchFamily="34" charset="0"/>
                <a:ea typeface="Inter" pitchFamily="34" charset="-122"/>
                <a:cs typeface="Inter" pitchFamily="34" charset="-120"/>
              </a:rPr>
              <a:t>STEP 2</a:t>
            </a:r>
            <a:endParaRPr lang="en-US" sz="900" dirty="0"/>
          </a:p>
        </p:txBody>
      </p:sp>
      <p:sp>
        <p:nvSpPr>
          <p:cNvPr id="23" name="Text 21"/>
          <p:cNvSpPr/>
          <p:nvPr/>
        </p:nvSpPr>
        <p:spPr>
          <a:xfrm>
            <a:off x="3219318" y="2123430"/>
            <a:ext cx="2283950" cy="286643"/>
          </a:xfrm>
          <a:prstGeom prst="rect">
            <a:avLst/>
          </a:prstGeom>
          <a:noFill/>
          <a:ln/>
        </p:spPr>
        <p:txBody>
          <a:bodyPr wrap="square" lIns="25400" tIns="25400" rIns="25400" bIns="25400" rtlCol="0" anchor="t">
            <a:normAutofit/>
          </a:bodyPr>
          <a:lstStyle/>
          <a:p>
            <a:pPr marL="0" indent="0" algn="l">
              <a:lnSpc>
                <a:spcPct val="123741"/>
              </a:lnSpc>
              <a:buNone/>
            </a:pPr>
            <a:r>
              <a:rPr lang="en-US" sz="1298" b="1" dirty="0">
                <a:solidFill>
                  <a:srgbClr val="FFFFFF"/>
                </a:solidFill>
                <a:latin typeface="Inter" pitchFamily="34" charset="0"/>
                <a:ea typeface="Inter" pitchFamily="34" charset="-122"/>
                <a:cs typeface="Inter" pitchFamily="34" charset="-120"/>
              </a:rPr>
              <a:t>Anonymise your material</a:t>
            </a:r>
            <a:endParaRPr lang="en-US" sz="1298" dirty="0"/>
          </a:p>
        </p:txBody>
      </p:sp>
      <p:sp>
        <p:nvSpPr>
          <p:cNvPr id="24" name="Text 22"/>
          <p:cNvSpPr/>
          <p:nvPr/>
        </p:nvSpPr>
        <p:spPr>
          <a:xfrm>
            <a:off x="3219318" y="2385266"/>
            <a:ext cx="2283950" cy="249436"/>
          </a:xfrm>
          <a:prstGeom prst="rect">
            <a:avLst/>
          </a:prstGeom>
          <a:noFill/>
          <a:ln/>
        </p:spPr>
        <p:txBody>
          <a:bodyPr wrap="square" lIns="25400" tIns="25400" rIns="25400" bIns="25400" rtlCol="0" anchor="t">
            <a:normAutofit/>
          </a:bodyPr>
          <a:lstStyle/>
          <a:p>
            <a:pPr marL="0" indent="0" algn="l">
              <a:lnSpc>
                <a:spcPct val="124858"/>
              </a:lnSpc>
              <a:buNone/>
            </a:pPr>
            <a:r>
              <a:rPr lang="en-US" sz="1102" dirty="0">
                <a:solidFill>
                  <a:srgbClr val="94A3B8"/>
                </a:solidFill>
                <a:latin typeface="Inter" pitchFamily="34" charset="0"/>
                <a:ea typeface="Inter" pitchFamily="34" charset="-122"/>
                <a:cs typeface="Inter" pitchFamily="34" charset="-120"/>
              </a:rPr>
              <a:t>Word or Excel, by hand</a:t>
            </a:r>
            <a:endParaRPr lang="en-US" sz="1102" dirty="0"/>
          </a:p>
        </p:txBody>
      </p:sp>
      <p:sp>
        <p:nvSpPr>
          <p:cNvPr id="25" name="Text 23"/>
          <p:cNvSpPr/>
          <p:nvPr/>
        </p:nvSpPr>
        <p:spPr>
          <a:xfrm>
            <a:off x="3219318" y="2692797"/>
            <a:ext cx="2283950" cy="203630"/>
          </a:xfrm>
          <a:prstGeom prst="rect">
            <a:avLst/>
          </a:prstGeom>
          <a:noFill/>
          <a:ln/>
        </p:spPr>
        <p:txBody>
          <a:bodyPr wrap="square" lIns="25400" tIns="25400" rIns="25400" bIns="25400" rtlCol="0" anchor="t">
            <a:normAutofit lnSpcReduction="10000"/>
          </a:bodyPr>
          <a:lstStyle/>
          <a:p>
            <a:pPr marL="0" indent="0" algn="l">
              <a:lnSpc>
                <a:spcPct val="120462"/>
              </a:lnSpc>
              <a:buNone/>
            </a:pPr>
            <a:r>
              <a:rPr lang="en-US" sz="900" kern="0" spc="40" dirty="0">
                <a:solidFill>
                  <a:srgbClr val="94A3B8"/>
                </a:solidFill>
                <a:latin typeface="Inter" pitchFamily="34" charset="0"/>
                <a:ea typeface="Inter" pitchFamily="34" charset="-122"/>
                <a:cs typeface="Inter" pitchFamily="34" charset="-120"/>
              </a:rPr>
              <a:t>Required if sensitive data</a:t>
            </a:r>
            <a:endParaRPr lang="en-US" sz="900" dirty="0"/>
          </a:p>
        </p:txBody>
      </p:sp>
      <p:sp>
        <p:nvSpPr>
          <p:cNvPr id="26" name="Text 24"/>
          <p:cNvSpPr/>
          <p:nvPr/>
        </p:nvSpPr>
        <p:spPr>
          <a:xfrm>
            <a:off x="5438676" y="2257392"/>
            <a:ext cx="419001" cy="286643"/>
          </a:xfrm>
          <a:prstGeom prst="rect">
            <a:avLst/>
          </a:prstGeom>
          <a:noFill/>
          <a:ln/>
        </p:spPr>
        <p:txBody>
          <a:bodyPr wrap="square" lIns="25400" tIns="25400" rIns="25400" bIns="25400" rtlCol="0" anchor="t">
            <a:normAutofit/>
          </a:bodyPr>
          <a:lstStyle/>
          <a:p>
            <a:pPr marL="0" indent="0" algn="l">
              <a:lnSpc>
                <a:spcPct val="123741"/>
              </a:lnSpc>
              <a:buNone/>
            </a:pPr>
            <a:r>
              <a:rPr lang="en-US" sz="1298" dirty="0">
                <a:solidFill>
                  <a:srgbClr val="60A5FA"/>
                </a:solidFill>
                <a:latin typeface="Inter" pitchFamily="34" charset="0"/>
                <a:ea typeface="Inter" pitchFamily="34" charset="-122"/>
                <a:cs typeface="Inter" pitchFamily="34" charset="-120"/>
              </a:rPr>
              <a:t>→</a:t>
            </a:r>
            <a:endParaRPr lang="en-US" sz="1298" dirty="0"/>
          </a:p>
        </p:txBody>
      </p:sp>
      <p:sp>
        <p:nvSpPr>
          <p:cNvPr id="27" name="Shape 25"/>
          <p:cNvSpPr/>
          <p:nvPr/>
        </p:nvSpPr>
        <p:spPr>
          <a:xfrm>
            <a:off x="5676801" y="1809750"/>
            <a:ext cx="2381250" cy="1257267"/>
          </a:xfrm>
          <a:prstGeom prst="roundRect">
            <a:avLst>
              <a:gd name="adj" fmla="val 9091"/>
            </a:avLst>
          </a:prstGeom>
          <a:gradFill rotWithShape="1">
            <a:gsLst>
              <a:gs pos="0">
                <a:srgbClr val="FFFFFF">
                  <a:alpha val="11000"/>
                </a:srgbClr>
              </a:gs>
              <a:gs pos="100000">
                <a:srgbClr val="FFFFFF">
                  <a:alpha val="2000"/>
                </a:srgbClr>
              </a:gs>
            </a:gsLst>
            <a:lin ang="5400000" scaled="0"/>
          </a:gradFill>
          <a:ln w="10583">
            <a:solidFill>
              <a:srgbClr val="FFFFFF">
                <a:alpha val="12000"/>
              </a:srgbClr>
            </a:solidFill>
            <a:prstDash val="solid"/>
          </a:ln>
          <a:effectLst>
            <a:outerShdw blurRad="228600" dist="76200" dir="5400000" algn="bl" rotWithShape="0">
              <a:srgbClr val="000000">
                <a:alpha val="25000"/>
              </a:srgbClr>
            </a:outerShdw>
          </a:effectLst>
        </p:spPr>
        <p:txBody>
          <a:bodyPr/>
          <a:lstStyle/>
          <a:p>
            <a:endParaRPr lang="hu-HU" dirty="0"/>
          </a:p>
        </p:txBody>
      </p:sp>
      <p:sp>
        <p:nvSpPr>
          <p:cNvPr id="28" name="Shape 26"/>
          <p:cNvSpPr/>
          <p:nvPr/>
        </p:nvSpPr>
        <p:spPr>
          <a:xfrm>
            <a:off x="5667375" y="3067017"/>
            <a:ext cx="2381250" cy="9525"/>
          </a:xfrm>
          <a:prstGeom prst="rect">
            <a:avLst/>
          </a:prstGeom>
          <a:solidFill>
            <a:srgbClr val="FFFFFF">
              <a:alpha val="8000"/>
            </a:srgbClr>
          </a:solidFill>
          <a:ln/>
        </p:spPr>
      </p:sp>
      <p:sp>
        <p:nvSpPr>
          <p:cNvPr id="29" name="Shape 27"/>
          <p:cNvSpPr/>
          <p:nvPr/>
        </p:nvSpPr>
        <p:spPr>
          <a:xfrm>
            <a:off x="5667375" y="1819176"/>
            <a:ext cx="2381250" cy="9525"/>
          </a:xfrm>
          <a:prstGeom prst="rect">
            <a:avLst/>
          </a:prstGeom>
          <a:solidFill>
            <a:srgbClr val="FFFFFF">
              <a:alpha val="8000"/>
            </a:srgbClr>
          </a:solidFill>
          <a:ln/>
        </p:spPr>
      </p:sp>
      <p:sp>
        <p:nvSpPr>
          <p:cNvPr id="30" name="Shape 28"/>
          <p:cNvSpPr/>
          <p:nvPr/>
        </p:nvSpPr>
        <p:spPr>
          <a:xfrm>
            <a:off x="5667375" y="1914426"/>
            <a:ext cx="28443" cy="1066767"/>
          </a:xfrm>
          <a:prstGeom prst="rect">
            <a:avLst/>
          </a:prstGeom>
          <a:solidFill>
            <a:srgbClr val="3B82F6"/>
          </a:solidFill>
          <a:ln/>
        </p:spPr>
      </p:sp>
      <p:sp>
        <p:nvSpPr>
          <p:cNvPr id="31" name="Shape 29"/>
          <p:cNvSpPr/>
          <p:nvPr/>
        </p:nvSpPr>
        <p:spPr>
          <a:xfrm>
            <a:off x="8039034" y="1914426"/>
            <a:ext cx="9525" cy="1066767"/>
          </a:xfrm>
          <a:prstGeom prst="rect">
            <a:avLst/>
          </a:prstGeom>
          <a:solidFill>
            <a:srgbClr val="FFFFFF">
              <a:alpha val="8000"/>
            </a:srgbClr>
          </a:solidFill>
          <a:ln/>
        </p:spPr>
      </p:sp>
      <p:sp>
        <p:nvSpPr>
          <p:cNvPr id="32" name="Text 30"/>
          <p:cNvSpPr/>
          <p:nvPr/>
        </p:nvSpPr>
        <p:spPr>
          <a:xfrm>
            <a:off x="5819676" y="1933443"/>
            <a:ext cx="2283950" cy="203630"/>
          </a:xfrm>
          <a:prstGeom prst="rect">
            <a:avLst/>
          </a:prstGeom>
          <a:noFill/>
          <a:ln/>
        </p:spPr>
        <p:txBody>
          <a:bodyPr wrap="square" lIns="25400" tIns="25400" rIns="25400" bIns="25400" rtlCol="0" anchor="t">
            <a:normAutofit/>
          </a:bodyPr>
          <a:lstStyle/>
          <a:p>
            <a:pPr marL="0" indent="0" algn="l">
              <a:lnSpc>
                <a:spcPct val="120462"/>
              </a:lnSpc>
              <a:buNone/>
            </a:pPr>
            <a:r>
              <a:rPr lang="en-US" sz="900" b="1" kern="0" spc="72" dirty="0">
                <a:solidFill>
                  <a:srgbClr val="64748B"/>
                </a:solidFill>
                <a:latin typeface="Inter" pitchFamily="34" charset="0"/>
                <a:ea typeface="Inter" pitchFamily="34" charset="-122"/>
                <a:cs typeface="Inter" pitchFamily="34" charset="-120"/>
              </a:rPr>
              <a:t>STEP 3</a:t>
            </a:r>
            <a:endParaRPr lang="en-US" sz="900" dirty="0"/>
          </a:p>
        </p:txBody>
      </p:sp>
      <p:sp>
        <p:nvSpPr>
          <p:cNvPr id="33" name="Text 31"/>
          <p:cNvSpPr/>
          <p:nvPr/>
        </p:nvSpPr>
        <p:spPr>
          <a:xfrm>
            <a:off x="8379437" y="2114070"/>
            <a:ext cx="2283950" cy="286643"/>
          </a:xfrm>
          <a:prstGeom prst="rect">
            <a:avLst/>
          </a:prstGeom>
          <a:noFill/>
          <a:ln/>
        </p:spPr>
        <p:txBody>
          <a:bodyPr wrap="square" lIns="25400" tIns="25400" rIns="25400" bIns="25400" rtlCol="0" anchor="t">
            <a:normAutofit/>
          </a:bodyPr>
          <a:lstStyle/>
          <a:p>
            <a:pPr marL="0" indent="0" algn="l">
              <a:lnSpc>
                <a:spcPct val="123741"/>
              </a:lnSpc>
              <a:buNone/>
            </a:pPr>
            <a:r>
              <a:rPr lang="en-US" sz="1298" b="1" dirty="0">
                <a:solidFill>
                  <a:srgbClr val="FFFFFF"/>
                </a:solidFill>
                <a:latin typeface="Inter" pitchFamily="34" charset="0"/>
                <a:ea typeface="Inter" pitchFamily="34" charset="-122"/>
                <a:cs typeface="Inter" pitchFamily="34" charset="-120"/>
              </a:rPr>
              <a:t>Research the topic</a:t>
            </a:r>
            <a:endParaRPr lang="en-US" sz="1298" dirty="0"/>
          </a:p>
        </p:txBody>
      </p:sp>
      <p:sp>
        <p:nvSpPr>
          <p:cNvPr id="34" name="Text 32"/>
          <p:cNvSpPr/>
          <p:nvPr/>
        </p:nvSpPr>
        <p:spPr>
          <a:xfrm>
            <a:off x="8379437" y="2467368"/>
            <a:ext cx="2283950" cy="249436"/>
          </a:xfrm>
          <a:prstGeom prst="rect">
            <a:avLst/>
          </a:prstGeom>
          <a:noFill/>
          <a:ln/>
        </p:spPr>
        <p:txBody>
          <a:bodyPr wrap="square" lIns="25400" tIns="25400" rIns="25400" bIns="25400" rtlCol="0" anchor="t">
            <a:normAutofit/>
          </a:bodyPr>
          <a:lstStyle/>
          <a:p>
            <a:pPr marL="0" indent="0" algn="l">
              <a:lnSpc>
                <a:spcPct val="124858"/>
              </a:lnSpc>
              <a:buNone/>
            </a:pPr>
            <a:r>
              <a:rPr lang="en-US" sz="1102" dirty="0">
                <a:solidFill>
                  <a:srgbClr val="94A3B8"/>
                </a:solidFill>
                <a:latin typeface="Inter" pitchFamily="34" charset="0"/>
                <a:ea typeface="Inter" pitchFamily="34" charset="-122"/>
                <a:cs typeface="Inter" pitchFamily="34" charset="-120"/>
              </a:rPr>
              <a:t>Gemini · Deep Research</a:t>
            </a:r>
            <a:endParaRPr lang="en-US" sz="1102" dirty="0"/>
          </a:p>
        </p:txBody>
      </p:sp>
      <p:sp>
        <p:nvSpPr>
          <p:cNvPr id="35" name="Text 33"/>
          <p:cNvSpPr/>
          <p:nvPr/>
        </p:nvSpPr>
        <p:spPr>
          <a:xfrm>
            <a:off x="5819676" y="2781267"/>
            <a:ext cx="2283950" cy="203630"/>
          </a:xfrm>
          <a:prstGeom prst="rect">
            <a:avLst/>
          </a:prstGeom>
          <a:noFill/>
          <a:ln/>
        </p:spPr>
        <p:txBody>
          <a:bodyPr wrap="square" lIns="25400" tIns="25400" rIns="25400" bIns="25400" rtlCol="0" anchor="t">
            <a:normAutofit/>
          </a:bodyPr>
          <a:lstStyle/>
          <a:p>
            <a:pPr marL="0" indent="0" algn="l">
              <a:lnSpc>
                <a:spcPct val="120462"/>
              </a:lnSpc>
              <a:buNone/>
            </a:pPr>
            <a:endParaRPr lang="en-US" sz="900" dirty="0"/>
          </a:p>
        </p:txBody>
      </p:sp>
      <p:sp>
        <p:nvSpPr>
          <p:cNvPr id="36" name="Text 34"/>
          <p:cNvSpPr/>
          <p:nvPr/>
        </p:nvSpPr>
        <p:spPr>
          <a:xfrm>
            <a:off x="8039034" y="2257392"/>
            <a:ext cx="419001" cy="286643"/>
          </a:xfrm>
          <a:prstGeom prst="rect">
            <a:avLst/>
          </a:prstGeom>
          <a:noFill/>
          <a:ln/>
        </p:spPr>
        <p:txBody>
          <a:bodyPr wrap="square" lIns="25400" tIns="25400" rIns="25400" bIns="25400" rtlCol="0" anchor="t">
            <a:normAutofit/>
          </a:bodyPr>
          <a:lstStyle/>
          <a:p>
            <a:pPr marL="0" indent="0" algn="l">
              <a:lnSpc>
                <a:spcPct val="123741"/>
              </a:lnSpc>
              <a:buNone/>
            </a:pPr>
            <a:r>
              <a:rPr lang="en-US" sz="1298" dirty="0">
                <a:solidFill>
                  <a:srgbClr val="60A5FA"/>
                </a:solidFill>
                <a:latin typeface="Inter" pitchFamily="34" charset="0"/>
                <a:ea typeface="Inter" pitchFamily="34" charset="-122"/>
                <a:cs typeface="Inter" pitchFamily="34" charset="-120"/>
              </a:rPr>
              <a:t>→</a:t>
            </a:r>
            <a:endParaRPr lang="en-US" sz="1298" dirty="0"/>
          </a:p>
        </p:txBody>
      </p:sp>
      <p:sp>
        <p:nvSpPr>
          <p:cNvPr id="37" name="Shape 35"/>
          <p:cNvSpPr/>
          <p:nvPr/>
        </p:nvSpPr>
        <p:spPr>
          <a:xfrm>
            <a:off x="8277159" y="1819176"/>
            <a:ext cx="2381250" cy="1257267"/>
          </a:xfrm>
          <a:prstGeom prst="roundRect">
            <a:avLst>
              <a:gd name="adj" fmla="val 9091"/>
            </a:avLst>
          </a:prstGeom>
          <a:gradFill rotWithShape="1">
            <a:gsLst>
              <a:gs pos="0">
                <a:srgbClr val="FFFFFF">
                  <a:alpha val="11000"/>
                </a:srgbClr>
              </a:gs>
              <a:gs pos="100000">
                <a:srgbClr val="FFFFFF">
                  <a:alpha val="2000"/>
                </a:srgbClr>
              </a:gs>
            </a:gsLst>
            <a:lin ang="5400000" scaled="0"/>
          </a:gradFill>
          <a:ln w="10583">
            <a:solidFill>
              <a:srgbClr val="FFFFFF">
                <a:alpha val="12000"/>
              </a:srgbClr>
            </a:solidFill>
            <a:prstDash val="solid"/>
          </a:ln>
          <a:effectLst>
            <a:outerShdw blurRad="228600" dist="76200" dir="5400000" algn="bl" rotWithShape="0">
              <a:srgbClr val="000000">
                <a:alpha val="25000"/>
              </a:srgbClr>
            </a:outerShdw>
          </a:effectLst>
        </p:spPr>
      </p:sp>
      <p:sp>
        <p:nvSpPr>
          <p:cNvPr id="38" name="Shape 36"/>
          <p:cNvSpPr/>
          <p:nvPr/>
        </p:nvSpPr>
        <p:spPr>
          <a:xfrm>
            <a:off x="8277159" y="3067017"/>
            <a:ext cx="2381250" cy="9525"/>
          </a:xfrm>
          <a:prstGeom prst="rect">
            <a:avLst/>
          </a:prstGeom>
          <a:solidFill>
            <a:srgbClr val="FFFFFF">
              <a:alpha val="8000"/>
            </a:srgbClr>
          </a:solidFill>
          <a:ln/>
        </p:spPr>
      </p:sp>
      <p:sp>
        <p:nvSpPr>
          <p:cNvPr id="39" name="Shape 37"/>
          <p:cNvSpPr/>
          <p:nvPr/>
        </p:nvSpPr>
        <p:spPr>
          <a:xfrm>
            <a:off x="8277159" y="1819176"/>
            <a:ext cx="2381250" cy="9525"/>
          </a:xfrm>
          <a:prstGeom prst="rect">
            <a:avLst/>
          </a:prstGeom>
          <a:solidFill>
            <a:srgbClr val="FFFFFF">
              <a:alpha val="8000"/>
            </a:srgbClr>
          </a:solidFill>
          <a:ln/>
        </p:spPr>
      </p:sp>
      <p:sp>
        <p:nvSpPr>
          <p:cNvPr id="40" name="Shape 38"/>
          <p:cNvSpPr/>
          <p:nvPr/>
        </p:nvSpPr>
        <p:spPr>
          <a:xfrm>
            <a:off x="8277159" y="1914426"/>
            <a:ext cx="28443" cy="1066767"/>
          </a:xfrm>
          <a:prstGeom prst="rect">
            <a:avLst/>
          </a:prstGeom>
          <a:solidFill>
            <a:srgbClr val="3B82F6"/>
          </a:solidFill>
          <a:ln/>
        </p:spPr>
      </p:sp>
      <p:sp>
        <p:nvSpPr>
          <p:cNvPr id="41" name="Shape 39"/>
          <p:cNvSpPr/>
          <p:nvPr/>
        </p:nvSpPr>
        <p:spPr>
          <a:xfrm>
            <a:off x="10648819" y="1914426"/>
            <a:ext cx="9525" cy="1066767"/>
          </a:xfrm>
          <a:prstGeom prst="rect">
            <a:avLst/>
          </a:prstGeom>
          <a:solidFill>
            <a:srgbClr val="FFFFFF">
              <a:alpha val="8000"/>
            </a:srgbClr>
          </a:solidFill>
          <a:ln/>
        </p:spPr>
      </p:sp>
      <p:sp>
        <p:nvSpPr>
          <p:cNvPr id="42" name="Text 40"/>
          <p:cNvSpPr/>
          <p:nvPr/>
        </p:nvSpPr>
        <p:spPr>
          <a:xfrm>
            <a:off x="8429626" y="1933443"/>
            <a:ext cx="2283950" cy="203630"/>
          </a:xfrm>
          <a:prstGeom prst="rect">
            <a:avLst/>
          </a:prstGeom>
          <a:noFill/>
          <a:ln/>
        </p:spPr>
        <p:txBody>
          <a:bodyPr wrap="square" lIns="25400" tIns="25400" rIns="25400" bIns="25400" rtlCol="0" anchor="t">
            <a:normAutofit lnSpcReduction="10000"/>
          </a:bodyPr>
          <a:lstStyle/>
          <a:p>
            <a:pPr marL="0" indent="0" algn="l">
              <a:lnSpc>
                <a:spcPct val="120462"/>
              </a:lnSpc>
              <a:buNone/>
            </a:pPr>
            <a:r>
              <a:rPr lang="en-US" sz="900" b="1" kern="0" spc="72" dirty="0">
                <a:solidFill>
                  <a:srgbClr val="64748B"/>
                </a:solidFill>
                <a:latin typeface="Inter" pitchFamily="34" charset="0"/>
                <a:ea typeface="Inter" pitchFamily="34" charset="-122"/>
                <a:cs typeface="Inter" pitchFamily="34" charset="-120"/>
              </a:rPr>
              <a:t>STEP 4</a:t>
            </a:r>
            <a:endParaRPr lang="en-US" sz="900" dirty="0"/>
          </a:p>
        </p:txBody>
      </p:sp>
      <p:sp>
        <p:nvSpPr>
          <p:cNvPr id="43" name="Text 41"/>
          <p:cNvSpPr/>
          <p:nvPr/>
        </p:nvSpPr>
        <p:spPr>
          <a:xfrm>
            <a:off x="596239" y="2120636"/>
            <a:ext cx="2283950" cy="286643"/>
          </a:xfrm>
          <a:prstGeom prst="rect">
            <a:avLst/>
          </a:prstGeom>
          <a:noFill/>
          <a:ln/>
        </p:spPr>
        <p:txBody>
          <a:bodyPr wrap="square" lIns="25400" tIns="25400" rIns="25400" bIns="25400" rtlCol="0" anchor="t">
            <a:normAutofit/>
          </a:bodyPr>
          <a:lstStyle/>
          <a:p>
            <a:pPr marL="0" indent="0" algn="l">
              <a:lnSpc>
                <a:spcPct val="123741"/>
              </a:lnSpc>
              <a:buNone/>
            </a:pPr>
            <a:r>
              <a:rPr lang="en-US" sz="1298" b="1" dirty="0">
                <a:solidFill>
                  <a:srgbClr val="FFFFFF"/>
                </a:solidFill>
                <a:latin typeface="Inter" pitchFamily="34" charset="0"/>
                <a:ea typeface="Inter" pitchFamily="34" charset="-122"/>
                <a:cs typeface="Inter" pitchFamily="34" charset="-120"/>
              </a:rPr>
              <a:t>Collect the content</a:t>
            </a:r>
            <a:endParaRPr lang="en-US" sz="1298" dirty="0"/>
          </a:p>
        </p:txBody>
      </p:sp>
      <p:sp>
        <p:nvSpPr>
          <p:cNvPr id="44" name="Text 42"/>
          <p:cNvSpPr/>
          <p:nvPr/>
        </p:nvSpPr>
        <p:spPr>
          <a:xfrm>
            <a:off x="591285" y="2399771"/>
            <a:ext cx="2283950" cy="249436"/>
          </a:xfrm>
          <a:prstGeom prst="rect">
            <a:avLst/>
          </a:prstGeom>
          <a:noFill/>
          <a:ln/>
        </p:spPr>
        <p:txBody>
          <a:bodyPr wrap="square" lIns="25400" tIns="25400" rIns="25400" bIns="25400" rtlCol="0" anchor="t">
            <a:normAutofit/>
          </a:bodyPr>
          <a:lstStyle/>
          <a:p>
            <a:pPr marL="0" indent="0" algn="l">
              <a:lnSpc>
                <a:spcPct val="124858"/>
              </a:lnSpc>
              <a:buNone/>
            </a:pPr>
            <a:r>
              <a:rPr lang="en-US" sz="1102" dirty="0">
                <a:solidFill>
                  <a:srgbClr val="94A3B8"/>
                </a:solidFill>
                <a:latin typeface="Inter" pitchFamily="34" charset="0"/>
                <a:ea typeface="Inter" pitchFamily="34" charset="-122"/>
                <a:cs typeface="Inter" pitchFamily="34" charset="-120"/>
              </a:rPr>
              <a:t>NotebookLM</a:t>
            </a:r>
            <a:endParaRPr lang="en-US" sz="1102" dirty="0"/>
          </a:p>
        </p:txBody>
      </p:sp>
      <p:sp>
        <p:nvSpPr>
          <p:cNvPr id="45" name="Text 43"/>
          <p:cNvSpPr/>
          <p:nvPr/>
        </p:nvSpPr>
        <p:spPr>
          <a:xfrm>
            <a:off x="8429626" y="2781267"/>
            <a:ext cx="2283950" cy="203630"/>
          </a:xfrm>
          <a:prstGeom prst="rect">
            <a:avLst/>
          </a:prstGeom>
          <a:noFill/>
          <a:ln/>
        </p:spPr>
        <p:txBody>
          <a:bodyPr wrap="square" lIns="25400" tIns="25400" rIns="25400" bIns="25400" rtlCol="0" anchor="t">
            <a:normAutofit lnSpcReduction="10000"/>
          </a:bodyPr>
          <a:lstStyle/>
          <a:p>
            <a:pPr marL="0" indent="0" algn="l">
              <a:lnSpc>
                <a:spcPct val="120462"/>
              </a:lnSpc>
              <a:buNone/>
            </a:pPr>
            <a:endParaRPr lang="en-US" sz="900" dirty="0"/>
          </a:p>
        </p:txBody>
      </p:sp>
      <p:sp>
        <p:nvSpPr>
          <p:cNvPr id="46" name="Shape 44"/>
          <p:cNvSpPr/>
          <p:nvPr/>
        </p:nvSpPr>
        <p:spPr>
          <a:xfrm>
            <a:off x="10877517" y="1819176"/>
            <a:ext cx="2381250" cy="1257267"/>
          </a:xfrm>
          <a:prstGeom prst="roundRect">
            <a:avLst>
              <a:gd name="adj" fmla="val 9091"/>
            </a:avLst>
          </a:prstGeom>
          <a:gradFill rotWithShape="1">
            <a:gsLst>
              <a:gs pos="0">
                <a:srgbClr val="EF4444">
                  <a:alpha val="18000"/>
                </a:srgbClr>
              </a:gs>
              <a:gs pos="100000">
                <a:srgbClr val="EF4444">
                  <a:alpha val="10000"/>
                </a:srgbClr>
              </a:gs>
            </a:gsLst>
            <a:lin ang="5400000" scaled="0"/>
          </a:gradFill>
          <a:ln w="10583">
            <a:solidFill>
              <a:srgbClr val="EF4444">
                <a:alpha val="35000"/>
              </a:srgbClr>
            </a:solidFill>
            <a:prstDash val="solid"/>
          </a:ln>
          <a:effectLst>
            <a:outerShdw blurRad="381000" dist="50800" dir="16200000" algn="bl" rotWithShape="0">
              <a:srgbClr val="EF4444">
                <a:alpha val="25000"/>
              </a:srgbClr>
            </a:outerShdw>
          </a:effectLst>
        </p:spPr>
      </p:sp>
      <p:sp>
        <p:nvSpPr>
          <p:cNvPr id="47" name="Text 45"/>
          <p:cNvSpPr/>
          <p:nvPr/>
        </p:nvSpPr>
        <p:spPr>
          <a:xfrm>
            <a:off x="11029819" y="1933443"/>
            <a:ext cx="2283950" cy="203630"/>
          </a:xfrm>
          <a:prstGeom prst="rect">
            <a:avLst/>
          </a:prstGeom>
          <a:noFill/>
          <a:ln/>
        </p:spPr>
        <p:txBody>
          <a:bodyPr wrap="square" lIns="25400" tIns="25400" rIns="25400" bIns="25400" rtlCol="0" anchor="t">
            <a:normAutofit/>
          </a:bodyPr>
          <a:lstStyle/>
          <a:p>
            <a:pPr marL="0" indent="0" algn="l">
              <a:lnSpc>
                <a:spcPct val="120462"/>
              </a:lnSpc>
              <a:buNone/>
            </a:pPr>
            <a:r>
              <a:rPr lang="en-US" sz="900" b="1" kern="0" spc="72" dirty="0">
                <a:solidFill>
                  <a:srgbClr val="F87171"/>
                </a:solidFill>
                <a:latin typeface="Inter" pitchFamily="34" charset="0"/>
                <a:ea typeface="Inter" pitchFamily="34" charset="-122"/>
                <a:cs typeface="Inter" pitchFamily="34" charset="-120"/>
              </a:rPr>
              <a:t>ANY STEP</a:t>
            </a:r>
            <a:endParaRPr lang="en-US" sz="900" dirty="0"/>
          </a:p>
        </p:txBody>
      </p:sp>
      <p:sp>
        <p:nvSpPr>
          <p:cNvPr id="48" name="Text 46"/>
          <p:cNvSpPr/>
          <p:nvPr/>
        </p:nvSpPr>
        <p:spPr>
          <a:xfrm>
            <a:off x="11029819" y="2181159"/>
            <a:ext cx="2283950" cy="286643"/>
          </a:xfrm>
          <a:prstGeom prst="rect">
            <a:avLst/>
          </a:prstGeom>
          <a:noFill/>
          <a:ln/>
        </p:spPr>
        <p:txBody>
          <a:bodyPr wrap="square" lIns="25400" tIns="25400" rIns="25400" bIns="25400" rtlCol="0" anchor="t">
            <a:normAutofit/>
          </a:bodyPr>
          <a:lstStyle/>
          <a:p>
            <a:pPr marL="0" indent="0" algn="l">
              <a:lnSpc>
                <a:spcPct val="123741"/>
              </a:lnSpc>
              <a:buNone/>
            </a:pPr>
            <a:r>
              <a:rPr lang="en-US" sz="1298" b="1" dirty="0">
                <a:solidFill>
                  <a:srgbClr val="FFFFFF"/>
                </a:solidFill>
                <a:latin typeface="Inter" pitchFamily="34" charset="0"/>
                <a:ea typeface="Inter" pitchFamily="34" charset="-122"/>
                <a:cs typeface="Inter" pitchFamily="34" charset="-120"/>
              </a:rPr>
              <a:t>Improve the prompt first</a:t>
            </a:r>
            <a:endParaRPr lang="en-US" sz="1298" dirty="0"/>
          </a:p>
        </p:txBody>
      </p:sp>
      <p:sp>
        <p:nvSpPr>
          <p:cNvPr id="49" name="Text 47"/>
          <p:cNvSpPr/>
          <p:nvPr/>
        </p:nvSpPr>
        <p:spPr>
          <a:xfrm>
            <a:off x="11029819" y="2504943"/>
            <a:ext cx="2283950" cy="249436"/>
          </a:xfrm>
          <a:prstGeom prst="rect">
            <a:avLst/>
          </a:prstGeom>
          <a:noFill/>
          <a:ln/>
        </p:spPr>
        <p:txBody>
          <a:bodyPr wrap="square" lIns="25400" tIns="25400" rIns="25400" bIns="25400" rtlCol="0" anchor="t">
            <a:normAutofit/>
          </a:bodyPr>
          <a:lstStyle/>
          <a:p>
            <a:pPr marL="0" indent="0" algn="l">
              <a:lnSpc>
                <a:spcPct val="124858"/>
              </a:lnSpc>
              <a:buNone/>
            </a:pPr>
            <a:r>
              <a:rPr lang="en-US" sz="1102" dirty="0">
                <a:solidFill>
                  <a:srgbClr val="94A3B8"/>
                </a:solidFill>
                <a:latin typeface="Inter" pitchFamily="34" charset="0"/>
                <a:ea typeface="Inter" pitchFamily="34" charset="-122"/>
                <a:cs typeface="Inter" pitchFamily="34" charset="-120"/>
              </a:rPr>
              <a:t>Prompt Coach</a:t>
            </a:r>
            <a:endParaRPr lang="en-US" sz="1102" dirty="0"/>
          </a:p>
        </p:txBody>
      </p:sp>
      <p:sp>
        <p:nvSpPr>
          <p:cNvPr id="50" name="Text 48"/>
          <p:cNvSpPr/>
          <p:nvPr/>
        </p:nvSpPr>
        <p:spPr>
          <a:xfrm>
            <a:off x="11029819" y="2781267"/>
            <a:ext cx="2283950" cy="203630"/>
          </a:xfrm>
          <a:prstGeom prst="rect">
            <a:avLst/>
          </a:prstGeom>
          <a:noFill/>
          <a:ln/>
        </p:spPr>
        <p:txBody>
          <a:bodyPr wrap="square" lIns="25400" tIns="25400" rIns="25400" bIns="25400" rtlCol="0" anchor="t">
            <a:normAutofit lnSpcReduction="10000"/>
          </a:bodyPr>
          <a:lstStyle/>
          <a:p>
            <a:pPr marL="0" indent="0" algn="l">
              <a:lnSpc>
                <a:spcPct val="120462"/>
              </a:lnSpc>
              <a:buNone/>
            </a:pPr>
            <a:r>
              <a:rPr lang="en-US" sz="900" kern="0" spc="40" dirty="0">
                <a:solidFill>
                  <a:srgbClr val="F87171"/>
                </a:solidFill>
                <a:latin typeface="Inter" pitchFamily="34" charset="0"/>
                <a:ea typeface="Inter" pitchFamily="34" charset="-122"/>
                <a:cs typeface="Inter" pitchFamily="34" charset="-120"/>
              </a:rPr>
              <a:t>Optional · steps 3 to 6</a:t>
            </a:r>
            <a:endParaRPr lang="en-US" sz="900" dirty="0"/>
          </a:p>
        </p:txBody>
      </p:sp>
      <p:sp>
        <p:nvSpPr>
          <p:cNvPr id="51" name="Text 49"/>
          <p:cNvSpPr/>
          <p:nvPr/>
        </p:nvSpPr>
        <p:spPr>
          <a:xfrm>
            <a:off x="457068" y="3171693"/>
            <a:ext cx="14081688" cy="203630"/>
          </a:xfrm>
          <a:prstGeom prst="rect">
            <a:avLst/>
          </a:prstGeom>
          <a:noFill/>
          <a:ln/>
        </p:spPr>
        <p:txBody>
          <a:bodyPr wrap="square" lIns="25400" tIns="25400" rIns="25400" bIns="25400" rtlCol="0" anchor="t">
            <a:normAutofit lnSpcReduction="10000"/>
          </a:bodyPr>
          <a:lstStyle/>
          <a:p>
            <a:pPr marL="0" indent="0" algn="l">
              <a:lnSpc>
                <a:spcPct val="120462"/>
              </a:lnSpc>
              <a:buNone/>
            </a:pPr>
            <a:r>
              <a:rPr lang="en-US" sz="900" b="1" kern="0" spc="72" dirty="0">
                <a:solidFill>
                  <a:srgbClr val="60A5FA"/>
                </a:solidFill>
                <a:latin typeface="Inter" pitchFamily="34" charset="0"/>
                <a:ea typeface="Inter" pitchFamily="34" charset="-122"/>
                <a:cs typeface="Inter" pitchFamily="34" charset="-120"/>
              </a:rPr>
              <a:t>…THEN STEPS 5–8 · DRAFT, TEACH AND BUILD</a:t>
            </a:r>
            <a:endParaRPr lang="en-US" sz="900" dirty="0"/>
          </a:p>
        </p:txBody>
      </p:sp>
      <p:sp>
        <p:nvSpPr>
          <p:cNvPr id="52" name="Shape 50"/>
          <p:cNvSpPr/>
          <p:nvPr/>
        </p:nvSpPr>
        <p:spPr>
          <a:xfrm>
            <a:off x="457068" y="3429000"/>
            <a:ext cx="2381250" cy="1257267"/>
          </a:xfrm>
          <a:prstGeom prst="roundRect">
            <a:avLst>
              <a:gd name="adj" fmla="val 9091"/>
            </a:avLst>
          </a:prstGeom>
          <a:gradFill rotWithShape="1">
            <a:gsLst>
              <a:gs pos="0">
                <a:srgbClr val="FFFFFF">
                  <a:alpha val="11000"/>
                </a:srgbClr>
              </a:gs>
              <a:gs pos="100000">
                <a:srgbClr val="FFFFFF">
                  <a:alpha val="2000"/>
                </a:srgbClr>
              </a:gs>
            </a:gsLst>
            <a:lin ang="5400000" scaled="0"/>
          </a:gradFill>
          <a:ln w="10583">
            <a:solidFill>
              <a:srgbClr val="FFFFFF">
                <a:alpha val="12000"/>
              </a:srgbClr>
            </a:solidFill>
            <a:prstDash val="solid"/>
          </a:ln>
          <a:effectLst>
            <a:outerShdw blurRad="228600" dist="76200" dir="5400000" algn="bl" rotWithShape="0">
              <a:srgbClr val="000000">
                <a:alpha val="25000"/>
              </a:srgbClr>
            </a:outerShdw>
          </a:effectLst>
        </p:spPr>
      </p:sp>
      <p:sp>
        <p:nvSpPr>
          <p:cNvPr id="53" name="Shape 51"/>
          <p:cNvSpPr/>
          <p:nvPr/>
        </p:nvSpPr>
        <p:spPr>
          <a:xfrm>
            <a:off x="457068" y="4676676"/>
            <a:ext cx="2381250" cy="9525"/>
          </a:xfrm>
          <a:prstGeom prst="rect">
            <a:avLst/>
          </a:prstGeom>
          <a:solidFill>
            <a:srgbClr val="FFFFFF">
              <a:alpha val="8000"/>
            </a:srgbClr>
          </a:solidFill>
          <a:ln/>
        </p:spPr>
      </p:sp>
      <p:sp>
        <p:nvSpPr>
          <p:cNvPr id="54" name="Shape 52"/>
          <p:cNvSpPr/>
          <p:nvPr/>
        </p:nvSpPr>
        <p:spPr>
          <a:xfrm>
            <a:off x="457068" y="3429000"/>
            <a:ext cx="2381250" cy="9525"/>
          </a:xfrm>
          <a:prstGeom prst="rect">
            <a:avLst/>
          </a:prstGeom>
          <a:solidFill>
            <a:srgbClr val="FFFFFF">
              <a:alpha val="8000"/>
            </a:srgbClr>
          </a:solidFill>
          <a:ln/>
        </p:spPr>
      </p:sp>
      <p:sp>
        <p:nvSpPr>
          <p:cNvPr id="55" name="Shape 53"/>
          <p:cNvSpPr/>
          <p:nvPr/>
        </p:nvSpPr>
        <p:spPr>
          <a:xfrm>
            <a:off x="457068" y="3524250"/>
            <a:ext cx="28443" cy="1066767"/>
          </a:xfrm>
          <a:prstGeom prst="rect">
            <a:avLst/>
          </a:prstGeom>
          <a:solidFill>
            <a:srgbClr val="3B82F6"/>
          </a:solidFill>
          <a:ln/>
        </p:spPr>
      </p:sp>
      <p:sp>
        <p:nvSpPr>
          <p:cNvPr id="56" name="Shape 54"/>
          <p:cNvSpPr/>
          <p:nvPr/>
        </p:nvSpPr>
        <p:spPr>
          <a:xfrm>
            <a:off x="2828892" y="3524250"/>
            <a:ext cx="9525" cy="1066767"/>
          </a:xfrm>
          <a:prstGeom prst="rect">
            <a:avLst/>
          </a:prstGeom>
          <a:solidFill>
            <a:srgbClr val="FFFFFF">
              <a:alpha val="8000"/>
            </a:srgbClr>
          </a:solidFill>
          <a:ln/>
        </p:spPr>
      </p:sp>
      <p:sp>
        <p:nvSpPr>
          <p:cNvPr id="57" name="Text 55"/>
          <p:cNvSpPr/>
          <p:nvPr/>
        </p:nvSpPr>
        <p:spPr>
          <a:xfrm>
            <a:off x="609534" y="3543267"/>
            <a:ext cx="2283950" cy="203630"/>
          </a:xfrm>
          <a:prstGeom prst="rect">
            <a:avLst/>
          </a:prstGeom>
          <a:noFill/>
          <a:ln/>
        </p:spPr>
        <p:txBody>
          <a:bodyPr wrap="square" lIns="25400" tIns="25400" rIns="25400" bIns="25400" rtlCol="0" anchor="t">
            <a:normAutofit lnSpcReduction="10000"/>
          </a:bodyPr>
          <a:lstStyle/>
          <a:p>
            <a:pPr marL="0" indent="0" algn="l">
              <a:lnSpc>
                <a:spcPct val="120462"/>
              </a:lnSpc>
              <a:buNone/>
            </a:pPr>
            <a:r>
              <a:rPr lang="en-US" sz="900" b="1" kern="0" spc="72" dirty="0">
                <a:solidFill>
                  <a:srgbClr val="64748B"/>
                </a:solidFill>
                <a:latin typeface="Inter" pitchFamily="34" charset="0"/>
                <a:ea typeface="Inter" pitchFamily="34" charset="-122"/>
                <a:cs typeface="Inter" pitchFamily="34" charset="-120"/>
              </a:rPr>
              <a:t>STEP 5</a:t>
            </a:r>
            <a:endParaRPr lang="en-US" sz="900" dirty="0"/>
          </a:p>
        </p:txBody>
      </p:sp>
      <p:sp>
        <p:nvSpPr>
          <p:cNvPr id="58" name="Text 56"/>
          <p:cNvSpPr/>
          <p:nvPr/>
        </p:nvSpPr>
        <p:spPr>
          <a:xfrm>
            <a:off x="609534" y="3790818"/>
            <a:ext cx="2283950" cy="286643"/>
          </a:xfrm>
          <a:prstGeom prst="rect">
            <a:avLst/>
          </a:prstGeom>
          <a:noFill/>
          <a:ln/>
        </p:spPr>
        <p:txBody>
          <a:bodyPr wrap="square" lIns="25400" tIns="25400" rIns="25400" bIns="25400" rtlCol="0" anchor="t">
            <a:normAutofit/>
          </a:bodyPr>
          <a:lstStyle/>
          <a:p>
            <a:pPr marL="0" indent="0" algn="l">
              <a:lnSpc>
                <a:spcPct val="123741"/>
              </a:lnSpc>
              <a:buNone/>
            </a:pPr>
            <a:r>
              <a:rPr lang="en-US" sz="1298" b="1" dirty="0">
                <a:solidFill>
                  <a:srgbClr val="FFFFFF"/>
                </a:solidFill>
                <a:latin typeface="Inter" pitchFamily="34" charset="0"/>
                <a:ea typeface="Inter" pitchFamily="34" charset="-122"/>
                <a:cs typeface="Inter" pitchFamily="34" charset="-120"/>
              </a:rPr>
              <a:t>Draft the outline</a:t>
            </a:r>
            <a:endParaRPr lang="en-US" sz="1298" dirty="0"/>
          </a:p>
        </p:txBody>
      </p:sp>
      <p:sp>
        <p:nvSpPr>
          <p:cNvPr id="59" name="Text 57"/>
          <p:cNvSpPr/>
          <p:nvPr/>
        </p:nvSpPr>
        <p:spPr>
          <a:xfrm>
            <a:off x="609534" y="4114767"/>
            <a:ext cx="2283950" cy="249436"/>
          </a:xfrm>
          <a:prstGeom prst="rect">
            <a:avLst/>
          </a:prstGeom>
          <a:noFill/>
          <a:ln/>
        </p:spPr>
        <p:txBody>
          <a:bodyPr wrap="square" lIns="25400" tIns="25400" rIns="25400" bIns="25400" rtlCol="0" anchor="t">
            <a:normAutofit/>
          </a:bodyPr>
          <a:lstStyle/>
          <a:p>
            <a:pPr marL="0" indent="0" algn="l">
              <a:lnSpc>
                <a:spcPct val="124858"/>
              </a:lnSpc>
              <a:buNone/>
            </a:pPr>
            <a:r>
              <a:rPr lang="en-US" sz="1102" dirty="0">
                <a:solidFill>
                  <a:srgbClr val="94A3B8"/>
                </a:solidFill>
                <a:latin typeface="Inter" pitchFamily="34" charset="0"/>
                <a:ea typeface="Inter" pitchFamily="34" charset="-122"/>
                <a:cs typeface="Inter" pitchFamily="34" charset="-120"/>
              </a:rPr>
              <a:t>Gemini · Gem + Canvas</a:t>
            </a:r>
            <a:endParaRPr lang="en-US" sz="1102" dirty="0"/>
          </a:p>
        </p:txBody>
      </p:sp>
      <p:sp>
        <p:nvSpPr>
          <p:cNvPr id="60" name="Text 58"/>
          <p:cNvSpPr/>
          <p:nvPr/>
        </p:nvSpPr>
        <p:spPr>
          <a:xfrm>
            <a:off x="609534" y="4390926"/>
            <a:ext cx="2283950" cy="203630"/>
          </a:xfrm>
          <a:prstGeom prst="rect">
            <a:avLst/>
          </a:prstGeom>
          <a:noFill/>
          <a:ln/>
        </p:spPr>
        <p:txBody>
          <a:bodyPr wrap="square" lIns="25400" tIns="25400" rIns="25400" bIns="25400" rtlCol="0" anchor="t">
            <a:normAutofit lnSpcReduction="10000"/>
          </a:bodyPr>
          <a:lstStyle/>
          <a:p>
            <a:pPr marL="0" indent="0" algn="l">
              <a:lnSpc>
                <a:spcPct val="120462"/>
              </a:lnSpc>
              <a:buNone/>
            </a:pPr>
            <a:endParaRPr lang="en-US" sz="900" dirty="0"/>
          </a:p>
        </p:txBody>
      </p:sp>
      <p:sp>
        <p:nvSpPr>
          <p:cNvPr id="61" name="Text 59"/>
          <p:cNvSpPr/>
          <p:nvPr/>
        </p:nvSpPr>
        <p:spPr>
          <a:xfrm>
            <a:off x="2828892" y="3867051"/>
            <a:ext cx="419001" cy="286643"/>
          </a:xfrm>
          <a:prstGeom prst="rect">
            <a:avLst/>
          </a:prstGeom>
          <a:noFill/>
          <a:ln/>
        </p:spPr>
        <p:txBody>
          <a:bodyPr wrap="square" lIns="25400" tIns="25400" rIns="25400" bIns="25400" rtlCol="0" anchor="t">
            <a:normAutofit/>
          </a:bodyPr>
          <a:lstStyle/>
          <a:p>
            <a:pPr marL="0" indent="0" algn="l">
              <a:lnSpc>
                <a:spcPct val="123741"/>
              </a:lnSpc>
              <a:buNone/>
            </a:pPr>
            <a:r>
              <a:rPr lang="en-US" sz="1298" dirty="0">
                <a:solidFill>
                  <a:srgbClr val="60A5FA"/>
                </a:solidFill>
                <a:latin typeface="Inter" pitchFamily="34" charset="0"/>
                <a:ea typeface="Inter" pitchFamily="34" charset="-122"/>
                <a:cs typeface="Inter" pitchFamily="34" charset="-120"/>
              </a:rPr>
              <a:t>→</a:t>
            </a:r>
            <a:endParaRPr lang="en-US" sz="1298" dirty="0"/>
          </a:p>
        </p:txBody>
      </p:sp>
      <p:sp>
        <p:nvSpPr>
          <p:cNvPr id="62" name="Shape 60"/>
          <p:cNvSpPr/>
          <p:nvPr/>
        </p:nvSpPr>
        <p:spPr>
          <a:xfrm>
            <a:off x="3067017" y="3429000"/>
            <a:ext cx="2381250" cy="1257267"/>
          </a:xfrm>
          <a:prstGeom prst="roundRect">
            <a:avLst>
              <a:gd name="adj" fmla="val 9091"/>
            </a:avLst>
          </a:prstGeom>
          <a:gradFill rotWithShape="1">
            <a:gsLst>
              <a:gs pos="0">
                <a:srgbClr val="FFFFFF">
                  <a:alpha val="11000"/>
                </a:srgbClr>
              </a:gs>
              <a:gs pos="100000">
                <a:srgbClr val="FFFFFF">
                  <a:alpha val="2000"/>
                </a:srgbClr>
              </a:gs>
            </a:gsLst>
            <a:lin ang="5400000" scaled="0"/>
          </a:gradFill>
          <a:ln w="10583">
            <a:solidFill>
              <a:srgbClr val="FFFFFF">
                <a:alpha val="12000"/>
              </a:srgbClr>
            </a:solidFill>
            <a:prstDash val="solid"/>
          </a:ln>
          <a:effectLst>
            <a:outerShdw blurRad="228600" dist="76200" dir="5400000" algn="bl" rotWithShape="0">
              <a:srgbClr val="000000">
                <a:alpha val="25000"/>
              </a:srgbClr>
            </a:outerShdw>
          </a:effectLst>
        </p:spPr>
      </p:sp>
      <p:sp>
        <p:nvSpPr>
          <p:cNvPr id="63" name="Shape 61"/>
          <p:cNvSpPr/>
          <p:nvPr/>
        </p:nvSpPr>
        <p:spPr>
          <a:xfrm>
            <a:off x="3067017" y="4676676"/>
            <a:ext cx="2381250" cy="9525"/>
          </a:xfrm>
          <a:prstGeom prst="rect">
            <a:avLst/>
          </a:prstGeom>
          <a:solidFill>
            <a:srgbClr val="FFFFFF">
              <a:alpha val="8000"/>
            </a:srgbClr>
          </a:solidFill>
          <a:ln/>
        </p:spPr>
      </p:sp>
      <p:sp>
        <p:nvSpPr>
          <p:cNvPr id="64" name="Shape 62"/>
          <p:cNvSpPr/>
          <p:nvPr/>
        </p:nvSpPr>
        <p:spPr>
          <a:xfrm>
            <a:off x="3067017" y="3429000"/>
            <a:ext cx="2381250" cy="9525"/>
          </a:xfrm>
          <a:prstGeom prst="rect">
            <a:avLst/>
          </a:prstGeom>
          <a:solidFill>
            <a:srgbClr val="FFFFFF">
              <a:alpha val="8000"/>
            </a:srgbClr>
          </a:solidFill>
          <a:ln/>
        </p:spPr>
      </p:sp>
      <p:sp>
        <p:nvSpPr>
          <p:cNvPr id="65" name="Shape 63"/>
          <p:cNvSpPr/>
          <p:nvPr/>
        </p:nvSpPr>
        <p:spPr>
          <a:xfrm>
            <a:off x="3067017" y="3524250"/>
            <a:ext cx="28443" cy="1066767"/>
          </a:xfrm>
          <a:prstGeom prst="rect">
            <a:avLst/>
          </a:prstGeom>
          <a:solidFill>
            <a:srgbClr val="EF4444"/>
          </a:solidFill>
          <a:ln/>
        </p:spPr>
      </p:sp>
      <p:sp>
        <p:nvSpPr>
          <p:cNvPr id="66" name="Shape 64"/>
          <p:cNvSpPr/>
          <p:nvPr/>
        </p:nvSpPr>
        <p:spPr>
          <a:xfrm>
            <a:off x="5438676" y="3524250"/>
            <a:ext cx="9525" cy="1066767"/>
          </a:xfrm>
          <a:prstGeom prst="rect">
            <a:avLst/>
          </a:prstGeom>
          <a:solidFill>
            <a:srgbClr val="FFFFFF">
              <a:alpha val="8000"/>
            </a:srgbClr>
          </a:solidFill>
          <a:ln/>
        </p:spPr>
      </p:sp>
      <p:sp>
        <p:nvSpPr>
          <p:cNvPr id="67" name="Text 65"/>
          <p:cNvSpPr/>
          <p:nvPr/>
        </p:nvSpPr>
        <p:spPr>
          <a:xfrm>
            <a:off x="3219318" y="3543267"/>
            <a:ext cx="2283950" cy="203630"/>
          </a:xfrm>
          <a:prstGeom prst="rect">
            <a:avLst/>
          </a:prstGeom>
          <a:noFill/>
          <a:ln/>
        </p:spPr>
        <p:txBody>
          <a:bodyPr wrap="square" lIns="25400" tIns="25400" rIns="25400" bIns="25400" rtlCol="0" anchor="t">
            <a:normAutofit/>
          </a:bodyPr>
          <a:lstStyle/>
          <a:p>
            <a:pPr marL="0" indent="0" algn="l">
              <a:lnSpc>
                <a:spcPct val="120462"/>
              </a:lnSpc>
              <a:buNone/>
            </a:pPr>
            <a:r>
              <a:rPr lang="en-US" sz="900" b="1" kern="0" spc="72" dirty="0">
                <a:solidFill>
                  <a:srgbClr val="64748B"/>
                </a:solidFill>
                <a:latin typeface="Inter" pitchFamily="34" charset="0"/>
                <a:ea typeface="Inter" pitchFamily="34" charset="-122"/>
                <a:cs typeface="Inter" pitchFamily="34" charset="-120"/>
              </a:rPr>
              <a:t>STEP 6</a:t>
            </a:r>
            <a:endParaRPr lang="en-US" sz="900" dirty="0"/>
          </a:p>
        </p:txBody>
      </p:sp>
      <p:sp>
        <p:nvSpPr>
          <p:cNvPr id="68" name="Text 66"/>
          <p:cNvSpPr/>
          <p:nvPr/>
        </p:nvSpPr>
        <p:spPr>
          <a:xfrm>
            <a:off x="3219318" y="3790818"/>
            <a:ext cx="2283950" cy="286643"/>
          </a:xfrm>
          <a:prstGeom prst="rect">
            <a:avLst/>
          </a:prstGeom>
          <a:noFill/>
          <a:ln/>
        </p:spPr>
        <p:txBody>
          <a:bodyPr wrap="square" lIns="25400" tIns="25400" rIns="25400" bIns="25400" rtlCol="0" anchor="t">
            <a:normAutofit/>
          </a:bodyPr>
          <a:lstStyle/>
          <a:p>
            <a:pPr marL="0" indent="0" algn="l">
              <a:lnSpc>
                <a:spcPct val="123741"/>
              </a:lnSpc>
              <a:buNone/>
            </a:pPr>
            <a:r>
              <a:rPr lang="en-US" sz="1298" b="1" dirty="0">
                <a:solidFill>
                  <a:srgbClr val="FFFFFF"/>
                </a:solidFill>
                <a:latin typeface="Inter" pitchFamily="34" charset="0"/>
                <a:ea typeface="Inter" pitchFamily="34" charset="-122"/>
                <a:cs typeface="Inter" pitchFamily="34" charset="-120"/>
              </a:rPr>
              <a:t>Add learning material</a:t>
            </a:r>
            <a:endParaRPr lang="en-US" sz="1298" dirty="0"/>
          </a:p>
        </p:txBody>
      </p:sp>
      <p:sp>
        <p:nvSpPr>
          <p:cNvPr id="69" name="Text 67"/>
          <p:cNvSpPr/>
          <p:nvPr/>
        </p:nvSpPr>
        <p:spPr>
          <a:xfrm>
            <a:off x="3219318" y="4114767"/>
            <a:ext cx="2283950" cy="249436"/>
          </a:xfrm>
          <a:prstGeom prst="rect">
            <a:avLst/>
          </a:prstGeom>
          <a:noFill/>
          <a:ln/>
        </p:spPr>
        <p:txBody>
          <a:bodyPr wrap="square" lIns="25400" tIns="25400" rIns="25400" bIns="25400" rtlCol="0" anchor="t">
            <a:normAutofit/>
          </a:bodyPr>
          <a:lstStyle/>
          <a:p>
            <a:pPr marL="0" indent="0" algn="l">
              <a:lnSpc>
                <a:spcPct val="124858"/>
              </a:lnSpc>
              <a:buNone/>
            </a:pPr>
            <a:r>
              <a:rPr lang="en-US" sz="1102" dirty="0">
                <a:solidFill>
                  <a:srgbClr val="94A3B8"/>
                </a:solidFill>
                <a:latin typeface="Inter" pitchFamily="34" charset="0"/>
                <a:ea typeface="Inter" pitchFamily="34" charset="-122"/>
                <a:cs typeface="Inter" pitchFamily="34" charset="-120"/>
              </a:rPr>
              <a:t>Study and Learn</a:t>
            </a:r>
            <a:endParaRPr lang="en-US" sz="1102" dirty="0"/>
          </a:p>
        </p:txBody>
      </p:sp>
      <p:sp>
        <p:nvSpPr>
          <p:cNvPr id="70" name="Text 68"/>
          <p:cNvSpPr/>
          <p:nvPr/>
        </p:nvSpPr>
        <p:spPr>
          <a:xfrm>
            <a:off x="3219318" y="4390926"/>
            <a:ext cx="2283950" cy="203630"/>
          </a:xfrm>
          <a:prstGeom prst="rect">
            <a:avLst/>
          </a:prstGeom>
          <a:noFill/>
          <a:ln/>
        </p:spPr>
        <p:txBody>
          <a:bodyPr wrap="square" lIns="25400" tIns="25400" rIns="25400" bIns="25400" rtlCol="0" anchor="t">
            <a:normAutofit lnSpcReduction="10000"/>
          </a:bodyPr>
          <a:lstStyle/>
          <a:p>
            <a:pPr marL="0" indent="0" algn="l">
              <a:lnSpc>
                <a:spcPct val="120462"/>
              </a:lnSpc>
              <a:buNone/>
            </a:pPr>
            <a:r>
              <a:rPr lang="en-US" sz="900" kern="0" spc="40" dirty="0">
                <a:solidFill>
                  <a:srgbClr val="F87171"/>
                </a:solidFill>
                <a:latin typeface="Inter" pitchFamily="34" charset="0"/>
                <a:ea typeface="Inter" pitchFamily="34" charset="-122"/>
                <a:cs typeface="Inter" pitchFamily="34" charset="-120"/>
              </a:rPr>
              <a:t>Optional</a:t>
            </a:r>
            <a:endParaRPr lang="en-US" sz="900" dirty="0"/>
          </a:p>
        </p:txBody>
      </p:sp>
      <p:sp>
        <p:nvSpPr>
          <p:cNvPr id="71" name="Text 69"/>
          <p:cNvSpPr/>
          <p:nvPr/>
        </p:nvSpPr>
        <p:spPr>
          <a:xfrm>
            <a:off x="5438676" y="3867051"/>
            <a:ext cx="419001" cy="286643"/>
          </a:xfrm>
          <a:prstGeom prst="rect">
            <a:avLst/>
          </a:prstGeom>
          <a:noFill/>
          <a:ln/>
        </p:spPr>
        <p:txBody>
          <a:bodyPr wrap="square" lIns="25400" tIns="25400" rIns="25400" bIns="25400" rtlCol="0" anchor="t">
            <a:normAutofit/>
          </a:bodyPr>
          <a:lstStyle/>
          <a:p>
            <a:pPr marL="0" indent="0" algn="l">
              <a:lnSpc>
                <a:spcPct val="123741"/>
              </a:lnSpc>
              <a:buNone/>
            </a:pPr>
            <a:r>
              <a:rPr lang="en-US" sz="1298" dirty="0">
                <a:solidFill>
                  <a:srgbClr val="60A5FA"/>
                </a:solidFill>
                <a:latin typeface="Inter" pitchFamily="34" charset="0"/>
                <a:ea typeface="Inter" pitchFamily="34" charset="-122"/>
                <a:cs typeface="Inter" pitchFamily="34" charset="-120"/>
              </a:rPr>
              <a:t>→</a:t>
            </a:r>
            <a:endParaRPr lang="en-US" sz="1298" dirty="0"/>
          </a:p>
        </p:txBody>
      </p:sp>
      <p:sp>
        <p:nvSpPr>
          <p:cNvPr id="72" name="Shape 70"/>
          <p:cNvSpPr/>
          <p:nvPr/>
        </p:nvSpPr>
        <p:spPr>
          <a:xfrm>
            <a:off x="5667375" y="3429000"/>
            <a:ext cx="2381250" cy="1257267"/>
          </a:xfrm>
          <a:prstGeom prst="roundRect">
            <a:avLst>
              <a:gd name="adj" fmla="val 9091"/>
            </a:avLst>
          </a:prstGeom>
          <a:gradFill rotWithShape="1">
            <a:gsLst>
              <a:gs pos="0">
                <a:srgbClr val="FFFFFF">
                  <a:alpha val="11000"/>
                </a:srgbClr>
              </a:gs>
              <a:gs pos="100000">
                <a:srgbClr val="FFFFFF">
                  <a:alpha val="2000"/>
                </a:srgbClr>
              </a:gs>
            </a:gsLst>
            <a:lin ang="5400000" scaled="0"/>
          </a:gradFill>
          <a:ln w="10583">
            <a:solidFill>
              <a:srgbClr val="FFFFFF">
                <a:alpha val="12000"/>
              </a:srgbClr>
            </a:solidFill>
            <a:prstDash val="solid"/>
          </a:ln>
          <a:effectLst>
            <a:outerShdw blurRad="228600" dist="76200" dir="5400000" algn="bl" rotWithShape="0">
              <a:srgbClr val="000000">
                <a:alpha val="25000"/>
              </a:srgbClr>
            </a:outerShdw>
          </a:effectLst>
        </p:spPr>
      </p:sp>
      <p:sp>
        <p:nvSpPr>
          <p:cNvPr id="73" name="Shape 71"/>
          <p:cNvSpPr/>
          <p:nvPr/>
        </p:nvSpPr>
        <p:spPr>
          <a:xfrm>
            <a:off x="5667375" y="4676676"/>
            <a:ext cx="2381250" cy="9525"/>
          </a:xfrm>
          <a:prstGeom prst="rect">
            <a:avLst/>
          </a:prstGeom>
          <a:solidFill>
            <a:srgbClr val="FFFFFF">
              <a:alpha val="8000"/>
            </a:srgbClr>
          </a:solidFill>
          <a:ln/>
        </p:spPr>
      </p:sp>
      <p:sp>
        <p:nvSpPr>
          <p:cNvPr id="74" name="Shape 72"/>
          <p:cNvSpPr/>
          <p:nvPr/>
        </p:nvSpPr>
        <p:spPr>
          <a:xfrm>
            <a:off x="5667375" y="3429000"/>
            <a:ext cx="2381250" cy="9525"/>
          </a:xfrm>
          <a:prstGeom prst="rect">
            <a:avLst/>
          </a:prstGeom>
          <a:solidFill>
            <a:srgbClr val="FFFFFF">
              <a:alpha val="8000"/>
            </a:srgbClr>
          </a:solidFill>
          <a:ln/>
        </p:spPr>
      </p:sp>
      <p:sp>
        <p:nvSpPr>
          <p:cNvPr id="75" name="Shape 73"/>
          <p:cNvSpPr/>
          <p:nvPr/>
        </p:nvSpPr>
        <p:spPr>
          <a:xfrm>
            <a:off x="5667375" y="3524250"/>
            <a:ext cx="28443" cy="1066767"/>
          </a:xfrm>
          <a:prstGeom prst="rect">
            <a:avLst/>
          </a:prstGeom>
          <a:solidFill>
            <a:srgbClr val="3B82F6"/>
          </a:solidFill>
          <a:ln/>
        </p:spPr>
      </p:sp>
      <p:sp>
        <p:nvSpPr>
          <p:cNvPr id="76" name="Shape 74"/>
          <p:cNvSpPr/>
          <p:nvPr/>
        </p:nvSpPr>
        <p:spPr>
          <a:xfrm>
            <a:off x="8039034" y="3524250"/>
            <a:ext cx="9525" cy="1066767"/>
          </a:xfrm>
          <a:prstGeom prst="rect">
            <a:avLst/>
          </a:prstGeom>
          <a:solidFill>
            <a:srgbClr val="FFFFFF">
              <a:alpha val="8000"/>
            </a:srgbClr>
          </a:solidFill>
          <a:ln/>
        </p:spPr>
      </p:sp>
      <p:sp>
        <p:nvSpPr>
          <p:cNvPr id="77" name="Text 75"/>
          <p:cNvSpPr/>
          <p:nvPr/>
        </p:nvSpPr>
        <p:spPr>
          <a:xfrm>
            <a:off x="5819676" y="3543267"/>
            <a:ext cx="2283950" cy="203630"/>
          </a:xfrm>
          <a:prstGeom prst="rect">
            <a:avLst/>
          </a:prstGeom>
          <a:noFill/>
          <a:ln/>
        </p:spPr>
        <p:txBody>
          <a:bodyPr wrap="square" lIns="25400" tIns="25400" rIns="25400" bIns="25400" rtlCol="0" anchor="t">
            <a:normAutofit lnSpcReduction="10000"/>
          </a:bodyPr>
          <a:lstStyle/>
          <a:p>
            <a:pPr marL="0" indent="0" algn="l">
              <a:lnSpc>
                <a:spcPct val="120462"/>
              </a:lnSpc>
              <a:buNone/>
            </a:pPr>
            <a:r>
              <a:rPr lang="en-US" sz="900" b="1" kern="0" spc="72" dirty="0">
                <a:solidFill>
                  <a:srgbClr val="64748B"/>
                </a:solidFill>
                <a:latin typeface="Inter" pitchFamily="34" charset="0"/>
                <a:ea typeface="Inter" pitchFamily="34" charset="-122"/>
                <a:cs typeface="Inter" pitchFamily="34" charset="-120"/>
              </a:rPr>
              <a:t>STEP 7</a:t>
            </a:r>
            <a:endParaRPr lang="en-US" sz="900" dirty="0"/>
          </a:p>
        </p:txBody>
      </p:sp>
      <p:sp>
        <p:nvSpPr>
          <p:cNvPr id="78" name="Text 76"/>
          <p:cNvSpPr/>
          <p:nvPr/>
        </p:nvSpPr>
        <p:spPr>
          <a:xfrm>
            <a:off x="5819676" y="3790818"/>
            <a:ext cx="2283950" cy="286643"/>
          </a:xfrm>
          <a:prstGeom prst="rect">
            <a:avLst/>
          </a:prstGeom>
          <a:noFill/>
          <a:ln/>
        </p:spPr>
        <p:txBody>
          <a:bodyPr wrap="square" lIns="25400" tIns="25400" rIns="25400" bIns="25400" rtlCol="0" anchor="t">
            <a:normAutofit/>
          </a:bodyPr>
          <a:lstStyle/>
          <a:p>
            <a:pPr marL="0" indent="0" algn="l">
              <a:lnSpc>
                <a:spcPct val="123741"/>
              </a:lnSpc>
              <a:buNone/>
            </a:pPr>
            <a:r>
              <a:rPr lang="en-US" sz="1298" b="1" dirty="0">
                <a:solidFill>
                  <a:srgbClr val="FFFFFF"/>
                </a:solidFill>
                <a:latin typeface="Inter" pitchFamily="34" charset="0"/>
                <a:ea typeface="Inter" pitchFamily="34" charset="-122"/>
                <a:cs typeface="Inter" pitchFamily="34" charset="-120"/>
              </a:rPr>
              <a:t>Make the visuals</a:t>
            </a:r>
            <a:endParaRPr lang="en-US" sz="1298" dirty="0"/>
          </a:p>
        </p:txBody>
      </p:sp>
      <p:sp>
        <p:nvSpPr>
          <p:cNvPr id="79" name="Text 77"/>
          <p:cNvSpPr/>
          <p:nvPr/>
        </p:nvSpPr>
        <p:spPr>
          <a:xfrm>
            <a:off x="5819676" y="4114767"/>
            <a:ext cx="2283950" cy="249436"/>
          </a:xfrm>
          <a:prstGeom prst="rect">
            <a:avLst/>
          </a:prstGeom>
          <a:noFill/>
          <a:ln/>
        </p:spPr>
        <p:txBody>
          <a:bodyPr wrap="square" lIns="25400" tIns="25400" rIns="25400" bIns="25400" rtlCol="0" anchor="t">
            <a:normAutofit/>
          </a:bodyPr>
          <a:lstStyle/>
          <a:p>
            <a:pPr marL="0" indent="0" algn="l">
              <a:lnSpc>
                <a:spcPct val="124858"/>
              </a:lnSpc>
              <a:buNone/>
            </a:pPr>
            <a:r>
              <a:rPr lang="en-US" sz="1102" dirty="0">
                <a:solidFill>
                  <a:srgbClr val="94A3B8"/>
                </a:solidFill>
                <a:latin typeface="Inter" pitchFamily="34" charset="0"/>
                <a:ea typeface="Inter" pitchFamily="34" charset="-122"/>
                <a:cs typeface="Inter" pitchFamily="34" charset="-120"/>
              </a:rPr>
              <a:t>Gemini · image generation</a:t>
            </a:r>
            <a:endParaRPr lang="en-US" sz="1102" dirty="0"/>
          </a:p>
        </p:txBody>
      </p:sp>
      <p:sp>
        <p:nvSpPr>
          <p:cNvPr id="80" name="Text 78"/>
          <p:cNvSpPr/>
          <p:nvPr/>
        </p:nvSpPr>
        <p:spPr>
          <a:xfrm>
            <a:off x="5819676" y="4390926"/>
            <a:ext cx="2283950" cy="203630"/>
          </a:xfrm>
          <a:prstGeom prst="rect">
            <a:avLst/>
          </a:prstGeom>
          <a:noFill/>
          <a:ln/>
        </p:spPr>
        <p:txBody>
          <a:bodyPr wrap="square" lIns="25400" tIns="25400" rIns="25400" bIns="25400" rtlCol="0" anchor="t">
            <a:normAutofit/>
          </a:bodyPr>
          <a:lstStyle/>
          <a:p>
            <a:pPr marL="0" indent="0" algn="l">
              <a:lnSpc>
                <a:spcPct val="120462"/>
              </a:lnSpc>
              <a:buNone/>
            </a:pPr>
            <a:endParaRPr lang="en-US" sz="900" dirty="0"/>
          </a:p>
        </p:txBody>
      </p:sp>
      <p:sp>
        <p:nvSpPr>
          <p:cNvPr id="81" name="Text 79"/>
          <p:cNvSpPr/>
          <p:nvPr/>
        </p:nvSpPr>
        <p:spPr>
          <a:xfrm>
            <a:off x="8039034" y="3867051"/>
            <a:ext cx="419001" cy="286643"/>
          </a:xfrm>
          <a:prstGeom prst="rect">
            <a:avLst/>
          </a:prstGeom>
          <a:noFill/>
          <a:ln/>
        </p:spPr>
        <p:txBody>
          <a:bodyPr wrap="square" lIns="25400" tIns="25400" rIns="25400" bIns="25400" rtlCol="0" anchor="t">
            <a:normAutofit/>
          </a:bodyPr>
          <a:lstStyle/>
          <a:p>
            <a:pPr marL="0" indent="0" algn="l">
              <a:lnSpc>
                <a:spcPct val="123741"/>
              </a:lnSpc>
              <a:buNone/>
            </a:pPr>
            <a:r>
              <a:rPr lang="en-US" sz="1298" dirty="0">
                <a:solidFill>
                  <a:srgbClr val="60A5FA"/>
                </a:solidFill>
                <a:latin typeface="Inter" pitchFamily="34" charset="0"/>
                <a:ea typeface="Inter" pitchFamily="34" charset="-122"/>
                <a:cs typeface="Inter" pitchFamily="34" charset="-120"/>
              </a:rPr>
              <a:t>→</a:t>
            </a:r>
            <a:endParaRPr lang="en-US" sz="1298" dirty="0"/>
          </a:p>
        </p:txBody>
      </p:sp>
      <p:sp>
        <p:nvSpPr>
          <p:cNvPr id="82" name="Shape 80"/>
          <p:cNvSpPr/>
          <p:nvPr/>
        </p:nvSpPr>
        <p:spPr>
          <a:xfrm>
            <a:off x="8277159" y="3429000"/>
            <a:ext cx="2381250" cy="1257267"/>
          </a:xfrm>
          <a:prstGeom prst="roundRect">
            <a:avLst>
              <a:gd name="adj" fmla="val 9091"/>
            </a:avLst>
          </a:prstGeom>
          <a:gradFill rotWithShape="1">
            <a:gsLst>
              <a:gs pos="0">
                <a:srgbClr val="FFFFFF">
                  <a:alpha val="11000"/>
                </a:srgbClr>
              </a:gs>
              <a:gs pos="100000">
                <a:srgbClr val="FFFFFF">
                  <a:alpha val="2000"/>
                </a:srgbClr>
              </a:gs>
            </a:gsLst>
            <a:lin ang="5400000" scaled="0"/>
          </a:gradFill>
          <a:ln w="10583">
            <a:solidFill>
              <a:srgbClr val="FFFFFF">
                <a:alpha val="12000"/>
              </a:srgbClr>
            </a:solidFill>
            <a:prstDash val="solid"/>
          </a:ln>
          <a:effectLst>
            <a:outerShdw blurRad="228600" dist="76200" dir="5400000" algn="bl" rotWithShape="0">
              <a:srgbClr val="000000">
                <a:alpha val="25000"/>
              </a:srgbClr>
            </a:outerShdw>
          </a:effectLst>
        </p:spPr>
      </p:sp>
      <p:sp>
        <p:nvSpPr>
          <p:cNvPr id="83" name="Shape 81"/>
          <p:cNvSpPr/>
          <p:nvPr/>
        </p:nvSpPr>
        <p:spPr>
          <a:xfrm>
            <a:off x="8277159" y="4676676"/>
            <a:ext cx="2381250" cy="9525"/>
          </a:xfrm>
          <a:prstGeom prst="rect">
            <a:avLst/>
          </a:prstGeom>
          <a:solidFill>
            <a:srgbClr val="FFFFFF">
              <a:alpha val="8000"/>
            </a:srgbClr>
          </a:solidFill>
          <a:ln/>
        </p:spPr>
      </p:sp>
      <p:sp>
        <p:nvSpPr>
          <p:cNvPr id="84" name="Shape 82"/>
          <p:cNvSpPr/>
          <p:nvPr/>
        </p:nvSpPr>
        <p:spPr>
          <a:xfrm>
            <a:off x="8277159" y="3429000"/>
            <a:ext cx="2381250" cy="9525"/>
          </a:xfrm>
          <a:prstGeom prst="rect">
            <a:avLst/>
          </a:prstGeom>
          <a:solidFill>
            <a:srgbClr val="FFFFFF">
              <a:alpha val="8000"/>
            </a:srgbClr>
          </a:solidFill>
          <a:ln/>
        </p:spPr>
      </p:sp>
      <p:sp>
        <p:nvSpPr>
          <p:cNvPr id="85" name="Shape 83"/>
          <p:cNvSpPr/>
          <p:nvPr/>
        </p:nvSpPr>
        <p:spPr>
          <a:xfrm>
            <a:off x="8277159" y="3524250"/>
            <a:ext cx="28443" cy="1066767"/>
          </a:xfrm>
          <a:prstGeom prst="rect">
            <a:avLst/>
          </a:prstGeom>
          <a:solidFill>
            <a:srgbClr val="64748B"/>
          </a:solidFill>
          <a:ln/>
        </p:spPr>
      </p:sp>
      <p:sp>
        <p:nvSpPr>
          <p:cNvPr id="86" name="Shape 84"/>
          <p:cNvSpPr/>
          <p:nvPr/>
        </p:nvSpPr>
        <p:spPr>
          <a:xfrm>
            <a:off x="10648819" y="3524250"/>
            <a:ext cx="9525" cy="1066767"/>
          </a:xfrm>
          <a:prstGeom prst="rect">
            <a:avLst/>
          </a:prstGeom>
          <a:solidFill>
            <a:srgbClr val="FFFFFF">
              <a:alpha val="8000"/>
            </a:srgbClr>
          </a:solidFill>
          <a:ln/>
        </p:spPr>
      </p:sp>
      <p:sp>
        <p:nvSpPr>
          <p:cNvPr id="87" name="Text 85"/>
          <p:cNvSpPr/>
          <p:nvPr/>
        </p:nvSpPr>
        <p:spPr>
          <a:xfrm>
            <a:off x="8429626" y="3543267"/>
            <a:ext cx="2283950" cy="203630"/>
          </a:xfrm>
          <a:prstGeom prst="rect">
            <a:avLst/>
          </a:prstGeom>
          <a:noFill/>
          <a:ln/>
        </p:spPr>
        <p:txBody>
          <a:bodyPr wrap="square" lIns="25400" tIns="25400" rIns="25400" bIns="25400" rtlCol="0" anchor="t">
            <a:normAutofit/>
          </a:bodyPr>
          <a:lstStyle/>
          <a:p>
            <a:pPr marL="0" indent="0" algn="l">
              <a:lnSpc>
                <a:spcPct val="120462"/>
              </a:lnSpc>
              <a:buNone/>
            </a:pPr>
            <a:r>
              <a:rPr lang="en-US" sz="900" b="1" kern="0" spc="72" dirty="0">
                <a:solidFill>
                  <a:srgbClr val="64748B"/>
                </a:solidFill>
                <a:latin typeface="Inter" pitchFamily="34" charset="0"/>
                <a:ea typeface="Inter" pitchFamily="34" charset="-122"/>
                <a:cs typeface="Inter" pitchFamily="34" charset="-120"/>
              </a:rPr>
              <a:t>STEP 8</a:t>
            </a:r>
            <a:endParaRPr lang="en-US" sz="900" dirty="0"/>
          </a:p>
        </p:txBody>
      </p:sp>
      <p:sp>
        <p:nvSpPr>
          <p:cNvPr id="88" name="Text 86"/>
          <p:cNvSpPr/>
          <p:nvPr/>
        </p:nvSpPr>
        <p:spPr>
          <a:xfrm>
            <a:off x="8429626" y="3790818"/>
            <a:ext cx="2283950" cy="286643"/>
          </a:xfrm>
          <a:prstGeom prst="rect">
            <a:avLst/>
          </a:prstGeom>
          <a:noFill/>
          <a:ln/>
        </p:spPr>
        <p:txBody>
          <a:bodyPr wrap="square" lIns="25400" tIns="25400" rIns="25400" bIns="25400" rtlCol="0" anchor="t">
            <a:normAutofit/>
          </a:bodyPr>
          <a:lstStyle/>
          <a:p>
            <a:pPr marL="0" indent="0" algn="l">
              <a:lnSpc>
                <a:spcPct val="123741"/>
              </a:lnSpc>
              <a:buNone/>
            </a:pPr>
            <a:r>
              <a:rPr lang="en-US" sz="1298" b="1" dirty="0">
                <a:solidFill>
                  <a:srgbClr val="FFFFFF"/>
                </a:solidFill>
                <a:latin typeface="Inter" pitchFamily="34" charset="0"/>
                <a:ea typeface="Inter" pitchFamily="34" charset="-122"/>
                <a:cs typeface="Inter" pitchFamily="34" charset="-120"/>
              </a:rPr>
              <a:t>Build the presentation</a:t>
            </a:r>
            <a:endParaRPr lang="en-US" sz="1298" dirty="0"/>
          </a:p>
        </p:txBody>
      </p:sp>
      <p:sp>
        <p:nvSpPr>
          <p:cNvPr id="89" name="Text 87"/>
          <p:cNvSpPr/>
          <p:nvPr/>
        </p:nvSpPr>
        <p:spPr>
          <a:xfrm>
            <a:off x="8429626" y="4114767"/>
            <a:ext cx="2283950" cy="249436"/>
          </a:xfrm>
          <a:prstGeom prst="rect">
            <a:avLst/>
          </a:prstGeom>
          <a:noFill/>
          <a:ln/>
        </p:spPr>
        <p:txBody>
          <a:bodyPr wrap="square" lIns="25400" tIns="25400" rIns="25400" bIns="25400" rtlCol="0" anchor="t">
            <a:normAutofit/>
          </a:bodyPr>
          <a:lstStyle/>
          <a:p>
            <a:pPr marL="0" indent="0" algn="l">
              <a:lnSpc>
                <a:spcPct val="124858"/>
              </a:lnSpc>
              <a:buNone/>
            </a:pPr>
            <a:r>
              <a:rPr lang="en-US" sz="1102" dirty="0">
                <a:solidFill>
                  <a:srgbClr val="94A3B8"/>
                </a:solidFill>
                <a:latin typeface="Inter" pitchFamily="34" charset="0"/>
                <a:ea typeface="Inter" pitchFamily="34" charset="-122"/>
                <a:cs typeface="Inter" pitchFamily="34" charset="-120"/>
              </a:rPr>
              <a:t>Canva → genspark.ai</a:t>
            </a:r>
            <a:endParaRPr lang="en-US" sz="1102" dirty="0"/>
          </a:p>
        </p:txBody>
      </p:sp>
      <p:sp>
        <p:nvSpPr>
          <p:cNvPr id="90" name="Text 88"/>
          <p:cNvSpPr/>
          <p:nvPr/>
        </p:nvSpPr>
        <p:spPr>
          <a:xfrm>
            <a:off x="8429626" y="4390926"/>
            <a:ext cx="2283950" cy="203630"/>
          </a:xfrm>
          <a:prstGeom prst="rect">
            <a:avLst/>
          </a:prstGeom>
          <a:noFill/>
          <a:ln/>
        </p:spPr>
        <p:txBody>
          <a:bodyPr wrap="square" lIns="25400" tIns="25400" rIns="25400" bIns="25400" rtlCol="0" anchor="t">
            <a:normAutofit lnSpcReduction="10000"/>
          </a:bodyPr>
          <a:lstStyle/>
          <a:p>
            <a:pPr marL="0" indent="0" algn="l">
              <a:lnSpc>
                <a:spcPct val="120462"/>
              </a:lnSpc>
              <a:buNone/>
            </a:pPr>
            <a:r>
              <a:rPr lang="en-US" sz="900" kern="0" spc="40" dirty="0">
                <a:solidFill>
                  <a:srgbClr val="94A3B8"/>
                </a:solidFill>
                <a:latin typeface="Inter" pitchFamily="34" charset="0"/>
                <a:ea typeface="Inter" pitchFamily="34" charset="-122"/>
                <a:cs typeface="Inter" pitchFamily="34" charset="-120"/>
              </a:rPr>
              <a:t>Optional tools · required output</a:t>
            </a:r>
            <a:endParaRPr lang="en-US" sz="900" dirty="0"/>
          </a:p>
        </p:txBody>
      </p:sp>
      <p:sp>
        <p:nvSpPr>
          <p:cNvPr id="91" name="Text 89"/>
          <p:cNvSpPr/>
          <p:nvPr/>
        </p:nvSpPr>
        <p:spPr>
          <a:xfrm>
            <a:off x="10648819" y="3867051"/>
            <a:ext cx="419001" cy="286643"/>
          </a:xfrm>
          <a:prstGeom prst="rect">
            <a:avLst/>
          </a:prstGeom>
          <a:noFill/>
          <a:ln/>
        </p:spPr>
        <p:txBody>
          <a:bodyPr wrap="square" lIns="25400" tIns="25400" rIns="25400" bIns="25400" rtlCol="0" anchor="t">
            <a:normAutofit/>
          </a:bodyPr>
          <a:lstStyle/>
          <a:p>
            <a:pPr marL="0" indent="0" algn="l">
              <a:lnSpc>
                <a:spcPct val="123741"/>
              </a:lnSpc>
              <a:buNone/>
            </a:pPr>
            <a:r>
              <a:rPr lang="en-US" sz="1298" dirty="0">
                <a:solidFill>
                  <a:srgbClr val="60A5FA"/>
                </a:solidFill>
                <a:latin typeface="Inter" pitchFamily="34" charset="0"/>
                <a:ea typeface="Inter" pitchFamily="34" charset="-122"/>
                <a:cs typeface="Inter" pitchFamily="34" charset="-120"/>
              </a:rPr>
              <a:t>→</a:t>
            </a:r>
            <a:endParaRPr lang="en-US" sz="1298" dirty="0"/>
          </a:p>
        </p:txBody>
      </p:sp>
      <p:sp>
        <p:nvSpPr>
          <p:cNvPr id="92" name="Shape 90"/>
          <p:cNvSpPr/>
          <p:nvPr/>
        </p:nvSpPr>
        <p:spPr>
          <a:xfrm>
            <a:off x="10877517" y="3429000"/>
            <a:ext cx="2381250" cy="1257267"/>
          </a:xfrm>
          <a:prstGeom prst="roundRect">
            <a:avLst>
              <a:gd name="adj" fmla="val 9091"/>
            </a:avLst>
          </a:prstGeom>
          <a:gradFill rotWithShape="1">
            <a:gsLst>
              <a:gs pos="0">
                <a:srgbClr val="3B82F6">
                  <a:alpha val="18000"/>
                </a:srgbClr>
              </a:gs>
              <a:gs pos="100000">
                <a:srgbClr val="3B82F6">
                  <a:alpha val="10000"/>
                </a:srgbClr>
              </a:gs>
            </a:gsLst>
            <a:lin ang="5400000" scaled="0"/>
          </a:gradFill>
          <a:ln w="10583">
            <a:solidFill>
              <a:srgbClr val="3B82F6">
                <a:alpha val="35000"/>
              </a:srgbClr>
            </a:solidFill>
            <a:prstDash val="solid"/>
          </a:ln>
          <a:effectLst>
            <a:outerShdw blurRad="381000" dist="50800" dir="16200000" algn="bl" rotWithShape="0">
              <a:srgbClr val="3B82F6">
                <a:alpha val="25000"/>
              </a:srgbClr>
            </a:outerShdw>
          </a:effectLst>
        </p:spPr>
      </p:sp>
      <p:sp>
        <p:nvSpPr>
          <p:cNvPr id="93" name="Text 91"/>
          <p:cNvSpPr/>
          <p:nvPr/>
        </p:nvSpPr>
        <p:spPr>
          <a:xfrm>
            <a:off x="11029819" y="3543267"/>
            <a:ext cx="2283950" cy="203630"/>
          </a:xfrm>
          <a:prstGeom prst="rect">
            <a:avLst/>
          </a:prstGeom>
          <a:noFill/>
          <a:ln/>
        </p:spPr>
        <p:txBody>
          <a:bodyPr wrap="square" lIns="25400" tIns="25400" rIns="25400" bIns="25400" rtlCol="0" anchor="t">
            <a:normAutofit lnSpcReduction="10000"/>
          </a:bodyPr>
          <a:lstStyle/>
          <a:p>
            <a:pPr marL="0" indent="0" algn="l">
              <a:lnSpc>
                <a:spcPct val="120462"/>
              </a:lnSpc>
              <a:buNone/>
            </a:pPr>
            <a:r>
              <a:rPr lang="en-US" sz="900" b="1" kern="0" spc="72" dirty="0">
                <a:solidFill>
                  <a:srgbClr val="60A5FA"/>
                </a:solidFill>
                <a:latin typeface="Inter" pitchFamily="34" charset="0"/>
                <a:ea typeface="Inter" pitchFamily="34" charset="-122"/>
                <a:cs typeface="Inter" pitchFamily="34" charset="-120"/>
              </a:rPr>
              <a:t>OUT</a:t>
            </a:r>
            <a:endParaRPr lang="en-US" sz="900" dirty="0"/>
          </a:p>
        </p:txBody>
      </p:sp>
      <p:sp>
        <p:nvSpPr>
          <p:cNvPr id="94" name="Text 92"/>
          <p:cNvSpPr/>
          <p:nvPr/>
        </p:nvSpPr>
        <p:spPr>
          <a:xfrm>
            <a:off x="11029819" y="3790818"/>
            <a:ext cx="2283950" cy="286643"/>
          </a:xfrm>
          <a:prstGeom prst="rect">
            <a:avLst/>
          </a:prstGeom>
          <a:noFill/>
          <a:ln/>
        </p:spPr>
        <p:txBody>
          <a:bodyPr wrap="square" lIns="25400" tIns="25400" rIns="25400" bIns="25400" rtlCol="0" anchor="t">
            <a:normAutofit/>
          </a:bodyPr>
          <a:lstStyle/>
          <a:p>
            <a:pPr marL="0" indent="0" algn="l">
              <a:lnSpc>
                <a:spcPct val="123741"/>
              </a:lnSpc>
              <a:buNone/>
            </a:pPr>
            <a:r>
              <a:rPr lang="en-US" sz="1298" b="1" dirty="0">
                <a:solidFill>
                  <a:srgbClr val="FFFFFF"/>
                </a:solidFill>
                <a:latin typeface="Inter" pitchFamily="34" charset="0"/>
                <a:ea typeface="Inter" pitchFamily="34" charset="-122"/>
                <a:cs typeface="Inter" pitchFamily="34" charset="-120"/>
              </a:rPr>
              <a:t>The presentation</a:t>
            </a:r>
            <a:endParaRPr lang="en-US" sz="1298" dirty="0"/>
          </a:p>
        </p:txBody>
      </p:sp>
      <p:sp>
        <p:nvSpPr>
          <p:cNvPr id="95" name="Text 93"/>
          <p:cNvSpPr/>
          <p:nvPr/>
        </p:nvSpPr>
        <p:spPr>
          <a:xfrm>
            <a:off x="11029819" y="4114767"/>
            <a:ext cx="2283950" cy="249436"/>
          </a:xfrm>
          <a:prstGeom prst="rect">
            <a:avLst/>
          </a:prstGeom>
          <a:noFill/>
          <a:ln/>
        </p:spPr>
        <p:txBody>
          <a:bodyPr wrap="square" lIns="25400" tIns="25400" rIns="25400" bIns="25400" rtlCol="0" anchor="t">
            <a:normAutofit/>
          </a:bodyPr>
          <a:lstStyle/>
          <a:p>
            <a:pPr marL="0" indent="0" algn="l">
              <a:lnSpc>
                <a:spcPct val="124858"/>
              </a:lnSpc>
              <a:buNone/>
            </a:pPr>
            <a:r>
              <a:rPr lang="en-US" sz="1102" dirty="0">
                <a:solidFill>
                  <a:srgbClr val="94A3B8"/>
                </a:solidFill>
                <a:latin typeface="Inter" pitchFamily="34" charset="0"/>
                <a:ea typeface="Inter" pitchFamily="34" charset="-122"/>
                <a:cs typeface="Inter" pitchFamily="34" charset="-120"/>
              </a:rPr>
              <a:t>+ the blueprint</a:t>
            </a:r>
            <a:endParaRPr lang="en-US" sz="1102" dirty="0"/>
          </a:p>
        </p:txBody>
      </p:sp>
      <p:sp>
        <p:nvSpPr>
          <p:cNvPr id="96" name="Text 94"/>
          <p:cNvSpPr/>
          <p:nvPr/>
        </p:nvSpPr>
        <p:spPr>
          <a:xfrm>
            <a:off x="11029819" y="4390926"/>
            <a:ext cx="2283950" cy="203630"/>
          </a:xfrm>
          <a:prstGeom prst="rect">
            <a:avLst/>
          </a:prstGeom>
          <a:noFill/>
          <a:ln/>
        </p:spPr>
        <p:txBody>
          <a:bodyPr wrap="square" lIns="25400" tIns="25400" rIns="25400" bIns="25400" rtlCol="0" anchor="t">
            <a:normAutofit lnSpcReduction="10000"/>
          </a:bodyPr>
          <a:lstStyle/>
          <a:p>
            <a:pPr marL="0" indent="0" algn="l">
              <a:lnSpc>
                <a:spcPct val="120462"/>
              </a:lnSpc>
              <a:buNone/>
            </a:pPr>
            <a:r>
              <a:rPr lang="en-US" sz="900" kern="0" spc="40" dirty="0">
                <a:solidFill>
                  <a:srgbClr val="94A3B8"/>
                </a:solidFill>
                <a:latin typeface="Inter" pitchFamily="34" charset="0"/>
                <a:ea typeface="Inter" pitchFamily="34" charset="-122"/>
                <a:cs typeface="Inter" pitchFamily="34" charset="-120"/>
              </a:rPr>
              <a:t>+ the AI-use log</a:t>
            </a:r>
            <a:endParaRPr lang="en-US" sz="900" dirty="0"/>
          </a:p>
        </p:txBody>
      </p:sp>
      <p:sp>
        <p:nvSpPr>
          <p:cNvPr id="97" name="Text 95"/>
          <p:cNvSpPr/>
          <p:nvPr/>
        </p:nvSpPr>
        <p:spPr>
          <a:xfrm>
            <a:off x="457068" y="4762500"/>
            <a:ext cx="14081688" cy="249436"/>
          </a:xfrm>
          <a:prstGeom prst="rect">
            <a:avLst/>
          </a:prstGeom>
          <a:noFill/>
          <a:ln/>
        </p:spPr>
        <p:txBody>
          <a:bodyPr wrap="square" lIns="25400" tIns="25400" rIns="25400" bIns="25400" rtlCol="0" anchor="t">
            <a:normAutofit/>
          </a:bodyPr>
          <a:lstStyle/>
          <a:p>
            <a:pPr marL="0" indent="0" algn="l">
              <a:lnSpc>
                <a:spcPct val="124858"/>
              </a:lnSpc>
              <a:buNone/>
            </a:pPr>
            <a:r>
              <a:rPr lang="en-US" sz="1102" dirty="0">
                <a:solidFill>
                  <a:srgbClr val="94A3B8"/>
                </a:solidFill>
                <a:latin typeface="Inter" pitchFamily="34" charset="0"/>
                <a:ea typeface="Inter" pitchFamily="34" charset="-122"/>
                <a:cs typeface="Inter" pitchFamily="34" charset="-120"/>
              </a:rPr>
              <a:t>Only step 2 is required, and only when your material contains sensitive data. Skip any other step your topic does not need, and say why in the blueprint. Steps 6 and 7 can run in either order.</a:t>
            </a:r>
            <a:endParaRPr lang="en-US" sz="1102" dirty="0"/>
          </a:p>
        </p:txBody>
      </p:sp>
      <p:sp>
        <p:nvSpPr>
          <p:cNvPr id="98" name="Shape 96"/>
          <p:cNvSpPr/>
          <p:nvPr/>
        </p:nvSpPr>
        <p:spPr>
          <a:xfrm>
            <a:off x="457068" y="5152926"/>
            <a:ext cx="12801535" cy="704784"/>
          </a:xfrm>
          <a:prstGeom prst="roundRect">
            <a:avLst>
              <a:gd name="adj" fmla="val 16218"/>
            </a:avLst>
          </a:prstGeom>
          <a:gradFill rotWithShape="1">
            <a:gsLst>
              <a:gs pos="0">
                <a:srgbClr val="3B82F6">
                  <a:alpha val="18000"/>
                </a:srgbClr>
              </a:gs>
              <a:gs pos="100000">
                <a:srgbClr val="3B82F6">
                  <a:alpha val="10000"/>
                </a:srgbClr>
              </a:gs>
            </a:gsLst>
            <a:lin ang="5400000" scaled="0"/>
          </a:gradFill>
          <a:ln w="10583">
            <a:solidFill>
              <a:srgbClr val="3B82F6">
                <a:alpha val="35000"/>
              </a:srgbClr>
            </a:solidFill>
            <a:prstDash val="solid"/>
          </a:ln>
          <a:effectLst>
            <a:outerShdw blurRad="381000" dist="50800" dir="16200000" algn="bl" rotWithShape="0">
              <a:srgbClr val="3B82F6">
                <a:alpha val="25000"/>
              </a:srgbClr>
            </a:outerShdw>
          </a:effectLst>
        </p:spPr>
      </p:sp>
      <p:sp>
        <p:nvSpPr>
          <p:cNvPr id="99" name="Text 97"/>
          <p:cNvSpPr/>
          <p:nvPr/>
        </p:nvSpPr>
        <p:spPr>
          <a:xfrm>
            <a:off x="685767" y="5267193"/>
            <a:ext cx="13578731" cy="249436"/>
          </a:xfrm>
          <a:prstGeom prst="rect">
            <a:avLst/>
          </a:prstGeom>
          <a:noFill/>
          <a:ln/>
        </p:spPr>
        <p:txBody>
          <a:bodyPr wrap="square" lIns="25400" tIns="25400" rIns="25400" bIns="25400" rtlCol="0" anchor="t">
            <a:normAutofit/>
          </a:bodyPr>
          <a:lstStyle/>
          <a:p>
            <a:pPr marL="0" indent="0" algn="l">
              <a:lnSpc>
                <a:spcPct val="124858"/>
              </a:lnSpc>
              <a:buNone/>
            </a:pPr>
            <a:r>
              <a:rPr lang="en-US" sz="1102" b="1" dirty="0">
                <a:solidFill>
                  <a:srgbClr val="FFFFFF"/>
                </a:solidFill>
                <a:latin typeface="Inter" pitchFamily="34" charset="0"/>
                <a:ea typeface="Inter" pitchFamily="34" charset="-122"/>
                <a:cs typeface="Inter" pitchFamily="34" charset="-120"/>
              </a:rPr>
              <a:t>Before every step: check every output before it becomes the next step’s input</a:t>
            </a:r>
            <a:endParaRPr lang="en-US" sz="1102" dirty="0"/>
          </a:p>
        </p:txBody>
      </p:sp>
      <p:sp>
        <p:nvSpPr>
          <p:cNvPr id="100" name="Text 98"/>
          <p:cNvSpPr/>
          <p:nvPr/>
        </p:nvSpPr>
        <p:spPr>
          <a:xfrm>
            <a:off x="685767" y="5543517"/>
            <a:ext cx="13578731" cy="249436"/>
          </a:xfrm>
          <a:prstGeom prst="rect">
            <a:avLst/>
          </a:prstGeom>
          <a:noFill/>
          <a:ln/>
        </p:spPr>
        <p:txBody>
          <a:bodyPr wrap="square" lIns="25400" tIns="25400" rIns="25400" bIns="25400" rtlCol="0" anchor="t">
            <a:normAutofit/>
          </a:bodyPr>
          <a:lstStyle/>
          <a:p>
            <a:pPr marL="0" indent="0" algn="l">
              <a:lnSpc>
                <a:spcPct val="124858"/>
              </a:lnSpc>
              <a:buNone/>
            </a:pPr>
            <a:r>
              <a:rPr lang="en-US" sz="1102" dirty="0">
                <a:solidFill>
                  <a:srgbClr val="CBD5E1"/>
                </a:solidFill>
                <a:latin typeface="Inter" pitchFamily="34" charset="0"/>
                <a:ea typeface="Inter" pitchFamily="34" charset="-122"/>
                <a:cs typeface="Inter" pitchFamily="34" charset="-120"/>
              </a:rPr>
              <a:t>…and log the tool, the date and what it was used for. That log is the AI-use declaration on your last slide.</a:t>
            </a:r>
            <a:endParaRPr lang="en-US" sz="1102" dirty="0"/>
          </a:p>
        </p:txBody>
      </p:sp>
      <p:sp>
        <p:nvSpPr>
          <p:cNvPr id="101" name="Shape 99"/>
          <p:cNvSpPr/>
          <p:nvPr/>
        </p:nvSpPr>
        <p:spPr>
          <a:xfrm>
            <a:off x="457068" y="6248301"/>
            <a:ext cx="114267" cy="114267"/>
          </a:xfrm>
          <a:prstGeom prst="ellipse">
            <a:avLst/>
          </a:prstGeom>
          <a:solidFill>
            <a:srgbClr val="3B82F6"/>
          </a:solidFill>
          <a:ln/>
        </p:spPr>
      </p:sp>
      <p:sp>
        <p:nvSpPr>
          <p:cNvPr id="102" name="Text 100"/>
          <p:cNvSpPr/>
          <p:nvPr/>
        </p:nvSpPr>
        <p:spPr>
          <a:xfrm>
            <a:off x="647568" y="6191251"/>
            <a:ext cx="3572718" cy="249436"/>
          </a:xfrm>
          <a:prstGeom prst="rect">
            <a:avLst/>
          </a:prstGeom>
          <a:noFill/>
          <a:ln/>
        </p:spPr>
        <p:txBody>
          <a:bodyPr wrap="square" lIns="25400" tIns="25400" rIns="25400" bIns="25400" rtlCol="0" anchor="t">
            <a:normAutofit/>
          </a:bodyPr>
          <a:lstStyle/>
          <a:p>
            <a:pPr marL="0" indent="0" algn="l">
              <a:lnSpc>
                <a:spcPct val="124858"/>
              </a:lnSpc>
              <a:buNone/>
            </a:pPr>
            <a:r>
              <a:rPr lang="en-US" sz="1102" dirty="0">
                <a:solidFill>
                  <a:srgbClr val="CBD5E1"/>
                </a:solidFill>
                <a:latin typeface="Inter" pitchFamily="34" charset="0"/>
                <a:ea typeface="Inter" pitchFamily="34" charset="-122"/>
                <a:cs typeface="Inter" pitchFamily="34" charset="-120"/>
              </a:rPr>
              <a:t>Daily Driver · Google Gemini — steps 1, 3, 4, 5, 7</a:t>
            </a:r>
            <a:endParaRPr lang="en-US" sz="1102" dirty="0"/>
          </a:p>
        </p:txBody>
      </p:sp>
      <p:sp>
        <p:nvSpPr>
          <p:cNvPr id="103" name="Shape 101"/>
          <p:cNvSpPr/>
          <p:nvPr/>
        </p:nvSpPr>
        <p:spPr>
          <a:xfrm>
            <a:off x="4124193" y="6248301"/>
            <a:ext cx="114267" cy="114267"/>
          </a:xfrm>
          <a:prstGeom prst="ellipse">
            <a:avLst/>
          </a:prstGeom>
          <a:solidFill>
            <a:srgbClr val="EF4444"/>
          </a:solidFill>
          <a:ln/>
        </p:spPr>
      </p:sp>
      <p:sp>
        <p:nvSpPr>
          <p:cNvPr id="104" name="Text 102"/>
          <p:cNvSpPr/>
          <p:nvPr/>
        </p:nvSpPr>
        <p:spPr>
          <a:xfrm>
            <a:off x="4314693" y="6191251"/>
            <a:ext cx="4526244" cy="249436"/>
          </a:xfrm>
          <a:prstGeom prst="rect">
            <a:avLst/>
          </a:prstGeom>
          <a:noFill/>
          <a:ln/>
        </p:spPr>
        <p:txBody>
          <a:bodyPr wrap="square" lIns="25400" tIns="25400" rIns="25400" bIns="25400" rtlCol="0" anchor="t">
            <a:normAutofit/>
          </a:bodyPr>
          <a:lstStyle/>
          <a:p>
            <a:pPr marL="0" indent="0" algn="l">
              <a:lnSpc>
                <a:spcPct val="124858"/>
              </a:lnSpc>
              <a:buNone/>
            </a:pPr>
            <a:r>
              <a:rPr lang="en-US" sz="1102" dirty="0">
                <a:solidFill>
                  <a:srgbClr val="CBD5E1"/>
                </a:solidFill>
                <a:latin typeface="Inter" pitchFamily="34" charset="0"/>
                <a:ea typeface="Inter" pitchFamily="34" charset="-122"/>
                <a:cs typeface="Inter" pitchFamily="34" charset="-120"/>
              </a:rPr>
              <a:t>Sensitive Lane · Copilot Chat (Basic) — step 6, Prompt Coach</a:t>
            </a:r>
            <a:endParaRPr lang="en-US" sz="1102" dirty="0"/>
          </a:p>
        </p:txBody>
      </p:sp>
      <p:sp>
        <p:nvSpPr>
          <p:cNvPr id="105" name="Shape 103"/>
          <p:cNvSpPr/>
          <p:nvPr/>
        </p:nvSpPr>
        <p:spPr>
          <a:xfrm>
            <a:off x="8658159" y="6248301"/>
            <a:ext cx="114267" cy="114267"/>
          </a:xfrm>
          <a:prstGeom prst="ellipse">
            <a:avLst/>
          </a:prstGeom>
          <a:solidFill>
            <a:srgbClr val="64748B"/>
          </a:solidFill>
          <a:ln/>
        </p:spPr>
      </p:sp>
      <p:sp>
        <p:nvSpPr>
          <p:cNvPr id="106" name="Text 104"/>
          <p:cNvSpPr/>
          <p:nvPr/>
        </p:nvSpPr>
        <p:spPr>
          <a:xfrm>
            <a:off x="8848659" y="6191251"/>
            <a:ext cx="4201368" cy="249436"/>
          </a:xfrm>
          <a:prstGeom prst="rect">
            <a:avLst/>
          </a:prstGeom>
          <a:noFill/>
          <a:ln/>
        </p:spPr>
        <p:txBody>
          <a:bodyPr wrap="square" lIns="25400" tIns="25400" rIns="25400" bIns="25400" rtlCol="0" anchor="t">
            <a:normAutofit/>
          </a:bodyPr>
          <a:lstStyle/>
          <a:p>
            <a:pPr marL="0" indent="0" algn="l">
              <a:lnSpc>
                <a:spcPct val="124858"/>
              </a:lnSpc>
              <a:buNone/>
            </a:pPr>
            <a:r>
              <a:rPr lang="en-US" sz="1102" dirty="0">
                <a:solidFill>
                  <a:srgbClr val="CBD5E1"/>
                </a:solidFill>
                <a:latin typeface="Inter" pitchFamily="34" charset="0"/>
                <a:ea typeface="Inter" pitchFamily="34" charset="-122"/>
                <a:cs typeface="Inter" pitchFamily="34" charset="-120"/>
              </a:rPr>
              <a:t>No lane — step 2 (no AI tool), step 8 (outside both lanes)</a:t>
            </a:r>
            <a:endParaRPr lang="en-US" sz="1102" dirty="0"/>
          </a:p>
        </p:txBody>
      </p:sp>
      <p:sp>
        <p:nvSpPr>
          <p:cNvPr id="107" name="Text 105"/>
          <p:cNvSpPr/>
          <p:nvPr/>
        </p:nvSpPr>
        <p:spPr>
          <a:xfrm>
            <a:off x="9144001" y="6648318"/>
            <a:ext cx="4238210" cy="460772"/>
          </a:xfrm>
          <a:prstGeom prst="rect">
            <a:avLst/>
          </a:prstGeom>
          <a:noFill/>
          <a:ln/>
        </p:spPr>
        <p:txBody>
          <a:bodyPr wrap="square" lIns="25400" tIns="25400" rIns="25400" bIns="25400" rtlCol="0" anchor="t">
            <a:normAutofit/>
          </a:bodyPr>
          <a:lstStyle/>
          <a:p>
            <a:pPr marL="0" indent="0" algn="l">
              <a:lnSpc>
                <a:spcPct val="124858"/>
              </a:lnSpc>
              <a:buNone/>
            </a:pPr>
            <a:r>
              <a:rPr lang="en-US" sz="1102" dirty="0">
                <a:solidFill>
                  <a:srgbClr val="94A3B8"/>
                </a:solidFill>
                <a:latin typeface="Inter" pitchFamily="34" charset="0"/>
                <a:ea typeface="Inter" pitchFamily="34" charset="-122"/>
                <a:cs typeface="Inter" pitchFamily="34" charset="-120"/>
              </a:rPr>
              <a:t>Screenshot this slide and the next three — together they are the assignment.</a:t>
            </a:r>
            <a:endParaRPr lang="en-US" sz="1102"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4" name="Text 2"/>
          <p:cNvSpPr/>
          <p:nvPr/>
        </p:nvSpPr>
        <p:spPr>
          <a:xfrm>
            <a:off x="457068" y="457068"/>
            <a:ext cx="14081688" cy="530225"/>
          </a:xfrm>
          <a:prstGeom prst="rect">
            <a:avLst/>
          </a:prstGeom>
          <a:noFill/>
          <a:ln/>
        </p:spPr>
        <p:txBody>
          <a:bodyPr wrap="square" lIns="25400" tIns="25400" rIns="25400" bIns="25400" rtlCol="0" anchor="t">
            <a:normAutofit/>
          </a:bodyPr>
          <a:lstStyle/>
          <a:p>
            <a:pPr marL="0" indent="0" algn="l">
              <a:lnSpc>
                <a:spcPct val="101088"/>
              </a:lnSpc>
              <a:buNone/>
            </a:pPr>
            <a:r>
              <a:rPr lang="en-US" sz="3203" b="1" dirty="0">
                <a:solidFill>
                  <a:srgbClr val="FFFFFF"/>
                </a:solidFill>
                <a:latin typeface="Inter" pitchFamily="34" charset="0"/>
                <a:ea typeface="Inter" pitchFamily="34" charset="-122"/>
                <a:cs typeface="Inter" pitchFamily="34" charset="-120"/>
              </a:rPr>
              <a:t>The blueprint · steps 1–3</a:t>
            </a:r>
            <a:endParaRPr lang="en-US" sz="3203" dirty="0"/>
          </a:p>
        </p:txBody>
      </p:sp>
      <p:sp>
        <p:nvSpPr>
          <p:cNvPr id="5" name="Text 3"/>
          <p:cNvSpPr/>
          <p:nvPr/>
        </p:nvSpPr>
        <p:spPr>
          <a:xfrm>
            <a:off x="457068" y="1076193"/>
            <a:ext cx="14081688" cy="249436"/>
          </a:xfrm>
          <a:prstGeom prst="rect">
            <a:avLst/>
          </a:prstGeom>
          <a:noFill/>
          <a:ln/>
        </p:spPr>
        <p:txBody>
          <a:bodyPr wrap="square" lIns="25400" tIns="25400" rIns="25400" bIns="25400" rtlCol="0" anchor="t">
            <a:normAutofit/>
          </a:bodyPr>
          <a:lstStyle/>
          <a:p>
            <a:pPr marL="0" indent="0" algn="l">
              <a:lnSpc>
                <a:spcPct val="124858"/>
              </a:lnSpc>
              <a:buNone/>
            </a:pPr>
            <a:r>
              <a:rPr lang="en-US" sz="1102" dirty="0">
                <a:solidFill>
                  <a:srgbClr val="94A3B8"/>
                </a:solidFill>
                <a:latin typeface="Inter" pitchFamily="34" charset="0"/>
                <a:ea typeface="Inter" pitchFamily="34" charset="-122"/>
                <a:cs typeface="Inter" pitchFamily="34" charset="-120"/>
              </a:rPr>
              <a:t>Prepare and start gathering: fix the topic, make your own material safe to upload, and research what it does not cover</a:t>
            </a:r>
            <a:endParaRPr lang="en-US" sz="1102" dirty="0"/>
          </a:p>
        </p:txBody>
      </p:sp>
      <p:sp>
        <p:nvSpPr>
          <p:cNvPr id="6" name="Shape 4"/>
          <p:cNvSpPr/>
          <p:nvPr/>
        </p:nvSpPr>
        <p:spPr>
          <a:xfrm>
            <a:off x="4791109" y="1657218"/>
            <a:ext cx="4114767" cy="5419659"/>
          </a:xfrm>
          <a:prstGeom prst="roundRect">
            <a:avLst>
              <a:gd name="adj" fmla="val 2778"/>
            </a:avLst>
          </a:prstGeom>
          <a:gradFill rotWithShape="1">
            <a:gsLst>
              <a:gs pos="0">
                <a:srgbClr val="FFFFFF">
                  <a:alpha val="11000"/>
                </a:srgbClr>
              </a:gs>
              <a:gs pos="100000">
                <a:srgbClr val="FFFFFF">
                  <a:alpha val="2000"/>
                </a:srgbClr>
              </a:gs>
            </a:gsLst>
            <a:lin ang="5400000" scaled="0"/>
          </a:gradFill>
          <a:ln w="10583">
            <a:solidFill>
              <a:srgbClr val="FFFFFF">
                <a:alpha val="12000"/>
              </a:srgbClr>
            </a:solidFill>
            <a:prstDash val="solid"/>
          </a:ln>
          <a:effectLst>
            <a:outerShdw blurRad="228600" dist="76200" dir="5400000" algn="bl" rotWithShape="0">
              <a:srgbClr val="000000">
                <a:alpha val="25000"/>
              </a:srgbClr>
            </a:outerShdw>
          </a:effectLst>
        </p:spPr>
      </p:sp>
      <p:sp>
        <p:nvSpPr>
          <p:cNvPr id="7" name="Shape 5"/>
          <p:cNvSpPr/>
          <p:nvPr/>
        </p:nvSpPr>
        <p:spPr>
          <a:xfrm>
            <a:off x="457068" y="7076943"/>
            <a:ext cx="4114767" cy="9525"/>
          </a:xfrm>
          <a:prstGeom prst="rect">
            <a:avLst/>
          </a:prstGeom>
          <a:solidFill>
            <a:srgbClr val="FFFFFF">
              <a:alpha val="8000"/>
            </a:srgbClr>
          </a:solidFill>
          <a:ln/>
        </p:spPr>
      </p:sp>
      <p:sp>
        <p:nvSpPr>
          <p:cNvPr id="8" name="Shape 6"/>
          <p:cNvSpPr/>
          <p:nvPr/>
        </p:nvSpPr>
        <p:spPr>
          <a:xfrm>
            <a:off x="457068" y="1666875"/>
            <a:ext cx="4114767" cy="9525"/>
          </a:xfrm>
          <a:prstGeom prst="rect">
            <a:avLst/>
          </a:prstGeom>
          <a:solidFill>
            <a:srgbClr val="FFFFFF">
              <a:alpha val="8000"/>
            </a:srgbClr>
          </a:solidFill>
          <a:ln/>
        </p:spPr>
      </p:sp>
      <p:sp>
        <p:nvSpPr>
          <p:cNvPr id="9" name="Shape 7"/>
          <p:cNvSpPr/>
          <p:nvPr/>
        </p:nvSpPr>
        <p:spPr>
          <a:xfrm>
            <a:off x="457068" y="1762125"/>
            <a:ext cx="28443" cy="5229159"/>
          </a:xfrm>
          <a:prstGeom prst="rect">
            <a:avLst/>
          </a:prstGeom>
          <a:solidFill>
            <a:srgbClr val="3B82F6"/>
          </a:solidFill>
          <a:ln/>
        </p:spPr>
      </p:sp>
      <p:sp>
        <p:nvSpPr>
          <p:cNvPr id="10" name="Shape 8"/>
          <p:cNvSpPr/>
          <p:nvPr/>
        </p:nvSpPr>
        <p:spPr>
          <a:xfrm>
            <a:off x="4562409" y="1762125"/>
            <a:ext cx="9525" cy="5229159"/>
          </a:xfrm>
          <a:prstGeom prst="rect">
            <a:avLst/>
          </a:prstGeom>
          <a:solidFill>
            <a:srgbClr val="FFFFFF">
              <a:alpha val="8000"/>
            </a:srgbClr>
          </a:solidFill>
          <a:ln/>
        </p:spPr>
      </p:sp>
      <p:sp>
        <p:nvSpPr>
          <p:cNvPr id="17" name="Shape 15"/>
          <p:cNvSpPr/>
          <p:nvPr/>
        </p:nvSpPr>
        <p:spPr>
          <a:xfrm>
            <a:off x="704784" y="4581426"/>
            <a:ext cx="3590892" cy="9525"/>
          </a:xfrm>
          <a:prstGeom prst="rect">
            <a:avLst/>
          </a:prstGeom>
          <a:solidFill>
            <a:srgbClr val="FFFFFF">
              <a:alpha val="7000"/>
            </a:srgbClr>
          </a:solidFill>
          <a:ln/>
        </p:spPr>
      </p:sp>
      <p:sp>
        <p:nvSpPr>
          <p:cNvPr id="20" name="Shape 18"/>
          <p:cNvSpPr/>
          <p:nvPr/>
        </p:nvSpPr>
        <p:spPr>
          <a:xfrm>
            <a:off x="4800534" y="1666875"/>
            <a:ext cx="4114767" cy="5419659"/>
          </a:xfrm>
          <a:prstGeom prst="roundRect">
            <a:avLst>
              <a:gd name="adj" fmla="val 2778"/>
            </a:avLst>
          </a:prstGeom>
          <a:gradFill rotWithShape="1">
            <a:gsLst>
              <a:gs pos="0">
                <a:srgbClr val="FFFFFF">
                  <a:alpha val="11000"/>
                </a:srgbClr>
              </a:gs>
              <a:gs pos="100000">
                <a:srgbClr val="FFFFFF">
                  <a:alpha val="2000"/>
                </a:srgbClr>
              </a:gs>
            </a:gsLst>
            <a:lin ang="5400000" scaled="0"/>
          </a:gradFill>
          <a:ln w="10583">
            <a:solidFill>
              <a:srgbClr val="FFFFFF">
                <a:alpha val="12000"/>
              </a:srgbClr>
            </a:solidFill>
            <a:prstDash val="solid"/>
          </a:ln>
          <a:effectLst>
            <a:outerShdw blurRad="228600" dist="76200" dir="5400000" algn="bl" rotWithShape="0">
              <a:srgbClr val="000000">
                <a:alpha val="25000"/>
              </a:srgbClr>
            </a:outerShdw>
          </a:effectLst>
        </p:spPr>
      </p:sp>
      <p:sp>
        <p:nvSpPr>
          <p:cNvPr id="21" name="Shape 19"/>
          <p:cNvSpPr/>
          <p:nvPr/>
        </p:nvSpPr>
        <p:spPr>
          <a:xfrm>
            <a:off x="4800534" y="7076943"/>
            <a:ext cx="4114767" cy="9525"/>
          </a:xfrm>
          <a:prstGeom prst="rect">
            <a:avLst/>
          </a:prstGeom>
          <a:solidFill>
            <a:srgbClr val="FFFFFF">
              <a:alpha val="8000"/>
            </a:srgbClr>
          </a:solidFill>
          <a:ln/>
        </p:spPr>
      </p:sp>
      <p:sp>
        <p:nvSpPr>
          <p:cNvPr id="22" name="Shape 20"/>
          <p:cNvSpPr/>
          <p:nvPr/>
        </p:nvSpPr>
        <p:spPr>
          <a:xfrm>
            <a:off x="4800534" y="1666875"/>
            <a:ext cx="4114767" cy="9525"/>
          </a:xfrm>
          <a:prstGeom prst="rect">
            <a:avLst/>
          </a:prstGeom>
          <a:solidFill>
            <a:srgbClr val="FFFFFF">
              <a:alpha val="8000"/>
            </a:srgbClr>
          </a:solidFill>
          <a:ln/>
        </p:spPr>
      </p:sp>
      <p:sp>
        <p:nvSpPr>
          <p:cNvPr id="23" name="Shape 21"/>
          <p:cNvSpPr/>
          <p:nvPr/>
        </p:nvSpPr>
        <p:spPr>
          <a:xfrm>
            <a:off x="4800534" y="1762125"/>
            <a:ext cx="28443" cy="5229159"/>
          </a:xfrm>
          <a:prstGeom prst="rect">
            <a:avLst/>
          </a:prstGeom>
          <a:solidFill>
            <a:srgbClr val="64748B"/>
          </a:solidFill>
          <a:ln/>
        </p:spPr>
      </p:sp>
      <p:sp>
        <p:nvSpPr>
          <p:cNvPr id="24" name="Shape 22"/>
          <p:cNvSpPr/>
          <p:nvPr/>
        </p:nvSpPr>
        <p:spPr>
          <a:xfrm>
            <a:off x="8905876" y="1762125"/>
            <a:ext cx="9525" cy="5229159"/>
          </a:xfrm>
          <a:prstGeom prst="rect">
            <a:avLst/>
          </a:prstGeom>
          <a:solidFill>
            <a:srgbClr val="FFFFFF">
              <a:alpha val="8000"/>
            </a:srgbClr>
          </a:solidFill>
          <a:ln/>
        </p:spPr>
      </p:sp>
      <p:sp>
        <p:nvSpPr>
          <p:cNvPr id="25" name="Text 23"/>
          <p:cNvSpPr/>
          <p:nvPr/>
        </p:nvSpPr>
        <p:spPr>
          <a:xfrm>
            <a:off x="5048250" y="1857375"/>
            <a:ext cx="3981450" cy="320047"/>
          </a:xfrm>
          <a:prstGeom prst="rect">
            <a:avLst/>
          </a:prstGeom>
          <a:noFill/>
          <a:ln/>
        </p:spPr>
        <p:txBody>
          <a:bodyPr wrap="square" lIns="25400" tIns="25400" rIns="25400" bIns="25400" rtlCol="0" anchor="t">
            <a:normAutofit/>
          </a:bodyPr>
          <a:lstStyle/>
          <a:p>
            <a:pPr marL="0" indent="0" algn="l">
              <a:lnSpc>
                <a:spcPct val="111026"/>
              </a:lnSpc>
              <a:buNone/>
            </a:pPr>
            <a:r>
              <a:rPr lang="en-US" sz="1598" b="1" dirty="0">
                <a:solidFill>
                  <a:srgbClr val="FFFFFF"/>
                </a:solidFill>
                <a:latin typeface="Inter" pitchFamily="34" charset="0"/>
                <a:ea typeface="Inter" pitchFamily="34" charset="-122"/>
                <a:cs typeface="Inter" pitchFamily="34" charset="-120"/>
              </a:rPr>
              <a:t>2 · Anonymise your own material</a:t>
            </a:r>
            <a:endParaRPr lang="en-US" sz="1598" dirty="0"/>
          </a:p>
        </p:txBody>
      </p:sp>
      <p:sp>
        <p:nvSpPr>
          <p:cNvPr id="26" name="Text 24"/>
          <p:cNvSpPr/>
          <p:nvPr/>
        </p:nvSpPr>
        <p:spPr>
          <a:xfrm>
            <a:off x="5048250" y="2200176"/>
            <a:ext cx="3728085" cy="783729"/>
          </a:xfrm>
          <a:prstGeom prst="rect">
            <a:avLst/>
          </a:prstGeom>
          <a:noFill/>
          <a:ln/>
        </p:spPr>
        <p:txBody>
          <a:bodyPr wrap="square" lIns="25400" tIns="25400" rIns="25400" bIns="25400" rtlCol="0" anchor="t">
            <a:normAutofit/>
          </a:bodyPr>
          <a:lstStyle/>
          <a:p>
            <a:pPr marL="0" indent="0" algn="l">
              <a:lnSpc>
                <a:spcPct val="123741"/>
              </a:lnSpc>
              <a:buNone/>
            </a:pPr>
            <a:r>
              <a:rPr lang="en-US" sz="1298" dirty="0">
                <a:solidFill>
                  <a:srgbClr val="94A3B8"/>
                </a:solidFill>
                <a:latin typeface="Inter" pitchFamily="34" charset="0"/>
                <a:ea typeface="Inter" pitchFamily="34" charset="-122"/>
                <a:cs typeface="Inter" pitchFamily="34" charset="-120"/>
              </a:rPr>
              <a:t>No AI tool · Word or Excel, by hand · No lane · Required if the material contains sensitive data</a:t>
            </a:r>
            <a:endParaRPr lang="en-US" sz="1298" dirty="0"/>
          </a:p>
        </p:txBody>
      </p:sp>
      <p:sp>
        <p:nvSpPr>
          <p:cNvPr id="31" name="Shape 29"/>
          <p:cNvSpPr/>
          <p:nvPr/>
        </p:nvSpPr>
        <p:spPr>
          <a:xfrm>
            <a:off x="5048250" y="4495767"/>
            <a:ext cx="3590892" cy="9525"/>
          </a:xfrm>
          <a:prstGeom prst="rect">
            <a:avLst/>
          </a:prstGeom>
          <a:solidFill>
            <a:srgbClr val="FFFFFF">
              <a:alpha val="7000"/>
            </a:srgbClr>
          </a:solidFill>
          <a:ln/>
        </p:spPr>
      </p:sp>
      <p:sp>
        <p:nvSpPr>
          <p:cNvPr id="32" name="Text 30"/>
          <p:cNvSpPr/>
          <p:nvPr/>
        </p:nvSpPr>
        <p:spPr>
          <a:xfrm>
            <a:off x="5048250" y="4638642"/>
            <a:ext cx="3981450" cy="203630"/>
          </a:xfrm>
          <a:prstGeom prst="rect">
            <a:avLst/>
          </a:prstGeom>
          <a:noFill/>
          <a:ln/>
        </p:spPr>
        <p:txBody>
          <a:bodyPr wrap="square" lIns="25400" tIns="25400" rIns="25400" bIns="25400" rtlCol="0" anchor="t">
            <a:normAutofit lnSpcReduction="10000"/>
          </a:bodyPr>
          <a:lstStyle/>
          <a:p>
            <a:pPr marL="0" indent="0" algn="l">
              <a:lnSpc>
                <a:spcPct val="120462"/>
              </a:lnSpc>
              <a:buNone/>
            </a:pPr>
            <a:r>
              <a:rPr lang="en-US" sz="900" b="1" kern="0" spc="72" dirty="0">
                <a:solidFill>
                  <a:srgbClr val="34D399"/>
                </a:solidFill>
                <a:latin typeface="Inter" pitchFamily="34" charset="0"/>
                <a:ea typeface="Inter" pitchFamily="34" charset="-122"/>
                <a:cs typeface="Inter" pitchFamily="34" charset="-120"/>
              </a:rPr>
              <a:t>HOW TO RUN IT</a:t>
            </a:r>
            <a:endParaRPr lang="en-US" sz="900" dirty="0"/>
          </a:p>
        </p:txBody>
      </p:sp>
      <p:sp>
        <p:nvSpPr>
          <p:cNvPr id="33" name="Text 31"/>
          <p:cNvSpPr/>
          <p:nvPr/>
        </p:nvSpPr>
        <p:spPr>
          <a:xfrm>
            <a:off x="5048250" y="4867176"/>
            <a:ext cx="3728085" cy="2026444"/>
          </a:xfrm>
          <a:prstGeom prst="rect">
            <a:avLst/>
          </a:prstGeom>
          <a:noFill/>
          <a:ln/>
        </p:spPr>
        <p:txBody>
          <a:bodyPr wrap="square" lIns="25400" tIns="25400" rIns="25400" bIns="25400" rtlCol="0" anchor="t">
            <a:normAutofit/>
          </a:bodyPr>
          <a:lstStyle/>
          <a:p>
            <a:pPr marL="0" indent="0" algn="l">
              <a:lnSpc>
                <a:spcPct val="123741"/>
              </a:lnSpc>
              <a:buNone/>
            </a:pPr>
            <a:r>
              <a:rPr lang="en-US" sz="1298" dirty="0">
                <a:solidFill>
                  <a:srgbClr val="CBD5E1"/>
                </a:solidFill>
                <a:latin typeface="Inter" pitchFamily="34" charset="0"/>
                <a:ea typeface="Inter" pitchFamily="34" charset="-122"/>
                <a:cs typeface="Inter" pitchFamily="34" charset="-120"/>
              </a:rPr>
              <a:t>Work on a copy. Go through each file by hand with the Lesson 1 anonymisation checklist: replace names, IDs, amounts, dates, anything that identifies a person or a project. Record per file: anonymised, public, or not usable.</a:t>
            </a:r>
            <a:endParaRPr lang="en-US" sz="1298" dirty="0"/>
          </a:p>
        </p:txBody>
      </p:sp>
      <p:sp>
        <p:nvSpPr>
          <p:cNvPr id="34" name="Shape 32"/>
          <p:cNvSpPr/>
          <p:nvPr/>
        </p:nvSpPr>
        <p:spPr>
          <a:xfrm>
            <a:off x="9134409" y="1666875"/>
            <a:ext cx="4114767" cy="5419659"/>
          </a:xfrm>
          <a:prstGeom prst="roundRect">
            <a:avLst>
              <a:gd name="adj" fmla="val 2778"/>
            </a:avLst>
          </a:prstGeom>
          <a:gradFill rotWithShape="1">
            <a:gsLst>
              <a:gs pos="0">
                <a:srgbClr val="FFFFFF">
                  <a:alpha val="11000"/>
                </a:srgbClr>
              </a:gs>
              <a:gs pos="100000">
                <a:srgbClr val="FFFFFF">
                  <a:alpha val="2000"/>
                </a:srgbClr>
              </a:gs>
            </a:gsLst>
            <a:lin ang="5400000" scaled="0"/>
          </a:gradFill>
          <a:ln w="10583">
            <a:solidFill>
              <a:srgbClr val="FFFFFF">
                <a:alpha val="12000"/>
              </a:srgbClr>
            </a:solidFill>
            <a:prstDash val="solid"/>
          </a:ln>
          <a:effectLst>
            <a:outerShdw blurRad="228600" dist="76200" dir="5400000" algn="bl" rotWithShape="0">
              <a:srgbClr val="000000">
                <a:alpha val="25000"/>
              </a:srgbClr>
            </a:outerShdw>
          </a:effectLst>
        </p:spPr>
      </p:sp>
      <p:sp>
        <p:nvSpPr>
          <p:cNvPr id="35" name="Shape 33"/>
          <p:cNvSpPr/>
          <p:nvPr/>
        </p:nvSpPr>
        <p:spPr>
          <a:xfrm>
            <a:off x="9144001" y="7076943"/>
            <a:ext cx="4114767" cy="9525"/>
          </a:xfrm>
          <a:prstGeom prst="rect">
            <a:avLst/>
          </a:prstGeom>
          <a:solidFill>
            <a:srgbClr val="FFFFFF">
              <a:alpha val="8000"/>
            </a:srgbClr>
          </a:solidFill>
          <a:ln/>
        </p:spPr>
      </p:sp>
      <p:sp>
        <p:nvSpPr>
          <p:cNvPr id="36" name="Shape 34"/>
          <p:cNvSpPr/>
          <p:nvPr/>
        </p:nvSpPr>
        <p:spPr>
          <a:xfrm>
            <a:off x="9144001" y="1666875"/>
            <a:ext cx="4114767" cy="9525"/>
          </a:xfrm>
          <a:prstGeom prst="rect">
            <a:avLst/>
          </a:prstGeom>
          <a:solidFill>
            <a:srgbClr val="FFFFFF">
              <a:alpha val="8000"/>
            </a:srgbClr>
          </a:solidFill>
          <a:ln/>
        </p:spPr>
      </p:sp>
      <p:sp>
        <p:nvSpPr>
          <p:cNvPr id="37" name="Shape 35"/>
          <p:cNvSpPr/>
          <p:nvPr/>
        </p:nvSpPr>
        <p:spPr>
          <a:xfrm>
            <a:off x="9144001" y="1762125"/>
            <a:ext cx="28443" cy="5229159"/>
          </a:xfrm>
          <a:prstGeom prst="rect">
            <a:avLst/>
          </a:prstGeom>
          <a:solidFill>
            <a:srgbClr val="3B82F6"/>
          </a:solidFill>
          <a:ln/>
        </p:spPr>
      </p:sp>
      <p:sp>
        <p:nvSpPr>
          <p:cNvPr id="38" name="Shape 36"/>
          <p:cNvSpPr/>
          <p:nvPr/>
        </p:nvSpPr>
        <p:spPr>
          <a:xfrm>
            <a:off x="13249176" y="1762125"/>
            <a:ext cx="9525" cy="5229159"/>
          </a:xfrm>
          <a:prstGeom prst="rect">
            <a:avLst/>
          </a:prstGeom>
          <a:solidFill>
            <a:srgbClr val="FFFFFF">
              <a:alpha val="8000"/>
            </a:srgbClr>
          </a:solidFill>
          <a:ln/>
        </p:spPr>
      </p:sp>
      <p:sp>
        <p:nvSpPr>
          <p:cNvPr id="45" name="Shape 43"/>
          <p:cNvSpPr/>
          <p:nvPr/>
        </p:nvSpPr>
        <p:spPr>
          <a:xfrm>
            <a:off x="9391551" y="4838568"/>
            <a:ext cx="3590892" cy="9525"/>
          </a:xfrm>
          <a:prstGeom prst="rect">
            <a:avLst/>
          </a:prstGeom>
          <a:solidFill>
            <a:srgbClr val="FFFFFF">
              <a:alpha val="7000"/>
            </a:srgbClr>
          </a:solidFill>
          <a:ln/>
        </p:spPr>
      </p:sp>
      <p:sp>
        <p:nvSpPr>
          <p:cNvPr id="75" name="Text 9">
            <a:extLst>
              <a:ext uri="{FF2B5EF4-FFF2-40B4-BE49-F238E27FC236}">
                <a16:creationId xmlns:a16="http://schemas.microsoft.com/office/drawing/2014/main" id="{337D8E0F-6B87-97EC-405A-89C01AA985DB}"/>
              </a:ext>
            </a:extLst>
          </p:cNvPr>
          <p:cNvSpPr/>
          <p:nvPr/>
        </p:nvSpPr>
        <p:spPr>
          <a:xfrm>
            <a:off x="704784" y="2200176"/>
            <a:ext cx="3981450" cy="320047"/>
          </a:xfrm>
          <a:prstGeom prst="rect">
            <a:avLst/>
          </a:prstGeom>
          <a:noFill/>
          <a:ln/>
        </p:spPr>
        <p:txBody>
          <a:bodyPr wrap="square" lIns="25400" tIns="25400" rIns="25400" bIns="25400" rtlCol="0" anchor="t">
            <a:normAutofit fontScale="92500" lnSpcReduction="20000"/>
          </a:bodyPr>
          <a:lstStyle/>
          <a:p>
            <a:pPr>
              <a:lnSpc>
                <a:spcPct val="111026"/>
              </a:lnSpc>
            </a:pPr>
            <a:r>
              <a:rPr lang="hu-HU" sz="1598" b="1" dirty="0">
                <a:solidFill>
                  <a:srgbClr val="FFFFFF"/>
                </a:solidFill>
                <a:latin typeface="Inter" pitchFamily="34" charset="0"/>
                <a:ea typeface="Inter" pitchFamily="34" charset="-122"/>
                <a:cs typeface="Inter" pitchFamily="34" charset="-120"/>
              </a:rPr>
              <a:t>1</a:t>
            </a:r>
            <a:r>
              <a:rPr lang="en-US" sz="1598" b="1" dirty="0">
                <a:solidFill>
                  <a:srgbClr val="FFFFFF"/>
                </a:solidFill>
                <a:latin typeface="Inter" pitchFamily="34" charset="0"/>
                <a:ea typeface="Inter" pitchFamily="34" charset="-122"/>
                <a:cs typeface="Inter" pitchFamily="34" charset="-120"/>
              </a:rPr>
              <a:t>· Collect what the presentation must cover</a:t>
            </a:r>
            <a:endParaRPr lang="en-US" sz="1598" dirty="0"/>
          </a:p>
        </p:txBody>
      </p:sp>
      <p:sp>
        <p:nvSpPr>
          <p:cNvPr id="77" name="Text 10">
            <a:extLst>
              <a:ext uri="{FF2B5EF4-FFF2-40B4-BE49-F238E27FC236}">
                <a16:creationId xmlns:a16="http://schemas.microsoft.com/office/drawing/2014/main" id="{F7753B46-2FA8-A08E-55DC-D2365700A0DC}"/>
              </a:ext>
            </a:extLst>
          </p:cNvPr>
          <p:cNvSpPr/>
          <p:nvPr/>
        </p:nvSpPr>
        <p:spPr>
          <a:xfrm>
            <a:off x="704784" y="2543142"/>
            <a:ext cx="3728085" cy="535186"/>
          </a:xfrm>
          <a:prstGeom prst="rect">
            <a:avLst/>
          </a:prstGeom>
          <a:noFill/>
          <a:ln/>
        </p:spPr>
        <p:txBody>
          <a:bodyPr wrap="square" lIns="25400" tIns="25400" rIns="25400" bIns="25400" rtlCol="0" anchor="t">
            <a:normAutofit/>
          </a:bodyPr>
          <a:lstStyle/>
          <a:p>
            <a:pPr>
              <a:lnSpc>
                <a:spcPct val="123741"/>
              </a:lnSpc>
            </a:pPr>
            <a:r>
              <a:rPr lang="en-US" sz="1298" dirty="0" err="1">
                <a:solidFill>
                  <a:srgbClr val="60A5FA"/>
                </a:solidFill>
                <a:latin typeface="Inter" pitchFamily="34" charset="0"/>
                <a:ea typeface="Inter" pitchFamily="34" charset="-122"/>
                <a:cs typeface="Inter" pitchFamily="34" charset="-120"/>
              </a:rPr>
              <a:t>NotebookLM</a:t>
            </a:r>
            <a:r>
              <a:rPr lang="en-US" sz="1298" dirty="0">
                <a:solidFill>
                  <a:srgbClr val="60A5FA"/>
                </a:solidFill>
                <a:latin typeface="Inter" pitchFamily="34" charset="0"/>
                <a:ea typeface="Inter" pitchFamily="34" charset="-122"/>
                <a:cs typeface="Inter" pitchFamily="34" charset="-120"/>
              </a:rPr>
              <a:t> · Daily Driver · Optional</a:t>
            </a:r>
            <a:endParaRPr lang="en-US" sz="1298" dirty="0"/>
          </a:p>
        </p:txBody>
      </p:sp>
      <p:sp>
        <p:nvSpPr>
          <p:cNvPr id="83" name="Text 16">
            <a:extLst>
              <a:ext uri="{FF2B5EF4-FFF2-40B4-BE49-F238E27FC236}">
                <a16:creationId xmlns:a16="http://schemas.microsoft.com/office/drawing/2014/main" id="{6546535F-FEA4-3A7E-A918-38DB9681EE4E}"/>
              </a:ext>
            </a:extLst>
          </p:cNvPr>
          <p:cNvSpPr/>
          <p:nvPr/>
        </p:nvSpPr>
        <p:spPr>
          <a:xfrm>
            <a:off x="704784" y="4724301"/>
            <a:ext cx="3981450" cy="203630"/>
          </a:xfrm>
          <a:prstGeom prst="rect">
            <a:avLst/>
          </a:prstGeom>
          <a:noFill/>
          <a:ln/>
        </p:spPr>
        <p:txBody>
          <a:bodyPr wrap="square" lIns="25400" tIns="25400" rIns="25400" bIns="25400" rtlCol="0" anchor="t">
            <a:normAutofit lnSpcReduction="10000"/>
          </a:bodyPr>
          <a:lstStyle/>
          <a:p>
            <a:pPr marL="0" indent="0" algn="l">
              <a:lnSpc>
                <a:spcPct val="120462"/>
              </a:lnSpc>
              <a:buNone/>
            </a:pPr>
            <a:r>
              <a:rPr lang="en-US" sz="900" b="1" kern="0" spc="72" dirty="0">
                <a:solidFill>
                  <a:srgbClr val="34D399"/>
                </a:solidFill>
                <a:latin typeface="Inter" pitchFamily="34" charset="0"/>
                <a:ea typeface="Inter" pitchFamily="34" charset="-122"/>
                <a:cs typeface="Inter" pitchFamily="34" charset="-120"/>
              </a:rPr>
              <a:t>HOW TO RUN IT</a:t>
            </a:r>
            <a:endParaRPr lang="en-US" sz="900" dirty="0"/>
          </a:p>
        </p:txBody>
      </p:sp>
      <p:sp>
        <p:nvSpPr>
          <p:cNvPr id="85" name="Text 17">
            <a:extLst>
              <a:ext uri="{FF2B5EF4-FFF2-40B4-BE49-F238E27FC236}">
                <a16:creationId xmlns:a16="http://schemas.microsoft.com/office/drawing/2014/main" id="{F1189D1A-5645-4D66-8D21-F93C6604EA12}"/>
              </a:ext>
            </a:extLst>
          </p:cNvPr>
          <p:cNvSpPr/>
          <p:nvPr/>
        </p:nvSpPr>
        <p:spPr>
          <a:xfrm>
            <a:off x="704784" y="4953000"/>
            <a:ext cx="3728085" cy="1280815"/>
          </a:xfrm>
          <a:prstGeom prst="rect">
            <a:avLst/>
          </a:prstGeom>
          <a:noFill/>
          <a:ln/>
        </p:spPr>
        <p:txBody>
          <a:bodyPr wrap="square" lIns="25400" tIns="25400" rIns="25400" bIns="25400" rtlCol="0" anchor="t">
            <a:normAutofit/>
          </a:bodyPr>
          <a:lstStyle/>
          <a:p>
            <a:pPr>
              <a:lnSpc>
                <a:spcPct val="123741"/>
              </a:lnSpc>
            </a:pPr>
            <a:r>
              <a:rPr lang="en-US" sz="1298" dirty="0">
                <a:solidFill>
                  <a:srgbClr val="CBD5E1"/>
                </a:solidFill>
                <a:latin typeface="Inter" pitchFamily="34" charset="0"/>
                <a:ea typeface="Inter" pitchFamily="34" charset="-122"/>
                <a:cs typeface="Inter" pitchFamily="34" charset="-120"/>
              </a:rPr>
              <a:t>One notebook per topic. Add the files, then ask: what does a newcomer need to know about this, and which source says it? </a:t>
            </a:r>
            <a:r>
              <a:rPr lang="hu-HU" sz="1298" dirty="0" err="1">
                <a:solidFill>
                  <a:srgbClr val="CBD5E1"/>
                </a:solidFill>
                <a:latin typeface="Inter" pitchFamily="34" charset="0"/>
                <a:ea typeface="Inter" pitchFamily="34" charset="-122"/>
                <a:cs typeface="Inter" pitchFamily="34" charset="-120"/>
              </a:rPr>
              <a:t>Double</a:t>
            </a:r>
            <a:r>
              <a:rPr lang="hu-HU" sz="1298" dirty="0">
                <a:solidFill>
                  <a:srgbClr val="CBD5E1"/>
                </a:solidFill>
                <a:latin typeface="Inter" pitchFamily="34" charset="0"/>
                <a:ea typeface="Inter" pitchFamily="34" charset="-122"/>
                <a:cs typeface="Inter" pitchFamily="34" charset="-120"/>
              </a:rPr>
              <a:t> </a:t>
            </a:r>
            <a:r>
              <a:rPr lang="hu-HU" sz="1298" dirty="0" err="1">
                <a:solidFill>
                  <a:srgbClr val="CBD5E1"/>
                </a:solidFill>
                <a:latin typeface="Inter" pitchFamily="34" charset="0"/>
                <a:ea typeface="Inter" pitchFamily="34" charset="-122"/>
                <a:cs typeface="Inter" pitchFamily="34" charset="-120"/>
              </a:rPr>
              <a:t>check</a:t>
            </a:r>
            <a:r>
              <a:rPr lang="hu-HU" sz="1298" dirty="0">
                <a:solidFill>
                  <a:srgbClr val="CBD5E1"/>
                </a:solidFill>
                <a:latin typeface="Inter" pitchFamily="34" charset="0"/>
                <a:ea typeface="Inter" pitchFamily="34" charset="-122"/>
                <a:cs typeface="Inter" pitchFamily="34" charset="-120"/>
              </a:rPr>
              <a:t> </a:t>
            </a:r>
            <a:r>
              <a:rPr lang="hu-HU" sz="1298" dirty="0" err="1">
                <a:solidFill>
                  <a:srgbClr val="CBD5E1"/>
                </a:solidFill>
                <a:latin typeface="Inter" pitchFamily="34" charset="0"/>
                <a:ea typeface="Inter" pitchFamily="34" charset="-122"/>
                <a:cs typeface="Inter" pitchFamily="34" charset="-120"/>
              </a:rPr>
              <a:t>the</a:t>
            </a:r>
            <a:r>
              <a:rPr lang="hu-HU" sz="1298" dirty="0">
                <a:solidFill>
                  <a:srgbClr val="CBD5E1"/>
                </a:solidFill>
                <a:latin typeface="Inter" pitchFamily="34" charset="0"/>
                <a:ea typeface="Inter" pitchFamily="34" charset="-122"/>
                <a:cs typeface="Inter" pitchFamily="34" charset="-120"/>
              </a:rPr>
              <a:t> </a:t>
            </a:r>
            <a:r>
              <a:rPr lang="hu-HU" sz="1298" dirty="0" err="1">
                <a:solidFill>
                  <a:srgbClr val="CBD5E1"/>
                </a:solidFill>
                <a:latin typeface="Inter" pitchFamily="34" charset="0"/>
                <a:ea typeface="Inter" pitchFamily="34" charset="-122"/>
                <a:cs typeface="Inter" pitchFamily="34" charset="-120"/>
              </a:rPr>
              <a:t>answers</a:t>
            </a:r>
            <a:r>
              <a:rPr lang="hu-HU" sz="1298" dirty="0">
                <a:solidFill>
                  <a:srgbClr val="CBD5E1"/>
                </a:solidFill>
                <a:latin typeface="Inter" pitchFamily="34" charset="0"/>
                <a:ea typeface="Inter" pitchFamily="34" charset="-122"/>
                <a:cs typeface="Inter" pitchFamily="34" charset="-120"/>
              </a:rPr>
              <a:t>. </a:t>
            </a:r>
            <a:r>
              <a:rPr lang="en-US" sz="1298" dirty="0">
                <a:solidFill>
                  <a:srgbClr val="CBD5E1"/>
                </a:solidFill>
                <a:latin typeface="Inter" pitchFamily="34" charset="0"/>
                <a:ea typeface="Inter" pitchFamily="34" charset="-122"/>
                <a:cs typeface="Inter" pitchFamily="34" charset="-120"/>
              </a:rPr>
              <a:t>Drop any answer without a citation.</a:t>
            </a:r>
            <a:endParaRPr lang="en-US" sz="1298" dirty="0"/>
          </a:p>
        </p:txBody>
      </p:sp>
      <p:sp>
        <p:nvSpPr>
          <p:cNvPr id="87" name="Text 9">
            <a:extLst>
              <a:ext uri="{FF2B5EF4-FFF2-40B4-BE49-F238E27FC236}">
                <a16:creationId xmlns:a16="http://schemas.microsoft.com/office/drawing/2014/main" id="{4477A918-D0F3-F85A-0C15-9B1AFD3893A3}"/>
              </a:ext>
            </a:extLst>
          </p:cNvPr>
          <p:cNvSpPr/>
          <p:nvPr/>
        </p:nvSpPr>
        <p:spPr>
          <a:xfrm>
            <a:off x="9344658" y="2102082"/>
            <a:ext cx="3728085" cy="601993"/>
          </a:xfrm>
          <a:prstGeom prst="rect">
            <a:avLst/>
          </a:prstGeom>
          <a:noFill/>
          <a:ln/>
        </p:spPr>
        <p:txBody>
          <a:bodyPr wrap="square" lIns="25400" tIns="25400" rIns="25400" bIns="25400" rtlCol="0" anchor="t">
            <a:normAutofit/>
          </a:bodyPr>
          <a:lstStyle/>
          <a:p>
            <a:pPr>
              <a:lnSpc>
                <a:spcPct val="111026"/>
              </a:lnSpc>
            </a:pPr>
            <a:r>
              <a:rPr lang="hu-HU" sz="1598" b="1" dirty="0">
                <a:solidFill>
                  <a:srgbClr val="FFFFFF"/>
                </a:solidFill>
                <a:latin typeface="Inter" pitchFamily="34" charset="0"/>
                <a:ea typeface="Inter" pitchFamily="34" charset="-122"/>
                <a:cs typeface="Inter" pitchFamily="34" charset="-120"/>
              </a:rPr>
              <a:t>3</a:t>
            </a:r>
            <a:r>
              <a:rPr lang="en-US" sz="1598" b="1" dirty="0">
                <a:solidFill>
                  <a:srgbClr val="FFFFFF"/>
                </a:solidFill>
                <a:latin typeface="Inter" pitchFamily="34" charset="0"/>
                <a:ea typeface="Inter" pitchFamily="34" charset="-122"/>
                <a:cs typeface="Inter" pitchFamily="34" charset="-120"/>
              </a:rPr>
              <a:t> · Frame the topic</a:t>
            </a:r>
            <a:endParaRPr lang="en-US" sz="1598" dirty="0"/>
          </a:p>
        </p:txBody>
      </p:sp>
      <p:sp>
        <p:nvSpPr>
          <p:cNvPr id="89" name="Text 10">
            <a:extLst>
              <a:ext uri="{FF2B5EF4-FFF2-40B4-BE49-F238E27FC236}">
                <a16:creationId xmlns:a16="http://schemas.microsoft.com/office/drawing/2014/main" id="{F423FD48-E78F-BC89-9A93-BD242012D09F}"/>
              </a:ext>
            </a:extLst>
          </p:cNvPr>
          <p:cNvSpPr/>
          <p:nvPr/>
        </p:nvSpPr>
        <p:spPr>
          <a:xfrm>
            <a:off x="9344658" y="2740224"/>
            <a:ext cx="3981450" cy="286643"/>
          </a:xfrm>
          <a:prstGeom prst="rect">
            <a:avLst/>
          </a:prstGeom>
          <a:noFill/>
          <a:ln/>
        </p:spPr>
        <p:txBody>
          <a:bodyPr wrap="square" lIns="25400" tIns="25400" rIns="25400" bIns="25400" rtlCol="0" anchor="t">
            <a:normAutofit/>
          </a:bodyPr>
          <a:lstStyle/>
          <a:p>
            <a:pPr>
              <a:lnSpc>
                <a:spcPct val="123741"/>
              </a:lnSpc>
            </a:pPr>
            <a:r>
              <a:rPr lang="en-US" sz="1298" dirty="0">
                <a:solidFill>
                  <a:srgbClr val="60A5FA"/>
                </a:solidFill>
                <a:latin typeface="Inter" pitchFamily="34" charset="0"/>
                <a:ea typeface="Inter" pitchFamily="34" charset="-122"/>
                <a:cs typeface="Inter" pitchFamily="34" charset="-120"/>
              </a:rPr>
              <a:t>Gemini · Guided Learning · Daily Driver · Optional</a:t>
            </a:r>
            <a:endParaRPr lang="en-US" sz="1298" dirty="0"/>
          </a:p>
        </p:txBody>
      </p:sp>
      <p:sp>
        <p:nvSpPr>
          <p:cNvPr id="95" name="Text 16">
            <a:extLst>
              <a:ext uri="{FF2B5EF4-FFF2-40B4-BE49-F238E27FC236}">
                <a16:creationId xmlns:a16="http://schemas.microsoft.com/office/drawing/2014/main" id="{E8CD5AE0-C733-DDCD-9C7A-5E70943EFD8A}"/>
              </a:ext>
            </a:extLst>
          </p:cNvPr>
          <p:cNvSpPr/>
          <p:nvPr/>
        </p:nvSpPr>
        <p:spPr>
          <a:xfrm>
            <a:off x="9344658" y="4664241"/>
            <a:ext cx="3981450" cy="203630"/>
          </a:xfrm>
          <a:prstGeom prst="rect">
            <a:avLst/>
          </a:prstGeom>
          <a:noFill/>
          <a:ln/>
        </p:spPr>
        <p:txBody>
          <a:bodyPr wrap="square" lIns="25400" tIns="25400" rIns="25400" bIns="25400" rtlCol="0" anchor="t">
            <a:normAutofit/>
          </a:bodyPr>
          <a:lstStyle/>
          <a:p>
            <a:pPr marL="0" indent="0" algn="l">
              <a:lnSpc>
                <a:spcPct val="120462"/>
              </a:lnSpc>
              <a:buNone/>
            </a:pPr>
            <a:r>
              <a:rPr lang="en-US" sz="900" b="1" kern="0" spc="72" dirty="0">
                <a:solidFill>
                  <a:srgbClr val="34D399"/>
                </a:solidFill>
                <a:latin typeface="Inter" pitchFamily="34" charset="0"/>
                <a:ea typeface="Inter" pitchFamily="34" charset="-122"/>
                <a:cs typeface="Inter" pitchFamily="34" charset="-120"/>
              </a:rPr>
              <a:t>HOW TO RUN IT</a:t>
            </a:r>
            <a:endParaRPr lang="en-US" sz="900" dirty="0"/>
          </a:p>
        </p:txBody>
      </p:sp>
      <p:sp>
        <p:nvSpPr>
          <p:cNvPr id="97" name="Text 17">
            <a:extLst>
              <a:ext uri="{FF2B5EF4-FFF2-40B4-BE49-F238E27FC236}">
                <a16:creationId xmlns:a16="http://schemas.microsoft.com/office/drawing/2014/main" id="{969FE8C8-7FD1-9E61-FB7C-337C53E9CC02}"/>
              </a:ext>
            </a:extLst>
          </p:cNvPr>
          <p:cNvSpPr/>
          <p:nvPr/>
        </p:nvSpPr>
        <p:spPr>
          <a:xfrm>
            <a:off x="9344658" y="4892940"/>
            <a:ext cx="3728085" cy="1529358"/>
          </a:xfrm>
          <a:prstGeom prst="rect">
            <a:avLst/>
          </a:prstGeom>
          <a:noFill/>
          <a:ln/>
        </p:spPr>
        <p:txBody>
          <a:bodyPr wrap="square" lIns="25400" tIns="25400" rIns="25400" bIns="25400" rtlCol="0" anchor="t">
            <a:normAutofit/>
          </a:bodyPr>
          <a:lstStyle/>
          <a:p>
            <a:pPr>
              <a:lnSpc>
                <a:spcPct val="123741"/>
              </a:lnSpc>
            </a:pPr>
            <a:r>
              <a:rPr lang="en-US" sz="1298" dirty="0">
                <a:solidFill>
                  <a:srgbClr val="CBD5E1"/>
                </a:solidFill>
                <a:latin typeface="Inter" pitchFamily="34" charset="0"/>
                <a:ea typeface="Inter" pitchFamily="34" charset="-122"/>
                <a:cs typeface="Inter" pitchFamily="34" charset="-120"/>
              </a:rPr>
              <a:t>A topic idea, your audience, and the length of the presentation.</a:t>
            </a:r>
            <a:r>
              <a:rPr lang="hu-HU" sz="1298" dirty="0"/>
              <a:t> </a:t>
            </a:r>
            <a:r>
              <a:rPr lang="en-US" sz="1298" dirty="0">
                <a:solidFill>
                  <a:srgbClr val="CBD5E1"/>
                </a:solidFill>
                <a:latin typeface="Inter" pitchFamily="34" charset="0"/>
                <a:ea typeface="Inter" pitchFamily="34" charset="-122"/>
                <a:cs typeface="Inter" pitchFamily="34" charset="-120"/>
              </a:rPr>
              <a:t>Give Guided Learning the ask-me-first prompt from Lesson 1 and answer its questions</a:t>
            </a:r>
            <a:endParaRPr lang="en-US" sz="1298"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Text 2"/>
          <p:cNvSpPr/>
          <p:nvPr/>
        </p:nvSpPr>
        <p:spPr>
          <a:xfrm>
            <a:off x="457068" y="457068"/>
            <a:ext cx="14081688" cy="530225"/>
          </a:xfrm>
          <a:prstGeom prst="rect">
            <a:avLst/>
          </a:prstGeom>
          <a:noFill/>
          <a:ln/>
        </p:spPr>
        <p:txBody>
          <a:bodyPr wrap="square" lIns="25400" tIns="25400" rIns="25400" bIns="25400" rtlCol="0" anchor="t">
            <a:normAutofit/>
          </a:bodyPr>
          <a:lstStyle/>
          <a:p>
            <a:pPr marL="0" indent="0" algn="l">
              <a:lnSpc>
                <a:spcPct val="101088"/>
              </a:lnSpc>
              <a:buNone/>
            </a:pPr>
            <a:r>
              <a:rPr lang="en-US" sz="3203" b="1" dirty="0">
                <a:solidFill>
                  <a:srgbClr val="FFFFFF"/>
                </a:solidFill>
                <a:latin typeface="Inter" pitchFamily="34" charset="0"/>
                <a:ea typeface="Inter" pitchFamily="34" charset="-122"/>
                <a:cs typeface="Inter" pitchFamily="34" charset="-120"/>
              </a:rPr>
              <a:t>The blueprint · steps 4–6</a:t>
            </a:r>
            <a:endParaRPr lang="en-US" sz="3203" dirty="0"/>
          </a:p>
        </p:txBody>
      </p:sp>
      <p:sp>
        <p:nvSpPr>
          <p:cNvPr id="5" name="Text 3"/>
          <p:cNvSpPr/>
          <p:nvPr/>
        </p:nvSpPr>
        <p:spPr>
          <a:xfrm>
            <a:off x="457068" y="1076193"/>
            <a:ext cx="14081688" cy="249436"/>
          </a:xfrm>
          <a:prstGeom prst="rect">
            <a:avLst/>
          </a:prstGeom>
          <a:noFill/>
          <a:ln/>
        </p:spPr>
        <p:txBody>
          <a:bodyPr wrap="square" lIns="25400" tIns="25400" rIns="25400" bIns="25400" rtlCol="0" anchor="t">
            <a:normAutofit/>
          </a:bodyPr>
          <a:lstStyle/>
          <a:p>
            <a:pPr marL="0" indent="0" algn="l">
              <a:lnSpc>
                <a:spcPct val="124858"/>
              </a:lnSpc>
              <a:buNone/>
            </a:pPr>
            <a:r>
              <a:rPr lang="en-US" sz="1102" dirty="0">
                <a:solidFill>
                  <a:srgbClr val="94A3B8"/>
                </a:solidFill>
                <a:latin typeface="Inter" pitchFamily="34" charset="0"/>
                <a:ea typeface="Inter" pitchFamily="34" charset="-122"/>
                <a:cs typeface="Inter" pitchFamily="34" charset="-120"/>
              </a:rPr>
              <a:t>Collect what the presentation must say, draft the outline in a workspace that knows your topic, and add the material that makes it teach</a:t>
            </a:r>
            <a:endParaRPr lang="en-US" sz="1102" dirty="0"/>
          </a:p>
        </p:txBody>
      </p:sp>
      <p:sp>
        <p:nvSpPr>
          <p:cNvPr id="6" name="Shape 4"/>
          <p:cNvSpPr/>
          <p:nvPr/>
        </p:nvSpPr>
        <p:spPr>
          <a:xfrm>
            <a:off x="457068" y="1666875"/>
            <a:ext cx="4114767" cy="5419659"/>
          </a:xfrm>
          <a:prstGeom prst="roundRect">
            <a:avLst>
              <a:gd name="adj" fmla="val 2778"/>
            </a:avLst>
          </a:prstGeom>
          <a:gradFill rotWithShape="1">
            <a:gsLst>
              <a:gs pos="0">
                <a:srgbClr val="FFFFFF">
                  <a:alpha val="11000"/>
                </a:srgbClr>
              </a:gs>
              <a:gs pos="100000">
                <a:srgbClr val="FFFFFF">
                  <a:alpha val="2000"/>
                </a:srgbClr>
              </a:gs>
            </a:gsLst>
            <a:lin ang="5400000" scaled="0"/>
          </a:gradFill>
          <a:ln w="10583">
            <a:solidFill>
              <a:srgbClr val="FFFFFF">
                <a:alpha val="12000"/>
              </a:srgbClr>
            </a:solidFill>
            <a:prstDash val="solid"/>
          </a:ln>
          <a:effectLst>
            <a:outerShdw blurRad="228600" dist="76200" dir="5400000" algn="bl" rotWithShape="0">
              <a:srgbClr val="000000">
                <a:alpha val="25000"/>
              </a:srgbClr>
            </a:outerShdw>
          </a:effectLst>
        </p:spPr>
        <p:txBody>
          <a:bodyPr/>
          <a:lstStyle/>
          <a:p>
            <a:endParaRPr lang="hu-HU" dirty="0"/>
          </a:p>
        </p:txBody>
      </p:sp>
      <p:sp>
        <p:nvSpPr>
          <p:cNvPr id="7" name="Shape 5"/>
          <p:cNvSpPr/>
          <p:nvPr/>
        </p:nvSpPr>
        <p:spPr>
          <a:xfrm>
            <a:off x="457068" y="7076943"/>
            <a:ext cx="4114767" cy="9525"/>
          </a:xfrm>
          <a:prstGeom prst="rect">
            <a:avLst/>
          </a:prstGeom>
          <a:solidFill>
            <a:srgbClr val="FFFFFF">
              <a:alpha val="8000"/>
            </a:srgbClr>
          </a:solidFill>
          <a:ln/>
        </p:spPr>
      </p:sp>
      <p:sp>
        <p:nvSpPr>
          <p:cNvPr id="8" name="Shape 6"/>
          <p:cNvSpPr/>
          <p:nvPr/>
        </p:nvSpPr>
        <p:spPr>
          <a:xfrm>
            <a:off x="457068" y="1666875"/>
            <a:ext cx="4114767" cy="9525"/>
          </a:xfrm>
          <a:prstGeom prst="rect">
            <a:avLst/>
          </a:prstGeom>
          <a:solidFill>
            <a:srgbClr val="FFFFFF">
              <a:alpha val="8000"/>
            </a:srgbClr>
          </a:solidFill>
          <a:ln/>
        </p:spPr>
      </p:sp>
      <p:sp>
        <p:nvSpPr>
          <p:cNvPr id="9" name="Shape 7"/>
          <p:cNvSpPr/>
          <p:nvPr/>
        </p:nvSpPr>
        <p:spPr>
          <a:xfrm>
            <a:off x="457068" y="1762125"/>
            <a:ext cx="28443" cy="5229159"/>
          </a:xfrm>
          <a:prstGeom prst="rect">
            <a:avLst/>
          </a:prstGeom>
          <a:solidFill>
            <a:srgbClr val="3B82F6"/>
          </a:solidFill>
          <a:ln/>
        </p:spPr>
      </p:sp>
      <p:sp>
        <p:nvSpPr>
          <p:cNvPr id="10" name="Shape 8"/>
          <p:cNvSpPr/>
          <p:nvPr/>
        </p:nvSpPr>
        <p:spPr>
          <a:xfrm>
            <a:off x="4562409" y="1762125"/>
            <a:ext cx="9525" cy="5229159"/>
          </a:xfrm>
          <a:prstGeom prst="rect">
            <a:avLst/>
          </a:prstGeom>
          <a:solidFill>
            <a:srgbClr val="FFFFFF">
              <a:alpha val="8000"/>
            </a:srgbClr>
          </a:solidFill>
          <a:ln/>
        </p:spPr>
      </p:sp>
      <p:sp>
        <p:nvSpPr>
          <p:cNvPr id="17" name="Shape 15"/>
          <p:cNvSpPr/>
          <p:nvPr/>
        </p:nvSpPr>
        <p:spPr>
          <a:xfrm>
            <a:off x="704784" y="4600443"/>
            <a:ext cx="3590892" cy="9525"/>
          </a:xfrm>
          <a:prstGeom prst="rect">
            <a:avLst/>
          </a:prstGeom>
          <a:solidFill>
            <a:srgbClr val="FFFFFF">
              <a:alpha val="7000"/>
            </a:srgbClr>
          </a:solidFill>
          <a:ln/>
        </p:spPr>
      </p:sp>
      <p:sp>
        <p:nvSpPr>
          <p:cNvPr id="20" name="Shape 18"/>
          <p:cNvSpPr/>
          <p:nvPr/>
        </p:nvSpPr>
        <p:spPr>
          <a:xfrm>
            <a:off x="4800534" y="1666875"/>
            <a:ext cx="4114767" cy="5419659"/>
          </a:xfrm>
          <a:prstGeom prst="roundRect">
            <a:avLst>
              <a:gd name="adj" fmla="val 2778"/>
            </a:avLst>
          </a:prstGeom>
          <a:gradFill rotWithShape="1">
            <a:gsLst>
              <a:gs pos="0">
                <a:srgbClr val="FFFFFF">
                  <a:alpha val="11000"/>
                </a:srgbClr>
              </a:gs>
              <a:gs pos="100000">
                <a:srgbClr val="FFFFFF">
                  <a:alpha val="2000"/>
                </a:srgbClr>
              </a:gs>
            </a:gsLst>
            <a:lin ang="5400000" scaled="0"/>
          </a:gradFill>
          <a:ln w="10583">
            <a:solidFill>
              <a:srgbClr val="FFFFFF">
                <a:alpha val="12000"/>
              </a:srgbClr>
            </a:solidFill>
            <a:prstDash val="solid"/>
          </a:ln>
          <a:effectLst>
            <a:outerShdw blurRad="228600" dist="76200" dir="5400000" algn="bl" rotWithShape="0">
              <a:srgbClr val="000000">
                <a:alpha val="25000"/>
              </a:srgbClr>
            </a:outerShdw>
          </a:effectLst>
        </p:spPr>
      </p:sp>
      <p:sp>
        <p:nvSpPr>
          <p:cNvPr id="21" name="Shape 19"/>
          <p:cNvSpPr/>
          <p:nvPr/>
        </p:nvSpPr>
        <p:spPr>
          <a:xfrm>
            <a:off x="4800534" y="7076943"/>
            <a:ext cx="4114767" cy="9525"/>
          </a:xfrm>
          <a:prstGeom prst="rect">
            <a:avLst/>
          </a:prstGeom>
          <a:solidFill>
            <a:srgbClr val="FFFFFF">
              <a:alpha val="8000"/>
            </a:srgbClr>
          </a:solidFill>
          <a:ln/>
        </p:spPr>
      </p:sp>
      <p:sp>
        <p:nvSpPr>
          <p:cNvPr id="22" name="Shape 20"/>
          <p:cNvSpPr/>
          <p:nvPr/>
        </p:nvSpPr>
        <p:spPr>
          <a:xfrm>
            <a:off x="4800534" y="1666875"/>
            <a:ext cx="4114767" cy="9525"/>
          </a:xfrm>
          <a:prstGeom prst="rect">
            <a:avLst/>
          </a:prstGeom>
          <a:solidFill>
            <a:srgbClr val="FFFFFF">
              <a:alpha val="8000"/>
            </a:srgbClr>
          </a:solidFill>
          <a:ln/>
        </p:spPr>
      </p:sp>
      <p:sp>
        <p:nvSpPr>
          <p:cNvPr id="23" name="Shape 21"/>
          <p:cNvSpPr/>
          <p:nvPr/>
        </p:nvSpPr>
        <p:spPr>
          <a:xfrm>
            <a:off x="4800534" y="1762125"/>
            <a:ext cx="28443" cy="5229159"/>
          </a:xfrm>
          <a:prstGeom prst="rect">
            <a:avLst/>
          </a:prstGeom>
          <a:solidFill>
            <a:srgbClr val="3B82F6"/>
          </a:solidFill>
          <a:ln/>
        </p:spPr>
      </p:sp>
      <p:sp>
        <p:nvSpPr>
          <p:cNvPr id="24" name="Shape 22"/>
          <p:cNvSpPr/>
          <p:nvPr/>
        </p:nvSpPr>
        <p:spPr>
          <a:xfrm>
            <a:off x="8905876" y="1762125"/>
            <a:ext cx="9525" cy="5229159"/>
          </a:xfrm>
          <a:prstGeom prst="rect">
            <a:avLst/>
          </a:prstGeom>
          <a:solidFill>
            <a:srgbClr val="FFFFFF">
              <a:alpha val="8000"/>
            </a:srgbClr>
          </a:solidFill>
          <a:ln/>
        </p:spPr>
      </p:sp>
      <p:sp>
        <p:nvSpPr>
          <p:cNvPr id="25" name="Text 23"/>
          <p:cNvSpPr/>
          <p:nvPr/>
        </p:nvSpPr>
        <p:spPr>
          <a:xfrm>
            <a:off x="5048250" y="2200176"/>
            <a:ext cx="3981450" cy="320047"/>
          </a:xfrm>
          <a:prstGeom prst="rect">
            <a:avLst/>
          </a:prstGeom>
          <a:noFill/>
          <a:ln/>
        </p:spPr>
        <p:txBody>
          <a:bodyPr wrap="square" lIns="25400" tIns="25400" rIns="25400" bIns="25400" rtlCol="0" anchor="t">
            <a:normAutofit/>
          </a:bodyPr>
          <a:lstStyle/>
          <a:p>
            <a:pPr marL="0" indent="0" algn="l">
              <a:lnSpc>
                <a:spcPct val="111026"/>
              </a:lnSpc>
              <a:buNone/>
            </a:pPr>
            <a:r>
              <a:rPr lang="en-US" sz="1598" b="1" dirty="0">
                <a:solidFill>
                  <a:srgbClr val="FFFFFF"/>
                </a:solidFill>
                <a:latin typeface="Inter" pitchFamily="34" charset="0"/>
                <a:ea typeface="Inter" pitchFamily="34" charset="-122"/>
                <a:cs typeface="Inter" pitchFamily="34" charset="-120"/>
              </a:rPr>
              <a:t>5 · Draft the outline</a:t>
            </a:r>
            <a:endParaRPr lang="en-US" sz="1598" dirty="0"/>
          </a:p>
        </p:txBody>
      </p:sp>
      <p:sp>
        <p:nvSpPr>
          <p:cNvPr id="26" name="Text 24"/>
          <p:cNvSpPr/>
          <p:nvPr/>
        </p:nvSpPr>
        <p:spPr>
          <a:xfrm>
            <a:off x="5048250" y="2543142"/>
            <a:ext cx="3728085" cy="535186"/>
          </a:xfrm>
          <a:prstGeom prst="rect">
            <a:avLst/>
          </a:prstGeom>
          <a:noFill/>
          <a:ln/>
        </p:spPr>
        <p:txBody>
          <a:bodyPr wrap="square" lIns="25400" tIns="25400" rIns="25400" bIns="25400" rtlCol="0" anchor="t">
            <a:normAutofit/>
          </a:bodyPr>
          <a:lstStyle/>
          <a:p>
            <a:pPr marL="0" indent="0" algn="l">
              <a:lnSpc>
                <a:spcPct val="123741"/>
              </a:lnSpc>
              <a:buNone/>
            </a:pPr>
            <a:r>
              <a:rPr lang="en-US" sz="1298" dirty="0">
                <a:solidFill>
                  <a:srgbClr val="60A5FA"/>
                </a:solidFill>
                <a:latin typeface="Inter" pitchFamily="34" charset="0"/>
                <a:ea typeface="Inter" pitchFamily="34" charset="-122"/>
                <a:cs typeface="Inter" pitchFamily="34" charset="-120"/>
              </a:rPr>
              <a:t>Gemini · a Gem with file upload, long context and Canvas · Daily Driver · Optional</a:t>
            </a:r>
            <a:endParaRPr lang="en-US" sz="1298" dirty="0"/>
          </a:p>
        </p:txBody>
      </p:sp>
      <p:sp>
        <p:nvSpPr>
          <p:cNvPr id="31" name="Shape 29"/>
          <p:cNvSpPr/>
          <p:nvPr/>
        </p:nvSpPr>
        <p:spPr>
          <a:xfrm>
            <a:off x="5048250" y="4581426"/>
            <a:ext cx="3590892" cy="9525"/>
          </a:xfrm>
          <a:prstGeom prst="rect">
            <a:avLst/>
          </a:prstGeom>
          <a:solidFill>
            <a:srgbClr val="FFFFFF">
              <a:alpha val="7000"/>
            </a:srgbClr>
          </a:solidFill>
          <a:ln/>
        </p:spPr>
      </p:sp>
      <p:sp>
        <p:nvSpPr>
          <p:cNvPr id="32" name="Text 30"/>
          <p:cNvSpPr/>
          <p:nvPr/>
        </p:nvSpPr>
        <p:spPr>
          <a:xfrm>
            <a:off x="5048250" y="4724301"/>
            <a:ext cx="3981450" cy="203630"/>
          </a:xfrm>
          <a:prstGeom prst="rect">
            <a:avLst/>
          </a:prstGeom>
          <a:noFill/>
          <a:ln/>
        </p:spPr>
        <p:txBody>
          <a:bodyPr wrap="square" lIns="25400" tIns="25400" rIns="25400" bIns="25400" rtlCol="0" anchor="t">
            <a:normAutofit/>
          </a:bodyPr>
          <a:lstStyle/>
          <a:p>
            <a:pPr marL="0" indent="0" algn="l">
              <a:lnSpc>
                <a:spcPct val="120462"/>
              </a:lnSpc>
              <a:buNone/>
            </a:pPr>
            <a:r>
              <a:rPr lang="en-US" sz="900" b="1" kern="0" spc="72" dirty="0">
                <a:solidFill>
                  <a:srgbClr val="34D399"/>
                </a:solidFill>
                <a:latin typeface="Inter" pitchFamily="34" charset="0"/>
                <a:ea typeface="Inter" pitchFamily="34" charset="-122"/>
                <a:cs typeface="Inter" pitchFamily="34" charset="-120"/>
              </a:rPr>
              <a:t>HOW TO RUN IT</a:t>
            </a:r>
            <a:endParaRPr lang="en-US" sz="900" dirty="0"/>
          </a:p>
        </p:txBody>
      </p:sp>
      <p:sp>
        <p:nvSpPr>
          <p:cNvPr id="33" name="Text 31"/>
          <p:cNvSpPr/>
          <p:nvPr/>
        </p:nvSpPr>
        <p:spPr>
          <a:xfrm>
            <a:off x="5048250" y="4953000"/>
            <a:ext cx="3728085" cy="1529358"/>
          </a:xfrm>
          <a:prstGeom prst="rect">
            <a:avLst/>
          </a:prstGeom>
          <a:noFill/>
          <a:ln/>
        </p:spPr>
        <p:txBody>
          <a:bodyPr wrap="square" lIns="25400" tIns="25400" rIns="25400" bIns="25400" rtlCol="0" anchor="t">
            <a:normAutofit/>
          </a:bodyPr>
          <a:lstStyle/>
          <a:p>
            <a:pPr marL="0" indent="0" algn="l">
              <a:lnSpc>
                <a:spcPct val="123741"/>
              </a:lnSpc>
              <a:buNone/>
            </a:pPr>
            <a:r>
              <a:rPr lang="en-US" sz="1298" dirty="0">
                <a:solidFill>
                  <a:srgbClr val="CBD5E1"/>
                </a:solidFill>
                <a:latin typeface="Inter" pitchFamily="34" charset="0"/>
                <a:ea typeface="Inter" pitchFamily="34" charset="-122"/>
                <a:cs typeface="Inter" pitchFamily="34" charset="-120"/>
              </a:rPr>
              <a:t>Build a Gem: topic and outcomes as its instructions, the files as its reference files. Ask for an outline in Canvas and edit one section at a time. Tag each section with the outcome it serves; cut any section that serves none.</a:t>
            </a:r>
            <a:endParaRPr lang="en-US" sz="1298" dirty="0"/>
          </a:p>
        </p:txBody>
      </p:sp>
      <p:sp>
        <p:nvSpPr>
          <p:cNvPr id="35" name="Shape 33"/>
          <p:cNvSpPr/>
          <p:nvPr/>
        </p:nvSpPr>
        <p:spPr>
          <a:xfrm>
            <a:off x="9144001" y="7076943"/>
            <a:ext cx="4114767" cy="9525"/>
          </a:xfrm>
          <a:prstGeom prst="rect">
            <a:avLst/>
          </a:prstGeom>
          <a:solidFill>
            <a:srgbClr val="FFFFFF">
              <a:alpha val="8000"/>
            </a:srgbClr>
          </a:solidFill>
          <a:ln/>
        </p:spPr>
      </p:sp>
      <p:sp>
        <p:nvSpPr>
          <p:cNvPr id="36" name="Shape 34"/>
          <p:cNvSpPr/>
          <p:nvPr/>
        </p:nvSpPr>
        <p:spPr>
          <a:xfrm>
            <a:off x="9144001" y="1666875"/>
            <a:ext cx="4114767" cy="9525"/>
          </a:xfrm>
          <a:prstGeom prst="rect">
            <a:avLst/>
          </a:prstGeom>
          <a:solidFill>
            <a:srgbClr val="FFFFFF">
              <a:alpha val="8000"/>
            </a:srgbClr>
          </a:solidFill>
          <a:ln/>
        </p:spPr>
      </p:sp>
      <p:sp>
        <p:nvSpPr>
          <p:cNvPr id="37" name="Shape 35"/>
          <p:cNvSpPr/>
          <p:nvPr/>
        </p:nvSpPr>
        <p:spPr>
          <a:xfrm>
            <a:off x="9144001" y="1762125"/>
            <a:ext cx="28443" cy="5229159"/>
          </a:xfrm>
          <a:prstGeom prst="rect">
            <a:avLst/>
          </a:prstGeom>
          <a:solidFill>
            <a:srgbClr val="EF4444"/>
          </a:solidFill>
          <a:ln/>
        </p:spPr>
      </p:sp>
      <p:sp>
        <p:nvSpPr>
          <p:cNvPr id="38" name="Shape 36"/>
          <p:cNvSpPr/>
          <p:nvPr/>
        </p:nvSpPr>
        <p:spPr>
          <a:xfrm>
            <a:off x="13249176" y="1762125"/>
            <a:ext cx="9525" cy="5229159"/>
          </a:xfrm>
          <a:prstGeom prst="rect">
            <a:avLst/>
          </a:prstGeom>
          <a:solidFill>
            <a:srgbClr val="FFFFFF">
              <a:alpha val="8000"/>
            </a:srgbClr>
          </a:solidFill>
          <a:ln/>
        </p:spPr>
      </p:sp>
      <p:sp>
        <p:nvSpPr>
          <p:cNvPr id="39" name="Text 37"/>
          <p:cNvSpPr/>
          <p:nvPr/>
        </p:nvSpPr>
        <p:spPr>
          <a:xfrm>
            <a:off x="9391551" y="2200176"/>
            <a:ext cx="3981450" cy="320047"/>
          </a:xfrm>
          <a:prstGeom prst="rect">
            <a:avLst/>
          </a:prstGeom>
          <a:noFill/>
          <a:ln/>
        </p:spPr>
        <p:txBody>
          <a:bodyPr wrap="square" lIns="25400" tIns="25400" rIns="25400" bIns="25400" rtlCol="0" anchor="t">
            <a:normAutofit/>
          </a:bodyPr>
          <a:lstStyle/>
          <a:p>
            <a:pPr marL="0" indent="0" algn="l">
              <a:lnSpc>
                <a:spcPct val="111026"/>
              </a:lnSpc>
              <a:buNone/>
            </a:pPr>
            <a:r>
              <a:rPr lang="en-US" sz="1598" b="1" dirty="0">
                <a:solidFill>
                  <a:srgbClr val="FFFFFF"/>
                </a:solidFill>
                <a:latin typeface="Inter" pitchFamily="34" charset="0"/>
                <a:ea typeface="Inter" pitchFamily="34" charset="-122"/>
                <a:cs typeface="Inter" pitchFamily="34" charset="-120"/>
              </a:rPr>
              <a:t>6 · Add the learning material</a:t>
            </a:r>
            <a:endParaRPr lang="en-US" sz="1598" dirty="0"/>
          </a:p>
        </p:txBody>
      </p:sp>
      <p:sp>
        <p:nvSpPr>
          <p:cNvPr id="40" name="Text 38"/>
          <p:cNvSpPr/>
          <p:nvPr/>
        </p:nvSpPr>
        <p:spPr>
          <a:xfrm>
            <a:off x="9391551" y="2543142"/>
            <a:ext cx="3728085" cy="535186"/>
          </a:xfrm>
          <a:prstGeom prst="rect">
            <a:avLst/>
          </a:prstGeom>
          <a:noFill/>
          <a:ln/>
        </p:spPr>
        <p:txBody>
          <a:bodyPr wrap="square" lIns="25400" tIns="25400" rIns="25400" bIns="25400" rtlCol="0" anchor="t">
            <a:normAutofit/>
          </a:bodyPr>
          <a:lstStyle/>
          <a:p>
            <a:pPr marL="0" indent="0" algn="l">
              <a:lnSpc>
                <a:spcPct val="123741"/>
              </a:lnSpc>
              <a:buNone/>
            </a:pPr>
            <a:r>
              <a:rPr lang="en-US" sz="1298" dirty="0">
                <a:solidFill>
                  <a:srgbClr val="F87171"/>
                </a:solidFill>
                <a:latin typeface="Inter" pitchFamily="34" charset="0"/>
                <a:ea typeface="Inter" pitchFamily="34" charset="-122"/>
                <a:cs typeface="Inter" pitchFamily="34" charset="-120"/>
              </a:rPr>
              <a:t>Study and Learn · Copilot Chat (Basic) · Sensitive Lane · Optional</a:t>
            </a:r>
            <a:endParaRPr lang="en-US" sz="1298" dirty="0"/>
          </a:p>
        </p:txBody>
      </p:sp>
      <p:sp>
        <p:nvSpPr>
          <p:cNvPr id="45" name="Shape 43"/>
          <p:cNvSpPr/>
          <p:nvPr/>
        </p:nvSpPr>
        <p:spPr>
          <a:xfrm>
            <a:off x="9391551" y="4581426"/>
            <a:ext cx="3590892" cy="9525"/>
          </a:xfrm>
          <a:prstGeom prst="rect">
            <a:avLst/>
          </a:prstGeom>
          <a:solidFill>
            <a:srgbClr val="FFFFFF">
              <a:alpha val="7000"/>
            </a:srgbClr>
          </a:solidFill>
          <a:ln/>
        </p:spPr>
      </p:sp>
      <p:sp>
        <p:nvSpPr>
          <p:cNvPr id="46" name="Text 44"/>
          <p:cNvSpPr/>
          <p:nvPr/>
        </p:nvSpPr>
        <p:spPr>
          <a:xfrm>
            <a:off x="9391551" y="4724301"/>
            <a:ext cx="3981450" cy="203630"/>
          </a:xfrm>
          <a:prstGeom prst="rect">
            <a:avLst/>
          </a:prstGeom>
          <a:noFill/>
          <a:ln/>
        </p:spPr>
        <p:txBody>
          <a:bodyPr wrap="square" lIns="25400" tIns="25400" rIns="25400" bIns="25400" rtlCol="0" anchor="t">
            <a:normAutofit lnSpcReduction="10000"/>
          </a:bodyPr>
          <a:lstStyle/>
          <a:p>
            <a:pPr marL="0" indent="0" algn="l">
              <a:lnSpc>
                <a:spcPct val="120462"/>
              </a:lnSpc>
              <a:buNone/>
            </a:pPr>
            <a:r>
              <a:rPr lang="en-US" sz="900" b="1" kern="0" spc="72" dirty="0">
                <a:solidFill>
                  <a:srgbClr val="34D399"/>
                </a:solidFill>
                <a:latin typeface="Inter" pitchFamily="34" charset="0"/>
                <a:ea typeface="Inter" pitchFamily="34" charset="-122"/>
                <a:cs typeface="Inter" pitchFamily="34" charset="-120"/>
              </a:rPr>
              <a:t>HOW TO RUN IT</a:t>
            </a:r>
            <a:endParaRPr lang="en-US" sz="900" dirty="0"/>
          </a:p>
        </p:txBody>
      </p:sp>
      <p:sp>
        <p:nvSpPr>
          <p:cNvPr id="47" name="Text 45"/>
          <p:cNvSpPr/>
          <p:nvPr/>
        </p:nvSpPr>
        <p:spPr>
          <a:xfrm>
            <a:off x="9391551" y="4953000"/>
            <a:ext cx="3728085" cy="1529358"/>
          </a:xfrm>
          <a:prstGeom prst="rect">
            <a:avLst/>
          </a:prstGeom>
          <a:noFill/>
          <a:ln/>
        </p:spPr>
        <p:txBody>
          <a:bodyPr wrap="square" lIns="25400" tIns="25400" rIns="25400" bIns="25400" rtlCol="0" anchor="t">
            <a:normAutofit/>
          </a:bodyPr>
          <a:lstStyle/>
          <a:p>
            <a:pPr marL="0" indent="0" algn="l">
              <a:lnSpc>
                <a:spcPct val="123741"/>
              </a:lnSpc>
              <a:buNone/>
            </a:pPr>
            <a:r>
              <a:rPr lang="en-US" sz="1298" dirty="0">
                <a:solidFill>
                  <a:srgbClr val="CBD5E1"/>
                </a:solidFill>
                <a:latin typeface="Inter" pitchFamily="34" charset="0"/>
                <a:ea typeface="Inter" pitchFamily="34" charset="-122"/>
                <a:cs typeface="Inter" pitchFamily="34" charset="-120"/>
              </a:rPr>
              <a:t>Per outcome: ask for an explanation and read it as a learner would; then flashcards on the key terms; then a five-question quiz. Drop any question that can be answered without seeing the presentation. Needs a Microsoft 365 Education account, no Copilot licence.</a:t>
            </a:r>
            <a:endParaRPr lang="en-US" sz="1298" dirty="0"/>
          </a:p>
        </p:txBody>
      </p:sp>
      <p:sp>
        <p:nvSpPr>
          <p:cNvPr id="61" name="Text 37">
            <a:extLst>
              <a:ext uri="{FF2B5EF4-FFF2-40B4-BE49-F238E27FC236}">
                <a16:creationId xmlns:a16="http://schemas.microsoft.com/office/drawing/2014/main" id="{0B0041DC-31EA-E96D-B503-A0849EA0EB43}"/>
              </a:ext>
            </a:extLst>
          </p:cNvPr>
          <p:cNvSpPr/>
          <p:nvPr/>
        </p:nvSpPr>
        <p:spPr>
          <a:xfrm>
            <a:off x="615051" y="1913582"/>
            <a:ext cx="3981450" cy="320047"/>
          </a:xfrm>
          <a:prstGeom prst="rect">
            <a:avLst/>
          </a:prstGeom>
          <a:noFill/>
          <a:ln/>
        </p:spPr>
        <p:txBody>
          <a:bodyPr wrap="square" lIns="25400" tIns="25400" rIns="25400" bIns="25400" rtlCol="0" anchor="t">
            <a:normAutofit/>
          </a:bodyPr>
          <a:lstStyle/>
          <a:p>
            <a:pPr>
              <a:lnSpc>
                <a:spcPct val="111026"/>
              </a:lnSpc>
            </a:pPr>
            <a:r>
              <a:rPr lang="hu-HU" sz="1598" b="1" dirty="0">
                <a:solidFill>
                  <a:srgbClr val="FFFFFF"/>
                </a:solidFill>
                <a:latin typeface="Inter" pitchFamily="34" charset="0"/>
                <a:ea typeface="Inter" pitchFamily="34" charset="-122"/>
                <a:cs typeface="Inter" pitchFamily="34" charset="-120"/>
              </a:rPr>
              <a:t>4 </a:t>
            </a:r>
            <a:r>
              <a:rPr lang="en-US" sz="1598" b="1" dirty="0">
                <a:solidFill>
                  <a:srgbClr val="FFFFFF"/>
                </a:solidFill>
                <a:latin typeface="Inter" pitchFamily="34" charset="0"/>
                <a:ea typeface="Inter" pitchFamily="34" charset="-122"/>
                <a:cs typeface="Inter" pitchFamily="34" charset="-120"/>
              </a:rPr>
              <a:t>· </a:t>
            </a:r>
            <a:r>
              <a:rPr lang="hu-HU" sz="1598" b="1" dirty="0" err="1">
                <a:solidFill>
                  <a:srgbClr val="FFFFFF"/>
                </a:solidFill>
                <a:latin typeface="Inter" pitchFamily="34" charset="0"/>
                <a:ea typeface="Inter" pitchFamily="34" charset="-122"/>
                <a:cs typeface="Inter" pitchFamily="34" charset="-120"/>
              </a:rPr>
              <a:t>Resarch</a:t>
            </a:r>
            <a:r>
              <a:rPr lang="en-US" sz="1598" b="1" dirty="0">
                <a:solidFill>
                  <a:srgbClr val="FFFFFF"/>
                </a:solidFill>
                <a:latin typeface="Inter" pitchFamily="34" charset="0"/>
                <a:ea typeface="Inter" pitchFamily="34" charset="-122"/>
                <a:cs typeface="Inter" pitchFamily="34" charset="-120"/>
              </a:rPr>
              <a:t> the topic</a:t>
            </a:r>
            <a:endParaRPr lang="en-US" sz="1598" dirty="0"/>
          </a:p>
        </p:txBody>
      </p:sp>
      <p:sp>
        <p:nvSpPr>
          <p:cNvPr id="63" name="Text 38">
            <a:extLst>
              <a:ext uri="{FF2B5EF4-FFF2-40B4-BE49-F238E27FC236}">
                <a16:creationId xmlns:a16="http://schemas.microsoft.com/office/drawing/2014/main" id="{63388292-279B-3A27-4BB1-5C80DA992CE3}"/>
              </a:ext>
            </a:extLst>
          </p:cNvPr>
          <p:cNvSpPr/>
          <p:nvPr/>
        </p:nvSpPr>
        <p:spPr>
          <a:xfrm>
            <a:off x="632697" y="2562159"/>
            <a:ext cx="3728085" cy="535186"/>
          </a:xfrm>
          <a:prstGeom prst="rect">
            <a:avLst/>
          </a:prstGeom>
          <a:noFill/>
          <a:ln/>
        </p:spPr>
        <p:txBody>
          <a:bodyPr wrap="square" lIns="25400" tIns="25400" rIns="25400" bIns="25400" rtlCol="0" anchor="t">
            <a:normAutofit/>
          </a:bodyPr>
          <a:lstStyle/>
          <a:p>
            <a:pPr marL="0" indent="0" algn="l">
              <a:lnSpc>
                <a:spcPct val="123741"/>
              </a:lnSpc>
              <a:buNone/>
            </a:pPr>
            <a:r>
              <a:rPr lang="en-US" sz="1298" dirty="0">
                <a:solidFill>
                  <a:srgbClr val="60A5FA"/>
                </a:solidFill>
                <a:latin typeface="Inter" pitchFamily="34" charset="0"/>
                <a:ea typeface="Inter" pitchFamily="34" charset="-122"/>
                <a:cs typeface="Inter" pitchFamily="34" charset="-120"/>
              </a:rPr>
              <a:t>Gemini · Deep Research · Daily Driver · Optional</a:t>
            </a:r>
            <a:endParaRPr lang="en-US" sz="1298" dirty="0"/>
          </a:p>
        </p:txBody>
      </p:sp>
      <p:sp>
        <p:nvSpPr>
          <p:cNvPr id="67" name="Text 42">
            <a:extLst>
              <a:ext uri="{FF2B5EF4-FFF2-40B4-BE49-F238E27FC236}">
                <a16:creationId xmlns:a16="http://schemas.microsoft.com/office/drawing/2014/main" id="{25BB12CE-2CDF-959D-DC17-B8A88DA7511C}"/>
              </a:ext>
            </a:extLst>
          </p:cNvPr>
          <p:cNvSpPr/>
          <p:nvPr/>
        </p:nvSpPr>
        <p:spPr>
          <a:xfrm>
            <a:off x="1032715" y="4133784"/>
            <a:ext cx="3541250" cy="286643"/>
          </a:xfrm>
          <a:prstGeom prst="rect">
            <a:avLst/>
          </a:prstGeom>
          <a:noFill/>
          <a:ln/>
        </p:spPr>
        <p:txBody>
          <a:bodyPr wrap="square" lIns="25400" tIns="25400" rIns="25400" bIns="25400" rtlCol="0" anchor="t">
            <a:normAutofit/>
          </a:bodyPr>
          <a:lstStyle/>
          <a:p>
            <a:pPr marL="0" indent="0" algn="l">
              <a:lnSpc>
                <a:spcPct val="123741"/>
              </a:lnSpc>
              <a:buNone/>
            </a:pPr>
            <a:endParaRPr lang="en-US" sz="1298" dirty="0"/>
          </a:p>
        </p:txBody>
      </p:sp>
      <p:sp>
        <p:nvSpPr>
          <p:cNvPr id="69" name="Text 44">
            <a:extLst>
              <a:ext uri="{FF2B5EF4-FFF2-40B4-BE49-F238E27FC236}">
                <a16:creationId xmlns:a16="http://schemas.microsoft.com/office/drawing/2014/main" id="{A832C1F5-113F-DCF4-BBE3-A67131F54FE6}"/>
              </a:ext>
            </a:extLst>
          </p:cNvPr>
          <p:cNvSpPr/>
          <p:nvPr/>
        </p:nvSpPr>
        <p:spPr>
          <a:xfrm>
            <a:off x="632697" y="5000460"/>
            <a:ext cx="3981450" cy="203630"/>
          </a:xfrm>
          <a:prstGeom prst="rect">
            <a:avLst/>
          </a:prstGeom>
          <a:noFill/>
          <a:ln/>
        </p:spPr>
        <p:txBody>
          <a:bodyPr wrap="square" lIns="25400" tIns="25400" rIns="25400" bIns="25400" rtlCol="0" anchor="t">
            <a:normAutofit lnSpcReduction="10000"/>
          </a:bodyPr>
          <a:lstStyle/>
          <a:p>
            <a:pPr marL="0" indent="0" algn="l">
              <a:lnSpc>
                <a:spcPct val="120462"/>
              </a:lnSpc>
              <a:buNone/>
            </a:pPr>
            <a:r>
              <a:rPr lang="en-US" sz="900" b="1" kern="0" spc="72" dirty="0">
                <a:solidFill>
                  <a:srgbClr val="34D399"/>
                </a:solidFill>
                <a:latin typeface="Inter" pitchFamily="34" charset="0"/>
                <a:ea typeface="Inter" pitchFamily="34" charset="-122"/>
                <a:cs typeface="Inter" pitchFamily="34" charset="-120"/>
              </a:rPr>
              <a:t>HOW TO RUN IT</a:t>
            </a:r>
            <a:endParaRPr lang="en-US" sz="900" dirty="0"/>
          </a:p>
        </p:txBody>
      </p:sp>
      <p:sp>
        <p:nvSpPr>
          <p:cNvPr id="71" name="Text 45">
            <a:extLst>
              <a:ext uri="{FF2B5EF4-FFF2-40B4-BE49-F238E27FC236}">
                <a16:creationId xmlns:a16="http://schemas.microsoft.com/office/drawing/2014/main" id="{EEEED5FB-5832-BE28-D671-1E10D4B0F6A6}"/>
              </a:ext>
            </a:extLst>
          </p:cNvPr>
          <p:cNvSpPr/>
          <p:nvPr/>
        </p:nvSpPr>
        <p:spPr>
          <a:xfrm>
            <a:off x="632697" y="5229159"/>
            <a:ext cx="3728085" cy="1280815"/>
          </a:xfrm>
          <a:prstGeom prst="rect">
            <a:avLst/>
          </a:prstGeom>
          <a:noFill/>
          <a:ln/>
        </p:spPr>
        <p:txBody>
          <a:bodyPr wrap="square" lIns="25400" tIns="25400" rIns="25400" bIns="25400" rtlCol="0" anchor="t">
            <a:normAutofit/>
          </a:bodyPr>
          <a:lstStyle/>
          <a:p>
            <a:pPr>
              <a:lnSpc>
                <a:spcPct val="123741"/>
              </a:lnSpc>
            </a:pPr>
            <a:r>
              <a:rPr lang="hu-HU" sz="1298" dirty="0">
                <a:solidFill>
                  <a:srgbClr val="CBD5E1"/>
                </a:solidFill>
                <a:latin typeface="Inter" pitchFamily="34" charset="0"/>
                <a:ea typeface="Inter" pitchFamily="34" charset="-122"/>
                <a:cs typeface="Inter" pitchFamily="34" charset="-120"/>
              </a:rPr>
              <a:t>W</a:t>
            </a:r>
            <a:r>
              <a:rPr lang="en-US" sz="1298" dirty="0">
                <a:solidFill>
                  <a:srgbClr val="CBD5E1"/>
                </a:solidFill>
                <a:latin typeface="Inter" pitchFamily="34" charset="0"/>
                <a:ea typeface="Inter" pitchFamily="34" charset="-122"/>
                <a:cs typeface="Inter" pitchFamily="34" charset="-120"/>
              </a:rPr>
              <a:t>hat your material does not cover, or the topic itself if you have no material. </a:t>
            </a:r>
            <a:r>
              <a:rPr lang="hu-HU" sz="1298" dirty="0" err="1">
                <a:solidFill>
                  <a:srgbClr val="CBD5E1"/>
                </a:solidFill>
                <a:latin typeface="Inter" pitchFamily="34" charset="0"/>
                <a:ea typeface="Inter" pitchFamily="34" charset="-122"/>
                <a:cs typeface="Inter" pitchFamily="34" charset="-120"/>
              </a:rPr>
              <a:t>Ask</a:t>
            </a:r>
            <a:r>
              <a:rPr lang="hu-HU" sz="1298" dirty="0">
                <a:solidFill>
                  <a:srgbClr val="CBD5E1"/>
                </a:solidFill>
                <a:latin typeface="Inter" pitchFamily="34" charset="0"/>
                <a:ea typeface="Inter" pitchFamily="34" charset="-122"/>
                <a:cs typeface="Inter" pitchFamily="34" charset="-120"/>
              </a:rPr>
              <a:t> </a:t>
            </a:r>
            <a:r>
              <a:rPr lang="hu-HU" sz="1298" dirty="0" err="1">
                <a:solidFill>
                  <a:srgbClr val="CBD5E1"/>
                </a:solidFill>
                <a:latin typeface="Inter" pitchFamily="34" charset="0"/>
                <a:ea typeface="Inter" pitchFamily="34" charset="-122"/>
                <a:cs typeface="Inter" pitchFamily="34" charset="-120"/>
              </a:rPr>
              <a:t>for</a:t>
            </a:r>
            <a:r>
              <a:rPr lang="hu-HU" sz="1298" dirty="0">
                <a:solidFill>
                  <a:srgbClr val="CBD5E1"/>
                </a:solidFill>
                <a:latin typeface="Inter" pitchFamily="34" charset="0"/>
                <a:ea typeface="Inter" pitchFamily="34" charset="-122"/>
                <a:cs typeface="Inter" pitchFamily="34" charset="-120"/>
              </a:rPr>
              <a:t> </a:t>
            </a:r>
            <a:r>
              <a:rPr lang="hu-HU" sz="1298" dirty="0" err="1">
                <a:solidFill>
                  <a:srgbClr val="CBD5E1"/>
                </a:solidFill>
                <a:latin typeface="Inter" pitchFamily="34" charset="0"/>
                <a:ea typeface="Inter" pitchFamily="34" charset="-122"/>
                <a:cs typeface="Inter" pitchFamily="34" charset="-120"/>
              </a:rPr>
              <a:t>claims</a:t>
            </a:r>
            <a:r>
              <a:rPr lang="hu-HU" sz="1298" dirty="0">
                <a:solidFill>
                  <a:srgbClr val="CBD5E1"/>
                </a:solidFill>
                <a:latin typeface="Inter" pitchFamily="34" charset="0"/>
                <a:ea typeface="Inter" pitchFamily="34" charset="-122"/>
                <a:cs typeface="Inter" pitchFamily="34" charset="-120"/>
              </a:rPr>
              <a:t>, </a:t>
            </a:r>
            <a:r>
              <a:rPr lang="hu-HU" sz="1298" dirty="0" err="1">
                <a:solidFill>
                  <a:srgbClr val="CBD5E1"/>
                </a:solidFill>
                <a:latin typeface="Inter" pitchFamily="34" charset="0"/>
                <a:ea typeface="Inter" pitchFamily="34" charset="-122"/>
                <a:cs typeface="Inter" pitchFamily="34" charset="-120"/>
              </a:rPr>
              <a:t>check</a:t>
            </a:r>
            <a:r>
              <a:rPr lang="hu-HU" sz="1298" dirty="0">
                <a:solidFill>
                  <a:srgbClr val="CBD5E1"/>
                </a:solidFill>
                <a:latin typeface="Inter" pitchFamily="34" charset="0"/>
                <a:ea typeface="Inter" pitchFamily="34" charset="-122"/>
                <a:cs typeface="Inter" pitchFamily="34" charset="-120"/>
              </a:rPr>
              <a:t> </a:t>
            </a:r>
            <a:r>
              <a:rPr lang="hu-HU" sz="1298" dirty="0" err="1">
                <a:solidFill>
                  <a:srgbClr val="CBD5E1"/>
                </a:solidFill>
                <a:latin typeface="Inter" pitchFamily="34" charset="0"/>
                <a:ea typeface="Inter" pitchFamily="34" charset="-122"/>
                <a:cs typeface="Inter" pitchFamily="34" charset="-120"/>
              </a:rPr>
              <a:t>citations</a:t>
            </a:r>
            <a:r>
              <a:rPr lang="hu-HU" sz="1298" dirty="0">
                <a:solidFill>
                  <a:srgbClr val="CBD5E1"/>
                </a:solidFill>
                <a:latin typeface="Inter" pitchFamily="34" charset="0"/>
                <a:ea typeface="Inter" pitchFamily="34" charset="-122"/>
                <a:cs typeface="Inter" pitchFamily="34" charset="-120"/>
              </a:rPr>
              <a:t>.</a:t>
            </a:r>
            <a:r>
              <a:rPr lang="en-US" sz="1298" dirty="0">
                <a:solidFill>
                  <a:srgbClr val="CBD5E1"/>
                </a:solidFill>
                <a:latin typeface="Inter" pitchFamily="34" charset="0"/>
                <a:ea typeface="Inter" pitchFamily="34" charset="-122"/>
                <a:cs typeface="Inter" pitchFamily="34" charset="-120"/>
              </a:rPr>
              <a:t> Keep only outcomes you can observe</a:t>
            </a:r>
            <a:r>
              <a:rPr lang="hu-HU" sz="1298" dirty="0">
                <a:solidFill>
                  <a:srgbClr val="CBD5E1"/>
                </a:solidFill>
                <a:latin typeface="Inter" pitchFamily="34" charset="0"/>
                <a:ea typeface="Inter" pitchFamily="34" charset="-122"/>
                <a:cs typeface="Inter" pitchFamily="34" charset="-120"/>
              </a:rPr>
              <a:t>. </a:t>
            </a:r>
            <a:r>
              <a:rPr lang="hu-HU" sz="1298" dirty="0" err="1">
                <a:solidFill>
                  <a:srgbClr val="CBD5E1"/>
                </a:solidFill>
                <a:latin typeface="Inter" pitchFamily="34" charset="0"/>
                <a:ea typeface="Inter" pitchFamily="34" charset="-122"/>
                <a:cs typeface="Inter" pitchFamily="34" charset="-120"/>
              </a:rPr>
              <a:t>Give</a:t>
            </a:r>
            <a:r>
              <a:rPr lang="hu-HU" sz="1298" dirty="0">
                <a:solidFill>
                  <a:srgbClr val="CBD5E1"/>
                </a:solidFill>
                <a:latin typeface="Inter" pitchFamily="34" charset="0"/>
                <a:ea typeface="Inter" pitchFamily="34" charset="-122"/>
                <a:cs typeface="Inter" pitchFamily="34" charset="-120"/>
              </a:rPr>
              <a:t> a </a:t>
            </a:r>
            <a:r>
              <a:rPr lang="hu-HU" sz="1298" dirty="0" err="1">
                <a:solidFill>
                  <a:srgbClr val="CBD5E1"/>
                </a:solidFill>
                <a:latin typeface="Inter" pitchFamily="34" charset="0"/>
                <a:ea typeface="Inter" pitchFamily="34" charset="-122"/>
                <a:cs typeface="Inter" pitchFamily="34" charset="-120"/>
              </a:rPr>
              <a:t>definite</a:t>
            </a:r>
            <a:r>
              <a:rPr lang="hu-HU" sz="1298" dirty="0">
                <a:solidFill>
                  <a:srgbClr val="CBD5E1"/>
                </a:solidFill>
                <a:latin typeface="Inter" pitchFamily="34" charset="0"/>
                <a:ea typeface="Inter" pitchFamily="34" charset="-122"/>
                <a:cs typeface="Inter" pitchFamily="34" charset="-120"/>
              </a:rPr>
              <a:t> </a:t>
            </a:r>
            <a:r>
              <a:rPr lang="hu-HU" sz="1298" dirty="0" err="1">
                <a:solidFill>
                  <a:srgbClr val="CBD5E1"/>
                </a:solidFill>
                <a:latin typeface="Inter" pitchFamily="34" charset="0"/>
                <a:ea typeface="Inter" pitchFamily="34" charset="-122"/>
                <a:cs typeface="Inter" pitchFamily="34" charset="-120"/>
              </a:rPr>
              <a:t>frame</a:t>
            </a:r>
            <a:r>
              <a:rPr lang="hu-HU" sz="1298" dirty="0">
                <a:solidFill>
                  <a:srgbClr val="CBD5E1"/>
                </a:solidFill>
                <a:latin typeface="Inter" pitchFamily="34" charset="0"/>
                <a:ea typeface="Inter" pitchFamily="34" charset="-122"/>
                <a:cs typeface="Inter" pitchFamily="34" charset="-120"/>
              </a:rPr>
              <a:t> </a:t>
            </a:r>
            <a:r>
              <a:rPr lang="hu-HU" sz="1298" dirty="0" err="1">
                <a:solidFill>
                  <a:srgbClr val="CBD5E1"/>
                </a:solidFill>
                <a:latin typeface="Inter" pitchFamily="34" charset="0"/>
                <a:ea typeface="Inter" pitchFamily="34" charset="-122"/>
                <a:cs typeface="Inter" pitchFamily="34" charset="-120"/>
              </a:rPr>
              <a:t>to</a:t>
            </a:r>
            <a:r>
              <a:rPr lang="hu-HU" sz="1298" dirty="0">
                <a:solidFill>
                  <a:srgbClr val="CBD5E1"/>
                </a:solidFill>
                <a:latin typeface="Inter" pitchFamily="34" charset="0"/>
                <a:ea typeface="Inter" pitchFamily="34" charset="-122"/>
                <a:cs typeface="Inter" pitchFamily="34" charset="-120"/>
              </a:rPr>
              <a:t> </a:t>
            </a:r>
            <a:r>
              <a:rPr lang="hu-HU" sz="1298" dirty="0" err="1">
                <a:solidFill>
                  <a:srgbClr val="CBD5E1"/>
                </a:solidFill>
                <a:latin typeface="Inter" pitchFamily="34" charset="0"/>
                <a:ea typeface="Inter" pitchFamily="34" charset="-122"/>
                <a:cs typeface="Inter" pitchFamily="34" charset="-120"/>
              </a:rPr>
              <a:t>the</a:t>
            </a:r>
            <a:r>
              <a:rPr lang="hu-HU" sz="1298" dirty="0">
                <a:solidFill>
                  <a:srgbClr val="CBD5E1"/>
                </a:solidFill>
                <a:latin typeface="Inter" pitchFamily="34" charset="0"/>
                <a:ea typeface="Inter" pitchFamily="34" charset="-122"/>
                <a:cs typeface="Inter" pitchFamily="34" charset="-120"/>
              </a:rPr>
              <a:t> </a:t>
            </a:r>
            <a:r>
              <a:rPr lang="hu-HU" sz="1298" dirty="0" err="1">
                <a:solidFill>
                  <a:srgbClr val="CBD5E1"/>
                </a:solidFill>
                <a:latin typeface="Inter" pitchFamily="34" charset="0"/>
                <a:ea typeface="Inter" pitchFamily="34" charset="-122"/>
                <a:cs typeface="Inter" pitchFamily="34" charset="-120"/>
              </a:rPr>
              <a:t>subject</a:t>
            </a:r>
            <a:r>
              <a:rPr lang="hu-HU" sz="1298" dirty="0">
                <a:solidFill>
                  <a:srgbClr val="CBD5E1"/>
                </a:solidFill>
                <a:latin typeface="Inter" pitchFamily="34" charset="0"/>
                <a:ea typeface="Inter" pitchFamily="34" charset="-122"/>
                <a:cs typeface="Inter" pitchFamily="34" charset="-120"/>
              </a:rPr>
              <a:t>.</a:t>
            </a:r>
            <a:endParaRPr lang="en-US" sz="1298"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Text 2"/>
          <p:cNvSpPr/>
          <p:nvPr/>
        </p:nvSpPr>
        <p:spPr>
          <a:xfrm>
            <a:off x="457068" y="457068"/>
            <a:ext cx="14081688" cy="530225"/>
          </a:xfrm>
          <a:prstGeom prst="rect">
            <a:avLst/>
          </a:prstGeom>
          <a:noFill/>
          <a:ln/>
        </p:spPr>
        <p:txBody>
          <a:bodyPr wrap="square" lIns="25400" tIns="25400" rIns="25400" bIns="25400" rtlCol="0" anchor="t">
            <a:normAutofit/>
          </a:bodyPr>
          <a:lstStyle/>
          <a:p>
            <a:pPr marL="0" indent="0" algn="l">
              <a:lnSpc>
                <a:spcPct val="101088"/>
              </a:lnSpc>
              <a:buNone/>
            </a:pPr>
            <a:r>
              <a:rPr lang="en-US" sz="3203" b="1" dirty="0">
                <a:solidFill>
                  <a:srgbClr val="FFFFFF"/>
                </a:solidFill>
                <a:latin typeface="Inter" pitchFamily="34" charset="0"/>
                <a:ea typeface="Inter" pitchFamily="34" charset="-122"/>
                <a:cs typeface="Inter" pitchFamily="34" charset="-120"/>
              </a:rPr>
              <a:t>The blueprint · steps 7–8</a:t>
            </a:r>
            <a:endParaRPr lang="en-US" sz="3203" dirty="0"/>
          </a:p>
        </p:txBody>
      </p:sp>
      <p:sp>
        <p:nvSpPr>
          <p:cNvPr id="5" name="Text 3"/>
          <p:cNvSpPr/>
          <p:nvPr/>
        </p:nvSpPr>
        <p:spPr>
          <a:xfrm>
            <a:off x="457068" y="1076193"/>
            <a:ext cx="14081688" cy="249436"/>
          </a:xfrm>
          <a:prstGeom prst="rect">
            <a:avLst/>
          </a:prstGeom>
          <a:noFill/>
          <a:ln/>
        </p:spPr>
        <p:txBody>
          <a:bodyPr wrap="square" lIns="25400" tIns="25400" rIns="25400" bIns="25400" rtlCol="0" anchor="t">
            <a:normAutofit/>
          </a:bodyPr>
          <a:lstStyle/>
          <a:p>
            <a:pPr marL="0" indent="0" algn="l">
              <a:lnSpc>
                <a:spcPct val="124858"/>
              </a:lnSpc>
              <a:buNone/>
            </a:pPr>
            <a:r>
              <a:rPr lang="en-US" sz="1102" dirty="0">
                <a:solidFill>
                  <a:srgbClr val="94A3B8"/>
                </a:solidFill>
                <a:latin typeface="Inter" pitchFamily="34" charset="0"/>
                <a:ea typeface="Inter" pitchFamily="34" charset="-122"/>
                <a:cs typeface="Inter" pitchFamily="34" charset="-120"/>
              </a:rPr>
              <a:t>Make the visuals and build the deck. Prompt Coach runs beside any step: improve the prompt before you use it</a:t>
            </a:r>
            <a:endParaRPr lang="en-US" sz="1102" dirty="0"/>
          </a:p>
        </p:txBody>
      </p:sp>
      <p:sp>
        <p:nvSpPr>
          <p:cNvPr id="6" name="Shape 4"/>
          <p:cNvSpPr/>
          <p:nvPr/>
        </p:nvSpPr>
        <p:spPr>
          <a:xfrm>
            <a:off x="457068" y="1666875"/>
            <a:ext cx="6286501" cy="3867051"/>
          </a:xfrm>
          <a:prstGeom prst="roundRect">
            <a:avLst>
              <a:gd name="adj" fmla="val 2956"/>
            </a:avLst>
          </a:prstGeom>
          <a:gradFill rotWithShape="1">
            <a:gsLst>
              <a:gs pos="0">
                <a:srgbClr val="FFFFFF">
                  <a:alpha val="11000"/>
                </a:srgbClr>
              </a:gs>
              <a:gs pos="100000">
                <a:srgbClr val="FFFFFF">
                  <a:alpha val="2000"/>
                </a:srgbClr>
              </a:gs>
            </a:gsLst>
            <a:lin ang="5400000" scaled="0"/>
          </a:gradFill>
          <a:ln w="10583">
            <a:solidFill>
              <a:srgbClr val="FFFFFF">
                <a:alpha val="12000"/>
              </a:srgbClr>
            </a:solidFill>
            <a:prstDash val="solid"/>
          </a:ln>
          <a:effectLst>
            <a:outerShdw blurRad="228600" dist="76200" dir="5400000" algn="bl" rotWithShape="0">
              <a:srgbClr val="000000">
                <a:alpha val="25000"/>
              </a:srgbClr>
            </a:outerShdw>
          </a:effectLst>
        </p:spPr>
      </p:sp>
      <p:sp>
        <p:nvSpPr>
          <p:cNvPr id="7" name="Shape 5"/>
          <p:cNvSpPr/>
          <p:nvPr/>
        </p:nvSpPr>
        <p:spPr>
          <a:xfrm>
            <a:off x="457068" y="5524500"/>
            <a:ext cx="6286501" cy="9525"/>
          </a:xfrm>
          <a:prstGeom prst="rect">
            <a:avLst/>
          </a:prstGeom>
          <a:solidFill>
            <a:srgbClr val="FFFFFF">
              <a:alpha val="8000"/>
            </a:srgbClr>
          </a:solidFill>
          <a:ln/>
        </p:spPr>
      </p:sp>
      <p:sp>
        <p:nvSpPr>
          <p:cNvPr id="8" name="Shape 6"/>
          <p:cNvSpPr/>
          <p:nvPr/>
        </p:nvSpPr>
        <p:spPr>
          <a:xfrm>
            <a:off x="457068" y="1666875"/>
            <a:ext cx="6286501" cy="9525"/>
          </a:xfrm>
          <a:prstGeom prst="rect">
            <a:avLst/>
          </a:prstGeom>
          <a:solidFill>
            <a:srgbClr val="FFFFFF">
              <a:alpha val="8000"/>
            </a:srgbClr>
          </a:solidFill>
          <a:ln/>
        </p:spPr>
      </p:sp>
      <p:sp>
        <p:nvSpPr>
          <p:cNvPr id="9" name="Shape 7"/>
          <p:cNvSpPr/>
          <p:nvPr/>
        </p:nvSpPr>
        <p:spPr>
          <a:xfrm>
            <a:off x="457068" y="1762125"/>
            <a:ext cx="28443" cy="3676551"/>
          </a:xfrm>
          <a:prstGeom prst="rect">
            <a:avLst/>
          </a:prstGeom>
          <a:solidFill>
            <a:srgbClr val="3B82F6"/>
          </a:solidFill>
          <a:ln/>
        </p:spPr>
      </p:sp>
      <p:sp>
        <p:nvSpPr>
          <p:cNvPr id="10" name="Shape 8"/>
          <p:cNvSpPr/>
          <p:nvPr/>
        </p:nvSpPr>
        <p:spPr>
          <a:xfrm>
            <a:off x="6734142" y="1762125"/>
            <a:ext cx="9525" cy="3676551"/>
          </a:xfrm>
          <a:prstGeom prst="rect">
            <a:avLst/>
          </a:prstGeom>
          <a:solidFill>
            <a:srgbClr val="FFFFFF">
              <a:alpha val="8000"/>
            </a:srgbClr>
          </a:solidFill>
          <a:ln/>
        </p:spPr>
      </p:sp>
      <p:sp>
        <p:nvSpPr>
          <p:cNvPr id="11" name="Text 9"/>
          <p:cNvSpPr/>
          <p:nvPr/>
        </p:nvSpPr>
        <p:spPr>
          <a:xfrm>
            <a:off x="704784" y="1933443"/>
            <a:ext cx="6370175" cy="320047"/>
          </a:xfrm>
          <a:prstGeom prst="rect">
            <a:avLst/>
          </a:prstGeom>
          <a:noFill/>
          <a:ln/>
        </p:spPr>
        <p:txBody>
          <a:bodyPr wrap="square" lIns="25400" tIns="25400" rIns="25400" bIns="25400" rtlCol="0" anchor="t">
            <a:normAutofit/>
          </a:bodyPr>
          <a:lstStyle/>
          <a:p>
            <a:pPr marL="0" indent="0" algn="l">
              <a:lnSpc>
                <a:spcPct val="111026"/>
              </a:lnSpc>
              <a:buNone/>
            </a:pPr>
            <a:r>
              <a:rPr lang="en-US" sz="1598" b="1" dirty="0">
                <a:solidFill>
                  <a:srgbClr val="FFFFFF"/>
                </a:solidFill>
                <a:latin typeface="Inter" pitchFamily="34" charset="0"/>
                <a:ea typeface="Inter" pitchFamily="34" charset="-122"/>
                <a:cs typeface="Inter" pitchFamily="34" charset="-120"/>
              </a:rPr>
              <a:t>7 · Make the visuals</a:t>
            </a:r>
            <a:endParaRPr lang="en-US" sz="1598" dirty="0"/>
          </a:p>
        </p:txBody>
      </p:sp>
      <p:sp>
        <p:nvSpPr>
          <p:cNvPr id="12" name="Text 10"/>
          <p:cNvSpPr/>
          <p:nvPr/>
        </p:nvSpPr>
        <p:spPr>
          <a:xfrm>
            <a:off x="704784" y="2276409"/>
            <a:ext cx="6370175" cy="286643"/>
          </a:xfrm>
          <a:prstGeom prst="rect">
            <a:avLst/>
          </a:prstGeom>
          <a:noFill/>
          <a:ln/>
        </p:spPr>
        <p:txBody>
          <a:bodyPr wrap="square" lIns="25400" tIns="25400" rIns="25400" bIns="25400" rtlCol="0" anchor="t">
            <a:normAutofit/>
          </a:bodyPr>
          <a:lstStyle/>
          <a:p>
            <a:pPr marL="0" indent="0" algn="l">
              <a:lnSpc>
                <a:spcPct val="123741"/>
              </a:lnSpc>
              <a:buNone/>
            </a:pPr>
            <a:r>
              <a:rPr lang="en-US" sz="1298" dirty="0">
                <a:solidFill>
                  <a:srgbClr val="60A5FA"/>
                </a:solidFill>
                <a:latin typeface="Inter" pitchFamily="34" charset="0"/>
                <a:ea typeface="Inter" pitchFamily="34" charset="-122"/>
                <a:cs typeface="Inter" pitchFamily="34" charset="-120"/>
              </a:rPr>
              <a:t>Gemini · image generation · Daily Driver · Optional</a:t>
            </a:r>
            <a:endParaRPr lang="en-US" sz="1298" dirty="0"/>
          </a:p>
        </p:txBody>
      </p:sp>
      <p:sp>
        <p:nvSpPr>
          <p:cNvPr id="13" name="Text 11"/>
          <p:cNvSpPr/>
          <p:nvPr/>
        </p:nvSpPr>
        <p:spPr>
          <a:xfrm>
            <a:off x="704784" y="2724051"/>
            <a:ext cx="514251" cy="203630"/>
          </a:xfrm>
          <a:prstGeom prst="rect">
            <a:avLst/>
          </a:prstGeom>
          <a:noFill/>
          <a:ln/>
        </p:spPr>
        <p:txBody>
          <a:bodyPr wrap="square" lIns="25400" tIns="25400" rIns="25400" bIns="25400" rtlCol="0" anchor="t">
            <a:normAutofit/>
          </a:bodyPr>
          <a:lstStyle/>
          <a:p>
            <a:pPr marL="0" indent="0" algn="l">
              <a:lnSpc>
                <a:spcPct val="120462"/>
              </a:lnSpc>
              <a:buNone/>
            </a:pPr>
            <a:r>
              <a:rPr lang="en-US" sz="900" b="1" kern="0" spc="72" dirty="0">
                <a:solidFill>
                  <a:srgbClr val="64748B"/>
                </a:solidFill>
                <a:latin typeface="Inter" pitchFamily="34" charset="0"/>
                <a:ea typeface="Inter" pitchFamily="34" charset="-122"/>
                <a:cs typeface="Inter" pitchFamily="34" charset="-120"/>
              </a:rPr>
              <a:t>IN</a:t>
            </a:r>
            <a:endParaRPr lang="en-US" sz="900" dirty="0"/>
          </a:p>
        </p:txBody>
      </p:sp>
      <p:sp>
        <p:nvSpPr>
          <p:cNvPr id="14" name="Text 12"/>
          <p:cNvSpPr/>
          <p:nvPr/>
        </p:nvSpPr>
        <p:spPr>
          <a:xfrm>
            <a:off x="1104801" y="2705034"/>
            <a:ext cx="5552783" cy="535186"/>
          </a:xfrm>
          <a:prstGeom prst="rect">
            <a:avLst/>
          </a:prstGeom>
          <a:noFill/>
          <a:ln/>
        </p:spPr>
        <p:txBody>
          <a:bodyPr wrap="square" lIns="25400" tIns="25400" rIns="25400" bIns="25400" rtlCol="0" anchor="t">
            <a:normAutofit/>
          </a:bodyPr>
          <a:lstStyle/>
          <a:p>
            <a:pPr marL="0" indent="0" algn="l">
              <a:lnSpc>
                <a:spcPct val="123741"/>
              </a:lnSpc>
              <a:buNone/>
            </a:pPr>
            <a:r>
              <a:rPr lang="en-US" sz="1298" dirty="0">
                <a:solidFill>
                  <a:srgbClr val="CBD5E1"/>
                </a:solidFill>
                <a:latin typeface="Inter" pitchFamily="34" charset="0"/>
                <a:ea typeface="Inter" pitchFamily="34" charset="-122"/>
                <a:cs typeface="Inter" pitchFamily="34" charset="-120"/>
              </a:rPr>
              <a:t>One section of the outline from step 5 and a one-sentence description of its diagram.</a:t>
            </a:r>
            <a:endParaRPr lang="en-US" sz="1298" dirty="0"/>
          </a:p>
        </p:txBody>
      </p:sp>
      <p:sp>
        <p:nvSpPr>
          <p:cNvPr id="15" name="Text 13"/>
          <p:cNvSpPr/>
          <p:nvPr/>
        </p:nvSpPr>
        <p:spPr>
          <a:xfrm>
            <a:off x="704784" y="3352767"/>
            <a:ext cx="514251" cy="203630"/>
          </a:xfrm>
          <a:prstGeom prst="rect">
            <a:avLst/>
          </a:prstGeom>
          <a:noFill/>
          <a:ln/>
        </p:spPr>
        <p:txBody>
          <a:bodyPr wrap="square" lIns="25400" tIns="25400" rIns="25400" bIns="25400" rtlCol="0" anchor="t">
            <a:normAutofit lnSpcReduction="10000"/>
          </a:bodyPr>
          <a:lstStyle/>
          <a:p>
            <a:pPr marL="0" indent="0" algn="l">
              <a:lnSpc>
                <a:spcPct val="120462"/>
              </a:lnSpc>
              <a:buNone/>
            </a:pPr>
            <a:r>
              <a:rPr lang="en-US" sz="900" b="1" kern="0" spc="72" dirty="0">
                <a:solidFill>
                  <a:srgbClr val="64748B"/>
                </a:solidFill>
                <a:latin typeface="Inter" pitchFamily="34" charset="0"/>
                <a:ea typeface="Inter" pitchFamily="34" charset="-122"/>
                <a:cs typeface="Inter" pitchFamily="34" charset="-120"/>
              </a:rPr>
              <a:t>OUT</a:t>
            </a:r>
            <a:endParaRPr lang="en-US" sz="900" dirty="0"/>
          </a:p>
        </p:txBody>
      </p:sp>
      <p:sp>
        <p:nvSpPr>
          <p:cNvPr id="16" name="Text 14"/>
          <p:cNvSpPr/>
          <p:nvPr/>
        </p:nvSpPr>
        <p:spPr>
          <a:xfrm>
            <a:off x="1104801" y="3333750"/>
            <a:ext cx="5930156" cy="286643"/>
          </a:xfrm>
          <a:prstGeom prst="rect">
            <a:avLst/>
          </a:prstGeom>
          <a:noFill/>
          <a:ln/>
        </p:spPr>
        <p:txBody>
          <a:bodyPr wrap="square" lIns="25400" tIns="25400" rIns="25400" bIns="25400" rtlCol="0" anchor="t">
            <a:normAutofit/>
          </a:bodyPr>
          <a:lstStyle/>
          <a:p>
            <a:pPr marL="0" indent="0" algn="l">
              <a:lnSpc>
                <a:spcPct val="123741"/>
              </a:lnSpc>
              <a:buNone/>
            </a:pPr>
            <a:r>
              <a:rPr lang="en-US" sz="1298" dirty="0">
                <a:solidFill>
                  <a:srgbClr val="CBD5E1"/>
                </a:solidFill>
                <a:latin typeface="Inter" pitchFamily="34" charset="0"/>
                <a:ea typeface="Inter" pitchFamily="34" charset="-122"/>
                <a:cs typeface="Inter" pitchFamily="34" charset="-120"/>
              </a:rPr>
              <a:t>One image per section that needs one → step 8.</a:t>
            </a:r>
            <a:endParaRPr lang="en-US" sz="1298" dirty="0"/>
          </a:p>
        </p:txBody>
      </p:sp>
      <p:sp>
        <p:nvSpPr>
          <p:cNvPr id="17" name="Shape 15"/>
          <p:cNvSpPr/>
          <p:nvPr/>
        </p:nvSpPr>
        <p:spPr>
          <a:xfrm>
            <a:off x="704784" y="3800409"/>
            <a:ext cx="5762625" cy="9525"/>
          </a:xfrm>
          <a:prstGeom prst="rect">
            <a:avLst/>
          </a:prstGeom>
          <a:solidFill>
            <a:srgbClr val="FFFFFF">
              <a:alpha val="7000"/>
            </a:srgbClr>
          </a:solidFill>
          <a:ln/>
        </p:spPr>
      </p:sp>
      <p:sp>
        <p:nvSpPr>
          <p:cNvPr id="18" name="Text 16"/>
          <p:cNvSpPr/>
          <p:nvPr/>
        </p:nvSpPr>
        <p:spPr>
          <a:xfrm>
            <a:off x="704784" y="3943284"/>
            <a:ext cx="6370175" cy="203630"/>
          </a:xfrm>
          <a:prstGeom prst="rect">
            <a:avLst/>
          </a:prstGeom>
          <a:noFill/>
          <a:ln/>
        </p:spPr>
        <p:txBody>
          <a:bodyPr wrap="square" lIns="25400" tIns="25400" rIns="25400" bIns="25400" rtlCol="0" anchor="t">
            <a:normAutofit lnSpcReduction="10000"/>
          </a:bodyPr>
          <a:lstStyle/>
          <a:p>
            <a:pPr marL="0" indent="0" algn="l">
              <a:lnSpc>
                <a:spcPct val="120462"/>
              </a:lnSpc>
              <a:buNone/>
            </a:pPr>
            <a:r>
              <a:rPr lang="en-US" sz="900" b="1" kern="0" spc="72" dirty="0">
                <a:solidFill>
                  <a:srgbClr val="34D399"/>
                </a:solidFill>
                <a:latin typeface="Inter" pitchFamily="34" charset="0"/>
                <a:ea typeface="Inter" pitchFamily="34" charset="-122"/>
                <a:cs typeface="Inter" pitchFamily="34" charset="-120"/>
              </a:rPr>
              <a:t>HOW TO RUN IT</a:t>
            </a:r>
            <a:endParaRPr lang="en-US" sz="900" dirty="0"/>
          </a:p>
        </p:txBody>
      </p:sp>
      <p:sp>
        <p:nvSpPr>
          <p:cNvPr id="19" name="Text 17"/>
          <p:cNvSpPr/>
          <p:nvPr/>
        </p:nvSpPr>
        <p:spPr>
          <a:xfrm>
            <a:off x="704784" y="4171818"/>
            <a:ext cx="5964800" cy="1032272"/>
          </a:xfrm>
          <a:prstGeom prst="rect">
            <a:avLst/>
          </a:prstGeom>
          <a:noFill/>
          <a:ln/>
        </p:spPr>
        <p:txBody>
          <a:bodyPr wrap="square" lIns="25400" tIns="25400" rIns="25400" bIns="25400" rtlCol="0" anchor="t">
            <a:normAutofit/>
          </a:bodyPr>
          <a:lstStyle/>
          <a:p>
            <a:pPr marL="0" indent="0" algn="l">
              <a:lnSpc>
                <a:spcPct val="123741"/>
              </a:lnSpc>
              <a:buNone/>
            </a:pPr>
            <a:r>
              <a:rPr lang="en-US" sz="1298" dirty="0">
                <a:solidFill>
                  <a:srgbClr val="CBD5E1"/>
                </a:solidFill>
                <a:latin typeface="Inter" pitchFamily="34" charset="0"/>
                <a:ea typeface="Inter" pitchFamily="34" charset="-122"/>
                <a:cs typeface="Inter" pitchFamily="34" charset="-120"/>
              </a:rPr>
              <a:t>Describe the relationship, not the picture: “three stages, each feeding the next, the middle one highlighted”. Read the labels in the result; text in generated images is often wrong. Regenerate, do not patch. Not every section needs an image.</a:t>
            </a:r>
            <a:endParaRPr lang="en-US" sz="1298" dirty="0"/>
          </a:p>
        </p:txBody>
      </p:sp>
      <p:sp>
        <p:nvSpPr>
          <p:cNvPr id="20" name="Shape 18"/>
          <p:cNvSpPr/>
          <p:nvPr/>
        </p:nvSpPr>
        <p:spPr>
          <a:xfrm>
            <a:off x="6972267" y="1666875"/>
            <a:ext cx="6286501" cy="3867051"/>
          </a:xfrm>
          <a:prstGeom prst="roundRect">
            <a:avLst>
              <a:gd name="adj" fmla="val 2956"/>
            </a:avLst>
          </a:prstGeom>
          <a:gradFill rotWithShape="1">
            <a:gsLst>
              <a:gs pos="0">
                <a:srgbClr val="FFFFFF">
                  <a:alpha val="11000"/>
                </a:srgbClr>
              </a:gs>
              <a:gs pos="100000">
                <a:srgbClr val="FFFFFF">
                  <a:alpha val="2000"/>
                </a:srgbClr>
              </a:gs>
            </a:gsLst>
            <a:lin ang="5400000" scaled="0"/>
          </a:gradFill>
          <a:ln w="10583">
            <a:solidFill>
              <a:srgbClr val="FFFFFF">
                <a:alpha val="12000"/>
              </a:srgbClr>
            </a:solidFill>
            <a:prstDash val="solid"/>
          </a:ln>
          <a:effectLst>
            <a:outerShdw blurRad="228600" dist="76200" dir="5400000" algn="bl" rotWithShape="0">
              <a:srgbClr val="000000">
                <a:alpha val="25000"/>
              </a:srgbClr>
            </a:outerShdw>
          </a:effectLst>
        </p:spPr>
      </p:sp>
      <p:sp>
        <p:nvSpPr>
          <p:cNvPr id="21" name="Shape 19"/>
          <p:cNvSpPr/>
          <p:nvPr/>
        </p:nvSpPr>
        <p:spPr>
          <a:xfrm>
            <a:off x="6972267" y="5524500"/>
            <a:ext cx="6286501" cy="9525"/>
          </a:xfrm>
          <a:prstGeom prst="rect">
            <a:avLst/>
          </a:prstGeom>
          <a:solidFill>
            <a:srgbClr val="FFFFFF">
              <a:alpha val="8000"/>
            </a:srgbClr>
          </a:solidFill>
          <a:ln/>
        </p:spPr>
      </p:sp>
      <p:sp>
        <p:nvSpPr>
          <p:cNvPr id="22" name="Shape 20"/>
          <p:cNvSpPr/>
          <p:nvPr/>
        </p:nvSpPr>
        <p:spPr>
          <a:xfrm>
            <a:off x="6972267" y="1666875"/>
            <a:ext cx="6286501" cy="9525"/>
          </a:xfrm>
          <a:prstGeom prst="rect">
            <a:avLst/>
          </a:prstGeom>
          <a:solidFill>
            <a:srgbClr val="FFFFFF">
              <a:alpha val="8000"/>
            </a:srgbClr>
          </a:solidFill>
          <a:ln/>
        </p:spPr>
      </p:sp>
      <p:sp>
        <p:nvSpPr>
          <p:cNvPr id="23" name="Shape 21"/>
          <p:cNvSpPr/>
          <p:nvPr/>
        </p:nvSpPr>
        <p:spPr>
          <a:xfrm>
            <a:off x="6972267" y="1762125"/>
            <a:ext cx="28443" cy="3676551"/>
          </a:xfrm>
          <a:prstGeom prst="rect">
            <a:avLst/>
          </a:prstGeom>
          <a:solidFill>
            <a:srgbClr val="64748B"/>
          </a:solidFill>
          <a:ln/>
        </p:spPr>
      </p:sp>
      <p:sp>
        <p:nvSpPr>
          <p:cNvPr id="24" name="Shape 22"/>
          <p:cNvSpPr/>
          <p:nvPr/>
        </p:nvSpPr>
        <p:spPr>
          <a:xfrm>
            <a:off x="13249176" y="1762125"/>
            <a:ext cx="9525" cy="3676551"/>
          </a:xfrm>
          <a:prstGeom prst="rect">
            <a:avLst/>
          </a:prstGeom>
          <a:solidFill>
            <a:srgbClr val="FFFFFF">
              <a:alpha val="8000"/>
            </a:srgbClr>
          </a:solidFill>
          <a:ln/>
        </p:spPr>
      </p:sp>
      <p:sp>
        <p:nvSpPr>
          <p:cNvPr id="25" name="Text 23"/>
          <p:cNvSpPr/>
          <p:nvPr/>
        </p:nvSpPr>
        <p:spPr>
          <a:xfrm>
            <a:off x="7219818" y="1933443"/>
            <a:ext cx="6370175" cy="320047"/>
          </a:xfrm>
          <a:prstGeom prst="rect">
            <a:avLst/>
          </a:prstGeom>
          <a:noFill/>
          <a:ln/>
        </p:spPr>
        <p:txBody>
          <a:bodyPr wrap="square" lIns="25400" tIns="25400" rIns="25400" bIns="25400" rtlCol="0" anchor="t">
            <a:normAutofit/>
          </a:bodyPr>
          <a:lstStyle/>
          <a:p>
            <a:pPr marL="0" indent="0" algn="l">
              <a:lnSpc>
                <a:spcPct val="111026"/>
              </a:lnSpc>
              <a:buNone/>
            </a:pPr>
            <a:r>
              <a:rPr lang="en-US" sz="1598" b="1" dirty="0">
                <a:solidFill>
                  <a:srgbClr val="FFFFFF"/>
                </a:solidFill>
                <a:latin typeface="Inter" pitchFamily="34" charset="0"/>
                <a:ea typeface="Inter" pitchFamily="34" charset="-122"/>
                <a:cs typeface="Inter" pitchFamily="34" charset="-120"/>
              </a:rPr>
              <a:t>8 · Build the presentation</a:t>
            </a:r>
            <a:endParaRPr lang="en-US" sz="1598" dirty="0"/>
          </a:p>
        </p:txBody>
      </p:sp>
      <p:sp>
        <p:nvSpPr>
          <p:cNvPr id="26" name="Text 24"/>
          <p:cNvSpPr/>
          <p:nvPr/>
        </p:nvSpPr>
        <p:spPr>
          <a:xfrm>
            <a:off x="7219818" y="2276409"/>
            <a:ext cx="5964800" cy="535186"/>
          </a:xfrm>
          <a:prstGeom prst="rect">
            <a:avLst/>
          </a:prstGeom>
          <a:noFill/>
          <a:ln/>
        </p:spPr>
        <p:txBody>
          <a:bodyPr wrap="square" lIns="25400" tIns="25400" rIns="25400" bIns="25400" rtlCol="0" anchor="t">
            <a:normAutofit/>
          </a:bodyPr>
          <a:lstStyle/>
          <a:p>
            <a:pPr marL="0" indent="0" algn="l">
              <a:lnSpc>
                <a:spcPct val="123741"/>
              </a:lnSpc>
              <a:buNone/>
            </a:pPr>
            <a:r>
              <a:rPr lang="en-US" sz="1298" dirty="0">
                <a:solidFill>
                  <a:srgbClr val="94A3B8"/>
                </a:solidFill>
                <a:latin typeface="Inter" pitchFamily="34" charset="0"/>
                <a:ea typeface="Inter" pitchFamily="34" charset="-122"/>
                <a:cs typeface="Inter" pitchFamily="34" charset="-120"/>
              </a:rPr>
              <a:t>Canva (Teams app) → genspark.ai · Outside both lanes · anonymised content only · Optional tools, required output</a:t>
            </a:r>
            <a:endParaRPr lang="en-US" sz="1298" dirty="0"/>
          </a:p>
        </p:txBody>
      </p:sp>
      <p:sp>
        <p:nvSpPr>
          <p:cNvPr id="27" name="Text 25"/>
          <p:cNvSpPr/>
          <p:nvPr/>
        </p:nvSpPr>
        <p:spPr>
          <a:xfrm>
            <a:off x="7219818" y="2981193"/>
            <a:ext cx="514251" cy="203630"/>
          </a:xfrm>
          <a:prstGeom prst="rect">
            <a:avLst/>
          </a:prstGeom>
          <a:noFill/>
          <a:ln/>
        </p:spPr>
        <p:txBody>
          <a:bodyPr wrap="square" lIns="25400" tIns="25400" rIns="25400" bIns="25400" rtlCol="0" anchor="t">
            <a:normAutofit/>
          </a:bodyPr>
          <a:lstStyle/>
          <a:p>
            <a:pPr marL="0" indent="0" algn="l">
              <a:lnSpc>
                <a:spcPct val="120462"/>
              </a:lnSpc>
              <a:buNone/>
            </a:pPr>
            <a:r>
              <a:rPr lang="en-US" sz="900" b="1" kern="0" spc="72" dirty="0">
                <a:solidFill>
                  <a:srgbClr val="64748B"/>
                </a:solidFill>
                <a:latin typeface="Inter" pitchFamily="34" charset="0"/>
                <a:ea typeface="Inter" pitchFamily="34" charset="-122"/>
                <a:cs typeface="Inter" pitchFamily="34" charset="-120"/>
              </a:rPr>
              <a:t>IN</a:t>
            </a:r>
            <a:endParaRPr lang="en-US" sz="900" dirty="0"/>
          </a:p>
        </p:txBody>
      </p:sp>
      <p:sp>
        <p:nvSpPr>
          <p:cNvPr id="28" name="Text 26"/>
          <p:cNvSpPr/>
          <p:nvPr/>
        </p:nvSpPr>
        <p:spPr>
          <a:xfrm>
            <a:off x="7620001" y="2962176"/>
            <a:ext cx="5930156" cy="286643"/>
          </a:xfrm>
          <a:prstGeom prst="rect">
            <a:avLst/>
          </a:prstGeom>
          <a:noFill/>
          <a:ln/>
        </p:spPr>
        <p:txBody>
          <a:bodyPr wrap="square" lIns="25400" tIns="25400" rIns="25400" bIns="25400" rtlCol="0" anchor="t">
            <a:normAutofit/>
          </a:bodyPr>
          <a:lstStyle/>
          <a:p>
            <a:pPr marL="0" indent="0" algn="l">
              <a:lnSpc>
                <a:spcPct val="123741"/>
              </a:lnSpc>
              <a:buNone/>
            </a:pPr>
            <a:r>
              <a:rPr lang="en-US" sz="1298" dirty="0">
                <a:solidFill>
                  <a:srgbClr val="CBD5E1"/>
                </a:solidFill>
                <a:latin typeface="Inter" pitchFamily="34" charset="0"/>
                <a:ea typeface="Inter" pitchFamily="34" charset="-122"/>
                <a:cs typeface="Inter" pitchFamily="34" charset="-120"/>
              </a:rPr>
              <a:t>The outline (5), the learning material (6), the visuals (7).</a:t>
            </a:r>
            <a:endParaRPr lang="en-US" sz="1298" dirty="0"/>
          </a:p>
        </p:txBody>
      </p:sp>
      <p:sp>
        <p:nvSpPr>
          <p:cNvPr id="29" name="Text 27"/>
          <p:cNvSpPr/>
          <p:nvPr/>
        </p:nvSpPr>
        <p:spPr>
          <a:xfrm>
            <a:off x="7219818" y="3352767"/>
            <a:ext cx="514251" cy="203630"/>
          </a:xfrm>
          <a:prstGeom prst="rect">
            <a:avLst/>
          </a:prstGeom>
          <a:noFill/>
          <a:ln/>
        </p:spPr>
        <p:txBody>
          <a:bodyPr wrap="square" lIns="25400" tIns="25400" rIns="25400" bIns="25400" rtlCol="0" anchor="t">
            <a:normAutofit lnSpcReduction="10000"/>
          </a:bodyPr>
          <a:lstStyle/>
          <a:p>
            <a:pPr marL="0" indent="0" algn="l">
              <a:lnSpc>
                <a:spcPct val="120462"/>
              </a:lnSpc>
              <a:buNone/>
            </a:pPr>
            <a:r>
              <a:rPr lang="en-US" sz="900" b="1" kern="0" spc="72" dirty="0">
                <a:solidFill>
                  <a:srgbClr val="64748B"/>
                </a:solidFill>
                <a:latin typeface="Inter" pitchFamily="34" charset="0"/>
                <a:ea typeface="Inter" pitchFamily="34" charset="-122"/>
                <a:cs typeface="Inter" pitchFamily="34" charset="-120"/>
              </a:rPr>
              <a:t>OUT</a:t>
            </a:r>
            <a:endParaRPr lang="en-US" sz="900" dirty="0"/>
          </a:p>
        </p:txBody>
      </p:sp>
      <p:sp>
        <p:nvSpPr>
          <p:cNvPr id="30" name="Text 28"/>
          <p:cNvSpPr/>
          <p:nvPr/>
        </p:nvSpPr>
        <p:spPr>
          <a:xfrm>
            <a:off x="7620001" y="3333750"/>
            <a:ext cx="5930156" cy="286643"/>
          </a:xfrm>
          <a:prstGeom prst="rect">
            <a:avLst/>
          </a:prstGeom>
          <a:noFill/>
          <a:ln/>
        </p:spPr>
        <p:txBody>
          <a:bodyPr wrap="square" lIns="25400" tIns="25400" rIns="25400" bIns="25400" rtlCol="0" anchor="t">
            <a:normAutofit/>
          </a:bodyPr>
          <a:lstStyle/>
          <a:p>
            <a:pPr marL="0" indent="0" algn="l">
              <a:lnSpc>
                <a:spcPct val="123741"/>
              </a:lnSpc>
              <a:buNone/>
            </a:pPr>
            <a:r>
              <a:rPr lang="en-US" sz="1298" dirty="0">
                <a:solidFill>
                  <a:srgbClr val="CBD5E1"/>
                </a:solidFill>
                <a:latin typeface="Inter" pitchFamily="34" charset="0"/>
                <a:ea typeface="Inter" pitchFamily="34" charset="-122"/>
                <a:cs typeface="Inter" pitchFamily="34" charset="-120"/>
              </a:rPr>
              <a:t>The finished presentation and a short video excerpt: the deliverable.</a:t>
            </a:r>
            <a:endParaRPr lang="en-US" sz="1298" dirty="0"/>
          </a:p>
        </p:txBody>
      </p:sp>
      <p:sp>
        <p:nvSpPr>
          <p:cNvPr id="31" name="Shape 29"/>
          <p:cNvSpPr/>
          <p:nvPr/>
        </p:nvSpPr>
        <p:spPr>
          <a:xfrm>
            <a:off x="7219818" y="3800409"/>
            <a:ext cx="5762625" cy="9525"/>
          </a:xfrm>
          <a:prstGeom prst="rect">
            <a:avLst/>
          </a:prstGeom>
          <a:solidFill>
            <a:srgbClr val="FFFFFF">
              <a:alpha val="7000"/>
            </a:srgbClr>
          </a:solidFill>
          <a:ln/>
        </p:spPr>
      </p:sp>
      <p:sp>
        <p:nvSpPr>
          <p:cNvPr id="32" name="Text 30"/>
          <p:cNvSpPr/>
          <p:nvPr/>
        </p:nvSpPr>
        <p:spPr>
          <a:xfrm>
            <a:off x="7219818" y="3943284"/>
            <a:ext cx="6370175" cy="203630"/>
          </a:xfrm>
          <a:prstGeom prst="rect">
            <a:avLst/>
          </a:prstGeom>
          <a:noFill/>
          <a:ln/>
        </p:spPr>
        <p:txBody>
          <a:bodyPr wrap="square" lIns="25400" tIns="25400" rIns="25400" bIns="25400" rtlCol="0" anchor="t">
            <a:normAutofit/>
          </a:bodyPr>
          <a:lstStyle/>
          <a:p>
            <a:pPr marL="0" indent="0" algn="l">
              <a:lnSpc>
                <a:spcPct val="120462"/>
              </a:lnSpc>
              <a:buNone/>
            </a:pPr>
            <a:r>
              <a:rPr lang="en-US" sz="900" b="1" kern="0" spc="72" dirty="0">
                <a:solidFill>
                  <a:srgbClr val="34D399"/>
                </a:solidFill>
                <a:latin typeface="Inter" pitchFamily="34" charset="0"/>
                <a:ea typeface="Inter" pitchFamily="34" charset="-122"/>
                <a:cs typeface="Inter" pitchFamily="34" charset="-120"/>
              </a:rPr>
              <a:t>HOW TO RUN IT</a:t>
            </a:r>
            <a:endParaRPr lang="en-US" sz="900" dirty="0"/>
          </a:p>
        </p:txBody>
      </p:sp>
      <p:sp>
        <p:nvSpPr>
          <p:cNvPr id="33" name="Text 31"/>
          <p:cNvSpPr/>
          <p:nvPr/>
        </p:nvSpPr>
        <p:spPr>
          <a:xfrm>
            <a:off x="7219818" y="4171818"/>
            <a:ext cx="5964800" cy="1032272"/>
          </a:xfrm>
          <a:prstGeom prst="rect">
            <a:avLst/>
          </a:prstGeom>
          <a:noFill/>
          <a:ln/>
        </p:spPr>
        <p:txBody>
          <a:bodyPr wrap="square" lIns="25400" tIns="25400" rIns="25400" bIns="25400" rtlCol="0" anchor="t">
            <a:normAutofit/>
          </a:bodyPr>
          <a:lstStyle/>
          <a:p>
            <a:pPr marL="0" indent="0" algn="l">
              <a:lnSpc>
                <a:spcPct val="123741"/>
              </a:lnSpc>
              <a:buNone/>
            </a:pPr>
            <a:r>
              <a:rPr lang="en-US" sz="1298" dirty="0">
                <a:solidFill>
                  <a:srgbClr val="CBD5E1"/>
                </a:solidFill>
                <a:latin typeface="Inter" pitchFamily="34" charset="0"/>
                <a:ea typeface="Inter" pitchFamily="34" charset="-122"/>
                <a:cs typeface="Inter" pitchFamily="34" charset="-120"/>
              </a:rPr>
              <a:t>Prototype the slide structure in Canva and let a colleague comment before content goes in. Cut a 20–40 second video excerpt there for the opening. Give outline, material and visuals to genspark.ai to build the deck. Rehearse once out loud. AI-use log on the last slide.</a:t>
            </a:r>
            <a:endParaRPr lang="en-US" sz="1298" dirty="0"/>
          </a:p>
        </p:txBody>
      </p:sp>
      <p:sp>
        <p:nvSpPr>
          <p:cNvPr id="34" name="Shape 32"/>
          <p:cNvSpPr/>
          <p:nvPr/>
        </p:nvSpPr>
        <p:spPr>
          <a:xfrm>
            <a:off x="457068" y="5800659"/>
            <a:ext cx="12801535" cy="1209642"/>
          </a:xfrm>
          <a:prstGeom prst="roundRect">
            <a:avLst>
              <a:gd name="adj" fmla="val 9449"/>
            </a:avLst>
          </a:prstGeom>
          <a:gradFill rotWithShape="1">
            <a:gsLst>
              <a:gs pos="0">
                <a:srgbClr val="EF4444">
                  <a:alpha val="18000"/>
                </a:srgbClr>
              </a:gs>
              <a:gs pos="100000">
                <a:srgbClr val="EF4444">
                  <a:alpha val="10000"/>
                </a:srgbClr>
              </a:gs>
            </a:gsLst>
            <a:lin ang="5400000" scaled="0"/>
          </a:gradFill>
          <a:ln w="10583">
            <a:solidFill>
              <a:srgbClr val="EF4444">
                <a:alpha val="35000"/>
              </a:srgbClr>
            </a:solidFill>
            <a:prstDash val="solid"/>
          </a:ln>
          <a:effectLst>
            <a:outerShdw blurRad="381000" dist="50800" dir="16200000" algn="bl" rotWithShape="0">
              <a:srgbClr val="EF4444">
                <a:alpha val="25000"/>
              </a:srgbClr>
            </a:outerShdw>
          </a:effectLst>
        </p:spPr>
      </p:sp>
      <p:sp>
        <p:nvSpPr>
          <p:cNvPr id="35" name="Text 33"/>
          <p:cNvSpPr/>
          <p:nvPr/>
        </p:nvSpPr>
        <p:spPr>
          <a:xfrm>
            <a:off x="685767" y="5972142"/>
            <a:ext cx="13578731" cy="286643"/>
          </a:xfrm>
          <a:prstGeom prst="rect">
            <a:avLst/>
          </a:prstGeom>
          <a:noFill/>
          <a:ln/>
        </p:spPr>
        <p:txBody>
          <a:bodyPr wrap="square" lIns="25400" tIns="25400" rIns="25400" bIns="25400" rtlCol="0" anchor="t">
            <a:normAutofit/>
          </a:bodyPr>
          <a:lstStyle/>
          <a:p>
            <a:pPr marL="0" indent="0" algn="l">
              <a:lnSpc>
                <a:spcPct val="123741"/>
              </a:lnSpc>
              <a:buNone/>
            </a:pPr>
            <a:r>
              <a:rPr lang="en-US" sz="1298" b="1" dirty="0">
                <a:solidFill>
                  <a:srgbClr val="FFFFFF"/>
                </a:solidFill>
                <a:latin typeface="Inter" pitchFamily="34" charset="0"/>
                <a:ea typeface="Inter" pitchFamily="34" charset="-122"/>
                <a:cs typeface="Inter" pitchFamily="34" charset="-120"/>
              </a:rPr>
              <a:t>Prompt Coach · Copilot Chat (Basic) · Sensitive Lane · at any step, optional</a:t>
            </a:r>
            <a:endParaRPr lang="en-US" sz="1298" dirty="0"/>
          </a:p>
        </p:txBody>
      </p:sp>
      <p:sp>
        <p:nvSpPr>
          <p:cNvPr id="36" name="Text 34"/>
          <p:cNvSpPr/>
          <p:nvPr/>
        </p:nvSpPr>
        <p:spPr>
          <a:xfrm>
            <a:off x="685767" y="6343551"/>
            <a:ext cx="12714630" cy="460772"/>
          </a:xfrm>
          <a:prstGeom prst="rect">
            <a:avLst/>
          </a:prstGeom>
          <a:noFill/>
          <a:ln/>
        </p:spPr>
        <p:txBody>
          <a:bodyPr wrap="square" lIns="25400" tIns="25400" rIns="25400" bIns="25400" rtlCol="0" anchor="t">
            <a:normAutofit/>
          </a:bodyPr>
          <a:lstStyle/>
          <a:p>
            <a:pPr marL="0" indent="0" algn="l">
              <a:lnSpc>
                <a:spcPct val="124858"/>
              </a:lnSpc>
              <a:buNone/>
            </a:pPr>
            <a:r>
              <a:rPr lang="en-US" sz="1102" dirty="0">
                <a:solidFill>
                  <a:srgbClr val="CBD5E1"/>
                </a:solidFill>
                <a:latin typeface="Inter" pitchFamily="34" charset="0"/>
                <a:ea typeface="Inter" pitchFamily="34" charset="-122"/>
                <a:cs typeface="Inter" pitchFamily="34" charset="-120"/>
              </a:rPr>
              <a:t>Before you run a prompt in steps 3 to 6, paste it into Prompt Coach with one sentence about the job it has to do, ask for a critique and an improved version, and keep the improved one only if you can say what changed. Copilot Chat (Basic), Sensitive Lane; nothing but the prompt goes in.</a:t>
            </a:r>
            <a:endParaRPr lang="en-US" sz="1102" dirty="0"/>
          </a:p>
        </p:txBody>
      </p:sp>
      <p:sp>
        <p:nvSpPr>
          <p:cNvPr id="37" name="Shape 35"/>
          <p:cNvSpPr/>
          <p:nvPr/>
        </p:nvSpPr>
        <p:spPr>
          <a:xfrm>
            <a:off x="457068" y="6991284"/>
            <a:ext cx="12801535" cy="9525"/>
          </a:xfrm>
          <a:prstGeom prst="rect">
            <a:avLst/>
          </a:prstGeom>
          <a:solidFill>
            <a:srgbClr val="FFFFFF">
              <a:alpha val="7000"/>
            </a:srgbClr>
          </a:solidFill>
          <a:ln/>
        </p:spPr>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Text 2"/>
          <p:cNvSpPr/>
          <p:nvPr/>
        </p:nvSpPr>
        <p:spPr>
          <a:xfrm>
            <a:off x="457200" y="4572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Assignment: your first workflow orchestration</a:t>
            </a:r>
            <a:endParaRPr lang="en-US" sz="3200" dirty="0"/>
          </a:p>
        </p:txBody>
      </p:sp>
      <p:sp>
        <p:nvSpPr>
          <p:cNvPr id="5" name="Text 3"/>
          <p:cNvSpPr/>
          <p:nvPr/>
        </p:nvSpPr>
        <p:spPr>
          <a:xfrm>
            <a:off x="457200" y="1076325"/>
            <a:ext cx="3228975"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60A5FA"/>
                </a:solidFill>
                <a:latin typeface="Inter"/>
                <a:ea typeface="Inter"/>
                <a:cs typeface="Inter"/>
              </a:rPr>
              <a:t>Run the roadmap on a topic of your own</a:t>
            </a:r>
            <a:endParaRPr lang="en-US" sz="1300" dirty="0"/>
          </a:p>
        </p:txBody>
      </p:sp>
      <p:sp>
        <p:nvSpPr>
          <p:cNvPr id="6" name="Text 4"/>
          <p:cNvSpPr/>
          <p:nvPr/>
        </p:nvSpPr>
        <p:spPr>
          <a:xfrm>
            <a:off x="3800475" y="1638300"/>
            <a:ext cx="9458325"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Chain all the tools and capabilities the course has introduced so far into one multi-step workflow orchestration — end to end, on a topic you pick.</a:t>
            </a:r>
            <a:endParaRPr lang="en-US" sz="1100" dirty="0"/>
          </a:p>
        </p:txBody>
      </p:sp>
      <p:sp>
        <p:nvSpPr>
          <p:cNvPr id="7" name="Shape 5"/>
          <p:cNvSpPr/>
          <p:nvPr/>
        </p:nvSpPr>
        <p:spPr>
          <a:xfrm>
            <a:off x="457200" y="2228850"/>
            <a:ext cx="12801600" cy="571500"/>
          </a:xfrm>
          <a:prstGeom prst="roundRect">
            <a:avLst>
              <a:gd name="adj" fmla="val 20621"/>
            </a:avLst>
          </a:prstGeom>
          <a:gradFill rotWithShape="1">
            <a:gsLst>
              <a:gs pos="0">
                <a:srgbClr val="FFFFFF">
                  <a:alpha val="11000"/>
                </a:srgbClr>
              </a:gs>
              <a:gs pos="2406">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8" name="Shape 6"/>
          <p:cNvSpPr/>
          <p:nvPr/>
        </p:nvSpPr>
        <p:spPr>
          <a:xfrm>
            <a:off x="457200" y="2790825"/>
            <a:ext cx="12801600" cy="9525"/>
          </a:xfrm>
          <a:prstGeom prst="rect">
            <a:avLst/>
          </a:prstGeom>
          <a:solidFill>
            <a:srgbClr val="FFFFFF">
              <a:alpha val="8000"/>
            </a:srgbClr>
          </a:solidFill>
          <a:ln/>
        </p:spPr>
      </p:sp>
      <p:sp>
        <p:nvSpPr>
          <p:cNvPr id="9" name="Shape 7"/>
          <p:cNvSpPr/>
          <p:nvPr/>
        </p:nvSpPr>
        <p:spPr>
          <a:xfrm>
            <a:off x="457200" y="2228850"/>
            <a:ext cx="12801600" cy="9525"/>
          </a:xfrm>
          <a:prstGeom prst="rect">
            <a:avLst/>
          </a:prstGeom>
          <a:solidFill>
            <a:srgbClr val="FFFFFF">
              <a:alpha val="8000"/>
            </a:srgbClr>
          </a:solidFill>
          <a:ln/>
        </p:spPr>
      </p:sp>
      <p:sp>
        <p:nvSpPr>
          <p:cNvPr id="10" name="Shape 8"/>
          <p:cNvSpPr/>
          <p:nvPr/>
        </p:nvSpPr>
        <p:spPr>
          <a:xfrm>
            <a:off x="457200" y="2324100"/>
            <a:ext cx="28575" cy="381000"/>
          </a:xfrm>
          <a:prstGeom prst="rect">
            <a:avLst/>
          </a:prstGeom>
          <a:solidFill>
            <a:srgbClr val="3B82F6"/>
          </a:solidFill>
          <a:ln/>
        </p:spPr>
      </p:sp>
      <p:sp>
        <p:nvSpPr>
          <p:cNvPr id="11" name="Shape 9"/>
          <p:cNvSpPr/>
          <p:nvPr/>
        </p:nvSpPr>
        <p:spPr>
          <a:xfrm>
            <a:off x="13249275" y="2324100"/>
            <a:ext cx="9525" cy="381000"/>
          </a:xfrm>
          <a:prstGeom prst="rect">
            <a:avLst/>
          </a:prstGeom>
          <a:solidFill>
            <a:srgbClr val="FFFFFF">
              <a:alpha val="8000"/>
            </a:srgbClr>
          </a:solidFill>
          <a:ln/>
        </p:spPr>
      </p:sp>
      <p:sp>
        <p:nvSpPr>
          <p:cNvPr id="12" name="Shape 10"/>
          <p:cNvSpPr/>
          <p:nvPr/>
        </p:nvSpPr>
        <p:spPr>
          <a:xfrm>
            <a:off x="649684" y="2324100"/>
            <a:ext cx="381000" cy="381000"/>
          </a:xfrm>
          <a:prstGeom prst="roundRect">
            <a:avLst>
              <a:gd name="adj" fmla="val 25000"/>
            </a:avLst>
          </a:prstGeom>
          <a:solidFill>
            <a:srgbClr val="3B82F6">
              <a:alpha val="14000"/>
            </a:srgbClr>
          </a:solidFill>
          <a:ln/>
        </p:spPr>
      </p:sp>
      <p:sp>
        <p:nvSpPr>
          <p:cNvPr id="13" name="Text 11"/>
          <p:cNvSpPr/>
          <p:nvPr/>
        </p:nvSpPr>
        <p:spPr>
          <a:xfrm>
            <a:off x="649684" y="2324100"/>
            <a:ext cx="381000" cy="381000"/>
          </a:xfrm>
          <a:prstGeom prst="rect">
            <a:avLst/>
          </a:prstGeom>
          <a:noFill/>
          <a:ln/>
        </p:spPr>
        <p:txBody>
          <a:bodyPr wrap="square" lIns="0" tIns="0" rIns="0" bIns="0" rtlCol="0" anchor="ctr">
            <a:normAutofit/>
          </a:bodyPr>
          <a:lstStyle/>
          <a:p>
            <a:pPr marL="0" indent="0" algn="ctr">
              <a:lnSpc>
                <a:spcPct val="115000"/>
              </a:lnSpc>
              <a:buNone/>
            </a:pPr>
            <a:r>
              <a:rPr lang="en-US" sz="1600" b="1" kern="1200" dirty="0">
                <a:solidFill>
                  <a:srgbClr val="60A5FA"/>
                </a:solidFill>
                <a:latin typeface="JetBrains Mono"/>
                <a:ea typeface="JetBrains Mono"/>
                <a:cs typeface="JetBrains Mono"/>
              </a:rPr>
              <a:t>1</a:t>
            </a:r>
            <a:endParaRPr lang="en-US" sz="1600" dirty="0"/>
          </a:p>
        </p:txBody>
      </p:sp>
      <p:sp>
        <p:nvSpPr>
          <p:cNvPr id="14" name="Text 12"/>
          <p:cNvSpPr/>
          <p:nvPr/>
        </p:nvSpPr>
        <p:spPr>
          <a:xfrm>
            <a:off x="1068553" y="2324100"/>
            <a:ext cx="11997763"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Deliverable — A presentation on a hand-picked topic, designed for educational purposes and intended to facilitate learning outcomes.</a:t>
            </a:r>
            <a:endParaRPr lang="en-US" sz="1100" dirty="0"/>
          </a:p>
        </p:txBody>
      </p:sp>
      <p:sp>
        <p:nvSpPr>
          <p:cNvPr id="15" name="Shape 13"/>
          <p:cNvSpPr/>
          <p:nvPr/>
        </p:nvSpPr>
        <p:spPr>
          <a:xfrm>
            <a:off x="457200" y="2895600"/>
            <a:ext cx="12801600" cy="685800"/>
          </a:xfrm>
          <a:prstGeom prst="roundRect">
            <a:avLst>
              <a:gd name="adj" fmla="val 15956"/>
            </a:avLst>
          </a:prstGeom>
          <a:gradFill rotWithShape="1">
            <a:gsLst>
              <a:gs pos="0">
                <a:srgbClr val="FFFFFF">
                  <a:alpha val="11000"/>
                </a:srgbClr>
              </a:gs>
              <a:gs pos="1861">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6" name="Shape 14"/>
          <p:cNvSpPr/>
          <p:nvPr/>
        </p:nvSpPr>
        <p:spPr>
          <a:xfrm>
            <a:off x="457200" y="3571875"/>
            <a:ext cx="12801600" cy="9525"/>
          </a:xfrm>
          <a:prstGeom prst="rect">
            <a:avLst/>
          </a:prstGeom>
          <a:solidFill>
            <a:srgbClr val="FFFFFF">
              <a:alpha val="8000"/>
            </a:srgbClr>
          </a:solidFill>
          <a:ln/>
        </p:spPr>
      </p:sp>
      <p:sp>
        <p:nvSpPr>
          <p:cNvPr id="17" name="Shape 15"/>
          <p:cNvSpPr/>
          <p:nvPr/>
        </p:nvSpPr>
        <p:spPr>
          <a:xfrm>
            <a:off x="457200" y="2895600"/>
            <a:ext cx="12801600" cy="9525"/>
          </a:xfrm>
          <a:prstGeom prst="rect">
            <a:avLst/>
          </a:prstGeom>
          <a:solidFill>
            <a:srgbClr val="FFFFFF">
              <a:alpha val="8000"/>
            </a:srgbClr>
          </a:solidFill>
          <a:ln/>
        </p:spPr>
      </p:sp>
      <p:sp>
        <p:nvSpPr>
          <p:cNvPr id="18" name="Shape 16"/>
          <p:cNvSpPr/>
          <p:nvPr/>
        </p:nvSpPr>
        <p:spPr>
          <a:xfrm>
            <a:off x="457200" y="2990850"/>
            <a:ext cx="28575" cy="495300"/>
          </a:xfrm>
          <a:prstGeom prst="rect">
            <a:avLst/>
          </a:prstGeom>
          <a:solidFill>
            <a:srgbClr val="3B82F6"/>
          </a:solidFill>
          <a:ln/>
        </p:spPr>
      </p:sp>
      <p:sp>
        <p:nvSpPr>
          <p:cNvPr id="19" name="Shape 17"/>
          <p:cNvSpPr/>
          <p:nvPr/>
        </p:nvSpPr>
        <p:spPr>
          <a:xfrm>
            <a:off x="13249275" y="2990850"/>
            <a:ext cx="9525" cy="495300"/>
          </a:xfrm>
          <a:prstGeom prst="rect">
            <a:avLst/>
          </a:prstGeom>
          <a:solidFill>
            <a:srgbClr val="FFFFFF">
              <a:alpha val="8000"/>
            </a:srgbClr>
          </a:solidFill>
          <a:ln/>
        </p:spPr>
      </p:sp>
      <p:sp>
        <p:nvSpPr>
          <p:cNvPr id="20" name="Shape 18"/>
          <p:cNvSpPr/>
          <p:nvPr/>
        </p:nvSpPr>
        <p:spPr>
          <a:xfrm>
            <a:off x="649684" y="3048000"/>
            <a:ext cx="381000" cy="381000"/>
          </a:xfrm>
          <a:prstGeom prst="roundRect">
            <a:avLst>
              <a:gd name="adj" fmla="val 25000"/>
            </a:avLst>
          </a:prstGeom>
          <a:solidFill>
            <a:srgbClr val="3B82F6">
              <a:alpha val="14000"/>
            </a:srgbClr>
          </a:solidFill>
          <a:ln/>
        </p:spPr>
      </p:sp>
      <p:sp>
        <p:nvSpPr>
          <p:cNvPr id="21" name="Text 19"/>
          <p:cNvSpPr/>
          <p:nvPr/>
        </p:nvSpPr>
        <p:spPr>
          <a:xfrm>
            <a:off x="649684" y="3048000"/>
            <a:ext cx="381000" cy="381000"/>
          </a:xfrm>
          <a:prstGeom prst="rect">
            <a:avLst/>
          </a:prstGeom>
          <a:noFill/>
          <a:ln/>
        </p:spPr>
        <p:txBody>
          <a:bodyPr wrap="square" lIns="0" tIns="0" rIns="0" bIns="0" rtlCol="0" anchor="ctr">
            <a:normAutofit/>
          </a:bodyPr>
          <a:lstStyle/>
          <a:p>
            <a:pPr marL="0" indent="0" algn="ctr">
              <a:lnSpc>
                <a:spcPct val="115000"/>
              </a:lnSpc>
              <a:buNone/>
            </a:pPr>
            <a:r>
              <a:rPr lang="en-US" sz="1600" b="1" kern="1200" dirty="0">
                <a:solidFill>
                  <a:srgbClr val="60A5FA"/>
                </a:solidFill>
                <a:latin typeface="JetBrains Mono"/>
                <a:ea typeface="JetBrains Mono"/>
                <a:cs typeface="JetBrains Mono"/>
              </a:rPr>
              <a:t>2</a:t>
            </a:r>
            <a:endParaRPr lang="en-US" sz="1600" dirty="0"/>
          </a:p>
        </p:txBody>
      </p:sp>
      <p:sp>
        <p:nvSpPr>
          <p:cNvPr id="22" name="Text 20"/>
          <p:cNvSpPr/>
          <p:nvPr/>
        </p:nvSpPr>
        <p:spPr>
          <a:xfrm>
            <a:off x="1068553" y="2990850"/>
            <a:ext cx="12018797"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Blueprint — The roadmap on the next four slides, adapted to your topic — for each step: the tool, the input, the output, detailed guidelines for running it, and a justification for why that tool at that step. Every step you change, drop or add carries a line saying why.</a:t>
            </a:r>
            <a:endParaRPr lang="en-US" sz="1100" dirty="0"/>
          </a:p>
        </p:txBody>
      </p:sp>
      <p:sp>
        <p:nvSpPr>
          <p:cNvPr id="23" name="Shape 21"/>
          <p:cNvSpPr/>
          <p:nvPr/>
        </p:nvSpPr>
        <p:spPr>
          <a:xfrm>
            <a:off x="457200" y="3676650"/>
            <a:ext cx="12801600" cy="571500"/>
          </a:xfrm>
          <a:prstGeom prst="roundRect">
            <a:avLst>
              <a:gd name="adj" fmla="val 20621"/>
            </a:avLst>
          </a:prstGeom>
          <a:gradFill rotWithShape="1">
            <a:gsLst>
              <a:gs pos="0">
                <a:srgbClr val="FFFFFF">
                  <a:alpha val="11000"/>
                </a:srgbClr>
              </a:gs>
              <a:gs pos="2406">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4" name="Shape 22"/>
          <p:cNvSpPr/>
          <p:nvPr/>
        </p:nvSpPr>
        <p:spPr>
          <a:xfrm>
            <a:off x="457200" y="4238625"/>
            <a:ext cx="12801600" cy="9525"/>
          </a:xfrm>
          <a:prstGeom prst="rect">
            <a:avLst/>
          </a:prstGeom>
          <a:solidFill>
            <a:srgbClr val="FFFFFF">
              <a:alpha val="8000"/>
            </a:srgbClr>
          </a:solidFill>
          <a:ln/>
        </p:spPr>
      </p:sp>
      <p:sp>
        <p:nvSpPr>
          <p:cNvPr id="25" name="Shape 23"/>
          <p:cNvSpPr/>
          <p:nvPr/>
        </p:nvSpPr>
        <p:spPr>
          <a:xfrm>
            <a:off x="457200" y="3676650"/>
            <a:ext cx="12801600" cy="9525"/>
          </a:xfrm>
          <a:prstGeom prst="rect">
            <a:avLst/>
          </a:prstGeom>
          <a:solidFill>
            <a:srgbClr val="FFFFFF">
              <a:alpha val="8000"/>
            </a:srgbClr>
          </a:solidFill>
          <a:ln/>
        </p:spPr>
      </p:sp>
      <p:sp>
        <p:nvSpPr>
          <p:cNvPr id="26" name="Shape 24"/>
          <p:cNvSpPr/>
          <p:nvPr/>
        </p:nvSpPr>
        <p:spPr>
          <a:xfrm>
            <a:off x="457200" y="3771900"/>
            <a:ext cx="28575" cy="381000"/>
          </a:xfrm>
          <a:prstGeom prst="rect">
            <a:avLst/>
          </a:prstGeom>
          <a:solidFill>
            <a:srgbClr val="EF4444"/>
          </a:solidFill>
          <a:ln/>
        </p:spPr>
      </p:sp>
      <p:sp>
        <p:nvSpPr>
          <p:cNvPr id="27" name="Shape 25"/>
          <p:cNvSpPr/>
          <p:nvPr/>
        </p:nvSpPr>
        <p:spPr>
          <a:xfrm>
            <a:off x="13249275" y="3771900"/>
            <a:ext cx="9525" cy="381000"/>
          </a:xfrm>
          <a:prstGeom prst="rect">
            <a:avLst/>
          </a:prstGeom>
          <a:solidFill>
            <a:srgbClr val="FFFFFF">
              <a:alpha val="8000"/>
            </a:srgbClr>
          </a:solidFill>
          <a:ln/>
        </p:spPr>
      </p:sp>
      <p:sp>
        <p:nvSpPr>
          <p:cNvPr id="28" name="Shape 26"/>
          <p:cNvSpPr/>
          <p:nvPr/>
        </p:nvSpPr>
        <p:spPr>
          <a:xfrm>
            <a:off x="649684" y="3771900"/>
            <a:ext cx="381000" cy="381000"/>
          </a:xfrm>
          <a:prstGeom prst="roundRect">
            <a:avLst>
              <a:gd name="adj" fmla="val 25000"/>
            </a:avLst>
          </a:prstGeom>
          <a:solidFill>
            <a:srgbClr val="EF4444">
              <a:alpha val="14000"/>
            </a:srgbClr>
          </a:solidFill>
          <a:ln/>
        </p:spPr>
      </p:sp>
      <p:sp>
        <p:nvSpPr>
          <p:cNvPr id="29" name="Text 27"/>
          <p:cNvSpPr/>
          <p:nvPr/>
        </p:nvSpPr>
        <p:spPr>
          <a:xfrm>
            <a:off x="649684" y="3771900"/>
            <a:ext cx="381000" cy="381000"/>
          </a:xfrm>
          <a:prstGeom prst="rect">
            <a:avLst/>
          </a:prstGeom>
          <a:noFill/>
          <a:ln/>
        </p:spPr>
        <p:txBody>
          <a:bodyPr wrap="square" lIns="0" tIns="0" rIns="0" bIns="0" rtlCol="0" anchor="ctr">
            <a:normAutofit/>
          </a:bodyPr>
          <a:lstStyle/>
          <a:p>
            <a:pPr marL="0" indent="0" algn="ctr">
              <a:lnSpc>
                <a:spcPct val="115000"/>
              </a:lnSpc>
              <a:buNone/>
            </a:pPr>
            <a:r>
              <a:rPr lang="en-US" sz="1600" b="1" kern="1200" dirty="0">
                <a:solidFill>
                  <a:srgbClr val="F87171"/>
                </a:solidFill>
                <a:latin typeface="JetBrains Mono"/>
                <a:ea typeface="JetBrains Mono"/>
                <a:cs typeface="JetBrains Mono"/>
              </a:rPr>
              <a:t>3</a:t>
            </a:r>
            <a:endParaRPr lang="en-US" sz="1600" dirty="0"/>
          </a:p>
        </p:txBody>
      </p:sp>
      <p:sp>
        <p:nvSpPr>
          <p:cNvPr id="30" name="Text 28"/>
          <p:cNvSpPr/>
          <p:nvPr/>
        </p:nvSpPr>
        <p:spPr>
          <a:xfrm>
            <a:off x="1068553" y="3771900"/>
            <a:ext cx="11997763"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Routing — Every step that touches sensitive data goes to the correct lane, documents are anonymised before upload, and the blueprint states the lane per step.</a:t>
            </a:r>
            <a:endParaRPr lang="en-US" sz="1100" dirty="0"/>
          </a:p>
        </p:txBody>
      </p:sp>
      <p:sp>
        <p:nvSpPr>
          <p:cNvPr id="31" name="Text 29"/>
          <p:cNvSpPr/>
          <p:nvPr/>
        </p:nvSpPr>
        <p:spPr>
          <a:xfrm>
            <a:off x="457200" y="4380640"/>
            <a:ext cx="12801600"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What you hand in</a:t>
            </a:r>
            <a:endParaRPr lang="en-US" sz="1600" dirty="0"/>
          </a:p>
        </p:txBody>
      </p:sp>
      <p:sp>
        <p:nvSpPr>
          <p:cNvPr id="32" name="Shape 30"/>
          <p:cNvSpPr/>
          <p:nvPr/>
        </p:nvSpPr>
        <p:spPr>
          <a:xfrm>
            <a:off x="457200" y="4818724"/>
            <a:ext cx="4114800" cy="1733550"/>
          </a:xfrm>
          <a:prstGeom prst="roundRect">
            <a:avLst>
              <a:gd name="adj" fmla="val 3630"/>
            </a:avLst>
          </a:prstGeom>
          <a:gradFill rotWithShape="1">
            <a:gsLst>
              <a:gs pos="0">
                <a:srgbClr val="FFFFFF">
                  <a:alpha val="11000"/>
                </a:srgbClr>
              </a:gs>
              <a:gs pos="423">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3" name="Shape 31"/>
          <p:cNvSpPr/>
          <p:nvPr/>
        </p:nvSpPr>
        <p:spPr>
          <a:xfrm>
            <a:off x="677300" y="5009224"/>
            <a:ext cx="381000" cy="381000"/>
          </a:xfrm>
          <a:prstGeom prst="roundRect">
            <a:avLst>
              <a:gd name="adj" fmla="val 25000"/>
            </a:avLst>
          </a:prstGeom>
          <a:solidFill>
            <a:srgbClr val="3B82F6">
              <a:alpha val="14000"/>
            </a:srgbClr>
          </a:solidFill>
          <a:ln/>
        </p:spPr>
      </p:sp>
      <p:pic>
        <p:nvPicPr>
          <p:cNvPr id="3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2550" y="5104474"/>
            <a:ext cx="190500" cy="190500"/>
          </a:xfrm>
          <a:prstGeom prst="rect">
            <a:avLst/>
          </a:prstGeom>
        </p:spPr>
      </p:pic>
      <p:sp>
        <p:nvSpPr>
          <p:cNvPr id="35" name="Text 32"/>
          <p:cNvSpPr/>
          <p:nvPr/>
        </p:nvSpPr>
        <p:spPr>
          <a:xfrm>
            <a:off x="1115351" y="5009224"/>
            <a:ext cx="3236549"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The blueprint</a:t>
            </a:r>
            <a:endParaRPr lang="en-US" sz="1600" dirty="0"/>
          </a:p>
        </p:txBody>
      </p:sp>
      <p:sp>
        <p:nvSpPr>
          <p:cNvPr id="36" name="Text 33"/>
          <p:cNvSpPr/>
          <p:nvPr/>
        </p:nvSpPr>
        <p:spPr>
          <a:xfrm>
            <a:off x="677300" y="5521126"/>
            <a:ext cx="3723250"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Nine rows or your own number, each with its justification — plus the chain drawn as a diagram.</a:t>
            </a:r>
            <a:endParaRPr lang="en-US" sz="1100" dirty="0"/>
          </a:p>
        </p:txBody>
      </p:sp>
      <p:sp>
        <p:nvSpPr>
          <p:cNvPr id="37" name="Shape 34"/>
          <p:cNvSpPr/>
          <p:nvPr/>
        </p:nvSpPr>
        <p:spPr>
          <a:xfrm>
            <a:off x="4800600" y="4818724"/>
            <a:ext cx="4114800" cy="1733550"/>
          </a:xfrm>
          <a:prstGeom prst="roundRect">
            <a:avLst>
              <a:gd name="adj" fmla="val 3630"/>
            </a:avLst>
          </a:prstGeom>
          <a:gradFill rotWithShape="1">
            <a:gsLst>
              <a:gs pos="0">
                <a:srgbClr val="FFFFFF">
                  <a:alpha val="11000"/>
                </a:srgbClr>
              </a:gs>
              <a:gs pos="423">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8" name="Shape 35"/>
          <p:cNvSpPr/>
          <p:nvPr/>
        </p:nvSpPr>
        <p:spPr>
          <a:xfrm>
            <a:off x="5020700" y="5009224"/>
            <a:ext cx="381000" cy="381000"/>
          </a:xfrm>
          <a:prstGeom prst="roundRect">
            <a:avLst>
              <a:gd name="adj" fmla="val 25000"/>
            </a:avLst>
          </a:prstGeom>
          <a:solidFill>
            <a:srgbClr val="8B5CF6">
              <a:alpha val="14000"/>
            </a:srgbClr>
          </a:solidFill>
          <a:ln/>
        </p:spPr>
      </p:sp>
      <p:pic>
        <p:nvPicPr>
          <p:cNvPr id="3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15950" y="5104474"/>
            <a:ext cx="190500" cy="190500"/>
          </a:xfrm>
          <a:prstGeom prst="rect">
            <a:avLst/>
          </a:prstGeom>
        </p:spPr>
      </p:pic>
      <p:sp>
        <p:nvSpPr>
          <p:cNvPr id="40" name="Text 36"/>
          <p:cNvSpPr/>
          <p:nvPr/>
        </p:nvSpPr>
        <p:spPr>
          <a:xfrm>
            <a:off x="5458751" y="5009224"/>
            <a:ext cx="3236549"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The presentation</a:t>
            </a:r>
            <a:endParaRPr lang="en-US" sz="1600" dirty="0"/>
          </a:p>
        </p:txBody>
      </p:sp>
      <p:sp>
        <p:nvSpPr>
          <p:cNvPr id="41" name="Text 37"/>
          <p:cNvSpPr/>
          <p:nvPr/>
        </p:nvSpPr>
        <p:spPr>
          <a:xfrm>
            <a:off x="5020700" y="5521126"/>
            <a:ext cx="3723250"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On your topic, teaching something, with the practice material step 8 produces.</a:t>
            </a:r>
            <a:endParaRPr lang="en-US" sz="1100" dirty="0"/>
          </a:p>
        </p:txBody>
      </p:sp>
      <p:sp>
        <p:nvSpPr>
          <p:cNvPr id="42" name="Shape 38"/>
          <p:cNvSpPr/>
          <p:nvPr/>
        </p:nvSpPr>
        <p:spPr>
          <a:xfrm>
            <a:off x="9144000" y="4818724"/>
            <a:ext cx="4114800" cy="1733550"/>
          </a:xfrm>
          <a:prstGeom prst="roundRect">
            <a:avLst>
              <a:gd name="adj" fmla="val 3630"/>
            </a:avLst>
          </a:prstGeom>
          <a:gradFill rotWithShape="1">
            <a:gsLst>
              <a:gs pos="0">
                <a:srgbClr val="FFFFFF">
                  <a:alpha val="11000"/>
                </a:srgbClr>
              </a:gs>
              <a:gs pos="423">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43" name="Shape 39"/>
          <p:cNvSpPr/>
          <p:nvPr/>
        </p:nvSpPr>
        <p:spPr>
          <a:xfrm>
            <a:off x="9364101" y="5009224"/>
            <a:ext cx="381000" cy="381000"/>
          </a:xfrm>
          <a:prstGeom prst="roundRect">
            <a:avLst>
              <a:gd name="adj" fmla="val 25000"/>
            </a:avLst>
          </a:prstGeom>
          <a:solidFill>
            <a:srgbClr val="10B981">
              <a:alpha val="14000"/>
            </a:srgbClr>
          </a:solidFill>
          <a:ln/>
        </p:spPr>
      </p:sp>
      <p:pic>
        <p:nvPicPr>
          <p:cNvPr id="4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459351" y="5104474"/>
            <a:ext cx="190500" cy="190500"/>
          </a:xfrm>
          <a:prstGeom prst="rect">
            <a:avLst/>
          </a:prstGeom>
        </p:spPr>
      </p:pic>
      <p:sp>
        <p:nvSpPr>
          <p:cNvPr id="45" name="Text 40"/>
          <p:cNvSpPr/>
          <p:nvPr/>
        </p:nvSpPr>
        <p:spPr>
          <a:xfrm>
            <a:off x="9802151" y="5009224"/>
            <a:ext cx="3236548"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The AI-use log</a:t>
            </a:r>
            <a:endParaRPr lang="en-US" sz="1600" dirty="0"/>
          </a:p>
        </p:txBody>
      </p:sp>
      <p:sp>
        <p:nvSpPr>
          <p:cNvPr id="46" name="Text 41"/>
          <p:cNvSpPr/>
          <p:nvPr/>
        </p:nvSpPr>
        <p:spPr>
          <a:xfrm>
            <a:off x="9364101" y="5521126"/>
            <a:ext cx="3723249"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Tool, date and purpose per step — the declaration on your last slide.</a:t>
            </a:r>
            <a:endParaRPr lang="en-US" sz="1100" dirty="0"/>
          </a:p>
        </p:txBody>
      </p:sp>
      <p:sp>
        <p:nvSpPr>
          <p:cNvPr id="47" name="Shape 42"/>
          <p:cNvSpPr/>
          <p:nvPr/>
        </p:nvSpPr>
        <p:spPr>
          <a:xfrm>
            <a:off x="457200" y="6991350"/>
            <a:ext cx="12801600" cy="9525"/>
          </a:xfrm>
          <a:prstGeom prst="rect">
            <a:avLst/>
          </a:prstGeom>
          <a:solidFill>
            <a:srgbClr val="FFFFFF">
              <a:alpha val="7000"/>
            </a:srgbClr>
          </a:solidFill>
          <a:ln/>
        </p:spPr>
      </p:sp>
      <p:sp>
        <p:nvSpPr>
          <p:cNvPr id="48" name="Text 43"/>
          <p:cNvSpPr/>
          <p:nvPr/>
        </p:nvSpPr>
        <p:spPr>
          <a:xfrm>
            <a:off x="457200" y="6867525"/>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The roadmap is next — that is the blueprint, already written. Your job is to run it and to justify every change you make to it.</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Text 2"/>
          <p:cNvSpPr/>
          <p:nvPr/>
        </p:nvSpPr>
        <p:spPr>
          <a:xfrm>
            <a:off x="457200" y="4572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The outcome, on the 7 Levels map</a:t>
            </a:r>
            <a:endParaRPr lang="en-US" sz="3200" dirty="0"/>
          </a:p>
        </p:txBody>
      </p:sp>
      <p:sp>
        <p:nvSpPr>
          <p:cNvPr id="5" name="Text 3"/>
          <p:cNvSpPr/>
          <p:nvPr/>
        </p:nvSpPr>
        <p:spPr>
          <a:xfrm>
            <a:off x="457200" y="1076325"/>
            <a:ext cx="128016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Three rows of the map from Lesson 1 — where last week left you, where this week puts you, and what the roadmap is the foundation of</a:t>
            </a:r>
            <a:endParaRPr lang="en-US" sz="1300" dirty="0"/>
          </a:p>
        </p:txBody>
      </p:sp>
      <p:sp>
        <p:nvSpPr>
          <p:cNvPr id="6" name="Shape 4"/>
          <p:cNvSpPr/>
          <p:nvPr/>
        </p:nvSpPr>
        <p:spPr>
          <a:xfrm>
            <a:off x="457200" y="1638300"/>
            <a:ext cx="12801600" cy="1133475"/>
          </a:xfrm>
          <a:prstGeom prst="roundRect">
            <a:avLst>
              <a:gd name="adj" fmla="val 7645"/>
            </a:avLst>
          </a:prstGeom>
          <a:gradFill rotWithShape="1">
            <a:gsLst>
              <a:gs pos="0">
                <a:srgbClr val="FFFFFF">
                  <a:alpha val="11000"/>
                </a:srgbClr>
              </a:gs>
              <a:gs pos="892">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7" name="Shape 5"/>
          <p:cNvSpPr/>
          <p:nvPr/>
        </p:nvSpPr>
        <p:spPr>
          <a:xfrm>
            <a:off x="457200" y="2762250"/>
            <a:ext cx="12801600" cy="9525"/>
          </a:xfrm>
          <a:prstGeom prst="rect">
            <a:avLst/>
          </a:prstGeom>
          <a:solidFill>
            <a:srgbClr val="FFFFFF">
              <a:alpha val="8000"/>
            </a:srgbClr>
          </a:solidFill>
          <a:ln/>
        </p:spPr>
      </p:sp>
      <p:sp>
        <p:nvSpPr>
          <p:cNvPr id="8" name="Shape 6"/>
          <p:cNvSpPr/>
          <p:nvPr/>
        </p:nvSpPr>
        <p:spPr>
          <a:xfrm>
            <a:off x="457200" y="1638300"/>
            <a:ext cx="12801600" cy="9525"/>
          </a:xfrm>
          <a:prstGeom prst="rect">
            <a:avLst/>
          </a:prstGeom>
          <a:solidFill>
            <a:srgbClr val="FFFFFF">
              <a:alpha val="8000"/>
            </a:srgbClr>
          </a:solidFill>
          <a:ln/>
        </p:spPr>
      </p:sp>
      <p:sp>
        <p:nvSpPr>
          <p:cNvPr id="9" name="Shape 7"/>
          <p:cNvSpPr/>
          <p:nvPr/>
        </p:nvSpPr>
        <p:spPr>
          <a:xfrm>
            <a:off x="457200" y="1733550"/>
            <a:ext cx="28575" cy="942975"/>
          </a:xfrm>
          <a:prstGeom prst="rect">
            <a:avLst/>
          </a:prstGeom>
          <a:solidFill>
            <a:srgbClr val="64748B"/>
          </a:solidFill>
          <a:ln/>
        </p:spPr>
      </p:sp>
      <p:sp>
        <p:nvSpPr>
          <p:cNvPr id="10" name="Shape 8"/>
          <p:cNvSpPr/>
          <p:nvPr/>
        </p:nvSpPr>
        <p:spPr>
          <a:xfrm>
            <a:off x="13249275" y="1733550"/>
            <a:ext cx="9525" cy="942975"/>
          </a:xfrm>
          <a:prstGeom prst="rect">
            <a:avLst/>
          </a:prstGeom>
          <a:solidFill>
            <a:srgbClr val="FFFFFF">
              <a:alpha val="8000"/>
            </a:srgbClr>
          </a:solidFill>
          <a:ln/>
        </p:spPr>
      </p:sp>
      <p:sp>
        <p:nvSpPr>
          <p:cNvPr id="11" name="Shape 9"/>
          <p:cNvSpPr/>
          <p:nvPr/>
        </p:nvSpPr>
        <p:spPr>
          <a:xfrm>
            <a:off x="685800" y="2014538"/>
            <a:ext cx="381000" cy="381000"/>
          </a:xfrm>
          <a:prstGeom prst="roundRect">
            <a:avLst>
              <a:gd name="adj" fmla="val 25000"/>
            </a:avLst>
          </a:prstGeom>
          <a:solidFill>
            <a:srgbClr val="FFFFFF">
              <a:alpha val="6000"/>
            </a:srgbClr>
          </a:solidFill>
          <a:ln/>
        </p:spPr>
      </p:sp>
      <p:sp>
        <p:nvSpPr>
          <p:cNvPr id="12" name="Text 10"/>
          <p:cNvSpPr/>
          <p:nvPr/>
        </p:nvSpPr>
        <p:spPr>
          <a:xfrm>
            <a:off x="685800" y="2014538"/>
            <a:ext cx="381000" cy="381000"/>
          </a:xfrm>
          <a:prstGeom prst="rect">
            <a:avLst/>
          </a:prstGeom>
          <a:noFill/>
          <a:ln/>
        </p:spPr>
        <p:txBody>
          <a:bodyPr wrap="square" lIns="0" tIns="0" rIns="0" bIns="0" rtlCol="0" anchor="ctr">
            <a:normAutofit/>
          </a:bodyPr>
          <a:lstStyle/>
          <a:p>
            <a:pPr marL="0" indent="0" algn="ctr">
              <a:lnSpc>
                <a:spcPct val="115000"/>
              </a:lnSpc>
              <a:buNone/>
            </a:pPr>
            <a:r>
              <a:rPr lang="en-US" sz="1600" b="1" kern="1200" dirty="0">
                <a:solidFill>
                  <a:srgbClr val="94A3B8"/>
                </a:solidFill>
                <a:latin typeface="JetBrains Mono"/>
                <a:ea typeface="JetBrains Mono"/>
                <a:cs typeface="JetBrains Mono"/>
              </a:rPr>
              <a:t>2</a:t>
            </a:r>
            <a:endParaRPr lang="en-US" sz="1600" dirty="0"/>
          </a:p>
        </p:txBody>
      </p:sp>
      <p:sp>
        <p:nvSpPr>
          <p:cNvPr id="13" name="Text 11"/>
          <p:cNvSpPr/>
          <p:nvPr/>
        </p:nvSpPr>
        <p:spPr>
          <a:xfrm>
            <a:off x="1200150" y="1866900"/>
            <a:ext cx="11808949"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Level 2 · Prompt Crafter — Structured prompts, examples, iteration.</a:t>
            </a:r>
            <a:endParaRPr lang="en-US" sz="1600" dirty="0"/>
          </a:p>
        </p:txBody>
      </p:sp>
      <p:sp>
        <p:nvSpPr>
          <p:cNvPr id="14" name="Text 12"/>
          <p:cNvSpPr/>
          <p:nvPr/>
        </p:nvSpPr>
        <p:spPr>
          <a:xfrm>
            <a:off x="1200150" y="2228850"/>
            <a:ext cx="6153877"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Done — that was last week's assignment.</a:t>
            </a:r>
            <a:endParaRPr lang="en-US" sz="1300" dirty="0"/>
          </a:p>
        </p:txBody>
      </p:sp>
      <p:sp>
        <p:nvSpPr>
          <p:cNvPr id="15" name="Shape 13"/>
          <p:cNvSpPr/>
          <p:nvPr/>
        </p:nvSpPr>
        <p:spPr>
          <a:xfrm>
            <a:off x="457200" y="2867025"/>
            <a:ext cx="12801600" cy="1133475"/>
          </a:xfrm>
          <a:prstGeom prst="roundRect">
            <a:avLst>
              <a:gd name="adj" fmla="val 7645"/>
            </a:avLst>
          </a:prstGeom>
          <a:gradFill rotWithShape="1">
            <a:gsLst>
              <a:gs pos="0">
                <a:srgbClr val="3B82F6"/>
              </a:gs>
              <a:gs pos="227">
                <a:srgbClr val="3B82F6"/>
              </a:gs>
              <a:gs pos="228">
                <a:srgbClr val="FFFFFF">
                  <a:alpha val="5000"/>
                </a:srgbClr>
              </a:gs>
              <a:gs pos="100000">
                <a:srgbClr val="FFFFFF">
                  <a:alpha val="2500"/>
                </a:srgbClr>
              </a:gs>
            </a:gsLst>
            <a:lin ang="0" scaled="0"/>
          </a:gradFill>
          <a:ln w="9525">
            <a:solidFill>
              <a:srgbClr val="FFFFFF">
                <a:alpha val="12000"/>
              </a:srgbClr>
            </a:solidFill>
            <a:prstDash val="solid"/>
          </a:ln>
          <a:effectLst>
            <a:glow rad="190500">
              <a:srgbClr val="3B82F6">
                <a:alpha val="26000"/>
              </a:srgbClr>
            </a:glow>
          </a:effectLst>
        </p:spPr>
      </p:sp>
      <p:sp>
        <p:nvSpPr>
          <p:cNvPr id="16" name="Shape 14"/>
          <p:cNvSpPr/>
          <p:nvPr/>
        </p:nvSpPr>
        <p:spPr>
          <a:xfrm>
            <a:off x="685800" y="3243263"/>
            <a:ext cx="381000" cy="381000"/>
          </a:xfrm>
          <a:prstGeom prst="roundRect">
            <a:avLst>
              <a:gd name="adj" fmla="val 25000"/>
            </a:avLst>
          </a:prstGeom>
          <a:solidFill>
            <a:srgbClr val="2563EB"/>
          </a:solidFill>
          <a:ln/>
        </p:spPr>
      </p:sp>
      <p:sp>
        <p:nvSpPr>
          <p:cNvPr id="17" name="Text 15"/>
          <p:cNvSpPr/>
          <p:nvPr/>
        </p:nvSpPr>
        <p:spPr>
          <a:xfrm>
            <a:off x="685800" y="3243263"/>
            <a:ext cx="381000" cy="381000"/>
          </a:xfrm>
          <a:prstGeom prst="rect">
            <a:avLst/>
          </a:prstGeom>
          <a:noFill/>
          <a:ln/>
        </p:spPr>
        <p:txBody>
          <a:bodyPr wrap="square" lIns="0" tIns="0" rIns="0" bIns="0" rtlCol="0" anchor="ctr">
            <a:normAutofit/>
          </a:bodyPr>
          <a:lstStyle/>
          <a:p>
            <a:pPr marL="0" indent="0" algn="ctr">
              <a:lnSpc>
                <a:spcPct val="115000"/>
              </a:lnSpc>
              <a:buNone/>
            </a:pPr>
            <a:r>
              <a:rPr lang="en-US" sz="1600" b="1" kern="1200" dirty="0">
                <a:solidFill>
                  <a:srgbClr val="FFFFFF"/>
                </a:solidFill>
                <a:latin typeface="JetBrains Mono"/>
                <a:ea typeface="JetBrains Mono"/>
                <a:cs typeface="JetBrains Mono"/>
              </a:rPr>
              <a:t>3</a:t>
            </a:r>
            <a:endParaRPr lang="en-US" sz="1600" dirty="0"/>
          </a:p>
        </p:txBody>
      </p:sp>
      <p:sp>
        <p:nvSpPr>
          <p:cNvPr id="18" name="Text 16"/>
          <p:cNvSpPr/>
          <p:nvPr/>
        </p:nvSpPr>
        <p:spPr>
          <a:xfrm>
            <a:off x="1200150" y="3095625"/>
            <a:ext cx="1181953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Level 3 · Power User — Persistent context: dedicated workspaces that already know your domain.</a:t>
            </a:r>
            <a:endParaRPr lang="en-US" sz="1600" dirty="0"/>
          </a:p>
        </p:txBody>
      </p:sp>
      <p:sp>
        <p:nvSpPr>
          <p:cNvPr id="19" name="Text 17"/>
          <p:cNvSpPr/>
          <p:nvPr/>
        </p:nvSpPr>
        <p:spPr>
          <a:xfrm>
            <a:off x="1200150" y="3457575"/>
            <a:ext cx="8843285"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Reached this week — as soon as the Gem you saw built is your own, which is step 6 of the roadmap.</a:t>
            </a:r>
            <a:endParaRPr lang="en-US" sz="1300" dirty="0"/>
          </a:p>
        </p:txBody>
      </p:sp>
      <p:sp>
        <p:nvSpPr>
          <p:cNvPr id="20" name="Shape 18"/>
          <p:cNvSpPr/>
          <p:nvPr/>
        </p:nvSpPr>
        <p:spPr>
          <a:xfrm>
            <a:off x="457200" y="4095750"/>
            <a:ext cx="12801600" cy="1428750"/>
          </a:xfrm>
          <a:prstGeom prst="roundRect">
            <a:avLst>
              <a:gd name="adj" fmla="val 7644"/>
            </a:avLst>
          </a:prstGeom>
          <a:gradFill rotWithShape="1">
            <a:gsLst>
              <a:gs pos="0">
                <a:srgbClr val="FFFFFF">
                  <a:alpha val="11000"/>
                </a:srgbClr>
              </a:gs>
              <a:gs pos="892">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1" name="Shape 19"/>
          <p:cNvSpPr/>
          <p:nvPr/>
        </p:nvSpPr>
        <p:spPr>
          <a:xfrm>
            <a:off x="457200" y="5514975"/>
            <a:ext cx="12801600" cy="9525"/>
          </a:xfrm>
          <a:prstGeom prst="rect">
            <a:avLst/>
          </a:prstGeom>
          <a:solidFill>
            <a:srgbClr val="FFFFFF">
              <a:alpha val="8000"/>
            </a:srgbClr>
          </a:solidFill>
          <a:ln/>
        </p:spPr>
      </p:sp>
      <p:sp>
        <p:nvSpPr>
          <p:cNvPr id="22" name="Shape 20"/>
          <p:cNvSpPr/>
          <p:nvPr/>
        </p:nvSpPr>
        <p:spPr>
          <a:xfrm>
            <a:off x="457200" y="4095750"/>
            <a:ext cx="12801600" cy="9525"/>
          </a:xfrm>
          <a:prstGeom prst="rect">
            <a:avLst/>
          </a:prstGeom>
          <a:solidFill>
            <a:srgbClr val="FFFFFF">
              <a:alpha val="8000"/>
            </a:srgbClr>
          </a:solidFill>
          <a:ln/>
        </p:spPr>
      </p:sp>
      <p:sp>
        <p:nvSpPr>
          <p:cNvPr id="23" name="Shape 21"/>
          <p:cNvSpPr/>
          <p:nvPr/>
        </p:nvSpPr>
        <p:spPr>
          <a:xfrm>
            <a:off x="457200" y="4191000"/>
            <a:ext cx="28575" cy="1238250"/>
          </a:xfrm>
          <a:prstGeom prst="rect">
            <a:avLst/>
          </a:prstGeom>
          <a:solidFill>
            <a:srgbClr val="10B981"/>
          </a:solidFill>
          <a:ln/>
        </p:spPr>
      </p:sp>
      <p:sp>
        <p:nvSpPr>
          <p:cNvPr id="24" name="Shape 22"/>
          <p:cNvSpPr/>
          <p:nvPr/>
        </p:nvSpPr>
        <p:spPr>
          <a:xfrm>
            <a:off x="13249275" y="4191000"/>
            <a:ext cx="9525" cy="1238250"/>
          </a:xfrm>
          <a:prstGeom prst="rect">
            <a:avLst/>
          </a:prstGeom>
          <a:solidFill>
            <a:srgbClr val="FFFFFF">
              <a:alpha val="8000"/>
            </a:srgbClr>
          </a:solidFill>
          <a:ln/>
        </p:spPr>
      </p:sp>
      <p:sp>
        <p:nvSpPr>
          <p:cNvPr id="25" name="Shape 23"/>
          <p:cNvSpPr/>
          <p:nvPr/>
        </p:nvSpPr>
        <p:spPr>
          <a:xfrm>
            <a:off x="685800" y="4619625"/>
            <a:ext cx="381000" cy="381000"/>
          </a:xfrm>
          <a:prstGeom prst="roundRect">
            <a:avLst>
              <a:gd name="adj" fmla="val 25000"/>
            </a:avLst>
          </a:prstGeom>
          <a:solidFill>
            <a:srgbClr val="10B981">
              <a:alpha val="14000"/>
            </a:srgbClr>
          </a:solidFill>
          <a:ln/>
        </p:spPr>
      </p:sp>
      <p:sp>
        <p:nvSpPr>
          <p:cNvPr id="26" name="Text 24"/>
          <p:cNvSpPr/>
          <p:nvPr/>
        </p:nvSpPr>
        <p:spPr>
          <a:xfrm>
            <a:off x="685800" y="4619625"/>
            <a:ext cx="381000" cy="381000"/>
          </a:xfrm>
          <a:prstGeom prst="rect">
            <a:avLst/>
          </a:prstGeom>
          <a:noFill/>
          <a:ln/>
        </p:spPr>
        <p:txBody>
          <a:bodyPr wrap="square" lIns="0" tIns="0" rIns="0" bIns="0" rtlCol="0" anchor="ctr">
            <a:normAutofit/>
          </a:bodyPr>
          <a:lstStyle/>
          <a:p>
            <a:pPr marL="0" indent="0" algn="ctr">
              <a:lnSpc>
                <a:spcPct val="115000"/>
              </a:lnSpc>
              <a:buNone/>
            </a:pPr>
            <a:r>
              <a:rPr lang="en-US" sz="1600" b="1" kern="1200" dirty="0">
                <a:solidFill>
                  <a:srgbClr val="34D399"/>
                </a:solidFill>
                <a:latin typeface="JetBrains Mono"/>
                <a:ea typeface="JetBrains Mono"/>
                <a:cs typeface="JetBrains Mono"/>
              </a:rPr>
              <a:t>4</a:t>
            </a:r>
            <a:endParaRPr lang="en-US" sz="1600" dirty="0"/>
          </a:p>
        </p:txBody>
      </p:sp>
      <p:sp>
        <p:nvSpPr>
          <p:cNvPr id="27" name="Text 25"/>
          <p:cNvSpPr/>
          <p:nvPr/>
        </p:nvSpPr>
        <p:spPr>
          <a:xfrm>
            <a:off x="1200150" y="4324350"/>
            <a:ext cx="11866099" cy="638175"/>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Level 4 · Tool Orchestrator — The right specialised tool per step: NotebookLM for documents, Perplexity for cited research.</a:t>
            </a:r>
            <a:endParaRPr lang="en-US" sz="1600" dirty="0"/>
          </a:p>
        </p:txBody>
      </p:sp>
      <p:sp>
        <p:nvSpPr>
          <p:cNvPr id="28" name="Text 26"/>
          <p:cNvSpPr/>
          <p:nvPr/>
        </p:nvSpPr>
        <p:spPr>
          <a:xfrm>
            <a:off x="1200150" y="4981575"/>
            <a:ext cx="11004633"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Founded, not yet reached — the roadmap is the orchestration written down; Lessons 3 and 4 hand you the specialised tools to put in it.</a:t>
            </a:r>
            <a:endParaRPr lang="en-US" sz="1300" dirty="0"/>
          </a:p>
        </p:txBody>
      </p:sp>
      <p:sp>
        <p:nvSpPr>
          <p:cNvPr id="29" name="Shape 27"/>
          <p:cNvSpPr/>
          <p:nvPr/>
        </p:nvSpPr>
        <p:spPr>
          <a:xfrm>
            <a:off x="457200" y="5734116"/>
            <a:ext cx="12801600" cy="1000125"/>
          </a:xfrm>
          <a:prstGeom prst="roundRect">
            <a:avLst>
              <a:gd name="adj" fmla="val 18932"/>
            </a:avLst>
          </a:prstGeom>
          <a:gradFill rotWithShape="1">
            <a:gsLst>
              <a:gs pos="0">
                <a:srgbClr val="3B82F6"/>
              </a:gs>
              <a:gs pos="227">
                <a:srgbClr val="3B82F6"/>
              </a:gs>
              <a:gs pos="228">
                <a:srgbClr val="FFFFFF">
                  <a:alpha val="5000"/>
                </a:srgbClr>
              </a:gs>
              <a:gs pos="100000">
                <a:srgbClr val="FFFFFF">
                  <a:alpha val="2500"/>
                </a:srgbClr>
              </a:gs>
            </a:gsLst>
            <a:lin ang="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0" name="Text 28"/>
          <p:cNvSpPr/>
          <p:nvPr/>
        </p:nvSpPr>
        <p:spPr>
          <a:xfrm>
            <a:off x="685800" y="5915091"/>
            <a:ext cx="4057849" cy="1034554"/>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Level 3 achieved · foundation for Level 4 established</a:t>
            </a:r>
            <a:endParaRPr lang="en-US" sz="1600" dirty="0"/>
          </a:p>
        </p:txBody>
      </p:sp>
      <p:sp>
        <p:nvSpPr>
          <p:cNvPr id="31" name="Text 29"/>
          <p:cNvSpPr/>
          <p:nvPr/>
        </p:nvSpPr>
        <p:spPr>
          <a:xfrm>
            <a:off x="4857949" y="5915091"/>
            <a:ext cx="8161734"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A persistent, domain-aware workspace — and the right tool per step, chained.</a:t>
            </a:r>
            <a:endParaRPr lang="en-US" sz="1100" dirty="0"/>
          </a:p>
        </p:txBody>
      </p:sp>
      <p:sp>
        <p:nvSpPr>
          <p:cNvPr id="32" name="Text 30"/>
          <p:cNvSpPr/>
          <p:nvPr/>
        </p:nvSpPr>
        <p:spPr>
          <a:xfrm>
            <a:off x="457200" y="6867525"/>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Nobody reaches a level by owning a tool. Level 3 is a workspace you work inside; Level 4 is a chain you can justify.</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Text 2"/>
          <p:cNvSpPr/>
          <p:nvPr/>
        </p:nvSpPr>
        <p:spPr>
          <a:xfrm>
            <a:off x="457200" y="4572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Effort and where the work is shown</a:t>
            </a:r>
            <a:endParaRPr lang="en-US" sz="3200" dirty="0"/>
          </a:p>
        </p:txBody>
      </p:sp>
      <p:sp>
        <p:nvSpPr>
          <p:cNvPr id="5" name="Text 3"/>
          <p:cNvSpPr/>
          <p:nvPr/>
        </p:nvSpPr>
        <p:spPr>
          <a:xfrm>
            <a:off x="457200" y="1076325"/>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Two weeks, the blueprint first — and two places where the work gets looked at</a:t>
            </a:r>
            <a:endParaRPr lang="en-US" sz="1100" dirty="0"/>
          </a:p>
        </p:txBody>
      </p:sp>
      <p:sp>
        <p:nvSpPr>
          <p:cNvPr id="6" name="Shape 4"/>
          <p:cNvSpPr/>
          <p:nvPr/>
        </p:nvSpPr>
        <p:spPr>
          <a:xfrm>
            <a:off x="457200" y="1600200"/>
            <a:ext cx="6286500" cy="1514475"/>
          </a:xfrm>
          <a:prstGeom prst="roundRect">
            <a:avLst>
              <a:gd name="adj" fmla="val 7909"/>
            </a:avLst>
          </a:prstGeom>
          <a:gradFill rotWithShape="1">
            <a:gsLst>
              <a:gs pos="0">
                <a:srgbClr val="FFFFFF">
                  <a:alpha val="11000"/>
                </a:srgbClr>
              </a:gs>
              <a:gs pos="923">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7" name="Shape 5"/>
          <p:cNvSpPr/>
          <p:nvPr/>
        </p:nvSpPr>
        <p:spPr>
          <a:xfrm>
            <a:off x="457200" y="3105150"/>
            <a:ext cx="6286500" cy="9525"/>
          </a:xfrm>
          <a:prstGeom prst="rect">
            <a:avLst/>
          </a:prstGeom>
          <a:solidFill>
            <a:srgbClr val="FFFFFF">
              <a:alpha val="8000"/>
            </a:srgbClr>
          </a:solidFill>
          <a:ln/>
        </p:spPr>
      </p:sp>
      <p:sp>
        <p:nvSpPr>
          <p:cNvPr id="8" name="Shape 6"/>
          <p:cNvSpPr/>
          <p:nvPr/>
        </p:nvSpPr>
        <p:spPr>
          <a:xfrm>
            <a:off x="457200" y="1600200"/>
            <a:ext cx="6286500" cy="9525"/>
          </a:xfrm>
          <a:prstGeom prst="rect">
            <a:avLst/>
          </a:prstGeom>
          <a:solidFill>
            <a:srgbClr val="FFFFFF">
              <a:alpha val="8000"/>
            </a:srgbClr>
          </a:solidFill>
          <a:ln/>
        </p:spPr>
      </p:sp>
      <p:sp>
        <p:nvSpPr>
          <p:cNvPr id="9" name="Shape 7"/>
          <p:cNvSpPr/>
          <p:nvPr/>
        </p:nvSpPr>
        <p:spPr>
          <a:xfrm>
            <a:off x="457200" y="1695450"/>
            <a:ext cx="28575" cy="1323975"/>
          </a:xfrm>
          <a:prstGeom prst="rect">
            <a:avLst/>
          </a:prstGeom>
          <a:solidFill>
            <a:srgbClr val="3B82F6"/>
          </a:solidFill>
          <a:ln/>
        </p:spPr>
      </p:sp>
      <p:sp>
        <p:nvSpPr>
          <p:cNvPr id="10" name="Shape 8"/>
          <p:cNvSpPr/>
          <p:nvPr/>
        </p:nvSpPr>
        <p:spPr>
          <a:xfrm>
            <a:off x="6734175" y="1695450"/>
            <a:ext cx="9525" cy="1323975"/>
          </a:xfrm>
          <a:prstGeom prst="rect">
            <a:avLst/>
          </a:prstGeom>
          <a:solidFill>
            <a:srgbClr val="FFFFFF">
              <a:alpha val="8000"/>
            </a:srgbClr>
          </a:solidFill>
          <a:ln/>
        </p:spPr>
      </p:sp>
      <p:sp>
        <p:nvSpPr>
          <p:cNvPr id="11" name="Shape 9"/>
          <p:cNvSpPr/>
          <p:nvPr/>
        </p:nvSpPr>
        <p:spPr>
          <a:xfrm>
            <a:off x="687883" y="1762125"/>
            <a:ext cx="381000" cy="381000"/>
          </a:xfrm>
          <a:prstGeom prst="roundRect">
            <a:avLst>
              <a:gd name="adj" fmla="val 25000"/>
            </a:avLst>
          </a:prstGeom>
          <a:solidFill>
            <a:srgbClr val="3B82F6">
              <a:alpha val="14000"/>
            </a:srgbClr>
          </a:solidFill>
          <a:ln/>
        </p:spPr>
      </p:sp>
      <p:pic>
        <p:nvPicPr>
          <p:cNvPr id="1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3133" y="1857375"/>
            <a:ext cx="190500" cy="190500"/>
          </a:xfrm>
          <a:prstGeom prst="rect">
            <a:avLst/>
          </a:prstGeom>
        </p:spPr>
      </p:pic>
      <p:sp>
        <p:nvSpPr>
          <p:cNvPr id="13" name="Text 10"/>
          <p:cNvSpPr/>
          <p:nvPr/>
        </p:nvSpPr>
        <p:spPr>
          <a:xfrm>
            <a:off x="1106917" y="1762125"/>
            <a:ext cx="540818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3–4 hours across the two weeks</a:t>
            </a:r>
            <a:endParaRPr lang="en-US" sz="1600" dirty="0"/>
          </a:p>
        </p:txBody>
      </p:sp>
      <p:sp>
        <p:nvSpPr>
          <p:cNvPr id="14" name="Text 11"/>
          <p:cNvSpPr/>
          <p:nvPr/>
        </p:nvSpPr>
        <p:spPr>
          <a:xfrm>
            <a:off x="687883" y="2245584"/>
            <a:ext cx="5884367" cy="70485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The blueprint first, then the presentation. Nine steps is the roadmap's shape, not a quota — merge two or drop one, and spend what you saved on the justification. Twenty minutes at a time beats one long Sunday.</a:t>
            </a:r>
            <a:endParaRPr lang="en-US" sz="1100" dirty="0"/>
          </a:p>
        </p:txBody>
      </p:sp>
      <p:sp>
        <p:nvSpPr>
          <p:cNvPr id="15" name="Shape 12"/>
          <p:cNvSpPr/>
          <p:nvPr/>
        </p:nvSpPr>
        <p:spPr>
          <a:xfrm>
            <a:off x="6972300" y="1600200"/>
            <a:ext cx="6286500" cy="1514475"/>
          </a:xfrm>
          <a:prstGeom prst="roundRect">
            <a:avLst>
              <a:gd name="adj" fmla="val 7909"/>
            </a:avLst>
          </a:prstGeom>
          <a:gradFill rotWithShape="1">
            <a:gsLst>
              <a:gs pos="0">
                <a:srgbClr val="FFFFFF">
                  <a:alpha val="11000"/>
                </a:srgbClr>
              </a:gs>
              <a:gs pos="923">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6" name="Shape 13"/>
          <p:cNvSpPr/>
          <p:nvPr/>
        </p:nvSpPr>
        <p:spPr>
          <a:xfrm>
            <a:off x="6972300" y="3105150"/>
            <a:ext cx="6286500" cy="9525"/>
          </a:xfrm>
          <a:prstGeom prst="rect">
            <a:avLst/>
          </a:prstGeom>
          <a:solidFill>
            <a:srgbClr val="FFFFFF">
              <a:alpha val="8000"/>
            </a:srgbClr>
          </a:solidFill>
          <a:ln/>
        </p:spPr>
      </p:sp>
      <p:sp>
        <p:nvSpPr>
          <p:cNvPr id="17" name="Shape 14"/>
          <p:cNvSpPr/>
          <p:nvPr/>
        </p:nvSpPr>
        <p:spPr>
          <a:xfrm>
            <a:off x="6972300" y="1600200"/>
            <a:ext cx="6286500" cy="9525"/>
          </a:xfrm>
          <a:prstGeom prst="rect">
            <a:avLst/>
          </a:prstGeom>
          <a:solidFill>
            <a:srgbClr val="FFFFFF">
              <a:alpha val="8000"/>
            </a:srgbClr>
          </a:solidFill>
          <a:ln/>
        </p:spPr>
      </p:sp>
      <p:sp>
        <p:nvSpPr>
          <p:cNvPr id="18" name="Shape 15"/>
          <p:cNvSpPr/>
          <p:nvPr/>
        </p:nvSpPr>
        <p:spPr>
          <a:xfrm>
            <a:off x="6972300" y="1695450"/>
            <a:ext cx="28575" cy="1323975"/>
          </a:xfrm>
          <a:prstGeom prst="rect">
            <a:avLst/>
          </a:prstGeom>
          <a:solidFill>
            <a:srgbClr val="10B981"/>
          </a:solidFill>
          <a:ln/>
        </p:spPr>
      </p:sp>
      <p:sp>
        <p:nvSpPr>
          <p:cNvPr id="19" name="Shape 16"/>
          <p:cNvSpPr/>
          <p:nvPr/>
        </p:nvSpPr>
        <p:spPr>
          <a:xfrm>
            <a:off x="13249275" y="1695450"/>
            <a:ext cx="9525" cy="1323975"/>
          </a:xfrm>
          <a:prstGeom prst="rect">
            <a:avLst/>
          </a:prstGeom>
          <a:solidFill>
            <a:srgbClr val="FFFFFF">
              <a:alpha val="8000"/>
            </a:srgbClr>
          </a:solidFill>
          <a:ln/>
        </p:spPr>
      </p:sp>
      <p:sp>
        <p:nvSpPr>
          <p:cNvPr id="20" name="Shape 17"/>
          <p:cNvSpPr/>
          <p:nvPr/>
        </p:nvSpPr>
        <p:spPr>
          <a:xfrm>
            <a:off x="7202984" y="1762125"/>
            <a:ext cx="381000" cy="381000"/>
          </a:xfrm>
          <a:prstGeom prst="roundRect">
            <a:avLst>
              <a:gd name="adj" fmla="val 25000"/>
            </a:avLst>
          </a:prstGeom>
          <a:solidFill>
            <a:srgbClr val="10B981">
              <a:alpha val="14000"/>
            </a:srgbClr>
          </a:solidFill>
          <a:ln/>
        </p:spPr>
      </p:sp>
      <p:pic>
        <p:nvPicPr>
          <p:cNvPr id="2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98234" y="1857375"/>
            <a:ext cx="190500" cy="190500"/>
          </a:xfrm>
          <a:prstGeom prst="rect">
            <a:avLst/>
          </a:prstGeom>
        </p:spPr>
      </p:pic>
      <p:sp>
        <p:nvSpPr>
          <p:cNvPr id="22" name="Text 18"/>
          <p:cNvSpPr/>
          <p:nvPr/>
        </p:nvSpPr>
        <p:spPr>
          <a:xfrm>
            <a:off x="7622017" y="1762125"/>
            <a:ext cx="5408183"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Where the work is shown</a:t>
            </a:r>
            <a:endParaRPr lang="en-US" sz="1600" dirty="0"/>
          </a:p>
        </p:txBody>
      </p:sp>
      <p:sp>
        <p:nvSpPr>
          <p:cNvPr id="23" name="Text 19"/>
          <p:cNvSpPr/>
          <p:nvPr/>
        </p:nvSpPr>
        <p:spPr>
          <a:xfrm>
            <a:off x="7202984" y="2245584"/>
            <a:ext cx="5884366"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Practice Week 1's drop-in (W3) — troubleshooting a half-built chain</a:t>
            </a:r>
            <a:endParaRPr lang="en-US" sz="1100" dirty="0"/>
          </a:p>
        </p:txBody>
      </p:sp>
      <p:sp>
        <p:nvSpPr>
          <p:cNvPr id="24" name="Text 20"/>
          <p:cNvSpPr/>
          <p:nvPr/>
        </p:nvSpPr>
        <p:spPr>
          <a:xfrm>
            <a:off x="7202984" y="2559777"/>
            <a:ext cx="5884366"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 The Lesson 3 debrief (W4) — 2–3 volunteers present blueprint and presentation</a:t>
            </a:r>
            <a:endParaRPr lang="en-US" sz="1100" dirty="0"/>
          </a:p>
        </p:txBody>
      </p:sp>
      <p:sp>
        <p:nvSpPr>
          <p:cNvPr id="25" name="Text 21"/>
          <p:cNvSpPr/>
          <p:nvPr/>
        </p:nvSpPr>
        <p:spPr>
          <a:xfrm>
            <a:off x="457200" y="3439622"/>
            <a:ext cx="12801600"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What “done” looks like</a:t>
            </a:r>
            <a:endParaRPr lang="en-US" sz="1600" dirty="0"/>
          </a:p>
        </p:txBody>
      </p:sp>
      <p:sp>
        <p:nvSpPr>
          <p:cNvPr id="26" name="Shape 22"/>
          <p:cNvSpPr/>
          <p:nvPr/>
        </p:nvSpPr>
        <p:spPr>
          <a:xfrm>
            <a:off x="457200" y="3877706"/>
            <a:ext cx="4114800" cy="1695450"/>
          </a:xfrm>
          <a:prstGeom prst="roundRect">
            <a:avLst>
              <a:gd name="adj" fmla="val 3718"/>
            </a:avLst>
          </a:prstGeom>
          <a:gradFill rotWithShape="1">
            <a:gsLst>
              <a:gs pos="0">
                <a:srgbClr val="FFFFFF">
                  <a:alpha val="11000"/>
                </a:srgbClr>
              </a:gs>
              <a:gs pos="434">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7" name="Shape 23"/>
          <p:cNvSpPr/>
          <p:nvPr/>
        </p:nvSpPr>
        <p:spPr>
          <a:xfrm>
            <a:off x="658283" y="4030106"/>
            <a:ext cx="381000" cy="381000"/>
          </a:xfrm>
          <a:prstGeom prst="roundRect">
            <a:avLst>
              <a:gd name="adj" fmla="val 25000"/>
            </a:avLst>
          </a:prstGeom>
          <a:solidFill>
            <a:srgbClr val="3B82F6">
              <a:alpha val="14000"/>
            </a:srgbClr>
          </a:solidFill>
          <a:ln/>
        </p:spPr>
      </p:sp>
      <p:pic>
        <p:nvPicPr>
          <p:cNvPr id="2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3533" y="4125356"/>
            <a:ext cx="190500" cy="190500"/>
          </a:xfrm>
          <a:prstGeom prst="rect">
            <a:avLst/>
          </a:prstGeom>
        </p:spPr>
      </p:pic>
      <p:sp>
        <p:nvSpPr>
          <p:cNvPr id="29" name="Text 24"/>
          <p:cNvSpPr/>
          <p:nvPr/>
        </p:nvSpPr>
        <p:spPr>
          <a:xfrm>
            <a:off x="1058300" y="4030106"/>
            <a:ext cx="3312617"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A blueprint with reasons in it</a:t>
            </a:r>
            <a:endParaRPr lang="en-US" sz="1300" dirty="0"/>
          </a:p>
        </p:txBody>
      </p:sp>
      <p:sp>
        <p:nvSpPr>
          <p:cNvPr id="30" name="Text 25"/>
          <p:cNvSpPr/>
          <p:nvPr/>
        </p:nvSpPr>
        <p:spPr>
          <a:xfrm>
            <a:off x="658283" y="4510093"/>
            <a:ext cx="3742267" cy="70485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Every row carries a justification — and the chain is drawn, not just listed. A row whose WHY is “because it was on the slide” is not done.</a:t>
            </a:r>
            <a:endParaRPr lang="en-US" sz="1100" dirty="0"/>
          </a:p>
        </p:txBody>
      </p:sp>
      <p:sp>
        <p:nvSpPr>
          <p:cNvPr id="31" name="Shape 26"/>
          <p:cNvSpPr/>
          <p:nvPr/>
        </p:nvSpPr>
        <p:spPr>
          <a:xfrm>
            <a:off x="4800600" y="3877706"/>
            <a:ext cx="4114800" cy="1695450"/>
          </a:xfrm>
          <a:prstGeom prst="roundRect">
            <a:avLst>
              <a:gd name="adj" fmla="val 3718"/>
            </a:avLst>
          </a:prstGeom>
          <a:gradFill rotWithShape="1">
            <a:gsLst>
              <a:gs pos="0">
                <a:srgbClr val="FFFFFF">
                  <a:alpha val="11000"/>
                </a:srgbClr>
              </a:gs>
              <a:gs pos="434">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2" name="Shape 27"/>
          <p:cNvSpPr/>
          <p:nvPr/>
        </p:nvSpPr>
        <p:spPr>
          <a:xfrm>
            <a:off x="5001683" y="4030106"/>
            <a:ext cx="381000" cy="381000"/>
          </a:xfrm>
          <a:prstGeom prst="roundRect">
            <a:avLst>
              <a:gd name="adj" fmla="val 25000"/>
            </a:avLst>
          </a:prstGeom>
          <a:solidFill>
            <a:srgbClr val="8B5CF6">
              <a:alpha val="14000"/>
            </a:srgbClr>
          </a:solidFill>
          <a:ln/>
        </p:spPr>
      </p:sp>
      <p:pic>
        <p:nvPicPr>
          <p:cNvPr id="3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96933" y="4125356"/>
            <a:ext cx="190500" cy="190500"/>
          </a:xfrm>
          <a:prstGeom prst="rect">
            <a:avLst/>
          </a:prstGeom>
        </p:spPr>
      </p:pic>
      <p:sp>
        <p:nvSpPr>
          <p:cNvPr id="34" name="Text 28"/>
          <p:cNvSpPr/>
          <p:nvPr/>
        </p:nvSpPr>
        <p:spPr>
          <a:xfrm>
            <a:off x="5401700" y="4030106"/>
            <a:ext cx="3312617"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A presentation that teaches</a:t>
            </a:r>
            <a:endParaRPr lang="en-US" sz="1300" dirty="0"/>
          </a:p>
        </p:txBody>
      </p:sp>
      <p:sp>
        <p:nvSpPr>
          <p:cNvPr id="35" name="Text 29"/>
          <p:cNvSpPr/>
          <p:nvPr/>
        </p:nvSpPr>
        <p:spPr>
          <a:xfrm>
            <a:off x="5001683" y="4510093"/>
            <a:ext cx="3742267" cy="70485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It serves three stated learning outcomes and carries the practice material from step 8 — an explanation, flashcards and a quiz.</a:t>
            </a:r>
            <a:endParaRPr lang="en-US" sz="1100" dirty="0"/>
          </a:p>
        </p:txBody>
      </p:sp>
      <p:sp>
        <p:nvSpPr>
          <p:cNvPr id="36" name="Shape 30"/>
          <p:cNvSpPr/>
          <p:nvPr/>
        </p:nvSpPr>
        <p:spPr>
          <a:xfrm>
            <a:off x="9144000" y="3877706"/>
            <a:ext cx="4114800" cy="1695450"/>
          </a:xfrm>
          <a:prstGeom prst="roundRect">
            <a:avLst>
              <a:gd name="adj" fmla="val 3718"/>
            </a:avLst>
          </a:prstGeom>
          <a:gradFill rotWithShape="1">
            <a:gsLst>
              <a:gs pos="0">
                <a:srgbClr val="FFFFFF">
                  <a:alpha val="11000"/>
                </a:srgbClr>
              </a:gs>
              <a:gs pos="434">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37" name="Shape 31"/>
          <p:cNvSpPr/>
          <p:nvPr/>
        </p:nvSpPr>
        <p:spPr>
          <a:xfrm>
            <a:off x="9345084" y="4030106"/>
            <a:ext cx="381000" cy="381000"/>
          </a:xfrm>
          <a:prstGeom prst="roundRect">
            <a:avLst>
              <a:gd name="adj" fmla="val 25000"/>
            </a:avLst>
          </a:prstGeom>
          <a:solidFill>
            <a:srgbClr val="10B981">
              <a:alpha val="14000"/>
            </a:srgbClr>
          </a:solidFill>
          <a:ln/>
        </p:spPr>
      </p:sp>
      <p:pic>
        <p:nvPicPr>
          <p:cNvPr id="3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40334" y="4125356"/>
            <a:ext cx="190500" cy="190500"/>
          </a:xfrm>
          <a:prstGeom prst="rect">
            <a:avLst/>
          </a:prstGeom>
        </p:spPr>
      </p:pic>
      <p:sp>
        <p:nvSpPr>
          <p:cNvPr id="39" name="Text 32"/>
          <p:cNvSpPr/>
          <p:nvPr/>
        </p:nvSpPr>
        <p:spPr>
          <a:xfrm>
            <a:off x="9745101" y="4030106"/>
            <a:ext cx="3312615"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An AI-use log</a:t>
            </a:r>
            <a:endParaRPr lang="en-US" sz="1300" dirty="0"/>
          </a:p>
        </p:txBody>
      </p:sp>
      <p:sp>
        <p:nvSpPr>
          <p:cNvPr id="40" name="Text 33"/>
          <p:cNvSpPr/>
          <p:nvPr/>
        </p:nvSpPr>
        <p:spPr>
          <a:xfrm>
            <a:off x="9345084" y="4510093"/>
            <a:ext cx="3742266" cy="495300"/>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Tool, date and purpose per step, ending up as the declaration on the presentation's last slide.</a:t>
            </a:r>
            <a:endParaRPr lang="en-US" sz="1100" dirty="0"/>
          </a:p>
        </p:txBody>
      </p:sp>
      <p:sp>
        <p:nvSpPr>
          <p:cNvPr id="41" name="Shape 34"/>
          <p:cNvSpPr/>
          <p:nvPr/>
        </p:nvSpPr>
        <p:spPr>
          <a:xfrm>
            <a:off x="457200" y="5838858"/>
            <a:ext cx="12801600" cy="914400"/>
          </a:xfrm>
          <a:prstGeom prst="roundRect">
            <a:avLst>
              <a:gd name="adj" fmla="val 15770"/>
            </a:avLst>
          </a:prstGeom>
          <a:gradFill rotWithShape="1">
            <a:gsLst>
              <a:gs pos="0">
                <a:srgbClr val="EF4444"/>
              </a:gs>
              <a:gs pos="226">
                <a:srgbClr val="EF4444"/>
              </a:gs>
              <a:gs pos="227">
                <a:srgbClr val="FFFFFF">
                  <a:alpha val="5000"/>
                </a:srgbClr>
              </a:gs>
              <a:gs pos="100000">
                <a:srgbClr val="FFFFFF">
                  <a:alpha val="2500"/>
                </a:srgbClr>
              </a:gs>
            </a:gsLst>
            <a:lin ang="0" scaled="0"/>
          </a:gradFill>
          <a:ln w="9525">
            <a:solidFill>
              <a:srgbClr val="FFFFFF">
                <a:alpha val="12000"/>
              </a:srgbClr>
            </a:solidFill>
            <a:prstDash val="solid"/>
          </a:ln>
          <a:effectLst>
            <a:glow rad="190500">
              <a:srgbClr val="EF4444">
                <a:alpha val="26000"/>
              </a:srgbClr>
            </a:glow>
          </a:effectLst>
        </p:spPr>
      </p:sp>
      <p:sp>
        <p:nvSpPr>
          <p:cNvPr id="42" name="Shape 35"/>
          <p:cNvSpPr/>
          <p:nvPr/>
        </p:nvSpPr>
        <p:spPr>
          <a:xfrm>
            <a:off x="677300" y="6105558"/>
            <a:ext cx="381000" cy="381000"/>
          </a:xfrm>
          <a:prstGeom prst="roundRect">
            <a:avLst>
              <a:gd name="adj" fmla="val 25000"/>
            </a:avLst>
          </a:prstGeom>
          <a:solidFill>
            <a:srgbClr val="EF4444">
              <a:alpha val="14000"/>
            </a:srgbClr>
          </a:solidFill>
          <a:ln/>
        </p:spPr>
      </p:sp>
      <p:pic>
        <p:nvPicPr>
          <p:cNvPr id="43"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72550" y="6200808"/>
            <a:ext cx="190500" cy="190500"/>
          </a:xfrm>
          <a:prstGeom prst="rect">
            <a:avLst/>
          </a:prstGeom>
        </p:spPr>
      </p:pic>
      <p:sp>
        <p:nvSpPr>
          <p:cNvPr id="44" name="Text 36"/>
          <p:cNvSpPr/>
          <p:nvPr/>
        </p:nvSpPr>
        <p:spPr>
          <a:xfrm>
            <a:off x="1134368" y="5991258"/>
            <a:ext cx="11904332"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b="1" kern="1200" dirty="0">
                <a:solidFill>
                  <a:srgbClr val="FFFFFF"/>
                </a:solidFill>
                <a:latin typeface="Inter"/>
                <a:ea typeface="Inter"/>
                <a:cs typeface="Inter"/>
              </a:rPr>
              <a:t>A chain does not inherit a lane from its first step</a:t>
            </a:r>
            <a:endParaRPr lang="en-US" sz="1300" dirty="0"/>
          </a:p>
        </p:txBody>
      </p:sp>
      <p:sp>
        <p:nvSpPr>
          <p:cNvPr id="45" name="Text 37"/>
          <p:cNvSpPr/>
          <p:nvPr/>
        </p:nvSpPr>
        <p:spPr>
          <a:xfrm>
            <a:off x="1134368" y="6324633"/>
            <a:ext cx="7172325"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CBD5E1"/>
                </a:solidFill>
                <a:latin typeface="Inter"/>
                <a:ea typeface="Inter"/>
                <a:cs typeface="Inter"/>
              </a:rPr>
              <a:t>Every step is routed on its own — and nothing that failed step 3's clearance goes into Canva or genspark.ai.</a:t>
            </a:r>
            <a:endParaRPr lang="en-US" sz="1100" dirty="0"/>
          </a:p>
        </p:txBody>
      </p:sp>
      <p:sp>
        <p:nvSpPr>
          <p:cNvPr id="46" name="Text 38"/>
          <p:cNvSpPr/>
          <p:nvPr/>
        </p:nvSpPr>
        <p:spPr>
          <a:xfrm>
            <a:off x="457200" y="6867525"/>
            <a:ext cx="12801600"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Stuck on a step? That is what Practice Week 1's drop-in is for — bring the blueprint even if nothing runs yet.</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13716001" cy="7715251"/>
          </a:xfrm>
          <a:prstGeom prst="rect">
            <a:avLst/>
          </a:prstGeom>
          <a:gradFill rotWithShape="1">
            <a:gsLst>
              <a:gs pos="0">
                <a:srgbClr val="152038">
                  <a:alpha val="100000"/>
                </a:srgbClr>
              </a:gs>
              <a:gs pos="45000">
                <a:srgbClr val="0D1425">
                  <a:alpha val="100000"/>
                </a:srgbClr>
              </a:gs>
              <a:gs pos="100000">
                <a:srgbClr val="0A0F1C">
                  <a:alpha val="100000"/>
                </a:srgbClr>
              </a:gs>
            </a:gsLst>
            <a:path path="circle">
              <a:fillToRect l="50000" r="50000" b="100000"/>
            </a:path>
          </a:gradFill>
          <a:ln/>
        </p:spPr>
      </p:sp>
      <p:sp>
        <p:nvSpPr>
          <p:cNvPr id="3" name="Shape 1"/>
          <p:cNvSpPr/>
          <p:nvPr/>
        </p:nvSpPr>
        <p:spPr>
          <a:xfrm>
            <a:off x="0" y="0"/>
            <a:ext cx="13716001" cy="7715251"/>
          </a:xfrm>
          <a:prstGeom prst="rect">
            <a:avLst/>
          </a:prstGeom>
          <a:gradFill rotWithShape="1">
            <a:gsLst>
              <a:gs pos="0">
                <a:srgbClr val="60A5FA">
                  <a:alpha val="8000"/>
                </a:srgbClr>
              </a:gs>
              <a:gs pos="55000">
                <a:srgbClr val="60A5FA">
                  <a:alpha val="3000"/>
                </a:srgbClr>
              </a:gs>
              <a:gs pos="100000">
                <a:srgbClr val="60A5FA">
                  <a:alpha val="0"/>
                </a:srgbClr>
              </a:gs>
            </a:gsLst>
            <a:path path="circle">
              <a:fillToRect l="30000" r="70000" b="100000"/>
            </a:path>
          </a:gradFill>
          <a:ln/>
        </p:spPr>
      </p:sp>
      <p:sp>
        <p:nvSpPr>
          <p:cNvPr id="4" name="Text 2"/>
          <p:cNvSpPr/>
          <p:nvPr/>
        </p:nvSpPr>
        <p:spPr>
          <a:xfrm>
            <a:off x="457200" y="457200"/>
            <a:ext cx="12801600" cy="561975"/>
          </a:xfrm>
          <a:prstGeom prst="rect">
            <a:avLst/>
          </a:prstGeom>
          <a:noFill/>
          <a:ln/>
        </p:spPr>
        <p:txBody>
          <a:bodyPr wrap="square" lIns="25400" tIns="25400" rIns="25400" bIns="25400" rtlCol="0" anchor="t">
            <a:normAutofit/>
          </a:bodyPr>
          <a:lstStyle/>
          <a:p>
            <a:pPr marL="0" indent="0" algn="l">
              <a:lnSpc>
                <a:spcPct val="100000"/>
              </a:lnSpc>
              <a:buNone/>
            </a:pPr>
            <a:r>
              <a:rPr lang="en-US" sz="3200" b="1" kern="1200" spc="-32" dirty="0">
                <a:solidFill>
                  <a:srgbClr val="FFFFFF"/>
                </a:solidFill>
                <a:latin typeface="Inter"/>
                <a:ea typeface="Inter"/>
                <a:cs typeface="Inter"/>
              </a:rPr>
              <a:t>Next: Practice Week 1 and Lesson 3</a:t>
            </a:r>
            <a:endParaRPr lang="en-US" sz="3200" dirty="0"/>
          </a:p>
        </p:txBody>
      </p:sp>
      <p:sp>
        <p:nvSpPr>
          <p:cNvPr id="5" name="Text 3"/>
          <p:cNvSpPr/>
          <p:nvPr/>
        </p:nvSpPr>
        <p:spPr>
          <a:xfrm>
            <a:off x="457200" y="1076325"/>
            <a:ext cx="12801600"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94A3B8"/>
                </a:solidFill>
                <a:latin typeface="Inter"/>
                <a:ea typeface="Inter"/>
                <a:cs typeface="Inter"/>
              </a:rPr>
              <a:t>No new material next week. The week after, the first piece of the system this course is building</a:t>
            </a:r>
            <a:endParaRPr lang="en-US" sz="1300" dirty="0"/>
          </a:p>
        </p:txBody>
      </p:sp>
      <p:sp>
        <p:nvSpPr>
          <p:cNvPr id="6" name="Shape 4"/>
          <p:cNvSpPr/>
          <p:nvPr/>
        </p:nvSpPr>
        <p:spPr>
          <a:xfrm>
            <a:off x="457200" y="1995488"/>
            <a:ext cx="6286500" cy="2447925"/>
          </a:xfrm>
          <a:prstGeom prst="roundRect">
            <a:avLst>
              <a:gd name="adj" fmla="val 2627"/>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7" name="Shape 5"/>
          <p:cNvSpPr/>
          <p:nvPr/>
        </p:nvSpPr>
        <p:spPr>
          <a:xfrm>
            <a:off x="457200" y="4433888"/>
            <a:ext cx="6286500" cy="9525"/>
          </a:xfrm>
          <a:prstGeom prst="rect">
            <a:avLst/>
          </a:prstGeom>
          <a:solidFill>
            <a:srgbClr val="FFFFFF">
              <a:alpha val="8000"/>
            </a:srgbClr>
          </a:solidFill>
          <a:ln/>
        </p:spPr>
      </p:sp>
      <p:sp>
        <p:nvSpPr>
          <p:cNvPr id="8" name="Shape 6"/>
          <p:cNvSpPr/>
          <p:nvPr/>
        </p:nvSpPr>
        <p:spPr>
          <a:xfrm>
            <a:off x="457200" y="1995488"/>
            <a:ext cx="6286500" cy="9525"/>
          </a:xfrm>
          <a:prstGeom prst="rect">
            <a:avLst/>
          </a:prstGeom>
          <a:solidFill>
            <a:srgbClr val="FFFFFF">
              <a:alpha val="8000"/>
            </a:srgbClr>
          </a:solidFill>
          <a:ln/>
        </p:spPr>
      </p:sp>
      <p:sp>
        <p:nvSpPr>
          <p:cNvPr id="9" name="Shape 7"/>
          <p:cNvSpPr/>
          <p:nvPr/>
        </p:nvSpPr>
        <p:spPr>
          <a:xfrm>
            <a:off x="457200" y="2090738"/>
            <a:ext cx="28575" cy="2257425"/>
          </a:xfrm>
          <a:prstGeom prst="rect">
            <a:avLst/>
          </a:prstGeom>
          <a:solidFill>
            <a:srgbClr val="3B82F6"/>
          </a:solidFill>
          <a:ln/>
        </p:spPr>
      </p:sp>
      <p:sp>
        <p:nvSpPr>
          <p:cNvPr id="10" name="Shape 8"/>
          <p:cNvSpPr/>
          <p:nvPr/>
        </p:nvSpPr>
        <p:spPr>
          <a:xfrm>
            <a:off x="6734175" y="2090738"/>
            <a:ext cx="9525" cy="2257425"/>
          </a:xfrm>
          <a:prstGeom prst="rect">
            <a:avLst/>
          </a:prstGeom>
          <a:solidFill>
            <a:srgbClr val="FFFFFF">
              <a:alpha val="8000"/>
            </a:srgbClr>
          </a:solidFill>
          <a:ln/>
        </p:spPr>
      </p:sp>
      <p:sp>
        <p:nvSpPr>
          <p:cNvPr id="11" name="Shape 9"/>
          <p:cNvSpPr/>
          <p:nvPr/>
        </p:nvSpPr>
        <p:spPr>
          <a:xfrm>
            <a:off x="685800" y="2224088"/>
            <a:ext cx="381000" cy="381000"/>
          </a:xfrm>
          <a:prstGeom prst="roundRect">
            <a:avLst>
              <a:gd name="adj" fmla="val 25000"/>
            </a:avLst>
          </a:prstGeom>
          <a:solidFill>
            <a:srgbClr val="3B82F6">
              <a:alpha val="14000"/>
            </a:srgbClr>
          </a:solidFill>
          <a:ln/>
        </p:spPr>
      </p:sp>
      <p:pic>
        <p:nvPicPr>
          <p:cNvPr id="1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1050" y="2319338"/>
            <a:ext cx="190500" cy="190500"/>
          </a:xfrm>
          <a:prstGeom prst="rect">
            <a:avLst/>
          </a:prstGeom>
        </p:spPr>
      </p:pic>
      <p:sp>
        <p:nvSpPr>
          <p:cNvPr id="13" name="Text 10"/>
          <p:cNvSpPr/>
          <p:nvPr/>
        </p:nvSpPr>
        <p:spPr>
          <a:xfrm>
            <a:off x="1200150" y="2224088"/>
            <a:ext cx="5255816"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60A5FA"/>
                </a:solidFill>
                <a:latin typeface="Inter"/>
                <a:ea typeface="Inter"/>
                <a:cs typeface="Inter"/>
              </a:rPr>
              <a:t>Practice Week 1 · W3</a:t>
            </a:r>
            <a:endParaRPr lang="en-US" sz="1600" dirty="0"/>
          </a:p>
        </p:txBody>
      </p:sp>
      <p:sp>
        <p:nvSpPr>
          <p:cNvPr id="14" name="Text 11"/>
          <p:cNvSpPr/>
          <p:nvPr/>
        </p:nvSpPr>
        <p:spPr>
          <a:xfrm>
            <a:off x="685800" y="2817019"/>
            <a:ext cx="5827316"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An optional, facilitated drop-in — no new material, and no obligation to come</a:t>
            </a:r>
            <a:endParaRPr lang="en-US" sz="1300" dirty="0"/>
          </a:p>
        </p:txBody>
      </p:sp>
      <p:sp>
        <p:nvSpPr>
          <p:cNvPr id="15" name="Text 12"/>
          <p:cNvSpPr/>
          <p:nvPr/>
        </p:nvSpPr>
        <p:spPr>
          <a:xfrm>
            <a:off x="685800" y="3483703"/>
            <a:ext cx="5827316"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Bring the blueprint and the lane questions it raised</a:t>
            </a:r>
            <a:endParaRPr lang="en-US" sz="1300" dirty="0"/>
          </a:p>
        </p:txBody>
      </p:sp>
      <p:sp>
        <p:nvSpPr>
          <p:cNvPr id="16" name="Text 13"/>
          <p:cNvSpPr/>
          <p:nvPr/>
        </p:nvSpPr>
        <p:spPr>
          <a:xfrm>
            <a:off x="685800" y="3893212"/>
            <a:ext cx="5827316"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Bring any Gemini free-tier surprise you hit — that is what the hour is for</a:t>
            </a:r>
            <a:endParaRPr lang="en-US" sz="1300" dirty="0"/>
          </a:p>
        </p:txBody>
      </p:sp>
      <p:sp>
        <p:nvSpPr>
          <p:cNvPr id="17" name="Shape 14"/>
          <p:cNvSpPr/>
          <p:nvPr/>
        </p:nvSpPr>
        <p:spPr>
          <a:xfrm>
            <a:off x="6972300" y="1995488"/>
            <a:ext cx="6286500" cy="2447925"/>
          </a:xfrm>
          <a:prstGeom prst="roundRect">
            <a:avLst>
              <a:gd name="adj" fmla="val 2627"/>
            </a:avLst>
          </a:prstGeom>
          <a:gradFill rotWithShape="1">
            <a:gsLst>
              <a:gs pos="0">
                <a:srgbClr val="FFFFFF">
                  <a:alpha val="11000"/>
                </a:srgbClr>
              </a:gs>
              <a:gs pos="400">
                <a:srgbClr val="FFFFFF">
                  <a:alpha val="5000"/>
                </a:srgbClr>
              </a:gs>
              <a:gs pos="100000">
                <a:srgbClr val="FFFFFF">
                  <a:alpha val="2500"/>
                </a:srgbClr>
              </a:gs>
            </a:gsLst>
            <a:lin ang="540000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18" name="Shape 15"/>
          <p:cNvSpPr/>
          <p:nvPr/>
        </p:nvSpPr>
        <p:spPr>
          <a:xfrm>
            <a:off x="6972300" y="4433888"/>
            <a:ext cx="6286500" cy="9525"/>
          </a:xfrm>
          <a:prstGeom prst="rect">
            <a:avLst/>
          </a:prstGeom>
          <a:solidFill>
            <a:srgbClr val="FFFFFF">
              <a:alpha val="8000"/>
            </a:srgbClr>
          </a:solidFill>
          <a:ln/>
        </p:spPr>
      </p:sp>
      <p:sp>
        <p:nvSpPr>
          <p:cNvPr id="19" name="Shape 16"/>
          <p:cNvSpPr/>
          <p:nvPr/>
        </p:nvSpPr>
        <p:spPr>
          <a:xfrm>
            <a:off x="6972300" y="1995488"/>
            <a:ext cx="6286500" cy="9525"/>
          </a:xfrm>
          <a:prstGeom prst="rect">
            <a:avLst/>
          </a:prstGeom>
          <a:solidFill>
            <a:srgbClr val="FFFFFF">
              <a:alpha val="8000"/>
            </a:srgbClr>
          </a:solidFill>
          <a:ln/>
        </p:spPr>
      </p:sp>
      <p:sp>
        <p:nvSpPr>
          <p:cNvPr id="20" name="Shape 17"/>
          <p:cNvSpPr/>
          <p:nvPr/>
        </p:nvSpPr>
        <p:spPr>
          <a:xfrm>
            <a:off x="6972300" y="2090738"/>
            <a:ext cx="28575" cy="2257425"/>
          </a:xfrm>
          <a:prstGeom prst="rect">
            <a:avLst/>
          </a:prstGeom>
          <a:solidFill>
            <a:srgbClr val="10B981"/>
          </a:solidFill>
          <a:ln/>
        </p:spPr>
      </p:sp>
      <p:sp>
        <p:nvSpPr>
          <p:cNvPr id="21" name="Shape 18"/>
          <p:cNvSpPr/>
          <p:nvPr/>
        </p:nvSpPr>
        <p:spPr>
          <a:xfrm>
            <a:off x="13249275" y="2090738"/>
            <a:ext cx="9525" cy="2257425"/>
          </a:xfrm>
          <a:prstGeom prst="rect">
            <a:avLst/>
          </a:prstGeom>
          <a:solidFill>
            <a:srgbClr val="FFFFFF">
              <a:alpha val="8000"/>
            </a:srgbClr>
          </a:solidFill>
          <a:ln/>
        </p:spPr>
      </p:sp>
      <p:sp>
        <p:nvSpPr>
          <p:cNvPr id="22" name="Shape 19"/>
          <p:cNvSpPr/>
          <p:nvPr/>
        </p:nvSpPr>
        <p:spPr>
          <a:xfrm>
            <a:off x="7200900" y="2224088"/>
            <a:ext cx="381000" cy="381000"/>
          </a:xfrm>
          <a:prstGeom prst="roundRect">
            <a:avLst>
              <a:gd name="adj" fmla="val 25000"/>
            </a:avLst>
          </a:prstGeom>
          <a:solidFill>
            <a:srgbClr val="10B981">
              <a:alpha val="14000"/>
            </a:srgbClr>
          </a:solidFill>
          <a:ln/>
        </p:spPr>
      </p:sp>
      <p:pic>
        <p:nvPicPr>
          <p:cNvPr id="2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96150" y="2319338"/>
            <a:ext cx="190500" cy="190500"/>
          </a:xfrm>
          <a:prstGeom prst="rect">
            <a:avLst/>
          </a:prstGeom>
        </p:spPr>
      </p:pic>
      <p:sp>
        <p:nvSpPr>
          <p:cNvPr id="24" name="Text 20"/>
          <p:cNvSpPr/>
          <p:nvPr/>
        </p:nvSpPr>
        <p:spPr>
          <a:xfrm>
            <a:off x="7715250" y="2224088"/>
            <a:ext cx="5255816" cy="34290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34D399"/>
                </a:solidFill>
                <a:latin typeface="Inter"/>
                <a:ea typeface="Inter"/>
                <a:cs typeface="Inter"/>
              </a:rPr>
              <a:t>Lesson 3 · W4</a:t>
            </a:r>
            <a:endParaRPr lang="en-US" sz="1600" dirty="0"/>
          </a:p>
        </p:txBody>
      </p:sp>
      <p:sp>
        <p:nvSpPr>
          <p:cNvPr id="25" name="Text 21"/>
          <p:cNvSpPr/>
          <p:nvPr/>
        </p:nvSpPr>
        <p:spPr>
          <a:xfrm>
            <a:off x="7200900" y="2817019"/>
            <a:ext cx="5827316"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NotebookLM properly, not at scenario level</a:t>
            </a:r>
            <a:endParaRPr lang="en-US" sz="1300" dirty="0"/>
          </a:p>
        </p:txBody>
      </p:sp>
      <p:sp>
        <p:nvSpPr>
          <p:cNvPr id="26" name="Text 22"/>
          <p:cNvSpPr/>
          <p:nvPr/>
        </p:nvSpPr>
        <p:spPr>
          <a:xfrm>
            <a:off x="7200900" y="3226528"/>
            <a:ext cx="5827316"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Perplexity for cited research you can trace back to a source</a:t>
            </a:r>
            <a:endParaRPr lang="en-US" sz="1300" dirty="0"/>
          </a:p>
        </p:txBody>
      </p:sp>
      <p:sp>
        <p:nvSpPr>
          <p:cNvPr id="27" name="Text 23"/>
          <p:cNvSpPr/>
          <p:nvPr/>
        </p:nvSpPr>
        <p:spPr>
          <a:xfrm>
            <a:off x="7200900" y="3636037"/>
            <a:ext cx="5827316" cy="571500"/>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 The Wiki Sandbox — the first piece of your KM System, and what the rest of the course is built on</a:t>
            </a:r>
            <a:endParaRPr lang="en-US" sz="1300" dirty="0"/>
          </a:p>
        </p:txBody>
      </p:sp>
      <p:sp>
        <p:nvSpPr>
          <p:cNvPr id="28" name="Shape 24"/>
          <p:cNvSpPr/>
          <p:nvPr/>
        </p:nvSpPr>
        <p:spPr>
          <a:xfrm>
            <a:off x="457200" y="4862513"/>
            <a:ext cx="12801600" cy="1038225"/>
          </a:xfrm>
          <a:prstGeom prst="roundRect">
            <a:avLst>
              <a:gd name="adj" fmla="val 17441"/>
            </a:avLst>
          </a:prstGeom>
          <a:gradFill rotWithShape="1">
            <a:gsLst>
              <a:gs pos="0">
                <a:srgbClr val="3B82F6"/>
              </a:gs>
              <a:gs pos="227">
                <a:srgbClr val="3B82F6"/>
              </a:gs>
              <a:gs pos="228">
                <a:srgbClr val="FFFFFF">
                  <a:alpha val="5000"/>
                </a:srgbClr>
              </a:gs>
              <a:gs pos="100000">
                <a:srgbClr val="FFFFFF">
                  <a:alpha val="2500"/>
                </a:srgbClr>
              </a:gs>
            </a:gsLst>
            <a:lin ang="0" scaled="0"/>
          </a:gradFill>
          <a:ln w="9525">
            <a:solidFill>
              <a:srgbClr val="FFFFFF">
                <a:alpha val="12000"/>
              </a:srgbClr>
            </a:solidFill>
            <a:prstDash val="solid"/>
          </a:ln>
          <a:effectLst>
            <a:outerShdw blurRad="228600" dist="76200" dir="5400000" rotWithShape="0">
              <a:srgbClr val="000000">
                <a:alpha val="25000"/>
              </a:srgbClr>
            </a:outerShdw>
          </a:effectLst>
        </p:spPr>
      </p:sp>
      <p:sp>
        <p:nvSpPr>
          <p:cNvPr id="29" name="Text 25"/>
          <p:cNvSpPr/>
          <p:nvPr/>
        </p:nvSpPr>
        <p:spPr>
          <a:xfrm>
            <a:off x="685800" y="5062538"/>
            <a:ext cx="3182078" cy="1021060"/>
          </a:xfrm>
          <a:prstGeom prst="rect">
            <a:avLst/>
          </a:prstGeom>
          <a:noFill/>
          <a:ln/>
        </p:spPr>
        <p:txBody>
          <a:bodyPr wrap="square" lIns="25400" tIns="25400" rIns="25400" bIns="25400" rtlCol="0" anchor="t">
            <a:normAutofit/>
          </a:bodyPr>
          <a:lstStyle/>
          <a:p>
            <a:pPr marL="0" indent="0" algn="l">
              <a:lnSpc>
                <a:spcPct val="115000"/>
              </a:lnSpc>
              <a:buNone/>
            </a:pPr>
            <a:r>
              <a:rPr lang="en-US" sz="1600" b="1" kern="1200" dirty="0">
                <a:solidFill>
                  <a:srgbClr val="FFFFFF"/>
                </a:solidFill>
                <a:latin typeface="Inter"/>
                <a:ea typeface="Inter"/>
                <a:cs typeface="Inter"/>
              </a:rPr>
              <a:t>A workflow you can justify, step by step</a:t>
            </a:r>
            <a:endParaRPr lang="en-US" sz="1600" dirty="0"/>
          </a:p>
        </p:txBody>
      </p:sp>
      <p:sp>
        <p:nvSpPr>
          <p:cNvPr id="30" name="Text 26"/>
          <p:cNvSpPr/>
          <p:nvPr/>
        </p:nvSpPr>
        <p:spPr>
          <a:xfrm>
            <a:off x="3982178" y="5062538"/>
            <a:ext cx="9018488" cy="314325"/>
          </a:xfrm>
          <a:prstGeom prst="rect">
            <a:avLst/>
          </a:prstGeom>
          <a:noFill/>
          <a:ln/>
        </p:spPr>
        <p:txBody>
          <a:bodyPr wrap="square" lIns="25400" tIns="25400" rIns="25400" bIns="25400" rtlCol="0" anchor="t">
            <a:normAutofit/>
          </a:bodyPr>
          <a:lstStyle/>
          <a:p>
            <a:pPr marL="0" indent="0" algn="l">
              <a:lnSpc>
                <a:spcPct val="125000"/>
              </a:lnSpc>
              <a:buNone/>
            </a:pPr>
            <a:r>
              <a:rPr lang="en-US" sz="1300" kern="1200" dirty="0">
                <a:solidFill>
                  <a:srgbClr val="CBD5E1"/>
                </a:solidFill>
                <a:latin typeface="Inter"/>
                <a:ea typeface="Inter"/>
                <a:cs typeface="Inter"/>
              </a:rPr>
              <a:t>Bring the blueprint to the drop-in, and the whole chain to the Lesson 3 debrief.</a:t>
            </a:r>
            <a:endParaRPr lang="en-US" sz="1300" dirty="0"/>
          </a:p>
        </p:txBody>
      </p:sp>
      <p:sp>
        <p:nvSpPr>
          <p:cNvPr id="31" name="Text 27"/>
          <p:cNvSpPr/>
          <p:nvPr/>
        </p:nvSpPr>
        <p:spPr>
          <a:xfrm>
            <a:off x="457200" y="6319838"/>
            <a:ext cx="2794546" cy="276225"/>
          </a:xfrm>
          <a:prstGeom prst="rect">
            <a:avLst/>
          </a:prstGeom>
          <a:noFill/>
          <a:ln/>
        </p:spPr>
        <p:txBody>
          <a:bodyPr wrap="square" lIns="25400" tIns="25400" rIns="25400" bIns="25400" rtlCol="0" anchor="t">
            <a:normAutofit/>
          </a:bodyPr>
          <a:lstStyle/>
          <a:p>
            <a:pPr marL="0" indent="0" algn="l">
              <a:lnSpc>
                <a:spcPct val="125000"/>
              </a:lnSpc>
              <a:buNone/>
            </a:pPr>
            <a:r>
              <a:rPr lang="en-US" sz="1100" kern="1200" dirty="0">
                <a:solidFill>
                  <a:srgbClr val="94A3B8"/>
                </a:solidFill>
                <a:latin typeface="Inter"/>
                <a:ea typeface="Inter"/>
                <a:cs typeface="Inter"/>
              </a:rPr>
              <a:t>Questions now — the roadmap stays up.</a:t>
            </a:r>
            <a:endParaRPr lang="en-US" sz="1100" dirty="0"/>
          </a:p>
        </p:txBody>
      </p:sp>
      <p:sp>
        <p:nvSpPr>
          <p:cNvPr id="32" name="Shape 28"/>
          <p:cNvSpPr/>
          <p:nvPr/>
        </p:nvSpPr>
        <p:spPr>
          <a:xfrm>
            <a:off x="12245478" y="7224729"/>
            <a:ext cx="66642" cy="66642"/>
          </a:xfrm>
          <a:prstGeom prst="ellipse">
            <a:avLst/>
          </a:prstGeom>
          <a:solidFill>
            <a:srgbClr val="10B981"/>
          </a:solidFill>
          <a:ln/>
          <a:effectLst>
            <a:outerShdw blurRad="76200" dist="50800" dir="16200000" algn="bl" rotWithShape="0">
              <a:srgbClr val="10B981">
                <a:alpha val="100000"/>
              </a:srgbClr>
            </a:outerShdw>
          </a:effectLst>
        </p:spPr>
      </p:sp>
      <p:sp>
        <p:nvSpPr>
          <p:cNvPr id="33" name="Text 29"/>
          <p:cNvSpPr/>
          <p:nvPr/>
        </p:nvSpPr>
        <p:spPr>
          <a:xfrm>
            <a:off x="12388188" y="7162800"/>
            <a:ext cx="870612" cy="190500"/>
          </a:xfrm>
          <a:prstGeom prst="rect">
            <a:avLst/>
          </a:prstGeom>
          <a:noFill/>
          <a:ln/>
        </p:spPr>
        <p:txBody>
          <a:bodyPr wrap="square" lIns="0" tIns="0" rIns="0" bIns="0" rtlCol="0" anchor="t">
            <a:normAutofit/>
          </a:bodyPr>
          <a:lstStyle/>
          <a:p>
            <a:pPr marL="0" indent="0" algn="l">
              <a:lnSpc>
                <a:spcPct val="120000"/>
              </a:lnSpc>
              <a:buNone/>
            </a:pPr>
            <a:r>
              <a:rPr lang="en-US" sz="900" kern="1200" dirty="0">
                <a:solidFill>
                  <a:srgbClr val="64748B"/>
                </a:solidFill>
                <a:latin typeface="JetBrains Mono"/>
                <a:ea typeface="JetBrains Mono"/>
                <a:cs typeface="JetBrains Mono"/>
              </a:rPr>
              <a:t>Live Session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panose="020F0302020204030204"/>
        <a:ea typeface="Inter"/>
        <a:cs typeface="Inter"/>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panose="020F0502020204030204"/>
        <a:ea typeface="Inter"/>
        <a:cs typeface="Inter"/>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179</TotalTime>
  <Words>7767</Words>
  <Application>Microsoft Office PowerPoint</Application>
  <PresentationFormat>Egyéni</PresentationFormat>
  <Paragraphs>709</Paragraphs>
  <Slides>46</Slides>
  <Notes>46</Notes>
  <HiddenSlides>0</HiddenSlides>
  <MMClips>0</MMClips>
  <ScaleCrop>false</ScaleCrop>
  <HeadingPairs>
    <vt:vector size="6" baseType="variant">
      <vt:variant>
        <vt:lpstr>Használt betűtípusok</vt:lpstr>
      </vt:variant>
      <vt:variant>
        <vt:i4>3</vt:i4>
      </vt:variant>
      <vt:variant>
        <vt:lpstr>Téma</vt:lpstr>
      </vt:variant>
      <vt:variant>
        <vt:i4>1</vt:i4>
      </vt:variant>
      <vt:variant>
        <vt:lpstr>Diacímek</vt:lpstr>
      </vt:variant>
      <vt:variant>
        <vt:i4>46</vt:i4>
      </vt:variant>
    </vt:vector>
  </HeadingPairs>
  <TitlesOfParts>
    <vt:vector size="50" baseType="lpstr">
      <vt:lpstr>Courier New</vt:lpstr>
      <vt:lpstr>Inter</vt:lpstr>
      <vt:lpstr>JetBrains Mono</vt:lpstr>
      <vt:lpstr>Office Theme</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József Kiss</cp:lastModifiedBy>
  <cp:revision>11</cp:revision>
  <dcterms:created xsi:type="dcterms:W3CDTF">2026-09-11T16:41:57Z</dcterms:created>
  <dcterms:modified xsi:type="dcterms:W3CDTF">2026-09-14T11:36:46Z</dcterms:modified>
</cp:coreProperties>
</file>